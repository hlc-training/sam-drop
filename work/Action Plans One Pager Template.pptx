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C55C-ECC5-454F-9E98-AB90D5224A0E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BBBD5-2978-4BA9-805F-F71803E7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126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-GO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Horizontal Lines">
            <a:extLst>
              <a:ext uri="{FF2B5EF4-FFF2-40B4-BE49-F238E27FC236}">
                <a16:creationId xmlns:a16="http://schemas.microsoft.com/office/drawing/2014/main" id="{945AEFA3-2914-9B5C-252D-3C30F93CAE83}"/>
              </a:ext>
            </a:extLst>
          </p:cNvPr>
          <p:cNvGrpSpPr/>
          <p:nvPr userDrawn="1"/>
        </p:nvGrpSpPr>
        <p:grpSpPr>
          <a:xfrm>
            <a:off x="366021" y="1688081"/>
            <a:ext cx="11459958" cy="2612489"/>
            <a:chOff x="366021" y="1688081"/>
            <a:chExt cx="11459958" cy="2612489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2BB2DCE-9BAE-DE9D-9682-653CE6CC4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460" y="1688081"/>
              <a:ext cx="5830519" cy="212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AC61E42-481D-AC41-2002-A14AA19688CD}"/>
                </a:ext>
              </a:extLst>
            </p:cNvPr>
            <p:cNvCxnSpPr>
              <a:cxnSpLocks/>
            </p:cNvCxnSpPr>
            <p:nvPr/>
          </p:nvCxnSpPr>
          <p:spPr>
            <a:xfrm>
              <a:off x="366021" y="1688081"/>
              <a:ext cx="540738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6D13889-5B11-5FCF-93EB-0C726F3020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6021" y="4300570"/>
              <a:ext cx="540738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ECTION HEADINGS">
            <a:extLst>
              <a:ext uri="{FF2B5EF4-FFF2-40B4-BE49-F238E27FC236}">
                <a16:creationId xmlns:a16="http://schemas.microsoft.com/office/drawing/2014/main" id="{1E641892-C8FD-1F00-9D22-60153AACB8E6}"/>
              </a:ext>
            </a:extLst>
          </p:cNvPr>
          <p:cNvGrpSpPr/>
          <p:nvPr userDrawn="1"/>
        </p:nvGrpSpPr>
        <p:grpSpPr>
          <a:xfrm>
            <a:off x="366021" y="1390784"/>
            <a:ext cx="11459957" cy="2925360"/>
            <a:chOff x="366021" y="1377336"/>
            <a:chExt cx="11459957" cy="2925360"/>
          </a:xfrm>
        </p:grpSpPr>
        <p:sp>
          <p:nvSpPr>
            <p:cNvPr id="34" name="TextBox Options">
              <a:extLst>
                <a:ext uri="{FF2B5EF4-FFF2-40B4-BE49-F238E27FC236}">
                  <a16:creationId xmlns:a16="http://schemas.microsoft.com/office/drawing/2014/main" id="{F5EA9CE6-FE00-9FBA-7589-C821FB365D75}"/>
                </a:ext>
              </a:extLst>
            </p:cNvPr>
            <p:cNvSpPr txBox="1"/>
            <p:nvPr userDrawn="1"/>
          </p:nvSpPr>
          <p:spPr>
            <a:xfrm>
              <a:off x="366021" y="4005518"/>
              <a:ext cx="5407380" cy="2971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Potential Options</a:t>
              </a:r>
            </a:p>
            <a:p>
              <a:pPr algn="ctr">
                <a:spcAft>
                  <a:spcPts val="600"/>
                </a:spcAft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35" name="TextBox Challenges">
              <a:extLst>
                <a:ext uri="{FF2B5EF4-FFF2-40B4-BE49-F238E27FC236}">
                  <a16:creationId xmlns:a16="http://schemas.microsoft.com/office/drawing/2014/main" id="{561B1815-392D-EF27-3FEA-875112390657}"/>
                </a:ext>
              </a:extLst>
            </p:cNvPr>
            <p:cNvSpPr txBox="1"/>
            <p:nvPr userDrawn="1"/>
          </p:nvSpPr>
          <p:spPr>
            <a:xfrm>
              <a:off x="5995461" y="1377336"/>
              <a:ext cx="5830517" cy="3086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Challenges and Help Needed</a:t>
              </a:r>
            </a:p>
            <a:p>
              <a:pPr algn="ctr">
                <a:spcAft>
                  <a:spcPts val="600"/>
                </a:spcAft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36" name="TextBox Overview">
              <a:extLst>
                <a:ext uri="{FF2B5EF4-FFF2-40B4-BE49-F238E27FC236}">
                  <a16:creationId xmlns:a16="http://schemas.microsoft.com/office/drawing/2014/main" id="{BF9139D8-3870-B3CC-6603-118AB446857A}"/>
                </a:ext>
              </a:extLst>
            </p:cNvPr>
            <p:cNvSpPr txBox="1"/>
            <p:nvPr userDrawn="1"/>
          </p:nvSpPr>
          <p:spPr>
            <a:xfrm>
              <a:off x="366021" y="1377336"/>
              <a:ext cx="5407380" cy="3086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Overview</a:t>
              </a: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</p:grpSp>
      <p:sp>
        <p:nvSpPr>
          <p:cNvPr id="28" name="Text AP#">
            <a:extLst>
              <a:ext uri="{FF2B5EF4-FFF2-40B4-BE49-F238E27FC236}">
                <a16:creationId xmlns:a16="http://schemas.microsoft.com/office/drawing/2014/main" id="{76AB59F3-8CAA-56FC-EF0A-A4F5D4B1F6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1067" y="476513"/>
            <a:ext cx="908079" cy="2546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  <a:endParaRPr lang="en-GB" dirty="0"/>
          </a:p>
        </p:txBody>
      </p:sp>
      <p:sp>
        <p:nvSpPr>
          <p:cNvPr id="29" name="Text Team Lead">
            <a:extLst>
              <a:ext uri="{FF2B5EF4-FFF2-40B4-BE49-F238E27FC236}">
                <a16:creationId xmlns:a16="http://schemas.microsoft.com/office/drawing/2014/main" id="{34346055-976D-8FF0-C199-E8D9FADB4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3246" y="822714"/>
            <a:ext cx="4157761" cy="18192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Team Leader</a:t>
            </a:r>
          </a:p>
        </p:txBody>
      </p:sp>
      <p:sp>
        <p:nvSpPr>
          <p:cNvPr id="30" name="Text Team Members">
            <a:extLst>
              <a:ext uri="{FF2B5EF4-FFF2-40B4-BE49-F238E27FC236}">
                <a16:creationId xmlns:a16="http://schemas.microsoft.com/office/drawing/2014/main" id="{E294D986-EBCC-8F79-69FF-C44CA93BF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3246" y="1056195"/>
            <a:ext cx="4157761" cy="3755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Team Members</a:t>
            </a:r>
          </a:p>
        </p:txBody>
      </p:sp>
      <p:sp>
        <p:nvSpPr>
          <p:cNvPr id="31" name="Text Start Date">
            <a:extLst>
              <a:ext uri="{FF2B5EF4-FFF2-40B4-BE49-F238E27FC236}">
                <a16:creationId xmlns:a16="http://schemas.microsoft.com/office/drawing/2014/main" id="{053801DB-4059-1259-48F1-C051F14271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9914" y="822715"/>
            <a:ext cx="1743431" cy="1696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Start Date</a:t>
            </a:r>
          </a:p>
        </p:txBody>
      </p:sp>
      <p:sp>
        <p:nvSpPr>
          <p:cNvPr id="32" name="Text End Date">
            <a:extLst>
              <a:ext uri="{FF2B5EF4-FFF2-40B4-BE49-F238E27FC236}">
                <a16:creationId xmlns:a16="http://schemas.microsoft.com/office/drawing/2014/main" id="{500E2283-B384-F482-E6AD-9EB9B28D7B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39914" y="1050180"/>
            <a:ext cx="1743431" cy="1696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End Date</a:t>
            </a:r>
          </a:p>
        </p:txBody>
      </p:sp>
      <p:sp>
        <p:nvSpPr>
          <p:cNvPr id="2" name="Text Title">
            <a:extLst>
              <a:ext uri="{FF2B5EF4-FFF2-40B4-BE49-F238E27FC236}">
                <a16:creationId xmlns:a16="http://schemas.microsoft.com/office/drawing/2014/main" id="{FD3CABFC-9820-0957-CD1C-D7C91F3EDB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43953" y="212587"/>
            <a:ext cx="6930998" cy="518569"/>
          </a:xfrm>
          <a:prstGeom prst="rect">
            <a:avLst/>
          </a:prstGeom>
        </p:spPr>
        <p:txBody>
          <a:bodyPr lIns="0" tIns="18000" rIns="0" bIns="0" anchor="ctr" anchorCtr="0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7" name="TXT Help Needed">
            <a:extLst>
              <a:ext uri="{FF2B5EF4-FFF2-40B4-BE49-F238E27FC236}">
                <a16:creationId xmlns:a16="http://schemas.microsoft.com/office/drawing/2014/main" id="{F6790BC2-F072-02FE-A2CE-C31EE4668C54}"/>
              </a:ext>
            </a:extLst>
          </p:cNvPr>
          <p:cNvSpPr txBox="1"/>
          <p:nvPr userDrawn="1"/>
        </p:nvSpPr>
        <p:spPr>
          <a:xfrm>
            <a:off x="63841" y="7513"/>
            <a:ext cx="4948886" cy="194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200" b="0" dirty="0"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Help Needed</a:t>
            </a:r>
          </a:p>
          <a:p>
            <a:pPr algn="l">
              <a:spcAft>
                <a:spcPts val="600"/>
              </a:spcAft>
            </a:pPr>
            <a:endParaRPr lang="en-US" sz="1200" b="0" dirty="0">
              <a:latin typeface="Inter Extra Bold" panose="02000903000000020004" pitchFamily="50" charset="0"/>
              <a:ea typeface="Inter Extra Bold" panose="02000903000000020004" pitchFamily="50" charset="0"/>
              <a:cs typeface="Inter Extra Bold" panose="02000903000000020004" pitchFamily="50" charset="0"/>
            </a:endParaRP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latin typeface="Inter Extra Bold" panose="02000903000000020004" pitchFamily="50" charset="0"/>
              <a:ea typeface="Inter Extra Bold" panose="02000903000000020004" pitchFamily="50" charset="0"/>
              <a:cs typeface="Inter Extra Bold" panose="02000903000000020004" pitchFamily="50" charset="0"/>
            </a:endParaRPr>
          </a:p>
        </p:txBody>
      </p:sp>
      <p:grpSp>
        <p:nvGrpSpPr>
          <p:cNvPr id="8" name="IMG Warning">
            <a:extLst>
              <a:ext uri="{FF2B5EF4-FFF2-40B4-BE49-F238E27FC236}">
                <a16:creationId xmlns:a16="http://schemas.microsoft.com/office/drawing/2014/main" id="{7A90980D-E190-A484-652E-EF0AA6610914}"/>
              </a:ext>
            </a:extLst>
          </p:cNvPr>
          <p:cNvGrpSpPr/>
          <p:nvPr userDrawn="1"/>
        </p:nvGrpSpPr>
        <p:grpSpPr>
          <a:xfrm>
            <a:off x="63841" y="251601"/>
            <a:ext cx="411078" cy="411078"/>
            <a:chOff x="63841" y="251601"/>
            <a:chExt cx="411078" cy="41107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931958E2-4026-5663-919A-CDD55C924014}"/>
                </a:ext>
              </a:extLst>
            </p:cNvPr>
            <p:cNvSpPr/>
            <p:nvPr userDrawn="1"/>
          </p:nvSpPr>
          <p:spPr>
            <a:xfrm>
              <a:off x="89670" y="292997"/>
              <a:ext cx="355259" cy="31433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Aft>
                  <a:spcPts val="600"/>
                </a:spcAft>
              </a:pPr>
              <a:endParaRPr lang="en-GB">
                <a:solidFill>
                  <a:schemeClr val="tx1"/>
                </a:solidFill>
              </a:endParaRPr>
            </a:p>
          </p:txBody>
        </p:sp>
        <p:pic>
          <p:nvPicPr>
            <p:cNvPr id="10" name="IMG Warning" descr="Warning with solid fill">
              <a:extLst>
                <a:ext uri="{FF2B5EF4-FFF2-40B4-BE49-F238E27FC236}">
                  <a16:creationId xmlns:a16="http://schemas.microsoft.com/office/drawing/2014/main" id="{ED01E72A-6D4B-D5D9-9B4A-72E2C39C42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841" y="251601"/>
              <a:ext cx="411078" cy="411078"/>
            </a:xfrm>
            <a:prstGeom prst="rect">
              <a:avLst/>
            </a:prstGeom>
          </p:spPr>
        </p:pic>
      </p:grpSp>
      <p:sp>
        <p:nvSpPr>
          <p:cNvPr id="43" name="Text Placeholder Overview">
            <a:extLst>
              <a:ext uri="{FF2B5EF4-FFF2-40B4-BE49-F238E27FC236}">
                <a16:creationId xmlns:a16="http://schemas.microsoft.com/office/drawing/2014/main" id="{631598B0-2866-7603-9536-3121000A75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6021" y="1729055"/>
            <a:ext cx="5414067" cy="2274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4" name="Text Placeholder Overview">
            <a:extLst>
              <a:ext uri="{FF2B5EF4-FFF2-40B4-BE49-F238E27FC236}">
                <a16:creationId xmlns:a16="http://schemas.microsoft.com/office/drawing/2014/main" id="{71601B22-6E84-6F90-A2CF-C42C8535FD2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08831" y="1729055"/>
            <a:ext cx="5817147" cy="4903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5" name="Text Placeholder Overview">
            <a:extLst>
              <a:ext uri="{FF2B5EF4-FFF2-40B4-BE49-F238E27FC236}">
                <a16:creationId xmlns:a16="http://schemas.microsoft.com/office/drawing/2014/main" id="{88307410-1E11-6369-BE47-ABEB5540C47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66021" y="4357955"/>
            <a:ext cx="5414067" cy="227433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FA9821BA-87B9-E556-6013-AEE9658A608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3CC98-CC1C-68AE-A38E-7DAA987EC1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08800" y="822325"/>
            <a:ext cx="2217178" cy="51065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08000" indent="-108000" defTabSz="1080000">
              <a:lnSpc>
                <a:spcPct val="100000"/>
              </a:lnSpc>
              <a:spcBef>
                <a:spcPts val="0"/>
              </a:spcBef>
              <a:defRPr lang="en-CH" sz="1200" baseline="0" dirty="0"/>
            </a:lvl1pPr>
          </a:lstStyle>
          <a:p>
            <a:pPr marL="228600" lvl="0" indent="-228600"/>
            <a:r>
              <a:rPr lang="en-CH" dirty="0"/>
              <a:t>Click to add role(s)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B8BD6-FE87-7F2A-B514-87F561380482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© </a:t>
            </a:r>
            <a:fld id="{07DEB862-058D-4037-9324-A90CFD073E5C}" type="datetimeyyyy">
              <a:rPr lang="en-US" smtClean="0"/>
              <a:pPr/>
              <a:t>2026</a:t>
            </a:fld>
            <a:r>
              <a:rPr lang="en-US"/>
              <a:t> GE Vernova and/or its affiliates.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7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245F101-2D8D-A183-A6F3-5E18D71F6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SECTION HEADINGS">
            <a:extLst>
              <a:ext uri="{FF2B5EF4-FFF2-40B4-BE49-F238E27FC236}">
                <a16:creationId xmlns:a16="http://schemas.microsoft.com/office/drawing/2014/main" id="{7CB9ABAB-1664-DA53-70A8-DB2650F00CE8}"/>
              </a:ext>
            </a:extLst>
          </p:cNvPr>
          <p:cNvGrpSpPr/>
          <p:nvPr userDrawn="1"/>
        </p:nvGrpSpPr>
        <p:grpSpPr>
          <a:xfrm>
            <a:off x="366021" y="1390784"/>
            <a:ext cx="11459958" cy="2925360"/>
            <a:chOff x="366021" y="1377336"/>
            <a:chExt cx="11459958" cy="2925360"/>
          </a:xfrm>
        </p:grpSpPr>
        <p:sp>
          <p:nvSpPr>
            <p:cNvPr id="28" name="TextBox MoC">
              <a:extLst>
                <a:ext uri="{FF2B5EF4-FFF2-40B4-BE49-F238E27FC236}">
                  <a16:creationId xmlns:a16="http://schemas.microsoft.com/office/drawing/2014/main" id="{F706C73A-4DC4-9135-8277-18C504D7487F}"/>
                </a:ext>
              </a:extLst>
            </p:cNvPr>
            <p:cNvSpPr txBox="1"/>
            <p:nvPr userDrawn="1"/>
          </p:nvSpPr>
          <p:spPr>
            <a:xfrm>
              <a:off x="5995460" y="4009369"/>
              <a:ext cx="5830519" cy="2933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Management of Change / Sustainment</a:t>
              </a:r>
            </a:p>
            <a:p>
              <a:pPr algn="ctr">
                <a:spcAft>
                  <a:spcPts val="600"/>
                </a:spcAft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29" name="TextBox Options">
              <a:extLst>
                <a:ext uri="{FF2B5EF4-FFF2-40B4-BE49-F238E27FC236}">
                  <a16:creationId xmlns:a16="http://schemas.microsoft.com/office/drawing/2014/main" id="{812063D4-817C-DD3A-95A7-25C664E90F07}"/>
                </a:ext>
              </a:extLst>
            </p:cNvPr>
            <p:cNvSpPr txBox="1"/>
            <p:nvPr userDrawn="1"/>
          </p:nvSpPr>
          <p:spPr>
            <a:xfrm>
              <a:off x="366021" y="4005518"/>
              <a:ext cx="5407380" cy="2971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Potential Options</a:t>
              </a:r>
            </a:p>
            <a:p>
              <a:pPr algn="ctr">
                <a:spcAft>
                  <a:spcPts val="600"/>
                </a:spcAft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30" name="TextBox Challenges">
              <a:extLst>
                <a:ext uri="{FF2B5EF4-FFF2-40B4-BE49-F238E27FC236}">
                  <a16:creationId xmlns:a16="http://schemas.microsoft.com/office/drawing/2014/main" id="{7BED4EA4-CADC-3F5D-CD89-DB92834083BB}"/>
                </a:ext>
              </a:extLst>
            </p:cNvPr>
            <p:cNvSpPr txBox="1"/>
            <p:nvPr userDrawn="1"/>
          </p:nvSpPr>
          <p:spPr>
            <a:xfrm>
              <a:off x="5995461" y="1377336"/>
              <a:ext cx="5830517" cy="3086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Solutions / Decisions</a:t>
              </a:r>
            </a:p>
            <a:p>
              <a:pPr algn="ctr">
                <a:spcAft>
                  <a:spcPts val="600"/>
                </a:spcAft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31" name="TextBox Overview">
              <a:extLst>
                <a:ext uri="{FF2B5EF4-FFF2-40B4-BE49-F238E27FC236}">
                  <a16:creationId xmlns:a16="http://schemas.microsoft.com/office/drawing/2014/main" id="{6DF270F0-E2DE-7542-91B5-E6A933BEE2C8}"/>
                </a:ext>
              </a:extLst>
            </p:cNvPr>
            <p:cNvSpPr txBox="1"/>
            <p:nvPr userDrawn="1"/>
          </p:nvSpPr>
          <p:spPr>
            <a:xfrm>
              <a:off x="366021" y="1377336"/>
              <a:ext cx="5407380" cy="3086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800" b="0" dirty="0">
                  <a:solidFill>
                    <a:schemeClr val="tx2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Overview</a:t>
              </a:r>
            </a:p>
            <a:p>
              <a:pPr marL="285750" indent="-285750" algn="ctr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b="0" dirty="0">
                <a:solidFill>
                  <a:schemeClr val="tx2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</p:grpSp>
      <p:grpSp>
        <p:nvGrpSpPr>
          <p:cNvPr id="32" name="Horizontal Lines">
            <a:extLst>
              <a:ext uri="{FF2B5EF4-FFF2-40B4-BE49-F238E27FC236}">
                <a16:creationId xmlns:a16="http://schemas.microsoft.com/office/drawing/2014/main" id="{76B5A69D-1FBD-94BC-8D6D-37BFE423FEAD}"/>
              </a:ext>
            </a:extLst>
          </p:cNvPr>
          <p:cNvGrpSpPr/>
          <p:nvPr userDrawn="1"/>
        </p:nvGrpSpPr>
        <p:grpSpPr>
          <a:xfrm>
            <a:off x="366021" y="1688081"/>
            <a:ext cx="11459958" cy="2614615"/>
            <a:chOff x="366021" y="1688081"/>
            <a:chExt cx="11459958" cy="261461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723A2F4-3999-2E0C-5DDE-B2227F1CB603}"/>
                </a:ext>
              </a:extLst>
            </p:cNvPr>
            <p:cNvGrpSpPr/>
            <p:nvPr userDrawn="1"/>
          </p:nvGrpSpPr>
          <p:grpSpPr>
            <a:xfrm>
              <a:off x="366021" y="1688081"/>
              <a:ext cx="11459958" cy="2126"/>
              <a:chOff x="294554" y="4277581"/>
              <a:chExt cx="11459958" cy="212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A30D6B-D0AF-276B-0317-52E063B8F8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3993" y="4277581"/>
                <a:ext cx="5830519" cy="2126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77F0712-3F7A-6FA1-5872-B21BC26CD7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554" y="4277581"/>
                <a:ext cx="5407380" cy="0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7FB8848-B207-8C26-FF0D-1099535436DF}"/>
                </a:ext>
              </a:extLst>
            </p:cNvPr>
            <p:cNvGrpSpPr/>
            <p:nvPr userDrawn="1"/>
          </p:nvGrpSpPr>
          <p:grpSpPr>
            <a:xfrm>
              <a:off x="366021" y="4300570"/>
              <a:ext cx="11459958" cy="2126"/>
              <a:chOff x="294554" y="4277581"/>
              <a:chExt cx="11459958" cy="2126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FB8AE72-2397-E1E8-05CB-76BDAEFAB1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3993" y="4277581"/>
                <a:ext cx="5830519" cy="2126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779F857-8E23-5A1C-7B43-CF75FD930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554" y="4277581"/>
                <a:ext cx="5407380" cy="0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IMG Tick" descr="Shield Tick with solid fill">
            <a:extLst>
              <a:ext uri="{FF2B5EF4-FFF2-40B4-BE49-F238E27FC236}">
                <a16:creationId xmlns:a16="http://schemas.microsoft.com/office/drawing/2014/main" id="{16B19AE5-63B8-0867-6393-2E6EC520AA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6" y="247424"/>
            <a:ext cx="449264" cy="4492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TXT Completion">
            <a:extLst>
              <a:ext uri="{FF2B5EF4-FFF2-40B4-BE49-F238E27FC236}">
                <a16:creationId xmlns:a16="http://schemas.microsoft.com/office/drawing/2014/main" id="{D78B770E-B549-5CEB-6529-577CD4C345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841" y="7513"/>
            <a:ext cx="4948886" cy="194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200" b="0" dirty="0"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Completion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latin typeface="Inter Extra Bold" panose="02000903000000020004" pitchFamily="50" charset="0"/>
              <a:ea typeface="Inter Extra Bold" panose="02000903000000020004" pitchFamily="50" charset="0"/>
              <a:cs typeface="Inter Extra Bold" panose="02000903000000020004" pitchFamily="50" charset="0"/>
            </a:endParaRPr>
          </a:p>
        </p:txBody>
      </p:sp>
      <p:sp>
        <p:nvSpPr>
          <p:cNvPr id="39" name="Text Placeholder Overview">
            <a:extLst>
              <a:ext uri="{FF2B5EF4-FFF2-40B4-BE49-F238E27FC236}">
                <a16:creationId xmlns:a16="http://schemas.microsoft.com/office/drawing/2014/main" id="{EEC25784-D88D-24A7-3D79-7F9D1D4A59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6021" y="1729055"/>
            <a:ext cx="5414067" cy="2274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Text Placeholder Overview">
            <a:extLst>
              <a:ext uri="{FF2B5EF4-FFF2-40B4-BE49-F238E27FC236}">
                <a16:creationId xmlns:a16="http://schemas.microsoft.com/office/drawing/2014/main" id="{AEDCD932-C577-8FF2-08F1-2FB0E1D5BE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08831" y="1729055"/>
            <a:ext cx="5830517" cy="2274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ext Placeholder Overview">
            <a:extLst>
              <a:ext uri="{FF2B5EF4-FFF2-40B4-BE49-F238E27FC236}">
                <a16:creationId xmlns:a16="http://schemas.microsoft.com/office/drawing/2014/main" id="{E22D7DB6-D384-B306-DEA9-57F9CC70B0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021" y="4357955"/>
            <a:ext cx="5414067" cy="227433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XXX</a:t>
            </a:r>
          </a:p>
          <a:p>
            <a:pPr marL="271463" marR="0" lvl="1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Pros: xxx</a:t>
            </a:r>
          </a:p>
          <a:p>
            <a:pPr marL="271463" marR="0" lvl="1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Cons: xxx</a:t>
            </a:r>
          </a:p>
          <a:p>
            <a:pPr marL="90488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XXX</a:t>
            </a:r>
          </a:p>
          <a:p>
            <a:pPr marL="271463" marR="0" lvl="1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Pros: xxx</a:t>
            </a:r>
          </a:p>
          <a:p>
            <a:pPr marL="271463" marR="0" lvl="1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Cons: xxx</a:t>
            </a:r>
          </a:p>
        </p:txBody>
      </p:sp>
      <p:sp>
        <p:nvSpPr>
          <p:cNvPr id="42" name="Text AP#">
            <a:extLst>
              <a:ext uri="{FF2B5EF4-FFF2-40B4-BE49-F238E27FC236}">
                <a16:creationId xmlns:a16="http://schemas.microsoft.com/office/drawing/2014/main" id="{5288CEA4-D77F-86DA-6BFE-957CF91AD1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1067" y="476513"/>
            <a:ext cx="908079" cy="2546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  <a:endParaRPr lang="en-GB" dirty="0"/>
          </a:p>
        </p:txBody>
      </p:sp>
      <p:sp>
        <p:nvSpPr>
          <p:cNvPr id="43" name="Text Team Lead">
            <a:extLst>
              <a:ext uri="{FF2B5EF4-FFF2-40B4-BE49-F238E27FC236}">
                <a16:creationId xmlns:a16="http://schemas.microsoft.com/office/drawing/2014/main" id="{14C2ACDB-A6E9-508C-AAD0-23204B76A6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5408" y="822714"/>
            <a:ext cx="4157761" cy="18192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Team Leader</a:t>
            </a:r>
          </a:p>
        </p:txBody>
      </p:sp>
      <p:sp>
        <p:nvSpPr>
          <p:cNvPr id="44" name="Text Team Members">
            <a:extLst>
              <a:ext uri="{FF2B5EF4-FFF2-40B4-BE49-F238E27FC236}">
                <a16:creationId xmlns:a16="http://schemas.microsoft.com/office/drawing/2014/main" id="{7B3AE30B-4F82-6229-3A53-5ACCB34CB2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5408" y="1056195"/>
            <a:ext cx="4157761" cy="3755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Team Members</a:t>
            </a:r>
          </a:p>
        </p:txBody>
      </p:sp>
      <p:sp>
        <p:nvSpPr>
          <p:cNvPr id="45" name="Text Start Date">
            <a:extLst>
              <a:ext uri="{FF2B5EF4-FFF2-40B4-BE49-F238E27FC236}">
                <a16:creationId xmlns:a16="http://schemas.microsoft.com/office/drawing/2014/main" id="{9ABF4817-DABD-ED4F-B067-C5E900A554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45984" y="822715"/>
            <a:ext cx="1743431" cy="1696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Start Date</a:t>
            </a:r>
          </a:p>
        </p:txBody>
      </p:sp>
      <p:sp>
        <p:nvSpPr>
          <p:cNvPr id="46" name="Text End Date">
            <a:extLst>
              <a:ext uri="{FF2B5EF4-FFF2-40B4-BE49-F238E27FC236}">
                <a16:creationId xmlns:a16="http://schemas.microsoft.com/office/drawing/2014/main" id="{6F14AE0C-B0E7-ECF0-B06C-D8AEBDDCEC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45984" y="1050179"/>
            <a:ext cx="1743431" cy="1492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End Date</a:t>
            </a:r>
          </a:p>
        </p:txBody>
      </p:sp>
      <p:sp>
        <p:nvSpPr>
          <p:cNvPr id="47" name="Text Title">
            <a:extLst>
              <a:ext uri="{FF2B5EF4-FFF2-40B4-BE49-F238E27FC236}">
                <a16:creationId xmlns:a16="http://schemas.microsoft.com/office/drawing/2014/main" id="{271A1BD5-2863-2E8F-1304-79541CB0C7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8585" y="212587"/>
            <a:ext cx="6969418" cy="518569"/>
          </a:xfrm>
          <a:prstGeom prst="rect">
            <a:avLst/>
          </a:prstGeom>
        </p:spPr>
        <p:txBody>
          <a:bodyPr lIns="0" tIns="18000" rIns="0" bIns="0" anchor="ctr" anchorCtr="0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8" name="Text Placeholder Overview">
            <a:extLst>
              <a:ext uri="{FF2B5EF4-FFF2-40B4-BE49-F238E27FC236}">
                <a16:creationId xmlns:a16="http://schemas.microsoft.com/office/drawing/2014/main" id="{5A482283-F3C9-C04A-5CF4-D1E078E444F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08831" y="4357955"/>
            <a:ext cx="5830517" cy="2274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271463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2pPr>
            <a:lvl3pPr marL="444500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3pPr>
            <a:lvl4pPr marL="625475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4pPr>
            <a:lvl5pPr marL="80645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0354979-2621-51CC-84FA-15D4304FBE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92056" y="822325"/>
            <a:ext cx="2365936" cy="510656"/>
          </a:xfrm>
          <a:prstGeom prst="rect">
            <a:avLst/>
          </a:prstGeom>
        </p:spPr>
        <p:txBody>
          <a:bodyPr lIns="0" tIns="0" rIns="0" bIns="0"/>
          <a:lstStyle>
            <a:lvl1pPr marL="108000" indent="-108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CH" sz="1200" dirty="0"/>
            </a:lvl1pPr>
          </a:lstStyle>
          <a:p>
            <a:pPr marL="228600" lvl="0" indent="-228600"/>
            <a:r>
              <a:rPr lang="en-CH" dirty="0"/>
              <a:t>Click to add role(s)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592544-F5ED-1635-6738-7F59D832AB88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© </a:t>
            </a:r>
            <a:fld id="{07DEB862-058D-4037-9324-A90CFD073E5C}" type="datetimeyyyy">
              <a:rPr lang="en-US" smtClean="0"/>
              <a:pPr/>
              <a:t>2026</a:t>
            </a:fld>
            <a:r>
              <a:rPr lang="en-US"/>
              <a:t> GE Vernova and/or its affiliates.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4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1183BE-2602-FFD1-2AE0-91B73B4F4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2890" y="6690089"/>
            <a:ext cx="10248900" cy="17824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r>
              <a:rPr lang="en-US" dirty="0"/>
              <a:t>© </a:t>
            </a:r>
            <a:fld id="{07DEB862-058D-4037-9324-A90CFD073E5C}" type="datetimeyyyy">
              <a:rPr lang="en-US" smtClean="0"/>
              <a:pPr/>
              <a:t>2026</a:t>
            </a:fld>
            <a:r>
              <a:rPr lang="en-US" dirty="0"/>
              <a:t> GE Vernova and/or its affiliates.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735244-4606-7D7E-D36E-DEB980C30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8392" y="6674475"/>
            <a:ext cx="550718" cy="1835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IMG GEV Logo" descr="Text&#10;&#10;Description automatically generated">
            <a:extLst>
              <a:ext uri="{FF2B5EF4-FFF2-40B4-BE49-F238E27FC236}">
                <a16:creationId xmlns:a16="http://schemas.microsoft.com/office/drawing/2014/main" id="{82AD441D-9AD5-3C60-BE0A-F358E532CD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6155" y="167911"/>
            <a:ext cx="1982955" cy="619429"/>
          </a:xfrm>
          <a:prstGeom prst="rect">
            <a:avLst/>
          </a:prstGeom>
        </p:spPr>
      </p:pic>
      <p:sp>
        <p:nvSpPr>
          <p:cNvPr id="25" name="Parallelogram 24">
            <a:extLst>
              <a:ext uri="{FF2B5EF4-FFF2-40B4-BE49-F238E27FC236}">
                <a16:creationId xmlns:a16="http://schemas.microsoft.com/office/drawing/2014/main" id="{F3D322F4-4FE7-B66E-2BDD-8B20E26FF184}"/>
              </a:ext>
            </a:extLst>
          </p:cNvPr>
          <p:cNvSpPr/>
          <p:nvPr userDrawn="1"/>
        </p:nvSpPr>
        <p:spPr>
          <a:xfrm>
            <a:off x="-7162" y="202104"/>
            <a:ext cx="10083318" cy="529052"/>
          </a:xfrm>
          <a:custGeom>
            <a:avLst/>
            <a:gdLst>
              <a:gd name="connsiteX0" fmla="*/ 0 w 10531837"/>
              <a:gd name="connsiteY0" fmla="*/ 526158 h 526158"/>
              <a:gd name="connsiteX1" fmla="*/ 131540 w 10531837"/>
              <a:gd name="connsiteY1" fmla="*/ 0 h 526158"/>
              <a:gd name="connsiteX2" fmla="*/ 10531837 w 10531837"/>
              <a:gd name="connsiteY2" fmla="*/ 0 h 526158"/>
              <a:gd name="connsiteX3" fmla="*/ 10400298 w 10531837"/>
              <a:gd name="connsiteY3" fmla="*/ 526158 h 526158"/>
              <a:gd name="connsiteX4" fmla="*/ 0 w 10531837"/>
              <a:gd name="connsiteY4" fmla="*/ 526158 h 526158"/>
              <a:gd name="connsiteX0" fmla="*/ 0 w 10531837"/>
              <a:gd name="connsiteY0" fmla="*/ 529052 h 529052"/>
              <a:gd name="connsiteX1" fmla="*/ 449843 w 10531837"/>
              <a:gd name="connsiteY1" fmla="*/ 0 h 529052"/>
              <a:gd name="connsiteX2" fmla="*/ 10531837 w 10531837"/>
              <a:gd name="connsiteY2" fmla="*/ 2894 h 529052"/>
              <a:gd name="connsiteX3" fmla="*/ 10400298 w 10531837"/>
              <a:gd name="connsiteY3" fmla="*/ 529052 h 529052"/>
              <a:gd name="connsiteX4" fmla="*/ 0 w 10531837"/>
              <a:gd name="connsiteY4" fmla="*/ 529052 h 529052"/>
              <a:gd name="connsiteX0" fmla="*/ 0 w 10083318"/>
              <a:gd name="connsiteY0" fmla="*/ 526158 h 529052"/>
              <a:gd name="connsiteX1" fmla="*/ 1324 w 10083318"/>
              <a:gd name="connsiteY1" fmla="*/ 0 h 529052"/>
              <a:gd name="connsiteX2" fmla="*/ 10083318 w 10083318"/>
              <a:gd name="connsiteY2" fmla="*/ 2894 h 529052"/>
              <a:gd name="connsiteX3" fmla="*/ 9951779 w 10083318"/>
              <a:gd name="connsiteY3" fmla="*/ 529052 h 529052"/>
              <a:gd name="connsiteX4" fmla="*/ 0 w 10083318"/>
              <a:gd name="connsiteY4" fmla="*/ 526158 h 529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83318" h="529052">
                <a:moveTo>
                  <a:pt x="0" y="526158"/>
                </a:moveTo>
                <a:cubicBezTo>
                  <a:pt x="441" y="350772"/>
                  <a:pt x="883" y="175386"/>
                  <a:pt x="1324" y="0"/>
                </a:cubicBezTo>
                <a:lnTo>
                  <a:pt x="10083318" y="2894"/>
                </a:lnTo>
                <a:lnTo>
                  <a:pt x="9951779" y="529052"/>
                </a:lnTo>
                <a:lnTo>
                  <a:pt x="0" y="52615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26" name="Title 27">
            <a:extLst>
              <a:ext uri="{FF2B5EF4-FFF2-40B4-BE49-F238E27FC236}">
                <a16:creationId xmlns:a16="http://schemas.microsoft.com/office/drawing/2014/main" id="{92672837-709A-5841-0C79-993EA1DB2BD9}"/>
              </a:ext>
            </a:extLst>
          </p:cNvPr>
          <p:cNvSpPr txBox="1">
            <a:spLocks/>
          </p:cNvSpPr>
          <p:nvPr userDrawn="1"/>
        </p:nvSpPr>
        <p:spPr>
          <a:xfrm>
            <a:off x="481900" y="212587"/>
            <a:ext cx="1923860" cy="4942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spc="0">
                <a:solidFill>
                  <a:schemeClr val="tx2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dirty="0">
                <a:solidFill>
                  <a:srgbClr val="FFFFFF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Improvement: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 Extra Bold" panose="02000903000000020004" pitchFamily="50" charset="0"/>
              <a:ea typeface="Inter Extra Bold" panose="02000903000000020004" pitchFamily="50" charset="0"/>
              <a:cs typeface="Inter Extra Bold" panose="02000903000000020004" pitchFamily="50" charset="0"/>
            </a:endParaRPr>
          </a:p>
        </p:txBody>
      </p:sp>
      <p:sp>
        <p:nvSpPr>
          <p:cNvPr id="27" name="Title 27">
            <a:extLst>
              <a:ext uri="{FF2B5EF4-FFF2-40B4-BE49-F238E27FC236}">
                <a16:creationId xmlns:a16="http://schemas.microsoft.com/office/drawing/2014/main" id="{DEA1303F-10DC-6B92-E91B-69291697AEC8}"/>
              </a:ext>
            </a:extLst>
          </p:cNvPr>
          <p:cNvSpPr txBox="1">
            <a:spLocks/>
          </p:cNvSpPr>
          <p:nvPr userDrawn="1"/>
        </p:nvSpPr>
        <p:spPr>
          <a:xfrm>
            <a:off x="9080134" y="218449"/>
            <a:ext cx="919012" cy="2446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spc="0">
                <a:solidFill>
                  <a:schemeClr val="tx2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AP ID#:</a:t>
            </a:r>
          </a:p>
        </p:txBody>
      </p:sp>
      <p:grpSp>
        <p:nvGrpSpPr>
          <p:cNvPr id="28" name="Text Leader-Members-Date">
            <a:extLst>
              <a:ext uri="{FF2B5EF4-FFF2-40B4-BE49-F238E27FC236}">
                <a16:creationId xmlns:a16="http://schemas.microsoft.com/office/drawing/2014/main" id="{58C32EF7-CB50-49D6-791A-C28BA31FC76B}"/>
              </a:ext>
            </a:extLst>
          </p:cNvPr>
          <p:cNvGrpSpPr/>
          <p:nvPr userDrawn="1"/>
        </p:nvGrpSpPr>
        <p:grpSpPr>
          <a:xfrm>
            <a:off x="26043" y="804666"/>
            <a:ext cx="6347299" cy="433452"/>
            <a:chOff x="556241" y="804666"/>
            <a:chExt cx="6347299" cy="433452"/>
          </a:xfrm>
        </p:grpSpPr>
        <p:sp>
          <p:nvSpPr>
            <p:cNvPr id="29" name="TXT Team Leader/members">
              <a:extLst>
                <a:ext uri="{FF2B5EF4-FFF2-40B4-BE49-F238E27FC236}">
                  <a16:creationId xmlns:a16="http://schemas.microsoft.com/office/drawing/2014/main" id="{B132EAB2-6F12-BB96-8963-7718C9F319B7}"/>
                </a:ext>
              </a:extLst>
            </p:cNvPr>
            <p:cNvSpPr txBox="1"/>
            <p:nvPr userDrawn="1"/>
          </p:nvSpPr>
          <p:spPr>
            <a:xfrm>
              <a:off x="556241" y="804666"/>
              <a:ext cx="1146535" cy="4334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kern="0" dirty="0">
                  <a:solidFill>
                    <a:srgbClr val="63666A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Team Leader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Team </a:t>
              </a:r>
              <a:r>
                <a:rPr kumimoji="0" lang="en-CH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M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embers:</a:t>
              </a:r>
              <a:endParaRPr lang="en-US" sz="1200" b="0" kern="0" dirty="0">
                <a:solidFill>
                  <a:srgbClr val="63666A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  <p:sp>
          <p:nvSpPr>
            <p:cNvPr id="30" name="TXT Dates">
              <a:extLst>
                <a:ext uri="{FF2B5EF4-FFF2-40B4-BE49-F238E27FC236}">
                  <a16:creationId xmlns:a16="http://schemas.microsoft.com/office/drawing/2014/main" id="{BD4A4B85-49B5-9CF2-50A4-75E138F2A439}"/>
                </a:ext>
              </a:extLst>
            </p:cNvPr>
            <p:cNvSpPr txBox="1"/>
            <p:nvPr userDrawn="1"/>
          </p:nvSpPr>
          <p:spPr>
            <a:xfrm>
              <a:off x="5995461" y="804666"/>
              <a:ext cx="908079" cy="4206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kern="0" dirty="0">
                  <a:solidFill>
                    <a:srgbClr val="63666A"/>
                  </a:solidFill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Start Date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Inter Extra Bold" panose="02000903000000020004" pitchFamily="50" charset="0"/>
                  <a:ea typeface="Inter Extra Bold" panose="02000903000000020004" pitchFamily="50" charset="0"/>
                  <a:cs typeface="Inter Extra Bold" panose="02000903000000020004" pitchFamily="50" charset="0"/>
                </a:rPr>
                <a:t>End Date:</a:t>
              </a:r>
              <a:endParaRPr lang="en-US" sz="1200" b="0" kern="0" dirty="0">
                <a:solidFill>
                  <a:srgbClr val="63666A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endParaRPr>
            </a:p>
          </p:txBody>
        </p:sp>
      </p:grpSp>
      <p:sp>
        <p:nvSpPr>
          <p:cNvPr id="2" name="TXT Dates">
            <a:extLst>
              <a:ext uri="{FF2B5EF4-FFF2-40B4-BE49-F238E27FC236}">
                <a16:creationId xmlns:a16="http://schemas.microsoft.com/office/drawing/2014/main" id="{8229C257-50FE-EBD1-DDF9-9EEB6CB6EEA7}"/>
              </a:ext>
            </a:extLst>
          </p:cNvPr>
          <p:cNvSpPr txBox="1"/>
          <p:nvPr userDrawn="1"/>
        </p:nvSpPr>
        <p:spPr>
          <a:xfrm>
            <a:off x="8479767" y="817490"/>
            <a:ext cx="1059873" cy="420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0" dirty="0">
                <a:solidFill>
                  <a:srgbClr val="63666A"/>
                </a:solidFill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Impacted Roles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US" sz="1200" b="0" kern="0" dirty="0">
              <a:solidFill>
                <a:srgbClr val="63666A"/>
              </a:solidFill>
              <a:latin typeface="Inter Extra Bold" panose="02000903000000020004" pitchFamily="50" charset="0"/>
              <a:ea typeface="Inter Extra Bold" panose="02000903000000020004" pitchFamily="50" charset="0"/>
              <a:cs typeface="Inter Extra Bold" panose="020009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88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evernova.ent.box.com/file/204684686830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C6AB3-868D-2FFA-948B-D08C14ADBF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68ADC-A3CF-AFBC-84A8-2AC43D1BA9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Overview: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Enter details…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 Extra Bold" panose="02000903000000020004" pitchFamily="50" charset="0"/>
                <a:ea typeface="Inter Extra Bold" panose="02000903000000020004" pitchFamily="50" charset="0"/>
                <a:cs typeface="Inter Extra Bold" panose="02000903000000020004" pitchFamily="50" charset="0"/>
              </a:rPr>
              <a:t>Challenges: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XXX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41B67-65CC-A6AC-CEB5-410CBE8523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</a:rPr>
              <a:t>XXX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009F3-CA89-5AAB-0BB0-8AA91663A0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dirty="0"/>
              <a:t>XXX</a:t>
            </a:r>
          </a:p>
          <a:p>
            <a:pPr lvl="1"/>
            <a:r>
              <a:rPr lang="pt-BR" dirty="0"/>
              <a:t>Pros: xxx</a:t>
            </a:r>
          </a:p>
          <a:p>
            <a:pPr lvl="1"/>
            <a:r>
              <a:rPr lang="pt-BR" dirty="0"/>
              <a:t>Cons: xxx</a:t>
            </a:r>
          </a:p>
          <a:p>
            <a:pPr marL="90488" lvl="1" indent="0">
              <a:buNone/>
            </a:pPr>
            <a:endParaRPr lang="pt-BR" dirty="0"/>
          </a:p>
          <a:p>
            <a:r>
              <a:rPr lang="pt-BR" dirty="0"/>
              <a:t>XXX</a:t>
            </a:r>
          </a:p>
          <a:p>
            <a:pPr lvl="1"/>
            <a:r>
              <a:rPr lang="pt-BR" dirty="0"/>
              <a:t>Pros: xxx</a:t>
            </a:r>
          </a:p>
          <a:p>
            <a:pPr lvl="1"/>
            <a:r>
              <a:rPr lang="pt-BR" dirty="0"/>
              <a:t>Cons: xxx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571750-4419-E5A4-88B8-6E57589EA6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37CC55-14D7-8D9B-2271-CFAE49101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1AF52B-0A53-3ECD-074A-47FAEC722F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238B6F-31C3-B461-3936-822F6CA1A5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31113-705A-0A03-E571-1EF46EBC0D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CA1452C-E677-15D5-5320-748C037CF8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3334E0-EEAA-5380-645B-A66E00D869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</a:rPr>
              <a:t>For Process/Tool Changes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What standard work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</a:rPr>
              <a:t>has been created/updated? (include links)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How was the change/solution communicated to stakeholders?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12121"/>
                </a:solidFill>
              </a:rPr>
              <a:t>For New/Updated Courses/Content: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Relevant Competencies reflected in Kahuna?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New/Updated Course Outline &amp; Materials published? (include course #)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New/Updated schedule template in UDC?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Course added to target instructor(s) competencies?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Pilot session complete &amp; feedback incorporated?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12121"/>
                </a:solidFill>
              </a:rPr>
              <a:t>For New/Updated Competency Maps:</a:t>
            </a:r>
          </a:p>
          <a:p>
            <a:pPr marL="442913" lvl="1" indent="-171450">
              <a:defRPr/>
            </a:pPr>
            <a:r>
              <a:rPr lang="en-US" i="1" dirty="0">
                <a:solidFill>
                  <a:srgbClr val="212121"/>
                </a:solidFill>
              </a:rPr>
              <a:t>All steps in </a:t>
            </a:r>
            <a:r>
              <a:rPr lang="en-US" i="1" dirty="0">
                <a:solidFill>
                  <a:srgbClr val="212121"/>
                </a:solidFill>
                <a:hlinkClick r:id="rId2"/>
              </a:rPr>
              <a:t>Competency Map checklist </a:t>
            </a:r>
            <a:r>
              <a:rPr lang="en-US" i="1" dirty="0">
                <a:solidFill>
                  <a:srgbClr val="212121"/>
                </a:solidFill>
              </a:rPr>
              <a:t>complete?</a:t>
            </a:r>
          </a:p>
          <a:p>
            <a:pPr marL="442913" lvl="1" indent="-171450">
              <a:defRPr/>
            </a:pPr>
            <a:endParaRPr lang="en-US" i="1" dirty="0">
              <a:solidFill>
                <a:srgbClr val="212121"/>
              </a:solidFill>
            </a:endParaRPr>
          </a:p>
          <a:p>
            <a:pPr marL="171450" indent="-171450"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6611D9C-48D3-F68D-8D26-5DFD0E47945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480DD58-4257-6DAA-9057-F963C74D711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© </a:t>
            </a:r>
            <a:fld id="{07DEB862-058D-4037-9324-A90CFD073E5C}" type="datetimeyyyy">
              <a:rPr lang="en-US" smtClean="0"/>
              <a:pPr/>
              <a:t>2026</a:t>
            </a:fld>
            <a:r>
              <a:rPr lang="en-US"/>
              <a:t> GE Vernova and/or its affiliates.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8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 Vernova">
      <a:dk1>
        <a:srgbClr val="212121"/>
      </a:dk1>
      <a:lt1>
        <a:srgbClr val="FFFFFF"/>
      </a:lt1>
      <a:dk2>
        <a:srgbClr val="005E60"/>
      </a:dk2>
      <a:lt2>
        <a:srgbClr val="FFFFFF"/>
      </a:lt2>
      <a:accent1>
        <a:srgbClr val="59C3C9"/>
      </a:accent1>
      <a:accent2>
        <a:srgbClr val="75CA64"/>
      </a:accent2>
      <a:accent3>
        <a:srgbClr val="BFA682"/>
      </a:accent3>
      <a:accent4>
        <a:srgbClr val="EC642B"/>
      </a:accent4>
      <a:accent5>
        <a:srgbClr val="F19F39"/>
      </a:accent5>
      <a:accent6>
        <a:srgbClr val="F3C147"/>
      </a:accent6>
      <a:hlink>
        <a:srgbClr val="0000FF"/>
      </a:hlink>
      <a:folHlink>
        <a:srgbClr val="800080"/>
      </a:folHlink>
    </a:clrScheme>
    <a:fontScheme name="GE Inter">
      <a:majorFont>
        <a:latin typeface="Inter Extra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133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 Extra Bold</vt:lpstr>
      <vt:lpstr>Arial</vt:lpstr>
      <vt:lpstr>Calibri</vt:lpstr>
      <vt:lpstr>Inter</vt:lpstr>
      <vt:lpstr>Inter Semi Bold</vt:lpstr>
      <vt:lpstr>Montserrat</vt:lpstr>
      <vt:lpstr>Office Theme</vt:lpstr>
      <vt:lpstr>PowerPoint Presentation</vt:lpstr>
    </vt:vector>
  </TitlesOfParts>
  <Company>GE Vernova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Plans One Pager Template</dc:title>
  <dc:subject>Action Plans</dc:subject>
  <dc:creator>Fielding, Lee (GE Vernova)</dc:creator>
  <cp:lastModifiedBy>Wright, Jennifer (GE Vernova)</cp:lastModifiedBy>
  <cp:revision>13</cp:revision>
  <dcterms:created xsi:type="dcterms:W3CDTF">2024-06-27T09:20:34Z</dcterms:created>
  <dcterms:modified xsi:type="dcterms:W3CDTF">2026-01-14T17:34:16Z</dcterms:modified>
</cp:coreProperties>
</file>