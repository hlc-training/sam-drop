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A83A0-ABAE-4116-9450-C53ADE4287FC}" v="12" dt="2026-07-20T20:00:28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 Rosen" userId="FCZ9tfKP8H3iwCGVrDitqZv0iYPi6jSYGmWxaNfIn90=" providerId="None" clId="Web-{30BA83A0-ABAE-4116-9450-C53ADE4287FC}"/>
    <pc:docChg chg="modSld">
      <pc:chgData name="Jim Rosen" userId="FCZ9tfKP8H3iwCGVrDitqZv0iYPi6jSYGmWxaNfIn90=" providerId="None" clId="Web-{30BA83A0-ABAE-4116-9450-C53ADE4287FC}" dt="2026-07-20T20:00:28.024" v="10" actId="1076"/>
      <pc:docMkLst>
        <pc:docMk/>
      </pc:docMkLst>
      <pc:sldChg chg="modSp">
        <pc:chgData name="Jim Rosen" userId="FCZ9tfKP8H3iwCGVrDitqZv0iYPi6jSYGmWxaNfIn90=" providerId="None" clId="Web-{30BA83A0-ABAE-4116-9450-C53ADE4287FC}" dt="2026-07-20T20:00:28.024" v="10" actId="1076"/>
        <pc:sldMkLst>
          <pc:docMk/>
          <pc:sldMk cId="2435291607" sldId="257"/>
        </pc:sldMkLst>
        <pc:spChg chg="mod">
          <ac:chgData name="Jim Rosen" userId="FCZ9tfKP8H3iwCGVrDitqZv0iYPi6jSYGmWxaNfIn90=" providerId="None" clId="Web-{30BA83A0-ABAE-4116-9450-C53ADE4287FC}" dt="2026-07-20T20:00:28.024" v="10" actId="1076"/>
          <ac:spMkLst>
            <pc:docMk/>
            <pc:sldMk cId="2435291607" sldId="257"/>
            <ac:spMk id="54" creationId="{807D3BD9-D718-55BE-864A-D075F24F0F0B}"/>
          </ac:spMkLst>
        </pc:spChg>
        <pc:cxnChg chg="mod">
          <ac:chgData name="Jim Rosen" userId="FCZ9tfKP8H3iwCGVrDitqZv0iYPi6jSYGmWxaNfIn90=" providerId="None" clId="Web-{30BA83A0-ABAE-4116-9450-C53ADE4287FC}" dt="2026-07-20T20:00:21.758" v="9" actId="1076"/>
          <ac:cxnSpMkLst>
            <pc:docMk/>
            <pc:sldMk cId="2435291607" sldId="257"/>
            <ac:cxnSpMk id="83" creationId="{0ADF9B43-DE89-DF25-AE9B-EDC47A856A2C}"/>
          </ac:cxnSpMkLst>
        </pc:cxnChg>
      </pc:sldChg>
    </pc:docChg>
  </pc:docChgLst>
  <pc:docChgLst>
    <pc:chgData clId="Web-{30BA83A0-ABAE-4116-9450-C53ADE4287FC}"/>
    <pc:docChg chg="modSld">
      <pc:chgData name="" userId="" providerId="" clId="Web-{30BA83A0-ABAE-4116-9450-C53ADE4287FC}" dt="2026-07-20T19:59:42.352" v="0" actId="20577"/>
      <pc:docMkLst>
        <pc:docMk/>
      </pc:docMkLst>
      <pc:sldChg chg="modSp">
        <pc:chgData name="" userId="" providerId="" clId="Web-{30BA83A0-ABAE-4116-9450-C53ADE4287FC}" dt="2026-07-20T19:59:42.352" v="0" actId="20577"/>
        <pc:sldMkLst>
          <pc:docMk/>
          <pc:sldMk cId="2435291607" sldId="257"/>
        </pc:sldMkLst>
        <pc:spChg chg="mod">
          <ac:chgData name="" userId="" providerId="" clId="Web-{30BA83A0-ABAE-4116-9450-C53ADE4287FC}" dt="2026-07-20T19:59:42.352" v="0" actId="20577"/>
          <ac:spMkLst>
            <pc:docMk/>
            <pc:sldMk cId="2435291607" sldId="257"/>
            <ac:spMk id="54" creationId="{807D3BD9-D718-55BE-864A-D075F24F0F0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73383-2AF3-4BE4-A314-41EA8734E19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E1C35-545D-42C4-BD81-354DF5D70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01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E1C35-545D-42C4-BD81-354DF5D70ED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539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2F5C3-7813-C789-17A8-5FB5ADB39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AAA1A-0673-19B8-2F54-6F856696D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9FBF6-1534-B759-C343-7D1BA516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01677-337E-9C8D-D3C7-5C4E9B8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0E1BE-F2D9-90C5-88E1-FE9F3B77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4C58-61B0-0D53-DF77-66397B26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CAC6E-E656-BF3E-7BE6-EC865335E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F2496-B871-7F0B-8FB7-A8C3DBEB7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424F1-24BD-1BC3-93EF-72CE95D4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3FF3D-C8D3-8A72-2EC6-DD0161CA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4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1616-9096-EEB3-7671-278413E0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D138A-D73F-DD8F-1967-4F10D7E7A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834AA-C0D7-B163-2D88-0F75699D7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0F612-61F9-54A1-E8A4-59C8C5B6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15670-1EF1-5BD4-E98A-03514C78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2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87DF-A7B6-1FF8-9198-3E917F68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DAE4-E7B7-9BF5-1F1C-8459AA86C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7D7AE-EC78-4D4A-7670-07A992D7F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E9DA2-41E6-F461-637B-97D27E66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4C093-E57D-586D-4B4E-B30579704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9F2E0-E327-CF30-BA88-B0BD86A02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98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3D47B-D900-F1FE-141B-9C5E562A6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BC555-3A79-4C6D-3865-AC5DF3074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0CD66-9320-3569-5AA5-5B855941B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8F626-BE97-1447-3350-827CD7D72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1D0673-8C35-A2BB-99A4-33D6312C6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39535-F261-9CD4-B429-6FD82D95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F93BA-09D2-6C28-05F2-FBB2AA0D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A0203-B707-BFB5-450D-807DA854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5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6D07-1223-5C69-89FD-342FE5C0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C72C4-E19C-34C2-6904-030CD15D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BCBC0-74B7-A7B2-4B80-19E509576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046D7-9456-8183-BE45-7EB3CE7C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6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ABC3E-18E7-87DA-FB17-FC51FB3C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35776-B6A5-DDE4-906E-51752DEB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B03C6-BD19-DC7E-0442-025F6123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1B356B-0A3D-9C83-7023-FD65C2658EF5}"/>
              </a:ext>
            </a:extLst>
          </p:cNvPr>
          <p:cNvSpPr txBox="1"/>
          <p:nvPr userDrawn="1"/>
        </p:nvSpPr>
        <p:spPr>
          <a:xfrm>
            <a:off x="0" y="10102334"/>
            <a:ext cx="29471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>
                <a:solidFill>
                  <a:schemeClr val="tx1">
                    <a:lumMod val="50000"/>
                  </a:schemeClr>
                </a:solidFill>
              </a:rPr>
              <a:t>©</a:t>
            </a:r>
            <a:r>
              <a:rPr lang="en-CH" sz="600" dirty="0">
                <a:solidFill>
                  <a:schemeClr val="tx1">
                    <a:lumMod val="50000"/>
                  </a:schemeClr>
                </a:solidFill>
              </a:rPr>
              <a:t> GE Vernova 2026</a:t>
            </a:r>
            <a:endParaRPr lang="en-GB" sz="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F22C78-CBC1-23E8-E2D3-D6F6217F3F2A}"/>
              </a:ext>
            </a:extLst>
          </p:cNvPr>
          <p:cNvSpPr txBox="1"/>
          <p:nvPr userDrawn="1"/>
        </p:nvSpPr>
        <p:spPr>
          <a:xfrm>
            <a:off x="15317730" y="10102334"/>
            <a:ext cx="29471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H" sz="600" dirty="0">
                <a:solidFill>
                  <a:schemeClr val="tx1">
                    <a:lumMod val="50000"/>
                  </a:schemeClr>
                </a:solidFill>
              </a:rPr>
              <a:t>Released: May 2026</a:t>
            </a:r>
            <a:endParaRPr lang="en-GB" sz="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48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F7E1-4DCA-0F80-4BED-BE1FDEDD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0A99-6B2F-E9C3-815B-7CB82B3DB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1D8C1-4CCA-594E-EF8E-A417E78FC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9BCE-98F8-B141-36A5-033EB61B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0AAF9-568C-2902-8F65-950E0FE7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C2890-D1C1-D407-ADF0-8A99E498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2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94A9-3275-3025-44B7-0FDD5E56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DEB50-F8C9-C9C8-98AD-329BF7BFD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34B90-59C5-21D4-297A-559063FFF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DE9B1-D88A-F21F-DF37-8F057DB7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8F99B-2E4B-1163-27E1-C488A016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A804F-8492-26D3-F426-F429CF4A5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5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035D-2356-493B-2657-A23650EC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31BEE-C916-B366-0008-953D41A08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183C5-9A32-5358-436C-342AF2AA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33652-3CAC-1470-7C46-4390AEA36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7A5AB-990A-4378-C0D6-0E8C6A9D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7FA30-F151-0A5D-DE3E-E20F7324A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D6B6B-5403-1504-EB4A-8829BF1DF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11E85-16EE-A31A-CFB1-43F8FF1FC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BB5B-5AFE-F063-D190-14ABD8654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68A0B-7EBB-079B-CA11-8C89D4142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0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C120A-FBA3-1C36-E94E-DFFA49C4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EB518-E1D4-6DC4-132D-EB337DB0A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D53B7-D01F-1670-EB6D-3889EE3FD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2A25D-E250-60EC-B2D6-304179094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8A298-85A7-48C0-3FB8-21BEA5707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21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fif"/><Relationship Id="rId5" Type="http://schemas.openxmlformats.org/officeDocument/2006/relationships/image" Target="../media/image3.jfif"/><Relationship Id="rId10" Type="http://schemas.openxmlformats.org/officeDocument/2006/relationships/image" Target="../media/image8.jfif"/><Relationship Id="rId4" Type="http://schemas.openxmlformats.org/officeDocument/2006/relationships/image" Target="../media/image2.jpg"/><Relationship Id="rId9" Type="http://schemas.openxmlformats.org/officeDocument/2006/relationships/image" Target="../media/image7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elogram 18">
            <a:extLst>
              <a:ext uri="{FF2B5EF4-FFF2-40B4-BE49-F238E27FC236}">
                <a16:creationId xmlns:a16="http://schemas.microsoft.com/office/drawing/2014/main" id="{4F06D051-2D2D-4E52-F66E-B48E10334656}"/>
              </a:ext>
            </a:extLst>
          </p:cNvPr>
          <p:cNvSpPr/>
          <p:nvPr/>
        </p:nvSpPr>
        <p:spPr>
          <a:xfrm>
            <a:off x="16451255" y="2884526"/>
            <a:ext cx="1309070" cy="396711"/>
          </a:xfrm>
          <a:prstGeom prst="parallelogram">
            <a:avLst>
              <a:gd name="adj" fmla="val 1247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BB23F89-E812-7E7B-EC46-EB6D3B273620}"/>
              </a:ext>
            </a:extLst>
          </p:cNvPr>
          <p:cNvSpPr/>
          <p:nvPr/>
        </p:nvSpPr>
        <p:spPr>
          <a:xfrm>
            <a:off x="14988662" y="2884527"/>
            <a:ext cx="1309070" cy="244838"/>
          </a:xfrm>
          <a:prstGeom prst="parallelogram">
            <a:avLst>
              <a:gd name="adj" fmla="val 1247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11C5F8CD-B64E-3040-4371-5E4F4FA65240}"/>
              </a:ext>
            </a:extLst>
          </p:cNvPr>
          <p:cNvSpPr/>
          <p:nvPr/>
        </p:nvSpPr>
        <p:spPr>
          <a:xfrm>
            <a:off x="13515460" y="2884527"/>
            <a:ext cx="1309070" cy="244838"/>
          </a:xfrm>
          <a:prstGeom prst="parallelogram">
            <a:avLst>
              <a:gd name="adj" fmla="val 1247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90E93130-6EF9-6434-AE18-AE323F8F9355}"/>
              </a:ext>
            </a:extLst>
          </p:cNvPr>
          <p:cNvSpPr/>
          <p:nvPr/>
        </p:nvSpPr>
        <p:spPr>
          <a:xfrm>
            <a:off x="12049777" y="2884527"/>
            <a:ext cx="1309070" cy="244838"/>
          </a:xfrm>
          <a:prstGeom prst="parallelogram">
            <a:avLst>
              <a:gd name="adj" fmla="val 1247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AF8C02D4-6D26-870B-97FE-D94D40E79353}"/>
              </a:ext>
            </a:extLst>
          </p:cNvPr>
          <p:cNvSpPr/>
          <p:nvPr/>
        </p:nvSpPr>
        <p:spPr>
          <a:xfrm>
            <a:off x="10582892" y="2884527"/>
            <a:ext cx="1309070" cy="244838"/>
          </a:xfrm>
          <a:prstGeom prst="parallelogram">
            <a:avLst>
              <a:gd name="adj" fmla="val 1247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BF33530-E2F2-6706-86CE-6801D6353E89}"/>
              </a:ext>
            </a:extLst>
          </p:cNvPr>
          <p:cNvSpPr/>
          <p:nvPr/>
        </p:nvSpPr>
        <p:spPr>
          <a:xfrm>
            <a:off x="9093833" y="2884527"/>
            <a:ext cx="1309070" cy="244838"/>
          </a:xfrm>
          <a:prstGeom prst="parallelogram">
            <a:avLst>
              <a:gd name="adj" fmla="val 1247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267A7D26-5028-110B-8138-9417C056E7CC}"/>
              </a:ext>
            </a:extLst>
          </p:cNvPr>
          <p:cNvSpPr/>
          <p:nvPr/>
        </p:nvSpPr>
        <p:spPr>
          <a:xfrm>
            <a:off x="7588913" y="2884527"/>
            <a:ext cx="1309070" cy="244838"/>
          </a:xfrm>
          <a:prstGeom prst="parallelogram">
            <a:avLst>
              <a:gd name="adj" fmla="val 1247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88B69E9-43BB-3D1D-300E-E9EC3273C6ED}"/>
              </a:ext>
            </a:extLst>
          </p:cNvPr>
          <p:cNvSpPr/>
          <p:nvPr/>
        </p:nvSpPr>
        <p:spPr>
          <a:xfrm>
            <a:off x="15014682" y="8405420"/>
            <a:ext cx="1894016" cy="233540"/>
          </a:xfrm>
          <a:prstGeom prst="parallelogram">
            <a:avLst>
              <a:gd name="adj" fmla="val 44315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5428D43C-133F-F85B-257B-6798CD62891F}"/>
              </a:ext>
            </a:extLst>
          </p:cNvPr>
          <p:cNvSpPr/>
          <p:nvPr/>
        </p:nvSpPr>
        <p:spPr>
          <a:xfrm>
            <a:off x="7694737" y="8405420"/>
            <a:ext cx="1894016" cy="233540"/>
          </a:xfrm>
          <a:prstGeom prst="parallelogram">
            <a:avLst>
              <a:gd name="adj" fmla="val 44315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D2B32E15-03CC-38D4-55FA-062234AEE2B2}"/>
              </a:ext>
            </a:extLst>
          </p:cNvPr>
          <p:cNvSpPr/>
          <p:nvPr/>
        </p:nvSpPr>
        <p:spPr>
          <a:xfrm>
            <a:off x="2067530" y="8405420"/>
            <a:ext cx="1894016" cy="233540"/>
          </a:xfrm>
          <a:prstGeom prst="parallelogram">
            <a:avLst>
              <a:gd name="adj" fmla="val 44315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9F9809EF-2B4C-0CCC-08EB-4209A5376CE8}"/>
              </a:ext>
            </a:extLst>
          </p:cNvPr>
          <p:cNvSpPr/>
          <p:nvPr/>
        </p:nvSpPr>
        <p:spPr>
          <a:xfrm>
            <a:off x="-371474" y="-5434"/>
            <a:ext cx="7685368" cy="1385863"/>
          </a:xfrm>
          <a:prstGeom prst="parallelogram">
            <a:avLst>
              <a:gd name="adj" fmla="val 2362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0" rtlCol="0" anchor="ctr"/>
          <a:lstStyle/>
          <a:p>
            <a:pPr algn="r"/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OFS Training &amp; Development</a:t>
            </a:r>
            <a:endParaRPr lang="en-CH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Cathal (Cal) McGinley</a:t>
            </a:r>
            <a:br>
              <a:rPr kumimoji="0" lang="en-CH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</a:br>
            <a:r>
              <a:rPr kumimoji="0" lang="en-CH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GM, Global Training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0DE77-AE45-33A2-233E-B468EB02F24F}"/>
              </a:ext>
            </a:extLst>
          </p:cNvPr>
          <p:cNvPicPr>
            <a:picLocks/>
          </p:cNvPicPr>
          <p:nvPr/>
        </p:nvPicPr>
        <p:blipFill>
          <a:blip r:embed="rId3"/>
          <a:srcRect r="1340" b="1340"/>
          <a:stretch>
            <a:fillRect/>
          </a:stretch>
        </p:blipFill>
        <p:spPr>
          <a:xfrm>
            <a:off x="156160" y="103966"/>
            <a:ext cx="1147318" cy="1147318"/>
          </a:xfrm>
          <a:prstGeom prst="ellipse">
            <a:avLst/>
          </a:prstGeom>
          <a:ln w="190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Parallelogram 6">
            <a:extLst>
              <a:ext uri="{FF2B5EF4-FFF2-40B4-BE49-F238E27FC236}">
                <a16:creationId xmlns:a16="http://schemas.microsoft.com/office/drawing/2014/main" id="{EADFF8F3-C959-B933-0521-6E2CF8C0D1A1}"/>
              </a:ext>
            </a:extLst>
          </p:cNvPr>
          <p:cNvSpPr/>
          <p:nvPr/>
        </p:nvSpPr>
        <p:spPr>
          <a:xfrm>
            <a:off x="12778209" y="840005"/>
            <a:ext cx="1358716" cy="586015"/>
          </a:xfrm>
          <a:prstGeom prst="parallelogram">
            <a:avLst>
              <a:gd name="adj" fmla="val 17751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0" rtlCol="0" anchor="ctr"/>
          <a:lstStyle/>
          <a:p>
            <a:pPr algn="r">
              <a:lnSpc>
                <a:spcPts val="1000"/>
              </a:lnSpc>
              <a:spcAft>
                <a:spcPts val="300"/>
              </a:spcAft>
            </a:pPr>
            <a:r>
              <a:rPr lang="en-CH" dirty="0">
                <a:latin typeface="+mj-lt"/>
              </a:rPr>
              <a:t>Finance</a:t>
            </a:r>
          </a:p>
          <a:p>
            <a:pPr lvl="0" algn="r">
              <a:lnSpc>
                <a:spcPts val="1000"/>
              </a:lnSpc>
              <a:spcAft>
                <a:spcPts val="600"/>
              </a:spcAft>
              <a:defRPr/>
            </a:pPr>
            <a:r>
              <a:rPr lang="en-GB" sz="1000" dirty="0">
                <a:solidFill>
                  <a:schemeClr val="tx1"/>
                </a:solidFill>
              </a:rPr>
              <a:t>Nemanja Kandic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A25129-DB06-672D-19D3-E289B2E3B17C}"/>
              </a:ext>
            </a:extLst>
          </p:cNvPr>
          <p:cNvPicPr>
            <a:picLocks/>
          </p:cNvPicPr>
          <p:nvPr/>
        </p:nvPicPr>
        <p:blipFill>
          <a:blip r:embed="rId4"/>
          <a:srcRect l="29695" t="6210" r="28378" b="51987"/>
          <a:stretch>
            <a:fillRect/>
          </a:stretch>
        </p:blipFill>
        <p:spPr>
          <a:xfrm>
            <a:off x="12496884" y="840005"/>
            <a:ext cx="576000" cy="574297"/>
          </a:xfrm>
          <a:prstGeom prst="ellipse">
            <a:avLst/>
          </a:prstGeom>
          <a:ln w="190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Parallelogram 15">
            <a:extLst>
              <a:ext uri="{FF2B5EF4-FFF2-40B4-BE49-F238E27FC236}">
                <a16:creationId xmlns:a16="http://schemas.microsoft.com/office/drawing/2014/main" id="{D6759201-033B-757D-7274-57529D8B2284}"/>
              </a:ext>
            </a:extLst>
          </p:cNvPr>
          <p:cNvSpPr/>
          <p:nvPr/>
        </p:nvSpPr>
        <p:spPr>
          <a:xfrm>
            <a:off x="14660984" y="840005"/>
            <a:ext cx="1358716" cy="586015"/>
          </a:xfrm>
          <a:prstGeom prst="parallelogram">
            <a:avLst>
              <a:gd name="adj" fmla="val 17751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0" bIns="45720" rtlCol="0" anchor="ctr"/>
          <a:lstStyle/>
          <a:p>
            <a:pPr algn="r">
              <a:lnSpc>
                <a:spcPts val="1200"/>
              </a:lnSpc>
            </a:pPr>
            <a:r>
              <a:rPr lang="en-CH" dirty="0">
                <a:latin typeface="+mj-lt"/>
              </a:rPr>
              <a:t>HR</a:t>
            </a:r>
          </a:p>
          <a:p>
            <a:pPr marL="0" marR="0" lvl="0" indent="0" algn="r" defTabSz="914400" rtl="0" eaLnBrk="1" fontAlgn="auto" latinLnBrk="0" hangingPunct="1">
              <a:lnSpc>
                <a:spcPts val="1000"/>
              </a:lnSpc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CH" sz="1000">
                <a:latin typeface="Inter"/>
              </a:rPr>
              <a:t>Danielle</a:t>
            </a:r>
            <a:br>
              <a:rPr lang="en-CH" sz="1000" dirty="0">
                <a:latin typeface="Inter"/>
              </a:rPr>
            </a:br>
            <a:r>
              <a:rPr lang="en-GB" sz="1000">
                <a:solidFill>
                  <a:schemeClr val="tx1"/>
                </a:solidFill>
                <a:latin typeface="Inter"/>
              </a:rPr>
              <a:t>Craig</a:t>
            </a:r>
            <a:endParaRPr lang="en-GB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nter"/>
            </a:endParaRP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9D011CD7-635F-ECDC-9569-35E097409DBA}"/>
              </a:ext>
            </a:extLst>
          </p:cNvPr>
          <p:cNvSpPr/>
          <p:nvPr/>
        </p:nvSpPr>
        <p:spPr>
          <a:xfrm>
            <a:off x="16543759" y="840005"/>
            <a:ext cx="1358716" cy="586015"/>
          </a:xfrm>
          <a:prstGeom prst="parallelogram">
            <a:avLst>
              <a:gd name="adj" fmla="val 17751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0" rtlCol="0" anchor="ctr"/>
          <a:lstStyle/>
          <a:p>
            <a:pPr algn="r">
              <a:lnSpc>
                <a:spcPts val="1200"/>
              </a:lnSpc>
            </a:pPr>
            <a:r>
              <a:rPr lang="en-CH" dirty="0">
                <a:latin typeface="+mj-lt"/>
              </a:rPr>
              <a:t>EHS</a:t>
            </a:r>
          </a:p>
          <a:p>
            <a:pPr marL="0" marR="0" lvl="0" indent="0" algn="r" defTabSz="914400" rtl="0" eaLnBrk="1" fontAlgn="auto" latinLnBrk="0" hangingPunct="1">
              <a:lnSpc>
                <a:spcPts val="1000"/>
              </a:lnSpc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Lizlee</a:t>
            </a:r>
            <a:b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Galley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9E795B-E2EE-0E7A-A26F-5566BED89A60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t="5773" r="5013" b="16788"/>
          <a:stretch>
            <a:fillRect/>
          </a:stretch>
        </p:blipFill>
        <p:spPr>
          <a:xfrm>
            <a:off x="16301024" y="846265"/>
            <a:ext cx="576000" cy="576000"/>
          </a:xfrm>
          <a:prstGeom prst="ellipse">
            <a:avLst/>
          </a:prstGeom>
          <a:ln w="190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6" name="Freeform: Shape 11">
            <a:extLst>
              <a:ext uri="{FF2B5EF4-FFF2-40B4-BE49-F238E27FC236}">
                <a16:creationId xmlns:a16="http://schemas.microsoft.com/office/drawing/2014/main" id="{C3809761-4A93-E82E-3040-80C0417EB484}"/>
              </a:ext>
            </a:extLst>
          </p:cNvPr>
          <p:cNvSpPr/>
          <p:nvPr/>
        </p:nvSpPr>
        <p:spPr>
          <a:xfrm>
            <a:off x="911006" y="2729567"/>
            <a:ext cx="1928702" cy="4622216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FE</a:t>
            </a:r>
            <a:b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Training &amp; D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v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pm</a:t>
            </a:r>
            <a:r>
              <a:rPr lang="en-CH" sz="1000" b="1" u="sng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t </a:t>
            </a:r>
          </a:p>
          <a:p>
            <a:pPr marL="0" marR="0" lvl="0" indent="0" algn="l" defTabSz="400050" rtl="0" eaLnBrk="1" fontAlgn="auto" latinLnBrk="0" hangingPunct="1"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Managers</a:t>
            </a:r>
          </a:p>
          <a:p>
            <a:pPr defTabSz="400050">
              <a:tabLst>
                <a:tab pos="36195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Nimra Kazmi</a:t>
            </a: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- EUR</a:t>
            </a:r>
          </a:p>
          <a:p>
            <a:pPr defTabSz="400050">
              <a:tabLst>
                <a:tab pos="361950" algn="l"/>
              </a:tabLst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Wingdings" panose="05000000000000000000" pitchFamily="2" charset="2"/>
              </a:rPr>
              <a:t>	</a:t>
            </a: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EU FEPs (33)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Alyssa Mays</a:t>
            </a: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- NAM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	NAM EXEC FEPs (60)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tabLst>
                <a:tab pos="36195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Brenda Roman</a:t>
            </a: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- NAM</a:t>
            </a:r>
          </a:p>
          <a:p>
            <a:pPr defTabSz="400050">
              <a:tabLst>
                <a:tab pos="361950" algn="l"/>
              </a:tabLst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	NAM COE FEPs (53)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tabLst>
                <a:tab pos="36195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Paula Pedroza</a:t>
            </a: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- LATAM</a:t>
            </a:r>
          </a:p>
          <a:p>
            <a:pPr defTabSz="400050">
              <a:tabLst>
                <a:tab pos="361950" algn="l"/>
              </a:tabLst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	LATAM FEPs (13)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Howayda Sabry Maher</a:t>
            </a: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- MEA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	MEA FEPs (20)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marL="0" marR="0" lvl="0" indent="0" algn="l" defTabSz="400050" rtl="0" eaLnBrk="1" fontAlgn="auto" latinLnBrk="0" hangingPunct="1">
              <a:spcAft>
                <a:spcPts val="12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Siaw Wei Tan</a:t>
            </a: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- APAC</a:t>
            </a:r>
            <a:b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</a:b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	APAC FEPs (9)</a:t>
            </a:r>
          </a:p>
          <a:p>
            <a:pPr marL="0" marR="0" lvl="0" indent="0" algn="l" defTabSz="400050" rtl="0" eaLnBrk="1" fontAlgn="auto" latinLnBrk="0" hangingPunct="1"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Craft</a:t>
            </a:r>
            <a:b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Training &amp; D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v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pm</a:t>
            </a:r>
            <a:r>
              <a:rPr lang="en-CH" sz="1000" b="1" u="sng" dirty="0" err="1">
                <a:solidFill>
                  <a:schemeClr val="accent1">
                    <a:lumMod val="50000"/>
                  </a:schemeClr>
                </a:solidFill>
              </a:rPr>
              <a:t>ent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Managers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Carlo Fabregas – APAC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Mouna Boucherka – MEA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Erica Peredo – LATAM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Marcela Bohorquez  – NAM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Beyza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Yaver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 - EUR</a:t>
            </a:r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ADD6ECA6-C91B-02EF-B1A6-60D32954427E}"/>
              </a:ext>
            </a:extLst>
          </p:cNvPr>
          <p:cNvSpPr/>
          <p:nvPr/>
        </p:nvSpPr>
        <p:spPr>
          <a:xfrm>
            <a:off x="5559360" y="1926266"/>
            <a:ext cx="1894018" cy="504001"/>
          </a:xfrm>
          <a:prstGeom prst="parallelogram">
            <a:avLst>
              <a:gd name="adj" fmla="val 1775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1" name="Freeform: Shape 11">
            <a:extLst>
              <a:ext uri="{FF2B5EF4-FFF2-40B4-BE49-F238E27FC236}">
                <a16:creationId xmlns:a16="http://schemas.microsoft.com/office/drawing/2014/main" id="{D5633076-7680-3782-D302-E944145F10A0}"/>
              </a:ext>
            </a:extLst>
          </p:cNvPr>
          <p:cNvSpPr/>
          <p:nvPr/>
        </p:nvSpPr>
        <p:spPr>
          <a:xfrm>
            <a:off x="3366382" y="2729568"/>
            <a:ext cx="1958094" cy="2559982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Training </a:t>
            </a:r>
            <a:r>
              <a:rPr lang="en-US" sz="1000" b="1" u="sng" dirty="0" err="1">
                <a:solidFill>
                  <a:schemeClr val="accent1">
                    <a:lumMod val="50000"/>
                  </a:schemeClr>
                </a:solidFill>
              </a:rPr>
              <a:t>Proj</a:t>
            </a:r>
            <a:r>
              <a:rPr lang="en-CH" sz="1000" b="1" u="sng" dirty="0" err="1">
                <a:solidFill>
                  <a:schemeClr val="accent1">
                    <a:lumMod val="50000"/>
                  </a:schemeClr>
                </a:solidFill>
              </a:rPr>
              <a:t>ect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 M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ana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g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sz="1000" b="1" u="sng" dirty="0" err="1">
                <a:solidFill>
                  <a:schemeClr val="accent1">
                    <a:lumMod val="50000"/>
                  </a:schemeClr>
                </a:solidFill>
              </a:rPr>
              <a:t>rs</a:t>
            </a:r>
            <a:endParaRPr lang="en-US" sz="10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defTabSz="400050">
              <a:defRPr/>
            </a:pPr>
            <a:r>
              <a:rPr lang="en-US" sz="1000" dirty="0" err="1">
                <a:solidFill>
                  <a:schemeClr val="bg1">
                    <a:lumMod val="90000"/>
                    <a:lumOff val="10000"/>
                  </a:schemeClr>
                </a:solidFill>
              </a:rPr>
              <a:t>Aboubaida</a:t>
            </a: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El Mansoor – MEA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Pat Molumby – NAM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Anna Petrella - EUR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Alejandra Saldana - LATAM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Gavin Yoong - Asia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Maria Medina </a:t>
            </a:r>
            <a:r>
              <a:rPr lang="en-GB" sz="1000" noProof="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– Open Enrolment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F397F4E3-D4E8-092F-8D12-61ECB6AC4DB4}"/>
              </a:ext>
            </a:extLst>
          </p:cNvPr>
          <p:cNvCxnSpPr>
            <a:cxnSpLocks/>
          </p:cNvCxnSpPr>
          <p:nvPr/>
        </p:nvCxnSpPr>
        <p:spPr>
          <a:xfrm rot="16200000" flipV="1">
            <a:off x="3014753" y="2563747"/>
            <a:ext cx="346308" cy="158752"/>
          </a:xfrm>
          <a:prstGeom prst="bentConnector3">
            <a:avLst>
              <a:gd name="adj1" fmla="val 2326"/>
            </a:avLst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11">
            <a:extLst>
              <a:ext uri="{FF2B5EF4-FFF2-40B4-BE49-F238E27FC236}">
                <a16:creationId xmlns:a16="http://schemas.microsoft.com/office/drawing/2014/main" id="{AB6F90EC-1EB0-4B56-C74B-0A6680547AC6}"/>
              </a:ext>
            </a:extLst>
          </p:cNvPr>
          <p:cNvSpPr/>
          <p:nvPr/>
        </p:nvSpPr>
        <p:spPr>
          <a:xfrm>
            <a:off x="5817212" y="2729567"/>
            <a:ext cx="1526562" cy="4511023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30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P</a:t>
            </a:r>
            <a:r>
              <a:rPr lang="en-CH" sz="1000" b="1" u="sng" dirty="0" err="1">
                <a:solidFill>
                  <a:schemeClr val="accent1">
                    <a:lumMod val="50000"/>
                  </a:schemeClr>
                </a:solidFill>
              </a:rPr>
              <a:t>rogram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ana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g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sz="1000" b="1" u="sng" dirty="0" err="1">
                <a:solidFill>
                  <a:schemeClr val="accent1">
                    <a:lumMod val="50000"/>
                  </a:schemeClr>
                </a:solidFill>
              </a:rPr>
              <a:t>rs</a:t>
            </a:r>
            <a:endParaRPr lang="en-US" sz="10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defTabSz="400050">
              <a:tabLst>
                <a:tab pos="26670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Tamara Biediger</a:t>
            </a:r>
          </a:p>
          <a:p>
            <a:pPr defTabSz="400050">
              <a:tabLst>
                <a:tab pos="26670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Ankita Gupta</a:t>
            </a:r>
          </a:p>
          <a:p>
            <a:pPr defTabSz="400050">
              <a:tabLst>
                <a:tab pos="26670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Salim Messekine</a:t>
            </a:r>
          </a:p>
          <a:p>
            <a:pPr defTabSz="400050">
              <a:tabLst>
                <a:tab pos="26670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Luca Martino</a:t>
            </a:r>
          </a:p>
          <a:p>
            <a:pPr defTabSz="400050">
              <a:spcAft>
                <a:spcPts val="1200"/>
              </a:spcAft>
              <a:tabLst>
                <a:tab pos="266700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Julieta Ponce</a:t>
            </a:r>
            <a:endParaRPr lang="en-CH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lvl="0" defTabSz="400050">
              <a:spcAft>
                <a:spcPts val="300"/>
              </a:spcAft>
              <a:tabLst>
                <a:tab pos="266700" algn="l"/>
              </a:tabLst>
              <a:defRPr/>
            </a:pP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Competency System</a:t>
            </a:r>
            <a:b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ana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g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endParaRPr lang="en-US" sz="10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defTabSz="400050">
              <a:tabLst>
                <a:tab pos="296863" algn="l"/>
              </a:tabLst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Kelly Kirby</a:t>
            </a:r>
          </a:p>
          <a:p>
            <a:pPr defTabSz="400050">
              <a:spcAft>
                <a:spcPts val="1200"/>
              </a:spcAft>
              <a:tabLst>
                <a:tab pos="238125" algn="l"/>
              </a:tabLst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	</a:t>
            </a: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Gloria Norris</a:t>
            </a:r>
          </a:p>
          <a:p>
            <a:pPr defTabSz="400050">
              <a:spcAft>
                <a:spcPts val="300"/>
              </a:spcAft>
              <a:tabLst>
                <a:tab pos="238125" algn="l"/>
              </a:tabLst>
              <a:defRPr/>
            </a:pPr>
            <a:r>
              <a:rPr lang="en-US" sz="1000" b="1" u="sng" dirty="0">
                <a:solidFill>
                  <a:schemeClr val="accent1">
                    <a:lumMod val="50000"/>
                  </a:schemeClr>
                </a:solidFill>
              </a:rPr>
              <a:t>Simulations</a:t>
            </a:r>
          </a:p>
          <a:p>
            <a:pPr defTabSz="400050">
              <a:tabLst>
                <a:tab pos="238125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Aaron Hayes</a:t>
            </a:r>
          </a:p>
          <a:p>
            <a:pPr defTabSz="400050">
              <a:tabLst>
                <a:tab pos="238125" algn="l"/>
              </a:tabLst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	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0000"/>
                    <a:lumOff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Charles Wall</a:t>
            </a:r>
          </a:p>
          <a:p>
            <a:pPr defTabSz="400050"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B1B30403-15FB-7607-967E-13A377095696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65582" y="2563747"/>
            <a:ext cx="346308" cy="158752"/>
          </a:xfrm>
          <a:prstGeom prst="bentConnector3">
            <a:avLst>
              <a:gd name="adj1" fmla="val 2326"/>
            </a:avLst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0B951357-5D7B-E8D4-DF01-7D0D4A846F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517" b="10517"/>
          <a:stretch/>
        </p:blipFill>
        <p:spPr>
          <a:xfrm>
            <a:off x="5185084" y="1793443"/>
            <a:ext cx="720000" cy="720000"/>
          </a:xfrm>
          <a:prstGeom prst="ellipse">
            <a:avLst/>
          </a:prstGeom>
          <a:ln w="190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381A2E-1F02-EA2D-BE21-3E206609895F}"/>
              </a:ext>
            </a:extLst>
          </p:cNvPr>
          <p:cNvCxnSpPr>
            <a:cxnSpLocks/>
          </p:cNvCxnSpPr>
          <p:nvPr/>
        </p:nvCxnSpPr>
        <p:spPr>
          <a:xfrm>
            <a:off x="5559360" y="2682535"/>
            <a:ext cx="0" cy="1997308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A349C0A-FC1F-1DA1-D03A-18F7A1FB1F28}"/>
              </a:ext>
            </a:extLst>
          </p:cNvPr>
          <p:cNvCxnSpPr/>
          <p:nvPr/>
        </p:nvCxnSpPr>
        <p:spPr>
          <a:xfrm>
            <a:off x="5559360" y="3982137"/>
            <a:ext cx="158752" cy="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C9B15B4-5F97-E065-13A1-0EF80DBFAF42}"/>
              </a:ext>
            </a:extLst>
          </p:cNvPr>
          <p:cNvCxnSpPr/>
          <p:nvPr/>
        </p:nvCxnSpPr>
        <p:spPr>
          <a:xfrm>
            <a:off x="5559360" y="4679843"/>
            <a:ext cx="158752" cy="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Freeform: Shape 11">
            <a:extLst>
              <a:ext uri="{FF2B5EF4-FFF2-40B4-BE49-F238E27FC236}">
                <a16:creationId xmlns:a16="http://schemas.microsoft.com/office/drawing/2014/main" id="{807D3BD9-D718-55BE-864A-D075F24F0F0B}"/>
              </a:ext>
            </a:extLst>
          </p:cNvPr>
          <p:cNvSpPr/>
          <p:nvPr/>
        </p:nvSpPr>
        <p:spPr>
          <a:xfrm>
            <a:off x="7584744" y="2975674"/>
            <a:ext cx="1446591" cy="4502224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CH" sz="1000" b="1" dirty="0">
                <a:solidFill>
                  <a:schemeClr val="tx1"/>
                </a:solidFill>
              </a:rPr>
              <a:t>CONTROLS</a:t>
            </a:r>
          </a:p>
          <a:p>
            <a:pPr marR="0" lvl="0" indent="0" fontAlgn="auto">
              <a:spcAft>
                <a:spcPts val="600"/>
              </a:spcAft>
              <a:buClrTx/>
              <a:buSzTx/>
              <a:buFontTx/>
              <a:buNone/>
              <a:tabLst>
                <a:tab pos="1438275" algn="l"/>
              </a:tabLst>
              <a:defRPr/>
            </a:pPr>
            <a:r>
              <a:rPr lang="en-GB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Mohammed Nizami</a:t>
            </a:r>
          </a:p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Instructors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Carla Borbolla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Gerardo Gonzalez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Joshua Brand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John Doss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Yegor Spencer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Bharat Vispara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Martin Acosta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Muhammad Ahmed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Rafael Venancio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Doug Wadsworth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Isaiah Mason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Nasreddine Laroussi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Gopinath Kumar</a:t>
            </a:r>
          </a:p>
          <a:p>
            <a:pPr defTabSz="400050">
              <a:defRPr/>
            </a:pPr>
            <a:r>
              <a:rPr lang="en-US" sz="1000" dirty="0">
                <a:solidFill>
                  <a:srgbClr val="000000"/>
                </a:solidFill>
                <a:latin typeface="Arial"/>
                <a:cs typeface="Arial"/>
              </a:rPr>
              <a:t>Margaret Baluyut</a:t>
            </a:r>
            <a:endParaRPr lang="en-US" dirty="0"/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Mahesh </a:t>
            </a:r>
            <a:r>
              <a:rPr lang="en-US" sz="1000" dirty="0" err="1">
                <a:solidFill>
                  <a:schemeClr val="bg1">
                    <a:lumMod val="90000"/>
                    <a:lumOff val="10000"/>
                  </a:schemeClr>
                </a:solidFill>
              </a:rPr>
              <a:t>Vangaveeti</a:t>
            </a:r>
          </a:p>
          <a:p>
            <a:pPr defTabSz="400050">
              <a:defRPr/>
            </a:pP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0" name="Freeform: Shape 11">
            <a:extLst>
              <a:ext uri="{FF2B5EF4-FFF2-40B4-BE49-F238E27FC236}">
                <a16:creationId xmlns:a16="http://schemas.microsoft.com/office/drawing/2014/main" id="{C6D37A94-44FD-7A40-C564-46CFAD30C624}"/>
              </a:ext>
            </a:extLst>
          </p:cNvPr>
          <p:cNvSpPr/>
          <p:nvPr/>
        </p:nvSpPr>
        <p:spPr>
          <a:xfrm>
            <a:off x="9160538" y="2932131"/>
            <a:ext cx="1446591" cy="4643192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CH" sz="1000" b="1" dirty="0">
                <a:solidFill>
                  <a:schemeClr val="tx1"/>
                </a:solidFill>
              </a:rPr>
              <a:t>GAS TURBINE</a:t>
            </a:r>
          </a:p>
          <a:p>
            <a:pPr marR="0" lvl="0" indent="0" fontAlgn="auto">
              <a:spcAft>
                <a:spcPts val="600"/>
              </a:spcAft>
              <a:buClrTx/>
              <a:buSzTx/>
              <a:buFontTx/>
              <a:buNone/>
              <a:tabLst>
                <a:tab pos="1438275" algn="l"/>
              </a:tabLst>
              <a:defRPr/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Sherif Khalifa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Instructors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Salah Ahmed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Lemuel Armstrong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Selma Boutira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Steve Brasseaux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Jimmy Capps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Agustin Collado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Gary Franklin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Coy Jackson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Hichem Mesli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Tim Taylor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Nour Galal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Tom Walsh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Joel Maciejewski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Essam Ali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Humberto </a:t>
            </a:r>
            <a:r>
              <a:rPr lang="en-US" sz="1000" dirty="0" err="1">
                <a:solidFill>
                  <a:schemeClr val="bg1">
                    <a:lumMod val="90000"/>
                    <a:lumOff val="10000"/>
                  </a:schemeClr>
                </a:solidFill>
              </a:rPr>
              <a:t>AranaSalas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Ihsan Allah Rakha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Mohamed Abdelaziz</a:t>
            </a:r>
          </a:p>
          <a:p>
            <a:pPr defTabSz="400050">
              <a:defRPr/>
            </a:pPr>
            <a:r>
              <a:rPr lang="en-US" sz="1000" dirty="0">
                <a:solidFill>
                  <a:srgbClr val="000000"/>
                </a:solidFill>
                <a:latin typeface="Arial"/>
                <a:cs typeface="Arial"/>
              </a:rPr>
              <a:t>Matt Wofford</a:t>
            </a:r>
            <a:endParaRPr lang="en-US" dirty="0"/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Inter"/>
                <a:cs typeface="Arial"/>
              </a:rPr>
              <a:t>Ahmed Yassin</a:t>
            </a:r>
            <a:endParaRPr lang="en-US" dirty="0"/>
          </a:p>
          <a:p>
            <a:pPr defTabSz="400050">
              <a:defRPr/>
            </a:pP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1" name="Freeform: Shape 11">
            <a:extLst>
              <a:ext uri="{FF2B5EF4-FFF2-40B4-BE49-F238E27FC236}">
                <a16:creationId xmlns:a16="http://schemas.microsoft.com/office/drawing/2014/main" id="{9F2ED3DE-1091-337C-EE23-59208D89FBFF}"/>
              </a:ext>
            </a:extLst>
          </p:cNvPr>
          <p:cNvSpPr/>
          <p:nvPr/>
        </p:nvSpPr>
        <p:spPr>
          <a:xfrm>
            <a:off x="10638362" y="2932131"/>
            <a:ext cx="1446591" cy="4556250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chemeClr val="tx1"/>
                </a:solidFill>
              </a:rPr>
              <a:t>G</a:t>
            </a:r>
            <a:r>
              <a:rPr lang="en-CH" sz="1000" b="1" dirty="0">
                <a:solidFill>
                  <a:schemeClr val="tx1"/>
                </a:solidFill>
              </a:rPr>
              <a:t>EN</a:t>
            </a:r>
            <a:r>
              <a:rPr lang="en-GB" sz="1000" b="1" dirty="0">
                <a:solidFill>
                  <a:schemeClr val="tx1"/>
                </a:solidFill>
              </a:rPr>
              <a:t> &amp; E</a:t>
            </a:r>
            <a:r>
              <a:rPr lang="en-CH" sz="1000" b="1" dirty="0">
                <a:solidFill>
                  <a:schemeClr val="tx1"/>
                </a:solidFill>
              </a:rPr>
              <a:t>LEC</a:t>
            </a:r>
            <a:r>
              <a:rPr lang="en-GB" sz="1000" b="1" dirty="0">
                <a:solidFill>
                  <a:schemeClr val="tx1"/>
                </a:solidFill>
              </a:rPr>
              <a:t> E</a:t>
            </a:r>
            <a:r>
              <a:rPr lang="en-CH" sz="1000" b="1" dirty="0">
                <a:solidFill>
                  <a:schemeClr val="tx1"/>
                </a:solidFill>
              </a:rPr>
              <a:t>XC</a:t>
            </a:r>
          </a:p>
          <a:p>
            <a:pPr>
              <a:spcAft>
                <a:spcPts val="600"/>
              </a:spcAft>
              <a:tabLst>
                <a:tab pos="1438275" algn="l"/>
              </a:tabLst>
              <a:defRPr/>
            </a:pPr>
            <a:r>
              <a:rPr lang="en-CH" sz="1000" b="1">
                <a:solidFill>
                  <a:schemeClr val="bg1">
                    <a:lumMod val="90000"/>
                    <a:lumOff val="10000"/>
                  </a:schemeClr>
                </a:solidFill>
              </a:rPr>
              <a:t>Ben Smith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Instructors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Khaled Al Behiri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Zakaria Al-Qawasmeh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Willy Bueno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Joe MacAndrews</a:t>
            </a:r>
          </a:p>
          <a:p>
            <a:pPr defTabSz="400050">
              <a:defRPr/>
            </a:pPr>
            <a:r>
              <a:rPr lang="en-US" sz="1000">
                <a:solidFill>
                  <a:schemeClr val="bg1">
                    <a:lumMod val="90000"/>
                    <a:lumOff val="10000"/>
                  </a:schemeClr>
                </a:solidFill>
              </a:rPr>
              <a:t>Julio Ramirez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Oscar Torres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Guy Zamor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Renan Lopes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Imran Arshad</a:t>
            </a:r>
          </a:p>
        </p:txBody>
      </p:sp>
      <p:sp>
        <p:nvSpPr>
          <p:cNvPr id="62" name="Freeform: Shape 11">
            <a:extLst>
              <a:ext uri="{FF2B5EF4-FFF2-40B4-BE49-F238E27FC236}">
                <a16:creationId xmlns:a16="http://schemas.microsoft.com/office/drawing/2014/main" id="{73DB108C-4460-8DA8-5E4B-D537991D3DC5}"/>
              </a:ext>
            </a:extLst>
          </p:cNvPr>
          <p:cNvSpPr/>
          <p:nvPr/>
        </p:nvSpPr>
        <p:spPr>
          <a:xfrm>
            <a:off x="12116185" y="2932131"/>
            <a:ext cx="1446591" cy="4556250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chemeClr val="tx1"/>
                </a:solidFill>
              </a:rPr>
              <a:t>C</a:t>
            </a:r>
            <a:r>
              <a:rPr lang="en-CH" sz="1000" b="1" dirty="0">
                <a:solidFill>
                  <a:schemeClr val="tx1"/>
                </a:solidFill>
              </a:rPr>
              <a:t>RAFT / OSS</a:t>
            </a:r>
          </a:p>
          <a:p>
            <a:pPr marR="0" lvl="0" indent="0" fontAlgn="auto">
              <a:spcAft>
                <a:spcPts val="600"/>
              </a:spcAft>
              <a:buClrTx/>
              <a:buSzTx/>
              <a:buFontTx/>
              <a:buNone/>
              <a:tabLst>
                <a:tab pos="1438275" algn="l"/>
              </a:tabLst>
              <a:defRPr/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Harry Hanson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Instructors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Lou Baez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Steven Conrad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Henry Gallagher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Paul Dugas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Helio Garcia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Tom Harbin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Roy Koenig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Bruno Lofaro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Doug Moon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Juan Palaez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Matt Remillard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Rainer Schumacher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Randall Stephenson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Joshua Cabler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Anthony Hall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Tom Samuelson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James Ledford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LA Osborn</a:t>
            </a:r>
          </a:p>
        </p:txBody>
      </p:sp>
      <p:sp>
        <p:nvSpPr>
          <p:cNvPr id="63" name="Freeform: Shape 11">
            <a:extLst>
              <a:ext uri="{FF2B5EF4-FFF2-40B4-BE49-F238E27FC236}">
                <a16:creationId xmlns:a16="http://schemas.microsoft.com/office/drawing/2014/main" id="{00B9C5D4-C81B-EC9B-2F93-CCB06BC93362}"/>
              </a:ext>
            </a:extLst>
          </p:cNvPr>
          <p:cNvSpPr/>
          <p:nvPr/>
        </p:nvSpPr>
        <p:spPr>
          <a:xfrm>
            <a:off x="13594009" y="2932130"/>
            <a:ext cx="1446591" cy="4601505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chemeClr val="tx1"/>
                </a:solidFill>
              </a:rPr>
              <a:t>A</a:t>
            </a:r>
            <a:r>
              <a:rPr lang="en-CH" sz="1000" b="1" dirty="0">
                <a:solidFill>
                  <a:schemeClr val="tx1"/>
                </a:solidFill>
              </a:rPr>
              <a:t>LSTOM &amp; ST</a:t>
            </a:r>
          </a:p>
          <a:p>
            <a:pPr marR="0" lvl="0" indent="0" fontAlgn="auto">
              <a:spcAft>
                <a:spcPts val="600"/>
              </a:spcAft>
              <a:buClrTx/>
              <a:buSzTx/>
              <a:buFontTx/>
              <a:buNone/>
              <a:tabLst>
                <a:tab pos="1438275" algn="l"/>
              </a:tabLst>
              <a:defRPr/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Pablo Schibli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Instructors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Domingo Aleman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Aaron Curtis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Evgenii </a:t>
            </a:r>
            <a:r>
              <a:rPr lang="en-US" sz="1000" dirty="0" err="1">
                <a:solidFill>
                  <a:schemeClr val="bg1">
                    <a:lumMod val="90000"/>
                    <a:lumOff val="10000"/>
                  </a:schemeClr>
                </a:solidFill>
              </a:rPr>
              <a:t>Deviatkov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Vito Franco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Donald Hopkins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Amin Houidi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Alek Kitanovic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Gaetan Kofmel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Santosh Kumar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Dave Miller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Jeff Ogletree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Mario Muñoz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Rene Rivas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Carlos Arevalo</a:t>
            </a:r>
          </a:p>
          <a:p>
            <a:pPr defTabSz="400050">
              <a:defRPr/>
            </a:pPr>
            <a:r>
              <a:rPr lang="en-US" sz="1000" dirty="0" err="1">
                <a:solidFill>
                  <a:schemeClr val="bg1">
                    <a:lumMod val="90000"/>
                    <a:lumOff val="10000"/>
                  </a:schemeClr>
                </a:solidFill>
              </a:rPr>
              <a:t>Yeturi</a:t>
            </a: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Raghunath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Rrahman Arslani</a:t>
            </a:r>
          </a:p>
        </p:txBody>
      </p:sp>
      <p:sp>
        <p:nvSpPr>
          <p:cNvPr id="65" name="Parallelogram 64">
            <a:extLst>
              <a:ext uri="{FF2B5EF4-FFF2-40B4-BE49-F238E27FC236}">
                <a16:creationId xmlns:a16="http://schemas.microsoft.com/office/drawing/2014/main" id="{A18DA94D-2886-1EE1-823A-F0AC5F3BD803}"/>
              </a:ext>
            </a:extLst>
          </p:cNvPr>
          <p:cNvSpPr/>
          <p:nvPr/>
        </p:nvSpPr>
        <p:spPr>
          <a:xfrm>
            <a:off x="3108531" y="1926266"/>
            <a:ext cx="1894018" cy="504001"/>
          </a:xfrm>
          <a:prstGeom prst="parallelogram">
            <a:avLst>
              <a:gd name="adj" fmla="val 1775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115F6EB-E439-C9BA-BBFD-2B5549E08D3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168" t="4167" r="3865" b="3865"/>
          <a:stretch>
            <a:fillRect/>
          </a:stretch>
        </p:blipFill>
        <p:spPr>
          <a:xfrm>
            <a:off x="2723908" y="1802968"/>
            <a:ext cx="720000" cy="720000"/>
          </a:xfrm>
          <a:prstGeom prst="ellipse">
            <a:avLst/>
          </a:prstGeom>
          <a:ln w="190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6" name="Parallelogram 65">
            <a:extLst>
              <a:ext uri="{FF2B5EF4-FFF2-40B4-BE49-F238E27FC236}">
                <a16:creationId xmlns:a16="http://schemas.microsoft.com/office/drawing/2014/main" id="{303F9914-A984-313E-267C-ECC82E557EB7}"/>
              </a:ext>
            </a:extLst>
          </p:cNvPr>
          <p:cNvSpPr/>
          <p:nvPr/>
        </p:nvSpPr>
        <p:spPr>
          <a:xfrm>
            <a:off x="650384" y="1926266"/>
            <a:ext cx="1894018" cy="504001"/>
          </a:xfrm>
          <a:prstGeom prst="parallelogram">
            <a:avLst>
              <a:gd name="adj" fmla="val 1775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7" name="Parallelogram 66">
            <a:extLst>
              <a:ext uri="{FF2B5EF4-FFF2-40B4-BE49-F238E27FC236}">
                <a16:creationId xmlns:a16="http://schemas.microsoft.com/office/drawing/2014/main" id="{ED5DE373-1F6C-9D3D-CE6D-14A9A8E4B68C}"/>
              </a:ext>
            </a:extLst>
          </p:cNvPr>
          <p:cNvSpPr/>
          <p:nvPr/>
        </p:nvSpPr>
        <p:spPr>
          <a:xfrm>
            <a:off x="7909560" y="1926266"/>
            <a:ext cx="9974580" cy="504001"/>
          </a:xfrm>
          <a:prstGeom prst="parallelogram">
            <a:avLst>
              <a:gd name="adj" fmla="val 1775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16522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40D930E-429F-870B-C904-07FF1CA0189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5357" t="7955" r="22516" b="37539"/>
          <a:stretch>
            <a:fillRect/>
          </a:stretch>
        </p:blipFill>
        <p:spPr>
          <a:xfrm>
            <a:off x="7587464" y="1794463"/>
            <a:ext cx="720000" cy="720000"/>
          </a:xfrm>
          <a:prstGeom prst="ellipse">
            <a:avLst/>
          </a:prstGeom>
          <a:ln w="190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8" name="Freeform: Shape 11">
            <a:extLst>
              <a:ext uri="{FF2B5EF4-FFF2-40B4-BE49-F238E27FC236}">
                <a16:creationId xmlns:a16="http://schemas.microsoft.com/office/drawing/2014/main" id="{8C247CD7-E864-941B-45CF-74EE10ED0874}"/>
              </a:ext>
            </a:extLst>
          </p:cNvPr>
          <p:cNvSpPr/>
          <p:nvPr/>
        </p:nvSpPr>
        <p:spPr>
          <a:xfrm>
            <a:off x="15071832" y="2932131"/>
            <a:ext cx="1446591" cy="4571436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chemeClr val="tx1"/>
                </a:solidFill>
              </a:rPr>
              <a:t>A</a:t>
            </a:r>
            <a:r>
              <a:rPr lang="en-CH" sz="1000" b="1" dirty="0">
                <a:solidFill>
                  <a:schemeClr val="tx1"/>
                </a:solidFill>
              </a:rPr>
              <a:t>ERO</a:t>
            </a:r>
          </a:p>
          <a:p>
            <a:pPr marR="0" lvl="0" indent="0" fontAlgn="auto">
              <a:spcAft>
                <a:spcPts val="600"/>
              </a:spcAft>
              <a:buClrTx/>
              <a:buSzTx/>
              <a:buFontTx/>
              <a:buNone/>
              <a:tabLst>
                <a:tab pos="1438275" algn="l"/>
              </a:tabLst>
              <a:defRPr/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Greg Walker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Instructors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R. De Conceicao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Elias </a:t>
            </a:r>
            <a:r>
              <a:rPr lang="en-US" sz="1000" dirty="0" err="1">
                <a:solidFill>
                  <a:schemeClr val="bg1">
                    <a:lumMod val="90000"/>
                    <a:lumOff val="10000"/>
                  </a:schemeClr>
                </a:solidFill>
              </a:rPr>
              <a:t>Benedi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Richard Fisher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Mark Girling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Douglas Salazar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John Selman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Tim Walker</a:t>
            </a:r>
          </a:p>
          <a:p>
            <a:pPr defTabSz="400050">
              <a:defRPr/>
            </a:pPr>
            <a:r>
              <a:rPr lang="en-US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Tamilarasan Kannaiyan</a:t>
            </a:r>
          </a:p>
        </p:txBody>
      </p:sp>
      <p:sp>
        <p:nvSpPr>
          <p:cNvPr id="69" name="Parallelogram 68">
            <a:extLst>
              <a:ext uri="{FF2B5EF4-FFF2-40B4-BE49-F238E27FC236}">
                <a16:creationId xmlns:a16="http://schemas.microsoft.com/office/drawing/2014/main" id="{40B8A73D-4671-B08D-18B1-906704BC8465}"/>
              </a:ext>
            </a:extLst>
          </p:cNvPr>
          <p:cNvSpPr/>
          <p:nvPr/>
        </p:nvSpPr>
        <p:spPr>
          <a:xfrm>
            <a:off x="554641" y="7626601"/>
            <a:ext cx="17329489" cy="504001"/>
          </a:xfrm>
          <a:prstGeom prst="parallelogram">
            <a:avLst>
              <a:gd name="adj" fmla="val 17751"/>
            </a:avLst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rtlCol="0" anchor="t"/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0000"/>
                  <a:lumOff val="1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03340F2-1983-E8D0-99F1-FD98C095C615}"/>
              </a:ext>
            </a:extLst>
          </p:cNvPr>
          <p:cNvPicPr>
            <a:picLocks/>
          </p:cNvPicPr>
          <p:nvPr/>
        </p:nvPicPr>
        <p:blipFill rotWithShape="1">
          <a:blip r:embed="rId9"/>
          <a:srcRect l="13600" t="16828" r="12923" b="26811"/>
          <a:stretch>
            <a:fillRect/>
          </a:stretch>
        </p:blipFill>
        <p:spPr>
          <a:xfrm>
            <a:off x="288154" y="7503567"/>
            <a:ext cx="720000" cy="720000"/>
          </a:xfrm>
          <a:prstGeom prst="ellipse">
            <a:avLst/>
          </a:prstGeom>
          <a:ln w="190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2" name="Freeform: Shape 11">
            <a:extLst>
              <a:ext uri="{FF2B5EF4-FFF2-40B4-BE49-F238E27FC236}">
                <a16:creationId xmlns:a16="http://schemas.microsoft.com/office/drawing/2014/main" id="{34D93CFD-2DD2-3551-904B-8B0D04BE7FE2}"/>
              </a:ext>
            </a:extLst>
          </p:cNvPr>
          <p:cNvSpPr/>
          <p:nvPr/>
        </p:nvSpPr>
        <p:spPr>
          <a:xfrm>
            <a:off x="16519012" y="2932130"/>
            <a:ext cx="1446591" cy="2897793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chemeClr val="tx1"/>
                </a:solidFill>
              </a:rPr>
              <a:t>W</a:t>
            </a:r>
            <a:r>
              <a:rPr lang="en-CH" sz="1000" b="1" dirty="0">
                <a:solidFill>
                  <a:schemeClr val="tx1"/>
                </a:solidFill>
              </a:rPr>
              <a:t>ORKFORCE READINESS / CTE</a:t>
            </a:r>
          </a:p>
          <a:p>
            <a:pPr marR="0" lvl="0" indent="0" fontAlgn="auto">
              <a:spcAft>
                <a:spcPts val="600"/>
              </a:spcAft>
              <a:buClrTx/>
              <a:buSzTx/>
              <a:buFontTx/>
              <a:buNone/>
              <a:tabLst>
                <a:tab pos="1438275" algn="l"/>
              </a:tabLst>
              <a:defRPr/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Linda Nelson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Instructors</a:t>
            </a:r>
          </a:p>
          <a:p>
            <a:pPr defTabSz="400050">
              <a:defRPr/>
            </a:pPr>
            <a:r>
              <a:rPr lang="en-CH" sz="1000">
                <a:solidFill>
                  <a:schemeClr val="bg1">
                    <a:lumMod val="90000"/>
                    <a:lumOff val="10000"/>
                  </a:schemeClr>
                </a:solidFill>
              </a:rPr>
              <a:t>Zed Anigwe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27D9EF-A222-CC07-C45F-57CC31DA4817}"/>
              </a:ext>
            </a:extLst>
          </p:cNvPr>
          <p:cNvSpPr txBox="1"/>
          <p:nvPr/>
        </p:nvSpPr>
        <p:spPr>
          <a:xfrm>
            <a:off x="982617" y="7641431"/>
            <a:ext cx="1309974" cy="7412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Training</a:t>
            </a:r>
            <a:b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Operations</a:t>
            </a:r>
          </a:p>
          <a:p>
            <a:pPr>
              <a:tabLst>
                <a:tab pos="1438275" algn="l"/>
              </a:tabLst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Philip Ganssmann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A4E133-026A-8ED2-ABEA-0C508220F338}"/>
              </a:ext>
            </a:extLst>
          </p:cNvPr>
          <p:cNvSpPr txBox="1"/>
          <p:nvPr/>
        </p:nvSpPr>
        <p:spPr>
          <a:xfrm>
            <a:off x="8286488" y="1932350"/>
            <a:ext cx="2033183" cy="74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Technical Training</a:t>
            </a:r>
            <a:b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Delivery</a:t>
            </a:r>
          </a:p>
          <a:p>
            <a:pPr>
              <a:tabLst>
                <a:tab pos="1438275" algn="l"/>
              </a:tabLst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Jim Rosen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5" name="Freeform: Shape 11">
            <a:extLst>
              <a:ext uri="{FF2B5EF4-FFF2-40B4-BE49-F238E27FC236}">
                <a16:creationId xmlns:a16="http://schemas.microsoft.com/office/drawing/2014/main" id="{BB7E91E7-F188-98CF-3294-341897479638}"/>
              </a:ext>
            </a:extLst>
          </p:cNvPr>
          <p:cNvSpPr/>
          <p:nvPr/>
        </p:nvSpPr>
        <p:spPr>
          <a:xfrm>
            <a:off x="2458678" y="8442229"/>
            <a:ext cx="1469451" cy="1097023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CH" sz="1000" b="1" dirty="0">
                <a:solidFill>
                  <a:schemeClr val="tx1"/>
                </a:solidFill>
              </a:rPr>
              <a:t>OPS EXCELLENCE</a:t>
            </a:r>
          </a:p>
          <a:p>
            <a:pPr marR="0" lvl="0" indent="0" fontAlgn="auto">
              <a:spcAft>
                <a:spcPts val="600"/>
              </a:spcAft>
              <a:buClrTx/>
              <a:buSzTx/>
              <a:buFontTx/>
              <a:buNone/>
              <a:tabLst>
                <a:tab pos="1438275" algn="l"/>
              </a:tabLst>
              <a:defRPr/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Jennifer Wright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Direct Reports</a:t>
            </a:r>
          </a:p>
          <a:p>
            <a:pPr defTabSz="400050"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Daniel Barrera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6" name="Freeform: Shape 11">
            <a:extLst>
              <a:ext uri="{FF2B5EF4-FFF2-40B4-BE49-F238E27FC236}">
                <a16:creationId xmlns:a16="http://schemas.microsoft.com/office/drawing/2014/main" id="{254E3DC5-462F-4E33-A15D-C63ADD03A9AC}"/>
              </a:ext>
            </a:extLst>
          </p:cNvPr>
          <p:cNvSpPr/>
          <p:nvPr/>
        </p:nvSpPr>
        <p:spPr>
          <a:xfrm>
            <a:off x="7908407" y="8442230"/>
            <a:ext cx="2370852" cy="365289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CH" sz="1000" b="1" dirty="0">
                <a:solidFill>
                  <a:schemeClr val="tx1"/>
                </a:solidFill>
              </a:rPr>
              <a:t>DELIVERY &amp; LOGISTICS</a:t>
            </a:r>
          </a:p>
          <a:p>
            <a:pPr marR="0" lvl="0" indent="0" fontAlgn="auto">
              <a:spcAft>
                <a:spcPts val="600"/>
              </a:spcAft>
              <a:buClrTx/>
              <a:buSzTx/>
              <a:buFontTx/>
              <a:buNone/>
              <a:tabLst>
                <a:tab pos="1438275" algn="l"/>
              </a:tabLst>
              <a:defRPr/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Andrew Ruch</a:t>
            </a:r>
            <a:endParaRPr lang="en-US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7" name="Freeform: Shape 11">
            <a:extLst>
              <a:ext uri="{FF2B5EF4-FFF2-40B4-BE49-F238E27FC236}">
                <a16:creationId xmlns:a16="http://schemas.microsoft.com/office/drawing/2014/main" id="{C29B0908-9E8E-6EE8-215A-6EA4A2F88262}"/>
              </a:ext>
            </a:extLst>
          </p:cNvPr>
          <p:cNvSpPr/>
          <p:nvPr/>
        </p:nvSpPr>
        <p:spPr>
          <a:xfrm>
            <a:off x="5490882" y="9200696"/>
            <a:ext cx="1556789" cy="1086303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Technical Delivery</a:t>
            </a:r>
            <a:b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Support</a:t>
            </a:r>
          </a:p>
          <a:p>
            <a:pPr marL="0" marR="0" lvl="0" indent="0" algn="l" defTabSz="400050" rtl="0" eaLnBrk="1" fontAlgn="auto" latinLnBrk="0" hangingPunct="1"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Andrew Samples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8" name="Freeform: Shape 11">
            <a:extLst>
              <a:ext uri="{FF2B5EF4-FFF2-40B4-BE49-F238E27FC236}">
                <a16:creationId xmlns:a16="http://schemas.microsoft.com/office/drawing/2014/main" id="{B61D02C5-4007-317E-772C-0015A36AC135}"/>
              </a:ext>
            </a:extLst>
          </p:cNvPr>
          <p:cNvSpPr/>
          <p:nvPr/>
        </p:nvSpPr>
        <p:spPr>
          <a:xfrm>
            <a:off x="7229371" y="9200697"/>
            <a:ext cx="1556789" cy="1086302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Site Support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Chanelle Williams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Lida Shiri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Irving de La O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Diana Portes</a:t>
            </a:r>
          </a:p>
        </p:txBody>
      </p:sp>
      <p:sp>
        <p:nvSpPr>
          <p:cNvPr id="79" name="Freeform: Shape 11">
            <a:extLst>
              <a:ext uri="{FF2B5EF4-FFF2-40B4-BE49-F238E27FC236}">
                <a16:creationId xmlns:a16="http://schemas.microsoft.com/office/drawing/2014/main" id="{A86EE3D4-FE98-5B7D-06F2-A37AED4E6120}"/>
              </a:ext>
            </a:extLst>
          </p:cNvPr>
          <p:cNvSpPr/>
          <p:nvPr/>
        </p:nvSpPr>
        <p:spPr>
          <a:xfrm>
            <a:off x="8967860" y="9200696"/>
            <a:ext cx="1556789" cy="1086301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Scheduling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Marisol Guidry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Nelsa Bernal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Sian La Borde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Iuliia </a:t>
            </a:r>
            <a:r>
              <a:rPr lang="en-GB" sz="1000" dirty="0" err="1">
                <a:solidFill>
                  <a:schemeClr val="bg1">
                    <a:lumMod val="90000"/>
                    <a:lumOff val="10000"/>
                  </a:schemeClr>
                </a:solidFill>
              </a:rPr>
              <a:t>Zgonnik</a:t>
            </a:r>
            <a:endParaRPr lang="en-GB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0" name="Freeform: Shape 11">
            <a:extLst>
              <a:ext uri="{FF2B5EF4-FFF2-40B4-BE49-F238E27FC236}">
                <a16:creationId xmlns:a16="http://schemas.microsoft.com/office/drawing/2014/main" id="{E8A9174F-4036-D55F-432B-305436C36AE8}"/>
              </a:ext>
            </a:extLst>
          </p:cNvPr>
          <p:cNvSpPr/>
          <p:nvPr/>
        </p:nvSpPr>
        <p:spPr>
          <a:xfrm>
            <a:off x="10706348" y="9200696"/>
            <a:ext cx="1556789" cy="1130753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Rooftops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Stephen Urban - HLC</a:t>
            </a:r>
          </a:p>
          <a:p>
            <a:pPr marL="0" marR="0" lvl="0" indent="0" algn="l" defTabSz="40005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GB" sz="1000" i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Mouna Boucherka - KLC</a:t>
            </a:r>
          </a:p>
        </p:txBody>
      </p:sp>
      <p:sp>
        <p:nvSpPr>
          <p:cNvPr id="81" name="Freeform: Shape 11">
            <a:extLst>
              <a:ext uri="{FF2B5EF4-FFF2-40B4-BE49-F238E27FC236}">
                <a16:creationId xmlns:a16="http://schemas.microsoft.com/office/drawing/2014/main" id="{4B6858D6-1137-9525-DF06-AF6CCDB4FF4C}"/>
              </a:ext>
            </a:extLst>
          </p:cNvPr>
          <p:cNvSpPr/>
          <p:nvPr/>
        </p:nvSpPr>
        <p:spPr>
          <a:xfrm>
            <a:off x="15166778" y="8442230"/>
            <a:ext cx="2370852" cy="424630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marL="0" marR="0" lvl="0" indent="0" algn="l" defTabSz="400050" rtl="0" eaLnBrk="1" fontAlgn="auto" latinLnBrk="0" hangingPunct="1"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CH" sz="1000" b="1" dirty="0">
                <a:solidFill>
                  <a:schemeClr val="tx1"/>
                </a:solidFill>
              </a:rPr>
              <a:t>DESIGN &amp; DEVELOPMENT</a:t>
            </a:r>
          </a:p>
          <a:p>
            <a:pPr lvl="0">
              <a:spcAft>
                <a:spcPts val="600"/>
              </a:spcAft>
              <a:tabLst>
                <a:tab pos="1438275" algn="l"/>
              </a:tabLst>
              <a:defRPr/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Lee Fielding</a:t>
            </a:r>
            <a:endParaRPr lang="en-US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ADF9B43-DE89-DF25-AE9B-EDC47A856A2C}"/>
              </a:ext>
            </a:extLst>
          </p:cNvPr>
          <p:cNvCxnSpPr>
            <a:cxnSpLocks/>
          </p:cNvCxnSpPr>
          <p:nvPr/>
        </p:nvCxnSpPr>
        <p:spPr>
          <a:xfrm>
            <a:off x="8051800" y="2706708"/>
            <a:ext cx="8880475" cy="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9783F90-E3D2-30A7-C26C-D5E0E766489B}"/>
              </a:ext>
            </a:extLst>
          </p:cNvPr>
          <p:cNvCxnSpPr/>
          <p:nvPr/>
        </p:nvCxnSpPr>
        <p:spPr>
          <a:xfrm flipV="1">
            <a:off x="12661900" y="2430267"/>
            <a:ext cx="0" cy="276441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CABD786-0C3C-DC3C-033A-48FD72A4F337}"/>
              </a:ext>
            </a:extLst>
          </p:cNvPr>
          <p:cNvCxnSpPr>
            <a:cxnSpLocks/>
          </p:cNvCxnSpPr>
          <p:nvPr/>
        </p:nvCxnSpPr>
        <p:spPr>
          <a:xfrm flipV="1">
            <a:off x="8061325" y="2706707"/>
            <a:ext cx="0" cy="17646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C407915-C93E-B0A2-48BA-A3AD1A8B5F8A}"/>
              </a:ext>
            </a:extLst>
          </p:cNvPr>
          <p:cNvCxnSpPr>
            <a:cxnSpLocks/>
          </p:cNvCxnSpPr>
          <p:nvPr/>
        </p:nvCxnSpPr>
        <p:spPr>
          <a:xfrm flipV="1">
            <a:off x="9591675" y="2706707"/>
            <a:ext cx="0" cy="17646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F27A6DD-D572-3D85-58A7-F044DFEE4698}"/>
              </a:ext>
            </a:extLst>
          </p:cNvPr>
          <p:cNvCxnSpPr>
            <a:cxnSpLocks/>
          </p:cNvCxnSpPr>
          <p:nvPr/>
        </p:nvCxnSpPr>
        <p:spPr>
          <a:xfrm flipV="1">
            <a:off x="11147425" y="2706707"/>
            <a:ext cx="0" cy="17646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2A05827-8EB0-4BAB-D8B9-F38F146C45ED}"/>
              </a:ext>
            </a:extLst>
          </p:cNvPr>
          <p:cNvCxnSpPr>
            <a:cxnSpLocks/>
          </p:cNvCxnSpPr>
          <p:nvPr/>
        </p:nvCxnSpPr>
        <p:spPr>
          <a:xfrm flipV="1">
            <a:off x="12665075" y="2706707"/>
            <a:ext cx="0" cy="17646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E0D9932-07A0-E191-B758-4C622EF385C0}"/>
              </a:ext>
            </a:extLst>
          </p:cNvPr>
          <p:cNvCxnSpPr>
            <a:cxnSpLocks/>
          </p:cNvCxnSpPr>
          <p:nvPr/>
        </p:nvCxnSpPr>
        <p:spPr>
          <a:xfrm flipV="1">
            <a:off x="13993232" y="2706707"/>
            <a:ext cx="0" cy="17646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92BC880-2C4E-05B3-BEAB-D17D75C08649}"/>
              </a:ext>
            </a:extLst>
          </p:cNvPr>
          <p:cNvCxnSpPr>
            <a:cxnSpLocks/>
          </p:cNvCxnSpPr>
          <p:nvPr/>
        </p:nvCxnSpPr>
        <p:spPr>
          <a:xfrm flipV="1">
            <a:off x="15466432" y="2706707"/>
            <a:ext cx="0" cy="17646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FD86539-084C-55E0-E2AE-F438D6B677C8}"/>
              </a:ext>
            </a:extLst>
          </p:cNvPr>
          <p:cNvCxnSpPr>
            <a:cxnSpLocks/>
          </p:cNvCxnSpPr>
          <p:nvPr/>
        </p:nvCxnSpPr>
        <p:spPr>
          <a:xfrm flipV="1">
            <a:off x="16932275" y="2706707"/>
            <a:ext cx="0" cy="17646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0BC76F3-C632-8131-FBDA-65CFE19593FC}"/>
              </a:ext>
            </a:extLst>
          </p:cNvPr>
          <p:cNvCxnSpPr>
            <a:cxnSpLocks/>
          </p:cNvCxnSpPr>
          <p:nvPr/>
        </p:nvCxnSpPr>
        <p:spPr>
          <a:xfrm flipV="1">
            <a:off x="8599287" y="8130602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7752EB9-7D5C-9DE4-5A8D-FA322DA0C31A}"/>
              </a:ext>
            </a:extLst>
          </p:cNvPr>
          <p:cNvCxnSpPr>
            <a:cxnSpLocks/>
          </p:cNvCxnSpPr>
          <p:nvPr/>
        </p:nvCxnSpPr>
        <p:spPr>
          <a:xfrm>
            <a:off x="2950142" y="8268822"/>
            <a:ext cx="13059478" cy="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EBCDDC5-29B1-4481-C0ED-F3D124867D5B}"/>
              </a:ext>
            </a:extLst>
          </p:cNvPr>
          <p:cNvCxnSpPr>
            <a:cxnSpLocks/>
          </p:cNvCxnSpPr>
          <p:nvPr/>
        </p:nvCxnSpPr>
        <p:spPr>
          <a:xfrm flipV="1">
            <a:off x="2954069" y="8268822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C9AB7E3-B40F-1DFB-4934-A40A31F4E21D}"/>
              </a:ext>
            </a:extLst>
          </p:cNvPr>
          <p:cNvCxnSpPr>
            <a:cxnSpLocks/>
          </p:cNvCxnSpPr>
          <p:nvPr/>
        </p:nvCxnSpPr>
        <p:spPr>
          <a:xfrm flipV="1">
            <a:off x="8604416" y="8268822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987C477-6934-70EF-6EC6-824CDACC575E}"/>
              </a:ext>
            </a:extLst>
          </p:cNvPr>
          <p:cNvCxnSpPr>
            <a:cxnSpLocks/>
          </p:cNvCxnSpPr>
          <p:nvPr/>
        </p:nvCxnSpPr>
        <p:spPr>
          <a:xfrm flipV="1">
            <a:off x="16011056" y="8268822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92A551E-094B-6DF8-09D1-4D8B9C95B984}"/>
              </a:ext>
            </a:extLst>
          </p:cNvPr>
          <p:cNvCxnSpPr>
            <a:cxnSpLocks/>
          </p:cNvCxnSpPr>
          <p:nvPr/>
        </p:nvCxnSpPr>
        <p:spPr>
          <a:xfrm>
            <a:off x="6072703" y="9011199"/>
            <a:ext cx="4942620" cy="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E67F0D1-B466-956A-8F1E-0C8EC478CDAD}"/>
              </a:ext>
            </a:extLst>
          </p:cNvPr>
          <p:cNvCxnSpPr>
            <a:cxnSpLocks/>
          </p:cNvCxnSpPr>
          <p:nvPr/>
        </p:nvCxnSpPr>
        <p:spPr>
          <a:xfrm flipV="1">
            <a:off x="6081759" y="9011199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E4BE5B4-AB59-2F22-E6E7-3FD69C81735C}"/>
              </a:ext>
            </a:extLst>
          </p:cNvPr>
          <p:cNvCxnSpPr>
            <a:cxnSpLocks/>
          </p:cNvCxnSpPr>
          <p:nvPr/>
        </p:nvCxnSpPr>
        <p:spPr>
          <a:xfrm flipV="1">
            <a:off x="7666719" y="9011199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D9B5481-E89A-9263-68D8-DF6F8C1CF0B1}"/>
              </a:ext>
            </a:extLst>
          </p:cNvPr>
          <p:cNvCxnSpPr>
            <a:cxnSpLocks/>
          </p:cNvCxnSpPr>
          <p:nvPr/>
        </p:nvCxnSpPr>
        <p:spPr>
          <a:xfrm flipV="1">
            <a:off x="9357360" y="9011199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94C19FE-F65A-7E7F-7863-984D8F96D0F2}"/>
              </a:ext>
            </a:extLst>
          </p:cNvPr>
          <p:cNvCxnSpPr>
            <a:cxnSpLocks/>
          </p:cNvCxnSpPr>
          <p:nvPr/>
        </p:nvCxnSpPr>
        <p:spPr>
          <a:xfrm flipV="1">
            <a:off x="11015323" y="9011199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7D854AC-780D-9B72-93FE-722A27539D96}"/>
              </a:ext>
            </a:extLst>
          </p:cNvPr>
          <p:cNvCxnSpPr>
            <a:cxnSpLocks/>
          </p:cNvCxnSpPr>
          <p:nvPr/>
        </p:nvCxnSpPr>
        <p:spPr>
          <a:xfrm flipV="1">
            <a:off x="8580354" y="8872979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0DD26F2A-41AD-AEAD-CC4A-52B136F733EC}"/>
              </a:ext>
            </a:extLst>
          </p:cNvPr>
          <p:cNvSpPr/>
          <p:nvPr/>
        </p:nvSpPr>
        <p:spPr>
          <a:xfrm>
            <a:off x="14033198" y="9200697"/>
            <a:ext cx="2014804" cy="424630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Learning Management Systems</a:t>
            </a:r>
          </a:p>
          <a:p>
            <a:pPr lvl="0" defTabSz="400050">
              <a:spcAft>
                <a:spcPts val="600"/>
              </a:spcAft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Diana Torres</a:t>
            </a:r>
            <a:endParaRPr lang="en-GB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2A61A465-E9F5-F0C8-3DBB-803311694568}"/>
              </a:ext>
            </a:extLst>
          </p:cNvPr>
          <p:cNvSpPr/>
          <p:nvPr/>
        </p:nvSpPr>
        <p:spPr>
          <a:xfrm>
            <a:off x="16441018" y="9200696"/>
            <a:ext cx="1602577" cy="1086295"/>
          </a:xfrm>
          <a:custGeom>
            <a:avLst/>
            <a:gdLst>
              <a:gd name="connsiteX0" fmla="*/ 0 w 1125122"/>
              <a:gd name="connsiteY0" fmla="*/ 0 h 562561"/>
              <a:gd name="connsiteX1" fmla="*/ 1125122 w 1125122"/>
              <a:gd name="connsiteY1" fmla="*/ 0 h 562561"/>
              <a:gd name="connsiteX2" fmla="*/ 1125122 w 1125122"/>
              <a:gd name="connsiteY2" fmla="*/ 562561 h 562561"/>
              <a:gd name="connsiteX3" fmla="*/ 0 w 1125122"/>
              <a:gd name="connsiteY3" fmla="*/ 562561 h 562561"/>
              <a:gd name="connsiteX4" fmla="*/ 0 w 1125122"/>
              <a:gd name="connsiteY4" fmla="*/ 0 h 56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5122" h="562561">
                <a:moveTo>
                  <a:pt x="0" y="0"/>
                </a:moveTo>
                <a:lnTo>
                  <a:pt x="1125122" y="0"/>
                </a:lnTo>
                <a:lnTo>
                  <a:pt x="1125122" y="562561"/>
                </a:lnTo>
                <a:lnTo>
                  <a:pt x="0" y="562561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 algn="ctr">
            <a:noFill/>
            <a:prstDash val="solid"/>
          </a:ln>
          <a:effectLst/>
        </p:spPr>
        <p:style>
          <a:lnRef idx="3">
            <a:scrgbClr r="0" g="0" b="0"/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715" numCol="1" spcCol="1270" anchor="t" anchorCtr="0">
            <a:noAutofit/>
          </a:bodyPr>
          <a:lstStyle/>
          <a:p>
            <a:pPr defTabSz="400050">
              <a:spcAft>
                <a:spcPts val="300"/>
              </a:spcAft>
              <a:defRPr/>
            </a:pPr>
            <a:r>
              <a:rPr lang="en-CH" sz="1000" b="1" u="sng" dirty="0">
                <a:solidFill>
                  <a:schemeClr val="accent1">
                    <a:lumMod val="50000"/>
                  </a:schemeClr>
                </a:solidFill>
              </a:rPr>
              <a:t>Instructional Content Designers</a:t>
            </a:r>
          </a:p>
          <a:p>
            <a:pPr defTabSz="400050"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Laura Bettex</a:t>
            </a:r>
          </a:p>
          <a:p>
            <a:pPr defTabSz="400050">
              <a:defRPr/>
            </a:pPr>
            <a:r>
              <a:rPr lang="en-CH" sz="10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Konstantina Georga</a:t>
            </a:r>
            <a:endParaRPr lang="en-US" sz="10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62C888-581B-E3E9-5FFD-F87111A8D15F}"/>
              </a:ext>
            </a:extLst>
          </p:cNvPr>
          <p:cNvCxnSpPr>
            <a:cxnSpLocks/>
          </p:cNvCxnSpPr>
          <p:nvPr/>
        </p:nvCxnSpPr>
        <p:spPr>
          <a:xfrm flipV="1">
            <a:off x="16009620" y="8872979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E7A23F-BB28-26DB-AF03-009580634722}"/>
              </a:ext>
            </a:extLst>
          </p:cNvPr>
          <p:cNvCxnSpPr>
            <a:cxnSpLocks/>
          </p:cNvCxnSpPr>
          <p:nvPr/>
        </p:nvCxnSpPr>
        <p:spPr>
          <a:xfrm>
            <a:off x="15014682" y="9011199"/>
            <a:ext cx="2014804" cy="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C74EB-1B6F-0650-68DB-AC1269BFB974}"/>
              </a:ext>
            </a:extLst>
          </p:cNvPr>
          <p:cNvCxnSpPr>
            <a:cxnSpLocks/>
          </p:cNvCxnSpPr>
          <p:nvPr/>
        </p:nvCxnSpPr>
        <p:spPr>
          <a:xfrm flipV="1">
            <a:off x="15013402" y="9011199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399C94-D110-7145-96AB-8B02A9B46FC3}"/>
              </a:ext>
            </a:extLst>
          </p:cNvPr>
          <p:cNvCxnSpPr>
            <a:cxnSpLocks/>
          </p:cNvCxnSpPr>
          <p:nvPr/>
        </p:nvCxnSpPr>
        <p:spPr>
          <a:xfrm flipV="1">
            <a:off x="17029486" y="9011199"/>
            <a:ext cx="0" cy="13822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0D6FA7A-6867-4DE0-7DBF-0EA18980DEA4}"/>
              </a:ext>
            </a:extLst>
          </p:cNvPr>
          <p:cNvCxnSpPr>
            <a:cxnSpLocks/>
          </p:cNvCxnSpPr>
          <p:nvPr/>
        </p:nvCxnSpPr>
        <p:spPr>
          <a:xfrm>
            <a:off x="618141" y="2532493"/>
            <a:ext cx="0" cy="2762344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B11FE30-38F3-E070-A749-883B936ADE9B}"/>
              </a:ext>
            </a:extLst>
          </p:cNvPr>
          <p:cNvCxnSpPr/>
          <p:nvPr/>
        </p:nvCxnSpPr>
        <p:spPr>
          <a:xfrm>
            <a:off x="618141" y="5294837"/>
            <a:ext cx="158752" cy="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281B21A-1DDC-C4F9-128E-90EB636BDABD}"/>
              </a:ext>
            </a:extLst>
          </p:cNvPr>
          <p:cNvCxnSpPr/>
          <p:nvPr/>
        </p:nvCxnSpPr>
        <p:spPr>
          <a:xfrm>
            <a:off x="618141" y="2831425"/>
            <a:ext cx="158752" cy="0"/>
          </a:xfrm>
          <a:prstGeom prst="line">
            <a:avLst/>
          </a:prstGeom>
          <a:ln w="190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DF5CC80-6296-8346-0EFD-115649CDE7B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890" t="4058" r="9870" b="25739"/>
          <a:stretch>
            <a:fillRect/>
          </a:stretch>
        </p:blipFill>
        <p:spPr>
          <a:xfrm>
            <a:off x="269353" y="1812493"/>
            <a:ext cx="720000" cy="720000"/>
          </a:xfrm>
          <a:prstGeom prst="ellipse">
            <a:avLst/>
          </a:prstGeom>
          <a:ln w="190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F2C7EE1-C6B0-45FD-5D44-1FF1C9ACC424}"/>
              </a:ext>
            </a:extLst>
          </p:cNvPr>
          <p:cNvSpPr txBox="1"/>
          <p:nvPr/>
        </p:nvSpPr>
        <p:spPr>
          <a:xfrm>
            <a:off x="989353" y="1935723"/>
            <a:ext cx="1210588" cy="733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Internal</a:t>
            </a:r>
            <a:b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Training</a:t>
            </a:r>
          </a:p>
          <a:p>
            <a:pPr>
              <a:tabLst>
                <a:tab pos="1438275" algn="l"/>
              </a:tabLst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Leonardo Monzo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A7CC67-0875-A0B6-6435-54A71412A223}"/>
              </a:ext>
            </a:extLst>
          </p:cNvPr>
          <p:cNvSpPr txBox="1"/>
          <p:nvPr/>
        </p:nvSpPr>
        <p:spPr>
          <a:xfrm>
            <a:off x="3464604" y="1935723"/>
            <a:ext cx="1210588" cy="733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Customer</a:t>
            </a:r>
            <a:b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Training</a:t>
            </a:r>
          </a:p>
          <a:p>
            <a:pPr>
              <a:tabLst>
                <a:tab pos="1438275" algn="l"/>
              </a:tabLst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Johann Daxer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7EAE4F-8795-BDBA-F688-C7D032D8F394}"/>
              </a:ext>
            </a:extLst>
          </p:cNvPr>
          <p:cNvSpPr txBox="1"/>
          <p:nvPr/>
        </p:nvSpPr>
        <p:spPr>
          <a:xfrm>
            <a:off x="5932194" y="1935723"/>
            <a:ext cx="1457900" cy="733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00"/>
              </a:lnSpc>
              <a:spcAft>
                <a:spcPts val="600"/>
              </a:spcAft>
              <a:tabLst>
                <a:tab pos="1438275" algn="l"/>
              </a:tabLst>
            </a:pP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Programs &amp;</a:t>
            </a:r>
            <a:b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CH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Competency</a:t>
            </a:r>
          </a:p>
          <a:p>
            <a:pPr>
              <a:tabLst>
                <a:tab pos="1438275" algn="l"/>
              </a:tabLst>
            </a:pPr>
            <a:r>
              <a:rPr lang="en-CH" sz="1000" b="1" dirty="0">
                <a:solidFill>
                  <a:schemeClr val="bg1">
                    <a:lumMod val="90000"/>
                    <a:lumOff val="10000"/>
                  </a:schemeClr>
                </a:solidFill>
              </a:rPr>
              <a:t>Michele Alcantar</a:t>
            </a:r>
            <a:endParaRPr lang="en-GB" sz="1000" b="1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B04FF2D-F2AF-3200-3EEA-DEB0071E2CD3}"/>
              </a:ext>
            </a:extLst>
          </p:cNvPr>
          <p:cNvGrpSpPr/>
          <p:nvPr/>
        </p:nvGrpSpPr>
        <p:grpSpPr>
          <a:xfrm>
            <a:off x="1008153" y="3388879"/>
            <a:ext cx="214221" cy="1614154"/>
            <a:chOff x="989353" y="3388879"/>
            <a:chExt cx="233022" cy="1614154"/>
          </a:xfrm>
        </p:grpSpPr>
        <p:sp>
          <p:nvSpPr>
            <p:cNvPr id="28" name="L-Shape 27">
              <a:extLst>
                <a:ext uri="{FF2B5EF4-FFF2-40B4-BE49-F238E27FC236}">
                  <a16:creationId xmlns:a16="http://schemas.microsoft.com/office/drawing/2014/main" id="{F8CA7A46-E32B-897D-DAD1-6AB428F5C5EF}"/>
                </a:ext>
              </a:extLst>
            </p:cNvPr>
            <p:cNvSpPr/>
            <p:nvPr/>
          </p:nvSpPr>
          <p:spPr>
            <a:xfrm>
              <a:off x="989353" y="3388879"/>
              <a:ext cx="233022" cy="79375"/>
            </a:xfrm>
            <a:prstGeom prst="corner">
              <a:avLst>
                <a:gd name="adj1" fmla="val 0"/>
                <a:gd name="adj2" fmla="val 0"/>
              </a:avLst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L-Shape 28">
              <a:extLst>
                <a:ext uri="{FF2B5EF4-FFF2-40B4-BE49-F238E27FC236}">
                  <a16:creationId xmlns:a16="http://schemas.microsoft.com/office/drawing/2014/main" id="{7751D545-8F6E-E407-DFB9-DCE8E888E1CA}"/>
                </a:ext>
              </a:extLst>
            </p:cNvPr>
            <p:cNvSpPr/>
            <p:nvPr/>
          </p:nvSpPr>
          <p:spPr>
            <a:xfrm>
              <a:off x="989353" y="3700029"/>
              <a:ext cx="233022" cy="79375"/>
            </a:xfrm>
            <a:prstGeom prst="corner">
              <a:avLst>
                <a:gd name="adj1" fmla="val 0"/>
                <a:gd name="adj2" fmla="val 0"/>
              </a:avLst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L-Shape 31">
              <a:extLst>
                <a:ext uri="{FF2B5EF4-FFF2-40B4-BE49-F238E27FC236}">
                  <a16:creationId xmlns:a16="http://schemas.microsoft.com/office/drawing/2014/main" id="{D12175AA-C647-D413-14FE-8AB021246BF8}"/>
                </a:ext>
              </a:extLst>
            </p:cNvPr>
            <p:cNvSpPr/>
            <p:nvPr/>
          </p:nvSpPr>
          <p:spPr>
            <a:xfrm>
              <a:off x="989353" y="4000033"/>
              <a:ext cx="233022" cy="79375"/>
            </a:xfrm>
            <a:prstGeom prst="corner">
              <a:avLst>
                <a:gd name="adj1" fmla="val 0"/>
                <a:gd name="adj2" fmla="val 0"/>
              </a:avLst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L-Shape 32">
              <a:extLst>
                <a:ext uri="{FF2B5EF4-FFF2-40B4-BE49-F238E27FC236}">
                  <a16:creationId xmlns:a16="http://schemas.microsoft.com/office/drawing/2014/main" id="{2972AEFC-801B-CD90-A600-89AC6BAA3CFA}"/>
                </a:ext>
              </a:extLst>
            </p:cNvPr>
            <p:cNvSpPr/>
            <p:nvPr/>
          </p:nvSpPr>
          <p:spPr>
            <a:xfrm>
              <a:off x="989353" y="4311175"/>
              <a:ext cx="233022" cy="79375"/>
            </a:xfrm>
            <a:prstGeom prst="corner">
              <a:avLst>
                <a:gd name="adj1" fmla="val 0"/>
                <a:gd name="adj2" fmla="val 0"/>
              </a:avLst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L-Shape 33">
              <a:extLst>
                <a:ext uri="{FF2B5EF4-FFF2-40B4-BE49-F238E27FC236}">
                  <a16:creationId xmlns:a16="http://schemas.microsoft.com/office/drawing/2014/main" id="{82772433-0C55-785D-D425-F859B7723357}"/>
                </a:ext>
              </a:extLst>
            </p:cNvPr>
            <p:cNvSpPr/>
            <p:nvPr/>
          </p:nvSpPr>
          <p:spPr>
            <a:xfrm>
              <a:off x="989353" y="4609992"/>
              <a:ext cx="233022" cy="79375"/>
            </a:xfrm>
            <a:prstGeom prst="corner">
              <a:avLst>
                <a:gd name="adj1" fmla="val 0"/>
                <a:gd name="adj2" fmla="val 0"/>
              </a:avLst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L-Shape 36">
              <a:extLst>
                <a:ext uri="{FF2B5EF4-FFF2-40B4-BE49-F238E27FC236}">
                  <a16:creationId xmlns:a16="http://schemas.microsoft.com/office/drawing/2014/main" id="{7E28D244-F324-92CF-777E-1CEDF07182CD}"/>
                </a:ext>
              </a:extLst>
            </p:cNvPr>
            <p:cNvSpPr/>
            <p:nvPr/>
          </p:nvSpPr>
          <p:spPr>
            <a:xfrm>
              <a:off x="989353" y="4923658"/>
              <a:ext cx="233022" cy="79375"/>
            </a:xfrm>
            <a:prstGeom prst="corner">
              <a:avLst>
                <a:gd name="adj1" fmla="val 0"/>
                <a:gd name="adj2" fmla="val 0"/>
              </a:avLst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7" name="L-Shape 46">
            <a:extLst>
              <a:ext uri="{FF2B5EF4-FFF2-40B4-BE49-F238E27FC236}">
                <a16:creationId xmlns:a16="http://schemas.microsoft.com/office/drawing/2014/main" id="{59AB4215-D8AD-BB4B-B653-C67B4BB148B7}"/>
              </a:ext>
            </a:extLst>
          </p:cNvPr>
          <p:cNvSpPr/>
          <p:nvPr/>
        </p:nvSpPr>
        <p:spPr>
          <a:xfrm>
            <a:off x="5905085" y="4341338"/>
            <a:ext cx="95666" cy="79375"/>
          </a:xfrm>
          <a:prstGeom prst="corner">
            <a:avLst>
              <a:gd name="adj1" fmla="val 0"/>
              <a:gd name="adj2" fmla="val 0"/>
            </a:avLst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L-Shape 52">
            <a:extLst>
              <a:ext uri="{FF2B5EF4-FFF2-40B4-BE49-F238E27FC236}">
                <a16:creationId xmlns:a16="http://schemas.microsoft.com/office/drawing/2014/main" id="{06AFC504-BD76-40D8-6DCE-A29DBB26CBE4}"/>
              </a:ext>
            </a:extLst>
          </p:cNvPr>
          <p:cNvSpPr/>
          <p:nvPr/>
        </p:nvSpPr>
        <p:spPr>
          <a:xfrm>
            <a:off x="5905085" y="4988572"/>
            <a:ext cx="95666" cy="79375"/>
          </a:xfrm>
          <a:prstGeom prst="corner">
            <a:avLst>
              <a:gd name="adj1" fmla="val 0"/>
              <a:gd name="adj2" fmla="val 0"/>
            </a:avLst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8C496F-2A32-8FC8-43EF-D4C2DFF29860}"/>
              </a:ext>
            </a:extLst>
          </p:cNvPr>
          <p:cNvPicPr>
            <a:picLocks/>
          </p:cNvPicPr>
          <p:nvPr/>
        </p:nvPicPr>
        <p:blipFill>
          <a:blip r:embed="rId11"/>
          <a:srcRect t="12611" b="12611"/>
          <a:stretch/>
        </p:blipFill>
        <p:spPr>
          <a:xfrm>
            <a:off x="14590778" y="851723"/>
            <a:ext cx="576000" cy="574297"/>
          </a:xfrm>
          <a:prstGeom prst="ellipse">
            <a:avLst/>
          </a:prstGeom>
          <a:ln w="190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5291607"/>
      </p:ext>
    </p:extLst>
  </p:cSld>
  <p:clrMapOvr>
    <a:masterClrMapping/>
  </p:clrMapOvr>
</p:sld>
</file>

<file path=ppt/theme/theme1.xml><?xml version="1.0" encoding="utf-8"?>
<a:theme xmlns:a="http://schemas.openxmlformats.org/drawingml/2006/main" name="GE Vernova">
  <a:themeElements>
    <a:clrScheme name="GE Vernova">
      <a:dk1>
        <a:srgbClr val="212121"/>
      </a:dk1>
      <a:lt1>
        <a:srgbClr val="FFFFFF"/>
      </a:lt1>
      <a:dk2>
        <a:srgbClr val="005E60"/>
      </a:dk2>
      <a:lt2>
        <a:srgbClr val="FFFFFF"/>
      </a:lt2>
      <a:accent1>
        <a:srgbClr val="59C3C9"/>
      </a:accent1>
      <a:accent2>
        <a:srgbClr val="75CA64"/>
      </a:accent2>
      <a:accent3>
        <a:srgbClr val="BFA682"/>
      </a:accent3>
      <a:accent4>
        <a:srgbClr val="EC642B"/>
      </a:accent4>
      <a:accent5>
        <a:srgbClr val="F19F39"/>
      </a:accent5>
      <a:accent6>
        <a:srgbClr val="F3C147"/>
      </a:accent6>
      <a:hlink>
        <a:srgbClr val="0000FF"/>
      </a:hlink>
      <a:folHlink>
        <a:srgbClr val="800080"/>
      </a:folHlink>
    </a:clrScheme>
    <a:fontScheme name="GE Vernova - Inter">
      <a:majorFont>
        <a:latin typeface="Inter Semi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 Vernova Theme" id="{AD0D80F5-AF7E-4731-B6FD-E911DC0972A0}" vid="{91E963ED-BAA2-41EB-AB35-BB23F0EE87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 Vernova</Template>
  <TotalTime>221</TotalTime>
  <Words>525</Words>
  <Application>Microsoft Office PowerPoint</Application>
  <PresentationFormat>Custom</PresentationFormat>
  <Paragraphs>192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Inter</vt:lpstr>
      <vt:lpstr>Inter Semi Bold</vt:lpstr>
      <vt:lpstr>Wingdings</vt:lpstr>
      <vt:lpstr>GE Vernova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OFS Organization</dc:title>
  <dc:subject/>
  <dc:creator>Fielding, Lee (GE Vernova)</dc:creator>
  <cp:keywords/>
  <dc:description>generated using python-pptx</dc:description>
  <cp:lastModifiedBy>Wright, Jennifer (GE Vernova)</cp:lastModifiedBy>
  <cp:revision>52</cp:revision>
  <dcterms:created xsi:type="dcterms:W3CDTF">2013-01-27T09:14:16Z</dcterms:created>
  <dcterms:modified xsi:type="dcterms:W3CDTF">2026-09-02T15:49:43Z</dcterms:modified>
  <cp:category/>
</cp:coreProperties>
</file>