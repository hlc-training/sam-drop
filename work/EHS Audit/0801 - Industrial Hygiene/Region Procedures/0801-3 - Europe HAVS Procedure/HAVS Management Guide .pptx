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331" r:id="rId2"/>
    <p:sldId id="334" r:id="rId3"/>
    <p:sldId id="335" r:id="rId4"/>
    <p:sldId id="336" r:id="rId5"/>
    <p:sldId id="337" r:id="rId6"/>
    <p:sldId id="338" r:id="rId7"/>
    <p:sldId id="339" r:id="rId8"/>
    <p:sldId id="340" r:id="rId9"/>
    <p:sldId id="341" r:id="rId10"/>
    <p:sldId id="342" r:id="rId11"/>
  </p:sldIdLst>
  <p:sldSz cx="12192000" cy="6858000"/>
  <p:notesSz cx="6938963"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cConnell, Mike (FieldCore)" initials="MM(" lastIdx="1" clrIdx="0">
    <p:extLst>
      <p:ext uri="{19B8F6BF-5375-455C-9EA6-DF929625EA0E}">
        <p15:presenceInfo xmlns:p15="http://schemas.microsoft.com/office/powerpoint/2012/main" userId="S::605032491@ge.com::5047cced-a21d-4064-ad6a-70eaeb319eb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6699FF"/>
    <a:srgbClr val="64604A"/>
    <a:srgbClr val="A6A6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6725"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30650" y="0"/>
            <a:ext cx="3006725" cy="463550"/>
          </a:xfrm>
          <a:prstGeom prst="rect">
            <a:avLst/>
          </a:prstGeom>
        </p:spPr>
        <p:txBody>
          <a:bodyPr vert="horz" lIns="91440" tIns="45720" rIns="91440" bIns="45720" rtlCol="0"/>
          <a:lstStyle>
            <a:lvl1pPr algn="r">
              <a:defRPr sz="1200"/>
            </a:lvl1pPr>
          </a:lstStyle>
          <a:p>
            <a:fld id="{903BCD96-484B-4533-9DB1-380D9D9B9B12}" type="datetimeFigureOut">
              <a:rPr lang="en-US" smtClean="0"/>
              <a:t>12/2/2020</a:t>
            </a:fld>
            <a:endParaRPr lang="en-US"/>
          </a:p>
        </p:txBody>
      </p:sp>
      <p:sp>
        <p:nvSpPr>
          <p:cNvPr id="4" name="Slide Image Placeholder 3"/>
          <p:cNvSpPr>
            <a:spLocks noGrp="1" noRot="1" noChangeAspect="1"/>
          </p:cNvSpPr>
          <p:nvPr>
            <p:ph type="sldImg" idx="2"/>
          </p:nvPr>
        </p:nvSpPr>
        <p:spPr>
          <a:xfrm>
            <a:off x="698500" y="1154113"/>
            <a:ext cx="5541963" cy="31178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3738" y="4445000"/>
            <a:ext cx="5551487" cy="3636963"/>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525"/>
            <a:ext cx="3006725"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30650" y="8772525"/>
            <a:ext cx="3006725" cy="463550"/>
          </a:xfrm>
          <a:prstGeom prst="rect">
            <a:avLst/>
          </a:prstGeom>
        </p:spPr>
        <p:txBody>
          <a:bodyPr vert="horz" lIns="91440" tIns="45720" rIns="91440" bIns="45720" rtlCol="0" anchor="b"/>
          <a:lstStyle>
            <a:lvl1pPr algn="r">
              <a:defRPr sz="1200"/>
            </a:lvl1pPr>
          </a:lstStyle>
          <a:p>
            <a:fld id="{FAA9E662-14CC-4616-9794-D7AFEDED4132}" type="slidenum">
              <a:rPr lang="en-US" smtClean="0"/>
              <a:t>‹#›</a:t>
            </a:fld>
            <a:endParaRPr lang="en-US"/>
          </a:p>
        </p:txBody>
      </p:sp>
    </p:spTree>
    <p:extLst>
      <p:ext uri="{BB962C8B-B14F-4D97-AF65-F5344CB8AC3E}">
        <p14:creationId xmlns:p14="http://schemas.microsoft.com/office/powerpoint/2010/main" val="240447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5CA386-177A-43DD-8BBF-51B8E8B71889}"/>
              </a:ext>
            </a:extLst>
          </p:cNvPr>
          <p:cNvSpPr txBox="1"/>
          <p:nvPr userDrawn="1"/>
        </p:nvSpPr>
        <p:spPr>
          <a:xfrm>
            <a:off x="317128" y="141214"/>
            <a:ext cx="4498924" cy="646331"/>
          </a:xfrm>
          <a:prstGeom prst="rect">
            <a:avLst/>
          </a:prstGeom>
          <a:noFill/>
        </p:spPr>
        <p:txBody>
          <a:bodyPr wrap="none" lIns="0" tIns="0" rIns="0" bIns="0" rtlCol="0" anchor="b">
            <a:spAutoFit/>
          </a:bodyPr>
          <a:lstStyle>
            <a:defPPr>
              <a:defRPr lang="en-US"/>
            </a:defPPr>
            <a:lvl1pPr>
              <a:defRPr sz="1200">
                <a:solidFill>
                  <a:srgbClr val="878787"/>
                </a:solidFill>
              </a:defRPr>
            </a:lvl1pPr>
          </a:lstStyle>
          <a:p>
            <a:r>
              <a:rPr lang="en-US" sz="1400" dirty="0">
                <a:solidFill>
                  <a:schemeClr val="accent2"/>
                </a:solidFill>
                <a:latin typeface="Gotham Rounded Medium" panose="02000000000000000000" pitchFamily="50" charset="0"/>
              </a:rPr>
              <a:t>FIELDCORE EHS MANAGEMENT SYSTEM </a:t>
            </a:r>
          </a:p>
          <a:p>
            <a:r>
              <a:rPr lang="en-US" sz="2800" b="0" dirty="0">
                <a:solidFill>
                  <a:schemeClr val="accent2"/>
                </a:solidFill>
                <a:latin typeface="Gotham Rounded Medium" panose="02000000000000000000" pitchFamily="50" charset="0"/>
              </a:rPr>
              <a:t>EU EHS Procedure Guide</a:t>
            </a:r>
          </a:p>
        </p:txBody>
      </p:sp>
      <p:pic>
        <p:nvPicPr>
          <p:cNvPr id="4" name="Picture 3">
            <a:extLst>
              <a:ext uri="{FF2B5EF4-FFF2-40B4-BE49-F238E27FC236}">
                <a16:creationId xmlns:a16="http://schemas.microsoft.com/office/drawing/2014/main" id="{CD625A07-96D0-4C30-9DF2-A8F83D501A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74545" y="141214"/>
            <a:ext cx="2349386" cy="911572"/>
          </a:xfrm>
          <a:prstGeom prst="rect">
            <a:avLst/>
          </a:prstGeom>
        </p:spPr>
      </p:pic>
    </p:spTree>
    <p:extLst>
      <p:ext uri="{BB962C8B-B14F-4D97-AF65-F5344CB8AC3E}">
        <p14:creationId xmlns:p14="http://schemas.microsoft.com/office/powerpoint/2010/main" val="2756014555"/>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1502" y="354626"/>
            <a:ext cx="11033759" cy="914400"/>
          </a:xfrm>
          <a:prstGeom prst="rect">
            <a:avLst/>
          </a:prstGeom>
        </p:spPr>
        <p:txBody>
          <a:bodyPr vert="horz" lIns="0" tIns="0" rIns="0" bIns="0" rtlCol="0" anchor="ctr" anchorCtr="0">
            <a:noAutofit/>
          </a:bodyPr>
          <a:lstStyle/>
          <a:p>
            <a:r>
              <a:rPr lang="en-US" dirty="0"/>
              <a:t>Click to edit Master title style</a:t>
            </a:r>
            <a:endParaRPr lang="en-CA" dirty="0"/>
          </a:p>
        </p:txBody>
      </p:sp>
      <p:cxnSp>
        <p:nvCxnSpPr>
          <p:cNvPr id="22" name="Straight Connector 21"/>
          <p:cNvCxnSpPr/>
          <p:nvPr userDrawn="1"/>
        </p:nvCxnSpPr>
        <p:spPr>
          <a:xfrm>
            <a:off x="594360" y="6288895"/>
            <a:ext cx="11003280" cy="0"/>
          </a:xfrm>
          <a:prstGeom prst="line">
            <a:avLst/>
          </a:prstGeom>
          <a:ln w="28575"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3517392" y="6492607"/>
            <a:ext cx="5157216" cy="153888"/>
          </a:xfrm>
          <a:prstGeom prst="rect">
            <a:avLst/>
          </a:prstGeom>
          <a:noFill/>
        </p:spPr>
        <p:txBody>
          <a:bodyPr wrap="square" lIns="0" tIns="0" rIns="0" bIns="0" rtlCol="0">
            <a:spAutoFit/>
          </a:bodyPr>
          <a:lstStyle/>
          <a:p>
            <a:pPr algn="ctr"/>
            <a:r>
              <a:rPr lang="en-CA" sz="1000" b="0" i="0" dirty="0">
                <a:solidFill>
                  <a:schemeClr val="tx2"/>
                </a:solidFill>
                <a:latin typeface="Gotham Rounded Book" charset="0"/>
                <a:ea typeface="Gotham Rounded Book" charset="0"/>
                <a:cs typeface="Gotham Rounded Book" charset="0"/>
              </a:rPr>
              <a:t>Confidential. Not to be copied, distributed, or reproduced without prior approval. </a:t>
            </a:r>
          </a:p>
        </p:txBody>
      </p:sp>
      <p:sp>
        <p:nvSpPr>
          <p:cNvPr id="3" name="Text Placeholder 2"/>
          <p:cNvSpPr>
            <a:spLocks noGrp="1"/>
          </p:cNvSpPr>
          <p:nvPr>
            <p:ph type="body" idx="1"/>
          </p:nvPr>
        </p:nvSpPr>
        <p:spPr>
          <a:xfrm>
            <a:off x="571501" y="1436716"/>
            <a:ext cx="11010899"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5" name="Picture 4">
            <a:extLst>
              <a:ext uri="{FF2B5EF4-FFF2-40B4-BE49-F238E27FC236}">
                <a16:creationId xmlns:a16="http://schemas.microsoft.com/office/drawing/2014/main" id="{9B1C7072-D51C-4648-82EF-DF1D1C0FC54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93086" y="6200537"/>
            <a:ext cx="1743462" cy="676471"/>
          </a:xfrm>
          <a:prstGeom prst="rect">
            <a:avLst/>
          </a:prstGeom>
        </p:spPr>
      </p:pic>
    </p:spTree>
    <p:extLst>
      <p:ext uri="{BB962C8B-B14F-4D97-AF65-F5344CB8AC3E}">
        <p14:creationId xmlns:p14="http://schemas.microsoft.com/office/powerpoint/2010/main" val="3157787340"/>
      </p:ext>
    </p:extLst>
  </p:cSld>
  <p:clrMap bg1="lt1" tx1="dk1" bg2="lt2" tx2="dk2" accent1="accent1" accent2="accent2" accent3="accent3" accent4="accent4" accent5="accent5" accent6="accent6" hlink="hlink" folHlink="folHlink"/>
  <p:sldLayoutIdLst>
    <p:sldLayoutId id="2147483702" r:id="rId1"/>
  </p:sldLayoutIdLst>
  <p:transition spd="slow">
    <p:push dir="u"/>
  </p:transition>
  <p:hf hdr="0"/>
  <p:txStyles>
    <p:titleStyle>
      <a:lvl1pPr algn="ctr" defTabSz="685728" rtl="0" eaLnBrk="1" latinLnBrk="0" hangingPunct="1">
        <a:lnSpc>
          <a:spcPct val="90000"/>
        </a:lnSpc>
        <a:spcBef>
          <a:spcPct val="0"/>
        </a:spcBef>
        <a:buNone/>
        <a:defRPr sz="3360" kern="1200" spc="0">
          <a:solidFill>
            <a:schemeClr val="accent2"/>
          </a:solidFill>
          <a:latin typeface="Gotham Rounded Book" charset="0"/>
          <a:ea typeface="Gotham Rounded Book" charset="0"/>
          <a:cs typeface="Gotham Rounded Book" charset="0"/>
        </a:defRPr>
      </a:lvl1pPr>
    </p:titleStyle>
    <p:bodyStyle>
      <a:lvl1pPr marL="116573" indent="-116573" algn="l" defTabSz="685728" rtl="0" eaLnBrk="1" latinLnBrk="0" hangingPunct="1">
        <a:lnSpc>
          <a:spcPct val="90000"/>
        </a:lnSpc>
        <a:spcBef>
          <a:spcPts val="600"/>
        </a:spcBef>
        <a:spcAft>
          <a:spcPts val="224"/>
        </a:spcAft>
        <a:buClr>
          <a:schemeClr val="accent1"/>
        </a:buClr>
        <a:buFont typeface="Arial" panose="020B0604020202020204" pitchFamily="34" charset="0"/>
        <a:buChar char="•"/>
        <a:defRPr sz="1500" b="0" i="0" kern="1200">
          <a:solidFill>
            <a:schemeClr val="tx1"/>
          </a:solidFill>
          <a:latin typeface="Gotham Rounded Book" charset="0"/>
          <a:ea typeface="Gotham Rounded Book" charset="0"/>
          <a:cs typeface="Gotham Rounded Book" charset="0"/>
        </a:defRPr>
      </a:lvl1pPr>
      <a:lvl2pPr marL="116573" indent="0" algn="l" defTabSz="685728" rtl="0" eaLnBrk="1" latinLnBrk="0" hangingPunct="1">
        <a:lnSpc>
          <a:spcPct val="90000"/>
        </a:lnSpc>
        <a:spcBef>
          <a:spcPts val="0"/>
        </a:spcBef>
        <a:buClr>
          <a:schemeClr val="accent1"/>
        </a:buClr>
        <a:buFontTx/>
        <a:buNone/>
        <a:defRPr sz="1350" b="0" i="0" kern="1200">
          <a:solidFill>
            <a:schemeClr val="tx1"/>
          </a:solidFill>
          <a:latin typeface="Gotham Rounded Book" charset="0"/>
          <a:ea typeface="Gotham Rounded Book" charset="0"/>
          <a:cs typeface="Gotham Rounded Book" charset="0"/>
        </a:defRPr>
      </a:lvl2pPr>
      <a:lvl3pPr marL="116573" indent="-116573" algn="l" defTabSz="685728" rtl="0" eaLnBrk="1" latinLnBrk="0" hangingPunct="1">
        <a:lnSpc>
          <a:spcPct val="90000"/>
        </a:lnSpc>
        <a:spcBef>
          <a:spcPts val="1544"/>
        </a:spcBef>
        <a:spcAft>
          <a:spcPts val="224"/>
        </a:spcAft>
        <a:buClr>
          <a:schemeClr val="accent1"/>
        </a:buClr>
        <a:buSzPct val="91000"/>
        <a:buFont typeface="Arial" charset="0"/>
        <a:buChar char="•"/>
        <a:defRPr lang="en-US" sz="1200" b="0" i="0" kern="1200" dirty="0">
          <a:solidFill>
            <a:schemeClr val="tx1"/>
          </a:solidFill>
          <a:latin typeface="Gotham Rounded Book" charset="0"/>
          <a:ea typeface="Gotham Rounded Book" charset="0"/>
          <a:cs typeface="Gotham Rounded Book" charset="0"/>
        </a:defRPr>
      </a:lvl3pPr>
      <a:lvl4pPr marL="116573" indent="0" algn="l" defTabSz="685728" rtl="0" eaLnBrk="1" latinLnBrk="0" hangingPunct="1">
        <a:lnSpc>
          <a:spcPct val="90000"/>
        </a:lnSpc>
        <a:spcBef>
          <a:spcPts val="0"/>
        </a:spcBef>
        <a:buClr>
          <a:schemeClr val="accent1"/>
        </a:buClr>
        <a:buFontTx/>
        <a:buNone/>
        <a:defRPr sz="1050" b="0" i="0" kern="1200">
          <a:solidFill>
            <a:schemeClr val="tx1"/>
          </a:solidFill>
          <a:latin typeface="Gotham Rounded Book" charset="0"/>
          <a:ea typeface="Gotham Rounded Book" charset="0"/>
          <a:cs typeface="Gotham Rounded Book" charset="0"/>
        </a:defRPr>
      </a:lvl4pPr>
      <a:lvl5pPr marL="116573" indent="-116573" algn="l" defTabSz="685728" rtl="0" eaLnBrk="1" latinLnBrk="0" hangingPunct="1">
        <a:lnSpc>
          <a:spcPct val="99000"/>
        </a:lnSpc>
        <a:spcBef>
          <a:spcPts val="674"/>
        </a:spcBef>
        <a:buClr>
          <a:schemeClr val="accent5"/>
        </a:buClr>
        <a:buSzPct val="91000"/>
        <a:buFont typeface="Arial" panose="020B0604020202020204" pitchFamily="34" charset="0"/>
        <a:buChar char="•"/>
        <a:defRPr sz="1350" kern="1200">
          <a:solidFill>
            <a:schemeClr val="accent2"/>
          </a:solidFill>
          <a:latin typeface="+mn-lt"/>
          <a:ea typeface="+mn-ea"/>
          <a:cs typeface="+mn-cs"/>
        </a:defRPr>
      </a:lvl5pPr>
      <a:lvl6pPr marL="144005" indent="0" algn="l" defTabSz="685728" rtl="0" eaLnBrk="1" latinLnBrk="0" hangingPunct="1">
        <a:lnSpc>
          <a:spcPct val="99000"/>
        </a:lnSpc>
        <a:spcBef>
          <a:spcPts val="0"/>
        </a:spcBef>
        <a:buSzPct val="91000"/>
        <a:buFontTx/>
        <a:buNone/>
        <a:defRPr sz="1350" kern="1200">
          <a:solidFill>
            <a:schemeClr val="accent2"/>
          </a:solidFill>
          <a:latin typeface="+mn-lt"/>
          <a:ea typeface="+mn-ea"/>
          <a:cs typeface="+mn-cs"/>
        </a:defRPr>
      </a:lvl6pPr>
      <a:lvl7pPr marL="0" indent="0" algn="l" defTabSz="685728" rtl="0" eaLnBrk="1" latinLnBrk="0" hangingPunct="1">
        <a:lnSpc>
          <a:spcPct val="99000"/>
        </a:lnSpc>
        <a:spcBef>
          <a:spcPts val="674"/>
        </a:spcBef>
        <a:buSzPct val="91000"/>
        <a:buFontTx/>
        <a:buNone/>
        <a:defRPr sz="1350" b="1" kern="1200">
          <a:solidFill>
            <a:schemeClr val="accent2"/>
          </a:solidFill>
          <a:latin typeface="+mn-lt"/>
          <a:ea typeface="+mn-ea"/>
          <a:cs typeface="+mn-cs"/>
        </a:defRPr>
      </a:lvl7pPr>
      <a:lvl8pPr marL="0" indent="0" algn="l" defTabSz="685728" rtl="0" eaLnBrk="1" latinLnBrk="0" hangingPunct="1">
        <a:lnSpc>
          <a:spcPct val="99000"/>
        </a:lnSpc>
        <a:spcBef>
          <a:spcPts val="0"/>
        </a:spcBef>
        <a:buSzPct val="91000"/>
        <a:buFontTx/>
        <a:buNone/>
        <a:defRPr sz="1350" kern="1200">
          <a:solidFill>
            <a:schemeClr val="accent2"/>
          </a:solidFill>
          <a:latin typeface="+mn-lt"/>
          <a:ea typeface="+mn-ea"/>
          <a:cs typeface="+mn-cs"/>
        </a:defRPr>
      </a:lvl8pPr>
      <a:lvl9pPr marL="0" indent="0" algn="l" defTabSz="685728" rtl="0" eaLnBrk="1" latinLnBrk="0" hangingPunct="1">
        <a:lnSpc>
          <a:spcPct val="99000"/>
        </a:lnSpc>
        <a:spcBef>
          <a:spcPts val="674"/>
        </a:spcBef>
        <a:buSzPct val="91000"/>
        <a:buFontTx/>
        <a:buNone/>
        <a:defRPr sz="1350" i="1" kern="1200">
          <a:solidFill>
            <a:schemeClr val="accent2"/>
          </a:solidFill>
          <a:latin typeface="+mn-lt"/>
          <a:ea typeface="+mn-ea"/>
          <a:cs typeface="+mn-cs"/>
        </a:defRPr>
      </a:lvl9pPr>
    </p:bodyStyle>
    <p:otherStyle>
      <a:defPPr>
        <a:defRPr lang="en-US"/>
      </a:defPPr>
      <a:lvl1pPr marL="0" algn="l" defTabSz="685728" rtl="0" eaLnBrk="1" latinLnBrk="0" hangingPunct="1">
        <a:lnSpc>
          <a:spcPct val="99000"/>
        </a:lnSpc>
        <a:defRPr sz="1050" kern="1200">
          <a:solidFill>
            <a:schemeClr val="accent2"/>
          </a:solidFill>
          <a:latin typeface="+mn-lt"/>
          <a:ea typeface="+mn-ea"/>
          <a:cs typeface="+mn-cs"/>
        </a:defRPr>
      </a:lvl1pPr>
      <a:lvl2pPr marL="0" algn="l" defTabSz="685728" rtl="0" eaLnBrk="1" latinLnBrk="0" hangingPunct="1">
        <a:lnSpc>
          <a:spcPct val="99000"/>
        </a:lnSpc>
        <a:spcBef>
          <a:spcPts val="674"/>
        </a:spcBef>
        <a:defRPr sz="1050" b="1" kern="1200">
          <a:solidFill>
            <a:schemeClr val="accent2"/>
          </a:solidFill>
          <a:latin typeface="+mn-lt"/>
          <a:ea typeface="+mn-ea"/>
          <a:cs typeface="+mn-cs"/>
        </a:defRPr>
      </a:lvl2pPr>
      <a:lvl3pPr marL="116573" indent="-116573" algn="l" defTabSz="685728" rtl="0" eaLnBrk="1" latinLnBrk="0" hangingPunct="1">
        <a:lnSpc>
          <a:spcPct val="99000"/>
        </a:lnSpc>
        <a:buSzPct val="91000"/>
        <a:buFont typeface="Arial" panose="020B0604020202020204" pitchFamily="34" charset="0"/>
        <a:buChar char="•"/>
        <a:defRPr sz="1050" kern="1200">
          <a:solidFill>
            <a:schemeClr val="accent2"/>
          </a:solidFill>
          <a:latin typeface="+mn-lt"/>
          <a:ea typeface="+mn-ea"/>
          <a:cs typeface="+mn-cs"/>
        </a:defRPr>
      </a:lvl3pPr>
      <a:lvl4pPr marL="116573" indent="-116573" algn="l" defTabSz="685728" rtl="0" eaLnBrk="1" latinLnBrk="0" hangingPunct="1">
        <a:lnSpc>
          <a:spcPct val="99000"/>
        </a:lnSpc>
        <a:spcBef>
          <a:spcPts val="674"/>
        </a:spcBef>
        <a:buSzPct val="91000"/>
        <a:buFont typeface="Arial" panose="020B0604020202020204" pitchFamily="34" charset="0"/>
        <a:buChar char="•"/>
        <a:defRPr sz="1050" b="1" kern="1200">
          <a:solidFill>
            <a:schemeClr val="accent2"/>
          </a:solidFill>
          <a:latin typeface="+mn-lt"/>
          <a:ea typeface="+mn-ea"/>
          <a:cs typeface="+mn-cs"/>
        </a:defRPr>
      </a:lvl4pPr>
      <a:lvl5pPr marL="116573" algn="l" defTabSz="685728" rtl="0" eaLnBrk="1" latinLnBrk="0" hangingPunct="1">
        <a:lnSpc>
          <a:spcPct val="99000"/>
        </a:lnSpc>
        <a:defRPr sz="1050" kern="1200">
          <a:solidFill>
            <a:schemeClr val="accent2"/>
          </a:solidFill>
          <a:latin typeface="+mn-lt"/>
          <a:ea typeface="+mn-ea"/>
          <a:cs typeface="+mn-cs"/>
        </a:defRPr>
      </a:lvl5pPr>
      <a:lvl6pPr marL="0" algn="l" defTabSz="685728" rtl="0" eaLnBrk="1" latinLnBrk="0" hangingPunct="1">
        <a:lnSpc>
          <a:spcPct val="99000"/>
        </a:lnSpc>
        <a:defRPr sz="1050" kern="1200">
          <a:solidFill>
            <a:schemeClr val="accent2"/>
          </a:solidFill>
          <a:latin typeface="+mn-lt"/>
          <a:ea typeface="+mn-ea"/>
          <a:cs typeface="+mn-cs"/>
        </a:defRPr>
      </a:lvl6pPr>
      <a:lvl7pPr marL="0" algn="l" defTabSz="685728" rtl="0" eaLnBrk="1" latinLnBrk="0" hangingPunct="1">
        <a:lnSpc>
          <a:spcPct val="99000"/>
        </a:lnSpc>
        <a:defRPr sz="1050" kern="1200">
          <a:solidFill>
            <a:schemeClr val="accent2"/>
          </a:solidFill>
          <a:latin typeface="+mn-lt"/>
          <a:ea typeface="+mn-ea"/>
          <a:cs typeface="+mn-cs"/>
        </a:defRPr>
      </a:lvl7pPr>
      <a:lvl8pPr marL="0" algn="l" defTabSz="685728" rtl="0" eaLnBrk="1" latinLnBrk="0" hangingPunct="1">
        <a:lnSpc>
          <a:spcPct val="99000"/>
        </a:lnSpc>
        <a:defRPr sz="1050" kern="1200">
          <a:solidFill>
            <a:schemeClr val="accent2"/>
          </a:solidFill>
          <a:latin typeface="+mn-lt"/>
          <a:ea typeface="+mn-ea"/>
          <a:cs typeface="+mn-cs"/>
        </a:defRPr>
      </a:lvl8pPr>
      <a:lvl9pPr marL="0" algn="l" defTabSz="685728" rtl="0" eaLnBrk="1" latinLnBrk="0" hangingPunct="1">
        <a:lnSpc>
          <a:spcPct val="99000"/>
        </a:lnSpc>
        <a:defRPr sz="1050" kern="1200">
          <a:solidFill>
            <a:schemeClr val="accent2"/>
          </a:solidFill>
          <a:latin typeface="+mn-lt"/>
          <a:ea typeface="+mn-ea"/>
          <a:cs typeface="+mn-cs"/>
        </a:defRPr>
      </a:lvl9pPr>
    </p:otherStyle>
  </p:txStyles>
  <p:extLst>
    <p:ext uri="{27BBF7A9-308A-43DC-89C8-2F10F3537804}">
      <p15:sldGuideLst xmlns:p15="http://schemas.microsoft.com/office/powerpoint/2012/main">
        <p15:guide id="1" orient="horz" pos="494" userDrawn="1">
          <p15:clr>
            <a:srgbClr val="F26B43"/>
          </p15:clr>
        </p15:guide>
        <p15:guide id="2" pos="3200" userDrawn="1">
          <p15:clr>
            <a:srgbClr val="F26B43"/>
          </p15:clr>
        </p15:guide>
        <p15:guide id="3" pos="300" userDrawn="1">
          <p15:clr>
            <a:srgbClr val="F26B43"/>
          </p15:clr>
        </p15:guide>
        <p15:guide id="4" pos="6080" userDrawn="1">
          <p15:clr>
            <a:srgbClr val="F26B43"/>
          </p15:clr>
        </p15:guide>
        <p15:guide id="5" pos="820" userDrawn="1">
          <p15:clr>
            <a:srgbClr val="F26B43"/>
          </p15:clr>
        </p15:guide>
        <p15:guide id="6" orient="horz" pos="3423" userDrawn="1">
          <p15:clr>
            <a:srgbClr val="F26B43"/>
          </p15:clr>
        </p15:guide>
        <p15:guide id="7" pos="480" userDrawn="1">
          <p15:clr>
            <a:srgbClr val="F26B43"/>
          </p15:clr>
        </p15:guide>
        <p15:guide id="8" pos="59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spo-teamsite.ge.com/:f:/r/sites/fieldcore/functions/ehs/EHS%20QMS%20PROCEDURES%20Library/0801%20-%20Industrial%20Hygiene/Region%20Procedures/0801-1%20-%20Europe%20HAVS%20Procedure?csf=1&amp;web=1&amp;e=loSeTM"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spo-teamsite.ge.com/:x:/r/sites/fieldcore/functions/ehs/EHS%20QMS%20PROCEDURES%20Library/0801%20-%20Industrial%20Hygiene/Region%20Procedures/0801-1%20-%20Europe%20HAVS%20Procedure/UK%20TRA001%20-%20Vibration%20(Issue%201).xlsm?d=w0f302ef8635e4caaa8ffd0fdcc4e547f&amp;csf=1&amp;web=1&amp;e=MT7gdh"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spo-teamsite.ge.com/:x:/r/sites/fieldcore/functions/ehs/EHS%20QMS%20PROCEDURES%20Library/0801%20-%20Industrial%20Hygiene/Region%20Procedures/0801-1%20-%20Europe%20HAVS%20Procedure/UK%20TRA001%20-%20Vibration%20(Issue%201).xlsm?d=w0f302ef8635e4caaa8ffd0fdcc4e547f&amp;csf=1&amp;web=1&amp;e=MT7gdh"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AADBE28-32DD-4E65-975C-58F3281613C2}"/>
              </a:ext>
            </a:extLst>
          </p:cNvPr>
          <p:cNvSpPr txBox="1">
            <a:spLocks/>
          </p:cNvSpPr>
          <p:nvPr/>
        </p:nvSpPr>
        <p:spPr>
          <a:xfrm>
            <a:off x="327483" y="856270"/>
            <a:ext cx="7684003" cy="3391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r>
              <a:rPr lang="en-GB" sz="2000" b="1" dirty="0">
                <a:solidFill>
                  <a:srgbClr val="FF3300"/>
                </a:solidFill>
                <a:latin typeface="Montserrat Light" panose="00000400000000000000" pitchFamily="2" charset="0"/>
              </a:rPr>
              <a:t>FC-EU-EHS-HEA-0801-1</a:t>
            </a:r>
            <a:r>
              <a:rPr lang="en-US" sz="2000" b="1" dirty="0">
                <a:solidFill>
                  <a:srgbClr val="FF3300"/>
                </a:solidFill>
                <a:latin typeface="Montserrat Light" panose="00000400000000000000" pitchFamily="2" charset="0"/>
              </a:rPr>
              <a:t>: Management of Vibration Exposure</a:t>
            </a:r>
          </a:p>
          <a:p>
            <a:endParaRPr lang="en-US" sz="2000" b="1" dirty="0">
              <a:solidFill>
                <a:srgbClr val="FF3300"/>
              </a:solidFill>
              <a:latin typeface="Montserrat Light" panose="00000400000000000000" pitchFamily="2" charset="0"/>
            </a:endParaRPr>
          </a:p>
          <a:p>
            <a:r>
              <a:rPr lang="en-US" sz="2000" b="1" dirty="0">
                <a:solidFill>
                  <a:schemeClr val="accent2"/>
                </a:solidFill>
                <a:latin typeface="Montserrat Light" panose="00000400000000000000" pitchFamily="2" charset="0"/>
              </a:rPr>
              <a:t>Responsibilities:</a:t>
            </a:r>
          </a:p>
        </p:txBody>
      </p:sp>
      <p:sp>
        <p:nvSpPr>
          <p:cNvPr id="6" name="TextBox 5">
            <a:extLst>
              <a:ext uri="{FF2B5EF4-FFF2-40B4-BE49-F238E27FC236}">
                <a16:creationId xmlns:a16="http://schemas.microsoft.com/office/drawing/2014/main" id="{05ACEFB6-113C-497D-A490-F5078329A068}"/>
              </a:ext>
            </a:extLst>
          </p:cNvPr>
          <p:cNvSpPr txBox="1"/>
          <p:nvPr/>
        </p:nvSpPr>
        <p:spPr>
          <a:xfrm>
            <a:off x="11205213" y="6645160"/>
            <a:ext cx="755015" cy="153888"/>
          </a:xfrm>
          <a:prstGeom prst="rect">
            <a:avLst/>
          </a:prstGeom>
          <a:noFill/>
        </p:spPr>
        <p:txBody>
          <a:bodyPr wrap="none" lIns="0" tIns="0" rIns="0" bIns="0" rtlCol="0">
            <a:spAutoFit/>
          </a:bodyPr>
          <a:lstStyle/>
          <a:p>
            <a:r>
              <a:rPr lang="en-US" sz="1000" dirty="0">
                <a:solidFill>
                  <a:schemeClr val="accent2"/>
                </a:solidFill>
                <a:latin typeface="Montserrat Light" panose="00000400000000000000" pitchFamily="2" charset="0"/>
              </a:rPr>
              <a:t>v1/Dec 2020</a:t>
            </a:r>
          </a:p>
        </p:txBody>
      </p:sp>
      <p:pic>
        <p:nvPicPr>
          <p:cNvPr id="10" name="Picture 9">
            <a:extLst>
              <a:ext uri="{FF2B5EF4-FFF2-40B4-BE49-F238E27FC236}">
                <a16:creationId xmlns:a16="http://schemas.microsoft.com/office/drawing/2014/main" id="{3814A4BE-64E2-451A-94E5-DB89CFF43FB7}"/>
              </a:ext>
            </a:extLst>
          </p:cNvPr>
          <p:cNvPicPr>
            <a:picLocks noChangeAspect="1"/>
          </p:cNvPicPr>
          <p:nvPr/>
        </p:nvPicPr>
        <p:blipFill>
          <a:blip r:embed="rId2"/>
          <a:stretch>
            <a:fillRect/>
          </a:stretch>
        </p:blipFill>
        <p:spPr>
          <a:xfrm>
            <a:off x="210038" y="1933643"/>
            <a:ext cx="2717408" cy="3838339"/>
          </a:xfrm>
          <a:prstGeom prst="rect">
            <a:avLst/>
          </a:prstGeom>
        </p:spPr>
      </p:pic>
      <p:graphicFrame>
        <p:nvGraphicFramePr>
          <p:cNvPr id="8" name="Table 7">
            <a:extLst>
              <a:ext uri="{FF2B5EF4-FFF2-40B4-BE49-F238E27FC236}">
                <a16:creationId xmlns:a16="http://schemas.microsoft.com/office/drawing/2014/main" id="{56903CCC-9196-4649-8F98-51C825C8EAAA}"/>
              </a:ext>
            </a:extLst>
          </p:cNvPr>
          <p:cNvGraphicFramePr>
            <a:graphicFrameLocks noGrp="1"/>
          </p:cNvGraphicFramePr>
          <p:nvPr>
            <p:extLst>
              <p:ext uri="{D42A27DB-BD31-4B8C-83A1-F6EECF244321}">
                <p14:modId xmlns:p14="http://schemas.microsoft.com/office/powerpoint/2010/main" val="2418340040"/>
              </p:ext>
            </p:extLst>
          </p:nvPr>
        </p:nvGraphicFramePr>
        <p:xfrm>
          <a:off x="3020037" y="1195414"/>
          <a:ext cx="9068504" cy="5381553"/>
        </p:xfrm>
        <a:graphic>
          <a:graphicData uri="http://schemas.openxmlformats.org/drawingml/2006/table">
            <a:tbl>
              <a:tblPr firstRow="1" firstCol="1" bandRow="1">
                <a:tableStyleId>{5C22544A-7EE6-4342-B048-85BDC9FD1C3A}</a:tableStyleId>
              </a:tblPr>
              <a:tblGrid>
                <a:gridCol w="5735798">
                  <a:extLst>
                    <a:ext uri="{9D8B030D-6E8A-4147-A177-3AD203B41FA5}">
                      <a16:colId xmlns:a16="http://schemas.microsoft.com/office/drawing/2014/main" val="984092486"/>
                    </a:ext>
                  </a:extLst>
                </a:gridCol>
                <a:gridCol w="333082">
                  <a:extLst>
                    <a:ext uri="{9D8B030D-6E8A-4147-A177-3AD203B41FA5}">
                      <a16:colId xmlns:a16="http://schemas.microsoft.com/office/drawing/2014/main" val="3510207163"/>
                    </a:ext>
                  </a:extLst>
                </a:gridCol>
                <a:gridCol w="333082">
                  <a:extLst>
                    <a:ext uri="{9D8B030D-6E8A-4147-A177-3AD203B41FA5}">
                      <a16:colId xmlns:a16="http://schemas.microsoft.com/office/drawing/2014/main" val="1478155037"/>
                    </a:ext>
                  </a:extLst>
                </a:gridCol>
                <a:gridCol w="333082">
                  <a:extLst>
                    <a:ext uri="{9D8B030D-6E8A-4147-A177-3AD203B41FA5}">
                      <a16:colId xmlns:a16="http://schemas.microsoft.com/office/drawing/2014/main" val="3731284305"/>
                    </a:ext>
                  </a:extLst>
                </a:gridCol>
                <a:gridCol w="333082">
                  <a:extLst>
                    <a:ext uri="{9D8B030D-6E8A-4147-A177-3AD203B41FA5}">
                      <a16:colId xmlns:a16="http://schemas.microsoft.com/office/drawing/2014/main" val="1568917357"/>
                    </a:ext>
                  </a:extLst>
                </a:gridCol>
                <a:gridCol w="333082">
                  <a:extLst>
                    <a:ext uri="{9D8B030D-6E8A-4147-A177-3AD203B41FA5}">
                      <a16:colId xmlns:a16="http://schemas.microsoft.com/office/drawing/2014/main" val="1922141496"/>
                    </a:ext>
                  </a:extLst>
                </a:gridCol>
                <a:gridCol w="333082">
                  <a:extLst>
                    <a:ext uri="{9D8B030D-6E8A-4147-A177-3AD203B41FA5}">
                      <a16:colId xmlns:a16="http://schemas.microsoft.com/office/drawing/2014/main" val="4198503231"/>
                    </a:ext>
                  </a:extLst>
                </a:gridCol>
                <a:gridCol w="333082">
                  <a:extLst>
                    <a:ext uri="{9D8B030D-6E8A-4147-A177-3AD203B41FA5}">
                      <a16:colId xmlns:a16="http://schemas.microsoft.com/office/drawing/2014/main" val="1387277480"/>
                    </a:ext>
                  </a:extLst>
                </a:gridCol>
                <a:gridCol w="334025">
                  <a:extLst>
                    <a:ext uri="{9D8B030D-6E8A-4147-A177-3AD203B41FA5}">
                      <a16:colId xmlns:a16="http://schemas.microsoft.com/office/drawing/2014/main" val="3310558828"/>
                    </a:ext>
                  </a:extLst>
                </a:gridCol>
                <a:gridCol w="333082">
                  <a:extLst>
                    <a:ext uri="{9D8B030D-6E8A-4147-A177-3AD203B41FA5}">
                      <a16:colId xmlns:a16="http://schemas.microsoft.com/office/drawing/2014/main" val="1708347941"/>
                    </a:ext>
                  </a:extLst>
                </a:gridCol>
                <a:gridCol w="334025">
                  <a:extLst>
                    <a:ext uri="{9D8B030D-6E8A-4147-A177-3AD203B41FA5}">
                      <a16:colId xmlns:a16="http://schemas.microsoft.com/office/drawing/2014/main" val="3537487459"/>
                    </a:ext>
                  </a:extLst>
                </a:gridCol>
              </a:tblGrid>
              <a:tr h="1735259">
                <a:tc>
                  <a:txBody>
                    <a:bodyPr/>
                    <a:lstStyle/>
                    <a:p>
                      <a:pPr algn="r">
                        <a:lnSpc>
                          <a:spcPct val="107000"/>
                        </a:lnSpc>
                        <a:spcBef>
                          <a:spcPts val="200"/>
                        </a:spcBef>
                        <a:spcAft>
                          <a:spcPts val="0"/>
                        </a:spcAft>
                      </a:pPr>
                      <a:r>
                        <a:rPr lang="en-GB" sz="1000" b="0" dirty="0">
                          <a:effectLst/>
                          <a:latin typeface="Montserrat" panose="00000500000000000000" pitchFamily="2" charset="0"/>
                        </a:rPr>
                        <a:t>Role</a:t>
                      </a:r>
                      <a:endParaRPr lang="en-GB" sz="1050" b="0" dirty="0">
                        <a:effectLst/>
                        <a:latin typeface="Montserrat" panose="00000500000000000000" pitchFamily="2" charset="0"/>
                      </a:endParaRPr>
                    </a:p>
                    <a:p>
                      <a:pPr algn="r">
                        <a:lnSpc>
                          <a:spcPct val="107000"/>
                        </a:lnSpc>
                        <a:spcBef>
                          <a:spcPts val="200"/>
                        </a:spcBef>
                        <a:spcAft>
                          <a:spcPts val="0"/>
                        </a:spcAft>
                      </a:pPr>
                      <a:r>
                        <a:rPr lang="en-GB" sz="1000" b="0" dirty="0">
                          <a:effectLst/>
                          <a:latin typeface="Montserrat" panose="00000500000000000000" pitchFamily="2" charset="0"/>
                        </a:rPr>
                        <a:t> </a:t>
                      </a:r>
                      <a:endParaRPr lang="en-GB" sz="1050" b="0" dirty="0">
                        <a:effectLst/>
                        <a:latin typeface="Montserrat" panose="00000500000000000000" pitchFamily="2" charset="0"/>
                      </a:endParaRPr>
                    </a:p>
                    <a:p>
                      <a:pPr algn="r">
                        <a:lnSpc>
                          <a:spcPct val="107000"/>
                        </a:lnSpc>
                        <a:spcBef>
                          <a:spcPts val="200"/>
                        </a:spcBef>
                        <a:spcAft>
                          <a:spcPts val="0"/>
                        </a:spcAft>
                      </a:pPr>
                      <a:r>
                        <a:rPr lang="en-GB" sz="1000" b="0" dirty="0">
                          <a:effectLst/>
                          <a:latin typeface="Montserrat" panose="00000500000000000000" pitchFamily="2" charset="0"/>
                        </a:rPr>
                        <a:t> </a:t>
                      </a:r>
                      <a:endParaRPr lang="en-GB" sz="1050" b="0" dirty="0">
                        <a:effectLst/>
                        <a:latin typeface="Montserrat" panose="00000500000000000000" pitchFamily="2" charset="0"/>
                      </a:endParaRPr>
                    </a:p>
                    <a:p>
                      <a:pPr algn="r">
                        <a:lnSpc>
                          <a:spcPct val="107000"/>
                        </a:lnSpc>
                        <a:spcBef>
                          <a:spcPts val="200"/>
                        </a:spcBef>
                        <a:spcAft>
                          <a:spcPts val="0"/>
                        </a:spcAft>
                      </a:pPr>
                      <a:r>
                        <a:rPr lang="en-GB" sz="1000" b="0" dirty="0">
                          <a:effectLst/>
                          <a:latin typeface="Montserrat" panose="00000500000000000000" pitchFamily="2" charset="0"/>
                        </a:rPr>
                        <a:t> </a:t>
                      </a:r>
                      <a:endParaRPr lang="en-GB" sz="1050" b="0" dirty="0">
                        <a:effectLst/>
                        <a:latin typeface="Montserrat" panose="00000500000000000000" pitchFamily="2" charset="0"/>
                      </a:endParaRPr>
                    </a:p>
                    <a:p>
                      <a:pPr algn="r">
                        <a:lnSpc>
                          <a:spcPct val="107000"/>
                        </a:lnSpc>
                        <a:spcBef>
                          <a:spcPts val="200"/>
                        </a:spcBef>
                        <a:spcAft>
                          <a:spcPts val="0"/>
                        </a:spcAft>
                      </a:pPr>
                      <a:r>
                        <a:rPr lang="en-GB" sz="1000" b="0" dirty="0">
                          <a:effectLst/>
                          <a:latin typeface="Montserrat" panose="00000500000000000000" pitchFamily="2" charset="0"/>
                        </a:rPr>
                        <a:t> </a:t>
                      </a:r>
                      <a:endParaRPr lang="en-GB" sz="1050" b="0" dirty="0">
                        <a:effectLst/>
                        <a:latin typeface="Montserrat" panose="00000500000000000000" pitchFamily="2" charset="0"/>
                      </a:endParaRPr>
                    </a:p>
                    <a:p>
                      <a:pPr algn="r">
                        <a:lnSpc>
                          <a:spcPct val="107000"/>
                        </a:lnSpc>
                        <a:spcBef>
                          <a:spcPts val="200"/>
                        </a:spcBef>
                        <a:spcAft>
                          <a:spcPts val="0"/>
                        </a:spcAft>
                      </a:pPr>
                      <a:r>
                        <a:rPr lang="en-GB" sz="1000" b="0" dirty="0">
                          <a:effectLst/>
                          <a:latin typeface="Montserrat" panose="00000500000000000000" pitchFamily="2" charset="0"/>
                        </a:rPr>
                        <a:t> </a:t>
                      </a:r>
                      <a:endParaRPr lang="en-GB" sz="1050" b="0" dirty="0">
                        <a:effectLst/>
                        <a:latin typeface="Montserrat" panose="00000500000000000000" pitchFamily="2" charset="0"/>
                      </a:endParaRPr>
                    </a:p>
                    <a:p>
                      <a:pPr>
                        <a:lnSpc>
                          <a:spcPct val="107000"/>
                        </a:lnSpc>
                        <a:spcBef>
                          <a:spcPts val="200"/>
                        </a:spcBef>
                        <a:spcAft>
                          <a:spcPts val="200"/>
                        </a:spcAft>
                      </a:pPr>
                      <a:r>
                        <a:rPr lang="en-GB" sz="1000" b="0" dirty="0">
                          <a:effectLst/>
                          <a:latin typeface="Montserrat" panose="00000500000000000000" pitchFamily="2" charset="0"/>
                        </a:rPr>
                        <a:t> </a:t>
                      </a:r>
                      <a:endParaRPr lang="en-GB" sz="1050" b="0" dirty="0">
                        <a:effectLst/>
                        <a:latin typeface="Montserrat" panose="00000500000000000000" pitchFamily="2" charset="0"/>
                      </a:endParaRPr>
                    </a:p>
                    <a:p>
                      <a:pPr>
                        <a:lnSpc>
                          <a:spcPct val="107000"/>
                        </a:lnSpc>
                        <a:spcBef>
                          <a:spcPts val="200"/>
                        </a:spcBef>
                        <a:spcAft>
                          <a:spcPts val="200"/>
                        </a:spcAft>
                      </a:pPr>
                      <a:r>
                        <a:rPr lang="en-GB" sz="900" b="0" dirty="0">
                          <a:effectLst/>
                          <a:latin typeface="Montserrat" panose="00000500000000000000" pitchFamily="2" charset="0"/>
                        </a:rPr>
                        <a:t>Responsibility:</a:t>
                      </a:r>
                      <a:endParaRPr lang="en-GB" sz="1050" b="0" dirty="0">
                        <a:effectLst/>
                        <a:latin typeface="Montserrat" panose="00000500000000000000" pitchFamily="2" charset="0"/>
                      </a:endParaRPr>
                    </a:p>
                    <a:p>
                      <a:pPr>
                        <a:lnSpc>
                          <a:spcPct val="107000"/>
                        </a:lnSpc>
                        <a:spcBef>
                          <a:spcPts val="200"/>
                        </a:spcBef>
                        <a:spcAft>
                          <a:spcPts val="200"/>
                        </a:spcAft>
                      </a:pPr>
                      <a:r>
                        <a:rPr lang="en-GB" sz="900" b="0" dirty="0">
                          <a:effectLst/>
                          <a:latin typeface="Montserrat" panose="00000500000000000000" pitchFamily="2" charset="0"/>
                        </a:rPr>
                        <a:t>R= Responsible; A = Accountable; S = Support; I = Informed</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tc>
                <a:tc>
                  <a:txBody>
                    <a:bodyPr/>
                    <a:lstStyle/>
                    <a:p>
                      <a:pPr>
                        <a:lnSpc>
                          <a:spcPct val="107000"/>
                        </a:lnSpc>
                        <a:spcAft>
                          <a:spcPts val="0"/>
                        </a:spcAft>
                      </a:pPr>
                      <a:r>
                        <a:rPr lang="en-GB" sz="800" b="0" dirty="0">
                          <a:effectLst/>
                          <a:latin typeface="Montserrat" panose="00000500000000000000" pitchFamily="2" charset="0"/>
                        </a:rPr>
                        <a:t>   Industrial Hygiene Manager</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vert="vert270"/>
                </a:tc>
                <a:tc>
                  <a:txBody>
                    <a:bodyPr/>
                    <a:lstStyle/>
                    <a:p>
                      <a:pPr>
                        <a:lnSpc>
                          <a:spcPct val="107000"/>
                        </a:lnSpc>
                        <a:spcAft>
                          <a:spcPts val="0"/>
                        </a:spcAft>
                      </a:pPr>
                      <a:r>
                        <a:rPr lang="en-GB" sz="800" b="0" dirty="0">
                          <a:effectLst/>
                          <a:latin typeface="Montserrat" panose="00000500000000000000" pitchFamily="2" charset="0"/>
                        </a:rPr>
                        <a:t>   Outage Manager/ Lead TFA</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vert="vert270" anchor="ctr"/>
                </a:tc>
                <a:tc>
                  <a:txBody>
                    <a:bodyPr/>
                    <a:lstStyle/>
                    <a:p>
                      <a:pPr>
                        <a:lnSpc>
                          <a:spcPct val="107000"/>
                        </a:lnSpc>
                        <a:spcAft>
                          <a:spcPts val="0"/>
                        </a:spcAft>
                      </a:pPr>
                      <a:r>
                        <a:rPr lang="en-GB" sz="800" b="0" dirty="0">
                          <a:effectLst/>
                          <a:latin typeface="Montserrat" panose="00000500000000000000" pitchFamily="2" charset="0"/>
                        </a:rPr>
                        <a:t>   Region EHS Manager</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vert="vert270"/>
                </a:tc>
                <a:tc>
                  <a:txBody>
                    <a:bodyPr/>
                    <a:lstStyle/>
                    <a:p>
                      <a:pPr>
                        <a:lnSpc>
                          <a:spcPct val="107000"/>
                        </a:lnSpc>
                        <a:spcAft>
                          <a:spcPts val="0"/>
                        </a:spcAft>
                      </a:pPr>
                      <a:r>
                        <a:rPr lang="en-GB" sz="800" b="0" dirty="0">
                          <a:effectLst/>
                          <a:latin typeface="Montserrat" panose="00000500000000000000" pitchFamily="2" charset="0"/>
                        </a:rPr>
                        <a:t>   Resource / HR Manager</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vert="vert270"/>
                </a:tc>
                <a:tc>
                  <a:txBody>
                    <a:bodyPr/>
                    <a:lstStyle/>
                    <a:p>
                      <a:pPr>
                        <a:lnSpc>
                          <a:spcPct val="107000"/>
                        </a:lnSpc>
                        <a:spcAft>
                          <a:spcPts val="0"/>
                        </a:spcAft>
                      </a:pPr>
                      <a:r>
                        <a:rPr lang="en-GB" sz="800" b="0" dirty="0">
                          <a:effectLst/>
                          <a:latin typeface="Montserrat" panose="00000500000000000000" pitchFamily="2" charset="0"/>
                        </a:rPr>
                        <a:t>   Site EHS Representative</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vert="vert270"/>
                </a:tc>
                <a:tc>
                  <a:txBody>
                    <a:bodyPr/>
                    <a:lstStyle/>
                    <a:p>
                      <a:pPr>
                        <a:lnSpc>
                          <a:spcPct val="107000"/>
                        </a:lnSpc>
                        <a:spcAft>
                          <a:spcPts val="0"/>
                        </a:spcAft>
                      </a:pPr>
                      <a:r>
                        <a:rPr lang="en-GB" sz="800" b="0" dirty="0">
                          <a:effectLst/>
                          <a:latin typeface="Montserrat" panose="00000500000000000000" pitchFamily="2" charset="0"/>
                        </a:rPr>
                        <a:t>  Supervisor</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vert="vert270"/>
                </a:tc>
                <a:tc>
                  <a:txBody>
                    <a:bodyPr/>
                    <a:lstStyle/>
                    <a:p>
                      <a:pPr>
                        <a:lnSpc>
                          <a:spcPct val="107000"/>
                        </a:lnSpc>
                        <a:spcAft>
                          <a:spcPts val="0"/>
                        </a:spcAft>
                      </a:pPr>
                      <a:r>
                        <a:rPr lang="en-GB" sz="800" b="0" dirty="0">
                          <a:effectLst/>
                          <a:latin typeface="Montserrat" panose="00000500000000000000" pitchFamily="2" charset="0"/>
                        </a:rPr>
                        <a:t>   Tool Centres / Site Maintenance </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vert="vert270"/>
                </a:tc>
                <a:tc>
                  <a:txBody>
                    <a:bodyPr/>
                    <a:lstStyle/>
                    <a:p>
                      <a:pPr>
                        <a:lnSpc>
                          <a:spcPct val="107000"/>
                        </a:lnSpc>
                        <a:spcAft>
                          <a:spcPts val="0"/>
                        </a:spcAft>
                      </a:pPr>
                      <a:r>
                        <a:rPr lang="en-GB" sz="800" b="0" dirty="0">
                          <a:effectLst/>
                          <a:latin typeface="Montserrat" panose="00000500000000000000" pitchFamily="2" charset="0"/>
                        </a:rPr>
                        <a:t>   Occupational Health Provider</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vert="vert270"/>
                </a:tc>
                <a:tc>
                  <a:txBody>
                    <a:bodyPr/>
                    <a:lstStyle/>
                    <a:p>
                      <a:pPr>
                        <a:lnSpc>
                          <a:spcPct val="107000"/>
                        </a:lnSpc>
                        <a:spcAft>
                          <a:spcPts val="0"/>
                        </a:spcAft>
                      </a:pPr>
                      <a:r>
                        <a:rPr lang="en-GB" sz="800" b="0" dirty="0">
                          <a:effectLst/>
                          <a:latin typeface="Montserrat" panose="00000500000000000000" pitchFamily="2" charset="0"/>
                        </a:rPr>
                        <a:t>   Documents Tracking Controller</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vert="vert270"/>
                </a:tc>
                <a:tc>
                  <a:txBody>
                    <a:bodyPr/>
                    <a:lstStyle/>
                    <a:p>
                      <a:pPr>
                        <a:lnSpc>
                          <a:spcPct val="107000"/>
                        </a:lnSpc>
                        <a:spcAft>
                          <a:spcPts val="0"/>
                        </a:spcAft>
                      </a:pPr>
                      <a:r>
                        <a:rPr lang="en-GB" sz="800" b="0" dirty="0">
                          <a:effectLst/>
                          <a:latin typeface="Montserrat" panose="00000500000000000000" pitchFamily="2" charset="0"/>
                        </a:rPr>
                        <a:t>   Employee / Workers*</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vert="vert270"/>
                </a:tc>
                <a:extLst>
                  <a:ext uri="{0D108BD9-81ED-4DB2-BD59-A6C34878D82A}">
                    <a16:rowId xmlns:a16="http://schemas.microsoft.com/office/drawing/2014/main" val="2785103797"/>
                  </a:ext>
                </a:extLst>
              </a:tr>
              <a:tr h="286554">
                <a:tc>
                  <a:txBody>
                    <a:bodyPr/>
                    <a:lstStyle/>
                    <a:p>
                      <a:pPr>
                        <a:lnSpc>
                          <a:spcPct val="107000"/>
                        </a:lnSpc>
                        <a:spcBef>
                          <a:spcPts val="200"/>
                        </a:spcBef>
                        <a:spcAft>
                          <a:spcPts val="200"/>
                        </a:spcAft>
                      </a:pPr>
                      <a:r>
                        <a:rPr lang="en-GB" sz="900" b="0" dirty="0">
                          <a:effectLst/>
                          <a:latin typeface="Montserrat" panose="00000500000000000000" pitchFamily="2" charset="0"/>
                        </a:rPr>
                        <a:t>Compile and maintain a database of all vibrating tools and the vibration magnitude </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A</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ea typeface="Calibri" panose="020F0502020204030204" pitchFamily="34" charset="0"/>
                          <a:cs typeface="Times New Roman" panose="02020603050405020304" pitchFamily="18" charset="0"/>
                        </a:rPr>
                        <a:t>R</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I</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extLst>
                  <a:ext uri="{0D108BD9-81ED-4DB2-BD59-A6C34878D82A}">
                    <a16:rowId xmlns:a16="http://schemas.microsoft.com/office/drawing/2014/main" val="3941874551"/>
                  </a:ext>
                </a:extLst>
              </a:tr>
              <a:tr h="244120">
                <a:tc>
                  <a:txBody>
                    <a:bodyPr/>
                    <a:lstStyle/>
                    <a:p>
                      <a:pPr>
                        <a:lnSpc>
                          <a:spcPct val="107000"/>
                        </a:lnSpc>
                        <a:spcBef>
                          <a:spcPts val="200"/>
                        </a:spcBef>
                        <a:spcAft>
                          <a:spcPts val="200"/>
                        </a:spcAft>
                      </a:pPr>
                      <a:r>
                        <a:rPr lang="en-GB" sz="900" b="0" dirty="0">
                          <a:effectLst/>
                          <a:latin typeface="Montserrat" panose="00000500000000000000" pitchFamily="2" charset="0"/>
                        </a:rPr>
                        <a:t>Ensure that all vibrating tools are correctly tagged </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A</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R</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b="1" dirty="0">
                          <a:effectLst/>
                          <a:latin typeface="Montserrat" panose="00000500000000000000" pitchFamily="2" charset="0"/>
                        </a:rPr>
                        <a:t>I</a:t>
                      </a:r>
                      <a:endParaRPr lang="en-GB" sz="1050" b="1"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solidFill>
                      <a:srgbClr val="FFFF00"/>
                    </a:solidFill>
                  </a:tcPr>
                </a:tc>
                <a:extLst>
                  <a:ext uri="{0D108BD9-81ED-4DB2-BD59-A6C34878D82A}">
                    <a16:rowId xmlns:a16="http://schemas.microsoft.com/office/drawing/2014/main" val="792395269"/>
                  </a:ext>
                </a:extLst>
              </a:tr>
              <a:tr h="244120">
                <a:tc>
                  <a:txBody>
                    <a:bodyPr/>
                    <a:lstStyle/>
                    <a:p>
                      <a:pPr>
                        <a:lnSpc>
                          <a:spcPct val="107000"/>
                        </a:lnSpc>
                        <a:spcBef>
                          <a:spcPts val="200"/>
                        </a:spcBef>
                        <a:spcAft>
                          <a:spcPts val="200"/>
                        </a:spcAft>
                      </a:pPr>
                      <a:r>
                        <a:rPr lang="en-GB" sz="900" b="0" dirty="0">
                          <a:effectLst/>
                          <a:latin typeface="Montserrat" panose="00000500000000000000" pitchFamily="2" charset="0"/>
                        </a:rPr>
                        <a:t>Ensure that appropriate risk assessments are completed </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A</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R</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b="1" dirty="0">
                          <a:effectLst/>
                          <a:latin typeface="Montserrat" panose="00000500000000000000" pitchFamily="2" charset="0"/>
                        </a:rPr>
                        <a:t>I</a:t>
                      </a:r>
                      <a:endParaRPr lang="en-GB" sz="1050" b="1"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solidFill>
                      <a:srgbClr val="FFFF00"/>
                    </a:solidFill>
                  </a:tcPr>
                </a:tc>
                <a:extLst>
                  <a:ext uri="{0D108BD9-81ED-4DB2-BD59-A6C34878D82A}">
                    <a16:rowId xmlns:a16="http://schemas.microsoft.com/office/drawing/2014/main" val="3133394843"/>
                  </a:ext>
                </a:extLst>
              </a:tr>
              <a:tr h="434032">
                <a:tc>
                  <a:txBody>
                    <a:bodyPr/>
                    <a:lstStyle/>
                    <a:p>
                      <a:pPr>
                        <a:lnSpc>
                          <a:spcPct val="107000"/>
                        </a:lnSpc>
                        <a:spcBef>
                          <a:spcPts val="200"/>
                        </a:spcBef>
                        <a:spcAft>
                          <a:spcPts val="200"/>
                        </a:spcAft>
                      </a:pPr>
                      <a:r>
                        <a:rPr lang="en-GB" sz="900" b="0" dirty="0">
                          <a:effectLst/>
                          <a:latin typeface="Montserrat" panose="00000500000000000000" pitchFamily="2" charset="0"/>
                        </a:rPr>
                        <a:t>Ensure that Vibrating Tool Task Risk Assessments are carried out and the associated control measures, for all work which poses a significant vibration risk* to the health of workers, are implemented </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A</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I</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R</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b="1" dirty="0">
                          <a:effectLst/>
                          <a:latin typeface="Montserrat" panose="00000500000000000000" pitchFamily="2" charset="0"/>
                        </a:rPr>
                        <a:t>R</a:t>
                      </a:r>
                      <a:endParaRPr lang="en-GB" sz="1050" b="1"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solidFill>
                      <a:srgbClr val="FFFF00"/>
                    </a:solidFill>
                  </a:tcPr>
                </a:tc>
                <a:extLst>
                  <a:ext uri="{0D108BD9-81ED-4DB2-BD59-A6C34878D82A}">
                    <a16:rowId xmlns:a16="http://schemas.microsoft.com/office/drawing/2014/main" val="1156269916"/>
                  </a:ext>
                </a:extLst>
              </a:tr>
              <a:tr h="244120">
                <a:tc>
                  <a:txBody>
                    <a:bodyPr/>
                    <a:lstStyle/>
                    <a:p>
                      <a:pPr>
                        <a:lnSpc>
                          <a:spcPct val="107000"/>
                        </a:lnSpc>
                        <a:spcBef>
                          <a:spcPts val="200"/>
                        </a:spcBef>
                        <a:spcAft>
                          <a:spcPts val="200"/>
                        </a:spcAft>
                      </a:pPr>
                      <a:r>
                        <a:rPr lang="en-GB" sz="900" b="0" dirty="0">
                          <a:effectLst/>
                          <a:latin typeface="Montserrat" panose="00000500000000000000" pitchFamily="2" charset="0"/>
                        </a:rPr>
                        <a:t>Ensure provision of adequate information and training</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R</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A</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b="1" dirty="0">
                          <a:effectLst/>
                          <a:latin typeface="Montserrat" panose="00000500000000000000" pitchFamily="2" charset="0"/>
                        </a:rPr>
                        <a:t>I</a:t>
                      </a:r>
                      <a:endParaRPr lang="en-GB" sz="1050" b="1"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solidFill>
                      <a:srgbClr val="FFFF00"/>
                    </a:solidFill>
                  </a:tcPr>
                </a:tc>
                <a:extLst>
                  <a:ext uri="{0D108BD9-81ED-4DB2-BD59-A6C34878D82A}">
                    <a16:rowId xmlns:a16="http://schemas.microsoft.com/office/drawing/2014/main" val="3216220758"/>
                  </a:ext>
                </a:extLst>
              </a:tr>
              <a:tr h="286554">
                <a:tc>
                  <a:txBody>
                    <a:bodyPr/>
                    <a:lstStyle/>
                    <a:p>
                      <a:pPr>
                        <a:lnSpc>
                          <a:spcPct val="107000"/>
                        </a:lnSpc>
                        <a:spcBef>
                          <a:spcPts val="200"/>
                        </a:spcBef>
                        <a:spcAft>
                          <a:spcPts val="200"/>
                        </a:spcAft>
                      </a:pPr>
                      <a:r>
                        <a:rPr lang="en-GB" sz="900" b="0" dirty="0">
                          <a:effectLst/>
                          <a:latin typeface="Montserrat" panose="00000500000000000000" pitchFamily="2" charset="0"/>
                        </a:rPr>
                        <a:t>Using the Health Surveillance Matrix, identify all employees who may require health surveillance</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A</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R</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b="1" dirty="0">
                          <a:effectLst/>
                          <a:latin typeface="Montserrat" panose="00000500000000000000" pitchFamily="2" charset="0"/>
                        </a:rPr>
                        <a:t>I</a:t>
                      </a:r>
                      <a:endParaRPr lang="en-GB" sz="1050" b="1"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solidFill>
                      <a:srgbClr val="FFFF00"/>
                    </a:solidFill>
                  </a:tcPr>
                </a:tc>
                <a:extLst>
                  <a:ext uri="{0D108BD9-81ED-4DB2-BD59-A6C34878D82A}">
                    <a16:rowId xmlns:a16="http://schemas.microsoft.com/office/drawing/2014/main" val="1258966636"/>
                  </a:ext>
                </a:extLst>
              </a:tr>
              <a:tr h="286554">
                <a:tc>
                  <a:txBody>
                    <a:bodyPr/>
                    <a:lstStyle/>
                    <a:p>
                      <a:pPr>
                        <a:lnSpc>
                          <a:spcPct val="107000"/>
                        </a:lnSpc>
                        <a:spcBef>
                          <a:spcPts val="200"/>
                        </a:spcBef>
                        <a:spcAft>
                          <a:spcPts val="200"/>
                        </a:spcAft>
                      </a:pPr>
                      <a:r>
                        <a:rPr lang="en-GB" sz="900" b="0" dirty="0">
                          <a:effectLst/>
                          <a:latin typeface="Montserrat" panose="00000500000000000000" pitchFamily="2" charset="0"/>
                        </a:rPr>
                        <a:t>Ensure that adequate resources are provided for performing health surveillance</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R</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A</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b="1" dirty="0">
                          <a:effectLst/>
                          <a:latin typeface="Montserrat" panose="00000500000000000000" pitchFamily="2" charset="0"/>
                        </a:rPr>
                        <a:t>R</a:t>
                      </a:r>
                      <a:endParaRPr lang="en-GB" sz="1050" b="1"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solidFill>
                      <a:srgbClr val="FFFF00"/>
                    </a:solidFill>
                  </a:tcPr>
                </a:tc>
                <a:extLst>
                  <a:ext uri="{0D108BD9-81ED-4DB2-BD59-A6C34878D82A}">
                    <a16:rowId xmlns:a16="http://schemas.microsoft.com/office/drawing/2014/main" val="3380303837"/>
                  </a:ext>
                </a:extLst>
              </a:tr>
              <a:tr h="286554">
                <a:tc>
                  <a:txBody>
                    <a:bodyPr/>
                    <a:lstStyle/>
                    <a:p>
                      <a:pPr>
                        <a:lnSpc>
                          <a:spcPct val="107000"/>
                        </a:lnSpc>
                        <a:spcBef>
                          <a:spcPts val="200"/>
                        </a:spcBef>
                        <a:spcAft>
                          <a:spcPts val="200"/>
                        </a:spcAft>
                      </a:pPr>
                      <a:r>
                        <a:rPr lang="en-GB" sz="900" b="0" dirty="0">
                          <a:effectLst/>
                          <a:latin typeface="Montserrat" panose="00000500000000000000" pitchFamily="2" charset="0"/>
                        </a:rPr>
                        <a:t>Adopting a  health surveillance risk-based approach and using baseline medicals, identify required medical surveillance needs</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A</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R</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b="1" dirty="0">
                          <a:effectLst/>
                          <a:latin typeface="Montserrat" panose="00000500000000000000" pitchFamily="2" charset="0"/>
                        </a:rPr>
                        <a:t>S</a:t>
                      </a:r>
                      <a:endParaRPr lang="en-GB" sz="1050" b="1"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solidFill>
                      <a:srgbClr val="FFFF00"/>
                    </a:solidFill>
                  </a:tcPr>
                </a:tc>
                <a:extLst>
                  <a:ext uri="{0D108BD9-81ED-4DB2-BD59-A6C34878D82A}">
                    <a16:rowId xmlns:a16="http://schemas.microsoft.com/office/drawing/2014/main" val="3845794501"/>
                  </a:ext>
                </a:extLst>
              </a:tr>
              <a:tr h="286554">
                <a:tc>
                  <a:txBody>
                    <a:bodyPr/>
                    <a:lstStyle/>
                    <a:p>
                      <a:pPr>
                        <a:lnSpc>
                          <a:spcPct val="107000"/>
                        </a:lnSpc>
                        <a:spcBef>
                          <a:spcPts val="200"/>
                        </a:spcBef>
                        <a:spcAft>
                          <a:spcPts val="200"/>
                        </a:spcAft>
                      </a:pPr>
                      <a:r>
                        <a:rPr lang="en-GB" sz="900" b="0" dirty="0">
                          <a:effectLst/>
                          <a:latin typeface="Montserrat" panose="00000500000000000000" pitchFamily="2" charset="0"/>
                        </a:rPr>
                        <a:t>Coordinate medical surveillance appointments with the service provider, identifying missing or due to expire medicals</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I</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S</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A</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R</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b="1" dirty="0">
                          <a:effectLst/>
                          <a:latin typeface="Montserrat" panose="00000500000000000000" pitchFamily="2" charset="0"/>
                        </a:rPr>
                        <a:t>S</a:t>
                      </a:r>
                      <a:endParaRPr lang="en-GB" sz="1050" b="1"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solidFill>
                      <a:srgbClr val="FFFF00"/>
                    </a:solidFill>
                  </a:tcPr>
                </a:tc>
                <a:extLst>
                  <a:ext uri="{0D108BD9-81ED-4DB2-BD59-A6C34878D82A}">
                    <a16:rowId xmlns:a16="http://schemas.microsoft.com/office/drawing/2014/main" val="1113642874"/>
                  </a:ext>
                </a:extLst>
              </a:tr>
              <a:tr h="244120">
                <a:tc>
                  <a:txBody>
                    <a:bodyPr/>
                    <a:lstStyle/>
                    <a:p>
                      <a:pPr>
                        <a:lnSpc>
                          <a:spcPct val="107000"/>
                        </a:lnSpc>
                        <a:spcBef>
                          <a:spcPts val="200"/>
                        </a:spcBef>
                        <a:spcAft>
                          <a:spcPts val="200"/>
                        </a:spcAft>
                      </a:pPr>
                      <a:r>
                        <a:rPr lang="en-GB" sz="900" b="0" dirty="0">
                          <a:effectLst/>
                          <a:latin typeface="Montserrat" panose="00000500000000000000" pitchFamily="2" charset="0"/>
                        </a:rPr>
                        <a:t>Ensure that affected employees participate in health surveillance</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I</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R</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A</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b="1" dirty="0">
                          <a:effectLst/>
                          <a:latin typeface="Montserrat" panose="00000500000000000000" pitchFamily="2" charset="0"/>
                        </a:rPr>
                        <a:t>R</a:t>
                      </a:r>
                      <a:endParaRPr lang="en-GB" sz="1050" b="1"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solidFill>
                      <a:srgbClr val="FFFF00"/>
                    </a:solidFill>
                  </a:tcPr>
                </a:tc>
                <a:extLst>
                  <a:ext uri="{0D108BD9-81ED-4DB2-BD59-A6C34878D82A}">
                    <a16:rowId xmlns:a16="http://schemas.microsoft.com/office/drawing/2014/main" val="2179057545"/>
                  </a:ext>
                </a:extLst>
              </a:tr>
              <a:tr h="244120">
                <a:tc>
                  <a:txBody>
                    <a:bodyPr/>
                    <a:lstStyle/>
                    <a:p>
                      <a:pPr>
                        <a:lnSpc>
                          <a:spcPct val="107000"/>
                        </a:lnSpc>
                        <a:spcBef>
                          <a:spcPts val="200"/>
                        </a:spcBef>
                        <a:spcAft>
                          <a:spcPts val="200"/>
                        </a:spcAft>
                      </a:pPr>
                      <a:r>
                        <a:rPr lang="en-GB" sz="900" b="0" dirty="0">
                          <a:effectLst/>
                          <a:latin typeface="Montserrat" panose="00000500000000000000" pitchFamily="2" charset="0"/>
                        </a:rPr>
                        <a:t>Produce annual health surveillance report on vibrations</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I</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I</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R</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highlight>
                            <a:srgbClr val="FFFF00"/>
                          </a:highlight>
                        </a:rPr>
                        <a:t> </a:t>
                      </a:r>
                      <a:endParaRPr lang="en-GB" sz="1050" dirty="0">
                        <a:effectLst/>
                        <a:highlight>
                          <a:srgbClr val="FFFF00"/>
                        </a:highligh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extLst>
                  <a:ext uri="{0D108BD9-81ED-4DB2-BD59-A6C34878D82A}">
                    <a16:rowId xmlns:a16="http://schemas.microsoft.com/office/drawing/2014/main" val="779213321"/>
                  </a:ext>
                </a:extLst>
              </a:tr>
              <a:tr h="286554">
                <a:tc>
                  <a:txBody>
                    <a:bodyPr/>
                    <a:lstStyle/>
                    <a:p>
                      <a:pPr>
                        <a:lnSpc>
                          <a:spcPct val="107000"/>
                        </a:lnSpc>
                        <a:spcBef>
                          <a:spcPts val="200"/>
                        </a:spcBef>
                        <a:spcAft>
                          <a:spcPts val="200"/>
                        </a:spcAft>
                      </a:pPr>
                      <a:r>
                        <a:rPr lang="en-GB" sz="900" b="0" dirty="0">
                          <a:effectLst/>
                          <a:latin typeface="Montserrat" panose="00000500000000000000" pitchFamily="2" charset="0"/>
                        </a:rPr>
                        <a:t>Maintain medical records, by employee name,  in a secure system for a minimum period of 40 years</a:t>
                      </a:r>
                      <a:endParaRPr lang="en-GB" sz="1050" b="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I</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A</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dirty="0">
                          <a:effectLst/>
                          <a:latin typeface="Montserrat" panose="00000500000000000000" pitchFamily="2" charset="0"/>
                        </a:rPr>
                        <a:t> </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latin typeface="Montserrat" panose="00000500000000000000" pitchFamily="2" charset="0"/>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a:effectLst/>
                          <a:latin typeface="Montserrat" panose="00000500000000000000" pitchFamily="2" charset="0"/>
                        </a:rPr>
                        <a:t>R</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900" dirty="0">
                          <a:effectLst/>
                          <a:latin typeface="Montserrat" panose="00000500000000000000" pitchFamily="2" charset="0"/>
                        </a:rPr>
                        <a:t>S</a:t>
                      </a:r>
                      <a:endParaRPr lang="en-GB" sz="1050"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tc>
                  <a:txBody>
                    <a:bodyPr/>
                    <a:lstStyle/>
                    <a:p>
                      <a:pPr algn="ctr">
                        <a:lnSpc>
                          <a:spcPct val="107000"/>
                        </a:lnSpc>
                        <a:spcBef>
                          <a:spcPts val="200"/>
                        </a:spcBef>
                        <a:spcAft>
                          <a:spcPts val="200"/>
                        </a:spcAft>
                      </a:pPr>
                      <a:r>
                        <a:rPr lang="en-GB" sz="1000">
                          <a:effectLst/>
                        </a:rPr>
                        <a:t> </a:t>
                      </a:r>
                      <a:endParaRPr lang="en-GB" sz="105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nchor="ctr"/>
                </a:tc>
                <a:extLst>
                  <a:ext uri="{0D108BD9-81ED-4DB2-BD59-A6C34878D82A}">
                    <a16:rowId xmlns:a16="http://schemas.microsoft.com/office/drawing/2014/main" val="3560683077"/>
                  </a:ext>
                </a:extLst>
              </a:tr>
              <a:tr h="272338">
                <a:tc gridSpan="11">
                  <a:txBody>
                    <a:bodyPr/>
                    <a:lstStyle/>
                    <a:p>
                      <a:pPr>
                        <a:lnSpc>
                          <a:spcPct val="107000"/>
                        </a:lnSpc>
                        <a:spcBef>
                          <a:spcPts val="200"/>
                        </a:spcBef>
                        <a:spcAft>
                          <a:spcPts val="200"/>
                        </a:spcAft>
                      </a:pPr>
                      <a:r>
                        <a:rPr lang="en-GB" sz="700" b="0" i="1" dirty="0">
                          <a:effectLst/>
                          <a:latin typeface="Montserrat" panose="00000500000000000000" pitchFamily="2" charset="0"/>
                        </a:rPr>
                        <a:t>* Individuals / similar exposure group Trades identified by a risk assessment as being exposed to significant levels of vibration  (i.e. scoring more than 100 points per day / 2.5 ms-2)</a:t>
                      </a:r>
                      <a:endParaRPr lang="en-GB" sz="1050" b="0" i="1" dirty="0">
                        <a:effectLst/>
                        <a:latin typeface="Montserrat" panose="00000500000000000000" pitchFamily="2" charset="0"/>
                        <a:ea typeface="Calibri" panose="020F0502020204030204" pitchFamily="34" charset="0"/>
                        <a:cs typeface="Times New Roman" panose="02020603050405020304" pitchFamily="18" charset="0"/>
                      </a:endParaRPr>
                    </a:p>
                  </a:txBody>
                  <a:tcPr marL="62699" marR="62699" marT="0" marB="0"/>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686380810"/>
                  </a:ext>
                </a:extLst>
              </a:tr>
            </a:tbl>
          </a:graphicData>
        </a:graphic>
      </p:graphicFrame>
    </p:spTree>
    <p:extLst>
      <p:ext uri="{BB962C8B-B14F-4D97-AF65-F5344CB8AC3E}">
        <p14:creationId xmlns:p14="http://schemas.microsoft.com/office/powerpoint/2010/main" val="425919534"/>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AADBE28-32DD-4E65-975C-58F3281613C2}"/>
              </a:ext>
            </a:extLst>
          </p:cNvPr>
          <p:cNvSpPr txBox="1">
            <a:spLocks/>
          </p:cNvSpPr>
          <p:nvPr/>
        </p:nvSpPr>
        <p:spPr>
          <a:xfrm>
            <a:off x="327483" y="856270"/>
            <a:ext cx="7684003" cy="3391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r>
              <a:rPr lang="en-GB" sz="2000" b="1" dirty="0">
                <a:solidFill>
                  <a:srgbClr val="FF3300"/>
                </a:solidFill>
                <a:latin typeface="Montserrat Light" panose="00000400000000000000" pitchFamily="2" charset="0"/>
              </a:rPr>
              <a:t>FC-EU-EHS-HEA-0801-1</a:t>
            </a:r>
            <a:r>
              <a:rPr lang="en-US" sz="2000" b="1" dirty="0">
                <a:solidFill>
                  <a:srgbClr val="FF3300"/>
                </a:solidFill>
                <a:latin typeface="Montserrat Light" panose="00000400000000000000" pitchFamily="2" charset="0"/>
              </a:rPr>
              <a:t>: Management of Vibration Exposure</a:t>
            </a:r>
          </a:p>
          <a:p>
            <a:endParaRPr lang="en-US" sz="2000" b="1" dirty="0">
              <a:solidFill>
                <a:srgbClr val="FF3300"/>
              </a:solidFill>
              <a:latin typeface="Montserrat Light" panose="00000400000000000000" pitchFamily="2" charset="0"/>
            </a:endParaRPr>
          </a:p>
          <a:p>
            <a:r>
              <a:rPr lang="en-US" sz="2800" b="1" dirty="0">
                <a:solidFill>
                  <a:schemeClr val="accent2"/>
                </a:solidFill>
                <a:latin typeface="Montserrat Light" panose="00000400000000000000" pitchFamily="2" charset="0"/>
              </a:rPr>
              <a:t>The Basics What you need to do:</a:t>
            </a:r>
          </a:p>
          <a:p>
            <a:endParaRPr lang="en-US" sz="2000" b="1" dirty="0">
              <a:solidFill>
                <a:srgbClr val="FF3300"/>
              </a:solidFill>
              <a:latin typeface="Montserrat Light" panose="00000400000000000000" pitchFamily="2" charset="0"/>
            </a:endParaRPr>
          </a:p>
        </p:txBody>
      </p:sp>
      <p:pic>
        <p:nvPicPr>
          <p:cNvPr id="10" name="Picture 9">
            <a:extLst>
              <a:ext uri="{FF2B5EF4-FFF2-40B4-BE49-F238E27FC236}">
                <a16:creationId xmlns:a16="http://schemas.microsoft.com/office/drawing/2014/main" id="{3814A4BE-64E2-451A-94E5-DB89CFF43FB7}"/>
              </a:ext>
            </a:extLst>
          </p:cNvPr>
          <p:cNvPicPr>
            <a:picLocks noChangeAspect="1"/>
          </p:cNvPicPr>
          <p:nvPr/>
        </p:nvPicPr>
        <p:blipFill>
          <a:blip r:embed="rId2"/>
          <a:stretch>
            <a:fillRect/>
          </a:stretch>
        </p:blipFill>
        <p:spPr>
          <a:xfrm>
            <a:off x="595932" y="2314484"/>
            <a:ext cx="2717408" cy="3838339"/>
          </a:xfrm>
          <a:prstGeom prst="rect">
            <a:avLst/>
          </a:prstGeom>
        </p:spPr>
      </p:pic>
      <p:sp>
        <p:nvSpPr>
          <p:cNvPr id="2" name="TextBox 1">
            <a:extLst>
              <a:ext uri="{FF2B5EF4-FFF2-40B4-BE49-F238E27FC236}">
                <a16:creationId xmlns:a16="http://schemas.microsoft.com/office/drawing/2014/main" id="{8278CC56-E128-4397-BF20-BBE99F1F1A64}"/>
              </a:ext>
            </a:extLst>
          </p:cNvPr>
          <p:cNvSpPr txBox="1"/>
          <p:nvPr/>
        </p:nvSpPr>
        <p:spPr>
          <a:xfrm>
            <a:off x="3666145" y="2459504"/>
            <a:ext cx="7801605" cy="3693319"/>
          </a:xfrm>
          <a:prstGeom prst="rect">
            <a:avLst/>
          </a:prstGeom>
          <a:noFill/>
        </p:spPr>
        <p:txBody>
          <a:bodyPr wrap="square" lIns="0" tIns="0" rIns="0" bIns="0" rtlCol="0">
            <a:spAutoFit/>
          </a:bodyPr>
          <a:lstStyle/>
          <a:p>
            <a:pPr marL="342900" indent="-342900">
              <a:buFont typeface="+mj-lt"/>
              <a:buAutoNum type="arabicPeriod"/>
            </a:pPr>
            <a:r>
              <a:rPr lang="en-US" sz="2400" b="1" dirty="0">
                <a:solidFill>
                  <a:schemeClr val="accent2"/>
                </a:solidFill>
                <a:latin typeface="Montserrat Light" panose="00000400000000000000" pitchFamily="2" charset="0"/>
              </a:rPr>
              <a:t>The Implementation plan &amp; where to find the procedure.</a:t>
            </a:r>
          </a:p>
          <a:p>
            <a:pPr marL="342900" indent="-342900">
              <a:buFont typeface="+mj-lt"/>
              <a:buAutoNum type="arabicPeriod"/>
            </a:pPr>
            <a:r>
              <a:rPr lang="en-US" sz="2400" b="1" dirty="0">
                <a:solidFill>
                  <a:schemeClr val="accent2"/>
                </a:solidFill>
                <a:latin typeface="Montserrat Light" panose="00000400000000000000" pitchFamily="2" charset="0"/>
              </a:rPr>
              <a:t>Conducting  HAVS training &amp; Health surveillance</a:t>
            </a:r>
          </a:p>
          <a:p>
            <a:pPr marL="342900" indent="-342900">
              <a:buFont typeface="+mj-lt"/>
              <a:buAutoNum type="arabicPeriod"/>
            </a:pPr>
            <a:r>
              <a:rPr lang="en-US" sz="2400" b="1" dirty="0">
                <a:solidFill>
                  <a:schemeClr val="accent2"/>
                </a:solidFill>
                <a:latin typeface="Montserrat Light" panose="00000400000000000000" pitchFamily="2" charset="0"/>
              </a:rPr>
              <a:t>How to read the tool tags.</a:t>
            </a:r>
          </a:p>
          <a:p>
            <a:pPr marL="342900" indent="-342900">
              <a:buFont typeface="+mj-lt"/>
              <a:buAutoNum type="arabicPeriod"/>
            </a:pPr>
            <a:r>
              <a:rPr lang="en-US" sz="2400" b="1" dirty="0">
                <a:solidFill>
                  <a:schemeClr val="accent2"/>
                </a:solidFill>
                <a:latin typeface="Montserrat Light" panose="00000400000000000000" pitchFamily="2" charset="0"/>
              </a:rPr>
              <a:t>How to fill in a HAVS booklet.</a:t>
            </a:r>
          </a:p>
          <a:p>
            <a:pPr marL="342900" indent="-342900">
              <a:buFont typeface="+mj-lt"/>
              <a:buAutoNum type="arabicPeriod"/>
            </a:pPr>
            <a:r>
              <a:rPr lang="en-US" sz="2400" b="1" dirty="0">
                <a:solidFill>
                  <a:schemeClr val="accent2"/>
                </a:solidFill>
                <a:latin typeface="Montserrat Light" panose="00000400000000000000" pitchFamily="2" charset="0"/>
              </a:rPr>
              <a:t>How to protect yourself from the risks associated with vibration.</a:t>
            </a:r>
          </a:p>
          <a:p>
            <a:pPr marL="342900" indent="-342900">
              <a:buFont typeface="+mj-lt"/>
              <a:buAutoNum type="arabicPeriod"/>
            </a:pPr>
            <a:r>
              <a:rPr lang="en-US" sz="2400" b="1" dirty="0">
                <a:solidFill>
                  <a:schemeClr val="accent2"/>
                </a:solidFill>
                <a:latin typeface="Montserrat Light" panose="00000400000000000000" pitchFamily="2" charset="0"/>
              </a:rPr>
              <a:t>TRA – Vibration Management.</a:t>
            </a:r>
          </a:p>
          <a:p>
            <a:pPr marL="342900" indent="-342900">
              <a:buFont typeface="+mj-lt"/>
              <a:buAutoNum type="arabicPeriod"/>
            </a:pPr>
            <a:r>
              <a:rPr lang="en-US" sz="2400" b="1" dirty="0">
                <a:solidFill>
                  <a:schemeClr val="accent2"/>
                </a:solidFill>
                <a:latin typeface="Montserrat Light" panose="00000400000000000000" pitchFamily="2" charset="0"/>
              </a:rPr>
              <a:t>Hand-Arm Vibration Risk Assessment.</a:t>
            </a:r>
          </a:p>
          <a:p>
            <a:endParaRPr lang="en-US" sz="2400" b="1" dirty="0">
              <a:solidFill>
                <a:schemeClr val="accent2"/>
              </a:solidFill>
              <a:latin typeface="Montserrat Light" panose="00000400000000000000" pitchFamily="2" charset="0"/>
            </a:endParaRPr>
          </a:p>
        </p:txBody>
      </p:sp>
      <p:sp>
        <p:nvSpPr>
          <p:cNvPr id="8" name="TextBox 7">
            <a:extLst>
              <a:ext uri="{FF2B5EF4-FFF2-40B4-BE49-F238E27FC236}">
                <a16:creationId xmlns:a16="http://schemas.microsoft.com/office/drawing/2014/main" id="{0A7E93B5-1B48-4E88-8D96-B24EC5498FA2}"/>
              </a:ext>
            </a:extLst>
          </p:cNvPr>
          <p:cNvSpPr txBox="1"/>
          <p:nvPr/>
        </p:nvSpPr>
        <p:spPr>
          <a:xfrm>
            <a:off x="11205213" y="6645160"/>
            <a:ext cx="755015" cy="153888"/>
          </a:xfrm>
          <a:prstGeom prst="rect">
            <a:avLst/>
          </a:prstGeom>
          <a:noFill/>
        </p:spPr>
        <p:txBody>
          <a:bodyPr wrap="none" lIns="0" tIns="0" rIns="0" bIns="0" rtlCol="0">
            <a:spAutoFit/>
          </a:bodyPr>
          <a:lstStyle/>
          <a:p>
            <a:r>
              <a:rPr lang="en-US" sz="1000" dirty="0">
                <a:solidFill>
                  <a:schemeClr val="accent2"/>
                </a:solidFill>
                <a:latin typeface="Montserrat Light" panose="00000400000000000000" pitchFamily="2" charset="0"/>
              </a:rPr>
              <a:t>v1/Dec 2020</a:t>
            </a:r>
          </a:p>
        </p:txBody>
      </p:sp>
    </p:spTree>
    <p:extLst>
      <p:ext uri="{BB962C8B-B14F-4D97-AF65-F5344CB8AC3E}">
        <p14:creationId xmlns:p14="http://schemas.microsoft.com/office/powerpoint/2010/main" val="295112000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AADBE28-32DD-4E65-975C-58F3281613C2}"/>
              </a:ext>
            </a:extLst>
          </p:cNvPr>
          <p:cNvSpPr txBox="1">
            <a:spLocks/>
          </p:cNvSpPr>
          <p:nvPr/>
        </p:nvSpPr>
        <p:spPr>
          <a:xfrm>
            <a:off x="327483" y="856270"/>
            <a:ext cx="7944062" cy="3391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r>
              <a:rPr lang="en-GB" sz="2000" b="1" dirty="0">
                <a:solidFill>
                  <a:srgbClr val="FF3300"/>
                </a:solidFill>
                <a:latin typeface="Montserrat Light" panose="00000400000000000000" pitchFamily="2" charset="0"/>
              </a:rPr>
              <a:t>FC-EU-EHS-HEA-0801-1</a:t>
            </a:r>
            <a:r>
              <a:rPr lang="en-US" sz="2000" b="1" dirty="0">
                <a:solidFill>
                  <a:srgbClr val="FF3300"/>
                </a:solidFill>
                <a:latin typeface="Montserrat Light" panose="00000400000000000000" pitchFamily="2" charset="0"/>
              </a:rPr>
              <a:t>: Management of Vibration Exposure</a:t>
            </a:r>
          </a:p>
          <a:p>
            <a:endParaRPr lang="en-US" sz="2000" b="1" dirty="0">
              <a:solidFill>
                <a:srgbClr val="FF3300"/>
              </a:solidFill>
              <a:latin typeface="Montserrat Light" panose="00000400000000000000" pitchFamily="2" charset="0"/>
            </a:endParaRPr>
          </a:p>
          <a:p>
            <a:r>
              <a:rPr lang="en-US" sz="2000" b="1" dirty="0">
                <a:solidFill>
                  <a:schemeClr val="accent2"/>
                </a:solidFill>
                <a:latin typeface="Montserrat Light" panose="00000400000000000000" pitchFamily="2" charset="0"/>
              </a:rPr>
              <a:t>1. The Implementation plan &amp; where to find the procedure:</a:t>
            </a:r>
            <a:endParaRPr lang="en-US" sz="2000" b="1" dirty="0">
              <a:solidFill>
                <a:srgbClr val="FF3300"/>
              </a:solidFill>
              <a:latin typeface="Montserrat Light" panose="00000400000000000000" pitchFamily="2" charset="0"/>
            </a:endParaRPr>
          </a:p>
        </p:txBody>
      </p:sp>
      <p:pic>
        <p:nvPicPr>
          <p:cNvPr id="10" name="Picture 9">
            <a:extLst>
              <a:ext uri="{FF2B5EF4-FFF2-40B4-BE49-F238E27FC236}">
                <a16:creationId xmlns:a16="http://schemas.microsoft.com/office/drawing/2014/main" id="{3814A4BE-64E2-451A-94E5-DB89CFF43FB7}"/>
              </a:ext>
            </a:extLst>
          </p:cNvPr>
          <p:cNvPicPr>
            <a:picLocks noChangeAspect="1"/>
          </p:cNvPicPr>
          <p:nvPr/>
        </p:nvPicPr>
        <p:blipFill>
          <a:blip r:embed="rId2"/>
          <a:stretch>
            <a:fillRect/>
          </a:stretch>
        </p:blipFill>
        <p:spPr>
          <a:xfrm>
            <a:off x="210038" y="1933643"/>
            <a:ext cx="2717408" cy="3838339"/>
          </a:xfrm>
          <a:prstGeom prst="rect">
            <a:avLst/>
          </a:prstGeom>
        </p:spPr>
      </p:pic>
      <p:sp>
        <p:nvSpPr>
          <p:cNvPr id="2" name="TextBox 1">
            <a:extLst>
              <a:ext uri="{FF2B5EF4-FFF2-40B4-BE49-F238E27FC236}">
                <a16:creationId xmlns:a16="http://schemas.microsoft.com/office/drawing/2014/main" id="{1A39A3A4-FF14-49C0-829E-3A9EA79A20E5}"/>
              </a:ext>
            </a:extLst>
          </p:cNvPr>
          <p:cNvSpPr txBox="1"/>
          <p:nvPr/>
        </p:nvSpPr>
        <p:spPr>
          <a:xfrm>
            <a:off x="2927446" y="2284208"/>
            <a:ext cx="8773817" cy="2585323"/>
          </a:xfrm>
          <a:prstGeom prst="rect">
            <a:avLst/>
          </a:prstGeom>
          <a:noFill/>
        </p:spPr>
        <p:txBody>
          <a:bodyPr wrap="square" lIns="0" tIns="0" rIns="0" bIns="0" rtlCol="0">
            <a:spAutoFit/>
          </a:bodyPr>
          <a:lstStyle/>
          <a:p>
            <a:r>
              <a:rPr lang="en-GB" sz="2400" b="1" dirty="0">
                <a:solidFill>
                  <a:schemeClr val="accent2"/>
                </a:solidFill>
                <a:latin typeface="Montserrat Light" panose="00000400000000000000" pitchFamily="2" charset="0"/>
              </a:rPr>
              <a:t>Procedure location</a:t>
            </a:r>
          </a:p>
          <a:p>
            <a:r>
              <a:rPr lang="en-GB" sz="2400" dirty="0">
                <a:latin typeface="Montserrat Light" panose="00000400000000000000" pitchFamily="2" charset="0"/>
              </a:rPr>
              <a:t>	EHS SharePoint </a:t>
            </a:r>
          </a:p>
          <a:p>
            <a:r>
              <a:rPr lang="en-GB" sz="2400" dirty="0">
                <a:latin typeface="Montserrat Light" panose="00000400000000000000" pitchFamily="2" charset="0"/>
              </a:rPr>
              <a:t>		&gt;&gt; EHS Procedures </a:t>
            </a:r>
          </a:p>
          <a:p>
            <a:r>
              <a:rPr lang="en-GB" sz="2400" dirty="0">
                <a:latin typeface="Montserrat Light" panose="00000400000000000000" pitchFamily="2" charset="0"/>
              </a:rPr>
              <a:t>			&gt;&gt; 0801 – Industrial Hygiene</a:t>
            </a:r>
          </a:p>
          <a:p>
            <a:r>
              <a:rPr lang="en-GB" sz="2400" dirty="0">
                <a:latin typeface="Montserrat Light" panose="00000400000000000000" pitchFamily="2" charset="0"/>
              </a:rPr>
              <a:t>				&gt;&gt; Regional Procedures </a:t>
            </a:r>
          </a:p>
          <a:p>
            <a:r>
              <a:rPr lang="en-GB" sz="2400" dirty="0">
                <a:latin typeface="Montserrat Light" panose="00000400000000000000" pitchFamily="2" charset="0"/>
              </a:rPr>
              <a:t>					&gt;&gt; 0801-1 Europe HAVS Procedure </a:t>
            </a:r>
          </a:p>
          <a:p>
            <a:r>
              <a:rPr lang="en-GB" sz="2400" dirty="0">
                <a:latin typeface="Montserrat Light" panose="00000400000000000000" pitchFamily="2" charset="0"/>
              </a:rPr>
              <a:t>						&gt;&gt; Management of Vibration  Exposure </a:t>
            </a:r>
          </a:p>
        </p:txBody>
      </p:sp>
      <p:sp>
        <p:nvSpPr>
          <p:cNvPr id="3" name="Speech Bubble: Rectangle with Corners Rounded 2">
            <a:extLst>
              <a:ext uri="{FF2B5EF4-FFF2-40B4-BE49-F238E27FC236}">
                <a16:creationId xmlns:a16="http://schemas.microsoft.com/office/drawing/2014/main" id="{C637A599-1C0F-42A7-A597-A9393CB15370}"/>
              </a:ext>
            </a:extLst>
          </p:cNvPr>
          <p:cNvSpPr/>
          <p:nvPr/>
        </p:nvSpPr>
        <p:spPr>
          <a:xfrm>
            <a:off x="4079793" y="5287170"/>
            <a:ext cx="4342753" cy="666943"/>
          </a:xfrm>
          <a:prstGeom prst="wedgeRoundRectCallout">
            <a:avLst>
              <a:gd name="adj1" fmla="val -94548"/>
              <a:gd name="adj2" fmla="val -283904"/>
              <a:gd name="adj3" fmla="val 16667"/>
            </a:avLst>
          </a:prstGeom>
          <a:ln w="38100"/>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r>
              <a:rPr lang="en-GB" sz="2400" dirty="0">
                <a:solidFill>
                  <a:schemeClr val="accent2"/>
                </a:solidFill>
                <a:latin typeface="Montserrat" panose="00000500000000000000" pitchFamily="2" charset="0"/>
                <a:ea typeface="Arial" charset="0"/>
              </a:rPr>
              <a:t>Link to Procedure </a:t>
            </a:r>
            <a:r>
              <a:rPr lang="en-GB" sz="2400" dirty="0">
                <a:solidFill>
                  <a:schemeClr val="accent2"/>
                </a:solidFill>
                <a:latin typeface="Montserrat" panose="00000500000000000000" pitchFamily="2" charset="0"/>
                <a:ea typeface="Arial" charset="0"/>
                <a:hlinkClick r:id="rId3"/>
              </a:rPr>
              <a:t>here</a:t>
            </a:r>
            <a:r>
              <a:rPr lang="en-GB" sz="2400" dirty="0">
                <a:solidFill>
                  <a:schemeClr val="accent2"/>
                </a:solidFill>
                <a:latin typeface="Montserrat" panose="00000500000000000000" pitchFamily="2" charset="0"/>
                <a:ea typeface="Arial" charset="0"/>
              </a:rPr>
              <a:t> </a:t>
            </a:r>
          </a:p>
        </p:txBody>
      </p:sp>
      <p:sp>
        <p:nvSpPr>
          <p:cNvPr id="8" name="TextBox 7">
            <a:extLst>
              <a:ext uri="{FF2B5EF4-FFF2-40B4-BE49-F238E27FC236}">
                <a16:creationId xmlns:a16="http://schemas.microsoft.com/office/drawing/2014/main" id="{81C2DAF7-0AE4-419D-8A95-48A75D562DA1}"/>
              </a:ext>
            </a:extLst>
          </p:cNvPr>
          <p:cNvSpPr txBox="1"/>
          <p:nvPr/>
        </p:nvSpPr>
        <p:spPr>
          <a:xfrm>
            <a:off x="11205213" y="6645160"/>
            <a:ext cx="755015" cy="153888"/>
          </a:xfrm>
          <a:prstGeom prst="rect">
            <a:avLst/>
          </a:prstGeom>
          <a:noFill/>
        </p:spPr>
        <p:txBody>
          <a:bodyPr wrap="none" lIns="0" tIns="0" rIns="0" bIns="0" rtlCol="0">
            <a:spAutoFit/>
          </a:bodyPr>
          <a:lstStyle/>
          <a:p>
            <a:r>
              <a:rPr lang="en-US" sz="1000" dirty="0">
                <a:solidFill>
                  <a:schemeClr val="accent2"/>
                </a:solidFill>
                <a:latin typeface="Montserrat Light" panose="00000400000000000000" pitchFamily="2" charset="0"/>
              </a:rPr>
              <a:t>v1/Dec 2020</a:t>
            </a:r>
          </a:p>
        </p:txBody>
      </p:sp>
    </p:spTree>
    <p:extLst>
      <p:ext uri="{BB962C8B-B14F-4D97-AF65-F5344CB8AC3E}">
        <p14:creationId xmlns:p14="http://schemas.microsoft.com/office/powerpoint/2010/main" val="109085554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AADBE28-32DD-4E65-975C-58F3281613C2}"/>
              </a:ext>
            </a:extLst>
          </p:cNvPr>
          <p:cNvSpPr txBox="1">
            <a:spLocks/>
          </p:cNvSpPr>
          <p:nvPr/>
        </p:nvSpPr>
        <p:spPr>
          <a:xfrm>
            <a:off x="327483" y="856270"/>
            <a:ext cx="7944062" cy="3391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r>
              <a:rPr lang="en-GB" sz="2000" b="1" dirty="0">
                <a:solidFill>
                  <a:srgbClr val="FF3300"/>
                </a:solidFill>
                <a:latin typeface="Montserrat Light" panose="00000400000000000000" pitchFamily="2" charset="0"/>
              </a:rPr>
              <a:t>FC-EU-EHS-HEA-0801-1</a:t>
            </a:r>
            <a:r>
              <a:rPr lang="en-US" sz="2000" b="1" dirty="0">
                <a:solidFill>
                  <a:srgbClr val="FF3300"/>
                </a:solidFill>
                <a:latin typeface="Montserrat Light" panose="00000400000000000000" pitchFamily="2" charset="0"/>
              </a:rPr>
              <a:t>: Management of Vibration Exposure</a:t>
            </a:r>
          </a:p>
          <a:p>
            <a:endParaRPr lang="en-US" sz="2000" b="1" dirty="0">
              <a:solidFill>
                <a:srgbClr val="FF3300"/>
              </a:solidFill>
              <a:latin typeface="Montserrat Light" panose="00000400000000000000" pitchFamily="2" charset="0"/>
            </a:endParaRPr>
          </a:p>
          <a:p>
            <a:r>
              <a:rPr lang="en-US" sz="2000" b="1" dirty="0">
                <a:solidFill>
                  <a:schemeClr val="accent2"/>
                </a:solidFill>
                <a:latin typeface="Montserrat Light" panose="00000400000000000000" pitchFamily="2" charset="0"/>
              </a:rPr>
              <a:t>2. Conducting HAVS training &amp; Health surveillance</a:t>
            </a:r>
          </a:p>
        </p:txBody>
      </p:sp>
      <p:pic>
        <p:nvPicPr>
          <p:cNvPr id="10" name="Picture 9">
            <a:extLst>
              <a:ext uri="{FF2B5EF4-FFF2-40B4-BE49-F238E27FC236}">
                <a16:creationId xmlns:a16="http://schemas.microsoft.com/office/drawing/2014/main" id="{3814A4BE-64E2-451A-94E5-DB89CFF43FB7}"/>
              </a:ext>
            </a:extLst>
          </p:cNvPr>
          <p:cNvPicPr>
            <a:picLocks noChangeAspect="1"/>
          </p:cNvPicPr>
          <p:nvPr/>
        </p:nvPicPr>
        <p:blipFill>
          <a:blip r:embed="rId2"/>
          <a:stretch>
            <a:fillRect/>
          </a:stretch>
        </p:blipFill>
        <p:spPr>
          <a:xfrm>
            <a:off x="210038" y="1933643"/>
            <a:ext cx="2717408" cy="3838339"/>
          </a:xfrm>
          <a:prstGeom prst="rect">
            <a:avLst/>
          </a:prstGeom>
        </p:spPr>
      </p:pic>
      <p:sp>
        <p:nvSpPr>
          <p:cNvPr id="2" name="Rectangle 1">
            <a:extLst>
              <a:ext uri="{FF2B5EF4-FFF2-40B4-BE49-F238E27FC236}">
                <a16:creationId xmlns:a16="http://schemas.microsoft.com/office/drawing/2014/main" id="{F04C3A58-5F62-4F55-A398-C0D952699F71}"/>
              </a:ext>
            </a:extLst>
          </p:cNvPr>
          <p:cNvSpPr/>
          <p:nvPr/>
        </p:nvSpPr>
        <p:spPr>
          <a:xfrm>
            <a:off x="3048000" y="3852812"/>
            <a:ext cx="6096000" cy="1661993"/>
          </a:xfrm>
          <a:prstGeom prst="rect">
            <a:avLst/>
          </a:prstGeom>
        </p:spPr>
        <p:txBody>
          <a:bodyPr>
            <a:spAutoFit/>
          </a:bodyPr>
          <a:lstStyle/>
          <a:p>
            <a:pPr lvl="0" defTabSz="914400" eaLnBrk="0" fontAlgn="base" hangingPunct="0">
              <a:spcBef>
                <a:spcPct val="0"/>
              </a:spcBef>
              <a:spcAft>
                <a:spcPct val="0"/>
              </a:spcAft>
              <a:buFontTx/>
              <a:buChar char="•"/>
            </a:pPr>
            <a:endParaRPr lang="en-GB" altLang="en-US" dirty="0">
              <a:latin typeface="Montserrat" panose="00000500000000000000" pitchFamily="2" charset="0"/>
              <a:ea typeface="Times New Roman" panose="02020603050405020304" pitchFamily="18" charset="0"/>
              <a:cs typeface="Arial" panose="020B0604020202020204" pitchFamily="34" charset="0"/>
            </a:endParaRPr>
          </a:p>
          <a:p>
            <a:pPr lvl="0" defTabSz="914400" eaLnBrk="0" fontAlgn="base" hangingPunct="0">
              <a:spcBef>
                <a:spcPct val="0"/>
              </a:spcBef>
              <a:spcAft>
                <a:spcPct val="0"/>
              </a:spcAft>
            </a:pPr>
            <a:r>
              <a:rPr lang="en-GB" altLang="en-US" sz="1400" b="1" dirty="0">
                <a:solidFill>
                  <a:srgbClr val="002060"/>
                </a:solidFill>
                <a:latin typeface="Montserrat" panose="00000500000000000000" pitchFamily="2" charset="0"/>
                <a:ea typeface="Times New Roman" panose="02020603050405020304" pitchFamily="18" charset="0"/>
                <a:cs typeface="Arial" panose="020B0604020202020204" pitchFamily="34" charset="0"/>
              </a:rPr>
              <a:t>Health Surveillance – Why so important?</a:t>
            </a:r>
          </a:p>
          <a:p>
            <a:pPr lvl="0" defTabSz="914400" eaLnBrk="0" fontAlgn="base" hangingPunct="0">
              <a:spcBef>
                <a:spcPct val="0"/>
              </a:spcBef>
              <a:spcAft>
                <a:spcPct val="0"/>
              </a:spcAft>
            </a:pPr>
            <a:endParaRPr lang="en-GB" altLang="en-US" sz="1400" b="1" dirty="0">
              <a:solidFill>
                <a:srgbClr val="002060"/>
              </a:solidFill>
              <a:latin typeface="Montserrat" panose="00000500000000000000" pitchFamily="2" charset="0"/>
              <a:ea typeface="Times New Roman" panose="02020603050405020304" pitchFamily="18" charset="0"/>
              <a:cs typeface="Arial" panose="020B0604020202020204" pitchFamily="34" charset="0"/>
            </a:endParaRPr>
          </a:p>
          <a:p>
            <a:pPr lvl="0" defTabSz="914400" eaLnBrk="0" fontAlgn="base" hangingPunct="0">
              <a:spcBef>
                <a:spcPct val="0"/>
              </a:spcBef>
              <a:spcAft>
                <a:spcPct val="0"/>
              </a:spcAft>
              <a:buFontTx/>
              <a:buChar char="•"/>
            </a:pPr>
            <a:r>
              <a:rPr lang="en-GB" altLang="en-US" sz="1400" dirty="0">
                <a:solidFill>
                  <a:srgbClr val="002060"/>
                </a:solidFill>
                <a:latin typeface="Montserrat" panose="00000500000000000000" pitchFamily="2" charset="0"/>
              </a:rPr>
              <a:t>Prevention of Ill health</a:t>
            </a:r>
          </a:p>
          <a:p>
            <a:pPr lvl="0" defTabSz="914400" eaLnBrk="0" fontAlgn="base" hangingPunct="0">
              <a:spcBef>
                <a:spcPct val="0"/>
              </a:spcBef>
              <a:spcAft>
                <a:spcPct val="0"/>
              </a:spcAft>
              <a:buFontTx/>
              <a:buChar char="•"/>
            </a:pPr>
            <a:r>
              <a:rPr lang="en-GB" altLang="en-US" sz="1400" dirty="0">
                <a:solidFill>
                  <a:srgbClr val="002060"/>
                </a:solidFill>
                <a:latin typeface="Montserrat" panose="00000500000000000000" pitchFamily="2" charset="0"/>
              </a:rPr>
              <a:t>Improve workplace control measures</a:t>
            </a:r>
          </a:p>
          <a:p>
            <a:pPr lvl="0" defTabSz="914400" eaLnBrk="0" fontAlgn="base" hangingPunct="0">
              <a:spcBef>
                <a:spcPct val="0"/>
              </a:spcBef>
              <a:spcAft>
                <a:spcPct val="0"/>
              </a:spcAft>
              <a:buFontTx/>
              <a:buChar char="•"/>
            </a:pPr>
            <a:r>
              <a:rPr lang="en-GB" altLang="en-US" sz="1400" dirty="0">
                <a:solidFill>
                  <a:srgbClr val="002060"/>
                </a:solidFill>
                <a:latin typeface="Montserrat" panose="00000500000000000000" pitchFamily="2" charset="0"/>
              </a:rPr>
              <a:t>Detect Ill health at early stages to prevent deterioration</a:t>
            </a:r>
          </a:p>
          <a:p>
            <a:pPr lvl="0" defTabSz="914400" eaLnBrk="0" fontAlgn="base" hangingPunct="0">
              <a:spcBef>
                <a:spcPct val="0"/>
              </a:spcBef>
              <a:spcAft>
                <a:spcPct val="0"/>
              </a:spcAft>
              <a:buFontTx/>
              <a:buChar char="•"/>
            </a:pPr>
            <a:r>
              <a:rPr lang="en-GB" altLang="en-US" sz="1400" dirty="0">
                <a:solidFill>
                  <a:srgbClr val="002060"/>
                </a:solidFill>
                <a:latin typeface="Montserrat" panose="00000500000000000000" pitchFamily="2" charset="0"/>
              </a:rPr>
              <a:t>Required by law when exposed to noise and vibration</a:t>
            </a:r>
          </a:p>
        </p:txBody>
      </p:sp>
      <p:pic>
        <p:nvPicPr>
          <p:cNvPr id="7" name="Picture 2" descr="Venn diagram of health surveillance">
            <a:extLst>
              <a:ext uri="{FF2B5EF4-FFF2-40B4-BE49-F238E27FC236}">
                <a16:creationId xmlns:a16="http://schemas.microsoft.com/office/drawing/2014/main" id="{DB51D369-D0BA-4D97-8233-9FFD7815F5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1323" y="1195413"/>
            <a:ext cx="4970677" cy="48834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77C6493-8C64-4748-8E61-77D11BD51A10}"/>
              </a:ext>
            </a:extLst>
          </p:cNvPr>
          <p:cNvSpPr txBox="1"/>
          <p:nvPr/>
        </p:nvSpPr>
        <p:spPr>
          <a:xfrm>
            <a:off x="3148888" y="1883723"/>
            <a:ext cx="4054170" cy="2000548"/>
          </a:xfrm>
          <a:prstGeom prst="rect">
            <a:avLst/>
          </a:prstGeom>
          <a:noFill/>
        </p:spPr>
        <p:txBody>
          <a:bodyPr wrap="square" lIns="0" tIns="0" rIns="0" bIns="0" rtlCol="0">
            <a:spAutoFit/>
          </a:bodyPr>
          <a:lstStyle/>
          <a:p>
            <a:r>
              <a:rPr lang="en-GB" sz="1400" b="1" dirty="0">
                <a:solidFill>
                  <a:schemeClr val="accent2"/>
                </a:solidFill>
                <a:latin typeface="Montserrat" panose="00000500000000000000" pitchFamily="2" charset="0"/>
              </a:rPr>
              <a:t>Training to consist of (but not limited to)</a:t>
            </a:r>
          </a:p>
          <a:p>
            <a:pPr marL="285750" indent="-285750">
              <a:buFont typeface="Arial" panose="020B0604020202020204" pitchFamily="34" charset="0"/>
              <a:buChar char="•"/>
            </a:pPr>
            <a:r>
              <a:rPr lang="en-GB" sz="1400" dirty="0">
                <a:solidFill>
                  <a:schemeClr val="accent2"/>
                </a:solidFill>
                <a:latin typeface="Montserrat" panose="00000500000000000000" pitchFamily="2" charset="0"/>
              </a:rPr>
              <a:t>Legal Requirements</a:t>
            </a:r>
          </a:p>
          <a:p>
            <a:pPr marL="285750" indent="-285750">
              <a:buFont typeface="Arial" panose="020B0604020202020204" pitchFamily="34" charset="0"/>
              <a:buChar char="•"/>
            </a:pPr>
            <a:r>
              <a:rPr lang="en-GB" sz="1400" dirty="0">
                <a:solidFill>
                  <a:schemeClr val="accent2"/>
                </a:solidFill>
                <a:latin typeface="Montserrat" panose="00000500000000000000" pitchFamily="2" charset="0"/>
              </a:rPr>
              <a:t>Theory of Vibration</a:t>
            </a:r>
          </a:p>
          <a:p>
            <a:pPr marL="285750" indent="-285750">
              <a:buFont typeface="Arial" panose="020B0604020202020204" pitchFamily="34" charset="0"/>
              <a:buChar char="•"/>
            </a:pPr>
            <a:r>
              <a:rPr lang="en-GB" sz="1400" dirty="0">
                <a:solidFill>
                  <a:schemeClr val="accent2"/>
                </a:solidFill>
                <a:latin typeface="Montserrat" panose="00000500000000000000" pitchFamily="2" charset="0"/>
              </a:rPr>
              <a:t>Effects on Health</a:t>
            </a:r>
          </a:p>
          <a:p>
            <a:pPr marL="285750" indent="-285750">
              <a:buFont typeface="Arial" panose="020B0604020202020204" pitchFamily="34" charset="0"/>
              <a:buChar char="•"/>
            </a:pPr>
            <a:r>
              <a:rPr lang="en-GB" sz="1400" dirty="0">
                <a:solidFill>
                  <a:schemeClr val="accent2"/>
                </a:solidFill>
                <a:latin typeface="Montserrat" panose="00000500000000000000" pitchFamily="2" charset="0"/>
              </a:rPr>
              <a:t>Determining Vibration Magnitude</a:t>
            </a:r>
          </a:p>
          <a:p>
            <a:pPr marL="285750" indent="-285750">
              <a:buFont typeface="Arial" panose="020B0604020202020204" pitchFamily="34" charset="0"/>
              <a:buChar char="•"/>
            </a:pPr>
            <a:r>
              <a:rPr lang="en-GB" sz="1400" dirty="0">
                <a:solidFill>
                  <a:schemeClr val="accent2"/>
                </a:solidFill>
                <a:latin typeface="Montserrat" panose="00000500000000000000" pitchFamily="2" charset="0"/>
              </a:rPr>
              <a:t>Determining Vibration exposures</a:t>
            </a:r>
          </a:p>
          <a:p>
            <a:pPr marL="285750" indent="-285750">
              <a:buFont typeface="Arial" panose="020B0604020202020204" pitchFamily="34" charset="0"/>
              <a:buChar char="•"/>
            </a:pPr>
            <a:r>
              <a:rPr lang="en-GB" sz="1400" dirty="0">
                <a:solidFill>
                  <a:schemeClr val="accent2"/>
                </a:solidFill>
                <a:latin typeface="Montserrat" panose="00000500000000000000" pitchFamily="2" charset="0"/>
              </a:rPr>
              <a:t>Control of Exposure</a:t>
            </a:r>
          </a:p>
          <a:p>
            <a:pPr marL="285750" indent="-285750">
              <a:buFont typeface="Arial" panose="020B0604020202020204" pitchFamily="34" charset="0"/>
              <a:buChar char="•"/>
            </a:pPr>
            <a:r>
              <a:rPr lang="en-GB" sz="1400" dirty="0">
                <a:solidFill>
                  <a:schemeClr val="accent2"/>
                </a:solidFill>
                <a:latin typeface="Montserrat" panose="00000500000000000000" pitchFamily="2" charset="0"/>
              </a:rPr>
              <a:t>Health Surveillance</a:t>
            </a:r>
          </a:p>
          <a:p>
            <a:endParaRPr lang="en-GB" dirty="0">
              <a:solidFill>
                <a:schemeClr val="accent2"/>
              </a:solidFill>
              <a:latin typeface="Montserrat" panose="00000500000000000000" pitchFamily="2" charset="0"/>
            </a:endParaRPr>
          </a:p>
        </p:txBody>
      </p:sp>
      <p:sp>
        <p:nvSpPr>
          <p:cNvPr id="8" name="TextBox 7">
            <a:extLst>
              <a:ext uri="{FF2B5EF4-FFF2-40B4-BE49-F238E27FC236}">
                <a16:creationId xmlns:a16="http://schemas.microsoft.com/office/drawing/2014/main" id="{25E175CE-07F4-42C6-AE1A-B2E89827C17E}"/>
              </a:ext>
            </a:extLst>
          </p:cNvPr>
          <p:cNvSpPr txBox="1"/>
          <p:nvPr/>
        </p:nvSpPr>
        <p:spPr>
          <a:xfrm>
            <a:off x="11205213" y="6645160"/>
            <a:ext cx="755015" cy="153888"/>
          </a:xfrm>
          <a:prstGeom prst="rect">
            <a:avLst/>
          </a:prstGeom>
          <a:noFill/>
        </p:spPr>
        <p:txBody>
          <a:bodyPr wrap="none" lIns="0" tIns="0" rIns="0" bIns="0" rtlCol="0">
            <a:spAutoFit/>
          </a:bodyPr>
          <a:lstStyle/>
          <a:p>
            <a:r>
              <a:rPr lang="en-US" sz="1000" dirty="0">
                <a:solidFill>
                  <a:schemeClr val="accent2"/>
                </a:solidFill>
                <a:latin typeface="Montserrat Light" panose="00000400000000000000" pitchFamily="2" charset="0"/>
              </a:rPr>
              <a:t>v1/Dec 2020</a:t>
            </a:r>
          </a:p>
        </p:txBody>
      </p:sp>
    </p:spTree>
    <p:extLst>
      <p:ext uri="{BB962C8B-B14F-4D97-AF65-F5344CB8AC3E}">
        <p14:creationId xmlns:p14="http://schemas.microsoft.com/office/powerpoint/2010/main" val="177997617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AADBE28-32DD-4E65-975C-58F3281613C2}"/>
              </a:ext>
            </a:extLst>
          </p:cNvPr>
          <p:cNvSpPr txBox="1">
            <a:spLocks/>
          </p:cNvSpPr>
          <p:nvPr/>
        </p:nvSpPr>
        <p:spPr>
          <a:xfrm>
            <a:off x="327483" y="856270"/>
            <a:ext cx="7944062" cy="3391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r>
              <a:rPr lang="en-GB" sz="2000" b="1" dirty="0">
                <a:solidFill>
                  <a:srgbClr val="FF3300"/>
                </a:solidFill>
                <a:latin typeface="Montserrat Light" panose="00000400000000000000" pitchFamily="2" charset="0"/>
              </a:rPr>
              <a:t>FC-EU-EHS-HEA-0801-1</a:t>
            </a:r>
            <a:r>
              <a:rPr lang="en-US" sz="2000" b="1" dirty="0">
                <a:solidFill>
                  <a:srgbClr val="FF3300"/>
                </a:solidFill>
                <a:latin typeface="Montserrat Light" panose="00000400000000000000" pitchFamily="2" charset="0"/>
              </a:rPr>
              <a:t>: Management of Vibration Exposure</a:t>
            </a:r>
          </a:p>
          <a:p>
            <a:endParaRPr lang="en-US" sz="2000" b="1" dirty="0">
              <a:solidFill>
                <a:srgbClr val="FF3300"/>
              </a:solidFill>
              <a:latin typeface="Montserrat Light" panose="00000400000000000000" pitchFamily="2" charset="0"/>
            </a:endParaRPr>
          </a:p>
          <a:p>
            <a:r>
              <a:rPr lang="en-US" sz="2000" b="1" dirty="0">
                <a:solidFill>
                  <a:schemeClr val="accent2"/>
                </a:solidFill>
                <a:latin typeface="Montserrat Light" panose="00000400000000000000" pitchFamily="2" charset="0"/>
              </a:rPr>
              <a:t>3. How to read the tool tags</a:t>
            </a:r>
          </a:p>
        </p:txBody>
      </p:sp>
      <p:sp>
        <p:nvSpPr>
          <p:cNvPr id="6" name="TextBox 5">
            <a:extLst>
              <a:ext uri="{FF2B5EF4-FFF2-40B4-BE49-F238E27FC236}">
                <a16:creationId xmlns:a16="http://schemas.microsoft.com/office/drawing/2014/main" id="{05ACEFB6-113C-497D-A490-F5078329A068}"/>
              </a:ext>
            </a:extLst>
          </p:cNvPr>
          <p:cNvSpPr txBox="1"/>
          <p:nvPr/>
        </p:nvSpPr>
        <p:spPr>
          <a:xfrm>
            <a:off x="11205213" y="6645160"/>
            <a:ext cx="755015" cy="153888"/>
          </a:xfrm>
          <a:prstGeom prst="rect">
            <a:avLst/>
          </a:prstGeom>
          <a:noFill/>
        </p:spPr>
        <p:txBody>
          <a:bodyPr wrap="none" lIns="0" tIns="0" rIns="0" bIns="0" rtlCol="0">
            <a:spAutoFit/>
          </a:bodyPr>
          <a:lstStyle/>
          <a:p>
            <a:r>
              <a:rPr lang="en-US" sz="1000" dirty="0">
                <a:solidFill>
                  <a:schemeClr val="accent2"/>
                </a:solidFill>
                <a:latin typeface="Montserrat Light" panose="00000400000000000000" pitchFamily="2" charset="0"/>
              </a:rPr>
              <a:t>v1/Dec 2020</a:t>
            </a:r>
          </a:p>
        </p:txBody>
      </p:sp>
      <p:pic>
        <p:nvPicPr>
          <p:cNvPr id="10" name="Picture 9">
            <a:extLst>
              <a:ext uri="{FF2B5EF4-FFF2-40B4-BE49-F238E27FC236}">
                <a16:creationId xmlns:a16="http://schemas.microsoft.com/office/drawing/2014/main" id="{3814A4BE-64E2-451A-94E5-DB89CFF43FB7}"/>
              </a:ext>
            </a:extLst>
          </p:cNvPr>
          <p:cNvPicPr>
            <a:picLocks noChangeAspect="1"/>
          </p:cNvPicPr>
          <p:nvPr/>
        </p:nvPicPr>
        <p:blipFill>
          <a:blip r:embed="rId2"/>
          <a:stretch>
            <a:fillRect/>
          </a:stretch>
        </p:blipFill>
        <p:spPr>
          <a:xfrm>
            <a:off x="428178" y="1734777"/>
            <a:ext cx="2717408" cy="3838339"/>
          </a:xfrm>
          <a:prstGeom prst="rect">
            <a:avLst/>
          </a:prstGeom>
        </p:spPr>
      </p:pic>
      <p:sp>
        <p:nvSpPr>
          <p:cNvPr id="3" name="TextBox 2">
            <a:extLst>
              <a:ext uri="{FF2B5EF4-FFF2-40B4-BE49-F238E27FC236}">
                <a16:creationId xmlns:a16="http://schemas.microsoft.com/office/drawing/2014/main" id="{247A1B7E-0C48-4B60-A617-CED793B53B67}"/>
              </a:ext>
            </a:extLst>
          </p:cNvPr>
          <p:cNvSpPr txBox="1"/>
          <p:nvPr/>
        </p:nvSpPr>
        <p:spPr>
          <a:xfrm>
            <a:off x="7727411" y="1351508"/>
            <a:ext cx="4208771" cy="4708981"/>
          </a:xfrm>
          <a:prstGeom prst="rect">
            <a:avLst/>
          </a:prstGeom>
          <a:noFill/>
        </p:spPr>
        <p:txBody>
          <a:bodyPr wrap="square" lIns="0" tIns="0" rIns="0" bIns="0" rtlCol="0">
            <a:spAutoFit/>
          </a:bodyPr>
          <a:lstStyle/>
          <a:p>
            <a:r>
              <a:rPr lang="en-GB" dirty="0">
                <a:solidFill>
                  <a:schemeClr val="accent2"/>
                </a:solidFill>
                <a:latin typeface="Montserrat Light" panose="00000400000000000000" pitchFamily="2" charset="0"/>
              </a:rPr>
              <a:t>The orange tool tags will be attached to powered hand tools on the cable, where appropriate.</a:t>
            </a:r>
          </a:p>
          <a:p>
            <a:r>
              <a:rPr lang="en-GB" dirty="0">
                <a:solidFill>
                  <a:schemeClr val="accent2"/>
                </a:solidFill>
                <a:latin typeface="Montserrat Light" panose="00000400000000000000" pitchFamily="2" charset="0"/>
              </a:rPr>
              <a:t>They will contain the following information:-</a:t>
            </a:r>
          </a:p>
          <a:p>
            <a:pPr marL="285750" indent="-285750">
              <a:buFont typeface="Courier New" panose="02070309020205020404" pitchFamily="49" charset="0"/>
              <a:buChar char="o"/>
            </a:pPr>
            <a:r>
              <a:rPr lang="en-GB" dirty="0">
                <a:solidFill>
                  <a:schemeClr val="accent2"/>
                </a:solidFill>
                <a:latin typeface="Montserrat Light" panose="00000400000000000000" pitchFamily="2" charset="0"/>
              </a:rPr>
              <a:t>Tool ID Number</a:t>
            </a:r>
          </a:p>
          <a:p>
            <a:pPr marL="285750" indent="-285750">
              <a:buFont typeface="Courier New" panose="02070309020205020404" pitchFamily="49" charset="0"/>
              <a:buChar char="o"/>
            </a:pPr>
            <a:r>
              <a:rPr lang="en-GB" dirty="0">
                <a:solidFill>
                  <a:schemeClr val="accent2"/>
                </a:solidFill>
                <a:latin typeface="Montserrat Light" panose="00000400000000000000" pitchFamily="2" charset="0"/>
              </a:rPr>
              <a:t>Vibration Magnitude</a:t>
            </a:r>
          </a:p>
          <a:p>
            <a:pPr marL="285750" indent="-285750">
              <a:buFont typeface="Courier New" panose="02070309020205020404" pitchFamily="49" charset="0"/>
              <a:buChar char="o"/>
            </a:pPr>
            <a:r>
              <a:rPr lang="en-GB" dirty="0">
                <a:solidFill>
                  <a:schemeClr val="accent2"/>
                </a:solidFill>
                <a:latin typeface="Montserrat Light" panose="00000400000000000000" pitchFamily="2" charset="0"/>
              </a:rPr>
              <a:t>Max Daily Use</a:t>
            </a:r>
          </a:p>
          <a:p>
            <a:pPr marL="285750" indent="-285750">
              <a:buFont typeface="Courier New" panose="02070309020205020404" pitchFamily="49" charset="0"/>
              <a:buChar char="o"/>
            </a:pPr>
            <a:r>
              <a:rPr lang="en-GB" dirty="0">
                <a:solidFill>
                  <a:schemeClr val="accent2"/>
                </a:solidFill>
                <a:latin typeface="Montserrat Light" panose="00000400000000000000" pitchFamily="2" charset="0"/>
              </a:rPr>
              <a:t>Points per Hour</a:t>
            </a:r>
          </a:p>
          <a:p>
            <a:pPr marL="285750" indent="-285750">
              <a:buFont typeface="Courier New" panose="02070309020205020404" pitchFamily="49" charset="0"/>
              <a:buChar char="o"/>
            </a:pPr>
            <a:r>
              <a:rPr lang="en-GB" dirty="0">
                <a:solidFill>
                  <a:schemeClr val="accent2"/>
                </a:solidFill>
                <a:latin typeface="Montserrat Light" panose="00000400000000000000" pitchFamily="2" charset="0"/>
              </a:rPr>
              <a:t>Points per 15min</a:t>
            </a:r>
          </a:p>
          <a:p>
            <a:endParaRPr lang="en-GB" dirty="0">
              <a:solidFill>
                <a:schemeClr val="accent2"/>
              </a:solidFill>
              <a:latin typeface="Montserrat Light" panose="00000400000000000000" pitchFamily="2" charset="0"/>
            </a:endParaRPr>
          </a:p>
          <a:p>
            <a:r>
              <a:rPr lang="en-GB" dirty="0">
                <a:solidFill>
                  <a:schemeClr val="accent2"/>
                </a:solidFill>
                <a:latin typeface="Montserrat Light" panose="00000400000000000000" pitchFamily="2" charset="0"/>
              </a:rPr>
              <a:t>Note: The Test Date will not be applicable.</a:t>
            </a:r>
          </a:p>
          <a:p>
            <a:endParaRPr lang="en-GB" dirty="0">
              <a:solidFill>
                <a:schemeClr val="accent2"/>
              </a:solidFill>
              <a:latin typeface="Montserrat Light" panose="00000400000000000000" pitchFamily="2" charset="0"/>
            </a:endParaRPr>
          </a:p>
          <a:p>
            <a:r>
              <a:rPr lang="en-GB" dirty="0">
                <a:solidFill>
                  <a:schemeClr val="accent2"/>
                </a:solidFill>
                <a:latin typeface="Montserrat Light" panose="00000400000000000000" pitchFamily="2" charset="0"/>
              </a:rPr>
              <a:t>Tags will be held in a tag carrier.</a:t>
            </a:r>
          </a:p>
          <a:p>
            <a:endParaRPr lang="en-GB" dirty="0">
              <a:solidFill>
                <a:schemeClr val="accent2"/>
              </a:solidFill>
              <a:latin typeface="Montserrat Light" panose="00000400000000000000" pitchFamily="2" charset="0"/>
            </a:endParaRPr>
          </a:p>
          <a:p>
            <a:endParaRPr lang="en-GB" dirty="0">
              <a:solidFill>
                <a:schemeClr val="accent2"/>
              </a:solidFill>
            </a:endParaRPr>
          </a:p>
        </p:txBody>
      </p:sp>
      <p:sp>
        <p:nvSpPr>
          <p:cNvPr id="8" name="TextBox 7">
            <a:extLst>
              <a:ext uri="{FF2B5EF4-FFF2-40B4-BE49-F238E27FC236}">
                <a16:creationId xmlns:a16="http://schemas.microsoft.com/office/drawing/2014/main" id="{6141351C-91EB-458F-B178-53E75DA8ED7E}"/>
              </a:ext>
            </a:extLst>
          </p:cNvPr>
          <p:cNvSpPr txBox="1"/>
          <p:nvPr/>
        </p:nvSpPr>
        <p:spPr>
          <a:xfrm>
            <a:off x="540399" y="5956385"/>
            <a:ext cx="8827888" cy="553998"/>
          </a:xfrm>
          <a:prstGeom prst="rect">
            <a:avLst/>
          </a:prstGeom>
          <a:noFill/>
          <a:ln w="25400">
            <a:solidFill>
              <a:schemeClr val="accent1"/>
            </a:solidFill>
          </a:ln>
        </p:spPr>
        <p:txBody>
          <a:bodyPr wrap="square" lIns="0" tIns="0" rIns="0" bIns="0" rtlCol="0">
            <a:spAutoFit/>
          </a:bodyPr>
          <a:lstStyle/>
          <a:p>
            <a:pPr algn="ctr"/>
            <a:r>
              <a:rPr lang="en-GB" dirty="0">
                <a:solidFill>
                  <a:schemeClr val="accent2"/>
                </a:solidFill>
                <a:latin typeface="Montserrat" panose="00000500000000000000" pitchFamily="2" charset="0"/>
              </a:rPr>
              <a:t>This information will need to be transferred to your individual Exposure Monitoring Log document or your Vibration Record Booklet.</a:t>
            </a:r>
          </a:p>
        </p:txBody>
      </p:sp>
      <p:pic>
        <p:nvPicPr>
          <p:cNvPr id="11" name="Picture 10">
            <a:extLst>
              <a:ext uri="{FF2B5EF4-FFF2-40B4-BE49-F238E27FC236}">
                <a16:creationId xmlns:a16="http://schemas.microsoft.com/office/drawing/2014/main" id="{392B9667-42F9-4525-BA68-499B04D1C1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9405295" y="5677325"/>
            <a:ext cx="1281969" cy="961477"/>
          </a:xfrm>
          <a:prstGeom prst="rect">
            <a:avLst/>
          </a:prstGeom>
        </p:spPr>
      </p:pic>
      <p:pic>
        <p:nvPicPr>
          <p:cNvPr id="12" name="Picture 11">
            <a:extLst>
              <a:ext uri="{FF2B5EF4-FFF2-40B4-BE49-F238E27FC236}">
                <a16:creationId xmlns:a16="http://schemas.microsoft.com/office/drawing/2014/main" id="{E6A38853-56DB-4A43-895F-B4CEE7186293}"/>
              </a:ext>
            </a:extLst>
          </p:cNvPr>
          <p:cNvPicPr>
            <a:picLocks noChangeAspect="1"/>
          </p:cNvPicPr>
          <p:nvPr/>
        </p:nvPicPr>
        <p:blipFill>
          <a:blip r:embed="rId4"/>
          <a:stretch>
            <a:fillRect/>
          </a:stretch>
        </p:blipFill>
        <p:spPr>
          <a:xfrm>
            <a:off x="4719748" y="1379816"/>
            <a:ext cx="2612229" cy="3911127"/>
          </a:xfrm>
          <a:prstGeom prst="rect">
            <a:avLst/>
          </a:prstGeom>
        </p:spPr>
      </p:pic>
      <p:sp>
        <p:nvSpPr>
          <p:cNvPr id="13" name="Rectangle 12">
            <a:extLst>
              <a:ext uri="{FF2B5EF4-FFF2-40B4-BE49-F238E27FC236}">
                <a16:creationId xmlns:a16="http://schemas.microsoft.com/office/drawing/2014/main" id="{63BE9E38-F91A-4EEC-AACD-6307A0C3BC4C}"/>
              </a:ext>
            </a:extLst>
          </p:cNvPr>
          <p:cNvSpPr/>
          <p:nvPr/>
        </p:nvSpPr>
        <p:spPr>
          <a:xfrm>
            <a:off x="6025862" y="2143521"/>
            <a:ext cx="668773" cy="369332"/>
          </a:xfrm>
          <a:prstGeom prst="rect">
            <a:avLst/>
          </a:prstGeom>
        </p:spPr>
        <p:txBody>
          <a:bodyPr wrap="none">
            <a:spAutoFit/>
          </a:bodyPr>
          <a:lstStyle/>
          <a:p>
            <a:r>
              <a:rPr lang="en-GB" b="1" dirty="0">
                <a:solidFill>
                  <a:schemeClr val="accent2"/>
                </a:solidFill>
                <a:latin typeface="Montserrat Light" panose="00000400000000000000" pitchFamily="2" charset="0"/>
              </a:rPr>
              <a:t>1234</a:t>
            </a:r>
            <a:endParaRPr lang="en-GB" dirty="0"/>
          </a:p>
        </p:txBody>
      </p:sp>
      <p:sp>
        <p:nvSpPr>
          <p:cNvPr id="14" name="Rectangle 13">
            <a:extLst>
              <a:ext uri="{FF2B5EF4-FFF2-40B4-BE49-F238E27FC236}">
                <a16:creationId xmlns:a16="http://schemas.microsoft.com/office/drawing/2014/main" id="{2DD78AF0-6F4E-4C95-807C-2CA8AAE0D236}"/>
              </a:ext>
            </a:extLst>
          </p:cNvPr>
          <p:cNvSpPr/>
          <p:nvPr/>
        </p:nvSpPr>
        <p:spPr>
          <a:xfrm>
            <a:off x="6072597" y="2476242"/>
            <a:ext cx="542136" cy="369332"/>
          </a:xfrm>
          <a:prstGeom prst="rect">
            <a:avLst/>
          </a:prstGeom>
        </p:spPr>
        <p:txBody>
          <a:bodyPr wrap="none">
            <a:spAutoFit/>
          </a:bodyPr>
          <a:lstStyle/>
          <a:p>
            <a:r>
              <a:rPr lang="en-GB" b="1" dirty="0">
                <a:solidFill>
                  <a:schemeClr val="accent2"/>
                </a:solidFill>
                <a:latin typeface="Montserrat Light" panose="00000400000000000000" pitchFamily="2" charset="0"/>
              </a:rPr>
              <a:t>n/a</a:t>
            </a:r>
            <a:endParaRPr lang="en-GB" dirty="0"/>
          </a:p>
        </p:txBody>
      </p:sp>
      <p:sp>
        <p:nvSpPr>
          <p:cNvPr id="15" name="Rectangle 14">
            <a:extLst>
              <a:ext uri="{FF2B5EF4-FFF2-40B4-BE49-F238E27FC236}">
                <a16:creationId xmlns:a16="http://schemas.microsoft.com/office/drawing/2014/main" id="{CA2257E2-1216-474E-B4EF-861C678090ED}"/>
              </a:ext>
            </a:extLst>
          </p:cNvPr>
          <p:cNvSpPr/>
          <p:nvPr/>
        </p:nvSpPr>
        <p:spPr>
          <a:xfrm>
            <a:off x="6008772" y="2845574"/>
            <a:ext cx="505267" cy="369332"/>
          </a:xfrm>
          <a:prstGeom prst="rect">
            <a:avLst/>
          </a:prstGeom>
        </p:spPr>
        <p:txBody>
          <a:bodyPr wrap="none">
            <a:spAutoFit/>
          </a:bodyPr>
          <a:lstStyle/>
          <a:p>
            <a:r>
              <a:rPr lang="en-GB" b="1" dirty="0">
                <a:solidFill>
                  <a:schemeClr val="accent2"/>
                </a:solidFill>
                <a:latin typeface="Montserrat Light" panose="00000400000000000000" pitchFamily="2" charset="0"/>
              </a:rPr>
              <a:t>4.5</a:t>
            </a:r>
            <a:endParaRPr lang="en-GB" dirty="0"/>
          </a:p>
        </p:txBody>
      </p:sp>
      <p:sp>
        <p:nvSpPr>
          <p:cNvPr id="16" name="Rectangle 15">
            <a:extLst>
              <a:ext uri="{FF2B5EF4-FFF2-40B4-BE49-F238E27FC236}">
                <a16:creationId xmlns:a16="http://schemas.microsoft.com/office/drawing/2014/main" id="{B58A4B74-5384-48AD-A137-064B94CC7622}"/>
              </a:ext>
            </a:extLst>
          </p:cNvPr>
          <p:cNvSpPr/>
          <p:nvPr/>
        </p:nvSpPr>
        <p:spPr>
          <a:xfrm>
            <a:off x="5995653" y="3244334"/>
            <a:ext cx="619080" cy="369332"/>
          </a:xfrm>
          <a:prstGeom prst="rect">
            <a:avLst/>
          </a:prstGeom>
        </p:spPr>
        <p:txBody>
          <a:bodyPr wrap="none">
            <a:spAutoFit/>
          </a:bodyPr>
          <a:lstStyle/>
          <a:p>
            <a:r>
              <a:rPr lang="en-GB" b="1" dirty="0">
                <a:solidFill>
                  <a:schemeClr val="accent2"/>
                </a:solidFill>
                <a:latin typeface="Montserrat Light" panose="00000400000000000000" pitchFamily="2" charset="0"/>
              </a:rPr>
              <a:t>9:53</a:t>
            </a:r>
            <a:endParaRPr lang="en-GB" dirty="0"/>
          </a:p>
        </p:txBody>
      </p:sp>
      <p:sp>
        <p:nvSpPr>
          <p:cNvPr id="17" name="Rectangle 16">
            <a:extLst>
              <a:ext uri="{FF2B5EF4-FFF2-40B4-BE49-F238E27FC236}">
                <a16:creationId xmlns:a16="http://schemas.microsoft.com/office/drawing/2014/main" id="{A34D994E-5F58-4950-8D98-2F3F96F6067D}"/>
              </a:ext>
            </a:extLst>
          </p:cNvPr>
          <p:cNvSpPr/>
          <p:nvPr/>
        </p:nvSpPr>
        <p:spPr>
          <a:xfrm>
            <a:off x="5423975" y="3770772"/>
            <a:ext cx="482824" cy="369332"/>
          </a:xfrm>
          <a:prstGeom prst="rect">
            <a:avLst/>
          </a:prstGeom>
        </p:spPr>
        <p:txBody>
          <a:bodyPr wrap="none">
            <a:spAutoFit/>
          </a:bodyPr>
          <a:lstStyle/>
          <a:p>
            <a:r>
              <a:rPr lang="en-GB" b="1" dirty="0">
                <a:solidFill>
                  <a:schemeClr val="accent2"/>
                </a:solidFill>
                <a:latin typeface="Montserrat Light" panose="00000400000000000000" pitchFamily="2" charset="0"/>
              </a:rPr>
              <a:t>40</a:t>
            </a:r>
            <a:endParaRPr lang="en-GB" dirty="0"/>
          </a:p>
        </p:txBody>
      </p:sp>
      <p:sp>
        <p:nvSpPr>
          <p:cNvPr id="18" name="Rectangle 17">
            <a:extLst>
              <a:ext uri="{FF2B5EF4-FFF2-40B4-BE49-F238E27FC236}">
                <a16:creationId xmlns:a16="http://schemas.microsoft.com/office/drawing/2014/main" id="{A3641625-0AC9-45E2-9CB2-B3D48B8BB831}"/>
              </a:ext>
            </a:extLst>
          </p:cNvPr>
          <p:cNvSpPr/>
          <p:nvPr/>
        </p:nvSpPr>
        <p:spPr>
          <a:xfrm>
            <a:off x="6072597" y="3761721"/>
            <a:ext cx="413896" cy="369332"/>
          </a:xfrm>
          <a:prstGeom prst="rect">
            <a:avLst/>
          </a:prstGeom>
        </p:spPr>
        <p:txBody>
          <a:bodyPr wrap="none">
            <a:spAutoFit/>
          </a:bodyPr>
          <a:lstStyle/>
          <a:p>
            <a:r>
              <a:rPr lang="en-GB" b="1" dirty="0">
                <a:solidFill>
                  <a:schemeClr val="accent2"/>
                </a:solidFill>
                <a:latin typeface="Montserrat Light" panose="00000400000000000000" pitchFamily="2" charset="0"/>
              </a:rPr>
              <a:t>10</a:t>
            </a:r>
            <a:endParaRPr lang="en-GB" dirty="0"/>
          </a:p>
        </p:txBody>
      </p:sp>
      <p:cxnSp>
        <p:nvCxnSpPr>
          <p:cNvPr id="4" name="Straight Arrow Connector 3">
            <a:extLst>
              <a:ext uri="{FF2B5EF4-FFF2-40B4-BE49-F238E27FC236}">
                <a16:creationId xmlns:a16="http://schemas.microsoft.com/office/drawing/2014/main" id="{8BE2D85C-9A45-432F-A582-B002DBF71F5A}"/>
              </a:ext>
            </a:extLst>
          </p:cNvPr>
          <p:cNvCxnSpPr>
            <a:cxnSpLocks/>
          </p:cNvCxnSpPr>
          <p:nvPr/>
        </p:nvCxnSpPr>
        <p:spPr>
          <a:xfrm flipH="1" flipV="1">
            <a:off x="6611026" y="2745774"/>
            <a:ext cx="1116385" cy="1796994"/>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159646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AADBE28-32DD-4E65-975C-58F3281613C2}"/>
              </a:ext>
            </a:extLst>
          </p:cNvPr>
          <p:cNvSpPr txBox="1">
            <a:spLocks/>
          </p:cNvSpPr>
          <p:nvPr/>
        </p:nvSpPr>
        <p:spPr>
          <a:xfrm>
            <a:off x="327483" y="856270"/>
            <a:ext cx="7944062" cy="3391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r>
              <a:rPr lang="en-GB" sz="2000" b="1" dirty="0">
                <a:solidFill>
                  <a:srgbClr val="FF3300"/>
                </a:solidFill>
                <a:latin typeface="Montserrat Light" panose="00000400000000000000" pitchFamily="2" charset="0"/>
              </a:rPr>
              <a:t>FC-EU-EHS-HEA-0801-1</a:t>
            </a:r>
            <a:r>
              <a:rPr lang="en-US" sz="2000" b="1" dirty="0">
                <a:solidFill>
                  <a:srgbClr val="FF3300"/>
                </a:solidFill>
                <a:latin typeface="Montserrat Light" panose="00000400000000000000" pitchFamily="2" charset="0"/>
              </a:rPr>
              <a:t>: Management of Vibration Exposure</a:t>
            </a:r>
          </a:p>
          <a:p>
            <a:endParaRPr lang="en-US" sz="2000" b="1" dirty="0">
              <a:solidFill>
                <a:srgbClr val="FF3300"/>
              </a:solidFill>
              <a:latin typeface="Montserrat Light" panose="00000400000000000000" pitchFamily="2" charset="0"/>
            </a:endParaRPr>
          </a:p>
          <a:p>
            <a:r>
              <a:rPr lang="en-US" sz="2000" b="1" dirty="0">
                <a:solidFill>
                  <a:schemeClr val="accent2"/>
                </a:solidFill>
                <a:latin typeface="Montserrat Light" panose="00000400000000000000" pitchFamily="2" charset="0"/>
              </a:rPr>
              <a:t>4. How to fill in a Vibration Exposure level Record Book entry</a:t>
            </a:r>
          </a:p>
        </p:txBody>
      </p:sp>
      <p:pic>
        <p:nvPicPr>
          <p:cNvPr id="10" name="Picture 9">
            <a:extLst>
              <a:ext uri="{FF2B5EF4-FFF2-40B4-BE49-F238E27FC236}">
                <a16:creationId xmlns:a16="http://schemas.microsoft.com/office/drawing/2014/main" id="{3814A4BE-64E2-451A-94E5-DB89CFF43FB7}"/>
              </a:ext>
            </a:extLst>
          </p:cNvPr>
          <p:cNvPicPr>
            <a:picLocks noChangeAspect="1"/>
          </p:cNvPicPr>
          <p:nvPr/>
        </p:nvPicPr>
        <p:blipFill>
          <a:blip r:embed="rId2"/>
          <a:stretch>
            <a:fillRect/>
          </a:stretch>
        </p:blipFill>
        <p:spPr>
          <a:xfrm>
            <a:off x="210038" y="1933643"/>
            <a:ext cx="2717408" cy="3838339"/>
          </a:xfrm>
          <a:prstGeom prst="rect">
            <a:avLst/>
          </a:prstGeom>
        </p:spPr>
      </p:pic>
      <p:pic>
        <p:nvPicPr>
          <p:cNvPr id="2" name="Picture 1">
            <a:extLst>
              <a:ext uri="{FF2B5EF4-FFF2-40B4-BE49-F238E27FC236}">
                <a16:creationId xmlns:a16="http://schemas.microsoft.com/office/drawing/2014/main" id="{DC85B8ED-C7B5-496D-834B-436FC9334C1D}"/>
              </a:ext>
            </a:extLst>
          </p:cNvPr>
          <p:cNvPicPr>
            <a:picLocks noChangeAspect="1"/>
          </p:cNvPicPr>
          <p:nvPr/>
        </p:nvPicPr>
        <p:blipFill>
          <a:blip r:embed="rId3"/>
          <a:stretch>
            <a:fillRect/>
          </a:stretch>
        </p:blipFill>
        <p:spPr>
          <a:xfrm>
            <a:off x="5117598" y="2081177"/>
            <a:ext cx="4944960" cy="3224974"/>
          </a:xfrm>
          <a:prstGeom prst="rect">
            <a:avLst/>
          </a:prstGeom>
        </p:spPr>
      </p:pic>
      <p:sp>
        <p:nvSpPr>
          <p:cNvPr id="3" name="TextBox 2">
            <a:extLst>
              <a:ext uri="{FF2B5EF4-FFF2-40B4-BE49-F238E27FC236}">
                <a16:creationId xmlns:a16="http://schemas.microsoft.com/office/drawing/2014/main" id="{76AA41A6-1DEB-4D8F-B2D2-69E86E95C548}"/>
              </a:ext>
            </a:extLst>
          </p:cNvPr>
          <p:cNvSpPr txBox="1"/>
          <p:nvPr/>
        </p:nvSpPr>
        <p:spPr>
          <a:xfrm>
            <a:off x="3121018" y="1912278"/>
            <a:ext cx="1577131" cy="646331"/>
          </a:xfrm>
          <a:prstGeom prst="rect">
            <a:avLst/>
          </a:prstGeom>
          <a:noFill/>
          <a:ln w="25400">
            <a:solidFill>
              <a:schemeClr val="accent1"/>
            </a:solidFill>
          </a:ln>
        </p:spPr>
        <p:txBody>
          <a:bodyPr wrap="square" lIns="0" tIns="0" rIns="0" bIns="0" rtlCol="0">
            <a:spAutoFit/>
          </a:bodyPr>
          <a:lstStyle/>
          <a:p>
            <a:pPr algn="ctr"/>
            <a:r>
              <a:rPr lang="en-GB" sz="1400" dirty="0">
                <a:solidFill>
                  <a:schemeClr val="accent2"/>
                </a:solidFill>
                <a:latin typeface="Montserrat Light" panose="00000400000000000000" pitchFamily="2" charset="0"/>
              </a:rPr>
              <a:t>Fill in personal details in the top section.</a:t>
            </a:r>
          </a:p>
        </p:txBody>
      </p:sp>
      <p:cxnSp>
        <p:nvCxnSpPr>
          <p:cNvPr id="7" name="Connector: Elbow 6">
            <a:extLst>
              <a:ext uri="{FF2B5EF4-FFF2-40B4-BE49-F238E27FC236}">
                <a16:creationId xmlns:a16="http://schemas.microsoft.com/office/drawing/2014/main" id="{2A485853-790B-4115-8167-CBC5F1F9AD64}"/>
              </a:ext>
            </a:extLst>
          </p:cNvPr>
          <p:cNvCxnSpPr>
            <a:cxnSpLocks/>
            <a:stCxn id="3" idx="2"/>
          </p:cNvCxnSpPr>
          <p:nvPr/>
        </p:nvCxnSpPr>
        <p:spPr>
          <a:xfrm rot="16200000" flipH="1">
            <a:off x="4498480" y="1969713"/>
            <a:ext cx="231244" cy="1409036"/>
          </a:xfrm>
          <a:prstGeom prst="bentConnector2">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7421C12-87E6-4A01-A7E2-753F5DFEEC5C}"/>
              </a:ext>
            </a:extLst>
          </p:cNvPr>
          <p:cNvSpPr txBox="1"/>
          <p:nvPr/>
        </p:nvSpPr>
        <p:spPr>
          <a:xfrm>
            <a:off x="3121018" y="3655929"/>
            <a:ext cx="1577131" cy="861774"/>
          </a:xfrm>
          <a:prstGeom prst="rect">
            <a:avLst/>
          </a:prstGeom>
          <a:noFill/>
          <a:ln w="25400">
            <a:solidFill>
              <a:schemeClr val="accent1"/>
            </a:solidFill>
          </a:ln>
        </p:spPr>
        <p:txBody>
          <a:bodyPr wrap="square" lIns="0" tIns="0" rIns="0" bIns="0" rtlCol="0">
            <a:spAutoFit/>
          </a:bodyPr>
          <a:lstStyle/>
          <a:p>
            <a:pPr algn="ctr"/>
            <a:r>
              <a:rPr lang="en-GB" sz="1400" dirty="0">
                <a:solidFill>
                  <a:schemeClr val="accent2"/>
                </a:solidFill>
                <a:latin typeface="Montserrat Light" panose="00000400000000000000" pitchFamily="2" charset="0"/>
              </a:rPr>
              <a:t>Use the tool data in the book or on the tag to fill in data.</a:t>
            </a:r>
          </a:p>
        </p:txBody>
      </p:sp>
      <p:cxnSp>
        <p:nvCxnSpPr>
          <p:cNvPr id="11" name="Connector: Elbow 10">
            <a:extLst>
              <a:ext uri="{FF2B5EF4-FFF2-40B4-BE49-F238E27FC236}">
                <a16:creationId xmlns:a16="http://schemas.microsoft.com/office/drawing/2014/main" id="{591CAA0D-2EC1-4A11-BDF3-CC4B1349541E}"/>
              </a:ext>
            </a:extLst>
          </p:cNvPr>
          <p:cNvCxnSpPr>
            <a:cxnSpLocks/>
            <a:stCxn id="9" idx="3"/>
          </p:cNvCxnSpPr>
          <p:nvPr/>
        </p:nvCxnSpPr>
        <p:spPr>
          <a:xfrm flipV="1">
            <a:off x="4698149" y="3786200"/>
            <a:ext cx="620471" cy="300616"/>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B5A0867-4B70-4CF9-89BF-7E1D47D6CF8A}"/>
              </a:ext>
            </a:extLst>
          </p:cNvPr>
          <p:cNvSpPr txBox="1"/>
          <p:nvPr/>
        </p:nvSpPr>
        <p:spPr>
          <a:xfrm>
            <a:off x="10271377" y="1920867"/>
            <a:ext cx="1577131" cy="1077218"/>
          </a:xfrm>
          <a:prstGeom prst="rect">
            <a:avLst/>
          </a:prstGeom>
          <a:noFill/>
          <a:ln w="25400">
            <a:solidFill>
              <a:schemeClr val="accent1"/>
            </a:solidFill>
          </a:ln>
        </p:spPr>
        <p:txBody>
          <a:bodyPr wrap="square" lIns="0" tIns="0" rIns="0" bIns="0" rtlCol="0">
            <a:spAutoFit/>
          </a:bodyPr>
          <a:lstStyle/>
          <a:p>
            <a:pPr algn="ctr"/>
            <a:r>
              <a:rPr lang="en-GB" sz="1400" dirty="0">
                <a:solidFill>
                  <a:schemeClr val="accent2"/>
                </a:solidFill>
                <a:latin typeface="Montserrat Light" panose="00000400000000000000" pitchFamily="2" charset="0"/>
              </a:rPr>
              <a:t>Multiply </a:t>
            </a:r>
            <a:r>
              <a:rPr lang="en-GB" sz="1400" i="1" dirty="0">
                <a:solidFill>
                  <a:schemeClr val="accent2"/>
                </a:solidFill>
                <a:latin typeface="Montserrat Light" panose="00000400000000000000" pitchFamily="2" charset="0"/>
              </a:rPr>
              <a:t>Points per minute </a:t>
            </a:r>
            <a:r>
              <a:rPr lang="en-GB" sz="1400" dirty="0">
                <a:solidFill>
                  <a:schemeClr val="accent2"/>
                </a:solidFill>
                <a:latin typeface="Montserrat Light" panose="00000400000000000000" pitchFamily="2" charset="0"/>
              </a:rPr>
              <a:t>by Trigger time and write in result in </a:t>
            </a:r>
            <a:r>
              <a:rPr lang="en-GB" sz="1400" i="1" dirty="0">
                <a:solidFill>
                  <a:schemeClr val="accent2"/>
                </a:solidFill>
                <a:latin typeface="Montserrat Light" panose="00000400000000000000" pitchFamily="2" charset="0"/>
              </a:rPr>
              <a:t>Points Scored.</a:t>
            </a:r>
          </a:p>
        </p:txBody>
      </p:sp>
      <p:cxnSp>
        <p:nvCxnSpPr>
          <p:cNvPr id="14" name="Connector: Elbow 13">
            <a:extLst>
              <a:ext uri="{FF2B5EF4-FFF2-40B4-BE49-F238E27FC236}">
                <a16:creationId xmlns:a16="http://schemas.microsoft.com/office/drawing/2014/main" id="{C192CFA1-89B8-46C0-9EAC-8E496B9EF918}"/>
              </a:ext>
            </a:extLst>
          </p:cNvPr>
          <p:cNvCxnSpPr>
            <a:cxnSpLocks/>
            <a:stCxn id="13" idx="2"/>
          </p:cNvCxnSpPr>
          <p:nvPr/>
        </p:nvCxnSpPr>
        <p:spPr>
          <a:xfrm rot="5400000">
            <a:off x="10112952" y="2746672"/>
            <a:ext cx="695579" cy="1198405"/>
          </a:xfrm>
          <a:prstGeom prst="bentConnector2">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DDE5887-0B86-4A17-8FAF-26A315DE43E1}"/>
              </a:ext>
            </a:extLst>
          </p:cNvPr>
          <p:cNvSpPr txBox="1"/>
          <p:nvPr/>
        </p:nvSpPr>
        <p:spPr>
          <a:xfrm>
            <a:off x="10271377" y="4000976"/>
            <a:ext cx="1577131" cy="861774"/>
          </a:xfrm>
          <a:prstGeom prst="rect">
            <a:avLst/>
          </a:prstGeom>
          <a:noFill/>
          <a:ln w="25400">
            <a:solidFill>
              <a:schemeClr val="accent1"/>
            </a:solidFill>
          </a:ln>
        </p:spPr>
        <p:txBody>
          <a:bodyPr wrap="square" lIns="0" tIns="0" rIns="0" bIns="0" rtlCol="0">
            <a:spAutoFit/>
          </a:bodyPr>
          <a:lstStyle/>
          <a:p>
            <a:pPr algn="ctr"/>
            <a:r>
              <a:rPr lang="en-GB" sz="1400" dirty="0">
                <a:solidFill>
                  <a:schemeClr val="accent2"/>
                </a:solidFill>
                <a:latin typeface="Montserrat Light" panose="00000400000000000000" pitchFamily="2" charset="0"/>
              </a:rPr>
              <a:t>Add up all results to get </a:t>
            </a:r>
            <a:r>
              <a:rPr lang="en-GB" sz="1400" i="1" dirty="0">
                <a:solidFill>
                  <a:schemeClr val="accent2"/>
                </a:solidFill>
                <a:latin typeface="Montserrat Light" panose="00000400000000000000" pitchFamily="2" charset="0"/>
              </a:rPr>
              <a:t>Total Points</a:t>
            </a:r>
            <a:r>
              <a:rPr lang="en-GB" sz="1400" dirty="0">
                <a:solidFill>
                  <a:schemeClr val="accent2"/>
                </a:solidFill>
                <a:latin typeface="Montserrat Light" panose="00000400000000000000" pitchFamily="2" charset="0"/>
              </a:rPr>
              <a:t> for the day</a:t>
            </a:r>
            <a:r>
              <a:rPr lang="en-GB" sz="1400" i="1" dirty="0">
                <a:solidFill>
                  <a:schemeClr val="accent2"/>
                </a:solidFill>
                <a:latin typeface="Montserrat Light" panose="00000400000000000000" pitchFamily="2" charset="0"/>
              </a:rPr>
              <a:t>.</a:t>
            </a:r>
          </a:p>
        </p:txBody>
      </p:sp>
      <p:cxnSp>
        <p:nvCxnSpPr>
          <p:cNvPr id="21" name="Connector: Elbow 20">
            <a:extLst>
              <a:ext uri="{FF2B5EF4-FFF2-40B4-BE49-F238E27FC236}">
                <a16:creationId xmlns:a16="http://schemas.microsoft.com/office/drawing/2014/main" id="{6CDB6417-F80A-4065-A398-BC0371551FA8}"/>
              </a:ext>
            </a:extLst>
          </p:cNvPr>
          <p:cNvCxnSpPr>
            <a:cxnSpLocks/>
            <a:stCxn id="19" idx="2"/>
          </p:cNvCxnSpPr>
          <p:nvPr/>
        </p:nvCxnSpPr>
        <p:spPr>
          <a:xfrm rot="5400000">
            <a:off x="10347122" y="4372363"/>
            <a:ext cx="222434" cy="1203208"/>
          </a:xfrm>
          <a:prstGeom prst="bentConnector2">
            <a:avLst/>
          </a:prstGeom>
          <a:ln w="25400">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Table 24">
            <a:extLst>
              <a:ext uri="{FF2B5EF4-FFF2-40B4-BE49-F238E27FC236}">
                <a16:creationId xmlns:a16="http://schemas.microsoft.com/office/drawing/2014/main" id="{CE4DF3D9-A409-4B9E-8000-802920253714}"/>
              </a:ext>
            </a:extLst>
          </p:cNvPr>
          <p:cNvGraphicFramePr>
            <a:graphicFrameLocks noGrp="1"/>
          </p:cNvGraphicFramePr>
          <p:nvPr>
            <p:extLst>
              <p:ext uri="{D42A27DB-BD31-4B8C-83A1-F6EECF244321}">
                <p14:modId xmlns:p14="http://schemas.microsoft.com/office/powerpoint/2010/main" val="491991761"/>
              </p:ext>
            </p:extLst>
          </p:nvPr>
        </p:nvGraphicFramePr>
        <p:xfrm>
          <a:off x="3053593" y="5681257"/>
          <a:ext cx="8405768" cy="952500"/>
        </p:xfrm>
        <a:graphic>
          <a:graphicData uri="http://schemas.openxmlformats.org/drawingml/2006/table">
            <a:tbl>
              <a:tblPr bandRow="1"/>
              <a:tblGrid>
                <a:gridCol w="694453">
                  <a:extLst>
                    <a:ext uri="{9D8B030D-6E8A-4147-A177-3AD203B41FA5}">
                      <a16:colId xmlns:a16="http://schemas.microsoft.com/office/drawing/2014/main" val="1863555923"/>
                    </a:ext>
                  </a:extLst>
                </a:gridCol>
                <a:gridCol w="925936">
                  <a:extLst>
                    <a:ext uri="{9D8B030D-6E8A-4147-A177-3AD203B41FA5}">
                      <a16:colId xmlns:a16="http://schemas.microsoft.com/office/drawing/2014/main" val="1962329904"/>
                    </a:ext>
                  </a:extLst>
                </a:gridCol>
                <a:gridCol w="1065824">
                  <a:extLst>
                    <a:ext uri="{9D8B030D-6E8A-4147-A177-3AD203B41FA5}">
                      <a16:colId xmlns:a16="http://schemas.microsoft.com/office/drawing/2014/main" val="542328603"/>
                    </a:ext>
                  </a:extLst>
                </a:gridCol>
                <a:gridCol w="5719555">
                  <a:extLst>
                    <a:ext uri="{9D8B030D-6E8A-4147-A177-3AD203B41FA5}">
                      <a16:colId xmlns:a16="http://schemas.microsoft.com/office/drawing/2014/main" val="1259736566"/>
                    </a:ext>
                  </a:extLst>
                </a:gridCol>
              </a:tblGrid>
              <a:tr h="317500">
                <a:tc>
                  <a:txBody>
                    <a:bodyPr/>
                    <a:lstStyle/>
                    <a:p>
                      <a:pPr algn="ctr" rtl="0" fontAlgn="ctr"/>
                      <a:r>
                        <a:rPr lang="en-GB" sz="1050" b="1" i="0" u="none" strike="noStrike">
                          <a:solidFill>
                            <a:srgbClr val="000000"/>
                          </a:solidFill>
                          <a:effectLst/>
                          <a:latin typeface="Montserrat" panose="00000500000000000000" pitchFamily="2" charset="0"/>
                        </a:rPr>
                        <a:t>GREEN</a:t>
                      </a:r>
                    </a:p>
                  </a:txBody>
                  <a:tcPr marL="6350" marR="6350" marT="6350" marB="0" anchor="ctr">
                    <a:lnL>
                      <a:noFill/>
                    </a:lnL>
                    <a:lnR>
                      <a:noFill/>
                    </a:lnR>
                    <a:lnT w="19050" cap="flat" cmpd="sng" algn="ctr">
                      <a:solidFill>
                        <a:srgbClr val="63666A"/>
                      </a:solidFill>
                      <a:prstDash val="solid"/>
                      <a:round/>
                      <a:headEnd type="none" w="med" len="med"/>
                      <a:tailEnd type="none" w="med" len="med"/>
                    </a:lnT>
                    <a:lnB>
                      <a:noFill/>
                    </a:lnB>
                    <a:solidFill>
                      <a:srgbClr val="92D050"/>
                    </a:solidFill>
                  </a:tcPr>
                </a:tc>
                <a:tc>
                  <a:txBody>
                    <a:bodyPr/>
                    <a:lstStyle/>
                    <a:p>
                      <a:pPr algn="ctr" rtl="0" fontAlgn="ctr"/>
                      <a:r>
                        <a:rPr lang="en-GB" sz="1050" b="1" i="0" u="none" strike="noStrike" dirty="0">
                          <a:solidFill>
                            <a:schemeClr val="accent2"/>
                          </a:solidFill>
                          <a:effectLst/>
                          <a:latin typeface="Montserrat" panose="00000500000000000000" pitchFamily="2" charset="0"/>
                        </a:rPr>
                        <a:t>GO</a:t>
                      </a:r>
                    </a:p>
                  </a:txBody>
                  <a:tcPr marL="6350" marR="6350" marT="6350" marB="0" anchor="ctr">
                    <a:lnL>
                      <a:noFill/>
                    </a:lnL>
                    <a:lnR>
                      <a:noFill/>
                    </a:lnR>
                    <a:lnT w="19050" cap="flat" cmpd="sng" algn="ctr">
                      <a:solidFill>
                        <a:srgbClr val="63666A"/>
                      </a:solidFill>
                      <a:prstDash val="solid"/>
                      <a:round/>
                      <a:headEnd type="none" w="med" len="med"/>
                      <a:tailEnd type="none" w="med" len="med"/>
                    </a:lnT>
                    <a:lnB>
                      <a:noFill/>
                    </a:lnB>
                    <a:solidFill>
                      <a:srgbClr val="EAEAEB"/>
                    </a:solidFill>
                  </a:tcPr>
                </a:tc>
                <a:tc>
                  <a:txBody>
                    <a:bodyPr/>
                    <a:lstStyle/>
                    <a:p>
                      <a:pPr algn="ctr" rtl="0" fontAlgn="ctr"/>
                      <a:r>
                        <a:rPr lang="en-GB" sz="1050" b="0" i="0" u="none" strike="noStrike">
                          <a:solidFill>
                            <a:srgbClr val="63666A"/>
                          </a:solidFill>
                          <a:effectLst/>
                          <a:latin typeface="Montserrat" panose="00000500000000000000" pitchFamily="2" charset="0"/>
                        </a:rPr>
                        <a:t>&lt;&lt; 100pts</a:t>
                      </a:r>
                    </a:p>
                  </a:txBody>
                  <a:tcPr marL="6350" marR="6350" marT="6350" marB="0" anchor="ctr">
                    <a:lnL>
                      <a:noFill/>
                    </a:lnL>
                    <a:lnR>
                      <a:noFill/>
                    </a:lnR>
                    <a:lnT w="19050" cap="flat" cmpd="sng" algn="ctr">
                      <a:solidFill>
                        <a:srgbClr val="63666A"/>
                      </a:solidFill>
                      <a:prstDash val="solid"/>
                      <a:round/>
                      <a:headEnd type="none" w="med" len="med"/>
                      <a:tailEnd type="none" w="med" len="med"/>
                    </a:lnT>
                    <a:lnB>
                      <a:noFill/>
                    </a:lnB>
                    <a:solidFill>
                      <a:srgbClr val="EAEAEB"/>
                    </a:solidFill>
                  </a:tcPr>
                </a:tc>
                <a:tc>
                  <a:txBody>
                    <a:bodyPr/>
                    <a:lstStyle/>
                    <a:p>
                      <a:pPr algn="l" rtl="0" fontAlgn="ctr"/>
                      <a:r>
                        <a:rPr lang="en-US" sz="1050" b="0" i="0" u="none" strike="noStrike">
                          <a:solidFill>
                            <a:srgbClr val="63666A"/>
                          </a:solidFill>
                          <a:effectLst/>
                          <a:latin typeface="Montserrat" panose="00000500000000000000" pitchFamily="2" charset="0"/>
                        </a:rPr>
                        <a:t>Below EAV.  Aim to stay in this region</a:t>
                      </a:r>
                    </a:p>
                  </a:txBody>
                  <a:tcPr marL="6350" marR="6350" marT="6350" marB="0" anchor="ctr">
                    <a:lnL>
                      <a:noFill/>
                    </a:lnL>
                    <a:lnR>
                      <a:noFill/>
                    </a:lnR>
                    <a:lnT w="19050" cap="flat" cmpd="sng" algn="ctr">
                      <a:solidFill>
                        <a:srgbClr val="63666A"/>
                      </a:solidFill>
                      <a:prstDash val="solid"/>
                      <a:round/>
                      <a:headEnd type="none" w="med" len="med"/>
                      <a:tailEnd type="none" w="med" len="med"/>
                    </a:lnT>
                    <a:lnB>
                      <a:noFill/>
                    </a:lnB>
                    <a:solidFill>
                      <a:srgbClr val="EAEAEB"/>
                    </a:solidFill>
                  </a:tcPr>
                </a:tc>
                <a:extLst>
                  <a:ext uri="{0D108BD9-81ED-4DB2-BD59-A6C34878D82A}">
                    <a16:rowId xmlns:a16="http://schemas.microsoft.com/office/drawing/2014/main" val="3713098010"/>
                  </a:ext>
                </a:extLst>
              </a:tr>
              <a:tr h="317500">
                <a:tc>
                  <a:txBody>
                    <a:bodyPr/>
                    <a:lstStyle/>
                    <a:p>
                      <a:pPr algn="ctr" rtl="0" fontAlgn="ctr"/>
                      <a:r>
                        <a:rPr lang="en-GB" sz="1050" b="1" i="0" u="none" strike="noStrike">
                          <a:solidFill>
                            <a:srgbClr val="000000"/>
                          </a:solidFill>
                          <a:effectLst/>
                          <a:latin typeface="Montserrat" panose="00000500000000000000" pitchFamily="2" charset="0"/>
                        </a:rPr>
                        <a:t>AMBER</a:t>
                      </a:r>
                    </a:p>
                  </a:txBody>
                  <a:tcPr marL="6350" marR="6350" marT="6350" marB="0" anchor="ctr">
                    <a:lnL>
                      <a:noFill/>
                    </a:lnL>
                    <a:lnR>
                      <a:noFill/>
                    </a:lnR>
                    <a:lnT>
                      <a:noFill/>
                    </a:lnT>
                    <a:lnB>
                      <a:noFill/>
                    </a:lnB>
                    <a:solidFill>
                      <a:srgbClr val="FFC000"/>
                    </a:solidFill>
                  </a:tcPr>
                </a:tc>
                <a:tc>
                  <a:txBody>
                    <a:bodyPr/>
                    <a:lstStyle/>
                    <a:p>
                      <a:pPr algn="ctr" rtl="0" fontAlgn="ctr"/>
                      <a:r>
                        <a:rPr lang="en-GB" sz="1050" b="1" i="0" u="none" strike="noStrike" dirty="0">
                          <a:solidFill>
                            <a:schemeClr val="accent2"/>
                          </a:solidFill>
                          <a:effectLst/>
                          <a:latin typeface="Montserrat" panose="00000500000000000000" pitchFamily="2" charset="0"/>
                        </a:rPr>
                        <a:t>BE AWARE</a:t>
                      </a:r>
                    </a:p>
                  </a:txBody>
                  <a:tcPr marL="6350" marR="6350" marT="6350" marB="0" anchor="ctr">
                    <a:lnL>
                      <a:noFill/>
                    </a:lnL>
                    <a:lnR>
                      <a:noFill/>
                    </a:lnR>
                    <a:lnT>
                      <a:noFill/>
                    </a:lnT>
                    <a:lnB>
                      <a:noFill/>
                    </a:lnB>
                  </a:tcPr>
                </a:tc>
                <a:tc>
                  <a:txBody>
                    <a:bodyPr/>
                    <a:lstStyle/>
                    <a:p>
                      <a:pPr algn="ctr" rtl="0" fontAlgn="ctr"/>
                      <a:r>
                        <a:rPr lang="en-GB" sz="1050" b="0" i="0" u="none" strike="noStrike" dirty="0">
                          <a:solidFill>
                            <a:srgbClr val="63666A"/>
                          </a:solidFill>
                          <a:effectLst/>
                          <a:latin typeface="Montserrat" panose="00000500000000000000" pitchFamily="2" charset="0"/>
                        </a:rPr>
                        <a:t> 100 - 399pts</a:t>
                      </a:r>
                    </a:p>
                  </a:txBody>
                  <a:tcPr marL="6350" marR="6350" marT="6350" marB="0" anchor="ctr">
                    <a:lnL>
                      <a:noFill/>
                    </a:lnL>
                    <a:lnR>
                      <a:noFill/>
                    </a:lnR>
                    <a:lnT>
                      <a:noFill/>
                    </a:lnT>
                    <a:lnB>
                      <a:noFill/>
                    </a:lnB>
                  </a:tcPr>
                </a:tc>
                <a:tc>
                  <a:txBody>
                    <a:bodyPr/>
                    <a:lstStyle/>
                    <a:p>
                      <a:pPr algn="l" rtl="0" fontAlgn="ctr"/>
                      <a:r>
                        <a:rPr lang="en-US" sz="1050" b="0" i="0" u="none" strike="noStrike" dirty="0">
                          <a:solidFill>
                            <a:srgbClr val="63666A"/>
                          </a:solidFill>
                          <a:effectLst/>
                          <a:latin typeface="Montserrat" panose="00000500000000000000" pitchFamily="2" charset="0"/>
                        </a:rPr>
                        <a:t>EAV Exceeded.  Reduce tool usage, share workload – Supervisor on alert.</a:t>
                      </a:r>
                    </a:p>
                  </a:txBody>
                  <a:tcPr marL="6350" marR="6350" marT="6350" marB="0" anchor="ctr">
                    <a:lnL>
                      <a:noFill/>
                    </a:lnL>
                    <a:lnR>
                      <a:noFill/>
                    </a:lnR>
                    <a:lnT>
                      <a:noFill/>
                    </a:lnT>
                    <a:lnB>
                      <a:noFill/>
                    </a:lnB>
                  </a:tcPr>
                </a:tc>
                <a:extLst>
                  <a:ext uri="{0D108BD9-81ED-4DB2-BD59-A6C34878D82A}">
                    <a16:rowId xmlns:a16="http://schemas.microsoft.com/office/drawing/2014/main" val="3419041991"/>
                  </a:ext>
                </a:extLst>
              </a:tr>
              <a:tr h="317500">
                <a:tc>
                  <a:txBody>
                    <a:bodyPr/>
                    <a:lstStyle/>
                    <a:p>
                      <a:pPr algn="ctr" rtl="0" fontAlgn="ctr"/>
                      <a:r>
                        <a:rPr lang="en-GB" sz="1050" b="1" i="0" u="none" strike="noStrike" dirty="0">
                          <a:solidFill>
                            <a:srgbClr val="000000"/>
                          </a:solidFill>
                          <a:effectLst/>
                          <a:latin typeface="Montserrat" panose="00000500000000000000" pitchFamily="2" charset="0"/>
                        </a:rPr>
                        <a:t>RED</a:t>
                      </a:r>
                    </a:p>
                  </a:txBody>
                  <a:tcPr marL="6350" marR="6350" marT="6350" marB="0" anchor="ctr">
                    <a:lnL>
                      <a:noFill/>
                    </a:lnL>
                    <a:lnR>
                      <a:noFill/>
                    </a:lnR>
                    <a:lnT>
                      <a:noFill/>
                    </a:lnT>
                    <a:lnB w="19050" cap="flat" cmpd="sng" algn="ctr">
                      <a:solidFill>
                        <a:srgbClr val="63666A"/>
                      </a:solidFill>
                      <a:prstDash val="solid"/>
                      <a:round/>
                      <a:headEnd type="none" w="med" len="med"/>
                      <a:tailEnd type="none" w="med" len="med"/>
                    </a:lnB>
                    <a:solidFill>
                      <a:srgbClr val="FF0000"/>
                    </a:solidFill>
                  </a:tcPr>
                </a:tc>
                <a:tc>
                  <a:txBody>
                    <a:bodyPr/>
                    <a:lstStyle/>
                    <a:p>
                      <a:pPr algn="ctr" rtl="0" fontAlgn="ctr"/>
                      <a:r>
                        <a:rPr lang="en-GB" sz="1050" b="1" i="0" u="none" strike="noStrike" dirty="0">
                          <a:solidFill>
                            <a:schemeClr val="accent2"/>
                          </a:solidFill>
                          <a:effectLst/>
                          <a:latin typeface="Montserrat" panose="00000500000000000000" pitchFamily="2" charset="0"/>
                        </a:rPr>
                        <a:t>STOP</a:t>
                      </a:r>
                    </a:p>
                  </a:txBody>
                  <a:tcPr marL="6350" marR="6350" marT="6350" marB="0" anchor="ctr">
                    <a:lnL>
                      <a:noFill/>
                    </a:lnL>
                    <a:lnR>
                      <a:noFill/>
                    </a:lnR>
                    <a:lnT>
                      <a:noFill/>
                    </a:lnT>
                    <a:lnB w="19050" cap="flat" cmpd="sng" algn="ctr">
                      <a:solidFill>
                        <a:srgbClr val="63666A"/>
                      </a:solidFill>
                      <a:prstDash val="solid"/>
                      <a:round/>
                      <a:headEnd type="none" w="med" len="med"/>
                      <a:tailEnd type="none" w="med" len="med"/>
                    </a:lnB>
                    <a:solidFill>
                      <a:srgbClr val="EAEAEB"/>
                    </a:solidFill>
                  </a:tcPr>
                </a:tc>
                <a:tc>
                  <a:txBody>
                    <a:bodyPr/>
                    <a:lstStyle/>
                    <a:p>
                      <a:pPr algn="ctr" rtl="0" fontAlgn="ctr"/>
                      <a:r>
                        <a:rPr lang="en-GB" sz="1050" b="0" i="0" u="none" strike="noStrike">
                          <a:solidFill>
                            <a:srgbClr val="63666A"/>
                          </a:solidFill>
                          <a:effectLst/>
                          <a:latin typeface="Montserrat" panose="00000500000000000000" pitchFamily="2" charset="0"/>
                        </a:rPr>
                        <a:t>400pts</a:t>
                      </a:r>
                    </a:p>
                  </a:txBody>
                  <a:tcPr marL="6350" marR="6350" marT="6350" marB="0" anchor="ctr">
                    <a:lnL>
                      <a:noFill/>
                    </a:lnL>
                    <a:lnR>
                      <a:noFill/>
                    </a:lnR>
                    <a:lnT>
                      <a:noFill/>
                    </a:lnT>
                    <a:lnB w="19050" cap="flat" cmpd="sng" algn="ctr">
                      <a:solidFill>
                        <a:srgbClr val="63666A"/>
                      </a:solidFill>
                      <a:prstDash val="solid"/>
                      <a:round/>
                      <a:headEnd type="none" w="med" len="med"/>
                      <a:tailEnd type="none" w="med" len="med"/>
                    </a:lnB>
                    <a:solidFill>
                      <a:srgbClr val="EAEAEB"/>
                    </a:solidFill>
                  </a:tcPr>
                </a:tc>
                <a:tc>
                  <a:txBody>
                    <a:bodyPr/>
                    <a:lstStyle/>
                    <a:p>
                      <a:pPr algn="l" rtl="0" fontAlgn="ctr"/>
                      <a:r>
                        <a:rPr lang="en-US" sz="1050" b="0" i="0" u="none" strike="noStrike" dirty="0">
                          <a:solidFill>
                            <a:srgbClr val="63666A"/>
                          </a:solidFill>
                          <a:effectLst/>
                          <a:latin typeface="Montserrat" panose="00000500000000000000" pitchFamily="2" charset="0"/>
                        </a:rPr>
                        <a:t>ELV exceeded. STOP using handheld power tools.</a:t>
                      </a:r>
                    </a:p>
                  </a:txBody>
                  <a:tcPr marL="6350" marR="6350" marT="6350" marB="0" anchor="ctr">
                    <a:lnL>
                      <a:noFill/>
                    </a:lnL>
                    <a:lnR>
                      <a:noFill/>
                    </a:lnR>
                    <a:lnT>
                      <a:noFill/>
                    </a:lnT>
                    <a:lnB w="19050" cap="flat" cmpd="sng" algn="ctr">
                      <a:solidFill>
                        <a:srgbClr val="63666A"/>
                      </a:solidFill>
                      <a:prstDash val="solid"/>
                      <a:round/>
                      <a:headEnd type="none" w="med" len="med"/>
                      <a:tailEnd type="none" w="med" len="med"/>
                    </a:lnB>
                    <a:solidFill>
                      <a:srgbClr val="EAEAEB"/>
                    </a:solidFill>
                  </a:tcPr>
                </a:tc>
                <a:extLst>
                  <a:ext uri="{0D108BD9-81ED-4DB2-BD59-A6C34878D82A}">
                    <a16:rowId xmlns:a16="http://schemas.microsoft.com/office/drawing/2014/main" val="3841391203"/>
                  </a:ext>
                </a:extLst>
              </a:tr>
            </a:tbl>
          </a:graphicData>
        </a:graphic>
      </p:graphicFrame>
      <p:sp>
        <p:nvSpPr>
          <p:cNvPr id="15" name="TextBox 14">
            <a:extLst>
              <a:ext uri="{FF2B5EF4-FFF2-40B4-BE49-F238E27FC236}">
                <a16:creationId xmlns:a16="http://schemas.microsoft.com/office/drawing/2014/main" id="{87447942-7D67-4EF7-B88D-68C9273CC90C}"/>
              </a:ext>
            </a:extLst>
          </p:cNvPr>
          <p:cNvSpPr txBox="1"/>
          <p:nvPr/>
        </p:nvSpPr>
        <p:spPr>
          <a:xfrm>
            <a:off x="11205213" y="6645160"/>
            <a:ext cx="755015" cy="153888"/>
          </a:xfrm>
          <a:prstGeom prst="rect">
            <a:avLst/>
          </a:prstGeom>
          <a:noFill/>
        </p:spPr>
        <p:txBody>
          <a:bodyPr wrap="none" lIns="0" tIns="0" rIns="0" bIns="0" rtlCol="0">
            <a:spAutoFit/>
          </a:bodyPr>
          <a:lstStyle/>
          <a:p>
            <a:r>
              <a:rPr lang="en-US" sz="1000" dirty="0">
                <a:solidFill>
                  <a:schemeClr val="accent2"/>
                </a:solidFill>
                <a:latin typeface="Montserrat Light" panose="00000400000000000000" pitchFamily="2" charset="0"/>
              </a:rPr>
              <a:t>v1/Dec 2020</a:t>
            </a:r>
          </a:p>
        </p:txBody>
      </p:sp>
    </p:spTree>
    <p:extLst>
      <p:ext uri="{BB962C8B-B14F-4D97-AF65-F5344CB8AC3E}">
        <p14:creationId xmlns:p14="http://schemas.microsoft.com/office/powerpoint/2010/main" val="173644470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AADBE28-32DD-4E65-975C-58F3281613C2}"/>
              </a:ext>
            </a:extLst>
          </p:cNvPr>
          <p:cNvSpPr txBox="1">
            <a:spLocks/>
          </p:cNvSpPr>
          <p:nvPr/>
        </p:nvSpPr>
        <p:spPr>
          <a:xfrm>
            <a:off x="327482" y="856270"/>
            <a:ext cx="9084965" cy="3391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r>
              <a:rPr lang="en-GB" sz="2000" b="1" dirty="0">
                <a:solidFill>
                  <a:srgbClr val="FF3300"/>
                </a:solidFill>
                <a:latin typeface="Montserrat Light" panose="00000400000000000000" pitchFamily="2" charset="0"/>
              </a:rPr>
              <a:t>FC-EU-EHS-HEA-0801-1</a:t>
            </a:r>
            <a:r>
              <a:rPr lang="en-US" sz="2000" b="1" dirty="0">
                <a:solidFill>
                  <a:srgbClr val="FF3300"/>
                </a:solidFill>
                <a:latin typeface="Montserrat Light" panose="00000400000000000000" pitchFamily="2" charset="0"/>
              </a:rPr>
              <a:t>: Management of Vibration Exposure</a:t>
            </a:r>
          </a:p>
          <a:p>
            <a:endParaRPr lang="en-US" sz="2000" b="1" dirty="0">
              <a:solidFill>
                <a:srgbClr val="FF3300"/>
              </a:solidFill>
              <a:latin typeface="Montserrat Light" panose="00000400000000000000" pitchFamily="2" charset="0"/>
            </a:endParaRPr>
          </a:p>
          <a:p>
            <a:r>
              <a:rPr lang="en-US" sz="2000" b="1" dirty="0">
                <a:solidFill>
                  <a:schemeClr val="accent2"/>
                </a:solidFill>
                <a:latin typeface="Montserrat Light" panose="00000400000000000000" pitchFamily="2" charset="0"/>
              </a:rPr>
              <a:t>5. How to protect yourself from the risks associated with vibration </a:t>
            </a:r>
          </a:p>
          <a:p>
            <a:endParaRPr lang="en-US" sz="2000" b="1" dirty="0">
              <a:solidFill>
                <a:schemeClr val="accent2"/>
              </a:solidFill>
              <a:latin typeface="Montserrat Light" panose="00000400000000000000" pitchFamily="2" charset="0"/>
            </a:endParaRPr>
          </a:p>
        </p:txBody>
      </p:sp>
      <p:pic>
        <p:nvPicPr>
          <p:cNvPr id="10" name="Picture 9">
            <a:extLst>
              <a:ext uri="{FF2B5EF4-FFF2-40B4-BE49-F238E27FC236}">
                <a16:creationId xmlns:a16="http://schemas.microsoft.com/office/drawing/2014/main" id="{3814A4BE-64E2-451A-94E5-DB89CFF43FB7}"/>
              </a:ext>
            </a:extLst>
          </p:cNvPr>
          <p:cNvPicPr>
            <a:picLocks noChangeAspect="1"/>
          </p:cNvPicPr>
          <p:nvPr/>
        </p:nvPicPr>
        <p:blipFill>
          <a:blip r:embed="rId2"/>
          <a:stretch>
            <a:fillRect/>
          </a:stretch>
        </p:blipFill>
        <p:spPr>
          <a:xfrm>
            <a:off x="151315" y="2088358"/>
            <a:ext cx="2770529" cy="3913372"/>
          </a:xfrm>
          <a:prstGeom prst="rect">
            <a:avLst/>
          </a:prstGeom>
        </p:spPr>
      </p:pic>
      <p:sp>
        <p:nvSpPr>
          <p:cNvPr id="2" name="Rectangle 1">
            <a:extLst>
              <a:ext uri="{FF2B5EF4-FFF2-40B4-BE49-F238E27FC236}">
                <a16:creationId xmlns:a16="http://schemas.microsoft.com/office/drawing/2014/main" id="{75163BF2-3AD3-44D9-AC86-74F84B05B3D6}"/>
              </a:ext>
            </a:extLst>
          </p:cNvPr>
          <p:cNvSpPr/>
          <p:nvPr/>
        </p:nvSpPr>
        <p:spPr>
          <a:xfrm>
            <a:off x="3095539" y="1782290"/>
            <a:ext cx="8690994" cy="4862870"/>
          </a:xfrm>
          <a:prstGeom prst="rect">
            <a:avLst/>
          </a:prstGeom>
        </p:spPr>
        <p:txBody>
          <a:bodyPr wrap="square">
            <a:spAutoFit/>
          </a:bodyPr>
          <a:lstStyle/>
          <a:p>
            <a:pPr algn="just">
              <a:spcAft>
                <a:spcPts val="1150"/>
              </a:spcAft>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How can I help reduce the risks? </a:t>
            </a:r>
            <a:endParaRPr lang="en-GB" sz="1000" dirty="0">
              <a:solidFill>
                <a:schemeClr val="accent2"/>
              </a:solidFill>
              <a:latin typeface="Montserrat Light" panose="00000400000000000000" pitchFamily="2" charset="0"/>
              <a:ea typeface="Times New Roman" panose="02020603050405020304" pitchFamily="18" charset="0"/>
              <a:cs typeface="Times New Roman" panose="02020603050405020304" pitchFamily="18" charset="0"/>
            </a:endParaRPr>
          </a:p>
          <a:p>
            <a:pPr marR="53975" algn="just">
              <a:lnSpc>
                <a:spcPts val="1200"/>
              </a:lnSpc>
              <a:spcAft>
                <a:spcPts val="1150"/>
              </a:spcAft>
            </a:pPr>
            <a:r>
              <a:rPr lang="en-GB" sz="1000" dirty="0">
                <a:solidFill>
                  <a:schemeClr val="accent2"/>
                </a:solidFill>
                <a:latin typeface="Montserrat Light" panose="00000400000000000000" pitchFamily="2" charset="0"/>
                <a:cs typeface="Arial" panose="020B0604020202020204" pitchFamily="34" charset="0"/>
              </a:rPr>
              <a:t>It is FieldCore’s responsibility to protect you against HAVS and carpal tunnel syndrome. It is essential that you apply the controls within your risk assessments to protect you against potential damage from vibrating tools. You should also help by asking if your job could be done in a different way without using vibrating tools and machines. If this cannot happen: </a:t>
            </a: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Ask to use suitable low vibration tools</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 </a:t>
            </a:r>
            <a:endParaRPr lang="en-GB" sz="1000" dirty="0">
              <a:solidFill>
                <a:schemeClr val="accent2"/>
              </a:solidFill>
              <a:latin typeface="Montserrat Light" panose="00000400000000000000" pitchFamily="2" charset="0"/>
              <a:ea typeface="Times New Roman" panose="02020603050405020304" pitchFamily="18" charset="0"/>
              <a:cs typeface="BAKBF V+ Helvetica Neue"/>
            </a:endParaRP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Always use the right tool for each job </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(quicker operation and less exposure to hand-arm vibration). </a:t>
            </a:r>
            <a:endParaRPr lang="en-GB" sz="1000" dirty="0">
              <a:solidFill>
                <a:schemeClr val="accent2"/>
              </a:solidFill>
              <a:latin typeface="Montserrat Light" panose="00000400000000000000" pitchFamily="2" charset="0"/>
              <a:ea typeface="Times New Roman" panose="02020603050405020304" pitchFamily="18" charset="0"/>
              <a:cs typeface="BAKBF V+ Helvetica Neue"/>
            </a:endParaRP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Check tools before using them</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 to make sure they have been properly maintained and repaired to avoid increased vibration caused by faults or general wear. </a:t>
            </a:r>
            <a:endParaRPr lang="en-GB" sz="1000" dirty="0">
              <a:solidFill>
                <a:schemeClr val="accent2"/>
              </a:solidFill>
              <a:latin typeface="Montserrat Light" panose="00000400000000000000" pitchFamily="2" charset="0"/>
              <a:ea typeface="Times New Roman" panose="02020603050405020304" pitchFamily="18" charset="0"/>
              <a:cs typeface="BAKBF V+ Helvetica Neue"/>
            </a:endParaRP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Unauthorised modifications</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 to equipment and ‘homemade’ adaptors or tools must not be used.</a:t>
            </a:r>
            <a:endParaRPr lang="en-GB" sz="1000" dirty="0">
              <a:solidFill>
                <a:schemeClr val="accent2"/>
              </a:solidFill>
              <a:latin typeface="Montserrat Light" panose="00000400000000000000" pitchFamily="2" charset="0"/>
              <a:ea typeface="Times New Roman" panose="02020603050405020304" pitchFamily="18" charset="0"/>
              <a:cs typeface="BAKBF V+ Helvetica Neue"/>
            </a:endParaRP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Make sure cutting tools are kept sharp</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 so that they remain efficient. </a:t>
            </a:r>
            <a:endParaRPr lang="en-GB" sz="1000" dirty="0">
              <a:solidFill>
                <a:schemeClr val="accent2"/>
              </a:solidFill>
              <a:latin typeface="Montserrat Light" panose="00000400000000000000" pitchFamily="2" charset="0"/>
              <a:ea typeface="Times New Roman" panose="02020603050405020304" pitchFamily="18" charset="0"/>
              <a:cs typeface="BAKBF V+ Helvetica Neue"/>
            </a:endParaRP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Reduce the amount of time you use a tool in one go</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 by doing other jobs in between. </a:t>
            </a:r>
            <a:endParaRPr lang="en-GB" sz="1000" dirty="0">
              <a:solidFill>
                <a:schemeClr val="accent2"/>
              </a:solidFill>
              <a:latin typeface="Montserrat Light" panose="00000400000000000000" pitchFamily="2" charset="0"/>
              <a:ea typeface="Times New Roman" panose="02020603050405020304" pitchFamily="18" charset="0"/>
              <a:cs typeface="BAKBF V+ Helvetica Neue"/>
            </a:endParaRP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Avoid gripping or forcing </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a tool or work piece </a:t>
            </a: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more than you have to. </a:t>
            </a:r>
            <a:endParaRPr lang="en-GB" sz="1000" b="1" dirty="0">
              <a:solidFill>
                <a:schemeClr val="accent2"/>
              </a:solidFill>
              <a:latin typeface="Montserrat Light" panose="00000400000000000000" pitchFamily="2" charset="0"/>
              <a:ea typeface="Times New Roman" panose="02020603050405020304" pitchFamily="18" charset="0"/>
              <a:cs typeface="BAKBF V+ Helvetica Neue"/>
            </a:endParaRP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Store tools so that they do not have very cold handles </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when next used. </a:t>
            </a: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Follow</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 the Management of Vibration Procedure controls as outlined in the Vibration TRA: </a:t>
            </a: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hlinkClick r:id="rId3"/>
              </a:rPr>
              <a:t>here</a:t>
            </a: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 </a:t>
            </a: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Monitor your vibration exposure</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 using the Exposure Monitoring Log (or the HAVS Booklets if available).</a:t>
            </a: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When available </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to you, use the Reactec HAVwear digital monitoring equipment to track your personal vibration daily exposure.</a:t>
            </a:r>
            <a:endParaRPr lang="en-GB" sz="1000" dirty="0">
              <a:solidFill>
                <a:schemeClr val="accent2"/>
              </a:solidFill>
              <a:latin typeface="Montserrat Light" panose="00000400000000000000" pitchFamily="2" charset="0"/>
              <a:ea typeface="Times New Roman" panose="02020603050405020304" pitchFamily="18" charset="0"/>
              <a:cs typeface="BAKBF V+ Helvetica Neue"/>
            </a:endParaRPr>
          </a:p>
          <a:p>
            <a:pPr marL="228600" marR="0" algn="just">
              <a:spcBef>
                <a:spcPts val="0"/>
              </a:spcBef>
              <a:spcAft>
                <a:spcPts val="0"/>
              </a:spcAft>
            </a:pP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 </a:t>
            </a:r>
            <a:endParaRPr lang="en-GB" sz="1000" dirty="0">
              <a:solidFill>
                <a:schemeClr val="accent2"/>
              </a:solidFill>
              <a:latin typeface="Montserrat Light" panose="00000400000000000000" pitchFamily="2" charset="0"/>
              <a:ea typeface="Times New Roman" panose="02020603050405020304" pitchFamily="18" charset="0"/>
              <a:cs typeface="BAKBF V+ Helvetica Neue"/>
            </a:endParaRPr>
          </a:p>
          <a:p>
            <a:pPr algn="just"/>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Encourage good hand and finger /blood circulation </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by:</a:t>
            </a:r>
            <a:endParaRPr lang="en-GB" sz="1000" dirty="0">
              <a:solidFill>
                <a:schemeClr val="accent2"/>
              </a:solidFill>
              <a:latin typeface="Montserrat Light" panose="00000400000000000000" pitchFamily="2" charset="0"/>
              <a:ea typeface="Times New Roman" panose="02020603050405020304" pitchFamily="18" charset="0"/>
              <a:cs typeface="BAKBF V+ Helvetica Neue"/>
            </a:endParaRP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Keeping warm and dry (</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when necessary, wear gloves, hat, waterproofs and use heating pads if available)</a:t>
            </a:r>
            <a:endParaRPr lang="en-GB" sz="1000" dirty="0">
              <a:solidFill>
                <a:schemeClr val="accent2"/>
              </a:solidFill>
              <a:latin typeface="Montserrat Light" panose="00000400000000000000" pitchFamily="2" charset="0"/>
              <a:ea typeface="Times New Roman" panose="02020603050405020304" pitchFamily="18" charset="0"/>
              <a:cs typeface="BAKBF V+ Helvetica Neue"/>
            </a:endParaRP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Smoking reduces blood flow</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 giving up or cutting down on smoking further reduces risk from HAVS</a:t>
            </a:r>
          </a:p>
          <a:p>
            <a:pPr marL="342900" marR="0" lvl="0" indent="-342900" algn="just">
              <a:spcBef>
                <a:spcPts val="0"/>
              </a:spcBef>
              <a:spcAft>
                <a:spcPts val="0"/>
              </a:spcAft>
              <a:buFont typeface="Symbol" panose="05050102010706020507" pitchFamily="18" charset="2"/>
              <a:buChar char=""/>
            </a:pPr>
            <a:r>
              <a:rPr lang="en-GB" sz="1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Massaging and exercising your fingers during work breaks.  </a:t>
            </a:r>
            <a:r>
              <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(Rub them and wiggle the about during breaks) </a:t>
            </a:r>
          </a:p>
          <a:p>
            <a:pPr marR="0" lvl="0" algn="just">
              <a:spcBef>
                <a:spcPts val="0"/>
              </a:spcBef>
              <a:spcAft>
                <a:spcPts val="0"/>
              </a:spcAft>
            </a:pPr>
            <a:endParaRPr lang="en-GB" sz="1000"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endParaRPr>
          </a:p>
          <a:p>
            <a:pPr lvl="0" defTabSz="914400" eaLnBrk="0" fontAlgn="base" hangingPunct="0">
              <a:spcBef>
                <a:spcPct val="0"/>
              </a:spcBef>
              <a:spcAft>
                <a:spcPct val="0"/>
              </a:spcAft>
            </a:pPr>
            <a:r>
              <a:rPr lang="en-GB" altLang="en-US" sz="1000" b="1" dirty="0">
                <a:solidFill>
                  <a:schemeClr val="accent2"/>
                </a:solidFill>
                <a:latin typeface="Montserrat Light" panose="00000400000000000000" pitchFamily="2" charset="0"/>
                <a:cs typeface="Arial" panose="020B0604020202020204" pitchFamily="34" charset="0"/>
              </a:rPr>
              <a:t>What else can I do? </a:t>
            </a:r>
          </a:p>
          <a:p>
            <a:pPr marL="342900" indent="-342900" algn="just" fontAlgn="base">
              <a:buFont typeface="Symbol" panose="05050102010706020507" pitchFamily="18" charset="2"/>
              <a:buChar char=""/>
            </a:pPr>
            <a:r>
              <a:rPr lang="en-GB" altLang="en-US" sz="1000" b="1" dirty="0">
                <a:solidFill>
                  <a:schemeClr val="accent2"/>
                </a:solidFill>
                <a:latin typeface="Montserrat Light" panose="00000400000000000000" pitchFamily="2" charset="0"/>
                <a:cs typeface="Arial" panose="020B0604020202020204" pitchFamily="34" charset="0"/>
              </a:rPr>
              <a:t>Learn to recognise the early signs and symptoms of HAVS. </a:t>
            </a:r>
          </a:p>
          <a:p>
            <a:pPr marL="342900" indent="-342900" algn="just" fontAlgn="base">
              <a:buFont typeface="Symbol" panose="05050102010706020507" pitchFamily="18" charset="2"/>
              <a:buChar char=""/>
            </a:pPr>
            <a:r>
              <a:rPr lang="en-GB" altLang="en-US" sz="1000" b="1" dirty="0">
                <a:solidFill>
                  <a:schemeClr val="accent2"/>
                </a:solidFill>
                <a:latin typeface="Montserrat Light" panose="00000400000000000000" pitchFamily="2" charset="0"/>
                <a:cs typeface="Arial" panose="020B0604020202020204" pitchFamily="34" charset="0"/>
              </a:rPr>
              <a:t>Report any symptoms promptly </a:t>
            </a:r>
            <a:r>
              <a:rPr lang="en-GB" altLang="en-US" sz="1000" dirty="0">
                <a:solidFill>
                  <a:schemeClr val="accent2"/>
                </a:solidFill>
                <a:latin typeface="Montserrat Light" panose="00000400000000000000" pitchFamily="2" charset="0"/>
                <a:cs typeface="Arial" panose="020B0604020202020204" pitchFamily="34" charset="0"/>
              </a:rPr>
              <a:t>to your line manager or the person who does your health checks. </a:t>
            </a:r>
          </a:p>
          <a:p>
            <a:pPr marL="342900" indent="-342900" algn="just" fontAlgn="base">
              <a:buFont typeface="Symbol" panose="05050102010706020507" pitchFamily="18" charset="2"/>
              <a:buChar char=""/>
            </a:pPr>
            <a:r>
              <a:rPr lang="en-GB" altLang="en-US" sz="1000" b="1" dirty="0">
                <a:solidFill>
                  <a:schemeClr val="accent1"/>
                </a:solidFill>
                <a:latin typeface="Montserrat Light" panose="00000400000000000000" pitchFamily="2" charset="0"/>
                <a:cs typeface="Arial" panose="020B0604020202020204" pitchFamily="34" charset="0"/>
              </a:rPr>
              <a:t>STOP WORK </a:t>
            </a:r>
            <a:r>
              <a:rPr lang="en-GB" altLang="en-US" sz="1000" dirty="0">
                <a:solidFill>
                  <a:schemeClr val="accent2"/>
                </a:solidFill>
                <a:latin typeface="Montserrat Light" panose="00000400000000000000" pitchFamily="2" charset="0"/>
                <a:cs typeface="Arial" panose="020B0604020202020204" pitchFamily="34" charset="0"/>
              </a:rPr>
              <a:t>and </a:t>
            </a:r>
            <a:r>
              <a:rPr lang="en-GB" altLang="en-US" sz="1000" b="1" dirty="0">
                <a:solidFill>
                  <a:schemeClr val="accent2"/>
                </a:solidFill>
                <a:latin typeface="Montserrat Light" panose="00000400000000000000" pitchFamily="2" charset="0"/>
                <a:cs typeface="Arial" panose="020B0604020202020204" pitchFamily="34" charset="0"/>
              </a:rPr>
              <a:t>report abnormal levels of vibration from equipment</a:t>
            </a:r>
            <a:r>
              <a:rPr lang="en-GB" altLang="en-US" sz="1000" dirty="0">
                <a:solidFill>
                  <a:schemeClr val="accent2"/>
                </a:solidFill>
                <a:latin typeface="Montserrat Light" panose="00000400000000000000" pitchFamily="2" charset="0"/>
                <a:cs typeface="Arial" panose="020B0604020202020204" pitchFamily="34" charset="0"/>
              </a:rPr>
              <a:t> to your supervisor.</a:t>
            </a:r>
          </a:p>
          <a:p>
            <a:pPr marL="342900" indent="-342900" algn="just" fontAlgn="base">
              <a:buFont typeface="Symbol" panose="05050102010706020507" pitchFamily="18" charset="2"/>
              <a:buChar char=""/>
            </a:pPr>
            <a:r>
              <a:rPr lang="en-GB" altLang="en-US" sz="1000" b="1" dirty="0">
                <a:solidFill>
                  <a:schemeClr val="accent2"/>
                </a:solidFill>
                <a:latin typeface="Montserrat Light" panose="00000400000000000000" pitchFamily="2" charset="0"/>
                <a:cs typeface="Arial" panose="020B0604020202020204" pitchFamily="34" charset="0"/>
              </a:rPr>
              <a:t>Use any control measures </a:t>
            </a:r>
            <a:r>
              <a:rPr lang="en-GB" altLang="en-US" sz="1000" dirty="0">
                <a:solidFill>
                  <a:schemeClr val="accent2"/>
                </a:solidFill>
                <a:latin typeface="Montserrat Light" panose="00000400000000000000" pitchFamily="2" charset="0"/>
                <a:cs typeface="Arial" panose="020B0604020202020204" pitchFamily="34" charset="0"/>
              </a:rPr>
              <a:t>has put in place to reduce the risk of HAVS. </a:t>
            </a:r>
          </a:p>
          <a:p>
            <a:pPr marL="342900" indent="-342900" algn="just" fontAlgn="base">
              <a:buFont typeface="Symbol" panose="05050102010706020507" pitchFamily="18" charset="2"/>
              <a:buChar char=""/>
            </a:pPr>
            <a:r>
              <a:rPr lang="en-GB" altLang="en-US" sz="1000" b="1" dirty="0">
                <a:solidFill>
                  <a:schemeClr val="accent2"/>
                </a:solidFill>
                <a:latin typeface="Montserrat Light" panose="00000400000000000000" pitchFamily="2" charset="0"/>
                <a:cs typeface="Arial" panose="020B0604020202020204" pitchFamily="34" charset="0"/>
              </a:rPr>
              <a:t>Compete HAVS Health Surveillance questionnaires as required </a:t>
            </a:r>
            <a:r>
              <a:rPr lang="en-GB" altLang="en-US" sz="1000" dirty="0">
                <a:solidFill>
                  <a:schemeClr val="accent2"/>
                </a:solidFill>
                <a:latin typeface="Montserrat Light" panose="00000400000000000000" pitchFamily="2" charset="0"/>
                <a:cs typeface="Arial" panose="020B0604020202020204" pitchFamily="34" charset="0"/>
              </a:rPr>
              <a:t>– be open and honest, it is for you best interest.</a:t>
            </a:r>
          </a:p>
          <a:p>
            <a:pPr marR="0" lvl="0" algn="just">
              <a:spcBef>
                <a:spcPts val="0"/>
              </a:spcBef>
              <a:spcAft>
                <a:spcPts val="0"/>
              </a:spcAft>
            </a:pPr>
            <a:endParaRPr lang="en-GB" sz="1000" dirty="0">
              <a:solidFill>
                <a:schemeClr val="accent2"/>
              </a:solidFill>
              <a:latin typeface="Montserrat Light" panose="00000400000000000000" pitchFamily="2" charset="0"/>
              <a:ea typeface="Times New Roman" panose="02020603050405020304" pitchFamily="18" charset="0"/>
              <a:cs typeface="BAKBF V+ Helvetica Neue"/>
            </a:endParaRPr>
          </a:p>
        </p:txBody>
      </p:sp>
      <p:sp>
        <p:nvSpPr>
          <p:cNvPr id="8" name="TextBox 7">
            <a:extLst>
              <a:ext uri="{FF2B5EF4-FFF2-40B4-BE49-F238E27FC236}">
                <a16:creationId xmlns:a16="http://schemas.microsoft.com/office/drawing/2014/main" id="{70BFF7E5-BE66-4501-AE70-8CB04D6701BD}"/>
              </a:ext>
            </a:extLst>
          </p:cNvPr>
          <p:cNvSpPr txBox="1"/>
          <p:nvPr/>
        </p:nvSpPr>
        <p:spPr>
          <a:xfrm>
            <a:off x="11205213" y="6645160"/>
            <a:ext cx="755015" cy="153888"/>
          </a:xfrm>
          <a:prstGeom prst="rect">
            <a:avLst/>
          </a:prstGeom>
          <a:noFill/>
        </p:spPr>
        <p:txBody>
          <a:bodyPr wrap="none" lIns="0" tIns="0" rIns="0" bIns="0" rtlCol="0">
            <a:spAutoFit/>
          </a:bodyPr>
          <a:lstStyle/>
          <a:p>
            <a:r>
              <a:rPr lang="en-US" sz="1000" dirty="0">
                <a:solidFill>
                  <a:schemeClr val="accent2"/>
                </a:solidFill>
                <a:latin typeface="Montserrat Light" panose="00000400000000000000" pitchFamily="2" charset="0"/>
              </a:rPr>
              <a:t>v1/Dec 2020</a:t>
            </a:r>
          </a:p>
        </p:txBody>
      </p:sp>
    </p:spTree>
    <p:extLst>
      <p:ext uri="{BB962C8B-B14F-4D97-AF65-F5344CB8AC3E}">
        <p14:creationId xmlns:p14="http://schemas.microsoft.com/office/powerpoint/2010/main" val="403684437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AADBE28-32DD-4E65-975C-58F3281613C2}"/>
              </a:ext>
            </a:extLst>
          </p:cNvPr>
          <p:cNvSpPr txBox="1">
            <a:spLocks/>
          </p:cNvSpPr>
          <p:nvPr/>
        </p:nvSpPr>
        <p:spPr>
          <a:xfrm>
            <a:off x="327483" y="856270"/>
            <a:ext cx="7944062" cy="3391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r>
              <a:rPr lang="en-GB" sz="2000" b="1" dirty="0">
                <a:solidFill>
                  <a:srgbClr val="FF3300"/>
                </a:solidFill>
                <a:latin typeface="Montserrat Light" panose="00000400000000000000" pitchFamily="2" charset="0"/>
              </a:rPr>
              <a:t>FC-EU-EHS-HEA-0801-1</a:t>
            </a:r>
            <a:r>
              <a:rPr lang="en-US" sz="2000" b="1" dirty="0">
                <a:solidFill>
                  <a:srgbClr val="FF3300"/>
                </a:solidFill>
                <a:latin typeface="Montserrat Light" panose="00000400000000000000" pitchFamily="2" charset="0"/>
              </a:rPr>
              <a:t>: Management of Vibration Exposure</a:t>
            </a:r>
          </a:p>
          <a:p>
            <a:endParaRPr lang="en-US" sz="2000" b="1" dirty="0">
              <a:solidFill>
                <a:srgbClr val="FF3300"/>
              </a:solidFill>
              <a:latin typeface="Montserrat Light" panose="00000400000000000000" pitchFamily="2" charset="0"/>
            </a:endParaRPr>
          </a:p>
          <a:p>
            <a:r>
              <a:rPr lang="en-US" sz="2000" b="1" dirty="0">
                <a:solidFill>
                  <a:schemeClr val="accent2"/>
                </a:solidFill>
                <a:latin typeface="Montserrat Light" panose="00000400000000000000" pitchFamily="2" charset="0"/>
              </a:rPr>
              <a:t>6. Vibration Management, TRA UKTRA001 – Vibration </a:t>
            </a:r>
            <a:r>
              <a:rPr lang="en-GB" sz="2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hlinkClick r:id="rId2"/>
              </a:rPr>
              <a:t>here</a:t>
            </a:r>
            <a:r>
              <a:rPr lang="en-GB" sz="2000" b="1" dirty="0">
                <a:solidFill>
                  <a:schemeClr val="accent2"/>
                </a:solidFill>
                <a:latin typeface="Montserrat Light" panose="00000400000000000000" pitchFamily="2" charset="0"/>
                <a:ea typeface="Times New Roman" panose="02020603050405020304" pitchFamily="18" charset="0"/>
                <a:cs typeface="Arial" panose="020B0604020202020204" pitchFamily="34" charset="0"/>
              </a:rPr>
              <a:t> </a:t>
            </a:r>
          </a:p>
          <a:p>
            <a:endParaRPr lang="en-US" sz="2000" b="1" dirty="0">
              <a:solidFill>
                <a:schemeClr val="accent2"/>
              </a:solidFill>
              <a:latin typeface="Montserrat Light" panose="00000400000000000000" pitchFamily="2" charset="0"/>
            </a:endParaRPr>
          </a:p>
        </p:txBody>
      </p:sp>
      <p:pic>
        <p:nvPicPr>
          <p:cNvPr id="10" name="Picture 9">
            <a:extLst>
              <a:ext uri="{FF2B5EF4-FFF2-40B4-BE49-F238E27FC236}">
                <a16:creationId xmlns:a16="http://schemas.microsoft.com/office/drawing/2014/main" id="{3814A4BE-64E2-451A-94E5-DB89CFF43FB7}"/>
              </a:ext>
            </a:extLst>
          </p:cNvPr>
          <p:cNvPicPr>
            <a:picLocks noChangeAspect="1"/>
          </p:cNvPicPr>
          <p:nvPr/>
        </p:nvPicPr>
        <p:blipFill>
          <a:blip r:embed="rId3"/>
          <a:stretch>
            <a:fillRect/>
          </a:stretch>
        </p:blipFill>
        <p:spPr>
          <a:xfrm>
            <a:off x="943106" y="5117284"/>
            <a:ext cx="1425386" cy="2013358"/>
          </a:xfrm>
          <a:prstGeom prst="rect">
            <a:avLst/>
          </a:prstGeom>
        </p:spPr>
      </p:pic>
      <p:pic>
        <p:nvPicPr>
          <p:cNvPr id="4" name="Picture 3">
            <a:extLst>
              <a:ext uri="{FF2B5EF4-FFF2-40B4-BE49-F238E27FC236}">
                <a16:creationId xmlns:a16="http://schemas.microsoft.com/office/drawing/2014/main" id="{0147B6A8-D160-42DE-8B00-C18B73CB9C83}"/>
              </a:ext>
            </a:extLst>
          </p:cNvPr>
          <p:cNvPicPr>
            <a:picLocks noChangeAspect="1"/>
          </p:cNvPicPr>
          <p:nvPr/>
        </p:nvPicPr>
        <p:blipFill>
          <a:blip r:embed="rId4"/>
          <a:stretch>
            <a:fillRect/>
          </a:stretch>
        </p:blipFill>
        <p:spPr>
          <a:xfrm>
            <a:off x="3414320" y="1721535"/>
            <a:ext cx="7563886" cy="5000569"/>
          </a:xfrm>
          <a:prstGeom prst="rect">
            <a:avLst/>
          </a:prstGeom>
        </p:spPr>
      </p:pic>
      <p:sp>
        <p:nvSpPr>
          <p:cNvPr id="8" name="Rectangle 7">
            <a:extLst>
              <a:ext uri="{FF2B5EF4-FFF2-40B4-BE49-F238E27FC236}">
                <a16:creationId xmlns:a16="http://schemas.microsoft.com/office/drawing/2014/main" id="{C9B5F725-E25C-40EF-9893-F8353729E2DD}"/>
              </a:ext>
            </a:extLst>
          </p:cNvPr>
          <p:cNvSpPr/>
          <p:nvPr/>
        </p:nvSpPr>
        <p:spPr>
          <a:xfrm>
            <a:off x="212521" y="2138693"/>
            <a:ext cx="2404844" cy="2384242"/>
          </a:xfrm>
          <a:prstGeom prst="rect">
            <a:avLst/>
          </a:prstGeom>
        </p:spPr>
        <p:txBody>
          <a:bodyPr wrap="square">
            <a:spAutoFit/>
          </a:bodyPr>
          <a:lstStyle/>
          <a:p>
            <a:pPr lvl="0">
              <a:lnSpc>
                <a:spcPct val="107000"/>
              </a:lnSpc>
              <a:spcAft>
                <a:spcPts val="300"/>
              </a:spcAft>
            </a:pPr>
            <a:r>
              <a:rPr lang="en-GB" sz="1400" dirty="0">
                <a:solidFill>
                  <a:srgbClr val="002060"/>
                </a:solidFill>
                <a:latin typeface="Montserrat" panose="00000500000000000000" pitchFamily="2" charset="0"/>
                <a:ea typeface="Calibri" panose="020F0502020204030204" pitchFamily="34" charset="0"/>
                <a:cs typeface="Times New Roman" panose="02020603050405020304" pitchFamily="18" charset="0"/>
              </a:rPr>
              <a:t>Outage Managers must ensure that suitable POWRA/Task Risk Assessments are carried out and associated control measures implemented for all work, posing a significant risk to the health of workers.  </a:t>
            </a:r>
          </a:p>
        </p:txBody>
      </p:sp>
      <p:sp>
        <p:nvSpPr>
          <p:cNvPr id="7" name="TextBox 6">
            <a:extLst>
              <a:ext uri="{FF2B5EF4-FFF2-40B4-BE49-F238E27FC236}">
                <a16:creationId xmlns:a16="http://schemas.microsoft.com/office/drawing/2014/main" id="{571290BE-D370-4369-8E0E-931724CE790F}"/>
              </a:ext>
            </a:extLst>
          </p:cNvPr>
          <p:cNvSpPr txBox="1"/>
          <p:nvPr/>
        </p:nvSpPr>
        <p:spPr>
          <a:xfrm>
            <a:off x="11205213" y="6645160"/>
            <a:ext cx="755015" cy="153888"/>
          </a:xfrm>
          <a:prstGeom prst="rect">
            <a:avLst/>
          </a:prstGeom>
          <a:noFill/>
        </p:spPr>
        <p:txBody>
          <a:bodyPr wrap="none" lIns="0" tIns="0" rIns="0" bIns="0" rtlCol="0">
            <a:spAutoFit/>
          </a:bodyPr>
          <a:lstStyle/>
          <a:p>
            <a:r>
              <a:rPr lang="en-US" sz="1000" dirty="0">
                <a:solidFill>
                  <a:schemeClr val="accent2"/>
                </a:solidFill>
                <a:latin typeface="Montserrat Light" panose="00000400000000000000" pitchFamily="2" charset="0"/>
              </a:rPr>
              <a:t>v1/Dec 2020</a:t>
            </a:r>
          </a:p>
        </p:txBody>
      </p:sp>
    </p:spTree>
    <p:extLst>
      <p:ext uri="{BB962C8B-B14F-4D97-AF65-F5344CB8AC3E}">
        <p14:creationId xmlns:p14="http://schemas.microsoft.com/office/powerpoint/2010/main" val="380758798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AADBE28-32DD-4E65-975C-58F3281613C2}"/>
              </a:ext>
            </a:extLst>
          </p:cNvPr>
          <p:cNvSpPr txBox="1">
            <a:spLocks/>
          </p:cNvSpPr>
          <p:nvPr/>
        </p:nvSpPr>
        <p:spPr>
          <a:xfrm>
            <a:off x="327483" y="856270"/>
            <a:ext cx="7944062" cy="3391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r>
              <a:rPr lang="en-GB" sz="2000" b="1" dirty="0">
                <a:solidFill>
                  <a:srgbClr val="FF3300"/>
                </a:solidFill>
                <a:latin typeface="Montserrat Light" panose="00000400000000000000" pitchFamily="2" charset="0"/>
              </a:rPr>
              <a:t>FC-EU-EHS-HEA-0801-1</a:t>
            </a:r>
            <a:r>
              <a:rPr lang="en-US" sz="2000" b="1" dirty="0">
                <a:solidFill>
                  <a:srgbClr val="FF3300"/>
                </a:solidFill>
                <a:latin typeface="Montserrat Light" panose="00000400000000000000" pitchFamily="2" charset="0"/>
              </a:rPr>
              <a:t>: Management of Vibration Exposure</a:t>
            </a:r>
          </a:p>
          <a:p>
            <a:endParaRPr lang="en-US" sz="2000" b="1" dirty="0">
              <a:solidFill>
                <a:srgbClr val="FF3300"/>
              </a:solidFill>
              <a:latin typeface="Montserrat Light" panose="00000400000000000000" pitchFamily="2" charset="0"/>
            </a:endParaRPr>
          </a:p>
          <a:p>
            <a:r>
              <a:rPr lang="en-US" sz="2000" b="1" dirty="0">
                <a:solidFill>
                  <a:schemeClr val="accent2"/>
                </a:solidFill>
                <a:latin typeface="Montserrat Light" panose="00000400000000000000" pitchFamily="2" charset="0"/>
              </a:rPr>
              <a:t>7. Personal Hand-Arm Vibration Risk Assessment</a:t>
            </a:r>
          </a:p>
        </p:txBody>
      </p:sp>
      <p:pic>
        <p:nvPicPr>
          <p:cNvPr id="10" name="Picture 9">
            <a:extLst>
              <a:ext uri="{FF2B5EF4-FFF2-40B4-BE49-F238E27FC236}">
                <a16:creationId xmlns:a16="http://schemas.microsoft.com/office/drawing/2014/main" id="{3814A4BE-64E2-451A-94E5-DB89CFF43FB7}"/>
              </a:ext>
            </a:extLst>
          </p:cNvPr>
          <p:cNvPicPr>
            <a:picLocks noChangeAspect="1"/>
          </p:cNvPicPr>
          <p:nvPr/>
        </p:nvPicPr>
        <p:blipFill>
          <a:blip r:embed="rId2"/>
          <a:stretch>
            <a:fillRect/>
          </a:stretch>
        </p:blipFill>
        <p:spPr>
          <a:xfrm>
            <a:off x="117759" y="2272786"/>
            <a:ext cx="2231158" cy="3151511"/>
          </a:xfrm>
          <a:prstGeom prst="rect">
            <a:avLst/>
          </a:prstGeom>
        </p:spPr>
      </p:pic>
      <p:pic>
        <p:nvPicPr>
          <p:cNvPr id="4" name="Picture 3">
            <a:extLst>
              <a:ext uri="{FF2B5EF4-FFF2-40B4-BE49-F238E27FC236}">
                <a16:creationId xmlns:a16="http://schemas.microsoft.com/office/drawing/2014/main" id="{801F6AEA-BF9B-4FDD-8C60-F56897EA7367}"/>
              </a:ext>
            </a:extLst>
          </p:cNvPr>
          <p:cNvPicPr>
            <a:picLocks noChangeAspect="1"/>
          </p:cNvPicPr>
          <p:nvPr/>
        </p:nvPicPr>
        <p:blipFill>
          <a:blip r:embed="rId3"/>
          <a:stretch>
            <a:fillRect/>
          </a:stretch>
        </p:blipFill>
        <p:spPr>
          <a:xfrm>
            <a:off x="5331868" y="1933643"/>
            <a:ext cx="6604314" cy="4285384"/>
          </a:xfrm>
          <a:prstGeom prst="rect">
            <a:avLst/>
          </a:prstGeom>
        </p:spPr>
      </p:pic>
      <p:sp>
        <p:nvSpPr>
          <p:cNvPr id="8" name="Rectangle 7">
            <a:extLst>
              <a:ext uri="{FF2B5EF4-FFF2-40B4-BE49-F238E27FC236}">
                <a16:creationId xmlns:a16="http://schemas.microsoft.com/office/drawing/2014/main" id="{4D6D5E7A-A914-4902-A72D-7839633EA03A}"/>
              </a:ext>
            </a:extLst>
          </p:cNvPr>
          <p:cNvSpPr/>
          <p:nvPr/>
        </p:nvSpPr>
        <p:spPr>
          <a:xfrm>
            <a:off x="2077754" y="2596754"/>
            <a:ext cx="3140198" cy="2393091"/>
          </a:xfrm>
          <a:prstGeom prst="rect">
            <a:avLst/>
          </a:prstGeom>
        </p:spPr>
        <p:txBody>
          <a:bodyPr wrap="square">
            <a:spAutoFit/>
          </a:bodyPr>
          <a:lstStyle/>
          <a:p>
            <a:pPr lvl="1">
              <a:lnSpc>
                <a:spcPct val="107000"/>
              </a:lnSpc>
              <a:spcAft>
                <a:spcPts val="600"/>
              </a:spcAft>
            </a:pPr>
            <a:r>
              <a:rPr lang="en-GB" sz="1200" b="1" dirty="0">
                <a:solidFill>
                  <a:srgbClr val="000000"/>
                </a:solidFill>
                <a:latin typeface="Montserrat" panose="00000500000000000000" pitchFamily="2" charset="0"/>
                <a:ea typeface="Times New Roman" panose="02020603050405020304" pitchFamily="18" charset="0"/>
                <a:cs typeface="Times New Roman" panose="02020603050405020304" pitchFamily="18" charset="0"/>
              </a:rPr>
              <a:t>Risk Assessment:</a:t>
            </a:r>
            <a:br>
              <a:rPr lang="en-GB" sz="1200" b="1" dirty="0">
                <a:solidFill>
                  <a:srgbClr val="000000"/>
                </a:solidFill>
                <a:latin typeface="Montserrat" panose="00000500000000000000" pitchFamily="2" charset="0"/>
                <a:ea typeface="Times New Roman" panose="02020603050405020304" pitchFamily="18" charset="0"/>
                <a:cs typeface="Times New Roman" panose="02020603050405020304" pitchFamily="18" charset="0"/>
              </a:rPr>
            </a:br>
            <a:r>
              <a:rPr lang="en-GB" sz="1200" b="1" dirty="0">
                <a:solidFill>
                  <a:srgbClr val="000000"/>
                </a:solidFill>
                <a:latin typeface="Montserrat" panose="00000500000000000000" pitchFamily="2" charset="0"/>
                <a:ea typeface="Times New Roman" panose="02020603050405020304" pitchFamily="18" charset="0"/>
                <a:cs typeface="Times New Roman" panose="02020603050405020304" pitchFamily="18" charset="0"/>
              </a:rPr>
              <a:t>Need for Monitoring</a:t>
            </a:r>
          </a:p>
          <a:p>
            <a:pPr lvl="1">
              <a:lnSpc>
                <a:spcPct val="107000"/>
              </a:lnSpc>
              <a:spcAft>
                <a:spcPts val="600"/>
              </a:spcAft>
            </a:pPr>
            <a:r>
              <a:rPr lang="en-GB" sz="1200" dirty="0">
                <a:latin typeface="Montserrat" panose="00000500000000000000" pitchFamily="2" charset="0"/>
              </a:rPr>
              <a:t>Employees must complete a point of use vibration risks assessment, using FC-GL-EHS-SAF-0801-G1-A1: Hand-Arm Vibration Assessment tool (and subsequently complete and retain trigger times etc within their “HAVS Booklet”).</a:t>
            </a:r>
          </a:p>
          <a:p>
            <a:pPr lvl="1">
              <a:lnSpc>
                <a:spcPct val="107000"/>
              </a:lnSpc>
              <a:spcAft>
                <a:spcPts val="600"/>
              </a:spcAft>
            </a:pPr>
            <a:endParaRPr lang="en-GB" sz="1100" b="1" dirty="0">
              <a:solidFill>
                <a:srgbClr val="000000"/>
              </a:solidFill>
              <a:effectLst/>
              <a:latin typeface="Montserrat" panose="00000500000000000000" pitchFamily="2" charset="0"/>
              <a:ea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D00A139-3C8F-4212-B49C-CB1A4F617824}"/>
              </a:ext>
            </a:extLst>
          </p:cNvPr>
          <p:cNvSpPr txBox="1"/>
          <p:nvPr/>
        </p:nvSpPr>
        <p:spPr>
          <a:xfrm>
            <a:off x="11205213" y="6645160"/>
            <a:ext cx="755015" cy="153888"/>
          </a:xfrm>
          <a:prstGeom prst="rect">
            <a:avLst/>
          </a:prstGeom>
          <a:noFill/>
        </p:spPr>
        <p:txBody>
          <a:bodyPr wrap="none" lIns="0" tIns="0" rIns="0" bIns="0" rtlCol="0">
            <a:spAutoFit/>
          </a:bodyPr>
          <a:lstStyle/>
          <a:p>
            <a:r>
              <a:rPr lang="en-US" sz="1000" dirty="0">
                <a:solidFill>
                  <a:schemeClr val="accent2"/>
                </a:solidFill>
                <a:latin typeface="Montserrat Light" panose="00000400000000000000" pitchFamily="2" charset="0"/>
              </a:rPr>
              <a:t>v1/Dec 2020</a:t>
            </a:r>
          </a:p>
        </p:txBody>
      </p:sp>
    </p:spTree>
    <p:extLst>
      <p:ext uri="{BB962C8B-B14F-4D97-AF65-F5344CB8AC3E}">
        <p14:creationId xmlns:p14="http://schemas.microsoft.com/office/powerpoint/2010/main" val="210693637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AADBE28-32DD-4E65-975C-58F3281613C2}"/>
              </a:ext>
            </a:extLst>
          </p:cNvPr>
          <p:cNvSpPr txBox="1">
            <a:spLocks/>
          </p:cNvSpPr>
          <p:nvPr/>
        </p:nvSpPr>
        <p:spPr>
          <a:xfrm>
            <a:off x="327483" y="856270"/>
            <a:ext cx="7944062" cy="33914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r>
              <a:rPr lang="en-GB" sz="2000" b="1" dirty="0">
                <a:solidFill>
                  <a:srgbClr val="FF3300"/>
                </a:solidFill>
                <a:latin typeface="Montserrat Light" panose="00000400000000000000" pitchFamily="2" charset="0"/>
              </a:rPr>
              <a:t>FC-EU-EHS-HEA-0801-1</a:t>
            </a:r>
            <a:r>
              <a:rPr lang="en-US" sz="2000" b="1" dirty="0">
                <a:solidFill>
                  <a:srgbClr val="FF3300"/>
                </a:solidFill>
                <a:latin typeface="Montserrat Light" panose="00000400000000000000" pitchFamily="2" charset="0"/>
              </a:rPr>
              <a:t>: Management of Vibration Exposure</a:t>
            </a:r>
          </a:p>
          <a:p>
            <a:endParaRPr lang="en-US" sz="2000" b="1" dirty="0">
              <a:solidFill>
                <a:srgbClr val="FF3300"/>
              </a:solidFill>
              <a:latin typeface="Montserrat Light" panose="00000400000000000000" pitchFamily="2" charset="0"/>
            </a:endParaRPr>
          </a:p>
          <a:p>
            <a:r>
              <a:rPr lang="en-US" sz="2000" b="1" dirty="0">
                <a:solidFill>
                  <a:schemeClr val="accent2"/>
                </a:solidFill>
                <a:latin typeface="Montserrat Light" panose="00000400000000000000" pitchFamily="2" charset="0"/>
              </a:rPr>
              <a:t>8. Over Exposure Recording &amp; Reporting using </a:t>
            </a:r>
            <a:r>
              <a:rPr lang="en-US" sz="2000" b="1" dirty="0" err="1">
                <a:solidFill>
                  <a:schemeClr val="accent2"/>
                </a:solidFill>
                <a:latin typeface="Montserrat Light" panose="00000400000000000000" pitchFamily="2" charset="0"/>
              </a:rPr>
              <a:t>GenSuite</a:t>
            </a:r>
            <a:endParaRPr lang="en-US" sz="2000" b="1" dirty="0">
              <a:solidFill>
                <a:schemeClr val="accent2"/>
              </a:solidFill>
              <a:latin typeface="Montserrat Light" panose="00000400000000000000" pitchFamily="2" charset="0"/>
            </a:endParaRPr>
          </a:p>
        </p:txBody>
      </p:sp>
      <p:sp>
        <p:nvSpPr>
          <p:cNvPr id="6" name="TextBox 5">
            <a:extLst>
              <a:ext uri="{FF2B5EF4-FFF2-40B4-BE49-F238E27FC236}">
                <a16:creationId xmlns:a16="http://schemas.microsoft.com/office/drawing/2014/main" id="{05ACEFB6-113C-497D-A490-F5078329A068}"/>
              </a:ext>
            </a:extLst>
          </p:cNvPr>
          <p:cNvSpPr txBox="1"/>
          <p:nvPr/>
        </p:nvSpPr>
        <p:spPr>
          <a:xfrm>
            <a:off x="11205213" y="6645160"/>
            <a:ext cx="730969" cy="153888"/>
          </a:xfrm>
          <a:prstGeom prst="rect">
            <a:avLst/>
          </a:prstGeom>
          <a:noFill/>
        </p:spPr>
        <p:txBody>
          <a:bodyPr wrap="none" lIns="0" tIns="0" rIns="0" bIns="0" rtlCol="0">
            <a:spAutoFit/>
          </a:bodyPr>
          <a:lstStyle/>
          <a:p>
            <a:r>
              <a:rPr lang="en-US" sz="1000" dirty="0">
                <a:solidFill>
                  <a:schemeClr val="accent2"/>
                </a:solidFill>
                <a:latin typeface="Montserrat Light" panose="00000400000000000000" pitchFamily="2" charset="0"/>
              </a:rPr>
              <a:t>v1/Oct 2020</a:t>
            </a:r>
          </a:p>
        </p:txBody>
      </p:sp>
      <p:pic>
        <p:nvPicPr>
          <p:cNvPr id="3" name="Picture 2">
            <a:extLst>
              <a:ext uri="{FF2B5EF4-FFF2-40B4-BE49-F238E27FC236}">
                <a16:creationId xmlns:a16="http://schemas.microsoft.com/office/drawing/2014/main" id="{77C88302-B9DF-4A84-B007-83F52F7D65D4}"/>
              </a:ext>
            </a:extLst>
          </p:cNvPr>
          <p:cNvPicPr>
            <a:picLocks noChangeAspect="1"/>
          </p:cNvPicPr>
          <p:nvPr/>
        </p:nvPicPr>
        <p:blipFill>
          <a:blip r:embed="rId2"/>
          <a:stretch>
            <a:fillRect/>
          </a:stretch>
        </p:blipFill>
        <p:spPr>
          <a:xfrm>
            <a:off x="675624" y="2357986"/>
            <a:ext cx="10366217" cy="3963288"/>
          </a:xfrm>
          <a:prstGeom prst="rect">
            <a:avLst/>
          </a:prstGeom>
        </p:spPr>
      </p:pic>
      <p:sp>
        <p:nvSpPr>
          <p:cNvPr id="4" name="Rectangle 3">
            <a:extLst>
              <a:ext uri="{FF2B5EF4-FFF2-40B4-BE49-F238E27FC236}">
                <a16:creationId xmlns:a16="http://schemas.microsoft.com/office/drawing/2014/main" id="{A7B2D99F-4DF9-4BC1-9A0E-1C0D96E677C0}"/>
              </a:ext>
            </a:extLst>
          </p:cNvPr>
          <p:cNvSpPr/>
          <p:nvPr/>
        </p:nvSpPr>
        <p:spPr>
          <a:xfrm>
            <a:off x="8413493" y="4865614"/>
            <a:ext cx="1430448" cy="352337"/>
          </a:xfrm>
          <a:prstGeom prst="rect">
            <a:avLst/>
          </a:prstGeom>
          <a:noFill/>
          <a:ln w="28575">
            <a:solidFill>
              <a:schemeClr val="accent1"/>
            </a:solidFill>
            <a:prstDash val="sysDash"/>
          </a:ln>
        </p:spPr>
        <p:txBody>
          <a:bodyPr wrap="square" rtlCol="0" anchor="ctr">
            <a:noAutofit/>
          </a:bodyPr>
          <a:lstStyle/>
          <a:p>
            <a:pPr algn="ctr"/>
            <a:endParaRPr lang="en-GB" dirty="0">
              <a:solidFill>
                <a:schemeClr val="accent1"/>
              </a:solidFill>
              <a:ea typeface="Arial" charset="0"/>
            </a:endParaRPr>
          </a:p>
        </p:txBody>
      </p:sp>
      <p:sp>
        <p:nvSpPr>
          <p:cNvPr id="7" name="TextBox 6">
            <a:extLst>
              <a:ext uri="{FF2B5EF4-FFF2-40B4-BE49-F238E27FC236}">
                <a16:creationId xmlns:a16="http://schemas.microsoft.com/office/drawing/2014/main" id="{51B61D02-1023-43BA-80E8-50BEBC090923}"/>
              </a:ext>
            </a:extLst>
          </p:cNvPr>
          <p:cNvSpPr txBox="1"/>
          <p:nvPr/>
        </p:nvSpPr>
        <p:spPr>
          <a:xfrm>
            <a:off x="8699383" y="856270"/>
            <a:ext cx="2816993" cy="1107996"/>
          </a:xfrm>
          <a:prstGeom prst="rect">
            <a:avLst/>
          </a:prstGeom>
          <a:noFill/>
          <a:ln w="25400">
            <a:solidFill>
              <a:schemeClr val="accent1"/>
            </a:solidFill>
            <a:prstDash val="sysDash"/>
          </a:ln>
        </p:spPr>
        <p:txBody>
          <a:bodyPr wrap="square" lIns="0" tIns="0" rIns="0" bIns="0" rtlCol="0">
            <a:spAutoFit/>
          </a:bodyPr>
          <a:lstStyle/>
          <a:p>
            <a:pPr algn="ctr"/>
            <a:r>
              <a:rPr lang="en-GB" dirty="0">
                <a:solidFill>
                  <a:schemeClr val="accent2"/>
                </a:solidFill>
                <a:latin typeface="Montserrat" panose="00000500000000000000" pitchFamily="2" charset="0"/>
              </a:rPr>
              <a:t>Use this section to record an over exposure to vibration when 400 points are reached.</a:t>
            </a:r>
          </a:p>
        </p:txBody>
      </p:sp>
      <p:cxnSp>
        <p:nvCxnSpPr>
          <p:cNvPr id="9" name="Connector: Elbow 8">
            <a:extLst>
              <a:ext uri="{FF2B5EF4-FFF2-40B4-BE49-F238E27FC236}">
                <a16:creationId xmlns:a16="http://schemas.microsoft.com/office/drawing/2014/main" id="{D58DCAC3-8C79-49B0-9E22-6F45CA637DC6}"/>
              </a:ext>
            </a:extLst>
          </p:cNvPr>
          <p:cNvCxnSpPr>
            <a:cxnSpLocks/>
            <a:stCxn id="7" idx="3"/>
            <a:endCxn id="4" idx="3"/>
          </p:cNvCxnSpPr>
          <p:nvPr/>
        </p:nvCxnSpPr>
        <p:spPr>
          <a:xfrm flipH="1">
            <a:off x="9843941" y="1410268"/>
            <a:ext cx="1672435" cy="3631515"/>
          </a:xfrm>
          <a:prstGeom prst="bentConnector3">
            <a:avLst>
              <a:gd name="adj1" fmla="val -13669"/>
            </a:avLst>
          </a:prstGeom>
          <a:ln w="2540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B6D9730-F820-426E-88A4-D59999108228}"/>
              </a:ext>
            </a:extLst>
          </p:cNvPr>
          <p:cNvSpPr txBox="1"/>
          <p:nvPr/>
        </p:nvSpPr>
        <p:spPr>
          <a:xfrm>
            <a:off x="1059255" y="1828800"/>
            <a:ext cx="5468294" cy="276999"/>
          </a:xfrm>
          <a:prstGeom prst="rect">
            <a:avLst/>
          </a:prstGeom>
          <a:noFill/>
        </p:spPr>
        <p:txBody>
          <a:bodyPr wrap="square" lIns="0" tIns="0" rIns="0" bIns="0" rtlCol="0">
            <a:spAutoFit/>
          </a:bodyPr>
          <a:lstStyle/>
          <a:p>
            <a:r>
              <a:rPr lang="en-GB" dirty="0">
                <a:solidFill>
                  <a:schemeClr val="accent2"/>
                </a:solidFill>
              </a:rPr>
              <a:t>Record the </a:t>
            </a:r>
            <a:r>
              <a:rPr lang="en-GB" dirty="0">
                <a:solidFill>
                  <a:schemeClr val="accent2"/>
                </a:solidFill>
                <a:latin typeface="Montserrat" panose="00000500000000000000" pitchFamily="2" charset="0"/>
              </a:rPr>
              <a:t>Event</a:t>
            </a:r>
            <a:r>
              <a:rPr lang="en-GB" dirty="0">
                <a:solidFill>
                  <a:schemeClr val="accent2"/>
                </a:solidFill>
              </a:rPr>
              <a:t> in Gensuite as below</a:t>
            </a:r>
          </a:p>
        </p:txBody>
      </p:sp>
    </p:spTree>
    <p:extLst>
      <p:ext uri="{BB962C8B-B14F-4D97-AF65-F5344CB8AC3E}">
        <p14:creationId xmlns:p14="http://schemas.microsoft.com/office/powerpoint/2010/main" val="535059427"/>
      </p:ext>
    </p:extLst>
  </p:cSld>
  <p:clrMapOvr>
    <a:masterClrMapping/>
  </p:clrMapOvr>
  <p:transition spd="slow">
    <p:push dir="u"/>
  </p:transition>
</p:sld>
</file>

<file path=ppt/theme/theme1.xml><?xml version="1.0" encoding="utf-8"?>
<a:theme xmlns:a="http://schemas.openxmlformats.org/drawingml/2006/main" name="2_FieldCore_2017">
  <a:themeElements>
    <a:clrScheme name="GE_FieldCore_2017">
      <a:dk1>
        <a:srgbClr val="63666A"/>
      </a:dk1>
      <a:lt1>
        <a:srgbClr val="FFFFFF"/>
      </a:lt1>
      <a:dk2>
        <a:srgbClr val="B1B3B3"/>
      </a:dk2>
      <a:lt2>
        <a:srgbClr val="F0F0F0"/>
      </a:lt2>
      <a:accent1>
        <a:srgbClr val="FE5000"/>
      </a:accent1>
      <a:accent2>
        <a:srgbClr val="090936"/>
      </a:accent2>
      <a:accent3>
        <a:srgbClr val="3EAE2A"/>
      </a:accent3>
      <a:accent4>
        <a:srgbClr val="636669"/>
      </a:accent4>
      <a:accent5>
        <a:srgbClr val="00B5E2"/>
      </a:accent5>
      <a:accent6>
        <a:srgbClr val="005EB8"/>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66ED2"/>
        </a:solidFill>
      </a:spPr>
      <a:bodyPr wrap="square" rtlCol="0" anchor="ctr">
        <a:noAutofit/>
      </a:bodyPr>
      <a:lstStyle>
        <a:defPPr algn="ctr">
          <a:defRPr dirty="0" smtClean="0">
            <a:solidFill>
              <a:schemeClr val="bg1"/>
            </a:solidFill>
            <a:ea typeface="Arial" charset="0"/>
          </a:defRPr>
        </a:defPPr>
      </a:lstStyle>
    </a:spDef>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rocess_x0020_Owmer xmlns="25586fb6-ed09-4f2d-8ea7-eda1a9fd2320">
      <UserInfo>
        <DisplayName>Bluhm, Joyce (FieldCore)</DisplayName>
        <AccountId>72</AccountId>
        <AccountType/>
      </UserInfo>
    </Process_x0020_Owmer>
    <Functional_x0020_Owner xmlns="25586fb6-ed09-4f2d-8ea7-eda1a9fd2320">Management Processes - Leadership and Commitment</Functional_x0020_Owner>
    <Nomenclature xmlns="25586fb6-ed09-4f2d-8ea7-eda1a9fd2320">FC-EU-EHS-HEA-0801-G1</Nomenclature>
    <LastReviewDate xmlns="cc7fbaa3-8214-4644-99f1-d2e5a6ae9914" xsi:nil="true"/>
    <RevisionNumber xmlns="cc7fbaa3-8214-4644-99f1-d2e5a6ae9914" xsi:nil="true"/>
  </documentManagement>
</p:properties>
</file>

<file path=customXml/itemProps1.xml><?xml version="1.0" encoding="utf-8"?>
<ds:datastoreItem xmlns:ds="http://schemas.openxmlformats.org/officeDocument/2006/customXml" ds:itemID="{E831FB11-3D76-4925-A536-5F41ECC5A475}"/>
</file>

<file path=customXml/itemProps2.xml><?xml version="1.0" encoding="utf-8"?>
<ds:datastoreItem xmlns:ds="http://schemas.openxmlformats.org/officeDocument/2006/customXml" ds:itemID="{9995C52B-9167-4EC7-800F-02C1DBCFD42B}"/>
</file>

<file path=customXml/itemProps3.xml><?xml version="1.0" encoding="utf-8"?>
<ds:datastoreItem xmlns:ds="http://schemas.openxmlformats.org/officeDocument/2006/customXml" ds:itemID="{B0D29ED9-E0C2-4014-BCC8-A15362BAA829}"/>
</file>

<file path=docProps/app.xml><?xml version="1.0" encoding="utf-8"?>
<Properties xmlns="http://schemas.openxmlformats.org/officeDocument/2006/extended-properties" xmlns:vt="http://schemas.openxmlformats.org/officeDocument/2006/docPropsVTypes">
  <Template>Office Theme</Template>
  <TotalTime>2103</TotalTime>
  <Words>1422</Words>
  <Application>Microsoft Office PowerPoint</Application>
  <PresentationFormat>Widescreen</PresentationFormat>
  <Paragraphs>286</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Arial</vt:lpstr>
      <vt:lpstr>Calibri</vt:lpstr>
      <vt:lpstr>Courier New</vt:lpstr>
      <vt:lpstr>GE Inspira Sans</vt:lpstr>
      <vt:lpstr>Gotham Rounded Book</vt:lpstr>
      <vt:lpstr>Gotham Rounded Medium</vt:lpstr>
      <vt:lpstr>Montserrat</vt:lpstr>
      <vt:lpstr>Montserrat Light</vt:lpstr>
      <vt:lpstr>Symbol</vt:lpstr>
      <vt:lpstr>2_FieldCore_2017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Bluhm, Joyce (Granite)</dc:creator>
  <cp:lastModifiedBy>Bluhm, Joyce (FieldCore)</cp:lastModifiedBy>
  <cp:revision>133</cp:revision>
  <cp:lastPrinted>2017-10-19T16:01:57Z</cp:lastPrinted>
  <dcterms:created xsi:type="dcterms:W3CDTF">2017-10-10T13:26:34Z</dcterms:created>
  <dcterms:modified xsi:type="dcterms:W3CDTF">2020-12-02T15:04:30Z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ies>
</file>