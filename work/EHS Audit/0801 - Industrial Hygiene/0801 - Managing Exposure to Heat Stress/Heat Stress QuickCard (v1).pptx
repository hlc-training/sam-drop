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331" r:id="rId5"/>
  </p:sldIdLst>
  <p:sldSz cx="12192000" cy="6858000"/>
  <p:notesSz cx="6938963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nway, Ross (FieldCore)" initials="RC" lastIdx="1" clrIdx="0">
    <p:extLst>
      <p:ext uri="{19B8F6BF-5375-455C-9EA6-DF929625EA0E}">
        <p15:presenceInfo xmlns:p15="http://schemas.microsoft.com/office/powerpoint/2012/main" userId="Conway, Ross (FieldCore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761C"/>
    <a:srgbClr val="FF6600"/>
    <a:srgbClr val="CC6600"/>
    <a:srgbClr val="6699FF"/>
    <a:srgbClr val="64604A"/>
    <a:srgbClr val="A6A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672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0650" y="0"/>
            <a:ext cx="300672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BCD96-484B-4533-9DB1-380D9D9B9B12}" type="datetimeFigureOut">
              <a:rPr lang="en-US" smtClean="0"/>
              <a:t>8/6/2021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54113"/>
            <a:ext cx="5541963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738" y="4445000"/>
            <a:ext cx="5551487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0672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0650" y="8772525"/>
            <a:ext cx="300672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9E662-14CC-4616-9794-D7AFEDED4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7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5CA386-177A-43DD-8BBF-51B8E8B71889}"/>
              </a:ext>
            </a:extLst>
          </p:cNvPr>
          <p:cNvSpPr txBox="1"/>
          <p:nvPr userDrawn="1"/>
        </p:nvSpPr>
        <p:spPr>
          <a:xfrm>
            <a:off x="317128" y="141214"/>
            <a:ext cx="4753994" cy="64633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878787"/>
                </a:solidFill>
              </a:defRPr>
            </a:lvl1pPr>
          </a:lstStyle>
          <a:p>
            <a:r>
              <a:rPr lang="en-US" sz="1400" dirty="0">
                <a:solidFill>
                  <a:schemeClr val="accent2"/>
                </a:solidFill>
                <a:latin typeface="Gotham Rounded Medium" panose="02000000000000000000" pitchFamily="50" charset="0"/>
              </a:rPr>
              <a:t>FIELDCORE EHS MANAGEMENT SYSTEM </a:t>
            </a:r>
          </a:p>
          <a:p>
            <a:r>
              <a:rPr lang="en-US" sz="2800" b="0" dirty="0">
                <a:solidFill>
                  <a:schemeClr val="accent2"/>
                </a:solidFill>
                <a:latin typeface="Gotham Rounded Medium" panose="02000000000000000000" pitchFamily="50" charset="0"/>
              </a:rPr>
              <a:t>EHS Procedure QuickCard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25A07-96D0-4C30-9DF2-A8F83D501A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545" y="141214"/>
            <a:ext cx="2349386" cy="91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1455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2" y="354626"/>
            <a:ext cx="11033759" cy="9144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594360" y="6288895"/>
            <a:ext cx="11003280" cy="0"/>
          </a:xfrm>
          <a:prstGeom prst="line">
            <a:avLst/>
          </a:prstGeom>
          <a:ln w="28575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>
            <a:off x="3517392" y="6492607"/>
            <a:ext cx="51572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sz="1000" b="0" i="0" dirty="0">
                <a:solidFill>
                  <a:schemeClr val="tx2"/>
                </a:solidFill>
                <a:latin typeface="Gotham Rounded Book" charset="0"/>
                <a:ea typeface="Gotham Rounded Book" charset="0"/>
                <a:cs typeface="Gotham Rounded Book" charset="0"/>
              </a:rPr>
              <a:t>Confidential. Not to be copied, distributed, or reproduced without prior approval.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1" y="1436716"/>
            <a:ext cx="110108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C7072-D51C-4648-82EF-DF1D1C0FC5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86" y="6200537"/>
            <a:ext cx="1743462" cy="67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78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ransition spd="slow">
    <p:push dir="u"/>
  </p:transition>
  <p:hf hdr="0"/>
  <p:txStyles>
    <p:titleStyle>
      <a:lvl1pPr algn="ctr" defTabSz="685728" rtl="0" eaLnBrk="1" latinLnBrk="0" hangingPunct="1">
        <a:lnSpc>
          <a:spcPct val="90000"/>
        </a:lnSpc>
        <a:spcBef>
          <a:spcPct val="0"/>
        </a:spcBef>
        <a:buNone/>
        <a:defRPr sz="3360" kern="1200" spc="0">
          <a:solidFill>
            <a:schemeClr val="accent2"/>
          </a:solidFill>
          <a:latin typeface="Gotham Rounded Book" charset="0"/>
          <a:ea typeface="Gotham Rounded Book" charset="0"/>
          <a:cs typeface="Gotham Rounded Book" charset="0"/>
        </a:defRPr>
      </a:lvl1pPr>
    </p:titleStyle>
    <p:bodyStyle>
      <a:lvl1pPr marL="116573" indent="-116573" algn="l" defTabSz="685728" rtl="0" eaLnBrk="1" latinLnBrk="0" hangingPunct="1">
        <a:lnSpc>
          <a:spcPct val="90000"/>
        </a:lnSpc>
        <a:spcBef>
          <a:spcPts val="600"/>
        </a:spcBef>
        <a:spcAft>
          <a:spcPts val="224"/>
        </a:spcAft>
        <a:buClr>
          <a:schemeClr val="accent1"/>
        </a:buClr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Gotham Rounded Book" charset="0"/>
          <a:ea typeface="Gotham Rounded Book" charset="0"/>
          <a:cs typeface="Gotham Rounded Book" charset="0"/>
        </a:defRPr>
      </a:lvl1pPr>
      <a:lvl2pPr marL="116573" indent="0" algn="l" defTabSz="685728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350" b="0" i="0" kern="1200">
          <a:solidFill>
            <a:schemeClr val="tx1"/>
          </a:solidFill>
          <a:latin typeface="Gotham Rounded Book" charset="0"/>
          <a:ea typeface="Gotham Rounded Book" charset="0"/>
          <a:cs typeface="Gotham Rounded Book" charset="0"/>
        </a:defRPr>
      </a:lvl2pPr>
      <a:lvl3pPr marL="116573" indent="-116573" algn="l" defTabSz="685728" rtl="0" eaLnBrk="1" latinLnBrk="0" hangingPunct="1">
        <a:lnSpc>
          <a:spcPct val="90000"/>
        </a:lnSpc>
        <a:spcBef>
          <a:spcPts val="1544"/>
        </a:spcBef>
        <a:spcAft>
          <a:spcPts val="224"/>
        </a:spcAft>
        <a:buClr>
          <a:schemeClr val="accent1"/>
        </a:buClr>
        <a:buSzPct val="91000"/>
        <a:buFont typeface="Arial" charset="0"/>
        <a:buChar char="•"/>
        <a:defRPr lang="en-US" sz="1200" b="0" i="0" kern="1200" dirty="0">
          <a:solidFill>
            <a:schemeClr val="tx1"/>
          </a:solidFill>
          <a:latin typeface="Gotham Rounded Book" charset="0"/>
          <a:ea typeface="Gotham Rounded Book" charset="0"/>
          <a:cs typeface="Gotham Rounded Book" charset="0"/>
        </a:defRPr>
      </a:lvl3pPr>
      <a:lvl4pPr marL="116573" indent="0" algn="l" defTabSz="685728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050" b="0" i="0" kern="1200">
          <a:solidFill>
            <a:schemeClr val="tx1"/>
          </a:solidFill>
          <a:latin typeface="Gotham Rounded Book" charset="0"/>
          <a:ea typeface="Gotham Rounded Book" charset="0"/>
          <a:cs typeface="Gotham Rounded Book" charset="0"/>
        </a:defRPr>
      </a:lvl4pPr>
      <a:lvl5pPr marL="116573" indent="-116573" algn="l" defTabSz="685728" rtl="0" eaLnBrk="1" latinLnBrk="0" hangingPunct="1">
        <a:lnSpc>
          <a:spcPct val="99000"/>
        </a:lnSpc>
        <a:spcBef>
          <a:spcPts val="674"/>
        </a:spcBef>
        <a:buClr>
          <a:schemeClr val="accent5"/>
        </a:buClr>
        <a:buSzPct val="91000"/>
        <a:buFont typeface="Arial" panose="020B0604020202020204" pitchFamily="34" charset="0"/>
        <a:buChar char="•"/>
        <a:defRPr sz="135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44005" indent="0" algn="l" defTabSz="685728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35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685728" rtl="0" eaLnBrk="1" latinLnBrk="0" hangingPunct="1">
        <a:lnSpc>
          <a:spcPct val="99000"/>
        </a:lnSpc>
        <a:spcBef>
          <a:spcPts val="674"/>
        </a:spcBef>
        <a:buSzPct val="91000"/>
        <a:buFontTx/>
        <a:buNone/>
        <a:defRPr sz="135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685728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35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685728" rtl="0" eaLnBrk="1" latinLnBrk="0" hangingPunct="1">
        <a:lnSpc>
          <a:spcPct val="99000"/>
        </a:lnSpc>
        <a:spcBef>
          <a:spcPts val="674"/>
        </a:spcBef>
        <a:buSzPct val="91000"/>
        <a:buFontTx/>
        <a:buNone/>
        <a:defRPr sz="1350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28" rtl="0" eaLnBrk="1" latinLnBrk="0" hangingPunct="1">
        <a:lnSpc>
          <a:spcPct val="99000"/>
        </a:lnSpc>
        <a:defRPr sz="105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685728" rtl="0" eaLnBrk="1" latinLnBrk="0" hangingPunct="1">
        <a:lnSpc>
          <a:spcPct val="99000"/>
        </a:lnSpc>
        <a:spcBef>
          <a:spcPts val="674"/>
        </a:spcBef>
        <a:defRPr sz="105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6573" indent="-116573" algn="l" defTabSz="685728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105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16573" indent="-116573" algn="l" defTabSz="685728" rtl="0" eaLnBrk="1" latinLnBrk="0" hangingPunct="1">
        <a:lnSpc>
          <a:spcPct val="99000"/>
        </a:lnSpc>
        <a:spcBef>
          <a:spcPts val="674"/>
        </a:spcBef>
        <a:buSzPct val="91000"/>
        <a:buFont typeface="Arial" panose="020B0604020202020204" pitchFamily="34" charset="0"/>
        <a:buChar char="•"/>
        <a:defRPr sz="105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116573" algn="l" defTabSz="685728" rtl="0" eaLnBrk="1" latinLnBrk="0" hangingPunct="1">
        <a:lnSpc>
          <a:spcPct val="99000"/>
        </a:lnSpc>
        <a:defRPr sz="105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685728" rtl="0" eaLnBrk="1" latinLnBrk="0" hangingPunct="1">
        <a:lnSpc>
          <a:spcPct val="99000"/>
        </a:lnSpc>
        <a:defRPr sz="105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685728" rtl="0" eaLnBrk="1" latinLnBrk="0" hangingPunct="1">
        <a:lnSpc>
          <a:spcPct val="99000"/>
        </a:lnSpc>
        <a:defRPr sz="105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685728" rtl="0" eaLnBrk="1" latinLnBrk="0" hangingPunct="1">
        <a:lnSpc>
          <a:spcPct val="99000"/>
        </a:lnSpc>
        <a:defRPr sz="105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685728" rtl="0" eaLnBrk="1" latinLnBrk="0" hangingPunct="1">
        <a:lnSpc>
          <a:spcPct val="99000"/>
        </a:lnSpc>
        <a:defRPr sz="105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94" userDrawn="1">
          <p15:clr>
            <a:srgbClr val="F26B43"/>
          </p15:clr>
        </p15:guide>
        <p15:guide id="2" pos="3200" userDrawn="1">
          <p15:clr>
            <a:srgbClr val="F26B43"/>
          </p15:clr>
        </p15:guide>
        <p15:guide id="3" pos="300" userDrawn="1">
          <p15:clr>
            <a:srgbClr val="F26B43"/>
          </p15:clr>
        </p15:guide>
        <p15:guide id="4" pos="6080" userDrawn="1">
          <p15:clr>
            <a:srgbClr val="F26B43"/>
          </p15:clr>
        </p15:guide>
        <p15:guide id="5" pos="820" userDrawn="1">
          <p15:clr>
            <a:srgbClr val="F26B43"/>
          </p15:clr>
        </p15:guide>
        <p15:guide id="6" orient="horz" pos="3423" userDrawn="1">
          <p15:clr>
            <a:srgbClr val="F26B43"/>
          </p15:clr>
        </p15:guide>
        <p15:guide id="7" pos="480" userDrawn="1">
          <p15:clr>
            <a:srgbClr val="F26B43"/>
          </p15:clr>
        </p15:guide>
        <p15:guide id="8" pos="59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hyperlink" Target="https://spo-teamsite.ge.com/:x:/r/sites/fieldcore/functions/ehs/EHS%20Risk%20Management/Task%20Risk%20Assessments/Industrial%20Hygiene%20(IH)%20Risk%20Assessments/IH%20TRA%20-%20IH03%20-%20Heat%20Stress%20-%20Issue%201.xlsm?d=w57d2ea31c1b2466eb32ca9a2c7306951&amp;csf=1&amp;web=1&amp;e=HfpqNc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758">
            <a:extLst>
              <a:ext uri="{FF2B5EF4-FFF2-40B4-BE49-F238E27FC236}">
                <a16:creationId xmlns:a16="http://schemas.microsoft.com/office/drawing/2014/main" id="{ED799BE4-B781-4FDD-AB5A-869D3FF08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55619"/>
              </p:ext>
            </p:extLst>
          </p:nvPr>
        </p:nvGraphicFramePr>
        <p:xfrm>
          <a:off x="7826454" y="856270"/>
          <a:ext cx="4277015" cy="2598409"/>
        </p:xfrm>
        <a:graphic>
          <a:graphicData uri="http://schemas.openxmlformats.org/drawingml/2006/table">
            <a:tbl>
              <a:tblPr/>
              <a:tblGrid>
                <a:gridCol w="4277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716">
                <a:tc>
                  <a:txBody>
                    <a:bodyPr/>
                    <a:lstStyle/>
                    <a:p>
                      <a:pPr marL="0" marR="0" lvl="0" indent="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2425" algn="l"/>
                          <a:tab pos="722313" algn="l"/>
                          <a:tab pos="1074738" algn="l"/>
                          <a:tab pos="1427163" algn="l"/>
                          <a:tab pos="1700213" algn="l"/>
                        </a:tabLst>
                      </a:pPr>
                      <a:r>
                        <a:rPr lang="en-AU" sz="1600" b="1" kern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+mj-ea"/>
                          <a:cs typeface="Arial" pitchFamily="34" charset="0"/>
                        </a:rPr>
                        <a:t>Key Elements &amp; Changes</a:t>
                      </a: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034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050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General update, includes</a:t>
                      </a:r>
                      <a:r>
                        <a:rPr kumimoji="0" lang="en-GB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288023" lvl="2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New Appendix B: Heat Index Risk Assessment</a:t>
                      </a:r>
                    </a:p>
                    <a:p>
                      <a:pPr marL="288023" lvl="2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New - FC-GL-EHS-SAF-0801-G2-1: Heat Index Calculator</a:t>
                      </a:r>
                    </a:p>
                    <a:p>
                      <a:pPr marL="288023" lvl="2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New - FC-GL-EHS-SAF-0801-G2-2: - Are You Hydrated?</a:t>
                      </a:r>
                    </a:p>
                    <a:p>
                      <a:pPr marL="288023" lvl="2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Several small changes to text to aid readability and planning </a:t>
                      </a:r>
                      <a:endParaRPr kumimoji="0" lang="en-GB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  <a:p>
                      <a:pPr marL="116573" lvl="2" indent="0">
                        <a:lnSpc>
                          <a:spcPct val="150000"/>
                        </a:lnSpc>
                        <a:buNone/>
                      </a:pPr>
                      <a:endParaRPr kumimoji="0" lang="en-GB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69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GB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692436"/>
                  </a:ext>
                </a:extLst>
              </a:tr>
            </a:tbl>
          </a:graphicData>
        </a:graphic>
      </p:graphicFrame>
      <p:graphicFrame>
        <p:nvGraphicFramePr>
          <p:cNvPr id="3" name="Group 758">
            <a:extLst>
              <a:ext uri="{FF2B5EF4-FFF2-40B4-BE49-F238E27FC236}">
                <a16:creationId xmlns:a16="http://schemas.microsoft.com/office/drawing/2014/main" id="{0ED43FA4-AADD-4EBB-B020-30FD54F75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915863"/>
              </p:ext>
            </p:extLst>
          </p:nvPr>
        </p:nvGraphicFramePr>
        <p:xfrm>
          <a:off x="7832811" y="2679196"/>
          <a:ext cx="4277015" cy="2567469"/>
        </p:xfrm>
        <a:graphic>
          <a:graphicData uri="http://schemas.openxmlformats.org/drawingml/2006/table">
            <a:tbl>
              <a:tblPr/>
              <a:tblGrid>
                <a:gridCol w="4277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3058">
                <a:tc>
                  <a:txBody>
                    <a:bodyPr/>
                    <a:lstStyle/>
                    <a:p>
                      <a:pPr marL="0" marR="0" lvl="0" indent="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2425" algn="l"/>
                          <a:tab pos="722313" algn="l"/>
                          <a:tab pos="1074738" algn="l"/>
                          <a:tab pos="1427163" algn="l"/>
                          <a:tab pos="1700213" algn="l"/>
                        </a:tabLst>
                      </a:pPr>
                      <a:r>
                        <a:rPr lang="en-AU" sz="1600" b="1" kern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+mj-ea"/>
                          <a:cs typeface="Arial" pitchFamily="34" charset="0"/>
                        </a:rPr>
                        <a:t>Reference Documents / Tools</a:t>
                      </a:r>
                      <a:endParaRPr lang="en-AU" sz="1600" b="0" kern="1200" dirty="0">
                        <a:solidFill>
                          <a:schemeClr val="bg1"/>
                        </a:solidFill>
                        <a:latin typeface="Montserrat" panose="00000500000000000000" pitchFamily="2" charset="0"/>
                        <a:ea typeface="+mj-ea"/>
                        <a:cs typeface="Arial" pitchFamily="34" charset="0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304">
                <a:tc>
                  <a:txBody>
                    <a:bodyPr/>
                    <a:lstStyle/>
                    <a:p>
                      <a:pPr marL="171450" marR="0" lvl="0" indent="-171450" algn="l" defTabSz="685728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Appendix A : Heat Stress – Prevention Recognition and First Aid</a:t>
                      </a:r>
                    </a:p>
                    <a:p>
                      <a:pPr marL="171450" marR="0" lvl="0" indent="-171450" algn="l" defTabSz="685728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New - Appendix B: Heat Index Risk Assessment: Hydration and Work/Rest Schedules </a:t>
                      </a:r>
                    </a:p>
                    <a:p>
                      <a:pPr marL="171450" marR="0" lvl="0" indent="-171450" algn="l" defTabSz="685728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New - FC-GL-EHS-SAF-0801-G2-1: Heat Index Calculator</a:t>
                      </a:r>
                    </a:p>
                    <a:p>
                      <a:pPr marL="171450" marR="0" lvl="0" indent="-171450" algn="l" defTabSz="685728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New - FC-GL-EHS-SAF-0801-G2-2: - Are You Hydrated?</a:t>
                      </a:r>
                    </a:p>
                    <a:p>
                      <a:pPr marL="171450" marR="0" lvl="0" indent="-171450" algn="l" defTabSz="685728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Industrial Hygiene Task Risk Assessment:  Heat Stress </a:t>
                      </a:r>
                      <a:r>
                        <a:rPr lang="en-GB" sz="1050" u="sng" dirty="0">
                          <a:solidFill>
                            <a:srgbClr val="0563C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here</a:t>
                      </a:r>
                      <a:r>
                        <a:rPr lang="en-GB" sz="1050" dirty="0"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171450" marR="71755" lvl="0" indent="-17145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endParaRPr lang="en-GB" sz="1050" dirty="0"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685728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728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GB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758">
            <a:extLst>
              <a:ext uri="{FF2B5EF4-FFF2-40B4-BE49-F238E27FC236}">
                <a16:creationId xmlns:a16="http://schemas.microsoft.com/office/drawing/2014/main" id="{E253149D-3A7F-48DD-9474-CA7814DA1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89840"/>
              </p:ext>
            </p:extLst>
          </p:nvPr>
        </p:nvGraphicFramePr>
        <p:xfrm>
          <a:off x="7889909" y="4906946"/>
          <a:ext cx="4213560" cy="1315625"/>
        </p:xfrm>
        <a:graphic>
          <a:graphicData uri="http://schemas.openxmlformats.org/drawingml/2006/table">
            <a:tbl>
              <a:tblPr/>
              <a:tblGrid>
                <a:gridCol w="421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5666">
                <a:tc>
                  <a:txBody>
                    <a:bodyPr/>
                    <a:lstStyle/>
                    <a:p>
                      <a:pPr marL="0" marR="0" lvl="0" indent="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2425" algn="l"/>
                          <a:tab pos="722313" algn="l"/>
                          <a:tab pos="1074738" algn="l"/>
                          <a:tab pos="1427163" algn="l"/>
                          <a:tab pos="1700213" algn="l"/>
                        </a:tabLst>
                      </a:pPr>
                      <a:r>
                        <a:rPr lang="en-AU" sz="1600" b="1" kern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+mj-ea"/>
                          <a:cs typeface="Arial" pitchFamily="34" charset="0"/>
                        </a:rPr>
                        <a:t>Further Work / Support</a:t>
                      </a: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169">
                <a:tc>
                  <a:txBody>
                    <a:bodyPr/>
                    <a:lstStyle/>
                    <a:p>
                      <a:pPr marL="0" lvl="0" algn="l" defTabSz="685728" rtl="0" eaLnBrk="1" latinLnBrk="0" hangingPunct="1">
                        <a:lnSpc>
                          <a:spcPct val="99000"/>
                        </a:lnSpc>
                      </a:pPr>
                      <a:r>
                        <a:rPr kumimoji="0" lang="en-GB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SME Support: Ross Conway – FC Industrial Hygienist </a:t>
                      </a:r>
                    </a:p>
                    <a:p>
                      <a:pPr marL="0" lvl="0" algn="l" defTabSz="685728" rtl="0" eaLnBrk="1" latinLnBrk="0" hangingPunct="1">
                        <a:lnSpc>
                          <a:spcPct val="99000"/>
                        </a:lnSpc>
                      </a:pPr>
                      <a:endParaRPr kumimoji="0" lang="en-GB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itchFamily="34" charset="0"/>
                      </a:endParaRPr>
                    </a:p>
                    <a:p>
                      <a:pPr marL="0" lvl="0" algn="l" defTabSz="685728" rtl="0" eaLnBrk="1" latinLnBrk="0" hangingPunct="1">
                        <a:lnSpc>
                          <a:spcPct val="99000"/>
                        </a:lnSpc>
                      </a:pPr>
                      <a:r>
                        <a:rPr kumimoji="0" lang="en-GB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Full Implementation by: 31 October 2021</a:t>
                      </a: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ACEFB6-113C-497D-A490-F5078329A068}"/>
              </a:ext>
            </a:extLst>
          </p:cNvPr>
          <p:cNvSpPr txBox="1"/>
          <p:nvPr/>
        </p:nvSpPr>
        <p:spPr>
          <a:xfrm>
            <a:off x="10959547" y="6584180"/>
            <a:ext cx="84157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00" dirty="0">
                <a:solidFill>
                  <a:schemeClr val="accent2"/>
                </a:solidFill>
                <a:latin typeface="Montserrat" panose="00000500000000000000" pitchFamily="2" charset="0"/>
              </a:rPr>
              <a:t>v1/August 2021</a:t>
            </a:r>
          </a:p>
        </p:txBody>
      </p:sp>
      <p:pic>
        <p:nvPicPr>
          <p:cNvPr id="9" name="Graphic 8" descr="Network">
            <a:extLst>
              <a:ext uri="{FF2B5EF4-FFF2-40B4-BE49-F238E27FC236}">
                <a16:creationId xmlns:a16="http://schemas.microsoft.com/office/drawing/2014/main" id="{6DCCC11D-343C-484F-B547-290870645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7997" y="2644717"/>
            <a:ext cx="437499" cy="357700"/>
          </a:xfrm>
          <a:prstGeom prst="rect">
            <a:avLst/>
          </a:prstGeom>
        </p:spPr>
      </p:pic>
      <p:pic>
        <p:nvPicPr>
          <p:cNvPr id="13" name="Graphic 12" descr="Repeat">
            <a:extLst>
              <a:ext uri="{FF2B5EF4-FFF2-40B4-BE49-F238E27FC236}">
                <a16:creationId xmlns:a16="http://schemas.microsoft.com/office/drawing/2014/main" id="{67436DE8-3212-403B-8DF1-D8A54D69CA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6185" y="856270"/>
            <a:ext cx="339143" cy="339143"/>
          </a:xfrm>
          <a:prstGeom prst="rect">
            <a:avLst/>
          </a:prstGeom>
        </p:spPr>
      </p:pic>
      <p:pic>
        <p:nvPicPr>
          <p:cNvPr id="15" name="Graphic 14" descr="Bullseye">
            <a:extLst>
              <a:ext uri="{FF2B5EF4-FFF2-40B4-BE49-F238E27FC236}">
                <a16:creationId xmlns:a16="http://schemas.microsoft.com/office/drawing/2014/main" id="{610E8D05-CB5D-44B4-B8B3-82B4BC0B23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96905" y="4898557"/>
            <a:ext cx="357701" cy="35770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AADBE28-32DD-4E65-975C-58F3281613C2}"/>
              </a:ext>
            </a:extLst>
          </p:cNvPr>
          <p:cNvSpPr txBox="1">
            <a:spLocks/>
          </p:cNvSpPr>
          <p:nvPr/>
        </p:nvSpPr>
        <p:spPr>
          <a:xfrm>
            <a:off x="344838" y="824950"/>
            <a:ext cx="6980221" cy="554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300"/>
              </a:spcBef>
              <a:spcAft>
                <a:spcPts val="300"/>
              </a:spcAft>
              <a:tabLst>
                <a:tab pos="5730875" algn="r"/>
              </a:tabLst>
            </a:pPr>
            <a:r>
              <a:rPr lang="en-US" sz="1800" b="1" dirty="0">
                <a:solidFill>
                  <a:schemeClr val="accent1"/>
                </a:solidFill>
                <a:latin typeface="Montserrat" panose="00000500000000000000" pitchFamily="2" charset="0"/>
              </a:rPr>
              <a:t>MANAGING EXPOSURE TO HEAT STRESS: </a:t>
            </a:r>
          </a:p>
          <a:p>
            <a:pPr>
              <a:spcBef>
                <a:spcPts val="300"/>
              </a:spcBef>
              <a:spcAft>
                <a:spcPts val="300"/>
              </a:spcAft>
              <a:tabLst>
                <a:tab pos="5730875" algn="r"/>
              </a:tabLst>
            </a:pPr>
            <a:r>
              <a:rPr lang="en-US" sz="1800" b="1" dirty="0">
                <a:solidFill>
                  <a:schemeClr val="accent1"/>
                </a:solidFill>
                <a:latin typeface="Montserrat" panose="00000500000000000000" pitchFamily="2" charset="0"/>
              </a:rPr>
              <a:t>F</a:t>
            </a:r>
            <a:r>
              <a:rPr lang="en-GB" sz="1800" b="1" dirty="0">
                <a:solidFill>
                  <a:schemeClr val="accent1"/>
                </a:solidFill>
                <a:latin typeface="Montserrat" panose="00000500000000000000" pitchFamily="2" charset="0"/>
              </a:rPr>
              <a:t>C-GL-EHS-SAF-0801-G2</a:t>
            </a:r>
            <a:r>
              <a:rPr lang="en-GB" sz="1800" b="1" dirty="0">
                <a:solidFill>
                  <a:srgbClr val="FF3300"/>
                </a:solidFill>
                <a:latin typeface="Montserrat" panose="00000500000000000000" pitchFamily="2" charset="0"/>
              </a:rPr>
              <a:t> </a:t>
            </a:r>
            <a:r>
              <a:rPr lang="en-GB" sz="1200" b="1" dirty="0">
                <a:solidFill>
                  <a:srgbClr val="FF3300"/>
                </a:solidFill>
                <a:latin typeface="Montserrat" panose="00000500000000000000" pitchFamily="2" charset="0"/>
              </a:rPr>
              <a:t>(Issue 2)</a:t>
            </a:r>
            <a:endParaRPr lang="en-GB" sz="1800" b="1" dirty="0">
              <a:solidFill>
                <a:srgbClr val="FF3300"/>
              </a:solidFill>
              <a:latin typeface="Montserrat" panose="00000500000000000000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B0D3F75-BED8-48D6-AA64-15C7F9974CEE}"/>
              </a:ext>
            </a:extLst>
          </p:cNvPr>
          <p:cNvGrpSpPr/>
          <p:nvPr/>
        </p:nvGrpSpPr>
        <p:grpSpPr>
          <a:xfrm>
            <a:off x="638451" y="1496093"/>
            <a:ext cx="6305558" cy="5088087"/>
            <a:chOff x="705005" y="1230029"/>
            <a:chExt cx="6392995" cy="515733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92A6F6D-ABA7-4E98-A418-41AAF18FDD87}"/>
                </a:ext>
              </a:extLst>
            </p:cNvPr>
            <p:cNvGrpSpPr/>
            <p:nvPr/>
          </p:nvGrpSpPr>
          <p:grpSpPr>
            <a:xfrm>
              <a:off x="834818" y="1230029"/>
              <a:ext cx="5098887" cy="1730446"/>
              <a:chOff x="128647" y="1110803"/>
              <a:chExt cx="5098887" cy="173044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76380E57-79D2-476B-96B9-7D2E32545F95}"/>
                  </a:ext>
                </a:extLst>
              </p:cNvPr>
              <p:cNvGrpSpPr/>
              <p:nvPr/>
            </p:nvGrpSpPr>
            <p:grpSpPr>
              <a:xfrm>
                <a:off x="1067734" y="1225493"/>
                <a:ext cx="4159800" cy="1615756"/>
                <a:chOff x="1029921" y="1401748"/>
                <a:chExt cx="4159800" cy="1615756"/>
              </a:xfrm>
            </p:grpSpPr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08E6C1A7-5AD7-4953-8EE9-AF9E4CC165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9921" y="1401748"/>
                  <a:ext cx="3689802" cy="1615756"/>
                </a:xfrm>
                <a:prstGeom prst="rect">
                  <a:avLst/>
                </a:prstGeom>
              </p:spPr>
            </p:pic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F723BAFB-7CD9-4E3C-94CD-08671BEDBF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10239" y="1710346"/>
                  <a:ext cx="1179482" cy="1186763"/>
                </a:xfrm>
                <a:prstGeom prst="rect">
                  <a:avLst/>
                </a:prstGeom>
              </p:spPr>
            </p:pic>
          </p:grp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F756EC8C-B15F-4545-B996-64ECDCE6AD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8647" y="1110803"/>
                <a:ext cx="953819" cy="846407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F5458AEA-4166-438D-B3D0-CDEE544352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60740" y="1367624"/>
                <a:ext cx="1621197" cy="1355427"/>
              </a:xfrm>
              <a:prstGeom prst="rect">
                <a:avLst/>
              </a:prstGeom>
            </p:spPr>
          </p:pic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E33E10A-B074-4FD8-AA43-4D01CAABD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05005" y="3127117"/>
              <a:ext cx="2288614" cy="3160263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B27643D-9C48-455D-8725-935686862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0599201">
              <a:off x="2437203" y="3307076"/>
              <a:ext cx="3651825" cy="2713509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8824A08-9CF9-4839-9C41-ADCB6C6A8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377309">
              <a:off x="3552639" y="4873929"/>
              <a:ext cx="3545361" cy="1513436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2591953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2_FieldCore_2017">
  <a:themeElements>
    <a:clrScheme name="GE_FieldCore_2017">
      <a:dk1>
        <a:srgbClr val="63666A"/>
      </a:dk1>
      <a:lt1>
        <a:srgbClr val="FFFFFF"/>
      </a:lt1>
      <a:dk2>
        <a:srgbClr val="B1B3B3"/>
      </a:dk2>
      <a:lt2>
        <a:srgbClr val="F0F0F0"/>
      </a:lt2>
      <a:accent1>
        <a:srgbClr val="FE5000"/>
      </a:accent1>
      <a:accent2>
        <a:srgbClr val="090936"/>
      </a:accent2>
      <a:accent3>
        <a:srgbClr val="3EAE2A"/>
      </a:accent3>
      <a:accent4>
        <a:srgbClr val="636669"/>
      </a:accent4>
      <a:accent5>
        <a:srgbClr val="00B5E2"/>
      </a:accent5>
      <a:accent6>
        <a:srgbClr val="005EB8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6ED2"/>
        </a:solidFill>
      </a:spPr>
      <a:bodyPr wrap="square" rtlCol="0" anchor="ctr">
        <a:noAutofit/>
      </a:bodyPr>
      <a:lstStyle>
        <a:defPPr algn="ctr">
          <a:defRPr dirty="0" smtClean="0">
            <a:solidFill>
              <a:schemeClr val="bg1"/>
            </a:solidFill>
            <a:ea typeface="Arial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cess_x0020_Owmer xmlns="25586fb6-ed09-4f2d-8ea7-eda1a9fd2320">
      <UserInfo>
        <DisplayName>Bluhm, Joyce (FieldCore)</DisplayName>
        <AccountId>72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FC-GL-EHS-SAF-0801-G2-QC</Nomenclature>
    <LastReviewDate xmlns="cc7fbaa3-8214-4644-99f1-d2e5a6ae9914" xsi:nil="true"/>
    <RevisionNumber xmlns="cc7fbaa3-8214-4644-99f1-d2e5a6ae9914" xsi:nil="true"/>
  </documentManagement>
</p:properties>
</file>

<file path=customXml/itemProps1.xml><?xml version="1.0" encoding="utf-8"?>
<ds:datastoreItem xmlns:ds="http://schemas.openxmlformats.org/officeDocument/2006/customXml" ds:itemID="{EBC09CBB-9292-49A5-9EA0-567F61E948FA}"/>
</file>

<file path=customXml/itemProps2.xml><?xml version="1.0" encoding="utf-8"?>
<ds:datastoreItem xmlns:ds="http://schemas.openxmlformats.org/officeDocument/2006/customXml" ds:itemID="{74A02077-21D5-43D2-8F75-64BF7B5988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25E901-9B17-455E-B981-C4765DF0A0C5}">
  <ds:schemaRefs>
    <ds:schemaRef ds:uri="http://schemas.microsoft.com/office/2006/metadata/properties"/>
    <ds:schemaRef ds:uri="http://schemas.microsoft.com/office/infopath/2007/PartnerControls"/>
    <ds:schemaRef ds:uri="25586fb6-ed09-4f2d-8ea7-eda1a9fd232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1392</TotalTime>
  <Words>135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Gotham Rounded Book</vt:lpstr>
      <vt:lpstr>Gotham Rounded Medium</vt:lpstr>
      <vt:lpstr>Montserrat</vt:lpstr>
      <vt:lpstr>2_FieldCore_2017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Bluhm, Joyce (Granite)</dc:creator>
  <cp:lastModifiedBy>Wright, Keith (FieldCore)</cp:lastModifiedBy>
  <cp:revision>95</cp:revision>
  <cp:lastPrinted>2017-10-19T16:01:57Z</cp:lastPrinted>
  <dcterms:created xsi:type="dcterms:W3CDTF">2017-10-10T13:26:34Z</dcterms:created>
  <dcterms:modified xsi:type="dcterms:W3CDTF">2021-08-06T12:54:59Z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