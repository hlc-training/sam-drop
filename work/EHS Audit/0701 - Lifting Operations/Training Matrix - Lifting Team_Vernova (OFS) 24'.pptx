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87" r:id="rId4"/>
  </p:sldMasterIdLst>
  <p:notesMasterIdLst>
    <p:notesMasterId r:id="rId94"/>
  </p:notesMasterIdLst>
  <p:handoutMasterIdLst>
    <p:handoutMasterId r:id="rId95"/>
  </p:handoutMasterIdLst>
  <p:sldIdLst>
    <p:sldId id="393" r:id="rId5"/>
    <p:sldId id="2147472061" r:id="rId6"/>
    <p:sldId id="2147472062" r:id="rId7"/>
    <p:sldId id="2147472072" r:id="rId8"/>
    <p:sldId id="2147472063" r:id="rId9"/>
    <p:sldId id="2147472064" r:id="rId10"/>
    <p:sldId id="2147472073" r:id="rId11"/>
    <p:sldId id="2147472074" r:id="rId12"/>
    <p:sldId id="2147472075" r:id="rId13"/>
    <p:sldId id="2147472076" r:id="rId14"/>
    <p:sldId id="2147472077" r:id="rId15"/>
    <p:sldId id="2147472078" r:id="rId16"/>
    <p:sldId id="2147472079" r:id="rId17"/>
    <p:sldId id="2147472082" r:id="rId18"/>
    <p:sldId id="2147472083" r:id="rId19"/>
    <p:sldId id="2147472084" r:id="rId20"/>
    <p:sldId id="2147472085" r:id="rId21"/>
    <p:sldId id="2147472087" r:id="rId22"/>
    <p:sldId id="2147472086" r:id="rId23"/>
    <p:sldId id="2147472088" r:id="rId24"/>
    <p:sldId id="2147472081" r:id="rId25"/>
    <p:sldId id="2147472089" r:id="rId26"/>
    <p:sldId id="2147472090" r:id="rId27"/>
    <p:sldId id="2147472091" r:id="rId28"/>
    <p:sldId id="2147472092" r:id="rId29"/>
    <p:sldId id="2147472093" r:id="rId30"/>
    <p:sldId id="2147472094" r:id="rId31"/>
    <p:sldId id="2147472095" r:id="rId32"/>
    <p:sldId id="2147472096" r:id="rId33"/>
    <p:sldId id="2147472097" r:id="rId34"/>
    <p:sldId id="2147472098" r:id="rId35"/>
    <p:sldId id="2147472133" r:id="rId36"/>
    <p:sldId id="2147472099" r:id="rId37"/>
    <p:sldId id="2147472100" r:id="rId38"/>
    <p:sldId id="2147472101" r:id="rId39"/>
    <p:sldId id="2147472102" r:id="rId40"/>
    <p:sldId id="2147472103" r:id="rId41"/>
    <p:sldId id="2147472104" r:id="rId42"/>
    <p:sldId id="2147472105" r:id="rId43"/>
    <p:sldId id="2147472106" r:id="rId44"/>
    <p:sldId id="2147472108" r:id="rId45"/>
    <p:sldId id="2147472109" r:id="rId46"/>
    <p:sldId id="2147472110" r:id="rId47"/>
    <p:sldId id="2147472111" r:id="rId48"/>
    <p:sldId id="2147472112" r:id="rId49"/>
    <p:sldId id="2147472113" r:id="rId50"/>
    <p:sldId id="2147472114" r:id="rId51"/>
    <p:sldId id="2147472134" r:id="rId52"/>
    <p:sldId id="2147472115" r:id="rId53"/>
    <p:sldId id="2147472116" r:id="rId54"/>
    <p:sldId id="2147472117" r:id="rId55"/>
    <p:sldId id="2147472118" r:id="rId56"/>
    <p:sldId id="2147472119" r:id="rId57"/>
    <p:sldId id="2147472120" r:id="rId58"/>
    <p:sldId id="2147472135" r:id="rId59"/>
    <p:sldId id="2147472121" r:id="rId60"/>
    <p:sldId id="2147472122" r:id="rId61"/>
    <p:sldId id="2147472123" r:id="rId62"/>
    <p:sldId id="2147472136" r:id="rId63"/>
    <p:sldId id="2147472124" r:id="rId64"/>
    <p:sldId id="2147472125" r:id="rId65"/>
    <p:sldId id="2147472126" r:id="rId66"/>
    <p:sldId id="2147472127" r:id="rId67"/>
    <p:sldId id="2147472128" r:id="rId68"/>
    <p:sldId id="2147472129" r:id="rId69"/>
    <p:sldId id="2147472130" r:id="rId70"/>
    <p:sldId id="2147472131" r:id="rId71"/>
    <p:sldId id="2147472132" r:id="rId72"/>
    <p:sldId id="2147472107" r:id="rId73"/>
    <p:sldId id="2147472137" r:id="rId74"/>
    <p:sldId id="2147472138" r:id="rId75"/>
    <p:sldId id="2147472139" r:id="rId76"/>
    <p:sldId id="2147472140" r:id="rId77"/>
    <p:sldId id="2147472141" r:id="rId78"/>
    <p:sldId id="2147472142" r:id="rId79"/>
    <p:sldId id="2147472144" r:id="rId80"/>
    <p:sldId id="2147472143" r:id="rId81"/>
    <p:sldId id="2147472145" r:id="rId82"/>
    <p:sldId id="2147472146" r:id="rId83"/>
    <p:sldId id="2147472147" r:id="rId84"/>
    <p:sldId id="2147472148" r:id="rId85"/>
    <p:sldId id="2147472149" r:id="rId86"/>
    <p:sldId id="2147472150" r:id="rId87"/>
    <p:sldId id="2147472151" r:id="rId88"/>
    <p:sldId id="2147472152" r:id="rId89"/>
    <p:sldId id="2147472153" r:id="rId90"/>
    <p:sldId id="2147472154" r:id="rId91"/>
    <p:sldId id="2147472155" r:id="rId92"/>
    <p:sldId id="395" r:id="rId93"/>
  </p:sldIdLst>
  <p:sldSz cx="12192000" cy="6858000"/>
  <p:notesSz cx="6858000" cy="9144000"/>
  <p:embeddedFontLst>
    <p:embeddedFont>
      <p:font typeface="GE Inspira Sans" panose="020B0604020202020204" charset="0"/>
      <p:regular r:id="rId96"/>
      <p:bold r:id="rId97"/>
      <p:italic r:id="rId98"/>
      <p:boldItalic r:id="rId99"/>
    </p:embeddedFont>
    <p:embeddedFont>
      <p:font typeface="Inter" panose="020B0604020202020204" charset="0"/>
      <p:regular r:id="rId100"/>
      <p:bold r:id="rId101"/>
      <p:italic r:id="rId102"/>
      <p:boldItalic r:id="rId103"/>
    </p:embeddedFont>
    <p:embeddedFont>
      <p:font typeface="Sons Condensed Extrabold" panose="020B0604020202020204" charset="0"/>
      <p:bold r:id="rId10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a:srgbClr val="58984B"/>
    <a:srgbClr val="BFA682"/>
    <a:srgbClr val="8F7D62"/>
    <a:srgbClr val="438989"/>
    <a:srgbClr val="97BCBC"/>
    <a:srgbClr val="C6DBDC"/>
    <a:srgbClr val="97BCBB"/>
    <a:srgbClr val="439297"/>
    <a:srgbClr val="59C3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85" autoAdjust="0"/>
    <p:restoredTop sz="94859" autoAdjust="0"/>
  </p:normalViewPr>
  <p:slideViewPr>
    <p:cSldViewPr snapToGrid="0" snapToObjects="1" showGuides="1">
      <p:cViewPr varScale="1">
        <p:scale>
          <a:sx n="107" d="100"/>
          <a:sy n="107" d="100"/>
        </p:scale>
        <p:origin x="1248"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showGuides="1">
      <p:cViewPr varScale="1">
        <p:scale>
          <a:sx n="76" d="100"/>
          <a:sy n="76" d="100"/>
        </p:scale>
        <p:origin x="331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heme" Target="theme/theme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font" Target="fonts/font7.fntdata"/><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handoutMaster" Target="handoutMasters/handout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font" Target="fonts/font8.fntdata"/><Relationship Id="rId108"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notesMaster" Target="notesMasters/notesMaster1.xml"/><Relationship Id="rId99" Type="http://schemas.openxmlformats.org/officeDocument/2006/relationships/font" Target="fonts/font4.fntdata"/><Relationship Id="rId10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2.fntdata"/><Relationship Id="rId104" Type="http://schemas.openxmlformats.org/officeDocument/2006/relationships/font" Target="fonts/font9.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font" Target="fonts/font5.fntdata"/><Relationship Id="rId105"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font" Target="fonts/font3.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11/18/2024</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11/18/2024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System Font Regular"/>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System Font Regular"/>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System Font Regular"/>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System Font Regular"/>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a:solidFill>
                  <a:schemeClr val="tx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416552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a:solidFill>
                  <a:srgbClr val="FAFAFA"/>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3666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2"/>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a:solidFill>
                  <a:srgbClr val="21212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5293399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a:solidFill>
                  <a:schemeClr val="tx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2"/>
          <a:stretch>
            <a:fillRect/>
          </a:stretch>
        </p:blipFill>
        <p:spPr>
          <a:xfrm>
            <a:off x="259641" y="272267"/>
            <a:ext cx="2606040" cy="814067"/>
          </a:xfrm>
          <a:prstGeom prst="rect">
            <a:avLst/>
          </a:prstGeom>
        </p:spPr>
      </p:pic>
    </p:spTree>
    <p:extLst>
      <p:ext uri="{BB962C8B-B14F-4D97-AF65-F5344CB8AC3E}">
        <p14:creationId xmlns:p14="http://schemas.microsoft.com/office/powerpoint/2010/main" val="11582817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9D981922-7652-D74D-9BCA-4EBCFEFB0217}"/>
              </a:ext>
            </a:extLst>
          </p:cNvPr>
          <p:cNvSpPr>
            <a:spLocks noGrp="1"/>
          </p:cNvSpPr>
          <p:nvPr>
            <p:ph type="ftr" sz="quarter" idx="11"/>
          </p:nvPr>
        </p:nvSpPr>
        <p:spPr/>
        <p:txBody>
          <a:bodyPr/>
          <a:lstStyle/>
          <a:p>
            <a:r>
              <a:rPr lang="en-US" dirty="0"/>
              <a:t>© 2023 GE Vernova and/or its affiliates. All rights reserved.</a:t>
            </a:r>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089311974"/>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024696334"/>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dirty="0"/>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56684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6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525318798"/>
      </p:ext>
    </p:extLst>
  </p:cSld>
  <p:clrMapOvr>
    <a:masterClrMapping/>
  </p:clrMapOvr>
  <p:extLst>
    <p:ext uri="{DCECCB84-F9BA-43D5-87BE-67443E8EF086}">
      <p15:sldGuideLst xmlns:p15="http://schemas.microsoft.com/office/powerpoint/2012/main">
        <p15:guide id="1" pos="3840">
          <p15:clr>
            <a:srgbClr val="FBAE40"/>
          </p15:clr>
        </p15:guide>
        <p15:guide id="2" orient="horz" pos="88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dirty="0"/>
              <a:t>Click to edit Master title style</a:t>
            </a:r>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1">
                <a:solidFill>
                  <a:srgbClr val="212121"/>
                </a:solidFill>
              </a:defRPr>
            </a:lvl1pPr>
          </a:lstStyle>
          <a:p>
            <a:pPr lvl="0"/>
            <a:r>
              <a:rPr lang="en-US" dirty="0"/>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193112838"/>
      </p:ext>
    </p:extLst>
  </p:cSld>
  <p:clrMapOvr>
    <a:masterClrMapping/>
  </p:clrMapOvr>
  <p:extLst>
    <p:ext uri="{DCECCB84-F9BA-43D5-87BE-67443E8EF086}">
      <p15:sldGuideLst xmlns:p15="http://schemas.microsoft.com/office/powerpoint/2012/main">
        <p15:guide id="1" orient="horz" pos="1320">
          <p15:clr>
            <a:srgbClr val="FBAE40"/>
          </p15:clr>
        </p15:guide>
        <p15:guide id="2" pos="3840">
          <p15:clr>
            <a:srgbClr val="FBAE40"/>
          </p15:clr>
        </p15:guide>
        <p15:guide id="3" orient="horz" pos="88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79973657"/>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 Asymetrical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926517041"/>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Asymmetrical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67691596"/>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 Asymmetrical 2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417806622"/>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718021604"/>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53270666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05350211"/>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998856488"/>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3 and 1/3-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dirty="0"/>
              <a:t>Click to edit Master title style</a:t>
            </a:r>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1">
                <a:solidFill>
                  <a:srgbClr val="212121"/>
                </a:solidFill>
              </a:defRPr>
            </a:lvl1pPr>
          </a:lstStyle>
          <a:p>
            <a:pPr lvl="0"/>
            <a:r>
              <a:rPr lang="en-US" dirty="0"/>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0999" y="1403350"/>
            <a:ext cx="3787133" cy="692150"/>
          </a:xfrm>
        </p:spPr>
        <p:txBody>
          <a:bodyPr/>
          <a:lstStyle>
            <a:lvl1pPr>
              <a:spcAft>
                <a:spcPts val="0"/>
              </a:spcAft>
              <a:defRPr b="1">
                <a:solidFill>
                  <a:srgbClr val="212121"/>
                </a:solidFill>
              </a:defRPr>
            </a:lvl1pPr>
          </a:lstStyle>
          <a:p>
            <a:pPr lvl="0"/>
            <a:r>
              <a:rPr lang="en-US" dirty="0"/>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892795716"/>
      </p:ext>
    </p:extLst>
  </p:cSld>
  <p:clrMapOvr>
    <a:masterClrMapping/>
  </p:clrMapOvr>
  <p:extLst>
    <p:ext uri="{DCECCB84-F9BA-43D5-87BE-67443E8EF086}">
      <p15:sldGuideLst xmlns:p15="http://schemas.microsoft.com/office/powerpoint/2012/main">
        <p15:guide id="2" pos="5040">
          <p15:clr>
            <a:srgbClr val="FBAE40"/>
          </p15:clr>
        </p15:guide>
        <p15:guide id="3" orient="horz" pos="1320">
          <p15:clr>
            <a:srgbClr val="FBAE40"/>
          </p15:clr>
        </p15:guide>
        <p15:guide id="4" orient="horz" pos="88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290012914"/>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007787839"/>
      </p:ext>
    </p:extLst>
  </p:cSld>
  <p:clrMapOvr>
    <a:masterClrMapping/>
  </p:clrMapOvr>
  <p:extLst>
    <p:ext uri="{DCECCB84-F9BA-43D5-87BE-67443E8EF086}">
      <p15:sldGuideLst xmlns:p15="http://schemas.microsoft.com/office/powerpoint/2012/main">
        <p15:guide id="1" pos="3840">
          <p15:clr>
            <a:srgbClr val="FBAE40"/>
          </p15:clr>
        </p15:guide>
        <p15:guide id="2" orient="horz" pos="88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60285352"/>
      </p:ext>
    </p:extLst>
  </p:cSld>
  <p:clrMapOvr>
    <a:masterClrMapping/>
  </p:clrMapOvr>
  <p:extLst>
    <p:ext uri="{DCECCB84-F9BA-43D5-87BE-67443E8EF086}">
      <p15:sldGuideLst xmlns:p15="http://schemas.microsoft.com/office/powerpoint/2012/main">
        <p15:guide id="1" pos="3840">
          <p15:clr>
            <a:srgbClr val="FBAE40"/>
          </p15:clr>
        </p15:guide>
        <p15:guide id="2" orient="horz" pos="88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6416260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528971719"/>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oxed Asym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679928992"/>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049780" cy="365760"/>
          </a:xfrm>
          <a:noFill/>
        </p:spPr>
        <p:txBody>
          <a:bodyPr wrap="none">
            <a:noAutofit/>
          </a:bodyPr>
          <a:lstStyle>
            <a:lvl1pPr>
              <a:spcAft>
                <a:spcPts val="0"/>
              </a:spcAft>
              <a:defRPr sz="1600">
                <a:solidFill>
                  <a:schemeClr val="tx1"/>
                </a:solidFill>
              </a:defRPr>
            </a:lvl1pPr>
          </a:lstStyle>
          <a:p>
            <a:pPr lvl="0"/>
            <a:r>
              <a:rPr lang="en-US" dirty="0"/>
              <a:t>[Optional section ##]</a:t>
            </a:r>
          </a:p>
        </p:txBody>
      </p:sp>
    </p:spTree>
    <p:extLst>
      <p:ext uri="{BB962C8B-B14F-4D97-AF65-F5344CB8AC3E}">
        <p14:creationId xmlns:p14="http://schemas.microsoft.com/office/powerpoint/2010/main" val="22511704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049780" cy="365760"/>
          </a:xfrm>
          <a:noFill/>
        </p:spPr>
        <p:txBody>
          <a:bodyPr wrap="none">
            <a:noAutofit/>
          </a:bodyPr>
          <a:lstStyle>
            <a:lvl1pPr>
              <a:spcAft>
                <a:spcPts val="0"/>
              </a:spcAft>
              <a:defRPr sz="160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chemeClr val="tx1"/>
                </a:solidFill>
                <a:latin typeface="Sons Condensed Extrabold" panose="02060906060206060203" pitchFamily="18" charset="0"/>
              </a:defRPr>
            </a:lvl1pPr>
          </a:lstStyle>
          <a:p>
            <a:r>
              <a:rPr lang="en-US" dirty="0"/>
              <a:t>CLICK TO EDIT MASTER TITLE STYLE</a:t>
            </a:r>
          </a:p>
        </p:txBody>
      </p:sp>
    </p:spTree>
    <p:extLst>
      <p:ext uri="{BB962C8B-B14F-4D97-AF65-F5344CB8AC3E}">
        <p14:creationId xmlns:p14="http://schemas.microsoft.com/office/powerpoint/2010/main" val="11058344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2049780" cy="365760"/>
          </a:xfrm>
          <a:noFill/>
        </p:spPr>
        <p:txBody>
          <a:bodyPr wrap="none">
            <a:noAutofit/>
          </a:bodyPr>
          <a:lstStyle>
            <a:lvl1pPr>
              <a:spcAft>
                <a:spcPts val="0"/>
              </a:spcAft>
              <a:defRPr lang="en-US" sz="1600" kern="1200" dirty="0">
                <a:solidFill>
                  <a:srgbClr val="212121"/>
                </a:solidFill>
                <a:latin typeface="Inter" panose="02000503000000020004" pitchFamily="2" charset="0"/>
                <a:ea typeface="+mn-ea"/>
                <a:cs typeface="+mn-cs"/>
              </a:defRPr>
            </a:lvl1pPr>
          </a:lstStyle>
          <a:p>
            <a:pPr marL="0" lvl="0" indent="0" algn="l" defTabSz="914400"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Tree>
    <p:extLst>
      <p:ext uri="{BB962C8B-B14F-4D97-AF65-F5344CB8AC3E}">
        <p14:creationId xmlns:p14="http://schemas.microsoft.com/office/powerpoint/2010/main" val="12471360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6379890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fographics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31030504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6">
          <p15:clr>
            <a:srgbClr val="FBAE40"/>
          </p15:clr>
        </p15:guide>
        <p15:guide id="8" orient="horz" pos="2736">
          <p15:clr>
            <a:srgbClr val="FBAE40"/>
          </p15:clr>
        </p15:guide>
        <p15:guide id="9" orient="horz" pos="3350">
          <p15:clr>
            <a:srgbClr val="FBAE40"/>
          </p15:clr>
        </p15:guide>
        <p15:guide id="10" pos="55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s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System Font Regular"/>
              <a:buChar char="–"/>
              <a:tabLst/>
              <a:defRPr sz="1000">
                <a:solidFill>
                  <a:srgbClr val="21212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1566184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p15:clr>
            <a:srgbClr val="FBAE40"/>
          </p15:clr>
        </p15:guide>
        <p15:guide id="8" orient="horz" pos="2736">
          <p15:clr>
            <a:srgbClr val="FBAE40"/>
          </p15:clr>
        </p15:guide>
        <p15:guide id="9" orient="horz" pos="335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esente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816837924"/>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2400">
          <p15:clr>
            <a:srgbClr val="FBAE40"/>
          </p15:clr>
        </p15:guide>
        <p15:guide id="4" pos="1080">
          <p15:clr>
            <a:srgbClr val="FBAE40"/>
          </p15:clr>
        </p15:guide>
        <p15:guide id="5" pos="3465">
          <p15:clr>
            <a:srgbClr val="FBAE40"/>
          </p15:clr>
        </p15:guide>
        <p15:guide id="6" pos="5856">
          <p15:clr>
            <a:srgbClr val="FBAE40"/>
          </p15:clr>
        </p15:guide>
        <p15:guide id="7" orient="horz" pos="88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655608035"/>
      </p:ext>
    </p:extLst>
  </p:cSld>
  <p:clrMapOvr>
    <a:masterClrMapping/>
  </p:clrMapOvr>
  <p:extLst>
    <p:ext uri="{DCECCB84-F9BA-43D5-87BE-67443E8EF086}">
      <p15:sldGuideLst xmlns:p15="http://schemas.microsoft.com/office/powerpoint/2012/main">
        <p15:guide id="2" orient="horz" pos="151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675014224"/>
      </p:ext>
    </p:extLst>
  </p:cSld>
  <p:clrMapOvr>
    <a:masterClrMapping/>
  </p:clrMapOvr>
  <p:extLst>
    <p:ext uri="{DCECCB84-F9BA-43D5-87BE-67443E8EF086}">
      <p15:sldGuideLst xmlns:p15="http://schemas.microsoft.com/office/powerpoint/2012/main">
        <p15:guide id="2" pos="4008">
          <p15:clr>
            <a:srgbClr val="FBAE40"/>
          </p15:clr>
        </p15:guide>
        <p15:guide id="4" orient="horz" pos="151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034644597"/>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020470213"/>
      </p:ext>
    </p:extLst>
  </p:cSld>
  <p:clrMapOvr>
    <a:masterClrMapping/>
  </p:clrMapOvr>
  <p:extLst>
    <p:ext uri="{DCECCB84-F9BA-43D5-87BE-67443E8EF086}">
      <p15:sldGuideLst xmlns:p15="http://schemas.microsoft.com/office/powerpoint/2012/main">
        <p15:guide id="1" pos="3840">
          <p15:clr>
            <a:srgbClr val="FBAE40"/>
          </p15:clr>
        </p15:guide>
        <p15:guide id="2" orient="horz" pos="88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2"/>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684251158"/>
      </p:ext>
    </p:extLst>
  </p:cSld>
  <p:clrMapOvr>
    <a:masterClrMapping/>
  </p:clrMapOvr>
  <p:extLst>
    <p:ext uri="{DCECCB84-F9BA-43D5-87BE-67443E8EF086}">
      <p15:sldGuideLst xmlns:p15="http://schemas.microsoft.com/office/powerpoint/2012/main">
        <p15:guide id="2" orient="horz">
          <p15:clr>
            <a:srgbClr val="FBAE40"/>
          </p15:clr>
        </p15:guide>
        <p15:guide id="4" orient="horz" pos="4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Statement 1">
    <p:bg>
      <p:bgPr>
        <a:solidFill>
          <a:srgbClr val="005E6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chemeClr val="tx1"/>
                </a:solidFill>
              </a:defRPr>
            </a:lvl1pPr>
          </a:lstStyle>
          <a:p>
            <a:r>
              <a:rPr lang="en-US" dirty="0"/>
              <a:t>© 2023 GE Vernova and/or its affiliates. All rights reserved.</a:t>
            </a:r>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baseline="0">
                <a:solidFill>
                  <a:schemeClr val="tx1"/>
                </a:solidFill>
                <a:latin typeface="Sons Condensed Extrabold" panose="02060906060206060203" pitchFamily="18" charset="0"/>
              </a:defRPr>
            </a:lvl1pPr>
            <a:lvl2pPr marL="0" indent="0">
              <a:lnSpc>
                <a:spcPct val="100000"/>
              </a:lnSpc>
              <a:buFont typeface="System Font Regular"/>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System Font Regular"/>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6473634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tatement 3">
    <p:bg>
      <p:bgPr>
        <a:solidFill>
          <a:schemeClr val="tx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rgbClr val="212121"/>
                </a:solidFill>
              </a:defRPr>
            </a:lvl1pPr>
          </a:lstStyle>
          <a:p>
            <a:r>
              <a:rPr lang="en-US" dirty="0"/>
              <a:t>© 2023 GE Vernova and/or its affiliates. All rights reserved.</a:t>
            </a:r>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0" y="615950"/>
            <a:ext cx="5313947" cy="5486400"/>
          </a:xfrm>
        </p:spPr>
        <p:txBody>
          <a:bodyPr anchor="t" anchorCtr="0"/>
          <a:lstStyle>
            <a:lvl1pPr marL="0" indent="0">
              <a:lnSpc>
                <a:spcPct val="85000"/>
              </a:lnSpc>
              <a:spcAft>
                <a:spcPts val="0"/>
              </a:spcAft>
              <a:defRPr sz="5000" cap="all" baseline="0">
                <a:solidFill>
                  <a:srgbClr val="005E60"/>
                </a:solidFill>
                <a:latin typeface="Sons Condensed Extrabold" panose="02060906060206060203" pitchFamily="18" charset="0"/>
              </a:defRPr>
            </a:lvl1pPr>
            <a:lvl2pPr marL="0" indent="0">
              <a:lnSpc>
                <a:spcPct val="100000"/>
              </a:lnSpc>
              <a:buFont typeface="System Font Regular"/>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System Font Regular"/>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5428742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Statistics">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rgbClr val="212121"/>
                </a:solidFill>
              </a:defRPr>
            </a:lvl1pPr>
          </a:lstStyle>
          <a:p>
            <a:pPr lvl="0"/>
            <a:r>
              <a:rPr lang="en-US" dirty="0"/>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System Font Regular"/>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System Font Regular"/>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System Font Regular"/>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901263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1320">
          <p15:clr>
            <a:srgbClr val="FBAE40"/>
          </p15:clr>
        </p15:guide>
        <p15:guide id="4" orient="horz" pos="88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Statistics -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chemeClr val="bg1"/>
                </a:solidFill>
              </a:defRPr>
            </a:lvl1pPr>
          </a:lstStyle>
          <a:p>
            <a:pPr lvl="0"/>
            <a:r>
              <a:rPr lang="en-US" dirty="0"/>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chemeClr val="bg1"/>
                </a:solidFill>
              </a:defRPr>
            </a:lvl1pPr>
          </a:lstStyle>
          <a:p>
            <a:pPr lvl="0"/>
            <a:r>
              <a:rPr lang="en-US" dirty="0"/>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rgbClr val="C8FF08"/>
              </a:buClr>
              <a:buFont typeface="Arial" panose="020B0604020202020204" pitchFamily="34" charset="0"/>
              <a:buChar char="•"/>
              <a:defRPr>
                <a:solidFill>
                  <a:schemeClr val="bg1"/>
                </a:solidFill>
              </a:defRPr>
            </a:lvl3pPr>
            <a:lvl4pPr marL="365760" indent="-182880">
              <a:buClr>
                <a:srgbClr val="C8FF08"/>
              </a:buClr>
              <a:buFont typeface="System Font Regular"/>
              <a:buChar char="–"/>
              <a:defRPr>
                <a:solidFill>
                  <a:schemeClr val="bg1"/>
                </a:solidFill>
              </a:defRPr>
            </a:lvl4pPr>
            <a:lvl5pPr marL="548640">
              <a:buClr>
                <a:srgbClr val="C8FF08"/>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rgbClr val="C8FF08"/>
              </a:buClr>
              <a:buFont typeface="Arial" panose="020B0604020202020204" pitchFamily="34" charset="0"/>
              <a:buChar char="•"/>
              <a:defRPr>
                <a:solidFill>
                  <a:schemeClr val="bg1"/>
                </a:solidFill>
              </a:defRPr>
            </a:lvl3pPr>
            <a:lvl4pPr marL="365760" indent="-182880">
              <a:buClr>
                <a:srgbClr val="C8FF08"/>
              </a:buClr>
              <a:buFont typeface="System Font Regular"/>
              <a:buChar char="–"/>
              <a:defRPr>
                <a:solidFill>
                  <a:schemeClr val="bg1"/>
                </a:solidFill>
              </a:defRPr>
            </a:lvl4pPr>
            <a:lvl5pPr marL="548640">
              <a:buClr>
                <a:srgbClr val="C8FF08"/>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rgbClr val="C8FF08"/>
              </a:buClr>
              <a:buFont typeface="Arial" panose="020B0604020202020204" pitchFamily="34" charset="0"/>
              <a:buChar char="•"/>
              <a:defRPr>
                <a:solidFill>
                  <a:schemeClr val="bg1"/>
                </a:solidFill>
              </a:defRPr>
            </a:lvl3pPr>
            <a:lvl4pPr marL="365760" indent="-182880">
              <a:buClr>
                <a:srgbClr val="C8FF08"/>
              </a:buClr>
              <a:buFont typeface="System Font Regular"/>
              <a:buChar char="–"/>
              <a:defRPr>
                <a:solidFill>
                  <a:schemeClr val="bg1"/>
                </a:solidFill>
              </a:defRPr>
            </a:lvl4pPr>
            <a:lvl5pPr marL="548640">
              <a:buClr>
                <a:srgbClr val="C8FF08"/>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428073549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edium Stat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2"/>
              </a:buClr>
              <a:buFont typeface="Arial" panose="020B0604020202020204" pitchFamily="34" charset="0"/>
              <a:buChar char="•"/>
              <a:defRPr>
                <a:solidFill>
                  <a:schemeClr val="bg1"/>
                </a:solidFill>
              </a:defRPr>
            </a:lvl3pPr>
            <a:lvl4pPr marL="365760" indent="-182880">
              <a:buClr>
                <a:schemeClr val="bg2"/>
              </a:buClr>
              <a:buFont typeface="System Font Regular"/>
              <a:buChar char="–"/>
              <a:defRPr>
                <a:solidFill>
                  <a:schemeClr val="bg1"/>
                </a:solidFill>
              </a:defRPr>
            </a:lvl4pPr>
            <a:lvl5pPr marL="548640">
              <a:buClr>
                <a:schemeClr val="bg2"/>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chemeClr val="bg1"/>
                </a:solidFill>
              </a:defRPr>
            </a:lvl1pPr>
          </a:lstStyle>
          <a:p>
            <a:pPr lvl="0"/>
            <a:r>
              <a:rPr lang="en-US" dirty="0"/>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dirty="0"/>
              <a:t>Click icon to add picture</a:t>
            </a:r>
          </a:p>
        </p:txBody>
      </p:sp>
    </p:spTree>
    <p:extLst>
      <p:ext uri="{BB962C8B-B14F-4D97-AF65-F5344CB8AC3E}">
        <p14:creationId xmlns:p14="http://schemas.microsoft.com/office/powerpoint/2010/main" val="4917627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edium Stat 3">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System Font Regular"/>
              <a:buChar char="–"/>
              <a:defRPr>
                <a:solidFill>
                  <a:srgbClr val="212121"/>
                </a:solidFill>
              </a:defRPr>
            </a:lvl4pPr>
            <a:lvl5pPr marL="548640">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rgbClr val="212121"/>
                </a:solidFill>
              </a:defRPr>
            </a:lvl1pPr>
          </a:lstStyle>
          <a:p>
            <a:pPr lvl="0"/>
            <a:r>
              <a:rPr lang="en-US" dirty="0"/>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dirty="0"/>
              <a:t>Click icon to add picture</a:t>
            </a:r>
          </a:p>
        </p:txBody>
      </p:sp>
    </p:spTree>
    <p:extLst>
      <p:ext uri="{BB962C8B-B14F-4D97-AF65-F5344CB8AC3E}">
        <p14:creationId xmlns:p14="http://schemas.microsoft.com/office/powerpoint/2010/main" val="2211189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5194784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rge Stat 2">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Tree>
    <p:extLst>
      <p:ext uri="{BB962C8B-B14F-4D97-AF65-F5344CB8AC3E}">
        <p14:creationId xmlns:p14="http://schemas.microsoft.com/office/powerpoint/2010/main" val="16429036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29447177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5317159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7777184"/>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23" r:id="rId36"/>
    <p:sldLayoutId id="2147483924" r:id="rId37"/>
    <p:sldLayoutId id="2147483925" r:id="rId38"/>
    <p:sldLayoutId id="2147483926" r:id="rId39"/>
    <p:sldLayoutId id="2147483927" r:id="rId40"/>
    <p:sldLayoutId id="2147483928" r:id="rId41"/>
    <p:sldLayoutId id="2147483929" r:id="rId42"/>
    <p:sldLayoutId id="2147483930" r:id="rId43"/>
    <p:sldLayoutId id="2147483931" r:id="rId44"/>
    <p:sldLayoutId id="2147483932" r:id="rId45"/>
    <p:sldLayoutId id="2147483933" r:id="rId46"/>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8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System Font Regular"/>
        <a:buChar char="–"/>
        <a:defRPr sz="18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System Font Regular"/>
        <a:buChar char="–"/>
        <a:defRPr sz="18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System Font Regular"/>
        <a:buChar char="–"/>
        <a:defRPr sz="18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5.jpe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9051680-9F7B-0221-6421-901E496E111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15625"/>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8214D12B-19B1-FA5A-58D0-6A593961CC8B}"/>
              </a:ext>
            </a:extLst>
          </p:cNvPr>
          <p:cNvSpPr/>
          <p:nvPr/>
        </p:nvSpPr>
        <p:spPr>
          <a:xfrm>
            <a:off x="0" y="-1"/>
            <a:ext cx="12192000" cy="6857999"/>
          </a:xfrm>
          <a:prstGeom prst="rect">
            <a:avLst/>
          </a:prstGeom>
          <a:solidFill>
            <a:srgbClr val="0C2340">
              <a:alpha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E Inspira Sans"/>
              <a:ea typeface="+mn-ea"/>
              <a:cs typeface="+mn-cs"/>
            </a:endParaRPr>
          </a:p>
        </p:txBody>
      </p:sp>
      <p:sp>
        <p:nvSpPr>
          <p:cNvPr id="3" name="Slide Number Placeholder 2">
            <a:extLst>
              <a:ext uri="{FF2B5EF4-FFF2-40B4-BE49-F238E27FC236}">
                <a16:creationId xmlns:a16="http://schemas.microsoft.com/office/drawing/2014/main" id="{24455610-CE36-714E-BFE9-AC014DE6B8AD}"/>
              </a:ext>
            </a:extLst>
          </p:cNvPr>
          <p:cNvSpPr>
            <a:spLocks noGrp="1"/>
          </p:cNvSpPr>
          <p:nvPr>
            <p:ph type="sldNum" sz="quarter" idx="11"/>
          </p:nvPr>
        </p:nvSpPr>
        <p:spPr/>
        <p:txBody>
          <a:bodyPr/>
          <a:lstStyle/>
          <a:p>
            <a:fld id="{7A7A97EF-C944-4447-B862-B593E9B4A0FF}" type="slidenum">
              <a:rPr lang="en-US"/>
              <a:pPr/>
              <a:t>1</a:t>
            </a:fld>
            <a:endParaRPr lang="en-US" dirty="0"/>
          </a:p>
        </p:txBody>
      </p:sp>
      <p:sp>
        <p:nvSpPr>
          <p:cNvPr id="4" name="Text Placeholder 3">
            <a:extLst>
              <a:ext uri="{FF2B5EF4-FFF2-40B4-BE49-F238E27FC236}">
                <a16:creationId xmlns:a16="http://schemas.microsoft.com/office/drawing/2014/main" id="{B29EF78B-0389-DB49-90DA-E835C12E387A}"/>
              </a:ext>
            </a:extLst>
          </p:cNvPr>
          <p:cNvSpPr>
            <a:spLocks noGrp="1"/>
          </p:cNvSpPr>
          <p:nvPr>
            <p:ph type="body" sz="quarter" idx="12"/>
          </p:nvPr>
        </p:nvSpPr>
        <p:spPr>
          <a:xfrm>
            <a:off x="419100" y="1111658"/>
            <a:ext cx="11353799" cy="4269559"/>
          </a:xfrm>
        </p:spPr>
        <p:txBody>
          <a:bodyPr anchor="t"/>
          <a:lstStyle/>
          <a:p>
            <a:pPr algn="ctr">
              <a:lnSpc>
                <a:spcPts val="8600"/>
              </a:lnSpc>
              <a:spcAft>
                <a:spcPts val="0"/>
              </a:spcAft>
            </a:pPr>
            <a:r>
              <a:rPr lang="en-US" sz="9600" cap="all" dirty="0"/>
              <a:t>The energy </a:t>
            </a:r>
          </a:p>
          <a:p>
            <a:pPr algn="ctr">
              <a:lnSpc>
                <a:spcPts val="8600"/>
              </a:lnSpc>
              <a:spcAft>
                <a:spcPts val="0"/>
              </a:spcAft>
            </a:pPr>
            <a:r>
              <a:rPr lang="en-US" sz="9600" cap="all" dirty="0"/>
              <a:t>to change </a:t>
            </a:r>
          </a:p>
          <a:p>
            <a:pPr algn="ctr">
              <a:lnSpc>
                <a:spcPts val="8600"/>
              </a:lnSpc>
              <a:spcAft>
                <a:spcPts val="0"/>
              </a:spcAft>
            </a:pPr>
            <a:r>
              <a:rPr lang="en-US" sz="9600" cap="all" dirty="0"/>
              <a:t>the world</a:t>
            </a:r>
          </a:p>
        </p:txBody>
      </p:sp>
      <p:pic>
        <p:nvPicPr>
          <p:cNvPr id="13" name="Picture 12" descr="Text&#10;&#10;Description automatically generated">
            <a:extLst>
              <a:ext uri="{FF2B5EF4-FFF2-40B4-BE49-F238E27FC236}">
                <a16:creationId xmlns:a16="http://schemas.microsoft.com/office/drawing/2014/main" id="{4382DBBB-10A1-0E3C-92DE-A4219DEE2685}"/>
              </a:ext>
            </a:extLst>
          </p:cNvPr>
          <p:cNvPicPr>
            <a:picLocks noChangeAspect="1"/>
          </p:cNvPicPr>
          <p:nvPr/>
        </p:nvPicPr>
        <p:blipFill>
          <a:blip r:embed="rId3"/>
          <a:stretch>
            <a:fillRect/>
          </a:stretch>
        </p:blipFill>
        <p:spPr>
          <a:xfrm>
            <a:off x="4350649" y="5201136"/>
            <a:ext cx="3490701" cy="1090412"/>
          </a:xfrm>
          <a:prstGeom prst="rect">
            <a:avLst/>
          </a:prstGeom>
        </p:spPr>
      </p:pic>
      <p:sp>
        <p:nvSpPr>
          <p:cNvPr id="2" name="Footer Placeholder 1">
            <a:extLst>
              <a:ext uri="{FF2B5EF4-FFF2-40B4-BE49-F238E27FC236}">
                <a16:creationId xmlns:a16="http://schemas.microsoft.com/office/drawing/2014/main" id="{096F827F-CDE1-2D86-C98C-547E53E8953E}"/>
              </a:ext>
            </a:extLst>
          </p:cNvPr>
          <p:cNvSpPr txBox="1">
            <a:spLocks/>
          </p:cNvSpPr>
          <p:nvPr/>
        </p:nvSpPr>
        <p:spPr>
          <a:xfrm>
            <a:off x="419100" y="6492875"/>
            <a:ext cx="10248900" cy="244653"/>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a:t>
            </a:r>
          </a:p>
        </p:txBody>
      </p:sp>
      <p:sp>
        <p:nvSpPr>
          <p:cNvPr id="8" name="Footer Placeholder 1">
            <a:extLst>
              <a:ext uri="{FF2B5EF4-FFF2-40B4-BE49-F238E27FC236}">
                <a16:creationId xmlns:a16="http://schemas.microsoft.com/office/drawing/2014/main" id="{C71A3E63-BE81-86C0-2DFE-53A0F50FD78B}"/>
              </a:ext>
            </a:extLst>
          </p:cNvPr>
          <p:cNvSpPr txBox="1">
            <a:spLocks/>
          </p:cNvSpPr>
          <p:nvPr/>
        </p:nvSpPr>
        <p:spPr>
          <a:xfrm>
            <a:off x="419100" y="6520949"/>
            <a:ext cx="2977243" cy="216580"/>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 2024 GE Vernova and/or its affiliates. All rights reserved.</a:t>
            </a:r>
          </a:p>
        </p:txBody>
      </p:sp>
    </p:spTree>
    <p:extLst>
      <p:ext uri="{BB962C8B-B14F-4D97-AF65-F5344CB8AC3E}">
        <p14:creationId xmlns:p14="http://schemas.microsoft.com/office/powerpoint/2010/main" val="3582925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DC47A73-6951-CED1-CDAF-4F900BFC56CC}"/>
              </a:ext>
            </a:extLst>
          </p:cNvPr>
          <p:cNvSpPr>
            <a:spLocks noGrp="1"/>
          </p:cNvSpPr>
          <p:nvPr>
            <p:ph type="ftr" sz="quarter" idx="11"/>
          </p:nvPr>
        </p:nvSpPr>
        <p:spPr/>
        <p:txBody>
          <a:bodyPr/>
          <a:lstStyle/>
          <a:p>
            <a:r>
              <a:rPr lang="en-US" dirty="0"/>
              <a:t>© 2024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a:xfrm>
            <a:off x="520571" y="3188556"/>
            <a:ext cx="10706100" cy="849437"/>
          </a:xfrm>
        </p:spPr>
        <p:txBody>
          <a:bodyPr/>
          <a:lstStyle/>
          <a:p>
            <a:r>
              <a:rPr lang="en-US" dirty="0"/>
              <a:t>Training Matrix</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a:xfrm>
            <a:off x="596771" y="4037993"/>
            <a:ext cx="10706100" cy="974725"/>
          </a:xfrm>
        </p:spPr>
        <p:txBody>
          <a:bodyPr/>
          <a:lstStyle/>
          <a:p>
            <a:r>
              <a:rPr lang="en-US" dirty="0"/>
              <a:t>OFS Lifting Teams</a:t>
            </a:r>
          </a:p>
        </p:txBody>
      </p:sp>
      <p:pic>
        <p:nvPicPr>
          <p:cNvPr id="6" name="Picture 5">
            <a:extLst>
              <a:ext uri="{FF2B5EF4-FFF2-40B4-BE49-F238E27FC236}">
                <a16:creationId xmlns:a16="http://schemas.microsoft.com/office/drawing/2014/main" id="{FA410493-A3BC-F3AB-C495-58395F4131FF}"/>
              </a:ext>
            </a:extLst>
          </p:cNvPr>
          <p:cNvPicPr>
            <a:picLocks noChangeAspect="1"/>
          </p:cNvPicPr>
          <p:nvPr/>
        </p:nvPicPr>
        <p:blipFill rotWithShape="1">
          <a:blip r:embed="rId2"/>
          <a:srcRect l="-489" r="40101"/>
          <a:stretch/>
        </p:blipFill>
        <p:spPr>
          <a:xfrm>
            <a:off x="5156200" y="2883149"/>
            <a:ext cx="7035800" cy="3974851"/>
          </a:xfrm>
          <a:prstGeom prst="rect">
            <a:avLst/>
          </a:prstGeom>
        </p:spPr>
      </p:pic>
    </p:spTree>
    <p:extLst>
      <p:ext uri="{BB962C8B-B14F-4D97-AF65-F5344CB8AC3E}">
        <p14:creationId xmlns:p14="http://schemas.microsoft.com/office/powerpoint/2010/main" val="64165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21793-5956-E29D-C030-8CCD99A0ABBC}"/>
              </a:ext>
            </a:extLst>
          </p:cNvPr>
          <p:cNvSpPr>
            <a:spLocks noGrp="1"/>
          </p:cNvSpPr>
          <p:nvPr>
            <p:ph type="title"/>
          </p:nvPr>
        </p:nvSpPr>
        <p:spPr>
          <a:xfrm>
            <a:off x="347383" y="540084"/>
            <a:ext cx="9578915" cy="457020"/>
          </a:xfrm>
        </p:spPr>
        <p:txBody>
          <a:bodyPr/>
          <a:lstStyle/>
          <a:p>
            <a:r>
              <a:rPr lang="en-US" dirty="0"/>
              <a:t>Introduction</a:t>
            </a:r>
          </a:p>
        </p:txBody>
      </p:sp>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a:t>
            </a:fld>
            <a:endParaRPr lang="en-US" dirty="0"/>
          </a:p>
        </p:txBody>
      </p:sp>
      <p:sp>
        <p:nvSpPr>
          <p:cNvPr id="10" name="TextBox 9">
            <a:extLst>
              <a:ext uri="{FF2B5EF4-FFF2-40B4-BE49-F238E27FC236}">
                <a16:creationId xmlns:a16="http://schemas.microsoft.com/office/drawing/2014/main" id="{B52F5CDC-A956-20D3-CFE8-2D3641B36AC7}"/>
              </a:ext>
            </a:extLst>
          </p:cNvPr>
          <p:cNvSpPr txBox="1"/>
          <p:nvPr/>
        </p:nvSpPr>
        <p:spPr>
          <a:xfrm>
            <a:off x="257371" y="1174929"/>
            <a:ext cx="4951186" cy="4801314"/>
          </a:xfrm>
          <a:prstGeom prst="rect">
            <a:avLst/>
          </a:prstGeom>
          <a:noFill/>
        </p:spPr>
        <p:txBody>
          <a:bodyPr wrap="square">
            <a:spAutoFit/>
          </a:bodyPr>
          <a:lstStyle/>
          <a:p>
            <a:r>
              <a:rPr lang="en-US" dirty="0">
                <a:latin typeface="Inter" panose="020B0604020202020204" charset="0"/>
                <a:ea typeface="Inter" panose="020B0604020202020204" charset="0"/>
              </a:rPr>
              <a:t>The following training matrix covering all the training courses and approved training provider(s) in each country which will cover all the competencies in the lifting and rigging competency matrix for the lifting team including lifting director/competent appointed person (CAP), riggers (including signalers), supervisors, mobile and overhead crane operators.</a:t>
            </a:r>
          </a:p>
          <a:p>
            <a:endParaRPr lang="en-US" dirty="0">
              <a:latin typeface="Inter" panose="020B0604020202020204" charset="0"/>
              <a:ea typeface="Inter" panose="020B0604020202020204" charset="0"/>
            </a:endParaRPr>
          </a:p>
          <a:p>
            <a:r>
              <a:rPr lang="en-US" dirty="0">
                <a:latin typeface="Inter" panose="020B0604020202020204" charset="0"/>
                <a:ea typeface="Inter" panose="020B0604020202020204" charset="0"/>
              </a:rPr>
              <a:t>In the following pages, each country covered with specific courses and training providers for all lifting team members which covering the competency requirements as per the lifting competency matrix and approved locally in each country and globally with the international standards.</a:t>
            </a:r>
          </a:p>
        </p:txBody>
      </p:sp>
      <p:pic>
        <p:nvPicPr>
          <p:cNvPr id="11" name="Image 8">
            <a:extLst>
              <a:ext uri="{FF2B5EF4-FFF2-40B4-BE49-F238E27FC236}">
                <a16:creationId xmlns:a16="http://schemas.microsoft.com/office/drawing/2014/main" id="{7101B883-99B1-C7DD-9D3B-0DA77F79A219}"/>
              </a:ext>
            </a:extLst>
          </p:cNvPr>
          <p:cNvPicPr>
            <a:picLocks/>
          </p:cNvPicPr>
          <p:nvPr/>
        </p:nvPicPr>
        <p:blipFill>
          <a:blip r:embed="rId2" cstate="print"/>
          <a:stretch>
            <a:fillRect/>
          </a:stretch>
        </p:blipFill>
        <p:spPr>
          <a:xfrm>
            <a:off x="5548553" y="1624236"/>
            <a:ext cx="6224347" cy="3995748"/>
          </a:xfrm>
          <a:prstGeom prst="rect">
            <a:avLst/>
          </a:prstGeom>
        </p:spPr>
      </p:pic>
      <p:sp>
        <p:nvSpPr>
          <p:cNvPr id="14" name="TextBox 13">
            <a:extLst>
              <a:ext uri="{FF2B5EF4-FFF2-40B4-BE49-F238E27FC236}">
                <a16:creationId xmlns:a16="http://schemas.microsoft.com/office/drawing/2014/main" id="{91E5A507-D6B8-62BC-D32F-813A106D1F8C}"/>
              </a:ext>
            </a:extLst>
          </p:cNvPr>
          <p:cNvSpPr txBox="1"/>
          <p:nvPr/>
        </p:nvSpPr>
        <p:spPr>
          <a:xfrm>
            <a:off x="6177463" y="5871763"/>
            <a:ext cx="4966525" cy="369332"/>
          </a:xfrm>
          <a:prstGeom prst="rect">
            <a:avLst/>
          </a:prstGeom>
          <a:noFill/>
        </p:spPr>
        <p:txBody>
          <a:bodyPr wrap="square">
            <a:spAutoFit/>
          </a:bodyPr>
          <a:lstStyle/>
          <a:p>
            <a:r>
              <a:rPr lang="en-US" dirty="0">
                <a:latin typeface="Inter" panose="020B0604020202020204" charset="0"/>
                <a:ea typeface="Inter" panose="020B0604020202020204" charset="0"/>
              </a:rPr>
              <a:t>Competency model, LEEA Foundation 2020</a:t>
            </a:r>
          </a:p>
        </p:txBody>
      </p:sp>
    </p:spTree>
    <p:extLst>
      <p:ext uri="{BB962C8B-B14F-4D97-AF65-F5344CB8AC3E}">
        <p14:creationId xmlns:p14="http://schemas.microsoft.com/office/powerpoint/2010/main" val="3312432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DC47A73-6951-CED1-CDAF-4F900BFC56CC}"/>
              </a:ext>
            </a:extLst>
          </p:cNvPr>
          <p:cNvSpPr>
            <a:spLocks noGrp="1"/>
          </p:cNvSpPr>
          <p:nvPr>
            <p:ph type="ftr" sz="quarter" idx="11"/>
          </p:nvPr>
        </p:nvSpPr>
        <p:spPr/>
        <p:txBody>
          <a:bodyPr/>
          <a:lstStyle/>
          <a:p>
            <a:r>
              <a:rPr lang="en-US" dirty="0"/>
              <a:t>© 2024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a:xfrm>
            <a:off x="520571" y="3188556"/>
            <a:ext cx="10706100" cy="849437"/>
          </a:xfrm>
        </p:spPr>
        <p:txBody>
          <a:bodyPr/>
          <a:lstStyle/>
          <a:p>
            <a:r>
              <a:rPr lang="en-US" dirty="0"/>
              <a:t>MEA</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a:xfrm>
            <a:off x="596771" y="4037993"/>
            <a:ext cx="10706100" cy="974725"/>
          </a:xfrm>
        </p:spPr>
        <p:txBody>
          <a:bodyPr/>
          <a:lstStyle/>
          <a:p>
            <a:r>
              <a:rPr lang="en-US" dirty="0"/>
              <a:t>OFS Lifting Teams</a:t>
            </a:r>
          </a:p>
        </p:txBody>
      </p:sp>
      <p:pic>
        <p:nvPicPr>
          <p:cNvPr id="6" name="Picture 5">
            <a:extLst>
              <a:ext uri="{FF2B5EF4-FFF2-40B4-BE49-F238E27FC236}">
                <a16:creationId xmlns:a16="http://schemas.microsoft.com/office/drawing/2014/main" id="{FA410493-A3BC-F3AB-C495-58395F4131FF}"/>
              </a:ext>
            </a:extLst>
          </p:cNvPr>
          <p:cNvPicPr>
            <a:picLocks noChangeAspect="1"/>
          </p:cNvPicPr>
          <p:nvPr/>
        </p:nvPicPr>
        <p:blipFill rotWithShape="1">
          <a:blip r:embed="rId2"/>
          <a:srcRect l="-489" r="40101"/>
          <a:stretch/>
        </p:blipFill>
        <p:spPr>
          <a:xfrm>
            <a:off x="5156200" y="2883149"/>
            <a:ext cx="7035800" cy="3974851"/>
          </a:xfrm>
          <a:prstGeom prst="rect">
            <a:avLst/>
          </a:prstGeom>
        </p:spPr>
      </p:pic>
    </p:spTree>
    <p:extLst>
      <p:ext uri="{BB962C8B-B14F-4D97-AF65-F5344CB8AC3E}">
        <p14:creationId xmlns:p14="http://schemas.microsoft.com/office/powerpoint/2010/main" val="2686859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a:t>
            </a:fld>
            <a:endParaRPr lang="en-US" dirty="0"/>
          </a:p>
        </p:txBody>
      </p:sp>
      <p:graphicFrame>
        <p:nvGraphicFramePr>
          <p:cNvPr id="6" name="Table 5">
            <a:extLst>
              <a:ext uri="{FF2B5EF4-FFF2-40B4-BE49-F238E27FC236}">
                <a16:creationId xmlns:a16="http://schemas.microsoft.com/office/drawing/2014/main" id="{AC53401B-0244-993F-20C9-9E3BFBE379B6}"/>
              </a:ext>
            </a:extLst>
          </p:cNvPr>
          <p:cNvGraphicFramePr>
            <a:graphicFrameLocks noGrp="1"/>
          </p:cNvGraphicFramePr>
          <p:nvPr>
            <p:extLst>
              <p:ext uri="{D42A27DB-BD31-4B8C-83A1-F6EECF244321}">
                <p14:modId xmlns:p14="http://schemas.microsoft.com/office/powerpoint/2010/main" val="259371566"/>
              </p:ext>
            </p:extLst>
          </p:nvPr>
        </p:nvGraphicFramePr>
        <p:xfrm>
          <a:off x="395544" y="974862"/>
          <a:ext cx="11430000" cy="5257800"/>
        </p:xfrm>
        <a:graphic>
          <a:graphicData uri="http://schemas.openxmlformats.org/drawingml/2006/table">
            <a:tbl>
              <a:tblPr firstRow="1" firstCol="1" lastRow="1" lastCol="1" bandRow="1" bandCol="1"/>
              <a:tblGrid>
                <a:gridCol w="2078715">
                  <a:extLst>
                    <a:ext uri="{9D8B030D-6E8A-4147-A177-3AD203B41FA5}">
                      <a16:colId xmlns:a16="http://schemas.microsoft.com/office/drawing/2014/main" val="4033205483"/>
                    </a:ext>
                  </a:extLst>
                </a:gridCol>
                <a:gridCol w="9351285">
                  <a:extLst>
                    <a:ext uri="{9D8B030D-6E8A-4147-A177-3AD203B41FA5}">
                      <a16:colId xmlns:a16="http://schemas.microsoft.com/office/drawing/2014/main" val="3045439851"/>
                    </a:ext>
                  </a:extLst>
                </a:gridCol>
              </a:tblGrid>
              <a:tr h="764126">
                <a:tc>
                  <a:txBody>
                    <a:bodyPr/>
                    <a:lstStyle/>
                    <a:p>
                      <a:pPr marL="67945" marR="0" algn="l">
                        <a:spcBef>
                          <a:spcPts val="1680"/>
                        </a:spcBef>
                        <a:spcAft>
                          <a:spcPts val="0"/>
                        </a:spcAft>
                      </a:pPr>
                      <a:r>
                        <a:rPr lang="en-US" sz="2000" b="1" spc="-10" dirty="0">
                          <a:effectLst/>
                          <a:latin typeface="Calibri" panose="020F0502020204030204" pitchFamily="34" charset="0"/>
                          <a:ea typeface="Inter" panose="020B0604020202020204" charset="0"/>
                          <a:cs typeface="Calibri" panose="020F0502020204030204" pitchFamily="34" charset="0"/>
                        </a:rPr>
                        <a:t>Algeria</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20"/>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8667091"/>
                  </a:ext>
                </a:extLst>
              </a:tr>
              <a:tr h="187555">
                <a:tc rowSpan="2">
                  <a:txBody>
                    <a:bodyPr/>
                    <a:lstStyle/>
                    <a:p>
                      <a:pPr marL="0" marR="0">
                        <a:spcBef>
                          <a:spcPts val="88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200">
                          <a:solidFill>
                            <a:srgbClr val="000000"/>
                          </a:solidFill>
                          <a:effectLst/>
                          <a:latin typeface="+mn-lt"/>
                          <a:ea typeface="Inter" panose="020B0604020202020204" charset="0"/>
                          <a:cs typeface="Times New Roman" panose="02020603050405020304" pitchFamily="18" charset="0"/>
                        </a:rPr>
                        <a:t>Course:</a:t>
                      </a:r>
                      <a:r>
                        <a:rPr lang="en-US" sz="1200" spc="-30">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Appointed</a:t>
                      </a:r>
                      <a:r>
                        <a:rPr lang="en-US" sz="1200" spc="-15">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person</a:t>
                      </a:r>
                      <a:r>
                        <a:rPr lang="en-US" sz="1200" spc="-20">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for</a:t>
                      </a:r>
                      <a:r>
                        <a:rPr lang="en-US" sz="1200" spc="-20">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lifting</a:t>
                      </a:r>
                      <a:r>
                        <a:rPr lang="en-US" sz="1200" spc="-30">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operations</a:t>
                      </a:r>
                      <a:r>
                        <a:rPr lang="en-US" sz="1200" spc="-25">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(LEEA</a:t>
                      </a:r>
                      <a:r>
                        <a:rPr lang="en-US" sz="1200" spc="-25">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as</a:t>
                      </a:r>
                      <a:r>
                        <a:rPr lang="en-US" sz="1200" spc="-15">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per</a:t>
                      </a:r>
                      <a:r>
                        <a:rPr lang="en-US" sz="1200" spc="-15">
                          <a:solidFill>
                            <a:srgbClr val="000000"/>
                          </a:solidFill>
                          <a:effectLst/>
                          <a:latin typeface="+mn-lt"/>
                          <a:ea typeface="Inter" panose="020B0604020202020204" charset="0"/>
                          <a:cs typeface="Times New Roman" panose="02020603050405020304" pitchFamily="18" charset="0"/>
                        </a:rPr>
                        <a:t> </a:t>
                      </a:r>
                      <a:r>
                        <a:rPr lang="en-US" sz="1200">
                          <a:solidFill>
                            <a:srgbClr val="000000"/>
                          </a:solidFill>
                          <a:effectLst/>
                          <a:latin typeface="+mn-lt"/>
                          <a:ea typeface="Inter" panose="020B0604020202020204" charset="0"/>
                          <a:cs typeface="Times New Roman" panose="02020603050405020304" pitchFamily="18" charset="0"/>
                        </a:rPr>
                        <a:t>BS</a:t>
                      </a:r>
                      <a:r>
                        <a:rPr lang="en-US" sz="1200" spc="-30">
                          <a:solidFill>
                            <a:srgbClr val="000000"/>
                          </a:solidFill>
                          <a:effectLst/>
                          <a:latin typeface="+mn-lt"/>
                          <a:ea typeface="Inter" panose="020B0604020202020204" charset="0"/>
                          <a:cs typeface="Times New Roman" panose="02020603050405020304" pitchFamily="18" charset="0"/>
                        </a:rPr>
                        <a:t> </a:t>
                      </a:r>
                      <a:r>
                        <a:rPr lang="en-US" sz="1200" spc="-10">
                          <a:solidFill>
                            <a:srgbClr val="000000"/>
                          </a:solidFill>
                          <a:effectLst/>
                          <a:latin typeface="+mn-lt"/>
                          <a:ea typeface="Inter" panose="020B0604020202020204" charset="0"/>
                          <a:cs typeface="Times New Roman" panose="02020603050405020304" pitchFamily="18" charset="0"/>
                        </a:rPr>
                        <a:t>7121)</a:t>
                      </a:r>
                      <a:endParaRPr lang="en-US" sz="1200">
                        <a:effectLst/>
                        <a:latin typeface="+mn-lt"/>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322457180"/>
                  </a:ext>
                </a:extLst>
              </a:tr>
              <a:tr h="620928">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TUV</a:t>
                      </a:r>
                      <a:r>
                        <a:rPr lang="en-US" sz="1100" spc="-10">
                          <a:effectLst/>
                          <a:latin typeface="Calibri" panose="020F0502020204030204" pitchFamily="34" charset="0"/>
                          <a:ea typeface="Inter" panose="020B0604020202020204" charset="0"/>
                          <a:cs typeface="Calibri" panose="020F0502020204030204" pitchFamily="34" charset="0"/>
                        </a:rPr>
                        <a:t> </a:t>
                      </a:r>
                      <a:r>
                        <a:rPr lang="en-US" sz="1100" spc="-25">
                          <a:effectLst/>
                          <a:latin typeface="Calibri" panose="020F0502020204030204" pitchFamily="34" charset="0"/>
                          <a:ea typeface="Inter" panose="020B0604020202020204" charset="0"/>
                          <a:cs typeface="Calibri" panose="020F0502020204030204" pitchFamily="34" charset="0"/>
                        </a:rPr>
                        <a:t>SUD</a:t>
                      </a:r>
                      <a:endParaRPr lang="en-US" sz="1100">
                        <a:effectLst/>
                        <a:latin typeface="Calibri" panose="020F0502020204030204" pitchFamily="34" charset="0"/>
                        <a:ea typeface="Inter" panose="020B0604020202020204" charset="0"/>
                        <a:cs typeface="Calibri" panose="020F0502020204030204" pitchFamily="34" charset="0"/>
                      </a:endParaRPr>
                    </a:p>
                    <a:p>
                      <a:pPr marL="64135" marR="3686175">
                        <a:lnSpc>
                          <a:spcPct val="98000"/>
                        </a:lnSpc>
                        <a:spcBef>
                          <a:spcPts val="1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TUV</a:t>
                      </a:r>
                      <a:r>
                        <a:rPr lang="en-US" sz="1100" spc="7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Rheinland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1272428"/>
                  </a:ext>
                </a:extLst>
              </a:tr>
              <a:tr h="226647">
                <a:tc rowSpan="2">
                  <a:txBody>
                    <a:bodyPr/>
                    <a:lstStyle/>
                    <a:p>
                      <a:pPr marL="0" marR="0">
                        <a:spcBef>
                          <a:spcPts val="78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81728193"/>
                  </a:ext>
                </a:extLst>
              </a:tr>
              <a:tr h="595503">
                <a:tc vMerge="1">
                  <a:txBody>
                    <a:bodyPr/>
                    <a:lstStyle/>
                    <a:p>
                      <a:endParaRPr lang="en-US"/>
                    </a:p>
                  </a:txBody>
                  <a:tcPr/>
                </a:tc>
                <a:tc>
                  <a:txBody>
                    <a:bodyPr/>
                    <a:lstStyle/>
                    <a:p>
                      <a:pPr marL="64135" marR="3267075">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Lifting</a:t>
                      </a:r>
                      <a:r>
                        <a:rPr lang="en-US" sz="1100" spc="-6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supervisor</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(SIS) TUV SUD</a:t>
                      </a:r>
                    </a:p>
                    <a:p>
                      <a:pPr marL="64135" marR="0">
                        <a:lnSpc>
                          <a:spcPts val="124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2911331"/>
                  </a:ext>
                </a:extLst>
              </a:tr>
              <a:tr h="226647">
                <a:tc rowSpan="2">
                  <a:txBody>
                    <a:bodyPr/>
                    <a:lstStyle/>
                    <a:p>
                      <a:pPr marL="0" marR="0">
                        <a:spcBef>
                          <a:spcPts val="78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228670116"/>
                  </a:ext>
                </a:extLst>
              </a:tr>
              <a:tr h="596244">
                <a:tc vMerge="1">
                  <a:txBody>
                    <a:bodyPr/>
                    <a:lstStyle/>
                    <a:p>
                      <a:endParaRPr lang="en-US"/>
                    </a:p>
                  </a:txBody>
                  <a:tcPr/>
                </a:tc>
                <a:tc>
                  <a:txBody>
                    <a:bodyPr/>
                    <a:lstStyle/>
                    <a:p>
                      <a:pPr marL="64135" marR="3686175">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75"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r>
                        <a:rPr lang="en-US" sz="1100" dirty="0">
                          <a:effectLst/>
                          <a:latin typeface="Calibri" panose="020F0502020204030204" pitchFamily="34" charset="0"/>
                          <a:ea typeface="Inter" panose="020B0604020202020204" charset="0"/>
                          <a:cs typeface="Calibri" panose="020F0502020204030204" pitchFamily="34" charset="0"/>
                        </a:rPr>
                        <a:t> TUV SUD</a:t>
                      </a:r>
                    </a:p>
                    <a:p>
                      <a:pPr marL="64135" marR="0">
                        <a:lnSpc>
                          <a:spcPts val="124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0559763"/>
                  </a:ext>
                </a:extLst>
              </a:tr>
              <a:tr h="226647">
                <a:tc rowSpan="2">
                  <a:txBody>
                    <a:bodyPr/>
                    <a:lstStyle/>
                    <a:p>
                      <a:pPr marL="67945" marR="0">
                        <a:spcBef>
                          <a:spcPts val="134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48766346"/>
                  </a:ext>
                </a:extLst>
              </a:tr>
              <a:tr h="359969">
                <a:tc vMerge="1">
                  <a:txBody>
                    <a:bodyPr/>
                    <a:lstStyle/>
                    <a:p>
                      <a:endParaRPr lang="en-US"/>
                    </a:p>
                  </a:txBody>
                  <a:tcPr/>
                </a:tc>
                <a:tc>
                  <a:txBody>
                    <a:bodyPr/>
                    <a:lstStyle/>
                    <a:p>
                      <a:pPr marL="64135" marR="0">
                        <a:lnSpc>
                          <a:spcPts val="121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spc="-25" dirty="0">
                          <a:effectLst/>
                          <a:latin typeface="Calibri" panose="020F0502020204030204" pitchFamily="34" charset="0"/>
                          <a:ea typeface="Inter" panose="020B0604020202020204" charset="0"/>
                          <a:cs typeface="Calibri" panose="020F0502020204030204" pitchFamily="34" charset="0"/>
                        </a:rPr>
                        <a:t>SUD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11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850777"/>
                  </a:ext>
                </a:extLst>
              </a:tr>
              <a:tr h="226647">
                <a:tc rowSpan="3">
                  <a:txBody>
                    <a:bodyPr/>
                    <a:lstStyle/>
                    <a:p>
                      <a:pPr marL="0" marR="0">
                        <a:spcBef>
                          <a:spcPts val="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0" marR="0">
                        <a:spcBef>
                          <a:spcPts val="7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497974484"/>
                  </a:ext>
                </a:extLst>
              </a:tr>
              <a:tr h="851778">
                <a:tc vMerge="1">
                  <a:txBody>
                    <a:bodyPr/>
                    <a:lstStyle/>
                    <a:p>
                      <a:endParaRPr lang="en-US"/>
                    </a:p>
                  </a:txBody>
                  <a:tcPr/>
                </a:tc>
                <a:tc>
                  <a:txBody>
                    <a:bodyPr/>
                    <a:lstStyle/>
                    <a:p>
                      <a:pPr marL="64135" marR="2797175">
                        <a:spcBef>
                          <a:spcPts val="30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 crane operator (EPFPA) Certified crane operator (SIS) Certified</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(Sarens</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Algeria) Certified crane operator TUV SUD</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102760939"/>
                  </a:ext>
                </a:extLst>
              </a:tr>
              <a:tr h="375109">
                <a:tc vMerge="1">
                  <a:txBody>
                    <a:bodyPr/>
                    <a:lstStyle/>
                    <a:p>
                      <a:endParaRPr lang="en-US"/>
                    </a:p>
                  </a:txBody>
                  <a:tcPr/>
                </a:tc>
                <a:tc>
                  <a:txBody>
                    <a:bodyPr/>
                    <a:lstStyle/>
                    <a:p>
                      <a:pPr marL="64135" marR="0">
                        <a:spcBef>
                          <a:spcPts val="40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 the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9837384"/>
                  </a:ext>
                </a:extLst>
              </a:tr>
            </a:tbl>
          </a:graphicData>
        </a:graphic>
      </p:graphicFrame>
      <p:pic>
        <p:nvPicPr>
          <p:cNvPr id="2050" name="Image 17">
            <a:extLst>
              <a:ext uri="{FF2B5EF4-FFF2-40B4-BE49-F238E27FC236}">
                <a16:creationId xmlns:a16="http://schemas.microsoft.com/office/drawing/2014/main" id="{17E19CA8-1BFE-4D8A-DD86-2553B0BF78A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51" y="260213"/>
            <a:ext cx="590550" cy="59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535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a:t>
            </a:fld>
            <a:endParaRPr lang="en-US" dirty="0"/>
          </a:p>
        </p:txBody>
      </p:sp>
      <p:graphicFrame>
        <p:nvGraphicFramePr>
          <p:cNvPr id="7" name="Table 6">
            <a:extLst>
              <a:ext uri="{FF2B5EF4-FFF2-40B4-BE49-F238E27FC236}">
                <a16:creationId xmlns:a16="http://schemas.microsoft.com/office/drawing/2014/main" id="{0BFFFF4E-0CAB-A75A-22DF-FED80948D6BC}"/>
              </a:ext>
            </a:extLst>
          </p:cNvPr>
          <p:cNvGraphicFramePr>
            <a:graphicFrameLocks noGrp="1"/>
          </p:cNvGraphicFramePr>
          <p:nvPr>
            <p:extLst>
              <p:ext uri="{D42A27DB-BD31-4B8C-83A1-F6EECF244321}">
                <p14:modId xmlns:p14="http://schemas.microsoft.com/office/powerpoint/2010/main" val="2373512526"/>
              </p:ext>
            </p:extLst>
          </p:nvPr>
        </p:nvGraphicFramePr>
        <p:xfrm>
          <a:off x="342900" y="987636"/>
          <a:ext cx="11430000" cy="4940982"/>
        </p:xfrm>
        <a:graphic>
          <a:graphicData uri="http://schemas.openxmlformats.org/drawingml/2006/table">
            <a:tbl>
              <a:tblPr firstRow="1" firstCol="1" lastRow="1" lastCol="1" bandRow="1" bandCol="1"/>
              <a:tblGrid>
                <a:gridCol w="2104465">
                  <a:extLst>
                    <a:ext uri="{9D8B030D-6E8A-4147-A177-3AD203B41FA5}">
                      <a16:colId xmlns:a16="http://schemas.microsoft.com/office/drawing/2014/main" val="1327138508"/>
                    </a:ext>
                  </a:extLst>
                </a:gridCol>
                <a:gridCol w="9325535">
                  <a:extLst>
                    <a:ext uri="{9D8B030D-6E8A-4147-A177-3AD203B41FA5}">
                      <a16:colId xmlns:a16="http://schemas.microsoft.com/office/drawing/2014/main" val="266571252"/>
                    </a:ext>
                  </a:extLst>
                </a:gridCol>
              </a:tblGrid>
              <a:tr h="197540">
                <a:tc>
                  <a:txBody>
                    <a:bodyPr/>
                    <a:lstStyle/>
                    <a:p>
                      <a:pPr marL="67945" marR="0">
                        <a:spcBef>
                          <a:spcPts val="1680"/>
                        </a:spcBef>
                        <a:spcAft>
                          <a:spcPts val="0"/>
                        </a:spcAft>
                      </a:pPr>
                      <a:r>
                        <a:rPr lang="en-US" sz="2000" b="1" spc="-10" dirty="0">
                          <a:effectLst/>
                          <a:latin typeface="Calibri" panose="020F0502020204030204" pitchFamily="34" charset="0"/>
                          <a:ea typeface="Inter" panose="020B0604020202020204" charset="0"/>
                          <a:cs typeface="Calibri" panose="020F0502020204030204" pitchFamily="34" charset="0"/>
                        </a:rPr>
                        <a:t>Egypt</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55"/>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2156784"/>
                  </a:ext>
                </a:extLst>
              </a:tr>
              <a:tr h="105355">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79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Appointed</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person</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for</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lifting</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operations</a:t>
                      </a:r>
                      <a:r>
                        <a:rPr lang="en-US" sz="11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1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as</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BS</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spc="-1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1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38627956"/>
                  </a:ext>
                </a:extLst>
              </a:tr>
              <a:tr h="955758">
                <a:tc vMerge="1">
                  <a:txBody>
                    <a:bodyPr/>
                    <a:lstStyle/>
                    <a:p>
                      <a:endParaRPr lang="en-US"/>
                    </a:p>
                  </a:txBody>
                  <a:tcPr/>
                </a:tc>
                <a:tc>
                  <a:txBody>
                    <a:bodyPr/>
                    <a:lstStyle/>
                    <a:p>
                      <a:pPr marL="64135" marR="2797175">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Marine</a:t>
                      </a:r>
                      <a:r>
                        <a:rPr lang="en-US" sz="1100" spc="-6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Petroleum</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Lifting</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(MPL) </a:t>
                      </a:r>
                      <a:r>
                        <a:rPr lang="en-US" sz="1100" spc="-10">
                          <a:effectLst/>
                          <a:latin typeface="Calibri" panose="020F0502020204030204" pitchFamily="34" charset="0"/>
                          <a:ea typeface="Inter" panose="020B0604020202020204" charset="0"/>
                          <a:cs typeface="Calibri" panose="020F0502020204030204" pitchFamily="34" charset="0"/>
                        </a:rPr>
                        <a:t>Petrolift</a:t>
                      </a:r>
                      <a:endParaRPr lang="en-US" sz="1100">
                        <a:effectLst/>
                        <a:latin typeface="Calibri" panose="020F0502020204030204" pitchFamily="34" charset="0"/>
                        <a:ea typeface="Inter" panose="020B0604020202020204" charset="0"/>
                        <a:cs typeface="Calibri" panose="020F0502020204030204" pitchFamily="34" charset="0"/>
                      </a:endParaRPr>
                    </a:p>
                    <a:p>
                      <a:pPr marL="64135" marR="0">
                        <a:lnSpc>
                          <a:spcPts val="1335"/>
                        </a:lnSpc>
                        <a:spcBef>
                          <a:spcPts val="0"/>
                        </a:spcBef>
                        <a:spcAft>
                          <a:spcPts val="0"/>
                        </a:spcAft>
                      </a:pPr>
                      <a:r>
                        <a:rPr lang="en-US" sz="1100" spc="-25">
                          <a:effectLst/>
                          <a:latin typeface="Calibri" panose="020F0502020204030204" pitchFamily="34" charset="0"/>
                          <a:ea typeface="Inter" panose="020B0604020202020204" charset="0"/>
                          <a:cs typeface="Calibri" panose="020F0502020204030204" pitchFamily="34" charset="0"/>
                        </a:rPr>
                        <a:t>NSL</a:t>
                      </a:r>
                      <a:endParaRPr lang="en-US" sz="1100">
                        <a:effectLst/>
                        <a:latin typeface="Calibri" panose="020F0502020204030204" pitchFamily="34" charset="0"/>
                        <a:ea typeface="Inter" panose="020B0604020202020204" charset="0"/>
                        <a:cs typeface="Calibri" panose="020F0502020204030204" pitchFamily="34" charset="0"/>
                      </a:endParaRPr>
                    </a:p>
                    <a:p>
                      <a:pPr marL="64135" marR="3686175">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LLOYDS British TUV</a:t>
                      </a:r>
                      <a:r>
                        <a:rPr lang="en-US" sz="1100" spc="7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Rheinland TUV SUD</a:t>
                      </a:r>
                    </a:p>
                    <a:p>
                      <a:pPr marL="64135" marR="0">
                        <a:lnSpc>
                          <a:spcPts val="1245"/>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Bureau</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Veritas</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4736991"/>
                  </a:ext>
                </a:extLst>
              </a:tr>
              <a:tr h="105355">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67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402670784"/>
                  </a:ext>
                </a:extLst>
              </a:tr>
              <a:tr h="617755">
                <a:tc vMerge="1">
                  <a:txBody>
                    <a:bodyPr/>
                    <a:lstStyle/>
                    <a:p>
                      <a:endParaRPr lang="en-US"/>
                    </a:p>
                  </a:txBody>
                  <a:tcPr/>
                </a:tc>
                <a:tc>
                  <a:txBody>
                    <a:bodyPr/>
                    <a:lstStyle/>
                    <a:p>
                      <a:pPr marL="64135" marR="2797175">
                        <a:spcBef>
                          <a:spcPts val="5"/>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Marine</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Petroleum</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Lifting</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(MPL) LLOYDS British</a:t>
                      </a:r>
                    </a:p>
                    <a:p>
                      <a:pPr marL="64135" marR="4217670">
                        <a:spcBef>
                          <a:spcPts val="0"/>
                        </a:spcBef>
                        <a:spcAft>
                          <a:spcPts val="0"/>
                        </a:spcAft>
                      </a:pPr>
                      <a:r>
                        <a:rPr lang="en-US" sz="1100" spc="-10">
                          <a:effectLst/>
                          <a:latin typeface="Calibri" panose="020F0502020204030204" pitchFamily="34" charset="0"/>
                          <a:ea typeface="Inter" panose="020B0604020202020204" charset="0"/>
                          <a:cs typeface="Calibri" panose="020F0502020204030204" pitchFamily="34" charset="0"/>
                        </a:rPr>
                        <a:t>Petrolift </a:t>
                      </a:r>
                      <a:r>
                        <a:rPr lang="en-US" sz="1100">
                          <a:effectLst/>
                          <a:latin typeface="Calibri" panose="020F0502020204030204" pitchFamily="34" charset="0"/>
                          <a:ea typeface="Inter" panose="020B0604020202020204" charset="0"/>
                          <a:cs typeface="Calibri" panose="020F0502020204030204" pitchFamily="34" charset="0"/>
                        </a:rPr>
                        <a:t>TUV</a:t>
                      </a:r>
                      <a:r>
                        <a:rPr lang="en-US" sz="1100" spc="-10">
                          <a:effectLst/>
                          <a:latin typeface="Calibri" panose="020F0502020204030204" pitchFamily="34" charset="0"/>
                          <a:ea typeface="Inter" panose="020B0604020202020204" charset="0"/>
                          <a:cs typeface="Calibri" panose="020F0502020204030204" pitchFamily="34" charset="0"/>
                        </a:rPr>
                        <a:t> </a:t>
                      </a:r>
                      <a:r>
                        <a:rPr lang="en-US" sz="1100" spc="-25">
                          <a:effectLst/>
                          <a:latin typeface="Calibri" panose="020F0502020204030204" pitchFamily="34" charset="0"/>
                          <a:ea typeface="Inter" panose="020B0604020202020204" charset="0"/>
                          <a:cs typeface="Calibri" panose="020F0502020204030204" pitchFamily="34" charset="0"/>
                        </a:rPr>
                        <a:t>SUD</a:t>
                      </a:r>
                      <a:endParaRPr lang="en-US" sz="1100">
                        <a:effectLst/>
                        <a:latin typeface="Calibri" panose="020F0502020204030204" pitchFamily="34" charset="0"/>
                        <a:ea typeface="Inter" panose="020B0604020202020204" charset="0"/>
                        <a:cs typeface="Calibri" panose="020F0502020204030204" pitchFamily="34" charset="0"/>
                      </a:endParaRPr>
                    </a:p>
                    <a:p>
                      <a:pPr marL="64135" marR="0">
                        <a:lnSpc>
                          <a:spcPts val="1245"/>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Bureau</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Veritas</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7426830"/>
                  </a:ext>
                </a:extLst>
              </a:tr>
              <a:tr h="105355">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97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300488893"/>
                  </a:ext>
                </a:extLst>
              </a:tr>
              <a:tr h="1249680">
                <a:tc vMerge="1">
                  <a:txBody>
                    <a:bodyPr/>
                    <a:lstStyle/>
                    <a:p>
                      <a:endParaRPr lang="en-US"/>
                    </a:p>
                  </a:txBody>
                  <a:tcPr/>
                </a:tc>
                <a:tc>
                  <a:txBody>
                    <a:bodyPr/>
                    <a:lstStyle/>
                    <a:p>
                      <a:pPr marL="64135" marR="2797175">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Marine</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Petroleum</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Lifting</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(MPL) </a:t>
                      </a:r>
                      <a:r>
                        <a:rPr lang="en-US" sz="1100" spc="-10" dirty="0" err="1">
                          <a:effectLst/>
                          <a:latin typeface="Calibri" panose="020F0502020204030204" pitchFamily="34" charset="0"/>
                          <a:ea typeface="Inter" panose="020B0604020202020204" charset="0"/>
                          <a:cs typeface="Calibri" panose="020F0502020204030204" pitchFamily="34" charset="0"/>
                        </a:rPr>
                        <a:t>Petrolift</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2305050">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Gulf</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Technical</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&amp;</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Safety</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Training</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Centre</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(GTSC) TUV</a:t>
                      </a:r>
                      <a:r>
                        <a:rPr lang="en-US" sz="1100" spc="200"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21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25" dirty="0">
                          <a:effectLst/>
                          <a:latin typeface="Calibri" panose="020F0502020204030204" pitchFamily="34" charset="0"/>
                          <a:ea typeface="Inter" panose="020B0604020202020204" charset="0"/>
                          <a:cs typeface="Calibri" panose="020F0502020204030204" pitchFamily="34" charset="0"/>
                        </a:rPr>
                        <a:t> SUD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3497580">
                        <a:lnSpc>
                          <a:spcPts val="12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 Veritas </a:t>
                      </a:r>
                      <a:r>
                        <a:rPr lang="en-US" sz="1100" dirty="0" err="1">
                          <a:effectLst/>
                          <a:latin typeface="Calibri" panose="020F0502020204030204" pitchFamily="34" charset="0"/>
                          <a:ea typeface="Inter" panose="020B0604020202020204" charset="0"/>
                          <a:cs typeface="Calibri" panose="020F0502020204030204" pitchFamily="34" charset="0"/>
                        </a:rPr>
                        <a:t>Almansoori</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Engineering URS Academy</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3635673"/>
                  </a:ext>
                </a:extLst>
              </a:tr>
              <a:tr h="130212">
                <a:tc rowSpan="2">
                  <a:txBody>
                    <a:bodyPr/>
                    <a:lstStyle/>
                    <a:p>
                      <a:pPr marL="0" marR="0">
                        <a:spcBef>
                          <a:spcPts val="595"/>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56452788"/>
                  </a:ext>
                </a:extLst>
              </a:tr>
              <a:tr h="203027">
                <a:tc vMerge="1">
                  <a:txBody>
                    <a:bodyPr/>
                    <a:lstStyle/>
                    <a:p>
                      <a:endParaRPr lang="en-US"/>
                    </a:p>
                  </a:txBody>
                  <a:tcPr/>
                </a:tc>
                <a:tc>
                  <a:txBody>
                    <a:bodyPr/>
                    <a:lstStyle/>
                    <a:p>
                      <a:pPr marL="64135" marR="2797175">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Marine</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Petroleum</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Lifting</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(MPL) </a:t>
                      </a:r>
                      <a:r>
                        <a:rPr lang="en-US" sz="1100" spc="-10" dirty="0" err="1">
                          <a:effectLst/>
                          <a:latin typeface="Calibri" panose="020F0502020204030204" pitchFamily="34" charset="0"/>
                          <a:ea typeface="Inter" panose="020B0604020202020204" charset="0"/>
                          <a:cs typeface="Calibri" panose="020F0502020204030204" pitchFamily="34" charset="0"/>
                        </a:rPr>
                        <a:t>Petrolift</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115"/>
                        </a:lnSpc>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Gulf</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Technical</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&amp;</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Safety</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Training</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Centre</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(GTSC)</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7154192"/>
                  </a:ext>
                </a:extLst>
              </a:tr>
              <a:tr h="130212">
                <a:tc rowSpan="3">
                  <a:txBody>
                    <a:bodyPr/>
                    <a:lstStyle/>
                    <a:p>
                      <a:pPr marL="0" marR="0">
                        <a:spcBef>
                          <a:spcPts val="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0" marR="0">
                        <a:spcBef>
                          <a:spcPts val="55"/>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5"/>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08257212"/>
                  </a:ext>
                </a:extLst>
              </a:tr>
              <a:tr h="287782">
                <a:tc vMerge="1">
                  <a:txBody>
                    <a:bodyPr/>
                    <a:lstStyle/>
                    <a:p>
                      <a:endParaRPr lang="en-US"/>
                    </a:p>
                  </a:txBody>
                  <a:tcPr/>
                </a:tc>
                <a:tc>
                  <a:txBody>
                    <a:bodyPr/>
                    <a:lstStyle/>
                    <a:p>
                      <a:pPr marL="64135" marR="3267075">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CETC</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Governmental</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Center Crane operator Lloyds</a:t>
                      </a:r>
                    </a:p>
                    <a:p>
                      <a:pPr marL="64135" marR="0">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URS</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Academy</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(Preparation)</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31211010"/>
                  </a:ext>
                </a:extLst>
              </a:tr>
              <a:tr h="184371">
                <a:tc vMerge="1">
                  <a:txBody>
                    <a:bodyPr/>
                    <a:lstStyle/>
                    <a:p>
                      <a:endParaRPr lang="en-US"/>
                    </a:p>
                  </a:txBody>
                  <a:tcPr/>
                </a:tc>
                <a:tc>
                  <a:txBody>
                    <a:bodyPr/>
                    <a:lstStyle/>
                    <a:p>
                      <a:pPr marL="0" marR="0">
                        <a:spcBef>
                          <a:spcPts val="6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spcBef>
                          <a:spcPts val="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 the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35483"/>
                  </a:ext>
                </a:extLst>
              </a:tr>
            </a:tbl>
          </a:graphicData>
        </a:graphic>
      </p:graphicFrame>
      <p:pic>
        <p:nvPicPr>
          <p:cNvPr id="3075" name="Image 18">
            <a:extLst>
              <a:ext uri="{FF2B5EF4-FFF2-40B4-BE49-F238E27FC236}">
                <a16:creationId xmlns:a16="http://schemas.microsoft.com/office/drawing/2014/main" id="{E02AACA4-9F8B-A822-93C3-16AF88C2AF0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276225"/>
            <a:ext cx="552450" cy="55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0792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a:t>
            </a:fld>
            <a:endParaRPr lang="en-US" dirty="0"/>
          </a:p>
        </p:txBody>
      </p:sp>
      <p:graphicFrame>
        <p:nvGraphicFramePr>
          <p:cNvPr id="9" name="Table 8">
            <a:extLst>
              <a:ext uri="{FF2B5EF4-FFF2-40B4-BE49-F238E27FC236}">
                <a16:creationId xmlns:a16="http://schemas.microsoft.com/office/drawing/2014/main" id="{924EC5AE-CE95-B55F-4863-36C35C7C9E4E}"/>
              </a:ext>
            </a:extLst>
          </p:cNvPr>
          <p:cNvGraphicFramePr>
            <a:graphicFrameLocks noGrp="1"/>
          </p:cNvGraphicFramePr>
          <p:nvPr>
            <p:extLst>
              <p:ext uri="{D42A27DB-BD31-4B8C-83A1-F6EECF244321}">
                <p14:modId xmlns:p14="http://schemas.microsoft.com/office/powerpoint/2010/main" val="2154889532"/>
              </p:ext>
            </p:extLst>
          </p:nvPr>
        </p:nvGraphicFramePr>
        <p:xfrm>
          <a:off x="419100" y="1057273"/>
          <a:ext cx="11430000" cy="4831894"/>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178406019"/>
                    </a:ext>
                  </a:extLst>
                </a:gridCol>
                <a:gridCol w="9383806">
                  <a:extLst>
                    <a:ext uri="{9D8B030D-6E8A-4147-A177-3AD203B41FA5}">
                      <a16:colId xmlns:a16="http://schemas.microsoft.com/office/drawing/2014/main" val="2512063343"/>
                    </a:ext>
                  </a:extLst>
                </a:gridCol>
              </a:tblGrid>
              <a:tr h="638791">
                <a:tc>
                  <a:txBody>
                    <a:bodyPr/>
                    <a:lstStyle/>
                    <a:p>
                      <a:pPr marL="67945" marR="0">
                        <a:spcBef>
                          <a:spcPts val="1680"/>
                        </a:spcBef>
                        <a:spcAft>
                          <a:spcPts val="0"/>
                        </a:spcAft>
                      </a:pPr>
                      <a:r>
                        <a:rPr lang="en-US" sz="2000" b="1" spc="-10" dirty="0">
                          <a:effectLst/>
                          <a:latin typeface="Calibri" panose="020F0502020204030204" pitchFamily="34" charset="0"/>
                          <a:ea typeface="Inter" panose="020B0604020202020204" charset="0"/>
                          <a:cs typeface="Calibri" panose="020F0502020204030204" pitchFamily="34" charset="0"/>
                        </a:rPr>
                        <a:t>Libya</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55"/>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7468634"/>
                  </a:ext>
                </a:extLst>
              </a:tr>
              <a:tr h="404250">
                <a:tc rowSpan="2">
                  <a:txBody>
                    <a:bodyPr/>
                    <a:lstStyle/>
                    <a:p>
                      <a:pPr marL="67945" marR="0">
                        <a:spcBef>
                          <a:spcPts val="870"/>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Appointed</a:t>
                      </a:r>
                      <a:r>
                        <a:rPr lang="en-US" sz="1100" spc="-1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person</a:t>
                      </a:r>
                      <a:r>
                        <a:rPr lang="en-US" sz="1100" spc="-2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for</a:t>
                      </a:r>
                      <a:r>
                        <a:rPr lang="en-US" sz="1100" spc="-2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lifting</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operations</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4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1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73371650"/>
                  </a:ext>
                </a:extLst>
              </a:tr>
              <a:tr h="401608">
                <a:tc vMerge="1">
                  <a:txBody>
                    <a:bodyPr/>
                    <a:lstStyle/>
                    <a:p>
                      <a:endParaRPr lang="en-US"/>
                    </a:p>
                  </a:txBody>
                  <a:tcPr/>
                </a:tc>
                <a:tc>
                  <a:txBody>
                    <a:bodyPr/>
                    <a:lstStyle/>
                    <a:p>
                      <a:pPr marL="64135" marR="0">
                        <a:lnSpc>
                          <a:spcPct val="100000"/>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appointed</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person</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t>
                      </a:r>
                      <a:r>
                        <a:rPr lang="en-US" sz="1100" spc="-2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Almansoori</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Engineering</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&amp;</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spc="-20">
                          <a:effectLst/>
                          <a:latin typeface="Calibri" panose="020F0502020204030204" pitchFamily="34" charset="0"/>
                          <a:ea typeface="Inter" panose="020B0604020202020204" charset="0"/>
                          <a:cs typeface="Calibri" panose="020F0502020204030204" pitchFamily="34" charset="0"/>
                        </a:rPr>
                        <a:t>GTSC)</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1538657"/>
                  </a:ext>
                </a:extLst>
              </a:tr>
              <a:tr h="404250">
                <a:tc rowSpan="2">
                  <a:txBody>
                    <a:bodyPr/>
                    <a:lstStyle/>
                    <a:p>
                      <a:pPr marL="67945" marR="0">
                        <a:spcBef>
                          <a:spcPts val="725"/>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86563383"/>
                  </a:ext>
                </a:extLst>
              </a:tr>
              <a:tr h="319701">
                <a:tc vMerge="1">
                  <a:txBody>
                    <a:bodyPr/>
                    <a:lstStyle/>
                    <a:p>
                      <a:endParaRPr lang="en-US"/>
                    </a:p>
                  </a:txBody>
                  <a:tcPr/>
                </a:tc>
                <a:tc>
                  <a:txBody>
                    <a:bodyPr/>
                    <a:lstStyle/>
                    <a:p>
                      <a:pPr marL="64135" marR="0">
                        <a:lnSpc>
                          <a:spcPct val="1000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LEEA</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appointed</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person</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Almansoori</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Engineering</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&amp;</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20" dirty="0">
                          <a:effectLst/>
                          <a:latin typeface="Calibri" panose="020F0502020204030204" pitchFamily="34" charset="0"/>
                          <a:ea typeface="Inter" panose="020B0604020202020204" charset="0"/>
                          <a:cs typeface="Calibri" panose="020F0502020204030204" pitchFamily="34" charset="0"/>
                        </a:rPr>
                        <a:t>GTSC)</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6789460"/>
                  </a:ext>
                </a:extLst>
              </a:tr>
              <a:tr h="404250">
                <a:tc rowSpan="2">
                  <a:txBody>
                    <a:bodyPr/>
                    <a:lstStyle/>
                    <a:p>
                      <a:pPr marL="67945" marR="0">
                        <a:spcBef>
                          <a:spcPts val="88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72411713"/>
                  </a:ext>
                </a:extLst>
              </a:tr>
              <a:tr h="404250">
                <a:tc vMerge="1">
                  <a:txBody>
                    <a:bodyPr/>
                    <a:lstStyle/>
                    <a:p>
                      <a:endParaRPr lang="en-US"/>
                    </a:p>
                  </a:txBody>
                  <a:tcPr/>
                </a:tc>
                <a:tc>
                  <a:txBody>
                    <a:bodyPr/>
                    <a:lstStyle/>
                    <a:p>
                      <a:pPr marL="64135" marR="0">
                        <a:lnSpc>
                          <a:spcPct val="100000"/>
                        </a:lnSpc>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LEEA</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appointed</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person</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Almansoori</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Engineering</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&amp;</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20" dirty="0">
                          <a:effectLst/>
                          <a:latin typeface="Calibri" panose="020F0502020204030204" pitchFamily="34" charset="0"/>
                          <a:ea typeface="Inter" panose="020B0604020202020204" charset="0"/>
                          <a:cs typeface="Calibri" panose="020F0502020204030204" pitchFamily="34" charset="0"/>
                        </a:rPr>
                        <a:t>GTSC)</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3295495"/>
                  </a:ext>
                </a:extLst>
              </a:tr>
              <a:tr h="402929">
                <a:tc rowSpan="2">
                  <a:txBody>
                    <a:bodyPr/>
                    <a:lstStyle/>
                    <a:p>
                      <a:pPr marL="67945" marR="0">
                        <a:spcBef>
                          <a:spcPts val="875"/>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95"/>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800761448"/>
                  </a:ext>
                </a:extLst>
              </a:tr>
              <a:tr h="404250">
                <a:tc vMerge="1">
                  <a:txBody>
                    <a:bodyPr/>
                    <a:lstStyle/>
                    <a:p>
                      <a:endParaRPr lang="en-US"/>
                    </a:p>
                  </a:txBody>
                  <a:tcPr/>
                </a:tc>
                <a:tc>
                  <a:txBody>
                    <a:bodyPr/>
                    <a:lstStyle/>
                    <a:p>
                      <a:pPr marL="64135" marR="0">
                        <a:lnSpc>
                          <a:spcPct val="100000"/>
                        </a:lnSpc>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LEEA</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appointed</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person</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Almansoori</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Engineering</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&amp;</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20" dirty="0">
                          <a:effectLst/>
                          <a:latin typeface="Calibri" panose="020F0502020204030204" pitchFamily="34" charset="0"/>
                          <a:ea typeface="Inter" panose="020B0604020202020204" charset="0"/>
                          <a:cs typeface="Calibri" panose="020F0502020204030204" pitchFamily="34" charset="0"/>
                        </a:rPr>
                        <a:t>GTSC)</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508436"/>
                  </a:ext>
                </a:extLst>
              </a:tr>
              <a:tr h="404250">
                <a:tc rowSpan="3">
                  <a:txBody>
                    <a:bodyPr/>
                    <a:lstStyle/>
                    <a:p>
                      <a:pPr marL="0" marR="0">
                        <a:spcBef>
                          <a:spcPts val="2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451090241"/>
                  </a:ext>
                </a:extLst>
              </a:tr>
              <a:tr h="360654">
                <a:tc vMerge="1">
                  <a:txBody>
                    <a:bodyPr/>
                    <a:lstStyle/>
                    <a:p>
                      <a:endParaRPr lang="en-US"/>
                    </a:p>
                  </a:txBody>
                  <a:tcPr/>
                </a:tc>
                <a:tc>
                  <a:txBody>
                    <a:bodyPr/>
                    <a:lstStyle/>
                    <a:p>
                      <a:pPr marL="64135" marR="0">
                        <a:lnSpc>
                          <a:spcPct val="100000"/>
                        </a:lnSpc>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LEEA</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appointed</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person</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Almansoori</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Engineering</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&amp;</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20" dirty="0">
                          <a:effectLst/>
                          <a:latin typeface="Calibri" panose="020F0502020204030204" pitchFamily="34" charset="0"/>
                          <a:ea typeface="Inter" panose="020B0604020202020204" charset="0"/>
                          <a:cs typeface="Calibri" panose="020F0502020204030204" pitchFamily="34" charset="0"/>
                        </a:rPr>
                        <a:t>GTSC)</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796735560"/>
                  </a:ext>
                </a:extLst>
              </a:tr>
              <a:tr h="282711">
                <a:tc vMerge="1">
                  <a:txBody>
                    <a:bodyPr/>
                    <a:lstStyle/>
                    <a:p>
                      <a:endParaRPr lang="en-US"/>
                    </a:p>
                  </a:txBody>
                  <a:tcPr/>
                </a:tc>
                <a:tc>
                  <a:txBody>
                    <a:bodyPr/>
                    <a:lstStyle/>
                    <a:p>
                      <a:pPr marL="64135" marR="0">
                        <a:lnSpc>
                          <a:spcPct val="100000"/>
                        </a:lnSpc>
                        <a:spcBef>
                          <a:spcPts val="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 the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8882266"/>
                  </a:ext>
                </a:extLst>
              </a:tr>
            </a:tbl>
          </a:graphicData>
        </a:graphic>
      </p:graphicFrame>
      <p:pic>
        <p:nvPicPr>
          <p:cNvPr id="10243" name="Picture 3">
            <a:extLst>
              <a:ext uri="{FF2B5EF4-FFF2-40B4-BE49-F238E27FC236}">
                <a16:creationId xmlns:a16="http://schemas.microsoft.com/office/drawing/2014/main" id="{0779ABFA-CC3D-06D7-61D6-FFE21BD54FD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85" y="301853"/>
            <a:ext cx="723900" cy="54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93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a:t>
            </a:fld>
            <a:endParaRPr lang="en-US" dirty="0"/>
          </a:p>
        </p:txBody>
      </p:sp>
      <p:graphicFrame>
        <p:nvGraphicFramePr>
          <p:cNvPr id="5" name="Table 4">
            <a:extLst>
              <a:ext uri="{FF2B5EF4-FFF2-40B4-BE49-F238E27FC236}">
                <a16:creationId xmlns:a16="http://schemas.microsoft.com/office/drawing/2014/main" id="{18953CBB-F8B0-C2A9-E632-8D6371E860F6}"/>
              </a:ext>
            </a:extLst>
          </p:cNvPr>
          <p:cNvGraphicFramePr>
            <a:graphicFrameLocks noGrp="1"/>
          </p:cNvGraphicFramePr>
          <p:nvPr>
            <p:extLst>
              <p:ext uri="{D42A27DB-BD31-4B8C-83A1-F6EECF244321}">
                <p14:modId xmlns:p14="http://schemas.microsoft.com/office/powerpoint/2010/main" val="317180276"/>
              </p:ext>
            </p:extLst>
          </p:nvPr>
        </p:nvGraphicFramePr>
        <p:xfrm>
          <a:off x="419100" y="1052940"/>
          <a:ext cx="11430000" cy="4910657"/>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3791360250"/>
                    </a:ext>
                  </a:extLst>
                </a:gridCol>
                <a:gridCol w="9401735">
                  <a:extLst>
                    <a:ext uri="{9D8B030D-6E8A-4147-A177-3AD203B41FA5}">
                      <a16:colId xmlns:a16="http://schemas.microsoft.com/office/drawing/2014/main" val="2578441282"/>
                    </a:ext>
                  </a:extLst>
                </a:gridCol>
              </a:tblGrid>
              <a:tr h="536374">
                <a:tc>
                  <a:txBody>
                    <a:bodyPr/>
                    <a:lstStyle/>
                    <a:p>
                      <a:pPr marL="67945" marR="0">
                        <a:spcBef>
                          <a:spcPts val="1670"/>
                        </a:spcBef>
                        <a:spcAft>
                          <a:spcPts val="0"/>
                        </a:spcAft>
                      </a:pPr>
                      <a:r>
                        <a:rPr lang="en-US" sz="2000" b="1" spc="-10" dirty="0">
                          <a:effectLst/>
                          <a:latin typeface="Calibri" panose="020F0502020204030204" pitchFamily="34" charset="0"/>
                          <a:ea typeface="Inter" panose="020B0604020202020204" charset="0"/>
                          <a:cs typeface="Calibri" panose="020F0502020204030204" pitchFamily="34" charset="0"/>
                        </a:rPr>
                        <a:t>Tunisia</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50"/>
                        </a:spcBef>
                        <a:spcAft>
                          <a:spcPts val="5"/>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2000872"/>
                  </a:ext>
                </a:extLst>
              </a:tr>
              <a:tr h="231343">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10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Appointed</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person</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for</a:t>
                      </a:r>
                      <a:r>
                        <a:rPr lang="en-US" sz="1100" spc="-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lifting</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operations</a:t>
                      </a:r>
                      <a:r>
                        <a:rPr lang="en-US" sz="11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1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as</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BS</a:t>
                      </a:r>
                      <a:r>
                        <a:rPr lang="en-US" sz="11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spc="-1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1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9921187"/>
                  </a:ext>
                </a:extLst>
              </a:tr>
              <a:tr h="818909">
                <a:tc vMerge="1">
                  <a:txBody>
                    <a:bodyPr/>
                    <a:lstStyle/>
                    <a:p>
                      <a:endParaRPr lang="en-US"/>
                    </a:p>
                  </a:txBody>
                  <a:tcPr/>
                </a:tc>
                <a:tc>
                  <a:txBody>
                    <a:bodyPr/>
                    <a:lstStyle/>
                    <a:p>
                      <a:pPr marL="64135" marR="3686175">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75"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r>
                        <a:rPr lang="en-US" sz="1100" dirty="0">
                          <a:effectLst/>
                          <a:latin typeface="Calibri" panose="020F0502020204030204" pitchFamily="34" charset="0"/>
                          <a:ea typeface="Inter" panose="020B0604020202020204" charset="0"/>
                          <a:cs typeface="Calibri" panose="020F0502020204030204" pitchFamily="34" charset="0"/>
                        </a:rPr>
                        <a:t> TUV SUD</a:t>
                      </a:r>
                    </a:p>
                    <a:p>
                      <a:pPr marL="64135" marR="3888740">
                        <a:lnSpc>
                          <a:spcPts val="135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6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Veritas </a:t>
                      </a:r>
                      <a:r>
                        <a:rPr lang="en-US" sz="1100" spc="-10" dirty="0">
                          <a:effectLst/>
                          <a:latin typeface="Calibri" panose="020F0502020204030204" pitchFamily="34" charset="0"/>
                          <a:ea typeface="Inter" panose="020B0604020202020204" charset="0"/>
                          <a:cs typeface="Calibri" panose="020F0502020204030204" pitchFamily="34" charset="0"/>
                        </a:rPr>
                        <a:t>APAVE</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5035015"/>
                  </a:ext>
                </a:extLst>
              </a:tr>
              <a:tr h="231343">
                <a:tc rowSpan="2">
                  <a:txBody>
                    <a:bodyPr/>
                    <a:lstStyle/>
                    <a:p>
                      <a:pPr marL="0" marR="0">
                        <a:spcBef>
                          <a:spcPts val="58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103960822"/>
                  </a:ext>
                </a:extLst>
              </a:tr>
              <a:tr h="557049">
                <a:tc vMerge="1">
                  <a:txBody>
                    <a:bodyPr/>
                    <a:lstStyle/>
                    <a:p>
                      <a:endParaRPr lang="en-US"/>
                    </a:p>
                  </a:txBody>
                  <a:tcPr/>
                </a:tc>
                <a:tc>
                  <a:txBody>
                    <a:bodyPr/>
                    <a:lstStyle/>
                    <a:p>
                      <a:pPr marL="64135" marR="4263390">
                        <a:spcBef>
                          <a:spcPts val="0"/>
                        </a:spcBef>
                        <a:spcAft>
                          <a:spcPts val="0"/>
                        </a:spcAft>
                      </a:pPr>
                      <a:r>
                        <a:rPr lang="en-US" sz="1100" spc="-10">
                          <a:effectLst/>
                          <a:latin typeface="Calibri" panose="020F0502020204030204" pitchFamily="34" charset="0"/>
                          <a:ea typeface="Inter" panose="020B0604020202020204" charset="0"/>
                          <a:cs typeface="Calibri" panose="020F0502020204030204" pitchFamily="34" charset="0"/>
                        </a:rPr>
                        <a:t>APAVE </a:t>
                      </a:r>
                      <a:r>
                        <a:rPr lang="en-US" sz="1100">
                          <a:effectLst/>
                          <a:latin typeface="Calibri" panose="020F0502020204030204" pitchFamily="34" charset="0"/>
                          <a:ea typeface="Inter" panose="020B0604020202020204" charset="0"/>
                          <a:cs typeface="Calibri" panose="020F0502020204030204" pitchFamily="34" charset="0"/>
                        </a:rPr>
                        <a:t>TUV</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SUD</a:t>
                      </a:r>
                    </a:p>
                    <a:p>
                      <a:pPr marL="64135" marR="0">
                        <a:lnSpc>
                          <a:spcPts val="1120"/>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Bureau</a:t>
                      </a:r>
                      <a:r>
                        <a:rPr lang="en-US" sz="1100" spc="-40">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Veritas</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594992"/>
                  </a:ext>
                </a:extLst>
              </a:tr>
              <a:tr h="232865">
                <a:tc rowSpan="2">
                  <a:txBody>
                    <a:bodyPr/>
                    <a:lstStyle/>
                    <a:p>
                      <a:pPr marL="0" marR="0">
                        <a:spcBef>
                          <a:spcPts val="120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74376723"/>
                  </a:ext>
                </a:extLst>
              </a:tr>
              <a:tr h="742732">
                <a:tc vMerge="1">
                  <a:txBody>
                    <a:bodyPr/>
                    <a:lstStyle/>
                    <a:p>
                      <a:endParaRPr lang="en-US"/>
                    </a:p>
                  </a:txBody>
                  <a:tcPr/>
                </a:tc>
                <a:tc>
                  <a:txBody>
                    <a:bodyPr/>
                    <a:lstStyle/>
                    <a:p>
                      <a:pPr marL="64135" marR="3686175">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(ITC) TUV</a:t>
                      </a:r>
                      <a:r>
                        <a:rPr lang="en-US" sz="1100" spc="200"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25" dirty="0">
                          <a:effectLst/>
                          <a:latin typeface="Calibri" panose="020F0502020204030204" pitchFamily="34" charset="0"/>
                          <a:ea typeface="Inter" panose="020B0604020202020204" charset="0"/>
                          <a:cs typeface="Calibri" panose="020F0502020204030204" pitchFamily="34" charset="0"/>
                        </a:rPr>
                        <a:t> SUD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115"/>
                        </a:lnSpc>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5560691"/>
                  </a:ext>
                </a:extLst>
              </a:tr>
              <a:tr h="231343">
                <a:tc rowSpan="2">
                  <a:txBody>
                    <a:bodyPr/>
                    <a:lstStyle/>
                    <a:p>
                      <a:pPr marL="0" marR="0">
                        <a:spcBef>
                          <a:spcPts val="595"/>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397325792"/>
                  </a:ext>
                </a:extLst>
              </a:tr>
              <a:tr h="557810">
                <a:tc vMerge="1">
                  <a:txBody>
                    <a:bodyPr/>
                    <a:lstStyle/>
                    <a:p>
                      <a:endParaRPr lang="en-US"/>
                    </a:p>
                  </a:txBody>
                  <a:tcPr/>
                </a:tc>
                <a:tc>
                  <a:txBody>
                    <a:bodyPr/>
                    <a:lstStyle/>
                    <a:p>
                      <a:pPr marL="64135" marR="2546985">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overhead</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(ITC) TUV SUD</a:t>
                      </a:r>
                    </a:p>
                    <a:p>
                      <a:pPr marL="64135" marR="0">
                        <a:lnSpc>
                          <a:spcPts val="1115"/>
                        </a:lnSpc>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4709963"/>
                  </a:ext>
                </a:extLst>
              </a:tr>
              <a:tr h="231343">
                <a:tc rowSpan="3">
                  <a:txBody>
                    <a:bodyPr/>
                    <a:lstStyle/>
                    <a:p>
                      <a:pPr marL="0" marR="0">
                        <a:spcBef>
                          <a:spcPts val="56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1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81220330"/>
                  </a:ext>
                </a:extLst>
              </a:tr>
              <a:tr h="385064">
                <a:tc vMerge="1">
                  <a:txBody>
                    <a:bodyPr/>
                    <a:lstStyle/>
                    <a:p>
                      <a:endParaRPr lang="en-US"/>
                    </a:p>
                  </a:txBody>
                  <a:tcPr/>
                </a:tc>
                <a:tc>
                  <a:txBody>
                    <a:bodyPr/>
                    <a:lstStyle/>
                    <a:p>
                      <a:pPr marL="64135" marR="2546985">
                        <a:lnSpc>
                          <a:spcPts val="12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overhead</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(ITC) TUV SUD</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133715807"/>
                  </a:ext>
                </a:extLst>
              </a:tr>
              <a:tr h="154482">
                <a:tc vMerge="1">
                  <a:txBody>
                    <a:bodyPr/>
                    <a:lstStyle/>
                    <a:p>
                      <a:endParaRPr lang="en-US"/>
                    </a:p>
                  </a:txBody>
                  <a:tcPr/>
                </a:tc>
                <a:tc>
                  <a:txBody>
                    <a:bodyPr/>
                    <a:lstStyle/>
                    <a:p>
                      <a:pPr marL="64135" marR="0">
                        <a:lnSpc>
                          <a:spcPts val="915"/>
                        </a:lnSpc>
                        <a:spcBef>
                          <a:spcPts val="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 the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8340104"/>
                  </a:ext>
                </a:extLst>
              </a:tr>
            </a:tbl>
          </a:graphicData>
        </a:graphic>
      </p:graphicFrame>
      <p:pic>
        <p:nvPicPr>
          <p:cNvPr id="9218" name="Image 20">
            <a:extLst>
              <a:ext uri="{FF2B5EF4-FFF2-40B4-BE49-F238E27FC236}">
                <a16:creationId xmlns:a16="http://schemas.microsoft.com/office/drawing/2014/main" id="{0FEECDFE-CA13-98FB-0736-293D268D91E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52199"/>
            <a:ext cx="542925" cy="54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4295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9</a:t>
            </a:fld>
            <a:endParaRPr lang="en-US" dirty="0"/>
          </a:p>
        </p:txBody>
      </p:sp>
      <p:graphicFrame>
        <p:nvGraphicFramePr>
          <p:cNvPr id="5" name="Table 4">
            <a:extLst>
              <a:ext uri="{FF2B5EF4-FFF2-40B4-BE49-F238E27FC236}">
                <a16:creationId xmlns:a16="http://schemas.microsoft.com/office/drawing/2014/main" id="{BF1FAE77-7A03-0EE6-DE70-15ACE564BB83}"/>
              </a:ext>
            </a:extLst>
          </p:cNvPr>
          <p:cNvGraphicFramePr>
            <a:graphicFrameLocks noGrp="1"/>
          </p:cNvGraphicFramePr>
          <p:nvPr>
            <p:extLst>
              <p:ext uri="{D42A27DB-BD31-4B8C-83A1-F6EECF244321}">
                <p14:modId xmlns:p14="http://schemas.microsoft.com/office/powerpoint/2010/main" val="1617314531"/>
              </p:ext>
            </p:extLst>
          </p:nvPr>
        </p:nvGraphicFramePr>
        <p:xfrm>
          <a:off x="419100" y="998804"/>
          <a:ext cx="11430000" cy="5066766"/>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2237397729"/>
                    </a:ext>
                  </a:extLst>
                </a:gridCol>
                <a:gridCol w="9401735">
                  <a:extLst>
                    <a:ext uri="{9D8B030D-6E8A-4147-A177-3AD203B41FA5}">
                      <a16:colId xmlns:a16="http://schemas.microsoft.com/office/drawing/2014/main" val="45609335"/>
                    </a:ext>
                  </a:extLst>
                </a:gridCol>
              </a:tblGrid>
              <a:tr h="717324">
                <a:tc>
                  <a:txBody>
                    <a:bodyPr/>
                    <a:lstStyle/>
                    <a:p>
                      <a:pPr marL="67945" marR="0">
                        <a:spcBef>
                          <a:spcPts val="1670"/>
                        </a:spcBef>
                        <a:spcAft>
                          <a:spcPts val="0"/>
                        </a:spcAft>
                      </a:pPr>
                      <a:r>
                        <a:rPr lang="en-US" sz="2000" b="1" spc="-10" dirty="0">
                          <a:effectLst/>
                          <a:latin typeface="Calibri" panose="020F0502020204030204" pitchFamily="34" charset="0"/>
                          <a:ea typeface="Inter" panose="020B0604020202020204" charset="0"/>
                          <a:cs typeface="Calibri" panose="020F0502020204030204" pitchFamily="34" charset="0"/>
                        </a:rPr>
                        <a:t>Morocco</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50"/>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9689657"/>
                  </a:ext>
                </a:extLst>
              </a:tr>
              <a:tr h="239812">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10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8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Appointed</a:t>
                      </a:r>
                      <a:r>
                        <a:rPr lang="en-US" sz="1100" spc="-1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person</a:t>
                      </a:r>
                      <a:r>
                        <a:rPr lang="en-US" sz="1100" spc="-2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for</a:t>
                      </a:r>
                      <a:r>
                        <a:rPr lang="en-US" sz="1100" spc="-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lifting</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operations</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4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8977081"/>
                  </a:ext>
                </a:extLst>
              </a:tr>
              <a:tr h="848888">
                <a:tc vMerge="1">
                  <a:txBody>
                    <a:bodyPr/>
                    <a:lstStyle/>
                    <a:p>
                      <a:endParaRPr lang="en-US"/>
                    </a:p>
                  </a:txBody>
                  <a:tcPr/>
                </a:tc>
                <a:tc>
                  <a:txBody>
                    <a:bodyPr/>
                    <a:lstStyle/>
                    <a:p>
                      <a:pPr marL="64135" marR="3686175">
                        <a:lnSpc>
                          <a:spcPct val="1000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75"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r>
                        <a:rPr lang="en-US" sz="1100" dirty="0">
                          <a:effectLst/>
                          <a:latin typeface="Calibri" panose="020F0502020204030204" pitchFamily="34" charset="0"/>
                          <a:ea typeface="Inter" panose="020B0604020202020204" charset="0"/>
                          <a:cs typeface="Calibri" panose="020F0502020204030204" pitchFamily="34" charset="0"/>
                        </a:rPr>
                        <a:t> TUV NORD</a:t>
                      </a:r>
                    </a:p>
                    <a:p>
                      <a:pPr marL="64135" marR="3888740">
                        <a:lnSpc>
                          <a:spcPct val="1000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6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Veritas </a:t>
                      </a:r>
                      <a:r>
                        <a:rPr lang="en-US" sz="1100" spc="-10" dirty="0">
                          <a:effectLst/>
                          <a:latin typeface="Calibri" panose="020F0502020204030204" pitchFamily="34" charset="0"/>
                          <a:ea typeface="Inter" panose="020B0604020202020204" charset="0"/>
                          <a:cs typeface="Calibri" panose="020F0502020204030204" pitchFamily="34" charset="0"/>
                        </a:rPr>
                        <a:t>APAVE</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0224196"/>
                  </a:ext>
                </a:extLst>
              </a:tr>
              <a:tr h="239812">
                <a:tc rowSpan="2">
                  <a:txBody>
                    <a:bodyPr/>
                    <a:lstStyle/>
                    <a:p>
                      <a:pPr marL="0" marR="0">
                        <a:spcBef>
                          <a:spcPts val="58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8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70358334"/>
                  </a:ext>
                </a:extLst>
              </a:tr>
              <a:tr h="577442">
                <a:tc vMerge="1">
                  <a:txBody>
                    <a:bodyPr/>
                    <a:lstStyle/>
                    <a:p>
                      <a:endParaRPr lang="en-US"/>
                    </a:p>
                  </a:txBody>
                  <a:tcPr/>
                </a:tc>
                <a:tc>
                  <a:txBody>
                    <a:bodyPr/>
                    <a:lstStyle/>
                    <a:p>
                      <a:pPr marL="64135" marR="3888740">
                        <a:lnSpc>
                          <a:spcPct val="1000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65"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r>
                        <a:rPr lang="en-US" sz="1100" dirty="0">
                          <a:effectLst/>
                          <a:latin typeface="Calibri" panose="020F0502020204030204" pitchFamily="34" charset="0"/>
                          <a:ea typeface="Inter" panose="020B0604020202020204" charset="0"/>
                          <a:cs typeface="Calibri" panose="020F0502020204030204" pitchFamily="34" charset="0"/>
                        </a:rPr>
                        <a:t> TUV NORD</a:t>
                      </a:r>
                    </a:p>
                    <a:p>
                      <a:pPr marL="64135" marR="0">
                        <a:lnSpc>
                          <a:spcPct val="1000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1386514"/>
                  </a:ext>
                </a:extLst>
              </a:tr>
              <a:tr h="241390">
                <a:tc rowSpan="2">
                  <a:txBody>
                    <a:bodyPr/>
                    <a:lstStyle/>
                    <a:p>
                      <a:pPr marL="0" marR="0">
                        <a:spcBef>
                          <a:spcPts val="120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14506366"/>
                  </a:ext>
                </a:extLst>
              </a:tr>
              <a:tr h="769923">
                <a:tc vMerge="1">
                  <a:txBody>
                    <a:bodyPr/>
                    <a:lstStyle/>
                    <a:p>
                      <a:endParaRPr lang="en-US"/>
                    </a:p>
                  </a:txBody>
                  <a:tcPr/>
                </a:tc>
                <a:tc>
                  <a:txBody>
                    <a:bodyPr/>
                    <a:lstStyle/>
                    <a:p>
                      <a:pPr marL="64135" marR="0">
                        <a:lnSpc>
                          <a:spcPct val="100000"/>
                        </a:lnSpc>
                        <a:spcBef>
                          <a:spcPts val="0"/>
                        </a:spcBef>
                        <a:spcAft>
                          <a:spcPts val="0"/>
                        </a:spcAft>
                      </a:pPr>
                      <a:r>
                        <a:rPr lang="en-US" sz="1100" spc="-10" dirty="0">
                          <a:effectLst/>
                          <a:latin typeface="Calibri" panose="020F0502020204030204" pitchFamily="34" charset="0"/>
                          <a:ea typeface="Inter" panose="020B0604020202020204" charset="0"/>
                          <a:cs typeface="Calibri" panose="020F0502020204030204" pitchFamily="34" charset="0"/>
                        </a:rPr>
                        <a:t>APAVE</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3888740">
                        <a:lnSpc>
                          <a:spcPct val="1000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65"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r>
                        <a:rPr lang="en-US" sz="1100" dirty="0">
                          <a:effectLst/>
                          <a:latin typeface="Calibri" panose="020F0502020204030204" pitchFamily="34" charset="0"/>
                          <a:ea typeface="Inter" panose="020B0604020202020204" charset="0"/>
                          <a:cs typeface="Calibri" panose="020F0502020204030204" pitchFamily="34" charset="0"/>
                        </a:rPr>
                        <a:t> TUV NORD</a:t>
                      </a:r>
                    </a:p>
                    <a:p>
                      <a:pPr marL="64135" marR="0">
                        <a:lnSpc>
                          <a:spcPct val="100000"/>
                        </a:lnSpc>
                        <a:spcBef>
                          <a:spcPts val="1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1604447"/>
                  </a:ext>
                </a:extLst>
              </a:tr>
              <a:tr h="239812">
                <a:tc rowSpan="2">
                  <a:txBody>
                    <a:bodyPr/>
                    <a:lstStyle/>
                    <a:p>
                      <a:pPr marL="67945" marR="0">
                        <a:spcBef>
                          <a:spcPts val="1325"/>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00101331"/>
                  </a:ext>
                </a:extLst>
              </a:tr>
              <a:tr h="385750">
                <a:tc vMerge="1">
                  <a:txBody>
                    <a:bodyPr/>
                    <a:lstStyle/>
                    <a:p>
                      <a:endParaRPr lang="en-US"/>
                    </a:p>
                  </a:txBody>
                  <a:tcPr/>
                </a:tc>
                <a:tc>
                  <a:txBody>
                    <a:bodyPr/>
                    <a:lstStyle/>
                    <a:p>
                      <a:pPr marL="64135" marR="3888740">
                        <a:lnSpc>
                          <a:spcPct val="1000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65"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r>
                        <a:rPr lang="en-US" sz="1100" dirty="0">
                          <a:effectLst/>
                          <a:latin typeface="Calibri" panose="020F0502020204030204" pitchFamily="34" charset="0"/>
                          <a:ea typeface="Inter" panose="020B0604020202020204" charset="0"/>
                          <a:cs typeface="Calibri" panose="020F0502020204030204" pitchFamily="34" charset="0"/>
                        </a:rPr>
                        <a:t> TUV NORD</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4583013"/>
                  </a:ext>
                </a:extLst>
              </a:tr>
              <a:tr h="241390">
                <a:tc rowSpan="3">
                  <a:txBody>
                    <a:bodyPr/>
                    <a:lstStyle/>
                    <a:p>
                      <a:pPr marL="0" marR="0">
                        <a:spcBef>
                          <a:spcPts val="56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ct val="10000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100884761"/>
                  </a:ext>
                </a:extLst>
              </a:tr>
              <a:tr h="397583">
                <a:tc vMerge="1">
                  <a:txBody>
                    <a:bodyPr/>
                    <a:lstStyle/>
                    <a:p>
                      <a:endParaRPr lang="en-US"/>
                    </a:p>
                  </a:txBody>
                  <a:tcPr/>
                </a:tc>
                <a:tc>
                  <a:txBody>
                    <a:bodyPr/>
                    <a:lstStyle/>
                    <a:p>
                      <a:pPr marL="64135" marR="0">
                        <a:lnSpc>
                          <a:spcPct val="100000"/>
                        </a:lnSpc>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190" dirty="0">
                          <a:effectLst/>
                          <a:latin typeface="Calibri" panose="020F0502020204030204" pitchFamily="34" charset="0"/>
                          <a:ea typeface="Inter" panose="020B0604020202020204" charset="0"/>
                          <a:cs typeface="Calibri" panose="020F0502020204030204" pitchFamily="34" charset="0"/>
                        </a:rPr>
                        <a:t> </a:t>
                      </a:r>
                      <a:r>
                        <a:rPr lang="en-US" sz="1100" spc="-10" dirty="0" err="1">
                          <a:effectLst/>
                          <a:latin typeface="Calibri" panose="020F0502020204030204" pitchFamily="34" charset="0"/>
                          <a:ea typeface="Inter" panose="020B0604020202020204" charset="0"/>
                          <a:cs typeface="Calibri" panose="020F0502020204030204" pitchFamily="34" charset="0"/>
                        </a:rPr>
                        <a:t>Rheinland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ct val="1000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spc="-20" dirty="0">
                          <a:effectLst/>
                          <a:latin typeface="Calibri" panose="020F0502020204030204" pitchFamily="34" charset="0"/>
                          <a:ea typeface="Inter" panose="020B0604020202020204" charset="0"/>
                          <a:cs typeface="Calibri" panose="020F0502020204030204" pitchFamily="34" charset="0"/>
                        </a:rPr>
                        <a:t>NORD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744268067"/>
                  </a:ext>
                </a:extLst>
              </a:tr>
              <a:tr h="160138">
                <a:tc vMerge="1">
                  <a:txBody>
                    <a:bodyPr/>
                    <a:lstStyle/>
                    <a:p>
                      <a:endParaRPr lang="en-US"/>
                    </a:p>
                  </a:txBody>
                  <a:tcPr/>
                </a:tc>
                <a:tc>
                  <a:txBody>
                    <a:bodyPr/>
                    <a:lstStyle/>
                    <a:p>
                      <a:pPr marL="64135" marR="0">
                        <a:lnSpc>
                          <a:spcPct val="100000"/>
                        </a:lnSpc>
                        <a:spcBef>
                          <a:spcPts val="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 the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8780284"/>
                  </a:ext>
                </a:extLst>
              </a:tr>
            </a:tbl>
          </a:graphicData>
        </a:graphic>
      </p:graphicFrame>
      <p:pic>
        <p:nvPicPr>
          <p:cNvPr id="8194" name="Image 21">
            <a:extLst>
              <a:ext uri="{FF2B5EF4-FFF2-40B4-BE49-F238E27FC236}">
                <a16:creationId xmlns:a16="http://schemas.microsoft.com/office/drawing/2014/main" id="{FE223936-BD27-E7D4-14E0-995476D3CB0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37331"/>
            <a:ext cx="542925"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636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10</a:t>
            </a:fld>
            <a:endParaRPr lang="en-US" dirty="0"/>
          </a:p>
        </p:txBody>
      </p:sp>
      <p:graphicFrame>
        <p:nvGraphicFramePr>
          <p:cNvPr id="5" name="Table 4">
            <a:extLst>
              <a:ext uri="{FF2B5EF4-FFF2-40B4-BE49-F238E27FC236}">
                <a16:creationId xmlns:a16="http://schemas.microsoft.com/office/drawing/2014/main" id="{9A0DC9FA-ECC7-85A9-0A13-5EDBF09D06C8}"/>
              </a:ext>
            </a:extLst>
          </p:cNvPr>
          <p:cNvGraphicFramePr>
            <a:graphicFrameLocks noGrp="1"/>
          </p:cNvGraphicFramePr>
          <p:nvPr>
            <p:extLst>
              <p:ext uri="{D42A27DB-BD31-4B8C-83A1-F6EECF244321}">
                <p14:modId xmlns:p14="http://schemas.microsoft.com/office/powerpoint/2010/main" val="1668049011"/>
              </p:ext>
            </p:extLst>
          </p:nvPr>
        </p:nvGraphicFramePr>
        <p:xfrm>
          <a:off x="419100" y="1063131"/>
          <a:ext cx="11430000" cy="5008123"/>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1531084872"/>
                    </a:ext>
                  </a:extLst>
                </a:gridCol>
                <a:gridCol w="9383806">
                  <a:extLst>
                    <a:ext uri="{9D8B030D-6E8A-4147-A177-3AD203B41FA5}">
                      <a16:colId xmlns:a16="http://schemas.microsoft.com/office/drawing/2014/main" val="3366300632"/>
                    </a:ext>
                  </a:extLst>
                </a:gridCol>
              </a:tblGrid>
              <a:tr h="581542">
                <a:tc>
                  <a:txBody>
                    <a:bodyPr/>
                    <a:lstStyle/>
                    <a:p>
                      <a:pPr marL="67945" marR="0">
                        <a:spcBef>
                          <a:spcPts val="1670"/>
                        </a:spcBef>
                        <a:spcAft>
                          <a:spcPts val="0"/>
                        </a:spcAft>
                      </a:pPr>
                      <a:r>
                        <a:rPr lang="en-US" sz="2000" b="1" spc="-10" dirty="0">
                          <a:effectLst/>
                          <a:latin typeface="Calibri" panose="020F0502020204030204" pitchFamily="34" charset="0"/>
                          <a:ea typeface="Inter" panose="020B0604020202020204" charset="0"/>
                          <a:cs typeface="Calibri" panose="020F0502020204030204" pitchFamily="34" charset="0"/>
                        </a:rPr>
                        <a:t>Qatar</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0"/>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1812655"/>
                  </a:ext>
                </a:extLst>
              </a:tr>
              <a:tr h="152273">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10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Appointed</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person</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for</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lifting</a:t>
                      </a:r>
                      <a:r>
                        <a:rPr lang="en-US" sz="1100" spc="-3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operations</a:t>
                      </a:r>
                      <a:r>
                        <a:rPr lang="en-US" sz="11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1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as</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BS</a:t>
                      </a:r>
                      <a:r>
                        <a:rPr lang="en-US" sz="1100" spc="-10">
                          <a:solidFill>
                            <a:srgbClr val="000000"/>
                          </a:solidFill>
                          <a:effectLst/>
                          <a:latin typeface="Inter" panose="020B0604020202020204" charset="0"/>
                          <a:ea typeface="Inter" panose="020B0604020202020204" charset="0"/>
                          <a:cs typeface="Times New Roman" panose="02020603050405020304" pitchFamily="18" charset="0"/>
                        </a:rPr>
                        <a:t> 7121)</a:t>
                      </a:r>
                      <a:endParaRPr lang="en-US" sz="11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15529181"/>
                  </a:ext>
                </a:extLst>
              </a:tr>
              <a:tr h="678256">
                <a:tc vMerge="1">
                  <a:txBody>
                    <a:bodyPr/>
                    <a:lstStyle/>
                    <a:p>
                      <a:endParaRPr lang="en-US"/>
                    </a:p>
                  </a:txBody>
                  <a:tcPr/>
                </a:tc>
                <a:tc>
                  <a:txBody>
                    <a:bodyPr/>
                    <a:lstStyle/>
                    <a:p>
                      <a:pPr marL="64135" marR="1871980">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Enertech</a:t>
                      </a:r>
                      <a:r>
                        <a:rPr lang="en-US" sz="1100" spc="-5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Safety</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Training</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Center</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(LEEA</a:t>
                      </a:r>
                      <a:r>
                        <a:rPr lang="en-US" sz="1100" spc="-4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Approved) Arbrit Training Center (LEEA Approved)</a:t>
                      </a:r>
                    </a:p>
                    <a:p>
                      <a:pPr marL="64135" marR="0">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TUV</a:t>
                      </a:r>
                      <a:r>
                        <a:rPr lang="en-US" sz="1100" spc="-10">
                          <a:effectLst/>
                          <a:latin typeface="Calibri" panose="020F0502020204030204" pitchFamily="34" charset="0"/>
                          <a:ea typeface="Inter" panose="020B0604020202020204" charset="0"/>
                          <a:cs typeface="Calibri" panose="020F0502020204030204" pitchFamily="34" charset="0"/>
                        </a:rPr>
                        <a:t> </a:t>
                      </a:r>
                      <a:r>
                        <a:rPr lang="en-US" sz="1100" spc="-25">
                          <a:effectLst/>
                          <a:latin typeface="Calibri" panose="020F0502020204030204" pitchFamily="34" charset="0"/>
                          <a:ea typeface="Inter" panose="020B0604020202020204" charset="0"/>
                          <a:cs typeface="Calibri" panose="020F0502020204030204" pitchFamily="34" charset="0"/>
                        </a:rPr>
                        <a:t>SUD</a:t>
                      </a:r>
                      <a:endParaRPr lang="en-US" sz="1100">
                        <a:effectLst/>
                        <a:latin typeface="Calibri" panose="020F0502020204030204" pitchFamily="34" charset="0"/>
                        <a:ea typeface="Inter" panose="020B0604020202020204" charset="0"/>
                        <a:cs typeface="Calibri" panose="020F0502020204030204" pitchFamily="34" charset="0"/>
                      </a:endParaRPr>
                    </a:p>
                    <a:p>
                      <a:pPr marL="64135" marR="0">
                        <a:lnSpc>
                          <a:spcPts val="1245"/>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Bureau</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Veritas</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0380238"/>
                  </a:ext>
                </a:extLst>
              </a:tr>
              <a:tr h="153274">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11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445723521"/>
                  </a:ext>
                </a:extLst>
              </a:tr>
              <a:tr h="542605">
                <a:tc vMerge="1">
                  <a:txBody>
                    <a:bodyPr/>
                    <a:lstStyle/>
                    <a:p>
                      <a:endParaRPr lang="en-US"/>
                    </a:p>
                  </a:txBody>
                  <a:tcPr/>
                </a:tc>
                <a:tc>
                  <a:txBody>
                    <a:bodyPr/>
                    <a:lstStyle/>
                    <a:p>
                      <a:pPr marL="64135" marR="1871980">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Enertech</a:t>
                      </a:r>
                      <a:r>
                        <a:rPr lang="en-US" sz="1100" spc="-5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Safety</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Training</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Center</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(LEEA</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Approved) </a:t>
                      </a:r>
                      <a:r>
                        <a:rPr lang="en-US" sz="1100" dirty="0" err="1">
                          <a:effectLst/>
                          <a:latin typeface="Calibri" panose="020F0502020204030204" pitchFamily="34" charset="0"/>
                          <a:ea typeface="Inter" panose="020B0604020202020204" charset="0"/>
                          <a:cs typeface="Calibri" panose="020F0502020204030204" pitchFamily="34" charset="0"/>
                        </a:rPr>
                        <a:t>Arbrit</a:t>
                      </a:r>
                      <a:r>
                        <a:rPr lang="en-US" sz="1100" dirty="0">
                          <a:effectLst/>
                          <a:latin typeface="Calibri" panose="020F0502020204030204" pitchFamily="34" charset="0"/>
                          <a:ea typeface="Inter" panose="020B0604020202020204" charset="0"/>
                          <a:cs typeface="Calibri" panose="020F0502020204030204" pitchFamily="34" charset="0"/>
                        </a:rPr>
                        <a:t> LEEA Lifting Supervisor (LEEA Approved) TUV SUD</a:t>
                      </a:r>
                    </a:p>
                    <a:p>
                      <a:pPr marL="64135" marR="0">
                        <a:lnSpc>
                          <a:spcPts val="124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4166216"/>
                  </a:ext>
                </a:extLst>
              </a:tr>
              <a:tr h="153274">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79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22496982"/>
                  </a:ext>
                </a:extLst>
              </a:tr>
              <a:tr h="1022171">
                <a:tc vMerge="1">
                  <a:txBody>
                    <a:bodyPr/>
                    <a:lstStyle/>
                    <a:p>
                      <a:endParaRPr lang="en-US"/>
                    </a:p>
                  </a:txBody>
                  <a:tcPr/>
                </a:tc>
                <a:tc>
                  <a:txBody>
                    <a:bodyPr/>
                    <a:lstStyle/>
                    <a:p>
                      <a:pPr marL="64135" marR="2305050">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dirty="0" err="1">
                          <a:effectLst/>
                          <a:latin typeface="Calibri" panose="020F0502020204030204" pitchFamily="34" charset="0"/>
                          <a:ea typeface="Inter" panose="020B0604020202020204" charset="0"/>
                          <a:cs typeface="Calibri" panose="020F0502020204030204" pitchFamily="34" charset="0"/>
                        </a:rPr>
                        <a:t>Arbrit</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Training</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Center) TUV</a:t>
                      </a:r>
                      <a:r>
                        <a:rPr lang="en-US" sz="1100" spc="200"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10" dirty="0">
                          <a:effectLst/>
                          <a:latin typeface="Calibri" panose="020F0502020204030204" pitchFamily="34" charset="0"/>
                          <a:ea typeface="Inter" panose="020B0604020202020204" charset="0"/>
                          <a:cs typeface="Calibri" panose="020F0502020204030204" pitchFamily="34" charset="0"/>
                        </a:rPr>
                        <a:t> </a:t>
                      </a:r>
                      <a:r>
                        <a:rPr lang="en-US" sz="1100" spc="-25" dirty="0">
                          <a:effectLst/>
                          <a:latin typeface="Calibri" panose="020F0502020204030204" pitchFamily="34" charset="0"/>
                          <a:ea typeface="Inter" panose="020B0604020202020204" charset="0"/>
                          <a:cs typeface="Calibri" panose="020F0502020204030204" pitchFamily="34" charset="0"/>
                        </a:rPr>
                        <a:t>SUD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3811270">
                        <a:lnSpc>
                          <a:spcPts val="135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 Veritas Maersk</a:t>
                      </a:r>
                      <a:r>
                        <a:rPr lang="en-US" sz="1100" spc="-6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Training</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499327"/>
                  </a:ext>
                </a:extLst>
              </a:tr>
              <a:tr h="156822">
                <a:tc rowSpan="2">
                  <a:txBody>
                    <a:bodyPr/>
                    <a:lstStyle/>
                    <a:p>
                      <a:pPr marL="0" marR="0">
                        <a:spcBef>
                          <a:spcPts val="765"/>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04056963"/>
                  </a:ext>
                </a:extLst>
              </a:tr>
              <a:tr h="406954">
                <a:tc vMerge="1">
                  <a:txBody>
                    <a:bodyPr/>
                    <a:lstStyle/>
                    <a:p>
                      <a:endParaRPr lang="en-US"/>
                    </a:p>
                  </a:txBody>
                  <a:tcPr/>
                </a:tc>
                <a:tc>
                  <a:txBody>
                    <a:bodyPr/>
                    <a:lstStyle/>
                    <a:p>
                      <a:pPr marL="64135" marR="1871980">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Overhead</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dirty="0" err="1">
                          <a:effectLst/>
                          <a:latin typeface="Calibri" panose="020F0502020204030204" pitchFamily="34" charset="0"/>
                          <a:ea typeface="Inter" panose="020B0604020202020204" charset="0"/>
                          <a:cs typeface="Calibri" panose="020F0502020204030204" pitchFamily="34" charset="0"/>
                        </a:rPr>
                        <a:t>Arbrit</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Training</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Center) TUV SUD</a:t>
                      </a:r>
                    </a:p>
                    <a:p>
                      <a:pPr marL="64135" marR="0">
                        <a:lnSpc>
                          <a:spcPts val="124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8905809"/>
                  </a:ext>
                </a:extLst>
              </a:tr>
              <a:tr h="153776">
                <a:tc rowSpan="3">
                  <a:txBody>
                    <a:bodyPr/>
                    <a:lstStyle/>
                    <a:p>
                      <a:pPr marL="0" marR="0">
                        <a:spcBef>
                          <a:spcPts val="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0" marR="0">
                        <a:spcBef>
                          <a:spcPts val="25"/>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8586917"/>
                  </a:ext>
                </a:extLst>
              </a:tr>
              <a:tr h="818316">
                <a:tc vMerge="1">
                  <a:txBody>
                    <a:bodyPr/>
                    <a:lstStyle/>
                    <a:p>
                      <a:endParaRPr lang="en-US"/>
                    </a:p>
                  </a:txBody>
                  <a:tcPr/>
                </a:tc>
                <a:tc>
                  <a:txBody>
                    <a:bodyPr/>
                    <a:lstStyle/>
                    <a:p>
                      <a:pPr marL="64135" marR="1871980">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Mobile</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dirty="0" err="1">
                          <a:effectLst/>
                          <a:latin typeface="Calibri" panose="020F0502020204030204" pitchFamily="34" charset="0"/>
                          <a:ea typeface="Inter" panose="020B0604020202020204" charset="0"/>
                          <a:cs typeface="Calibri" panose="020F0502020204030204" pitchFamily="34" charset="0"/>
                        </a:rPr>
                        <a:t>Arbrit</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Training</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Center) Mobile Crane</a:t>
                      </a:r>
                      <a:r>
                        <a:rPr lang="en-US" sz="1100" spc="20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Licensing (KDS)</a:t>
                      </a:r>
                    </a:p>
                    <a:p>
                      <a:pPr marL="64135" marR="2546985">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Crane Operator Training (SANY) Mobile</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Licensing</a:t>
                      </a:r>
                      <a:r>
                        <a:rPr lang="en-US" sz="1100" spc="-5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Course</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(Dalla)</a:t>
                      </a:r>
                    </a:p>
                    <a:p>
                      <a:pPr marL="64135" marR="0">
                        <a:lnSpc>
                          <a:spcPts val="132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Mobile</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2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Licensing</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Course</a:t>
                      </a:r>
                      <a:r>
                        <a:rPr lang="en-US" sz="1100" spc="-1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(Al</a:t>
                      </a:r>
                      <a:r>
                        <a:rPr lang="en-US" sz="1100" spc="-15" dirty="0">
                          <a:effectLst/>
                          <a:latin typeface="Calibri" panose="020F0502020204030204" pitchFamily="34" charset="0"/>
                          <a:ea typeface="Inter" panose="020B0604020202020204" charset="0"/>
                          <a:cs typeface="Calibri" panose="020F0502020204030204" pitchFamily="34" charset="0"/>
                        </a:rPr>
                        <a:t> </a:t>
                      </a:r>
                      <a:r>
                        <a:rPr lang="en-US" sz="1100" spc="-10" dirty="0" err="1">
                          <a:effectLst/>
                          <a:latin typeface="Calibri" panose="020F0502020204030204" pitchFamily="34" charset="0"/>
                          <a:ea typeface="Inter" panose="020B0604020202020204" charset="0"/>
                          <a:cs typeface="Calibri" panose="020F0502020204030204" pitchFamily="34" charset="0"/>
                        </a:rPr>
                        <a:t>Khebra</a:t>
                      </a:r>
                      <a:r>
                        <a:rPr lang="en-US" sz="1100" spc="-10" dirty="0">
                          <a:effectLst/>
                          <a:latin typeface="Calibri" panose="020F0502020204030204" pitchFamily="34" charset="0"/>
                          <a:ea typeface="Inter" panose="020B0604020202020204" charset="0"/>
                          <a:cs typeface="Calibri" panose="020F0502020204030204" pitchFamily="34" charset="0"/>
                        </a:rPr>
                        <a:t>)</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736981663"/>
                  </a:ext>
                </a:extLst>
              </a:tr>
              <a:tr h="113915">
                <a:tc vMerge="1">
                  <a:txBody>
                    <a:bodyPr/>
                    <a:lstStyle/>
                    <a:p>
                      <a:endParaRPr lang="en-US"/>
                    </a:p>
                  </a:txBody>
                  <a:tcPr/>
                </a:tc>
                <a:tc>
                  <a:txBody>
                    <a:bodyPr/>
                    <a:lstStyle/>
                    <a:p>
                      <a:pPr marL="64135" marR="0">
                        <a:lnSpc>
                          <a:spcPts val="915"/>
                        </a:lnSpc>
                        <a:spcBef>
                          <a:spcPts val="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 the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7837243"/>
                  </a:ext>
                </a:extLst>
              </a:tr>
            </a:tbl>
          </a:graphicData>
        </a:graphic>
      </p:graphicFrame>
      <p:pic>
        <p:nvPicPr>
          <p:cNvPr id="7170" name="Image 22">
            <a:extLst>
              <a:ext uri="{FF2B5EF4-FFF2-40B4-BE49-F238E27FC236}">
                <a16:creationId xmlns:a16="http://schemas.microsoft.com/office/drawing/2014/main" id="{12B419C3-009B-41B5-3C51-ABB71FD00D8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50578"/>
            <a:ext cx="676275" cy="56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4136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11</a:t>
            </a:fld>
            <a:endParaRPr lang="en-US" dirty="0"/>
          </a:p>
        </p:txBody>
      </p:sp>
      <p:graphicFrame>
        <p:nvGraphicFramePr>
          <p:cNvPr id="5" name="Table 4">
            <a:extLst>
              <a:ext uri="{FF2B5EF4-FFF2-40B4-BE49-F238E27FC236}">
                <a16:creationId xmlns:a16="http://schemas.microsoft.com/office/drawing/2014/main" id="{ED42C446-4442-971B-3A8B-C2FE7FA6B02E}"/>
              </a:ext>
            </a:extLst>
          </p:cNvPr>
          <p:cNvGraphicFramePr>
            <a:graphicFrameLocks noGrp="1"/>
          </p:cNvGraphicFramePr>
          <p:nvPr>
            <p:extLst>
              <p:ext uri="{D42A27DB-BD31-4B8C-83A1-F6EECF244321}">
                <p14:modId xmlns:p14="http://schemas.microsoft.com/office/powerpoint/2010/main" val="1024406698"/>
              </p:ext>
            </p:extLst>
          </p:nvPr>
        </p:nvGraphicFramePr>
        <p:xfrm>
          <a:off x="419100" y="936543"/>
          <a:ext cx="11430000" cy="4885150"/>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1635713356"/>
                    </a:ext>
                  </a:extLst>
                </a:gridCol>
                <a:gridCol w="9401735">
                  <a:extLst>
                    <a:ext uri="{9D8B030D-6E8A-4147-A177-3AD203B41FA5}">
                      <a16:colId xmlns:a16="http://schemas.microsoft.com/office/drawing/2014/main" val="811769863"/>
                    </a:ext>
                  </a:extLst>
                </a:gridCol>
              </a:tblGrid>
              <a:tr h="533948">
                <a:tc>
                  <a:txBody>
                    <a:bodyPr/>
                    <a:lstStyle/>
                    <a:p>
                      <a:pPr marL="67945" marR="0">
                        <a:spcBef>
                          <a:spcPts val="1680"/>
                        </a:spcBef>
                        <a:spcAft>
                          <a:spcPts val="0"/>
                        </a:spcAft>
                      </a:pPr>
                      <a:r>
                        <a:rPr lang="en-US" sz="2000" b="1" spc="-25" dirty="0">
                          <a:effectLst/>
                          <a:latin typeface="Inter" panose="020B0604020202020204" charset="0"/>
                          <a:ea typeface="Inter" panose="020B0604020202020204" charset="0"/>
                          <a:cs typeface="Times New Roman" panose="02020603050405020304" pitchFamily="18" charset="0"/>
                        </a:rPr>
                        <a:t>UAE</a:t>
                      </a:r>
                      <a:endParaRPr lang="en-US" sz="20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0"/>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95501"/>
                  </a:ext>
                </a:extLst>
              </a:tr>
              <a:tr h="148289">
                <a:tc rowSpan="2">
                  <a:txBody>
                    <a:bodyPr/>
                    <a:lstStyle/>
                    <a:p>
                      <a:pPr marL="0" marR="0">
                        <a:spcBef>
                          <a:spcPts val="0"/>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0" marR="0">
                        <a:spcBef>
                          <a:spcPts val="790"/>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67945" marR="0">
                        <a:spcBef>
                          <a:spcPts val="0"/>
                        </a:spcBef>
                        <a:spcAft>
                          <a:spcPts val="0"/>
                        </a:spcAft>
                      </a:pPr>
                      <a:r>
                        <a:rPr lang="en-US" sz="1200" b="1" dirty="0">
                          <a:solidFill>
                            <a:srgbClr val="000000"/>
                          </a:solidFill>
                          <a:effectLst/>
                          <a:latin typeface="Inter" panose="020B0604020202020204" charset="0"/>
                          <a:ea typeface="Inter" panose="020B0604020202020204" charset="0"/>
                          <a:cs typeface="Times New Roman" panose="02020603050405020304" pitchFamily="18" charset="0"/>
                        </a:rPr>
                        <a:t>CAP/Lift</a:t>
                      </a:r>
                      <a:r>
                        <a:rPr lang="en-US" sz="1200" b="1" spc="-30"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spc="-10" dirty="0">
                          <a:solidFill>
                            <a:srgbClr val="000000"/>
                          </a:solidFill>
                          <a:effectLst/>
                          <a:latin typeface="Inter" panose="020B0604020202020204" charset="0"/>
                          <a:ea typeface="Inter" panose="020B0604020202020204" charset="0"/>
                          <a:cs typeface="Times New Roman" panose="02020603050405020304" pitchFamily="18" charset="0"/>
                        </a:rPr>
                        <a:t>Director</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Appointed</a:t>
                      </a:r>
                      <a:r>
                        <a:rPr lang="en-US" sz="12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person</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for</a:t>
                      </a:r>
                      <a:r>
                        <a:rPr lang="en-US" sz="12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lifting</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operations</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200" spc="-4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as</a:t>
                      </a:r>
                      <a:r>
                        <a:rPr lang="en-US" sz="12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2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BS</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12651521"/>
                  </a:ext>
                </a:extLst>
              </a:tr>
              <a:tr h="747742">
                <a:tc vMerge="1">
                  <a:txBody>
                    <a:bodyPr/>
                    <a:lstStyle/>
                    <a:p>
                      <a:endParaRPr lang="en-US"/>
                    </a:p>
                  </a:txBody>
                  <a:tcPr/>
                </a:tc>
                <a:tc>
                  <a:txBody>
                    <a:bodyPr/>
                    <a:lstStyle/>
                    <a:p>
                      <a:pPr marL="64135" marR="2894965">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LEEA appointed person (TTI) LEEA</a:t>
                      </a:r>
                      <a:r>
                        <a:rPr lang="en-US" sz="1200" spc="-6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appointed</a:t>
                      </a:r>
                      <a:r>
                        <a:rPr lang="en-US" sz="1200" spc="-6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person</a:t>
                      </a:r>
                      <a:r>
                        <a:rPr lang="en-US" sz="1200" spc="-6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(GTSC)</a:t>
                      </a:r>
                    </a:p>
                    <a:p>
                      <a:pPr marL="64135" marR="2546985">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LEEA</a:t>
                      </a:r>
                      <a:r>
                        <a:rPr lang="en-US" sz="1200" spc="-4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appointed</a:t>
                      </a:r>
                      <a:r>
                        <a:rPr lang="en-US" sz="1200" spc="-4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person</a:t>
                      </a:r>
                      <a:r>
                        <a:rPr lang="en-US" sz="1200" spc="-5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(AIMS</a:t>
                      </a:r>
                      <a:r>
                        <a:rPr lang="en-US" sz="1200" spc="-4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HSE) TUV SUD</a:t>
                      </a:r>
                    </a:p>
                    <a:p>
                      <a:pPr marL="64135" marR="0">
                        <a:lnSpc>
                          <a:spcPts val="1245"/>
                        </a:lnSpc>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Bureau</a:t>
                      </a:r>
                      <a:r>
                        <a:rPr lang="en-US" sz="1200" spc="-30">
                          <a:effectLst/>
                          <a:latin typeface="Inter" panose="020B0604020202020204" charset="0"/>
                          <a:ea typeface="Inter" panose="020B0604020202020204" charset="0"/>
                          <a:cs typeface="Times New Roman" panose="02020603050405020304" pitchFamily="18" charset="0"/>
                        </a:rPr>
                        <a:t> </a:t>
                      </a:r>
                      <a:r>
                        <a:rPr lang="en-US" sz="1200" spc="-10">
                          <a:effectLst/>
                          <a:latin typeface="Inter" panose="020B0604020202020204" charset="0"/>
                          <a:ea typeface="Inter" panose="020B0604020202020204" charset="0"/>
                          <a:cs typeface="Times New Roman" panose="02020603050405020304" pitchFamily="18" charset="0"/>
                        </a:rPr>
                        <a:t>Veritas</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8291174"/>
                  </a:ext>
                </a:extLst>
              </a:tr>
              <a:tr h="148289">
                <a:tc rowSpan="2">
                  <a:txBody>
                    <a:bodyPr/>
                    <a:lstStyle/>
                    <a:p>
                      <a:pPr marL="0" marR="0">
                        <a:spcBef>
                          <a:spcPts val="790"/>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67945" marR="0">
                        <a:spcBef>
                          <a:spcPts val="0"/>
                        </a:spcBef>
                        <a:spcAft>
                          <a:spcPts val="0"/>
                        </a:spcAft>
                      </a:pPr>
                      <a:r>
                        <a:rPr lang="en-US" sz="1200" b="1" spc="-10" dirty="0">
                          <a:solidFill>
                            <a:srgbClr val="000000"/>
                          </a:solidFill>
                          <a:effectLst/>
                          <a:latin typeface="Inter" panose="020B0604020202020204" charset="0"/>
                          <a:ea typeface="Inter" panose="020B0604020202020204" charset="0"/>
                          <a:cs typeface="Times New Roman" panose="02020603050405020304" pitchFamily="18" charset="0"/>
                        </a:rPr>
                        <a:t>Supervisor</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200" dirty="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200" spc="-35"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000000"/>
                          </a:solidFill>
                          <a:effectLst/>
                          <a:latin typeface="Inter" panose="020B0604020202020204" charset="0"/>
                          <a:ea typeface="Inter" panose="020B0604020202020204" charset="0"/>
                          <a:cs typeface="Times New Roman" panose="02020603050405020304" pitchFamily="18" charset="0"/>
                        </a:rPr>
                        <a:t>Crane/Lifting</a:t>
                      </a:r>
                      <a:r>
                        <a:rPr lang="en-US" sz="1200" spc="-25"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000000"/>
                          </a:solidFill>
                          <a:effectLst/>
                          <a:latin typeface="Inter" panose="020B0604020202020204" charset="0"/>
                          <a:ea typeface="Inter" panose="020B0604020202020204" charset="0"/>
                          <a:cs typeface="Times New Roman" panose="02020603050405020304" pitchFamily="18" charset="0"/>
                        </a:rPr>
                        <a:t>Supervisor</a:t>
                      </a:r>
                      <a:r>
                        <a:rPr lang="en-US" sz="1200" spc="-35"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200" spc="-20"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000000"/>
                          </a:solidFill>
                          <a:effectLst/>
                          <a:latin typeface="Inter" panose="020B0604020202020204" charset="0"/>
                          <a:ea typeface="Inter" panose="020B0604020202020204" charset="0"/>
                          <a:cs typeface="Times New Roman" panose="02020603050405020304" pitchFamily="18" charset="0"/>
                        </a:rPr>
                        <a:t>as</a:t>
                      </a:r>
                      <a:r>
                        <a:rPr lang="en-US" sz="1200" spc="-35"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000000"/>
                          </a:solidFill>
                          <a:effectLst/>
                          <a:latin typeface="Inter" panose="020B0604020202020204" charset="0"/>
                          <a:ea typeface="Inter" panose="020B0604020202020204" charset="0"/>
                          <a:cs typeface="Times New Roman" panose="02020603050405020304" pitchFamily="18" charset="0"/>
                        </a:rPr>
                        <a:t>per</a:t>
                      </a:r>
                      <a:r>
                        <a:rPr lang="en-US" sz="1200" spc="-20"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000000"/>
                          </a:solidFill>
                          <a:effectLst/>
                          <a:latin typeface="Inter" panose="020B0604020202020204" charset="0"/>
                          <a:ea typeface="Inter" panose="020B0604020202020204" charset="0"/>
                          <a:cs typeface="Times New Roman" panose="02020603050405020304" pitchFamily="18" charset="0"/>
                        </a:rPr>
                        <a:t>BS</a:t>
                      </a:r>
                      <a:r>
                        <a:rPr lang="en-US" sz="1200" spc="-35"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dirty="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48277994"/>
                  </a:ext>
                </a:extLst>
              </a:tr>
              <a:tr h="373871">
                <a:tc vMerge="1">
                  <a:txBody>
                    <a:bodyPr/>
                    <a:lstStyle/>
                    <a:p>
                      <a:endParaRPr lang="en-US"/>
                    </a:p>
                  </a:txBody>
                  <a:tcPr/>
                </a:tc>
                <a:tc>
                  <a:txBody>
                    <a:bodyPr/>
                    <a:lstStyle/>
                    <a:p>
                      <a:pPr marL="64135" marR="1871980">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LEEA</a:t>
                      </a:r>
                      <a:r>
                        <a:rPr lang="en-US" sz="1200" spc="-2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lifting</a:t>
                      </a:r>
                      <a:r>
                        <a:rPr lang="en-US" sz="1200" spc="-3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supervisor</a:t>
                      </a:r>
                      <a:r>
                        <a:rPr lang="en-US" sz="1200" spc="-3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t>
                      </a:r>
                      <a:r>
                        <a:rPr lang="en-US" sz="1200" spc="-2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(Mobile</a:t>
                      </a:r>
                      <a:r>
                        <a:rPr lang="en-US" sz="1200" spc="-2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Crane)</a:t>
                      </a:r>
                      <a:r>
                        <a:rPr lang="en-US" sz="1200" spc="-2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t>
                      </a:r>
                      <a:r>
                        <a:rPr lang="en-US" sz="1200" spc="-2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(TRE) Lifting supervisor (TUV SUD)</a:t>
                      </a:r>
                    </a:p>
                    <a:p>
                      <a:pPr marL="64135" marR="0">
                        <a:lnSpc>
                          <a:spcPts val="1245"/>
                        </a:lnSpc>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LEEA</a:t>
                      </a:r>
                      <a:r>
                        <a:rPr lang="en-US" sz="1200" spc="-3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lifting</a:t>
                      </a:r>
                      <a:r>
                        <a:rPr lang="en-US" sz="1200" spc="-3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supervisor</a:t>
                      </a:r>
                      <a:r>
                        <a:rPr lang="en-US" sz="1200" spc="-25">
                          <a:effectLst/>
                          <a:latin typeface="Inter" panose="020B0604020202020204" charset="0"/>
                          <a:ea typeface="Inter" panose="020B0604020202020204" charset="0"/>
                          <a:cs typeface="Times New Roman" panose="02020603050405020304" pitchFamily="18" charset="0"/>
                        </a:rPr>
                        <a:t> </a:t>
                      </a:r>
                      <a:r>
                        <a:rPr lang="en-US" sz="1200" spc="-10">
                          <a:effectLst/>
                          <a:latin typeface="Inter" panose="020B0604020202020204" charset="0"/>
                          <a:ea typeface="Inter" panose="020B0604020202020204" charset="0"/>
                          <a:cs typeface="Times New Roman" panose="02020603050405020304" pitchFamily="18" charset="0"/>
                        </a:rPr>
                        <a:t>(GTSC)</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1373854"/>
                  </a:ext>
                </a:extLst>
              </a:tr>
              <a:tr h="153109">
                <a:tc rowSpan="2">
                  <a:txBody>
                    <a:bodyPr/>
                    <a:lstStyle/>
                    <a:p>
                      <a:pPr marL="0" marR="0">
                        <a:spcBef>
                          <a:spcPts val="0"/>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0" marR="0">
                        <a:spcBef>
                          <a:spcPts val="0"/>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0" marR="0">
                        <a:spcBef>
                          <a:spcPts val="105"/>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67945" marR="0">
                        <a:spcBef>
                          <a:spcPts val="0"/>
                        </a:spcBef>
                        <a:spcAft>
                          <a:spcPts val="0"/>
                        </a:spcAft>
                      </a:pPr>
                      <a:r>
                        <a:rPr lang="en-US" sz="1200" b="1" spc="-10" dirty="0">
                          <a:solidFill>
                            <a:srgbClr val="000000"/>
                          </a:solidFill>
                          <a:effectLst/>
                          <a:latin typeface="Inter" panose="020B0604020202020204" charset="0"/>
                          <a:ea typeface="Inter" panose="020B0604020202020204" charset="0"/>
                          <a:cs typeface="Times New Roman" panose="02020603050405020304" pitchFamily="18" charset="0"/>
                        </a:rPr>
                        <a:t>Rigger</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Advanced</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Rigging</a:t>
                      </a:r>
                      <a:r>
                        <a:rPr lang="en-US" sz="1200" spc="-3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and</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a:solidFill>
                            <a:srgbClr val="000000"/>
                          </a:solidFill>
                          <a:effectLst/>
                          <a:latin typeface="Inter" panose="020B0604020202020204" charset="0"/>
                          <a:ea typeface="Inter" panose="020B0604020202020204" charset="0"/>
                          <a:cs typeface="Times New Roman" panose="02020603050405020304" pitchFamily="18" charset="0"/>
                        </a:rPr>
                        <a:t>Slinging</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52296271"/>
                  </a:ext>
                </a:extLst>
              </a:tr>
              <a:tr h="1087535">
                <a:tc vMerge="1">
                  <a:txBody>
                    <a:bodyPr/>
                    <a:lstStyle/>
                    <a:p>
                      <a:endParaRPr lang="en-US"/>
                    </a:p>
                  </a:txBody>
                  <a:tcPr/>
                </a:tc>
                <a:tc>
                  <a:txBody>
                    <a:bodyPr/>
                    <a:lstStyle/>
                    <a:p>
                      <a:pPr marL="64135" marR="3301365">
                        <a:spcBef>
                          <a:spcPts val="5"/>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LEEA</a:t>
                      </a:r>
                      <a:r>
                        <a:rPr lang="en-US" sz="1200" spc="-6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certified</a:t>
                      </a:r>
                      <a:r>
                        <a:rPr lang="en-US" sz="1200" spc="-6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rigger</a:t>
                      </a:r>
                      <a:r>
                        <a:rPr lang="en-US" sz="1200" spc="-5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(TTI) Certified rigger (TRE)</a:t>
                      </a:r>
                      <a:r>
                        <a:rPr lang="en-US" sz="1200" spc="20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TUV</a:t>
                      </a:r>
                      <a:r>
                        <a:rPr lang="en-US" sz="1200" spc="20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NORD</a:t>
                      </a:r>
                    </a:p>
                    <a:p>
                      <a:pPr marL="64135" marR="0">
                        <a:lnSpc>
                          <a:spcPts val="1335"/>
                        </a:lnSpc>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TUV</a:t>
                      </a:r>
                      <a:r>
                        <a:rPr lang="en-US" sz="1200" spc="-10" dirty="0">
                          <a:effectLst/>
                          <a:latin typeface="Inter" panose="020B0604020202020204" charset="0"/>
                          <a:ea typeface="Inter" panose="020B0604020202020204" charset="0"/>
                          <a:cs typeface="Times New Roman" panose="02020603050405020304" pitchFamily="18" charset="0"/>
                        </a:rPr>
                        <a:t> </a:t>
                      </a:r>
                      <a:r>
                        <a:rPr lang="en-US" sz="1200" spc="-25" dirty="0">
                          <a:effectLst/>
                          <a:latin typeface="Inter" panose="020B0604020202020204" charset="0"/>
                          <a:ea typeface="Inter" panose="020B0604020202020204" charset="0"/>
                          <a:cs typeface="Times New Roman" panose="02020603050405020304" pitchFamily="18" charset="0"/>
                        </a:rPr>
                        <a:t>SUD</a:t>
                      </a:r>
                      <a:endParaRPr lang="en-US" sz="1200" dirty="0">
                        <a:effectLst/>
                        <a:latin typeface="Inter" panose="020B0604020202020204" charset="0"/>
                        <a:ea typeface="Inter" panose="020B0604020202020204" charset="0"/>
                        <a:cs typeface="Times New Roman" panose="02020603050405020304" pitchFamily="18" charset="0"/>
                      </a:endParaRPr>
                    </a:p>
                    <a:p>
                      <a:pPr marL="64135" marR="3811270">
                        <a:lnSpc>
                          <a:spcPts val="1350"/>
                        </a:lnSpc>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Bureau Veritas Maersk</a:t>
                      </a:r>
                      <a:r>
                        <a:rPr lang="en-US" sz="1200" spc="-6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Training</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513741"/>
                  </a:ext>
                </a:extLst>
              </a:tr>
              <a:tr h="148289">
                <a:tc rowSpan="2">
                  <a:txBody>
                    <a:bodyPr/>
                    <a:lstStyle/>
                    <a:p>
                      <a:pPr marL="0" marR="0">
                        <a:spcBef>
                          <a:spcPts val="785"/>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p>
                      <a:pPr marL="67945" marR="0">
                        <a:spcBef>
                          <a:spcPts val="0"/>
                        </a:spcBef>
                        <a:spcAft>
                          <a:spcPts val="0"/>
                        </a:spcAft>
                      </a:pPr>
                      <a:r>
                        <a:rPr lang="en-US" sz="1200" b="1">
                          <a:solidFill>
                            <a:srgbClr val="000000"/>
                          </a:solidFill>
                          <a:effectLst/>
                          <a:latin typeface="Inter" panose="020B0604020202020204" charset="0"/>
                          <a:ea typeface="Inter" panose="020B0604020202020204" charset="0"/>
                          <a:cs typeface="Times New Roman" panose="02020603050405020304" pitchFamily="18" charset="0"/>
                        </a:rPr>
                        <a:t>Overhead</a:t>
                      </a:r>
                      <a:r>
                        <a:rPr lang="en-US" sz="1200" b="1"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a:solidFill>
                            <a:srgbClr val="000000"/>
                          </a:solidFill>
                          <a:effectLst/>
                          <a:latin typeface="Inter" panose="020B0604020202020204" charset="0"/>
                          <a:ea typeface="Inter" panose="020B0604020202020204" charset="0"/>
                          <a:cs typeface="Times New Roman" panose="02020603050405020304" pitchFamily="18" charset="0"/>
                        </a:rPr>
                        <a:t>Crane</a:t>
                      </a:r>
                      <a:r>
                        <a:rPr lang="en-US" sz="1200" b="1"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spc="-10">
                          <a:solidFill>
                            <a:srgbClr val="000000"/>
                          </a:solidFill>
                          <a:effectLst/>
                          <a:latin typeface="Inter" panose="020B0604020202020204" charset="0"/>
                          <a:ea typeface="Inter" panose="020B0604020202020204" charset="0"/>
                          <a:cs typeface="Times New Roman" panose="02020603050405020304" pitchFamily="18" charset="0"/>
                        </a:rPr>
                        <a:t>Operator</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5"/>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Certified</a:t>
                      </a:r>
                      <a:r>
                        <a:rPr lang="en-US" sz="12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Overhead</a:t>
                      </a:r>
                      <a:r>
                        <a:rPr lang="en-US" sz="1200" spc="-4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Crane</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a:solidFill>
                            <a:srgbClr val="000000"/>
                          </a:solidFill>
                          <a:effectLst/>
                          <a:latin typeface="Inter" panose="020B0604020202020204" charset="0"/>
                          <a:ea typeface="Inter" panose="020B0604020202020204" charset="0"/>
                          <a:cs typeface="Times New Roman" panose="02020603050405020304" pitchFamily="18" charset="0"/>
                        </a:rPr>
                        <a:t>Operator</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34900655"/>
                  </a:ext>
                </a:extLst>
              </a:tr>
              <a:tr h="496027">
                <a:tc vMerge="1">
                  <a:txBody>
                    <a:bodyPr/>
                    <a:lstStyle/>
                    <a:p>
                      <a:endParaRPr lang="en-US"/>
                    </a:p>
                  </a:txBody>
                  <a:tcPr/>
                </a:tc>
                <a:tc>
                  <a:txBody>
                    <a:bodyPr/>
                    <a:lstStyle/>
                    <a:p>
                      <a:pPr marL="64135" marR="0">
                        <a:lnSpc>
                          <a:spcPts val="1340"/>
                        </a:lnSpc>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Overhead</a:t>
                      </a:r>
                      <a:r>
                        <a:rPr lang="en-US" sz="1200" spc="-2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crane</a:t>
                      </a:r>
                      <a:r>
                        <a:rPr lang="en-US" sz="1200" spc="-3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operator</a:t>
                      </a:r>
                      <a:r>
                        <a:rPr lang="en-US" sz="1200" spc="-2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TUV</a:t>
                      </a:r>
                      <a:r>
                        <a:rPr lang="en-US" sz="1200" spc="-20" dirty="0">
                          <a:effectLst/>
                          <a:latin typeface="Inter" panose="020B0604020202020204" charset="0"/>
                          <a:ea typeface="Inter" panose="020B0604020202020204" charset="0"/>
                          <a:cs typeface="Times New Roman" panose="02020603050405020304" pitchFamily="18" charset="0"/>
                        </a:rPr>
                        <a:t> </a:t>
                      </a:r>
                      <a:r>
                        <a:rPr lang="en-US" sz="1200" spc="-25" dirty="0">
                          <a:effectLst/>
                          <a:latin typeface="Inter" panose="020B0604020202020204" charset="0"/>
                          <a:ea typeface="Inter" panose="020B0604020202020204" charset="0"/>
                          <a:cs typeface="Times New Roman" panose="02020603050405020304" pitchFamily="18" charset="0"/>
                        </a:rPr>
                        <a:t>SUD</a:t>
                      </a:r>
                      <a:endParaRPr lang="en-US" sz="1200" dirty="0">
                        <a:effectLst/>
                        <a:latin typeface="Inter" panose="020B0604020202020204" charset="0"/>
                        <a:ea typeface="Inter" panose="020B0604020202020204" charset="0"/>
                        <a:cs typeface="Times New Roman" panose="02020603050405020304" pitchFamily="18" charset="0"/>
                      </a:endParaRPr>
                    </a:p>
                    <a:p>
                      <a:pPr marL="64135" marR="2305050">
                        <a:lnSpc>
                          <a:spcPts val="1350"/>
                        </a:lnSpc>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Overhead</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crane</a:t>
                      </a:r>
                      <a:r>
                        <a:rPr lang="en-US" sz="1200" spc="-5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operator</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TUV</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NORD Overhead crane operator (GTSC)</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7240038"/>
                  </a:ext>
                </a:extLst>
              </a:tr>
              <a:tr h="148289">
                <a:tc rowSpan="3">
                  <a:txBody>
                    <a:bodyPr/>
                    <a:lstStyle/>
                    <a:p>
                      <a:pPr marL="0" marR="0">
                        <a:spcBef>
                          <a:spcPts val="0"/>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p>
                      <a:pPr marL="0" marR="0">
                        <a:spcBef>
                          <a:spcPts val="675"/>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p>
                      <a:pPr marL="67945" marR="0">
                        <a:spcBef>
                          <a:spcPts val="0"/>
                        </a:spcBef>
                        <a:spcAft>
                          <a:spcPts val="0"/>
                        </a:spcAft>
                      </a:pPr>
                      <a:r>
                        <a:rPr lang="en-US" sz="1200" b="1">
                          <a:solidFill>
                            <a:srgbClr val="000000"/>
                          </a:solidFill>
                          <a:effectLst/>
                          <a:latin typeface="Inter" panose="020B0604020202020204" charset="0"/>
                          <a:ea typeface="Inter" panose="020B0604020202020204" charset="0"/>
                          <a:cs typeface="Times New Roman" panose="02020603050405020304" pitchFamily="18" charset="0"/>
                        </a:rPr>
                        <a:t>Mobile</a:t>
                      </a:r>
                      <a:r>
                        <a:rPr lang="en-US" sz="1200" b="1"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a:solidFill>
                            <a:srgbClr val="000000"/>
                          </a:solidFill>
                          <a:effectLst/>
                          <a:latin typeface="Inter" panose="020B0604020202020204" charset="0"/>
                          <a:ea typeface="Inter" panose="020B0604020202020204" charset="0"/>
                          <a:cs typeface="Times New Roman" panose="02020603050405020304" pitchFamily="18" charset="0"/>
                        </a:rPr>
                        <a:t>Crane</a:t>
                      </a:r>
                      <a:r>
                        <a:rPr lang="en-US" sz="1200" b="1"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spc="-10">
                          <a:solidFill>
                            <a:srgbClr val="000000"/>
                          </a:solidFill>
                          <a:effectLst/>
                          <a:latin typeface="Inter" panose="020B0604020202020204" charset="0"/>
                          <a:ea typeface="Inter" panose="020B0604020202020204" charset="0"/>
                          <a:cs typeface="Times New Roman" panose="02020603050405020304" pitchFamily="18" charset="0"/>
                        </a:rPr>
                        <a:t>Operator</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Certified</a:t>
                      </a:r>
                      <a:r>
                        <a:rPr lang="en-US" sz="1200" spc="-4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Mobile</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Crane</a:t>
                      </a:r>
                      <a:r>
                        <a:rPr lang="en-US" sz="1200" spc="-3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a:solidFill>
                            <a:srgbClr val="000000"/>
                          </a:solidFill>
                          <a:effectLst/>
                          <a:latin typeface="Inter" panose="020B0604020202020204" charset="0"/>
                          <a:ea typeface="Inter" panose="020B0604020202020204" charset="0"/>
                          <a:cs typeface="Times New Roman" panose="02020603050405020304" pitchFamily="18" charset="0"/>
                        </a:rPr>
                        <a:t>Operator</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409191043"/>
                  </a:ext>
                </a:extLst>
              </a:tr>
              <a:tr h="627169">
                <a:tc vMerge="1">
                  <a:txBody>
                    <a:bodyPr/>
                    <a:lstStyle/>
                    <a:p>
                      <a:endParaRPr lang="en-US"/>
                    </a:p>
                  </a:txBody>
                  <a:tcPr/>
                </a:tc>
                <a:tc>
                  <a:txBody>
                    <a:bodyPr/>
                    <a:lstStyle/>
                    <a:p>
                      <a:pPr marL="64135" marR="2797175">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Mobile crane operator (TRE) Mobile crane operator TUV SUD Mobile</a:t>
                      </a:r>
                      <a:r>
                        <a:rPr lang="en-US" sz="1200" spc="-5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crane</a:t>
                      </a:r>
                      <a:r>
                        <a:rPr lang="en-US" sz="1200" spc="-5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operator</a:t>
                      </a:r>
                      <a:r>
                        <a:rPr lang="en-US" sz="1200" spc="-4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TUV</a:t>
                      </a:r>
                      <a:r>
                        <a:rPr lang="en-US" sz="1200" spc="-5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NORD</a:t>
                      </a:r>
                    </a:p>
                    <a:p>
                      <a:pPr marL="64135" marR="0">
                        <a:lnSpc>
                          <a:spcPts val="1330"/>
                        </a:lnSpc>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Certified</a:t>
                      </a:r>
                      <a:r>
                        <a:rPr lang="en-US" sz="1200" spc="-4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crane</a:t>
                      </a:r>
                      <a:r>
                        <a:rPr lang="en-US" sz="1200" spc="-3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operator</a:t>
                      </a:r>
                      <a:r>
                        <a:rPr lang="en-US" sz="1200" spc="-30" dirty="0">
                          <a:effectLst/>
                          <a:latin typeface="Inter" panose="020B0604020202020204" charset="0"/>
                          <a:ea typeface="Inter" panose="020B0604020202020204" charset="0"/>
                          <a:cs typeface="Times New Roman" panose="02020603050405020304" pitchFamily="18" charset="0"/>
                        </a:rPr>
                        <a:t> </a:t>
                      </a:r>
                      <a:r>
                        <a:rPr lang="en-US" sz="1200" spc="-10" dirty="0">
                          <a:effectLst/>
                          <a:latin typeface="Inter" panose="020B0604020202020204" charset="0"/>
                          <a:ea typeface="Inter" panose="020B0604020202020204" charset="0"/>
                          <a:cs typeface="Times New Roman" panose="02020603050405020304" pitchFamily="18" charset="0"/>
                        </a:rPr>
                        <a:t>(GTSC)</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68068305"/>
                  </a:ext>
                </a:extLst>
              </a:tr>
              <a:tr h="111217">
                <a:tc vMerge="1">
                  <a:txBody>
                    <a:bodyPr/>
                    <a:lstStyle/>
                    <a:p>
                      <a:endParaRPr lang="en-US"/>
                    </a:p>
                  </a:txBody>
                  <a:tcPr/>
                </a:tc>
                <a:tc>
                  <a:txBody>
                    <a:bodyPr/>
                    <a:lstStyle/>
                    <a:p>
                      <a:pPr marL="64135" marR="0">
                        <a:lnSpc>
                          <a:spcPts val="920"/>
                        </a:lnSpc>
                        <a:spcBef>
                          <a:spcPts val="0"/>
                        </a:spcBef>
                        <a:spcAft>
                          <a:spcPts val="0"/>
                        </a:spcAft>
                      </a:pP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*Note:</a:t>
                      </a:r>
                      <a:r>
                        <a:rPr lang="en-US" sz="1200" spc="-2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Local</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heavy</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equipment</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license</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as</a:t>
                      </a:r>
                      <a:r>
                        <a:rPr lang="en-US" sz="1200" spc="-15"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per the</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local</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regulations</a:t>
                      </a:r>
                      <a:r>
                        <a:rPr lang="en-US" sz="1200" spc="-5"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might</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be</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needed.</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9656337"/>
                  </a:ext>
                </a:extLst>
              </a:tr>
            </a:tbl>
          </a:graphicData>
        </a:graphic>
      </p:graphicFrame>
      <p:pic>
        <p:nvPicPr>
          <p:cNvPr id="6146" name="Image 23">
            <a:extLst>
              <a:ext uri="{FF2B5EF4-FFF2-40B4-BE49-F238E27FC236}">
                <a16:creationId xmlns:a16="http://schemas.microsoft.com/office/drawing/2014/main" id="{23E229C1-C1C4-4527-44B8-5AD311C639C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2522"/>
            <a:ext cx="762000"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427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12</a:t>
            </a:fld>
            <a:endParaRPr lang="en-US" dirty="0"/>
          </a:p>
        </p:txBody>
      </p:sp>
      <p:graphicFrame>
        <p:nvGraphicFramePr>
          <p:cNvPr id="8" name="Table 7">
            <a:extLst>
              <a:ext uri="{FF2B5EF4-FFF2-40B4-BE49-F238E27FC236}">
                <a16:creationId xmlns:a16="http://schemas.microsoft.com/office/drawing/2014/main" id="{D96220BC-459B-9FCC-9F01-70CF811993F2}"/>
              </a:ext>
            </a:extLst>
          </p:cNvPr>
          <p:cNvGraphicFramePr>
            <a:graphicFrameLocks noGrp="1"/>
          </p:cNvGraphicFramePr>
          <p:nvPr>
            <p:extLst>
              <p:ext uri="{D42A27DB-BD31-4B8C-83A1-F6EECF244321}">
                <p14:modId xmlns:p14="http://schemas.microsoft.com/office/powerpoint/2010/main" val="15197322"/>
              </p:ext>
            </p:extLst>
          </p:nvPr>
        </p:nvGraphicFramePr>
        <p:xfrm>
          <a:off x="419100" y="941388"/>
          <a:ext cx="11430000" cy="5289082"/>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1042100321"/>
                    </a:ext>
                  </a:extLst>
                </a:gridCol>
                <a:gridCol w="9383806">
                  <a:extLst>
                    <a:ext uri="{9D8B030D-6E8A-4147-A177-3AD203B41FA5}">
                      <a16:colId xmlns:a16="http://schemas.microsoft.com/office/drawing/2014/main" val="3227890906"/>
                    </a:ext>
                  </a:extLst>
                </a:gridCol>
              </a:tblGrid>
              <a:tr h="394353">
                <a:tc>
                  <a:txBody>
                    <a:bodyPr/>
                    <a:lstStyle/>
                    <a:p>
                      <a:pPr marL="67945" marR="0">
                        <a:spcBef>
                          <a:spcPts val="1670"/>
                        </a:spcBef>
                        <a:spcAft>
                          <a:spcPts val="0"/>
                        </a:spcAft>
                      </a:pPr>
                      <a:r>
                        <a:rPr lang="en-US" sz="2000" b="1" spc="-25" dirty="0">
                          <a:effectLst/>
                          <a:latin typeface="Calibri" panose="020F0502020204030204" pitchFamily="34" charset="0"/>
                          <a:ea typeface="Inter" panose="020B0604020202020204" charset="0"/>
                          <a:cs typeface="Calibri" panose="020F0502020204030204" pitchFamily="34" charset="0"/>
                        </a:rPr>
                        <a:t>KSA</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0"/>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5787405"/>
                  </a:ext>
                </a:extLst>
              </a:tr>
              <a:tr h="137741">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12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Appointed</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person</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for</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lifting</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operations</a:t>
                      </a:r>
                      <a:r>
                        <a:rPr lang="en-US" sz="11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1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as</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BS</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spc="-1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1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10786637"/>
                  </a:ext>
                </a:extLst>
              </a:tr>
              <a:tr h="1208608">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2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appointed</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person</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(CPS)</a:t>
                      </a:r>
                      <a:endParaRPr lang="en-US" sz="1100">
                        <a:effectLst/>
                        <a:latin typeface="Calibri" panose="020F0502020204030204" pitchFamily="34" charset="0"/>
                        <a:ea typeface="Inter" panose="020B0604020202020204" charset="0"/>
                        <a:cs typeface="Calibri" panose="020F0502020204030204" pitchFamily="34" charset="0"/>
                      </a:endParaRPr>
                    </a:p>
                    <a:p>
                      <a:pPr marL="64135" marR="2546985">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6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appointed</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person</a:t>
                      </a:r>
                      <a:r>
                        <a:rPr lang="en-US" sz="1100" spc="-6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(Tamkene) LEEA appointed person (SPSP)</a:t>
                      </a:r>
                    </a:p>
                    <a:p>
                      <a:pPr marL="64135" marR="2305050">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4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appointed</a:t>
                      </a:r>
                      <a:r>
                        <a:rPr lang="en-US" sz="1100" spc="-5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person</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(NEFT</a:t>
                      </a:r>
                      <a:r>
                        <a:rPr lang="en-US" sz="1100" spc="-4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Energies) LEEA appointed person (GTSC)</a:t>
                      </a:r>
                    </a:p>
                    <a:p>
                      <a:pPr marL="64135" marR="2546985">
                        <a:spcBef>
                          <a:spcPts val="1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4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appointed</a:t>
                      </a:r>
                      <a:r>
                        <a:rPr lang="en-US" sz="1100" spc="-4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person</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(Alam</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Alshara) LEEA appointed person (LLOYDS) Appointed person (TUV SUD) Appointed person (TUV</a:t>
                      </a:r>
                      <a:r>
                        <a:rPr lang="en-US" sz="1100" spc="20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Rheinland)</a:t>
                      </a:r>
                    </a:p>
                    <a:p>
                      <a:pPr marL="64135" marR="0">
                        <a:lnSpc>
                          <a:spcPts val="1240"/>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Appointed</a:t>
                      </a:r>
                      <a:r>
                        <a:rPr lang="en-US" sz="1100" spc="-4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person</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(Bureau</a:t>
                      </a:r>
                      <a:r>
                        <a:rPr lang="en-US" sz="1100" spc="-40">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Veritas)</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3036955"/>
                  </a:ext>
                </a:extLst>
              </a:tr>
              <a:tr h="137741">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12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84436295"/>
                  </a:ext>
                </a:extLst>
              </a:tr>
              <a:tr h="1208608">
                <a:tc vMerge="1">
                  <a:txBody>
                    <a:bodyPr/>
                    <a:lstStyle/>
                    <a:p>
                      <a:endParaRPr lang="en-US"/>
                    </a:p>
                  </a:txBody>
                  <a:tcPr/>
                </a:tc>
                <a:tc>
                  <a:txBody>
                    <a:bodyPr/>
                    <a:lstStyle/>
                    <a:p>
                      <a:pPr marL="64135" marR="0">
                        <a:lnSpc>
                          <a:spcPts val="1215"/>
                        </a:lnSpc>
                        <a:spcBef>
                          <a:spcPts val="5"/>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4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lifting</a:t>
                      </a:r>
                      <a:r>
                        <a:rPr lang="en-US" sz="1100" spc="-4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40">
                          <a:effectLst/>
                          <a:latin typeface="Calibri" panose="020F0502020204030204" pitchFamily="34" charset="0"/>
                          <a:ea typeface="Inter" panose="020B0604020202020204" charset="0"/>
                          <a:cs typeface="Calibri" panose="020F0502020204030204" pitchFamily="34" charset="0"/>
                        </a:rPr>
                        <a:t> </a:t>
                      </a:r>
                      <a:r>
                        <a:rPr lang="en-US" sz="1100" spc="-20">
                          <a:effectLst/>
                          <a:latin typeface="Calibri" panose="020F0502020204030204" pitchFamily="34" charset="0"/>
                          <a:ea typeface="Inter" panose="020B0604020202020204" charset="0"/>
                          <a:cs typeface="Calibri" panose="020F0502020204030204" pitchFamily="34" charset="0"/>
                        </a:rPr>
                        <a:t>(CPS)</a:t>
                      </a:r>
                      <a:endParaRPr lang="en-US" sz="1100">
                        <a:effectLst/>
                        <a:latin typeface="Calibri" panose="020F0502020204030204" pitchFamily="34" charset="0"/>
                        <a:ea typeface="Inter" panose="020B0604020202020204" charset="0"/>
                        <a:cs typeface="Calibri" panose="020F0502020204030204" pitchFamily="34" charset="0"/>
                      </a:endParaRPr>
                    </a:p>
                    <a:p>
                      <a:pPr marL="64135" marR="2797175">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lifting</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(Tamkene) LEEA lifting supervisor (SPSP)</a:t>
                      </a:r>
                    </a:p>
                    <a:p>
                      <a:pPr marL="64135" marR="2546985">
                        <a:spcBef>
                          <a:spcPts val="5"/>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lifting</a:t>
                      </a:r>
                      <a:r>
                        <a:rPr lang="en-US" sz="1100" spc="-5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5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(NEFT</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Energies) LEEA lifting supervisor (GTSC)</a:t>
                      </a:r>
                    </a:p>
                    <a:p>
                      <a:pPr marL="64135" marR="2797175">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lifting</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5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(Alam</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Alshara) LEEA lifting supervisor (LLOYDS) Lifting supervisor (TUV SUD)</a:t>
                      </a:r>
                    </a:p>
                    <a:p>
                      <a:pPr marL="64135" marR="2797175">
                        <a:spcBef>
                          <a:spcPts val="5"/>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Lifting</a:t>
                      </a:r>
                      <a:r>
                        <a:rPr lang="en-US" sz="1100" spc="-5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5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(TUV</a:t>
                      </a:r>
                      <a:r>
                        <a:rPr lang="en-US" sz="1100" spc="1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Rheinland) Lifting supervisor (Bureau Veritas)</a:t>
                      </a:r>
                    </a:p>
                    <a:p>
                      <a:pPr marL="64135" marR="0">
                        <a:lnSpc>
                          <a:spcPts val="1110"/>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Advanced</a:t>
                      </a:r>
                      <a:r>
                        <a:rPr lang="en-US" sz="1100" spc="-4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rigging</a:t>
                      </a:r>
                      <a:r>
                        <a:rPr lang="en-US" sz="1100" spc="-4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diploma</a:t>
                      </a:r>
                      <a:r>
                        <a:rPr lang="en-US" sz="1100" spc="-40">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(SPSP)</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7526824"/>
                  </a:ext>
                </a:extLst>
              </a:tr>
              <a:tr h="137741">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35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5"/>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58743623"/>
                  </a:ext>
                </a:extLst>
              </a:tr>
              <a:tr h="768828">
                <a:tc vMerge="1">
                  <a:txBody>
                    <a:bodyPr/>
                    <a:lstStyle/>
                    <a:p>
                      <a:endParaRPr lang="en-US"/>
                    </a:p>
                  </a:txBody>
                  <a:tcPr/>
                </a:tc>
                <a:tc>
                  <a:txBody>
                    <a:bodyPr/>
                    <a:lstStyle/>
                    <a:p>
                      <a:pPr marL="64135" marR="3267075">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SUD) Rigger level 3 (SPSP)</a:t>
                      </a:r>
                    </a:p>
                    <a:p>
                      <a:pPr marL="64135" marR="3267075">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LEEA</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(SAS) Certified rigger (CPS) Certified rigger (GTSC)</a:t>
                      </a:r>
                    </a:p>
                    <a:p>
                      <a:pPr marL="64135" marR="0">
                        <a:lnSpc>
                          <a:spcPts val="122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170" dirty="0">
                          <a:effectLst/>
                          <a:latin typeface="Calibri" panose="020F0502020204030204" pitchFamily="34" charset="0"/>
                          <a:ea typeface="Inter" panose="020B0604020202020204" charset="0"/>
                          <a:cs typeface="Calibri" panose="020F0502020204030204" pitchFamily="34" charset="0"/>
                        </a:rPr>
                        <a:t> </a:t>
                      </a:r>
                      <a:r>
                        <a:rPr lang="en-US" sz="1100" spc="-10" dirty="0" err="1">
                          <a:effectLst/>
                          <a:latin typeface="Calibri" panose="020F0502020204030204" pitchFamily="34" charset="0"/>
                          <a:ea typeface="Inter" panose="020B0604020202020204" charset="0"/>
                          <a:cs typeface="Calibri" panose="020F0502020204030204" pitchFamily="34" charset="0"/>
                        </a:rPr>
                        <a:t>Rheinland</a:t>
                      </a:r>
                      <a:r>
                        <a:rPr lang="en-US" sz="1100" spc="-10" dirty="0">
                          <a:effectLst/>
                          <a:latin typeface="Calibri" panose="020F0502020204030204" pitchFamily="34" charset="0"/>
                          <a:ea typeface="Inter" panose="020B0604020202020204" charset="0"/>
                          <a:cs typeface="Calibri" panose="020F0502020204030204" pitchFamily="34" charset="0"/>
                        </a:rPr>
                        <a:t>)</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11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(Bureau</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Veritas)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4212552"/>
                  </a:ext>
                </a:extLst>
              </a:tr>
              <a:tr h="138191">
                <a:tc rowSpan="2">
                  <a:txBody>
                    <a:bodyPr/>
                    <a:lstStyle/>
                    <a:p>
                      <a:pPr marL="67945" marR="0">
                        <a:spcBef>
                          <a:spcPts val="134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45390524"/>
                  </a:ext>
                </a:extLst>
              </a:tr>
              <a:tr h="300883">
                <a:tc vMerge="1">
                  <a:txBody>
                    <a:bodyPr/>
                    <a:lstStyle/>
                    <a:p>
                      <a:endParaRPr lang="en-US"/>
                    </a:p>
                  </a:txBody>
                  <a:tcPr/>
                </a:tc>
                <a:tc>
                  <a:txBody>
                    <a:bodyPr/>
                    <a:lstStyle/>
                    <a:p>
                      <a:pPr marL="64135" marR="0">
                        <a:lnSpc>
                          <a:spcPts val="121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overhead</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5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(GTSC)</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11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overhead</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5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(CPS)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9292226"/>
                  </a:ext>
                </a:extLst>
              </a:tr>
              <a:tr h="137741">
                <a:tc rowSpan="3">
                  <a:txBody>
                    <a:bodyPr/>
                    <a:lstStyle/>
                    <a:p>
                      <a:pPr marL="0" marR="0">
                        <a:spcBef>
                          <a:spcPts val="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0" marR="0">
                        <a:spcBef>
                          <a:spcPts val="44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90996272"/>
                  </a:ext>
                </a:extLst>
              </a:tr>
              <a:tr h="446983">
                <a:tc vMerge="1">
                  <a:txBody>
                    <a:bodyPr/>
                    <a:lstStyle/>
                    <a:p>
                      <a:endParaRPr lang="en-US"/>
                    </a:p>
                  </a:txBody>
                  <a:tcPr/>
                </a:tc>
                <a:tc>
                  <a:txBody>
                    <a:bodyPr/>
                    <a:lstStyle/>
                    <a:p>
                      <a:pPr marL="64135" marR="2797175">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mobile</a:t>
                      </a:r>
                      <a:r>
                        <a:rPr lang="en-US" sz="1100" spc="-5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6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5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(CPS) Certified Crane operator (SPSP) Mobile crane operator (GTSC)</a:t>
                      </a:r>
                    </a:p>
                    <a:p>
                      <a:pPr marL="64135" marR="0">
                        <a:lnSpc>
                          <a:spcPts val="120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Mobile</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(LLOYDS)</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06302111"/>
                  </a:ext>
                </a:extLst>
              </a:tr>
              <a:tr h="113478">
                <a:tc vMerge="1">
                  <a:txBody>
                    <a:bodyPr/>
                    <a:lstStyle/>
                    <a:p>
                      <a:endParaRPr lang="en-US"/>
                    </a:p>
                  </a:txBody>
                  <a:tcPr/>
                </a:tc>
                <a:tc>
                  <a:txBody>
                    <a:bodyPr/>
                    <a:lstStyle/>
                    <a:p>
                      <a:pPr marL="64135" marR="0">
                        <a:lnSpc>
                          <a:spcPts val="915"/>
                        </a:lnSpc>
                        <a:spcBef>
                          <a:spcPts val="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 the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5517885"/>
                  </a:ext>
                </a:extLst>
              </a:tr>
            </a:tbl>
          </a:graphicData>
        </a:graphic>
      </p:graphicFrame>
      <p:pic>
        <p:nvPicPr>
          <p:cNvPr id="5124" name="Image 24">
            <a:extLst>
              <a:ext uri="{FF2B5EF4-FFF2-40B4-BE49-F238E27FC236}">
                <a16:creationId xmlns:a16="http://schemas.microsoft.com/office/drawing/2014/main" id="{5925FCE2-E7A1-E3E0-0C01-3BB39EC9A84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46844"/>
            <a:ext cx="676275" cy="64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537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13</a:t>
            </a:fld>
            <a:endParaRPr lang="en-US" dirty="0"/>
          </a:p>
        </p:txBody>
      </p:sp>
      <p:graphicFrame>
        <p:nvGraphicFramePr>
          <p:cNvPr id="19" name="Table 18">
            <a:extLst>
              <a:ext uri="{FF2B5EF4-FFF2-40B4-BE49-F238E27FC236}">
                <a16:creationId xmlns:a16="http://schemas.microsoft.com/office/drawing/2014/main" id="{6C71098E-7C2D-B86E-5EFB-EA758C2D92B2}"/>
              </a:ext>
            </a:extLst>
          </p:cNvPr>
          <p:cNvGraphicFramePr>
            <a:graphicFrameLocks noGrp="1"/>
          </p:cNvGraphicFramePr>
          <p:nvPr>
            <p:extLst>
              <p:ext uri="{D42A27DB-BD31-4B8C-83A1-F6EECF244321}">
                <p14:modId xmlns:p14="http://schemas.microsoft.com/office/powerpoint/2010/main" val="3448970490"/>
              </p:ext>
            </p:extLst>
          </p:nvPr>
        </p:nvGraphicFramePr>
        <p:xfrm>
          <a:off x="419100" y="1041756"/>
          <a:ext cx="11430000" cy="4918633"/>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4161491011"/>
                    </a:ext>
                  </a:extLst>
                </a:gridCol>
                <a:gridCol w="9401735">
                  <a:extLst>
                    <a:ext uri="{9D8B030D-6E8A-4147-A177-3AD203B41FA5}">
                      <a16:colId xmlns:a16="http://schemas.microsoft.com/office/drawing/2014/main" val="424803329"/>
                    </a:ext>
                  </a:extLst>
                </a:gridCol>
              </a:tblGrid>
              <a:tr h="478230">
                <a:tc>
                  <a:txBody>
                    <a:bodyPr/>
                    <a:lstStyle/>
                    <a:p>
                      <a:pPr marL="67945" marR="0">
                        <a:spcBef>
                          <a:spcPts val="1670"/>
                        </a:spcBef>
                        <a:spcAft>
                          <a:spcPts val="0"/>
                        </a:spcAft>
                      </a:pPr>
                      <a:r>
                        <a:rPr lang="en-US" sz="2000" b="1" spc="-20" dirty="0">
                          <a:effectLst/>
                          <a:latin typeface="Calibri" panose="020F0502020204030204" pitchFamily="34" charset="0"/>
                          <a:ea typeface="Inter" panose="020B0604020202020204" charset="0"/>
                          <a:cs typeface="Calibri" panose="020F0502020204030204" pitchFamily="34" charset="0"/>
                        </a:rPr>
                        <a:t>Oman</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0"/>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9717217"/>
                  </a:ext>
                </a:extLst>
              </a:tr>
              <a:tr h="214029">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77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Appointed</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person</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for</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lifting</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operations</a:t>
                      </a:r>
                      <a:r>
                        <a:rPr lang="en-US" sz="11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1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as</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BS</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spc="-1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1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93159564"/>
                  </a:ext>
                </a:extLst>
              </a:tr>
              <a:tr h="945531">
                <a:tc vMerge="1">
                  <a:txBody>
                    <a:bodyPr/>
                    <a:lstStyle/>
                    <a:p>
                      <a:endParaRPr lang="en-US"/>
                    </a:p>
                  </a:txBody>
                  <a:tcPr/>
                </a:tc>
                <a:tc>
                  <a:txBody>
                    <a:bodyPr/>
                    <a:lstStyle/>
                    <a:p>
                      <a:pPr marL="64135" marR="731520">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Appointed</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person</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(NPORS</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approved)</a:t>
                      </a:r>
                      <a:r>
                        <a:rPr lang="en-US" sz="1100" spc="-2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t>
                      </a:r>
                      <a:r>
                        <a:rPr lang="en-US" sz="1100" spc="-1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IMSATT</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Training</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Institute Appointed person NVQ 5 (A61) – (approved by CPCS) – (OTI) Appointed person (TÜV Rheinland L.L.C.)</a:t>
                      </a:r>
                    </a:p>
                    <a:p>
                      <a:pPr marL="64135" marR="2797175">
                        <a:lnSpc>
                          <a:spcPts val="1350"/>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Appointed</a:t>
                      </a:r>
                      <a:r>
                        <a:rPr lang="en-US" sz="1100" spc="-6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person</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(TÜV</a:t>
                      </a:r>
                      <a:r>
                        <a:rPr lang="en-US" sz="1100" spc="-6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SÜD) </a:t>
                      </a:r>
                      <a:r>
                        <a:rPr lang="en-US" sz="1100" spc="-10">
                          <a:effectLst/>
                          <a:latin typeface="Calibri" panose="020F0502020204030204" pitchFamily="34" charset="0"/>
                          <a:ea typeface="Inter" panose="020B0604020202020204" charset="0"/>
                          <a:cs typeface="Calibri" panose="020F0502020204030204" pitchFamily="34" charset="0"/>
                        </a:rPr>
                        <a:t>APAVE</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6253712"/>
                  </a:ext>
                </a:extLst>
              </a:tr>
              <a:tr h="212621">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11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92034788"/>
                  </a:ext>
                </a:extLst>
              </a:tr>
              <a:tr h="756847">
                <a:tc vMerge="1">
                  <a:txBody>
                    <a:bodyPr/>
                    <a:lstStyle/>
                    <a:p>
                      <a:endParaRPr lang="en-US"/>
                    </a:p>
                  </a:txBody>
                  <a:tcPr/>
                </a:tc>
                <a:tc>
                  <a:txBody>
                    <a:bodyPr/>
                    <a:lstStyle/>
                    <a:p>
                      <a:pPr marL="64135" marR="1177290">
                        <a:spcBef>
                          <a:spcPts val="5"/>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Lifting</a:t>
                      </a:r>
                      <a:r>
                        <a:rPr lang="en-US" sz="1100" spc="-2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NVQ</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3</a:t>
                      </a:r>
                      <a:r>
                        <a:rPr lang="en-US" sz="1100" spc="-1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(A62)</a:t>
                      </a:r>
                      <a:r>
                        <a:rPr lang="en-US" sz="1100" spc="-1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t>
                      </a:r>
                      <a:r>
                        <a:rPr lang="en-US" sz="1100" spc="-1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(approved</a:t>
                      </a:r>
                      <a:r>
                        <a:rPr lang="en-US" sz="1100" spc="-1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by</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CPCS)</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t>
                      </a:r>
                      <a:r>
                        <a:rPr lang="en-US" sz="1100" spc="-2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(OTI) LEEA lifting supervisor (GTSC)</a:t>
                      </a:r>
                    </a:p>
                    <a:p>
                      <a:pPr marL="64135" marR="0">
                        <a:lnSpc>
                          <a:spcPts val="1335"/>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Lifting/crane</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5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(TTI)</a:t>
                      </a:r>
                      <a:r>
                        <a:rPr lang="en-US" sz="1100" spc="-2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(NPORS</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approved)</a:t>
                      </a:r>
                      <a:endParaRPr lang="en-US" sz="1100">
                        <a:effectLst/>
                        <a:latin typeface="Calibri" panose="020F0502020204030204" pitchFamily="34" charset="0"/>
                        <a:ea typeface="Inter" panose="020B0604020202020204" charset="0"/>
                        <a:cs typeface="Calibri" panose="020F0502020204030204" pitchFamily="34" charset="0"/>
                      </a:endParaRPr>
                    </a:p>
                    <a:p>
                      <a:pPr marL="64135" marR="0">
                        <a:lnSpc>
                          <a:spcPts val="1245"/>
                        </a:lnSpc>
                        <a:spcBef>
                          <a:spcPts val="0"/>
                        </a:spcBef>
                        <a:spcAft>
                          <a:spcPts val="0"/>
                        </a:spcAft>
                      </a:pPr>
                      <a:r>
                        <a:rPr lang="en-US" sz="1100" spc="-10">
                          <a:effectLst/>
                          <a:latin typeface="Calibri" panose="020F0502020204030204" pitchFamily="34" charset="0"/>
                          <a:ea typeface="Inter" panose="020B0604020202020204" charset="0"/>
                          <a:cs typeface="Calibri" panose="020F0502020204030204" pitchFamily="34" charset="0"/>
                        </a:rPr>
                        <a:t>APAVE</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6926734"/>
                  </a:ext>
                </a:extLst>
              </a:tr>
              <a:tr h="215437">
                <a:tc rowSpan="2">
                  <a:txBody>
                    <a:bodyPr/>
                    <a:lstStyle/>
                    <a:p>
                      <a:pPr marL="0" marR="0">
                        <a:spcBef>
                          <a:spcPts val="785"/>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58355520"/>
                  </a:ext>
                </a:extLst>
              </a:tr>
              <a:tr h="566755">
                <a:tc vMerge="1">
                  <a:txBody>
                    <a:bodyPr/>
                    <a:lstStyle/>
                    <a:p>
                      <a:endParaRPr lang="en-US"/>
                    </a:p>
                  </a:txBody>
                  <a:tcPr/>
                </a:tc>
                <a:tc>
                  <a:txBody>
                    <a:bodyPr/>
                    <a:lstStyle/>
                    <a:p>
                      <a:pPr marL="64135" marR="1871980">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Gulf</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Technical</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&amp;</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Safety</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Training</a:t>
                      </a:r>
                      <a:r>
                        <a:rPr lang="en-US" sz="1100" spc="-3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Centre</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(GTSC) Certified rigger (TÜV SÜD)</a:t>
                      </a:r>
                    </a:p>
                    <a:p>
                      <a:pPr marL="64135" marR="0">
                        <a:lnSpc>
                          <a:spcPts val="124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(TÜV</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L.L.C.)</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6056658"/>
                  </a:ext>
                </a:extLst>
              </a:tr>
              <a:tr h="214029">
                <a:tc rowSpan="2">
                  <a:txBody>
                    <a:bodyPr/>
                    <a:lstStyle/>
                    <a:p>
                      <a:pPr marL="0" marR="0">
                        <a:spcBef>
                          <a:spcPts val="115"/>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157678825"/>
                  </a:ext>
                </a:extLst>
              </a:tr>
              <a:tr h="378072">
                <a:tc vMerge="1">
                  <a:txBody>
                    <a:bodyPr/>
                    <a:lstStyle/>
                    <a:p>
                      <a:endParaRPr lang="en-US"/>
                    </a:p>
                  </a:txBody>
                  <a:tcPr/>
                </a:tc>
                <a:tc>
                  <a:txBody>
                    <a:bodyPr/>
                    <a:lstStyle/>
                    <a:p>
                      <a:pPr marL="64135" marR="0">
                        <a:lnSpc>
                          <a:spcPts val="1335"/>
                        </a:lnSpc>
                        <a:spcBef>
                          <a:spcPts val="5"/>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(GTSC)</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24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Overhead</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(TÜV</a:t>
                      </a:r>
                      <a:r>
                        <a:rPr lang="en-US" sz="1100" spc="-20" dirty="0">
                          <a:effectLst/>
                          <a:latin typeface="Calibri" panose="020F0502020204030204" pitchFamily="34" charset="0"/>
                          <a:ea typeface="Inter" panose="020B0604020202020204" charset="0"/>
                          <a:cs typeface="Calibri" panose="020F0502020204030204" pitchFamily="34" charset="0"/>
                        </a:rPr>
                        <a:t> SÜD)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9540465"/>
                  </a:ext>
                </a:extLst>
              </a:tr>
              <a:tr h="215437">
                <a:tc rowSpan="3">
                  <a:txBody>
                    <a:bodyPr/>
                    <a:lstStyle/>
                    <a:p>
                      <a:pPr marL="0" marR="0">
                        <a:spcBef>
                          <a:spcPts val="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0" marR="0">
                        <a:spcBef>
                          <a:spcPts val="2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5"/>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77382412"/>
                  </a:ext>
                </a:extLst>
              </a:tr>
              <a:tr h="578724">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(GTSC)</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1871980">
                        <a:lnSpc>
                          <a:spcPts val="135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(TTI)</a:t>
                      </a:r>
                      <a:r>
                        <a:rPr lang="en-US" sz="1100" spc="-1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(NPORS</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approved) Certified crane operator (TÜV SÜD)</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790766513"/>
                  </a:ext>
                </a:extLst>
              </a:tr>
              <a:tr h="142921">
                <a:tc vMerge="1">
                  <a:txBody>
                    <a:bodyPr/>
                    <a:lstStyle/>
                    <a:p>
                      <a:endParaRPr lang="en-US"/>
                    </a:p>
                  </a:txBody>
                  <a:tcPr/>
                </a:tc>
                <a:tc>
                  <a:txBody>
                    <a:bodyPr/>
                    <a:lstStyle/>
                    <a:p>
                      <a:pPr marL="64135" marR="0">
                        <a:lnSpc>
                          <a:spcPts val="920"/>
                        </a:lnSpc>
                        <a:spcBef>
                          <a:spcPts val="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 the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94231"/>
                  </a:ext>
                </a:extLst>
              </a:tr>
            </a:tbl>
          </a:graphicData>
        </a:graphic>
      </p:graphicFrame>
      <p:pic>
        <p:nvPicPr>
          <p:cNvPr id="4108" name="Image 25">
            <a:extLst>
              <a:ext uri="{FF2B5EF4-FFF2-40B4-BE49-F238E27FC236}">
                <a16:creationId xmlns:a16="http://schemas.microsoft.com/office/drawing/2014/main" id="{D43AFBA1-51C5-4E1C-CA1E-31465E8EFCE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85750"/>
            <a:ext cx="762000"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211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14</a:t>
            </a:fld>
            <a:endParaRPr lang="en-US" dirty="0"/>
          </a:p>
        </p:txBody>
      </p:sp>
      <p:graphicFrame>
        <p:nvGraphicFramePr>
          <p:cNvPr id="5" name="Table 4">
            <a:extLst>
              <a:ext uri="{FF2B5EF4-FFF2-40B4-BE49-F238E27FC236}">
                <a16:creationId xmlns:a16="http://schemas.microsoft.com/office/drawing/2014/main" id="{128F5816-05F4-F771-3CAA-BB379752AE54}"/>
              </a:ext>
            </a:extLst>
          </p:cNvPr>
          <p:cNvGraphicFramePr>
            <a:graphicFrameLocks noGrp="1"/>
          </p:cNvGraphicFramePr>
          <p:nvPr>
            <p:extLst>
              <p:ext uri="{D42A27DB-BD31-4B8C-83A1-F6EECF244321}">
                <p14:modId xmlns:p14="http://schemas.microsoft.com/office/powerpoint/2010/main" val="2423522194"/>
              </p:ext>
            </p:extLst>
          </p:nvPr>
        </p:nvGraphicFramePr>
        <p:xfrm>
          <a:off x="419100" y="1057835"/>
          <a:ext cx="11430000" cy="4864705"/>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2619518511"/>
                    </a:ext>
                  </a:extLst>
                </a:gridCol>
                <a:gridCol w="9383806">
                  <a:extLst>
                    <a:ext uri="{9D8B030D-6E8A-4147-A177-3AD203B41FA5}">
                      <a16:colId xmlns:a16="http://schemas.microsoft.com/office/drawing/2014/main" val="2408433648"/>
                    </a:ext>
                  </a:extLst>
                </a:gridCol>
              </a:tblGrid>
              <a:tr h="555812">
                <a:tc>
                  <a:txBody>
                    <a:bodyPr/>
                    <a:lstStyle/>
                    <a:p>
                      <a:pPr marL="67945" marR="0">
                        <a:spcBef>
                          <a:spcPts val="1670"/>
                        </a:spcBef>
                        <a:spcAft>
                          <a:spcPts val="0"/>
                        </a:spcAft>
                      </a:pPr>
                      <a:r>
                        <a:rPr lang="en-US" sz="2000" b="1" spc="-10" dirty="0">
                          <a:effectLst/>
                          <a:latin typeface="Calibri" panose="020F0502020204030204" pitchFamily="34" charset="0"/>
                          <a:ea typeface="Inter" panose="020B0604020202020204" charset="0"/>
                          <a:cs typeface="Calibri" panose="020F0502020204030204" pitchFamily="34" charset="0"/>
                        </a:rPr>
                        <a:t>Bahrain</a:t>
                      </a:r>
                      <a:endParaRPr lang="en-US" sz="20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0"/>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4668047"/>
                  </a:ext>
                </a:extLst>
              </a:tr>
              <a:tr h="248464">
                <a:tc rowSpan="2">
                  <a:txBody>
                    <a:bodyPr/>
                    <a:lstStyle/>
                    <a:p>
                      <a:pPr marL="0" marR="0">
                        <a:spcBef>
                          <a:spcPts val="0"/>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0" marR="0">
                        <a:spcBef>
                          <a:spcPts val="77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Inter" panose="020B0604020202020204" charset="0"/>
                          <a:cs typeface="Calibri" panose="020F0502020204030204" pitchFamily="34" charset="0"/>
                        </a:rPr>
                        <a:t>CAP/Lift</a:t>
                      </a:r>
                      <a:r>
                        <a:rPr lang="en-US" sz="1100" b="1"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Director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Appointed</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person</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for</a:t>
                      </a:r>
                      <a:r>
                        <a:rPr lang="en-US" sz="11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lifting</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operations</a:t>
                      </a:r>
                      <a:r>
                        <a:rPr lang="en-US" sz="11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1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as</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1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a:solidFill>
                            <a:srgbClr val="000000"/>
                          </a:solidFill>
                          <a:effectLst/>
                          <a:latin typeface="Inter" panose="020B0604020202020204" charset="0"/>
                          <a:ea typeface="Inter" panose="020B0604020202020204" charset="0"/>
                          <a:cs typeface="Times New Roman" panose="02020603050405020304" pitchFamily="18" charset="0"/>
                        </a:rPr>
                        <a:t>BS</a:t>
                      </a:r>
                      <a:r>
                        <a:rPr lang="en-US" sz="11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100" spc="-1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1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769867"/>
                  </a:ext>
                </a:extLst>
              </a:tr>
              <a:tr h="1097657">
                <a:tc vMerge="1">
                  <a:txBody>
                    <a:bodyPr/>
                    <a:lstStyle/>
                    <a:p>
                      <a:endParaRPr lang="en-US"/>
                    </a:p>
                  </a:txBody>
                  <a:tcPr/>
                </a:tc>
                <a:tc>
                  <a:txBody>
                    <a:bodyPr/>
                    <a:lstStyle/>
                    <a:p>
                      <a:pPr marL="64135" marR="3811270">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LLOYDS British Alam Alshara TUV</a:t>
                      </a:r>
                      <a:r>
                        <a:rPr lang="en-US" sz="1100" spc="7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Rheinland TUV SUD</a:t>
                      </a:r>
                    </a:p>
                    <a:p>
                      <a:pPr marL="64135" marR="0">
                        <a:lnSpc>
                          <a:spcPts val="1245"/>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Bureau</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spc="-10">
                          <a:effectLst/>
                          <a:latin typeface="Calibri" panose="020F0502020204030204" pitchFamily="34" charset="0"/>
                          <a:ea typeface="Inter" panose="020B0604020202020204" charset="0"/>
                          <a:cs typeface="Calibri" panose="020F0502020204030204" pitchFamily="34" charset="0"/>
                        </a:rPr>
                        <a:t>Veritas</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1446785"/>
                  </a:ext>
                </a:extLst>
              </a:tr>
              <a:tr h="248464">
                <a:tc rowSpan="2">
                  <a:txBody>
                    <a:bodyPr/>
                    <a:lstStyle/>
                    <a:p>
                      <a:pPr marL="0" marR="0">
                        <a:spcBef>
                          <a:spcPts val="78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Supervisor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Crane/Lifting</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Supervisor</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(LEEA</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as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per</a:t>
                      </a:r>
                      <a:r>
                        <a:rPr lang="en-US" sz="1100"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BS</a:t>
                      </a:r>
                      <a:r>
                        <a:rPr lang="en-US" sz="1100" spc="-3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7121)</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81197718"/>
                  </a:ext>
                </a:extLst>
              </a:tr>
              <a:tr h="658757">
                <a:tc vMerge="1">
                  <a:txBody>
                    <a:bodyPr/>
                    <a:lstStyle/>
                    <a:p>
                      <a:endParaRPr lang="en-US"/>
                    </a:p>
                  </a:txBody>
                  <a:tcPr/>
                </a:tc>
                <a:tc>
                  <a:txBody>
                    <a:bodyPr/>
                    <a:lstStyle/>
                    <a:p>
                      <a:pPr marL="64135" marR="2305050">
                        <a:spcBef>
                          <a:spcPts val="5"/>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LEEA</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Crane</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4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t>
                      </a:r>
                      <a:r>
                        <a:rPr lang="en-US" sz="1100" spc="-3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LLOYDS</a:t>
                      </a:r>
                      <a:r>
                        <a:rPr lang="en-US" sz="1100" spc="-4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British) Alam Alshara</a:t>
                      </a:r>
                    </a:p>
                    <a:p>
                      <a:pPr marL="64135" marR="0">
                        <a:lnSpc>
                          <a:spcPts val="1240"/>
                        </a:lnSpc>
                        <a:spcBef>
                          <a:spcPts val="0"/>
                        </a:spcBef>
                        <a:spcAft>
                          <a:spcPts val="0"/>
                        </a:spcAft>
                      </a:pPr>
                      <a:r>
                        <a:rPr lang="en-US" sz="1100">
                          <a:effectLst/>
                          <a:latin typeface="Calibri" panose="020F0502020204030204" pitchFamily="34" charset="0"/>
                          <a:ea typeface="Inter" panose="020B0604020202020204" charset="0"/>
                          <a:cs typeface="Calibri" panose="020F0502020204030204" pitchFamily="34" charset="0"/>
                        </a:rPr>
                        <a:t>Crane</a:t>
                      </a:r>
                      <a:r>
                        <a:rPr lang="en-US" sz="1100" spc="-2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Supervisor</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a:t>
                      </a:r>
                      <a:r>
                        <a:rPr lang="en-US" sz="1100" spc="-15">
                          <a:effectLst/>
                          <a:latin typeface="Calibri" panose="020F0502020204030204" pitchFamily="34" charset="0"/>
                          <a:ea typeface="Inter" panose="020B0604020202020204" charset="0"/>
                          <a:cs typeface="Calibri" panose="020F0502020204030204" pitchFamily="34" charset="0"/>
                        </a:rPr>
                        <a:t> </a:t>
                      </a:r>
                      <a:r>
                        <a:rPr lang="en-US" sz="1100">
                          <a:effectLst/>
                          <a:latin typeface="Calibri" panose="020F0502020204030204" pitchFamily="34" charset="0"/>
                          <a:ea typeface="Inter" panose="020B0604020202020204" charset="0"/>
                          <a:cs typeface="Calibri" panose="020F0502020204030204" pitchFamily="34" charset="0"/>
                        </a:rPr>
                        <a:t>TUV</a:t>
                      </a:r>
                      <a:r>
                        <a:rPr lang="en-US" sz="1100" spc="-30">
                          <a:effectLst/>
                          <a:latin typeface="Calibri" panose="020F0502020204030204" pitchFamily="34" charset="0"/>
                          <a:ea typeface="Inter" panose="020B0604020202020204" charset="0"/>
                          <a:cs typeface="Calibri" panose="020F0502020204030204" pitchFamily="34" charset="0"/>
                        </a:rPr>
                        <a:t> </a:t>
                      </a:r>
                      <a:r>
                        <a:rPr lang="en-US" sz="1100" spc="-20">
                          <a:effectLst/>
                          <a:latin typeface="Calibri" panose="020F0502020204030204" pitchFamily="34" charset="0"/>
                          <a:ea typeface="Inter" panose="020B0604020202020204" charset="0"/>
                          <a:cs typeface="Calibri" panose="020F0502020204030204" pitchFamily="34" charset="0"/>
                        </a:rPr>
                        <a:t>SUD)</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7193464"/>
                  </a:ext>
                </a:extLst>
              </a:tr>
              <a:tr h="250099">
                <a:tc rowSpan="2">
                  <a:txBody>
                    <a:bodyPr/>
                    <a:lstStyle/>
                    <a:p>
                      <a:pPr marL="0" marR="0">
                        <a:spcBef>
                          <a:spcPts val="115"/>
                        </a:spcBef>
                        <a:spcAft>
                          <a:spcPts val="0"/>
                        </a:spcAft>
                      </a:pPr>
                      <a:r>
                        <a:rPr lang="en-US" sz="1100" b="1" dirty="0">
                          <a:effectLst/>
                          <a:latin typeface="Calibri" panose="020F0502020204030204" pitchFamily="34" charset="0"/>
                          <a:ea typeface="Inter" panose="020B0604020202020204" charset="0"/>
                          <a:cs typeface="Calibri" panose="020F0502020204030204" pitchFamily="34" charset="0"/>
                        </a:rPr>
                        <a:t> </a:t>
                      </a:r>
                      <a:endParaRPr lang="en-US" sz="1100" dirty="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Inter" panose="020B0604020202020204" charset="0"/>
                          <a:cs typeface="Calibri" panose="020F0502020204030204" pitchFamily="34" charset="0"/>
                        </a:rPr>
                        <a:t>Rigger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Advanced</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Rigging</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and</a:t>
                      </a:r>
                      <a:r>
                        <a:rPr lang="en-US" sz="1100" spc="-30"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Slinging</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30433661"/>
                  </a:ext>
                </a:extLst>
              </a:tr>
              <a:tr h="438899">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(Advanced)</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a:t>
                      </a:r>
                      <a:r>
                        <a:rPr lang="en-US" sz="1100" spc="-2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spc="-20" dirty="0">
                          <a:effectLst/>
                          <a:latin typeface="Calibri" panose="020F0502020204030204" pitchFamily="34" charset="0"/>
                          <a:ea typeface="Inter" panose="020B0604020202020204" charset="0"/>
                          <a:cs typeface="Calibri" panose="020F0502020204030204" pitchFamily="34" charset="0"/>
                        </a:rPr>
                        <a:t>SUD)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245"/>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Certified</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rigger</a:t>
                      </a:r>
                      <a:r>
                        <a:rPr lang="en-US" sz="1100" spc="-4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(TÜV</a:t>
                      </a:r>
                      <a:r>
                        <a:rPr lang="en-US" sz="1100" spc="-45" dirty="0">
                          <a:effectLst/>
                          <a:latin typeface="Calibri" panose="020F0502020204030204" pitchFamily="34" charset="0"/>
                          <a:ea typeface="Inter" panose="020B0604020202020204" charset="0"/>
                          <a:cs typeface="Calibri" panose="020F0502020204030204" pitchFamily="34" charset="0"/>
                        </a:rPr>
                        <a:t> </a:t>
                      </a:r>
                      <a:r>
                        <a:rPr lang="en-US" sz="1100" dirty="0" err="1">
                          <a:effectLst/>
                          <a:latin typeface="Calibri" panose="020F0502020204030204" pitchFamily="34" charset="0"/>
                          <a:ea typeface="Inter" panose="020B0604020202020204" charset="0"/>
                          <a:cs typeface="Calibri" panose="020F0502020204030204" pitchFamily="34" charset="0"/>
                        </a:rPr>
                        <a:t>Rheinland</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L.L.C.)</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8987258"/>
                  </a:ext>
                </a:extLst>
              </a:tr>
              <a:tr h="250099">
                <a:tc rowSpan="2">
                  <a:txBody>
                    <a:bodyPr/>
                    <a:lstStyle/>
                    <a:p>
                      <a:pPr marL="67945" marR="0">
                        <a:spcBef>
                          <a:spcPts val="88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Course:</a:t>
                      </a:r>
                      <a:r>
                        <a:rPr lang="en-US" sz="1100" spc="-3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Overhead</a:t>
                      </a:r>
                      <a:r>
                        <a:rPr lang="en-US" sz="1100" spc="-4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25">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65461535"/>
                  </a:ext>
                </a:extLst>
              </a:tr>
              <a:tr h="248464">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Overhead</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30"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(TÜV</a:t>
                      </a:r>
                      <a:r>
                        <a:rPr lang="en-US" sz="1100" spc="-20" dirty="0">
                          <a:effectLst/>
                          <a:latin typeface="Calibri" panose="020F0502020204030204" pitchFamily="34" charset="0"/>
                          <a:ea typeface="Inter" panose="020B0604020202020204" charset="0"/>
                          <a:cs typeface="Calibri" panose="020F0502020204030204" pitchFamily="34" charset="0"/>
                        </a:rPr>
                        <a:t> SÜD)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2308755"/>
                  </a:ext>
                </a:extLst>
              </a:tr>
              <a:tr h="250099">
                <a:tc rowSpan="3">
                  <a:txBody>
                    <a:bodyPr/>
                    <a:lstStyle/>
                    <a:p>
                      <a:pPr marL="0" marR="0">
                        <a:spcBef>
                          <a:spcPts val="690"/>
                        </a:spcBef>
                        <a:spcAft>
                          <a:spcPts val="0"/>
                        </a:spcAft>
                      </a:pPr>
                      <a:r>
                        <a:rPr lang="en-US" sz="1100" b="1">
                          <a:effectLst/>
                          <a:latin typeface="Calibri" panose="020F0502020204030204" pitchFamily="34" charset="0"/>
                          <a:ea typeface="Inter" panose="020B0604020202020204" charset="0"/>
                          <a:cs typeface="Calibri" panose="020F0502020204030204" pitchFamily="34" charset="0"/>
                        </a:rPr>
                        <a:t> </a:t>
                      </a:r>
                      <a:endParaRPr lang="en-US" sz="1100">
                        <a:effectLst/>
                        <a:latin typeface="Calibri" panose="020F0502020204030204" pitchFamily="34" charset="0"/>
                        <a:ea typeface="Inter" panose="020B0604020202020204" charset="0"/>
                        <a:cs typeface="Calibri" panose="020F0502020204030204" pitchFamily="34" charset="0"/>
                      </a:endParaRPr>
                    </a:p>
                    <a:p>
                      <a:pPr marL="67945" marR="0">
                        <a:spcBef>
                          <a:spcPts val="0"/>
                        </a:spcBef>
                        <a:spcAft>
                          <a:spcPts val="0"/>
                        </a:spcAft>
                      </a:pP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b="1" spc="-2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b="1" spc="-1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Certified</a:t>
                      </a:r>
                      <a:r>
                        <a:rPr lang="en-US" sz="1100" spc="-4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Mobile</a:t>
                      </a:r>
                      <a:r>
                        <a:rPr lang="en-US" sz="1100" spc="-2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000000"/>
                          </a:solidFill>
                          <a:effectLst/>
                          <a:latin typeface="Calibri" panose="020F0502020204030204" pitchFamily="34" charset="0"/>
                          <a:ea typeface="Inter" panose="020B0604020202020204" charset="0"/>
                          <a:cs typeface="Calibri" panose="020F0502020204030204" pitchFamily="34" charset="0"/>
                        </a:rPr>
                        <a:t>Crane</a:t>
                      </a:r>
                      <a:r>
                        <a:rPr lang="en-US" sz="1100" spc="-35" dirty="0">
                          <a:solidFill>
                            <a:srgbClr val="000000"/>
                          </a:solidFill>
                          <a:effectLst/>
                          <a:latin typeface="Calibri" panose="020F0502020204030204" pitchFamily="34" charset="0"/>
                          <a:ea typeface="Inter" panose="020B0604020202020204" charset="0"/>
                          <a:cs typeface="Calibri" panose="020F0502020204030204" pitchFamily="34" charset="0"/>
                        </a:rPr>
                        <a:t> </a:t>
                      </a:r>
                      <a:r>
                        <a:rPr lang="en-US" sz="1100" spc="-10" dirty="0">
                          <a:solidFill>
                            <a:srgbClr val="000000"/>
                          </a:solidFill>
                          <a:effectLst/>
                          <a:latin typeface="Calibri" panose="020F0502020204030204" pitchFamily="34" charset="0"/>
                          <a:ea typeface="Inter" panose="020B0604020202020204" charset="0"/>
                          <a:cs typeface="Calibri" panose="020F0502020204030204" pitchFamily="34" charset="0"/>
                        </a:rPr>
                        <a:t>Operator</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54864791"/>
                  </a:ext>
                </a:extLst>
              </a:tr>
              <a:tr h="451976">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Mobile</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(TUV</a:t>
                      </a:r>
                      <a:r>
                        <a:rPr lang="en-US" sz="1100" spc="-10" dirty="0">
                          <a:effectLst/>
                          <a:latin typeface="Calibri" panose="020F0502020204030204" pitchFamily="34" charset="0"/>
                          <a:ea typeface="Inter" panose="020B0604020202020204" charset="0"/>
                          <a:cs typeface="Calibri" panose="020F0502020204030204" pitchFamily="34" charset="0"/>
                        </a:rPr>
                        <a:t> </a:t>
                      </a:r>
                      <a:r>
                        <a:rPr lang="en-US" sz="1100" spc="-20" dirty="0">
                          <a:effectLst/>
                          <a:latin typeface="Calibri" panose="020F0502020204030204" pitchFamily="34" charset="0"/>
                          <a:ea typeface="Inter" panose="020B0604020202020204" charset="0"/>
                          <a:cs typeface="Calibri" panose="020F0502020204030204" pitchFamily="34" charset="0"/>
                        </a:rPr>
                        <a:t>SUD)</a:t>
                      </a:r>
                      <a:endParaRPr lang="en-US" sz="1100" dirty="0">
                        <a:effectLst/>
                        <a:latin typeface="Calibri" panose="020F0502020204030204" pitchFamily="34" charset="0"/>
                        <a:ea typeface="Inter" panose="020B0604020202020204" charset="0"/>
                        <a:cs typeface="Calibri" panose="020F0502020204030204" pitchFamily="34" charset="0"/>
                      </a:endParaRPr>
                    </a:p>
                    <a:p>
                      <a:pPr marL="64135" marR="0">
                        <a:lnSpc>
                          <a:spcPts val="1330"/>
                        </a:lnSpc>
                        <a:spcBef>
                          <a:spcPts val="0"/>
                        </a:spcBef>
                        <a:spcAft>
                          <a:spcPts val="0"/>
                        </a:spcAft>
                      </a:pPr>
                      <a:r>
                        <a:rPr lang="en-US" sz="1100" dirty="0">
                          <a:effectLst/>
                          <a:latin typeface="Calibri" panose="020F0502020204030204" pitchFamily="34" charset="0"/>
                          <a:ea typeface="Inter" panose="020B0604020202020204" charset="0"/>
                          <a:cs typeface="Calibri" panose="020F0502020204030204" pitchFamily="34" charset="0"/>
                        </a:rPr>
                        <a:t>Mobile</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Crane</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Operator</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dirty="0">
                          <a:effectLst/>
                          <a:latin typeface="Calibri" panose="020F0502020204030204" pitchFamily="34" charset="0"/>
                          <a:ea typeface="Inter" panose="020B0604020202020204" charset="0"/>
                          <a:cs typeface="Calibri" panose="020F0502020204030204" pitchFamily="34" charset="0"/>
                        </a:rPr>
                        <a:t>(LLOYDS</a:t>
                      </a:r>
                      <a:r>
                        <a:rPr lang="en-US" sz="1100" spc="-25" dirty="0">
                          <a:effectLst/>
                          <a:latin typeface="Calibri" panose="020F0502020204030204" pitchFamily="34" charset="0"/>
                          <a:ea typeface="Inter" panose="020B0604020202020204" charset="0"/>
                          <a:cs typeface="Calibri" panose="020F0502020204030204" pitchFamily="34" charset="0"/>
                        </a:rPr>
                        <a:t> </a:t>
                      </a:r>
                      <a:r>
                        <a:rPr lang="en-US" sz="1100" spc="-10" dirty="0">
                          <a:effectLst/>
                          <a:latin typeface="Calibri" panose="020F0502020204030204" pitchFamily="34" charset="0"/>
                          <a:ea typeface="Inter" panose="020B0604020202020204" charset="0"/>
                          <a:cs typeface="Calibri" panose="020F0502020204030204" pitchFamily="34" charset="0"/>
                        </a:rPr>
                        <a:t>British)</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60041253"/>
                  </a:ext>
                </a:extLst>
              </a:tr>
              <a:tr h="165915">
                <a:tc vMerge="1">
                  <a:txBody>
                    <a:bodyPr/>
                    <a:lstStyle/>
                    <a:p>
                      <a:endParaRPr lang="en-US"/>
                    </a:p>
                  </a:txBody>
                  <a:tcPr/>
                </a:tc>
                <a:tc>
                  <a:txBody>
                    <a:bodyPr/>
                    <a:lstStyle/>
                    <a:p>
                      <a:pPr marL="64135" marR="0">
                        <a:lnSpc>
                          <a:spcPts val="920"/>
                        </a:lnSpc>
                        <a:spcBef>
                          <a:spcPts val="0"/>
                        </a:spcBef>
                        <a:spcAft>
                          <a:spcPts val="0"/>
                        </a:spcAft>
                      </a:pP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*Note:</a:t>
                      </a:r>
                      <a:r>
                        <a:rPr lang="en-US" sz="1100" spc="-2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heavy</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equipment</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license</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as</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per</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the</a:t>
                      </a:r>
                      <a:r>
                        <a:rPr lang="en-US" sz="1100" spc="-1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local</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regulations</a:t>
                      </a:r>
                      <a:r>
                        <a:rPr lang="en-US" sz="1100" spc="-5"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might</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a:t>
                      </a:r>
                      <a:r>
                        <a:rPr lang="en-US" sz="1100" dirty="0">
                          <a:solidFill>
                            <a:srgbClr val="FF0000"/>
                          </a:solidFill>
                          <a:effectLst/>
                          <a:latin typeface="Calibri" panose="020F0502020204030204" pitchFamily="34" charset="0"/>
                          <a:ea typeface="Inter" panose="020B0604020202020204" charset="0"/>
                          <a:cs typeface="Calibri" panose="020F0502020204030204" pitchFamily="34" charset="0"/>
                        </a:rPr>
                        <a:t>be</a:t>
                      </a:r>
                      <a:r>
                        <a:rPr lang="en-US" sz="1100" spc="-10" dirty="0">
                          <a:solidFill>
                            <a:srgbClr val="FF0000"/>
                          </a:solidFill>
                          <a:effectLst/>
                          <a:latin typeface="Calibri" panose="020F0502020204030204" pitchFamily="34" charset="0"/>
                          <a:ea typeface="Inter" panose="020B0604020202020204" charset="0"/>
                          <a:cs typeface="Calibri" panose="020F0502020204030204" pitchFamily="34" charset="0"/>
                        </a:rPr>
                        <a:t> needed.</a:t>
                      </a:r>
                      <a:endParaRPr lang="en-US" sz="1100" dirty="0">
                        <a:effectLst/>
                        <a:latin typeface="Calibri" panose="020F0502020204030204" pitchFamily="34" charset="0"/>
                        <a:ea typeface="Inter" panose="020B0604020202020204" charset="0"/>
                        <a:cs typeface="Calibri" panose="020F050202020403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0385615"/>
                  </a:ext>
                </a:extLst>
              </a:tr>
            </a:tbl>
          </a:graphicData>
        </a:graphic>
      </p:graphicFrame>
      <p:pic>
        <p:nvPicPr>
          <p:cNvPr id="62466" name="Image 26">
            <a:extLst>
              <a:ext uri="{FF2B5EF4-FFF2-40B4-BE49-F238E27FC236}">
                <a16:creationId xmlns:a16="http://schemas.microsoft.com/office/drawing/2014/main" id="{1CC952A0-45E6-480C-5836-1CC8FC3FAFF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37332"/>
            <a:ext cx="676275"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369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15</a:t>
            </a:fld>
            <a:endParaRPr lang="en-US" dirty="0"/>
          </a:p>
        </p:txBody>
      </p:sp>
      <p:graphicFrame>
        <p:nvGraphicFramePr>
          <p:cNvPr id="5" name="Table 4">
            <a:extLst>
              <a:ext uri="{FF2B5EF4-FFF2-40B4-BE49-F238E27FC236}">
                <a16:creationId xmlns:a16="http://schemas.microsoft.com/office/drawing/2014/main" id="{5DCBF8B9-C06A-3AEC-E2FF-FCB93D06F804}"/>
              </a:ext>
            </a:extLst>
          </p:cNvPr>
          <p:cNvGraphicFramePr>
            <a:graphicFrameLocks noGrp="1"/>
          </p:cNvGraphicFramePr>
          <p:nvPr>
            <p:extLst>
              <p:ext uri="{D42A27DB-BD31-4B8C-83A1-F6EECF244321}">
                <p14:modId xmlns:p14="http://schemas.microsoft.com/office/powerpoint/2010/main" val="3979284514"/>
              </p:ext>
            </p:extLst>
          </p:nvPr>
        </p:nvGraphicFramePr>
        <p:xfrm>
          <a:off x="419100" y="1018520"/>
          <a:ext cx="11430000" cy="4970251"/>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1889494917"/>
                    </a:ext>
                  </a:extLst>
                </a:gridCol>
                <a:gridCol w="9401735">
                  <a:extLst>
                    <a:ext uri="{9D8B030D-6E8A-4147-A177-3AD203B41FA5}">
                      <a16:colId xmlns:a16="http://schemas.microsoft.com/office/drawing/2014/main" val="3067401761"/>
                    </a:ext>
                  </a:extLst>
                </a:gridCol>
              </a:tblGrid>
              <a:tr h="666845">
                <a:tc>
                  <a:txBody>
                    <a:bodyPr/>
                    <a:lstStyle/>
                    <a:p>
                      <a:pPr marL="67945" marR="0">
                        <a:spcBef>
                          <a:spcPts val="1670"/>
                        </a:spcBef>
                        <a:spcAft>
                          <a:spcPts val="0"/>
                        </a:spcAft>
                      </a:pPr>
                      <a:r>
                        <a:rPr lang="en-US" sz="2000" b="1" spc="-20" dirty="0">
                          <a:effectLst/>
                          <a:latin typeface="Inter" panose="020B0604020202020204" charset="0"/>
                          <a:ea typeface="Inter" panose="020B0604020202020204" charset="0"/>
                          <a:cs typeface="Times New Roman" panose="02020603050405020304" pitchFamily="18" charset="0"/>
                        </a:rPr>
                        <a:t>Iraq</a:t>
                      </a:r>
                      <a:endParaRPr lang="en-US" sz="20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0"/>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9539174"/>
                  </a:ext>
                </a:extLst>
              </a:tr>
              <a:tr h="249902">
                <a:tc rowSpan="2">
                  <a:txBody>
                    <a:bodyPr/>
                    <a:lstStyle/>
                    <a:p>
                      <a:pPr marL="0" marR="0">
                        <a:spcBef>
                          <a:spcPts val="100"/>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67945" marR="0">
                        <a:spcBef>
                          <a:spcPts val="5"/>
                        </a:spcBef>
                        <a:spcAft>
                          <a:spcPts val="0"/>
                        </a:spcAft>
                      </a:pPr>
                      <a:r>
                        <a:rPr lang="en-US" sz="1200" b="1" dirty="0">
                          <a:solidFill>
                            <a:srgbClr val="000000"/>
                          </a:solidFill>
                          <a:effectLst/>
                          <a:latin typeface="Inter" panose="020B0604020202020204" charset="0"/>
                          <a:ea typeface="Inter" panose="020B0604020202020204" charset="0"/>
                          <a:cs typeface="Times New Roman" panose="02020603050405020304" pitchFamily="18" charset="0"/>
                        </a:rPr>
                        <a:t>CAP/Lift</a:t>
                      </a:r>
                      <a:r>
                        <a:rPr lang="en-US" sz="1200" b="1" spc="-30"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spc="-10" dirty="0">
                          <a:solidFill>
                            <a:srgbClr val="000000"/>
                          </a:solidFill>
                          <a:effectLst/>
                          <a:latin typeface="Inter" panose="020B0604020202020204" charset="0"/>
                          <a:ea typeface="Inter" panose="020B0604020202020204" charset="0"/>
                          <a:cs typeface="Times New Roman" panose="02020603050405020304" pitchFamily="18" charset="0"/>
                        </a:rPr>
                        <a:t>Director</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Appointed</a:t>
                      </a:r>
                      <a:r>
                        <a:rPr lang="en-US" sz="12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person</a:t>
                      </a:r>
                      <a:r>
                        <a:rPr lang="en-US" sz="12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for</a:t>
                      </a:r>
                      <a:r>
                        <a:rPr lang="en-US" sz="12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lifting</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operations</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2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as</a:t>
                      </a:r>
                      <a:r>
                        <a:rPr lang="en-US" sz="12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200" spc="-1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BS</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84724829"/>
                  </a:ext>
                </a:extLst>
              </a:tr>
              <a:tr h="441438">
                <a:tc vMerge="1">
                  <a:txBody>
                    <a:bodyPr/>
                    <a:lstStyle/>
                    <a:p>
                      <a:endParaRPr lang="en-US"/>
                    </a:p>
                  </a:txBody>
                  <a:tcPr/>
                </a:tc>
                <a:tc>
                  <a:txBody>
                    <a:bodyPr/>
                    <a:lstStyle/>
                    <a:p>
                      <a:pPr marL="64135" marR="0">
                        <a:lnSpc>
                          <a:spcPts val="1340"/>
                        </a:lnSpc>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LEEA</a:t>
                      </a:r>
                      <a:r>
                        <a:rPr lang="en-US" sz="1200" spc="-2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Appointed</a:t>
                      </a:r>
                      <a:r>
                        <a:rPr lang="en-US" sz="1200" spc="-3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Person</a:t>
                      </a:r>
                      <a:r>
                        <a:rPr lang="en-US" sz="1200" spc="-2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(AEC</a:t>
                      </a:r>
                      <a:r>
                        <a:rPr lang="en-US" sz="1200" spc="-20">
                          <a:effectLst/>
                          <a:latin typeface="Inter" panose="020B0604020202020204" charset="0"/>
                          <a:ea typeface="Inter" panose="020B0604020202020204" charset="0"/>
                          <a:cs typeface="Times New Roman" panose="02020603050405020304" pitchFamily="18" charset="0"/>
                        </a:rPr>
                        <a:t> </a:t>
                      </a:r>
                      <a:r>
                        <a:rPr lang="en-US" sz="1200" spc="-10">
                          <a:effectLst/>
                          <a:latin typeface="Inter" panose="020B0604020202020204" charset="0"/>
                          <a:ea typeface="Inter" panose="020B0604020202020204" charset="0"/>
                          <a:cs typeface="Times New Roman" panose="02020603050405020304" pitchFamily="18" charset="0"/>
                        </a:rPr>
                        <a:t>Center)</a:t>
                      </a:r>
                      <a:endParaRPr lang="en-US" sz="1200">
                        <a:effectLst/>
                        <a:latin typeface="Inter" panose="020B0604020202020204" charset="0"/>
                        <a:ea typeface="Inter" panose="020B0604020202020204" charset="0"/>
                        <a:cs typeface="Times New Roman" panose="02020603050405020304" pitchFamily="18" charset="0"/>
                      </a:endParaRPr>
                    </a:p>
                    <a:p>
                      <a:pPr marL="64135" marR="0">
                        <a:lnSpc>
                          <a:spcPts val="1245"/>
                        </a:lnSpc>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TUV</a:t>
                      </a:r>
                      <a:r>
                        <a:rPr lang="en-US" sz="1200" spc="20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Rheinland</a:t>
                      </a:r>
                      <a:r>
                        <a:rPr lang="en-US" sz="1200" spc="-25">
                          <a:effectLst/>
                          <a:latin typeface="Inter" panose="020B0604020202020204" charset="0"/>
                          <a:ea typeface="Inter" panose="020B0604020202020204" charset="0"/>
                          <a:cs typeface="Times New Roman" panose="02020603050405020304" pitchFamily="18" charset="0"/>
                        </a:rPr>
                        <a:t> </a:t>
                      </a:r>
                      <a:r>
                        <a:rPr lang="en-US" sz="1200" spc="-10">
                          <a:effectLst/>
                          <a:latin typeface="Inter" panose="020B0604020202020204" charset="0"/>
                          <a:ea typeface="Inter" panose="020B0604020202020204" charset="0"/>
                          <a:cs typeface="Times New Roman" panose="02020603050405020304" pitchFamily="18" charset="0"/>
                        </a:rPr>
                        <a:t>(APOLO)</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0895053"/>
                  </a:ext>
                </a:extLst>
              </a:tr>
              <a:tr h="251546">
                <a:tc rowSpan="2">
                  <a:txBody>
                    <a:bodyPr/>
                    <a:lstStyle/>
                    <a:p>
                      <a:pPr marL="0" marR="0">
                        <a:spcBef>
                          <a:spcPts val="785"/>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p>
                      <a:pPr marL="67945" marR="0">
                        <a:spcBef>
                          <a:spcPts val="0"/>
                        </a:spcBef>
                        <a:spcAft>
                          <a:spcPts val="0"/>
                        </a:spcAft>
                      </a:pPr>
                      <a:r>
                        <a:rPr lang="en-US" sz="1200" b="1" spc="-10">
                          <a:solidFill>
                            <a:srgbClr val="000000"/>
                          </a:solidFill>
                          <a:effectLst/>
                          <a:latin typeface="Inter" panose="020B0604020202020204" charset="0"/>
                          <a:ea typeface="Inter" panose="020B0604020202020204" charset="0"/>
                          <a:cs typeface="Times New Roman" panose="02020603050405020304" pitchFamily="18" charset="0"/>
                        </a:rPr>
                        <a:t>Supervisor</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Crane/Lifting</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Supervisor</a:t>
                      </a:r>
                      <a:r>
                        <a:rPr lang="en-US" sz="1200" spc="-3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(LEEA</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as</a:t>
                      </a:r>
                      <a:r>
                        <a:rPr lang="en-US" sz="1200" spc="-3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per</a:t>
                      </a:r>
                      <a:r>
                        <a:rPr lang="en-US" sz="1200"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BS</a:t>
                      </a:r>
                      <a:r>
                        <a:rPr lang="en-US" sz="1200" spc="-3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20">
                          <a:solidFill>
                            <a:srgbClr val="000000"/>
                          </a:solidFill>
                          <a:effectLst/>
                          <a:latin typeface="Inter" panose="020B0604020202020204" charset="0"/>
                          <a:ea typeface="Inter" panose="020B0604020202020204" charset="0"/>
                          <a:cs typeface="Times New Roman" panose="02020603050405020304" pitchFamily="18" charset="0"/>
                        </a:rPr>
                        <a:t>7121)</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547885767"/>
                  </a:ext>
                </a:extLst>
              </a:tr>
              <a:tr h="662568">
                <a:tc vMerge="1">
                  <a:txBody>
                    <a:bodyPr/>
                    <a:lstStyle/>
                    <a:p>
                      <a:endParaRPr lang="en-US"/>
                    </a:p>
                  </a:txBody>
                  <a:tcPr/>
                </a:tc>
                <a:tc>
                  <a:txBody>
                    <a:bodyPr/>
                    <a:lstStyle/>
                    <a:p>
                      <a:pPr marL="64135" marR="1910080">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LEEA</a:t>
                      </a:r>
                      <a:r>
                        <a:rPr lang="en-US" sz="1200" spc="-4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Lifting</a:t>
                      </a:r>
                      <a:r>
                        <a:rPr lang="en-US" sz="1200" spc="-4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supervisor</a:t>
                      </a:r>
                      <a:r>
                        <a:rPr lang="en-US" sz="1200" spc="-4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training</a:t>
                      </a:r>
                      <a:r>
                        <a:rPr lang="en-US" sz="1200" spc="-4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(AEC</a:t>
                      </a:r>
                      <a:r>
                        <a:rPr lang="en-US" sz="1200" spc="-3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Center) Lifting supervisor (TUV</a:t>
                      </a:r>
                      <a:r>
                        <a:rPr lang="en-US" sz="1200" spc="20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Rheinland)</a:t>
                      </a:r>
                    </a:p>
                    <a:p>
                      <a:pPr marL="64135" marR="0">
                        <a:lnSpc>
                          <a:spcPts val="1245"/>
                        </a:lnSpc>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LEEA</a:t>
                      </a:r>
                      <a:r>
                        <a:rPr lang="en-US" sz="1200" spc="-3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lifting</a:t>
                      </a:r>
                      <a:r>
                        <a:rPr lang="en-US" sz="1200" spc="-3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supervisor</a:t>
                      </a:r>
                      <a:r>
                        <a:rPr lang="en-US" sz="1200" spc="-25">
                          <a:effectLst/>
                          <a:latin typeface="Inter" panose="020B0604020202020204" charset="0"/>
                          <a:ea typeface="Inter" panose="020B0604020202020204" charset="0"/>
                          <a:cs typeface="Times New Roman" panose="02020603050405020304" pitchFamily="18" charset="0"/>
                        </a:rPr>
                        <a:t> </a:t>
                      </a:r>
                      <a:r>
                        <a:rPr lang="en-US" sz="1200" spc="-10">
                          <a:effectLst/>
                          <a:latin typeface="Inter" panose="020B0604020202020204" charset="0"/>
                          <a:ea typeface="Inter" panose="020B0604020202020204" charset="0"/>
                          <a:cs typeface="Times New Roman" panose="02020603050405020304" pitchFamily="18" charset="0"/>
                        </a:rPr>
                        <a:t>(GTSC)</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1362271"/>
                  </a:ext>
                </a:extLst>
              </a:tr>
              <a:tr h="249902">
                <a:tc rowSpan="2">
                  <a:txBody>
                    <a:bodyPr/>
                    <a:lstStyle/>
                    <a:p>
                      <a:pPr marL="0" marR="0">
                        <a:spcBef>
                          <a:spcPts val="775"/>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67945" marR="0">
                        <a:spcBef>
                          <a:spcPts val="5"/>
                        </a:spcBef>
                        <a:spcAft>
                          <a:spcPts val="0"/>
                        </a:spcAft>
                      </a:pPr>
                      <a:r>
                        <a:rPr lang="en-US" sz="1200" b="1" spc="-10" dirty="0">
                          <a:solidFill>
                            <a:srgbClr val="000000"/>
                          </a:solidFill>
                          <a:effectLst/>
                          <a:latin typeface="Inter" panose="020B0604020202020204" charset="0"/>
                          <a:ea typeface="Inter" panose="020B0604020202020204" charset="0"/>
                          <a:cs typeface="Times New Roman" panose="02020603050405020304" pitchFamily="18" charset="0"/>
                        </a:rPr>
                        <a:t>Rigger</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Advanced</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Rigging</a:t>
                      </a:r>
                      <a:r>
                        <a:rPr lang="en-US" sz="1200" spc="-3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and</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a:solidFill>
                            <a:srgbClr val="000000"/>
                          </a:solidFill>
                          <a:effectLst/>
                          <a:latin typeface="Inter" panose="020B0604020202020204" charset="0"/>
                          <a:ea typeface="Inter" panose="020B0604020202020204" charset="0"/>
                          <a:cs typeface="Times New Roman" panose="02020603050405020304" pitchFamily="18" charset="0"/>
                        </a:rPr>
                        <a:t>Slinging</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48784034"/>
                  </a:ext>
                </a:extLst>
              </a:tr>
              <a:tr h="662568">
                <a:tc vMerge="1">
                  <a:txBody>
                    <a:bodyPr/>
                    <a:lstStyle/>
                    <a:p>
                      <a:endParaRPr lang="en-US"/>
                    </a:p>
                  </a:txBody>
                  <a:tcPr/>
                </a:tc>
                <a:tc>
                  <a:txBody>
                    <a:bodyPr/>
                    <a:lstStyle/>
                    <a:p>
                      <a:pPr marL="64135" marR="2797175">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Certified</a:t>
                      </a:r>
                      <a:r>
                        <a:rPr lang="en-US" sz="1200" spc="-6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Rigger</a:t>
                      </a:r>
                      <a:r>
                        <a:rPr lang="en-US" sz="1200" spc="-6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(NYCO</a:t>
                      </a:r>
                      <a:r>
                        <a:rPr lang="en-US" sz="1200" spc="-6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Group) Certified Rigger (AEC Center)</a:t>
                      </a:r>
                    </a:p>
                    <a:p>
                      <a:pPr marL="64135" marR="0">
                        <a:lnSpc>
                          <a:spcPts val="1245"/>
                        </a:lnSpc>
                        <a:spcBef>
                          <a:spcPts val="0"/>
                        </a:spcBef>
                        <a:spcAft>
                          <a:spcPts val="0"/>
                        </a:spcAft>
                      </a:pPr>
                      <a:r>
                        <a:rPr lang="en-US" sz="1200">
                          <a:effectLst/>
                          <a:latin typeface="Inter" panose="020B0604020202020204" charset="0"/>
                          <a:ea typeface="Inter" panose="020B0604020202020204" charset="0"/>
                          <a:cs typeface="Times New Roman" panose="02020603050405020304" pitchFamily="18" charset="0"/>
                        </a:rPr>
                        <a:t>Gulf</a:t>
                      </a:r>
                      <a:r>
                        <a:rPr lang="en-US" sz="1200" spc="-2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Technical</a:t>
                      </a:r>
                      <a:r>
                        <a:rPr lang="en-US" sz="1200" spc="-30">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&amp;</a:t>
                      </a:r>
                      <a:r>
                        <a:rPr lang="en-US" sz="1200" spc="-1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Safety</a:t>
                      </a:r>
                      <a:r>
                        <a:rPr lang="en-US" sz="1200" spc="-2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Training</a:t>
                      </a:r>
                      <a:r>
                        <a:rPr lang="en-US" sz="1200" spc="-25">
                          <a:effectLst/>
                          <a:latin typeface="Inter" panose="020B0604020202020204" charset="0"/>
                          <a:ea typeface="Inter" panose="020B0604020202020204" charset="0"/>
                          <a:cs typeface="Times New Roman" panose="02020603050405020304" pitchFamily="18" charset="0"/>
                        </a:rPr>
                        <a:t> </a:t>
                      </a:r>
                      <a:r>
                        <a:rPr lang="en-US" sz="1200">
                          <a:effectLst/>
                          <a:latin typeface="Inter" panose="020B0604020202020204" charset="0"/>
                          <a:ea typeface="Inter" panose="020B0604020202020204" charset="0"/>
                          <a:cs typeface="Times New Roman" panose="02020603050405020304" pitchFamily="18" charset="0"/>
                        </a:rPr>
                        <a:t>Centre</a:t>
                      </a:r>
                      <a:r>
                        <a:rPr lang="en-US" sz="1200" spc="-10">
                          <a:effectLst/>
                          <a:latin typeface="Inter" panose="020B0604020202020204" charset="0"/>
                          <a:ea typeface="Inter" panose="020B0604020202020204" charset="0"/>
                          <a:cs typeface="Times New Roman" panose="02020603050405020304" pitchFamily="18" charset="0"/>
                        </a:rPr>
                        <a:t> (GTSC)</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6140818"/>
                  </a:ext>
                </a:extLst>
              </a:tr>
              <a:tr h="251546">
                <a:tc rowSpan="2">
                  <a:txBody>
                    <a:bodyPr/>
                    <a:lstStyle/>
                    <a:p>
                      <a:pPr marL="0" marR="0">
                        <a:spcBef>
                          <a:spcPts val="785"/>
                        </a:spcBef>
                        <a:spcAft>
                          <a:spcPts val="0"/>
                        </a:spcAft>
                      </a:pPr>
                      <a:r>
                        <a:rPr lang="en-US" sz="1200" b="1" dirty="0">
                          <a:effectLst/>
                          <a:latin typeface="Inter" panose="020B0604020202020204" charset="0"/>
                          <a:ea typeface="Inter" panose="020B0604020202020204" charset="0"/>
                          <a:cs typeface="Times New Roman" panose="02020603050405020304" pitchFamily="18" charset="0"/>
                        </a:rPr>
                        <a:t> </a:t>
                      </a:r>
                      <a:endParaRPr lang="en-US" sz="1200" dirty="0">
                        <a:effectLst/>
                        <a:latin typeface="Inter" panose="020B0604020202020204" charset="0"/>
                        <a:ea typeface="Inter" panose="020B0604020202020204" charset="0"/>
                        <a:cs typeface="Times New Roman" panose="02020603050405020304" pitchFamily="18" charset="0"/>
                      </a:endParaRPr>
                    </a:p>
                    <a:p>
                      <a:pPr marL="67945" marR="0">
                        <a:spcBef>
                          <a:spcPts val="0"/>
                        </a:spcBef>
                        <a:spcAft>
                          <a:spcPts val="0"/>
                        </a:spcAft>
                      </a:pPr>
                      <a:r>
                        <a:rPr lang="en-US" sz="1200" b="1" dirty="0">
                          <a:solidFill>
                            <a:srgbClr val="000000"/>
                          </a:solidFill>
                          <a:effectLst/>
                          <a:latin typeface="Inter" panose="020B0604020202020204" charset="0"/>
                          <a:ea typeface="Inter" panose="020B0604020202020204" charset="0"/>
                          <a:cs typeface="Times New Roman" panose="02020603050405020304" pitchFamily="18" charset="0"/>
                        </a:rPr>
                        <a:t>Overhead</a:t>
                      </a:r>
                      <a:r>
                        <a:rPr lang="en-US" sz="1200" b="1" spc="-25"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dirty="0">
                          <a:solidFill>
                            <a:srgbClr val="000000"/>
                          </a:solidFill>
                          <a:effectLst/>
                          <a:latin typeface="Inter" panose="020B0604020202020204" charset="0"/>
                          <a:ea typeface="Inter" panose="020B0604020202020204" charset="0"/>
                          <a:cs typeface="Times New Roman" panose="02020603050405020304" pitchFamily="18" charset="0"/>
                        </a:rPr>
                        <a:t>Crane</a:t>
                      </a:r>
                      <a:r>
                        <a:rPr lang="en-US" sz="1200" b="1" spc="-25" dirty="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spc="-10" dirty="0">
                          <a:solidFill>
                            <a:srgbClr val="000000"/>
                          </a:solidFill>
                          <a:effectLst/>
                          <a:latin typeface="Inter" panose="020B0604020202020204" charset="0"/>
                          <a:ea typeface="Inter" panose="020B0604020202020204" charset="0"/>
                          <a:cs typeface="Times New Roman" panose="02020603050405020304" pitchFamily="18" charset="0"/>
                        </a:rPr>
                        <a:t>Operator</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Course:</a:t>
                      </a:r>
                      <a:r>
                        <a:rPr lang="en-US" sz="1200" spc="-3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Certified</a:t>
                      </a:r>
                      <a:r>
                        <a:rPr lang="en-US" sz="1200" spc="-4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Overhead</a:t>
                      </a:r>
                      <a:r>
                        <a:rPr lang="en-US" sz="1200" spc="-4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Crane</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a:solidFill>
                            <a:srgbClr val="000000"/>
                          </a:solidFill>
                          <a:effectLst/>
                          <a:latin typeface="Inter" panose="020B0604020202020204" charset="0"/>
                          <a:ea typeface="Inter" panose="020B0604020202020204" charset="0"/>
                          <a:cs typeface="Times New Roman" panose="02020603050405020304" pitchFamily="18" charset="0"/>
                        </a:rPr>
                        <a:t>Operator</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89728107"/>
                  </a:ext>
                </a:extLst>
              </a:tr>
              <a:tr h="662568">
                <a:tc vMerge="1">
                  <a:txBody>
                    <a:bodyPr/>
                    <a:lstStyle/>
                    <a:p>
                      <a:endParaRPr lang="en-US"/>
                    </a:p>
                  </a:txBody>
                  <a:tcPr/>
                </a:tc>
                <a:tc>
                  <a:txBody>
                    <a:bodyPr/>
                    <a:lstStyle/>
                    <a:p>
                      <a:pPr marL="64135" marR="1871980">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Certified</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overhead</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crane</a:t>
                      </a:r>
                      <a:r>
                        <a:rPr lang="en-US" sz="1200" spc="-4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operator</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(NYCO</a:t>
                      </a:r>
                      <a:r>
                        <a:rPr lang="en-US" sz="1200" spc="-4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Group) Certified overhead crane operator (AEC Center)</a:t>
                      </a:r>
                    </a:p>
                    <a:p>
                      <a:pPr marL="64135" marR="0">
                        <a:lnSpc>
                          <a:spcPts val="1245"/>
                        </a:lnSpc>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Certified</a:t>
                      </a:r>
                      <a:r>
                        <a:rPr lang="en-US" sz="1200" spc="-5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overhead</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crane</a:t>
                      </a:r>
                      <a:r>
                        <a:rPr lang="en-US" sz="1200" spc="-4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operator</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spc="-10" dirty="0">
                          <a:effectLst/>
                          <a:latin typeface="Inter" panose="020B0604020202020204" charset="0"/>
                          <a:ea typeface="Inter" panose="020B0604020202020204" charset="0"/>
                          <a:cs typeface="Times New Roman" panose="02020603050405020304" pitchFamily="18" charset="0"/>
                        </a:rPr>
                        <a:t>(GTSC)</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6958918"/>
                  </a:ext>
                </a:extLst>
              </a:tr>
              <a:tr h="249902">
                <a:tc rowSpan="3">
                  <a:txBody>
                    <a:bodyPr/>
                    <a:lstStyle/>
                    <a:p>
                      <a:pPr marL="0" marR="0">
                        <a:spcBef>
                          <a:spcPts val="680"/>
                        </a:spcBef>
                        <a:spcAft>
                          <a:spcPts val="0"/>
                        </a:spcAft>
                      </a:pPr>
                      <a:r>
                        <a:rPr lang="en-US" sz="1200" b="1">
                          <a:effectLst/>
                          <a:latin typeface="Inter" panose="020B0604020202020204" charset="0"/>
                          <a:ea typeface="Inter" panose="020B0604020202020204" charset="0"/>
                          <a:cs typeface="Times New Roman" panose="02020603050405020304" pitchFamily="18" charset="0"/>
                        </a:rPr>
                        <a:t> </a:t>
                      </a:r>
                      <a:endParaRPr lang="en-US" sz="1200">
                        <a:effectLst/>
                        <a:latin typeface="Inter" panose="020B0604020202020204" charset="0"/>
                        <a:ea typeface="Inter" panose="020B0604020202020204" charset="0"/>
                        <a:cs typeface="Times New Roman" panose="02020603050405020304" pitchFamily="18" charset="0"/>
                      </a:endParaRPr>
                    </a:p>
                    <a:p>
                      <a:pPr marL="67945" marR="0">
                        <a:spcBef>
                          <a:spcPts val="0"/>
                        </a:spcBef>
                        <a:spcAft>
                          <a:spcPts val="0"/>
                        </a:spcAft>
                      </a:pPr>
                      <a:r>
                        <a:rPr lang="en-US" sz="1200" b="1">
                          <a:solidFill>
                            <a:srgbClr val="000000"/>
                          </a:solidFill>
                          <a:effectLst/>
                          <a:latin typeface="Inter" panose="020B0604020202020204" charset="0"/>
                          <a:ea typeface="Inter" panose="020B0604020202020204" charset="0"/>
                          <a:cs typeface="Times New Roman" panose="02020603050405020304" pitchFamily="18" charset="0"/>
                        </a:rPr>
                        <a:t>Mobile</a:t>
                      </a:r>
                      <a:r>
                        <a:rPr lang="en-US" sz="1200" b="1"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a:solidFill>
                            <a:srgbClr val="000000"/>
                          </a:solidFill>
                          <a:effectLst/>
                          <a:latin typeface="Inter" panose="020B0604020202020204" charset="0"/>
                          <a:ea typeface="Inter" panose="020B0604020202020204" charset="0"/>
                          <a:cs typeface="Times New Roman" panose="02020603050405020304" pitchFamily="18" charset="0"/>
                        </a:rPr>
                        <a:t>Crane</a:t>
                      </a:r>
                      <a:r>
                        <a:rPr lang="en-US" sz="1200" b="1" spc="-20">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b="1" spc="-10">
                          <a:solidFill>
                            <a:srgbClr val="000000"/>
                          </a:solidFill>
                          <a:effectLst/>
                          <a:latin typeface="Inter" panose="020B0604020202020204" charset="0"/>
                          <a:ea typeface="Inter" panose="020B0604020202020204" charset="0"/>
                          <a:cs typeface="Times New Roman" panose="02020603050405020304" pitchFamily="18" charset="0"/>
                        </a:rPr>
                        <a:t>Operator</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200">
                          <a:solidFill>
                            <a:srgbClr val="000000"/>
                          </a:solidFill>
                          <a:effectLst/>
                          <a:latin typeface="Inter" panose="020B0604020202020204" charset="0"/>
                          <a:ea typeface="Inter" panose="020B0604020202020204" charset="0"/>
                          <a:cs typeface="Times New Roman" panose="02020603050405020304" pitchFamily="18" charset="0"/>
                        </a:rPr>
                        <a:t>Certified</a:t>
                      </a:r>
                      <a:r>
                        <a:rPr lang="en-US" sz="1200" spc="-4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Mobile</a:t>
                      </a:r>
                      <a:r>
                        <a:rPr lang="en-US" sz="1200" spc="-2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a:solidFill>
                            <a:srgbClr val="000000"/>
                          </a:solidFill>
                          <a:effectLst/>
                          <a:latin typeface="Inter" panose="020B0604020202020204" charset="0"/>
                          <a:ea typeface="Inter" panose="020B0604020202020204" charset="0"/>
                          <a:cs typeface="Times New Roman" panose="02020603050405020304" pitchFamily="18" charset="0"/>
                        </a:rPr>
                        <a:t>Crane</a:t>
                      </a:r>
                      <a:r>
                        <a:rPr lang="en-US" sz="1200" spc="-35">
                          <a:solidFill>
                            <a:srgbClr val="000000"/>
                          </a:solidFill>
                          <a:effectLst/>
                          <a:latin typeface="Inter" panose="020B0604020202020204" charset="0"/>
                          <a:ea typeface="Inter" panose="020B0604020202020204" charset="0"/>
                          <a:cs typeface="Times New Roman" panose="02020603050405020304" pitchFamily="18" charset="0"/>
                        </a:rPr>
                        <a:t> </a:t>
                      </a:r>
                      <a:r>
                        <a:rPr lang="en-US" sz="1200" spc="-10">
                          <a:solidFill>
                            <a:srgbClr val="000000"/>
                          </a:solidFill>
                          <a:effectLst/>
                          <a:latin typeface="Inter" panose="020B0604020202020204" charset="0"/>
                          <a:ea typeface="Inter" panose="020B0604020202020204" charset="0"/>
                          <a:cs typeface="Times New Roman" panose="02020603050405020304" pitchFamily="18" charset="0"/>
                        </a:rPr>
                        <a:t>Operator</a:t>
                      </a:r>
                      <a:endParaRPr lang="en-US" sz="120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38742492"/>
                  </a:ext>
                </a:extLst>
              </a:tr>
              <a:tr h="454591">
                <a:tc vMerge="1">
                  <a:txBody>
                    <a:bodyPr/>
                    <a:lstStyle/>
                    <a:p>
                      <a:endParaRPr lang="en-US"/>
                    </a:p>
                  </a:txBody>
                  <a:tcPr/>
                </a:tc>
                <a:tc>
                  <a:txBody>
                    <a:bodyPr/>
                    <a:lstStyle/>
                    <a:p>
                      <a:pPr marL="64135" marR="0">
                        <a:lnSpc>
                          <a:spcPts val="1340"/>
                        </a:lnSpc>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Mobile</a:t>
                      </a:r>
                      <a:r>
                        <a:rPr lang="en-US" sz="1200" spc="-3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crane</a:t>
                      </a:r>
                      <a:r>
                        <a:rPr lang="en-US" sz="1200" spc="-3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operator</a:t>
                      </a:r>
                      <a:r>
                        <a:rPr lang="en-US" sz="1200" spc="-2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(AEC</a:t>
                      </a:r>
                      <a:r>
                        <a:rPr lang="en-US" sz="1200" spc="-15" dirty="0">
                          <a:effectLst/>
                          <a:latin typeface="Inter" panose="020B0604020202020204" charset="0"/>
                          <a:ea typeface="Inter" panose="020B0604020202020204" charset="0"/>
                          <a:cs typeface="Times New Roman" panose="02020603050405020304" pitchFamily="18" charset="0"/>
                        </a:rPr>
                        <a:t> </a:t>
                      </a:r>
                      <a:r>
                        <a:rPr lang="en-US" sz="1200" spc="-10" dirty="0">
                          <a:effectLst/>
                          <a:latin typeface="Inter" panose="020B0604020202020204" charset="0"/>
                          <a:ea typeface="Inter" panose="020B0604020202020204" charset="0"/>
                          <a:cs typeface="Times New Roman" panose="02020603050405020304" pitchFamily="18" charset="0"/>
                        </a:rPr>
                        <a:t>Center)</a:t>
                      </a:r>
                      <a:endParaRPr lang="en-US" sz="1200" dirty="0">
                        <a:effectLst/>
                        <a:latin typeface="Inter" panose="020B0604020202020204" charset="0"/>
                        <a:ea typeface="Inter" panose="020B0604020202020204" charset="0"/>
                        <a:cs typeface="Times New Roman" panose="02020603050405020304" pitchFamily="18" charset="0"/>
                      </a:endParaRPr>
                    </a:p>
                    <a:p>
                      <a:pPr marL="64135" marR="0">
                        <a:lnSpc>
                          <a:spcPts val="1330"/>
                        </a:lnSpc>
                        <a:spcBef>
                          <a:spcPts val="0"/>
                        </a:spcBef>
                        <a:spcAft>
                          <a:spcPts val="0"/>
                        </a:spcAft>
                      </a:pPr>
                      <a:r>
                        <a:rPr lang="en-US" sz="1200" dirty="0">
                          <a:effectLst/>
                          <a:latin typeface="Inter" panose="020B0604020202020204" charset="0"/>
                          <a:ea typeface="Inter" panose="020B0604020202020204" charset="0"/>
                          <a:cs typeface="Times New Roman" panose="02020603050405020304" pitchFamily="18" charset="0"/>
                        </a:rPr>
                        <a:t>Certified</a:t>
                      </a:r>
                      <a:r>
                        <a:rPr lang="en-US" sz="1200" spc="-4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mobile</a:t>
                      </a:r>
                      <a:r>
                        <a:rPr lang="en-US" sz="1200" spc="-30"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crane</a:t>
                      </a:r>
                      <a:r>
                        <a:rPr lang="en-US" sz="1200" spc="-35" dirty="0">
                          <a:effectLst/>
                          <a:latin typeface="Inter" panose="020B0604020202020204" charset="0"/>
                          <a:ea typeface="Inter" panose="020B0604020202020204" charset="0"/>
                          <a:cs typeface="Times New Roman" panose="02020603050405020304" pitchFamily="18" charset="0"/>
                        </a:rPr>
                        <a:t> </a:t>
                      </a:r>
                      <a:r>
                        <a:rPr lang="en-US" sz="1200" dirty="0">
                          <a:effectLst/>
                          <a:latin typeface="Inter" panose="020B0604020202020204" charset="0"/>
                          <a:ea typeface="Inter" panose="020B0604020202020204" charset="0"/>
                          <a:cs typeface="Times New Roman" panose="02020603050405020304" pitchFamily="18" charset="0"/>
                        </a:rPr>
                        <a:t>operator</a:t>
                      </a:r>
                      <a:r>
                        <a:rPr lang="en-US" sz="1200" spc="-35" dirty="0">
                          <a:effectLst/>
                          <a:latin typeface="Inter" panose="020B0604020202020204" charset="0"/>
                          <a:ea typeface="Inter" panose="020B0604020202020204" charset="0"/>
                          <a:cs typeface="Times New Roman" panose="02020603050405020304" pitchFamily="18" charset="0"/>
                        </a:rPr>
                        <a:t> </a:t>
                      </a:r>
                      <a:r>
                        <a:rPr lang="en-US" sz="1200" spc="-10" dirty="0">
                          <a:effectLst/>
                          <a:latin typeface="Inter" panose="020B0604020202020204" charset="0"/>
                          <a:ea typeface="Inter" panose="020B0604020202020204" charset="0"/>
                          <a:cs typeface="Times New Roman" panose="02020603050405020304" pitchFamily="18" charset="0"/>
                        </a:rPr>
                        <a:t>(GTSC)</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02230906"/>
                  </a:ext>
                </a:extLst>
              </a:tr>
              <a:tr h="166875">
                <a:tc vMerge="1">
                  <a:txBody>
                    <a:bodyPr/>
                    <a:lstStyle/>
                    <a:p>
                      <a:endParaRPr lang="en-US"/>
                    </a:p>
                  </a:txBody>
                  <a:tcPr/>
                </a:tc>
                <a:tc>
                  <a:txBody>
                    <a:bodyPr/>
                    <a:lstStyle/>
                    <a:p>
                      <a:pPr marL="64135" marR="0">
                        <a:lnSpc>
                          <a:spcPts val="920"/>
                        </a:lnSpc>
                        <a:spcBef>
                          <a:spcPts val="0"/>
                        </a:spcBef>
                        <a:spcAft>
                          <a:spcPts val="0"/>
                        </a:spcAft>
                      </a:pP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*Note:</a:t>
                      </a:r>
                      <a:r>
                        <a:rPr lang="en-US" sz="1200" spc="-2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Local</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heavy</a:t>
                      </a:r>
                      <a:r>
                        <a:rPr lang="en-US" sz="1200" spc="-5"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equipment</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license</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as</a:t>
                      </a:r>
                      <a:r>
                        <a:rPr lang="en-US" sz="1200" spc="-15"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per the</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local</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regulations</a:t>
                      </a:r>
                      <a:r>
                        <a:rPr lang="en-US" sz="1200" spc="-5"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might</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a:t>
                      </a:r>
                      <a:r>
                        <a:rPr lang="en-US" sz="1200" dirty="0">
                          <a:solidFill>
                            <a:srgbClr val="FF0000"/>
                          </a:solidFill>
                          <a:effectLst/>
                          <a:latin typeface="Inter" panose="020B0604020202020204" charset="0"/>
                          <a:ea typeface="Inter" panose="020B0604020202020204" charset="0"/>
                          <a:cs typeface="Times New Roman" panose="02020603050405020304" pitchFamily="18" charset="0"/>
                        </a:rPr>
                        <a:t>be</a:t>
                      </a:r>
                      <a:r>
                        <a:rPr lang="en-US" sz="1200" spc="-10" dirty="0">
                          <a:solidFill>
                            <a:srgbClr val="FF0000"/>
                          </a:solidFill>
                          <a:effectLst/>
                          <a:latin typeface="Inter" panose="020B0604020202020204" charset="0"/>
                          <a:ea typeface="Inter" panose="020B0604020202020204" charset="0"/>
                          <a:cs typeface="Times New Roman" panose="02020603050405020304" pitchFamily="18" charset="0"/>
                        </a:rPr>
                        <a:t> needed.</a:t>
                      </a:r>
                      <a:endParaRPr lang="en-US" sz="1200" dirty="0">
                        <a:effectLst/>
                        <a:latin typeface="Inter" panose="020B0604020202020204" charset="0"/>
                        <a:ea typeface="Inter" panose="020B060402020202020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6985825"/>
                  </a:ext>
                </a:extLst>
              </a:tr>
            </a:tbl>
          </a:graphicData>
        </a:graphic>
      </p:graphicFrame>
      <p:pic>
        <p:nvPicPr>
          <p:cNvPr id="61442" name="Image 27">
            <a:extLst>
              <a:ext uri="{FF2B5EF4-FFF2-40B4-BE49-F238E27FC236}">
                <a16:creationId xmlns:a16="http://schemas.microsoft.com/office/drawing/2014/main" id="{6F8CB115-0465-4705-E79B-D38F0688D5D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43754"/>
            <a:ext cx="762000"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913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16</a:t>
            </a:fld>
            <a:endParaRPr lang="en-US" dirty="0"/>
          </a:p>
        </p:txBody>
      </p:sp>
      <p:graphicFrame>
        <p:nvGraphicFramePr>
          <p:cNvPr id="5" name="Table 4">
            <a:extLst>
              <a:ext uri="{FF2B5EF4-FFF2-40B4-BE49-F238E27FC236}">
                <a16:creationId xmlns:a16="http://schemas.microsoft.com/office/drawing/2014/main" id="{C4217448-EA36-A392-9CC6-567BA2A62BF8}"/>
              </a:ext>
            </a:extLst>
          </p:cNvPr>
          <p:cNvGraphicFramePr>
            <a:graphicFrameLocks noGrp="1"/>
          </p:cNvGraphicFramePr>
          <p:nvPr>
            <p:extLst>
              <p:ext uri="{D42A27DB-BD31-4B8C-83A1-F6EECF244321}">
                <p14:modId xmlns:p14="http://schemas.microsoft.com/office/powerpoint/2010/main" val="1415321017"/>
              </p:ext>
            </p:extLst>
          </p:nvPr>
        </p:nvGraphicFramePr>
        <p:xfrm>
          <a:off x="419100" y="992664"/>
          <a:ext cx="11430000" cy="5257799"/>
        </p:xfrm>
        <a:graphic>
          <a:graphicData uri="http://schemas.openxmlformats.org/drawingml/2006/table">
            <a:tbl>
              <a:tblPr firstRow="1" firstCol="1" lastRow="1" lastCol="1" bandRow="1" bandCol="1"/>
              <a:tblGrid>
                <a:gridCol w="2037229">
                  <a:extLst>
                    <a:ext uri="{9D8B030D-6E8A-4147-A177-3AD203B41FA5}">
                      <a16:colId xmlns:a16="http://schemas.microsoft.com/office/drawing/2014/main" val="2506315799"/>
                    </a:ext>
                  </a:extLst>
                </a:gridCol>
                <a:gridCol w="9392771">
                  <a:extLst>
                    <a:ext uri="{9D8B030D-6E8A-4147-A177-3AD203B41FA5}">
                      <a16:colId xmlns:a16="http://schemas.microsoft.com/office/drawing/2014/main" val="3936437632"/>
                    </a:ext>
                  </a:extLst>
                </a:gridCol>
              </a:tblGrid>
              <a:tr h="880471">
                <a:tc>
                  <a:txBody>
                    <a:bodyPr/>
                    <a:lstStyle/>
                    <a:p>
                      <a:pPr marL="67945" marR="0">
                        <a:spcBef>
                          <a:spcPts val="167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Kuwait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0"/>
                        </a:spcBef>
                        <a:spcAft>
                          <a:spcPts val="0"/>
                        </a:spcAft>
                      </a:pPr>
                      <a:r>
                        <a:rPr lang="en-US" sz="5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7943141"/>
                  </a:ext>
                </a:extLst>
              </a:tr>
              <a:tr h="23054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62494960"/>
                  </a:ext>
                </a:extLst>
              </a:tr>
              <a:tr h="814493">
                <a:tc vMerge="1">
                  <a:txBody>
                    <a:bodyPr/>
                    <a:lstStyle/>
                    <a:p>
                      <a:endParaRPr lang="en-US"/>
                    </a:p>
                  </a:txBody>
                  <a:tcPr/>
                </a:tc>
                <a:tc>
                  <a:txBody>
                    <a:bodyPr/>
                    <a:lstStyle/>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LLOYDS British 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3990800"/>
                  </a:ext>
                </a:extLst>
              </a:tr>
              <a:tr h="232062">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60628357"/>
                  </a:ext>
                </a:extLst>
              </a:tr>
              <a:tr h="609732">
                <a:tc vMerge="1">
                  <a:txBody>
                    <a:bodyPr/>
                    <a:lstStyle/>
                    <a:p>
                      <a:endParaRPr lang="en-US"/>
                    </a:p>
                  </a:txBody>
                  <a:tcPr/>
                </a:tc>
                <a:tc>
                  <a:txBody>
                    <a:bodyPr/>
                    <a:lstStyle/>
                    <a:p>
                      <a:pPr marL="64135" marR="230505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LLOYDS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British) TUV SUD</a:t>
                      </a:r>
                    </a:p>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7515448"/>
                  </a:ext>
                </a:extLst>
              </a:tr>
              <a:tr h="232062">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39124025"/>
                  </a:ext>
                </a:extLst>
              </a:tr>
              <a:tr h="814493">
                <a:tc vMerge="1">
                  <a:txBody>
                    <a:bodyPr/>
                    <a:lstStyle/>
                    <a:p>
                      <a:endParaRPr lang="en-US"/>
                    </a:p>
                  </a:txBody>
                  <a:tcPr/>
                </a:tc>
                <a:tc>
                  <a:txBody>
                    <a:bodyPr/>
                    <a:lstStyle/>
                    <a:p>
                      <a:pPr marL="64135" marR="2797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rigger</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(Induction</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Center) TUV</a:t>
                      </a:r>
                      <a:r>
                        <a:rPr lang="en-US" sz="1100" spc="20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5018351"/>
                  </a:ext>
                </a:extLst>
              </a:tr>
              <a:tr h="232062">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41813614"/>
                  </a:ext>
                </a:extLst>
              </a:tr>
              <a:tr h="40724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0">
                          <a:effectLst/>
                          <a:latin typeface="Calibri" panose="020F0502020204030204" pitchFamily="34" charset="0"/>
                          <a:ea typeface="Calibri" panose="020F0502020204030204" pitchFamily="34" charset="0"/>
                          <a:cs typeface="Times New Roman" panose="02020603050405020304" pitchFamily="18" charset="0"/>
                        </a:rPr>
                        <a:t> 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(Induction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center)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6380549"/>
                  </a:ext>
                </a:extLst>
              </a:tr>
              <a:tr h="230545">
                <a:tc rowSpan="3">
                  <a:txBody>
                    <a:bodyPr/>
                    <a:lstStyle/>
                    <a:p>
                      <a:pPr marL="0" marR="0">
                        <a:spcBef>
                          <a:spcPts val="68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21019936"/>
                  </a:ext>
                </a:extLst>
              </a:tr>
              <a:tr h="41938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LLOYDS</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611332553"/>
                  </a:ext>
                </a:extLst>
              </a:tr>
              <a:tr h="154708">
                <a:tc vMerge="1">
                  <a:txBody>
                    <a:bodyPr/>
                    <a:lstStyle/>
                    <a:p>
                      <a:endParaRPr lang="en-US"/>
                    </a:p>
                  </a:txBody>
                  <a:tcPr/>
                </a:tc>
                <a:tc>
                  <a:txBody>
                    <a:bodyPr/>
                    <a:lstStyle/>
                    <a:p>
                      <a:pPr marL="64135" marR="0">
                        <a:lnSpc>
                          <a:spcPts val="920"/>
                        </a:lnSpc>
                        <a:spcBef>
                          <a:spcPts val="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3504324"/>
                  </a:ext>
                </a:extLst>
              </a:tr>
            </a:tbl>
          </a:graphicData>
        </a:graphic>
      </p:graphicFrame>
      <p:pic>
        <p:nvPicPr>
          <p:cNvPr id="60418" name="Image 28">
            <a:extLst>
              <a:ext uri="{FF2B5EF4-FFF2-40B4-BE49-F238E27FC236}">
                <a16:creationId xmlns:a16="http://schemas.microsoft.com/office/drawing/2014/main" id="{B291D937-3420-1178-41AE-D69781BFAEA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85750"/>
            <a:ext cx="762000"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776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17</a:t>
            </a:fld>
            <a:endParaRPr lang="en-US" dirty="0"/>
          </a:p>
        </p:txBody>
      </p:sp>
      <p:graphicFrame>
        <p:nvGraphicFramePr>
          <p:cNvPr id="5" name="Table 4">
            <a:extLst>
              <a:ext uri="{FF2B5EF4-FFF2-40B4-BE49-F238E27FC236}">
                <a16:creationId xmlns:a16="http://schemas.microsoft.com/office/drawing/2014/main" id="{92604DAC-F03F-F6FA-79AE-DFCF61200C65}"/>
              </a:ext>
            </a:extLst>
          </p:cNvPr>
          <p:cNvGraphicFramePr>
            <a:graphicFrameLocks noGrp="1"/>
          </p:cNvGraphicFramePr>
          <p:nvPr>
            <p:extLst>
              <p:ext uri="{D42A27DB-BD31-4B8C-83A1-F6EECF244321}">
                <p14:modId xmlns:p14="http://schemas.microsoft.com/office/powerpoint/2010/main" val="3681104641"/>
              </p:ext>
            </p:extLst>
          </p:nvPr>
        </p:nvGraphicFramePr>
        <p:xfrm>
          <a:off x="419100" y="1083627"/>
          <a:ext cx="11430000" cy="4811395"/>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3795559367"/>
                    </a:ext>
                  </a:extLst>
                </a:gridCol>
                <a:gridCol w="9383806">
                  <a:extLst>
                    <a:ext uri="{9D8B030D-6E8A-4147-A177-3AD203B41FA5}">
                      <a16:colId xmlns:a16="http://schemas.microsoft.com/office/drawing/2014/main" val="3366697451"/>
                    </a:ext>
                  </a:extLst>
                </a:gridCol>
              </a:tblGrid>
              <a:tr h="692673">
                <a:tc>
                  <a:txBody>
                    <a:bodyPr/>
                    <a:lstStyle/>
                    <a:p>
                      <a:pPr marL="67945" marR="0">
                        <a:spcBef>
                          <a:spcPts val="167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Jordan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8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4208521"/>
                  </a:ext>
                </a:extLst>
              </a:tr>
              <a:tr h="298259">
                <a:tc rowSpan="2">
                  <a:txBody>
                    <a:bodyPr/>
                    <a:lstStyle/>
                    <a:p>
                      <a:pPr marL="67945" marR="0">
                        <a:spcBef>
                          <a:spcPts val="87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96881700"/>
                  </a:ext>
                </a:extLst>
              </a:tr>
              <a:tr h="298259">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for</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operation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Austria)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0023660"/>
                  </a:ext>
                </a:extLst>
              </a:tr>
              <a:tr h="300221">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76933511"/>
                  </a:ext>
                </a:extLst>
              </a:tr>
              <a:tr h="526859">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Rigger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III</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Austria)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Mercury</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782466"/>
                  </a:ext>
                </a:extLst>
              </a:tr>
              <a:tr h="300221">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42287380"/>
                  </a:ext>
                </a:extLst>
              </a:tr>
              <a:tr h="526859">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Rigger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III</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Austria)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Mercury</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1156894"/>
                  </a:ext>
                </a:extLst>
              </a:tr>
              <a:tr h="29924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3926915"/>
                  </a:ext>
                </a:extLst>
              </a:tr>
              <a:tr h="526859">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(Yousef</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Mousa</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School)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Austria)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5434320"/>
                  </a:ext>
                </a:extLst>
              </a:tr>
              <a:tr h="300221">
                <a:tc rowSpan="3">
                  <a:txBody>
                    <a:bodyPr/>
                    <a:lstStyle/>
                    <a:p>
                      <a:pPr marL="0" marR="0">
                        <a:spcBef>
                          <a:spcPts val="6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07605619"/>
                  </a:ext>
                </a:extLst>
              </a:tr>
              <a:tr h="542557">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(Yousef</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Mousa</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School)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Austria)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05217742"/>
                  </a:ext>
                </a:extLst>
              </a:tr>
              <a:tr h="199167">
                <a:tc vMerge="1">
                  <a:txBody>
                    <a:bodyPr/>
                    <a:lstStyle/>
                    <a:p>
                      <a:endParaRPr lang="en-US"/>
                    </a:p>
                  </a:txBody>
                  <a:tcPr/>
                </a:tc>
                <a:tc>
                  <a:txBody>
                    <a:bodyPr/>
                    <a:lstStyle/>
                    <a:p>
                      <a:pPr marL="64135" marR="0">
                        <a:lnSpc>
                          <a:spcPts val="920"/>
                        </a:lnSpc>
                        <a:spcBef>
                          <a:spcPts val="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 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8166990"/>
                  </a:ext>
                </a:extLst>
              </a:tr>
            </a:tbl>
          </a:graphicData>
        </a:graphic>
      </p:graphicFrame>
      <p:pic>
        <p:nvPicPr>
          <p:cNvPr id="59394" name="Image 29">
            <a:extLst>
              <a:ext uri="{FF2B5EF4-FFF2-40B4-BE49-F238E27FC236}">
                <a16:creationId xmlns:a16="http://schemas.microsoft.com/office/drawing/2014/main" id="{9BCA6FCC-14EB-8E8F-C41F-E49792B5FF2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75" y="356907"/>
            <a:ext cx="485775" cy="485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016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18</a:t>
            </a:fld>
            <a:endParaRPr lang="en-US" dirty="0"/>
          </a:p>
        </p:txBody>
      </p:sp>
      <p:graphicFrame>
        <p:nvGraphicFramePr>
          <p:cNvPr id="5" name="Table 4">
            <a:extLst>
              <a:ext uri="{FF2B5EF4-FFF2-40B4-BE49-F238E27FC236}">
                <a16:creationId xmlns:a16="http://schemas.microsoft.com/office/drawing/2014/main" id="{2E00074D-E1FB-F6D5-E975-D408AAFFC61C}"/>
              </a:ext>
            </a:extLst>
          </p:cNvPr>
          <p:cNvGraphicFramePr>
            <a:graphicFrameLocks noGrp="1"/>
          </p:cNvGraphicFramePr>
          <p:nvPr>
            <p:extLst>
              <p:ext uri="{D42A27DB-BD31-4B8C-83A1-F6EECF244321}">
                <p14:modId xmlns:p14="http://schemas.microsoft.com/office/powerpoint/2010/main" val="2806681018"/>
              </p:ext>
            </p:extLst>
          </p:nvPr>
        </p:nvGraphicFramePr>
        <p:xfrm>
          <a:off x="419100" y="1139922"/>
          <a:ext cx="11430000" cy="4578156"/>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2921031954"/>
                    </a:ext>
                  </a:extLst>
                </a:gridCol>
                <a:gridCol w="9401735">
                  <a:extLst>
                    <a:ext uri="{9D8B030D-6E8A-4147-A177-3AD203B41FA5}">
                      <a16:colId xmlns:a16="http://schemas.microsoft.com/office/drawing/2014/main" val="1310473287"/>
                    </a:ext>
                  </a:extLst>
                </a:gridCol>
              </a:tblGrid>
              <a:tr h="720749">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Yemen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55"/>
                        </a:spcBef>
                        <a:spcAft>
                          <a:spcPts val="0"/>
                        </a:spcAft>
                      </a:pPr>
                      <a:r>
                        <a:rPr lang="en-US" sz="5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6330279"/>
                  </a:ext>
                </a:extLst>
              </a:tr>
              <a:tr h="369095">
                <a:tc rowSpan="2">
                  <a:txBody>
                    <a:bodyPr/>
                    <a:lstStyle/>
                    <a:p>
                      <a:pPr marL="67945" marR="0">
                        <a:spcBef>
                          <a:spcPts val="87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96916763"/>
                  </a:ext>
                </a:extLst>
              </a:tr>
              <a:tr h="366683">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person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Almansoori</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Engineering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GTSC)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9757885"/>
                  </a:ext>
                </a:extLst>
              </a:tr>
              <a:tr h="369095">
                <a:tc rowSpan="2">
                  <a:txBody>
                    <a:bodyPr/>
                    <a:lstStyle/>
                    <a:p>
                      <a:pPr marL="67945" marR="0">
                        <a:spcBef>
                          <a:spcPts val="785"/>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37373094"/>
                  </a:ext>
                </a:extLst>
              </a:tr>
              <a:tr h="323260">
                <a:tc vMerge="1">
                  <a:txBody>
                    <a:bodyPr/>
                    <a:lstStyle/>
                    <a:p>
                      <a:endParaRPr lang="en-US"/>
                    </a:p>
                  </a:txBody>
                  <a:tcPr/>
                </a:tc>
                <a:tc>
                  <a:txBody>
                    <a:bodyPr/>
                    <a:lstStyle/>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person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Almansoori</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Engineering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GTSC)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4820494"/>
                  </a:ext>
                </a:extLst>
              </a:tr>
              <a:tr h="366683">
                <a:tc rowSpan="2">
                  <a:txBody>
                    <a:bodyPr/>
                    <a:lstStyle/>
                    <a:p>
                      <a:pPr marL="67945" marR="0">
                        <a:spcBef>
                          <a:spcPts val="87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43460947"/>
                  </a:ext>
                </a:extLst>
              </a:tr>
              <a:tr h="3690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person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Almansoori</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Engineering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GTSC)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9368177"/>
                  </a:ext>
                </a:extLst>
              </a:tr>
              <a:tr h="370302">
                <a:tc rowSpan="2">
                  <a:txBody>
                    <a:bodyPr/>
                    <a:lstStyle/>
                    <a:p>
                      <a:pPr marL="67945" marR="0">
                        <a:spcBef>
                          <a:spcPts val="88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41867857"/>
                  </a:ext>
                </a:extLst>
              </a:tr>
              <a:tr h="366683">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person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Almansoori</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Engineering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GTSC)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0301082"/>
                  </a:ext>
                </a:extLst>
              </a:tr>
              <a:tr h="369095">
                <a:tc rowSpan="3">
                  <a:txBody>
                    <a:bodyPr/>
                    <a:lstStyle/>
                    <a:p>
                      <a:pPr marL="0" marR="0">
                        <a:spcBef>
                          <a:spcPts val="2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69487854"/>
                  </a:ext>
                </a:extLst>
              </a:tr>
              <a:tr h="342559">
                <a:tc vMerge="1">
                  <a:txBody>
                    <a:bodyPr/>
                    <a:lstStyle/>
                    <a:p>
                      <a:endParaRPr lang="en-US"/>
                    </a:p>
                  </a:txBody>
                  <a:tcPr/>
                </a:tc>
                <a:tc>
                  <a:txBody>
                    <a:bodyPr/>
                    <a:lstStyle/>
                    <a:p>
                      <a:pPr marL="64135" marR="0">
                        <a:lnSpc>
                          <a:spcPts val="132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person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Almansoori</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Engineering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GTSC)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607716022"/>
                  </a:ext>
                </a:extLst>
              </a:tr>
              <a:tr h="244857">
                <a:tc vMerge="1">
                  <a:txBody>
                    <a:bodyPr/>
                    <a:lstStyle/>
                    <a:p>
                      <a:endParaRPr lang="en-US"/>
                    </a:p>
                  </a:txBody>
                  <a:tcPr/>
                </a:tc>
                <a:tc>
                  <a:txBody>
                    <a:bodyPr/>
                    <a:lstStyle/>
                    <a:p>
                      <a:pPr marL="64135" marR="0">
                        <a:lnSpc>
                          <a:spcPts val="920"/>
                        </a:lnSpc>
                        <a:spcBef>
                          <a:spcPts val="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7318050"/>
                  </a:ext>
                </a:extLst>
              </a:tr>
            </a:tbl>
          </a:graphicData>
        </a:graphic>
      </p:graphicFrame>
      <p:pic>
        <p:nvPicPr>
          <p:cNvPr id="57346" name="Image 30">
            <a:extLst>
              <a:ext uri="{FF2B5EF4-FFF2-40B4-BE49-F238E27FC236}">
                <a16:creationId xmlns:a16="http://schemas.microsoft.com/office/drawing/2014/main" id="{60BB9CE5-24F7-8000-02C5-854E215290C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79571"/>
            <a:ext cx="723900" cy="54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31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19</a:t>
            </a:fld>
            <a:endParaRPr lang="en-US" dirty="0"/>
          </a:p>
        </p:txBody>
      </p:sp>
      <p:graphicFrame>
        <p:nvGraphicFramePr>
          <p:cNvPr id="6" name="Table 5">
            <a:extLst>
              <a:ext uri="{FF2B5EF4-FFF2-40B4-BE49-F238E27FC236}">
                <a16:creationId xmlns:a16="http://schemas.microsoft.com/office/drawing/2014/main" id="{4F409A9B-4931-9C2E-B450-27546C1B326D}"/>
              </a:ext>
            </a:extLst>
          </p:cNvPr>
          <p:cNvGraphicFramePr>
            <a:graphicFrameLocks noGrp="1"/>
          </p:cNvGraphicFramePr>
          <p:nvPr>
            <p:extLst>
              <p:ext uri="{D42A27DB-BD31-4B8C-83A1-F6EECF244321}">
                <p14:modId xmlns:p14="http://schemas.microsoft.com/office/powerpoint/2010/main" val="2495353456"/>
              </p:ext>
            </p:extLst>
          </p:nvPr>
        </p:nvGraphicFramePr>
        <p:xfrm>
          <a:off x="454398" y="1139750"/>
          <a:ext cx="11430000" cy="3792220"/>
        </p:xfrm>
        <a:graphic>
          <a:graphicData uri="http://schemas.openxmlformats.org/drawingml/2006/table">
            <a:tbl>
              <a:tblPr firstRow="1" firstCol="1" lastRow="1" lastCol="1" bandRow="1" bandCol="1"/>
              <a:tblGrid>
                <a:gridCol w="2010896">
                  <a:extLst>
                    <a:ext uri="{9D8B030D-6E8A-4147-A177-3AD203B41FA5}">
                      <a16:colId xmlns:a16="http://schemas.microsoft.com/office/drawing/2014/main" val="308731646"/>
                    </a:ext>
                  </a:extLst>
                </a:gridCol>
                <a:gridCol w="9419104">
                  <a:extLst>
                    <a:ext uri="{9D8B030D-6E8A-4147-A177-3AD203B41FA5}">
                      <a16:colId xmlns:a16="http://schemas.microsoft.com/office/drawing/2014/main" val="1438512068"/>
                    </a:ext>
                  </a:extLst>
                </a:gridCol>
              </a:tblGrid>
              <a:tr h="737235">
                <a:tc>
                  <a:txBody>
                    <a:bodyPr/>
                    <a:lstStyle/>
                    <a:p>
                      <a:pPr marL="67945" marR="0">
                        <a:spcBef>
                          <a:spcPts val="1680"/>
                        </a:spcBef>
                        <a:spcAft>
                          <a:spcPts val="0"/>
                        </a:spcAft>
                      </a:pPr>
                      <a:r>
                        <a:rPr lang="en-US" sz="2000" b="1" spc="-20" dirty="0">
                          <a:effectLst/>
                          <a:latin typeface="Calibri" panose="020F0502020204030204" pitchFamily="34" charset="0"/>
                          <a:ea typeface="Calibri" panose="020F0502020204030204" pitchFamily="34" charset="0"/>
                          <a:cs typeface="Times New Roman" panose="02020603050405020304" pitchFamily="18" charset="0"/>
                        </a:rPr>
                        <a:t>Iran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5346731"/>
                  </a:ext>
                </a:extLst>
              </a:tr>
              <a:tr h="194310">
                <a:tc rowSpan="2">
                  <a:txBody>
                    <a:bodyPr/>
                    <a:lstStyle/>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24144131"/>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TÜV</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Iran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(UANI</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10">
                          <a:effectLst/>
                          <a:latin typeface="Calibri" panose="020F0502020204030204" pitchFamily="34" charset="0"/>
                          <a:ea typeface="Calibri" panose="020F0502020204030204" pitchFamily="34" charset="0"/>
                          <a:cs typeface="Times New Roman" panose="02020603050405020304" pitchFamily="18" charset="0"/>
                        </a:rPr>
                        <a:t> IFMAT)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0409058"/>
                  </a:ext>
                </a:extLst>
              </a:tr>
              <a:tr h="193040">
                <a:tc rowSpan="2">
                  <a:txBody>
                    <a:bodyPr/>
                    <a:lstStyle/>
                    <a:p>
                      <a:pPr marL="0" marR="0">
                        <a:spcBef>
                          <a:spcPts val="1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600760653"/>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TÜV</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Iran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(UANI</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10">
                          <a:effectLst/>
                          <a:latin typeface="Calibri" panose="020F0502020204030204" pitchFamily="34" charset="0"/>
                          <a:ea typeface="Calibri" panose="020F0502020204030204" pitchFamily="34" charset="0"/>
                          <a:cs typeface="Times New Roman" panose="02020603050405020304" pitchFamily="18" charset="0"/>
                        </a:rPr>
                        <a:t> IFMAT)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8094124"/>
                  </a:ext>
                </a:extLst>
              </a:tr>
              <a:tr h="194945">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014977"/>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TÜV</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Iran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(UANI</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10">
                          <a:effectLst/>
                          <a:latin typeface="Calibri" panose="020F0502020204030204" pitchFamily="34" charset="0"/>
                          <a:ea typeface="Calibri" panose="020F0502020204030204" pitchFamily="34" charset="0"/>
                          <a:cs typeface="Times New Roman" panose="02020603050405020304" pitchFamily="18" charset="0"/>
                        </a:rPr>
                        <a:t> IFMAT)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6288401"/>
                  </a:ext>
                </a:extLst>
              </a:tr>
              <a:tr h="19304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47996205"/>
                  </a:ext>
                </a:extLst>
              </a:tr>
              <a:tr h="340995">
                <a:tc vMerge="1">
                  <a:txBody>
                    <a:bodyPr/>
                    <a:lstStyle/>
                    <a:p>
                      <a:endParaRPr lang="en-US"/>
                    </a:p>
                  </a:txBody>
                  <a:tcPr/>
                </a:tc>
                <a:tc>
                  <a:txBody>
                    <a:bodyPr/>
                    <a:lstStyle/>
                    <a:p>
                      <a:pPr marL="64135" marR="0">
                        <a:lnSpc>
                          <a:spcPts val="133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TÜV</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Iran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(UANI</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10">
                          <a:effectLst/>
                          <a:latin typeface="Calibri" panose="020F0502020204030204" pitchFamily="34" charset="0"/>
                          <a:ea typeface="Calibri" panose="020F0502020204030204" pitchFamily="34" charset="0"/>
                          <a:cs typeface="Times New Roman" panose="02020603050405020304" pitchFamily="18" charset="0"/>
                        </a:rPr>
                        <a:t> IFMAT)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533123"/>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07384597"/>
                  </a:ext>
                </a:extLst>
              </a:tr>
              <a:tr h="47180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TÜV</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Iran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(UANI</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10">
                          <a:effectLst/>
                          <a:latin typeface="Calibri" panose="020F0502020204030204" pitchFamily="34" charset="0"/>
                          <a:ea typeface="Calibri" panose="020F0502020204030204" pitchFamily="34" charset="0"/>
                          <a:cs typeface="Times New Roman" panose="02020603050405020304" pitchFamily="18" charset="0"/>
                        </a:rPr>
                        <a:t> IFMAT)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062320133"/>
                  </a:ext>
                </a:extLst>
              </a:tr>
              <a:tr h="249555">
                <a:tc vMerge="1">
                  <a:txBody>
                    <a:bodyPr/>
                    <a:lstStyle/>
                    <a:p>
                      <a:endParaRPr lang="en-US"/>
                    </a:p>
                  </a:txBody>
                  <a:tcPr/>
                </a:tc>
                <a:tc>
                  <a:txBody>
                    <a:bodyPr/>
                    <a:lstStyle/>
                    <a:p>
                      <a:pPr marL="64135" marR="0">
                        <a:lnSpc>
                          <a:spcPts val="995"/>
                        </a:lnSpc>
                        <a:spcBef>
                          <a:spcPts val="87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2343658"/>
                  </a:ext>
                </a:extLst>
              </a:tr>
            </a:tbl>
          </a:graphicData>
        </a:graphic>
      </p:graphicFrame>
      <p:pic>
        <p:nvPicPr>
          <p:cNvPr id="58371" name="Image 31">
            <a:extLst>
              <a:ext uri="{FF2B5EF4-FFF2-40B4-BE49-F238E27FC236}">
                <a16:creationId xmlns:a16="http://schemas.microsoft.com/office/drawing/2014/main" id="{0A900082-4EF9-93B2-EC0B-8E6275540DB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47" y="322412"/>
            <a:ext cx="6381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149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20</a:t>
            </a:fld>
            <a:endParaRPr lang="en-US" dirty="0"/>
          </a:p>
        </p:txBody>
      </p:sp>
      <p:graphicFrame>
        <p:nvGraphicFramePr>
          <p:cNvPr id="8" name="Table 7">
            <a:extLst>
              <a:ext uri="{FF2B5EF4-FFF2-40B4-BE49-F238E27FC236}">
                <a16:creationId xmlns:a16="http://schemas.microsoft.com/office/drawing/2014/main" id="{2E56A8D3-F29B-B87B-8741-2497C1B71FDD}"/>
              </a:ext>
            </a:extLst>
          </p:cNvPr>
          <p:cNvGraphicFramePr>
            <a:graphicFrameLocks noGrp="1"/>
          </p:cNvGraphicFramePr>
          <p:nvPr>
            <p:extLst>
              <p:ext uri="{D42A27DB-BD31-4B8C-83A1-F6EECF244321}">
                <p14:modId xmlns:p14="http://schemas.microsoft.com/office/powerpoint/2010/main" val="1454965285"/>
              </p:ext>
            </p:extLst>
          </p:nvPr>
        </p:nvGraphicFramePr>
        <p:xfrm>
          <a:off x="419100" y="1166177"/>
          <a:ext cx="11430000" cy="4525645"/>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713472674"/>
                    </a:ext>
                  </a:extLst>
                </a:gridCol>
                <a:gridCol w="9410700">
                  <a:extLst>
                    <a:ext uri="{9D8B030D-6E8A-4147-A177-3AD203B41FA5}">
                      <a16:colId xmlns:a16="http://schemas.microsoft.com/office/drawing/2014/main" val="3371058510"/>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Pakistan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2360134"/>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76460479"/>
                  </a:ext>
                </a:extLst>
              </a:tr>
              <a:tr h="509905">
                <a:tc vMerge="1">
                  <a:txBody>
                    <a:bodyPr/>
                    <a:lstStyle/>
                    <a:p>
                      <a:endParaRPr lang="en-US"/>
                    </a:p>
                  </a:txBody>
                  <a:tcPr/>
                </a:tc>
                <a:tc>
                  <a:txBody>
                    <a:bodyPr/>
                    <a:lstStyle/>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Rheinland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7118981"/>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03386744"/>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7290643"/>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64024306"/>
                  </a:ext>
                </a:extLst>
              </a:tr>
              <a:tr h="51117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305050">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Rigger</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III</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(Inspire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Institute</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of</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technologies)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0367816"/>
                  </a:ext>
                </a:extLst>
              </a:tr>
              <a:tr h="191770">
                <a:tc rowSpan="2">
                  <a:txBody>
                    <a:bodyPr/>
                    <a:lstStyle/>
                    <a:p>
                      <a:pPr marL="0" marR="0">
                        <a:spcBef>
                          <a:spcPts val="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295483390"/>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MTI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782597"/>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5081094"/>
                  </a:ext>
                </a:extLst>
              </a:tr>
              <a:tr h="925195">
                <a:tc vMerge="1">
                  <a:txBody>
                    <a:bodyPr/>
                    <a:lstStyle/>
                    <a:p>
                      <a:endParaRPr lang="en-US"/>
                    </a:p>
                  </a:txBody>
                  <a:tcPr/>
                </a:tc>
                <a:tc>
                  <a:txBody>
                    <a:bodyPr/>
                    <a:lstStyle/>
                    <a:p>
                      <a:pPr marL="64135" marR="4115435"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a:effectLst/>
                          <a:latin typeface="Calibri" panose="020F0502020204030204" pitchFamily="34" charset="0"/>
                          <a:ea typeface="Calibri" panose="020F0502020204030204" pitchFamily="34" charset="0"/>
                          <a:cs typeface="Times New Roman" panose="02020603050405020304" pitchFamily="18" charset="0"/>
                        </a:rPr>
                        <a:t>PSDF</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4481830" algn="just">
                        <a:spcBef>
                          <a:spcPts val="0"/>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MTI SGS ICTE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01286728"/>
                  </a:ext>
                </a:extLst>
              </a:tr>
              <a:tr h="191135">
                <a:tc vMerge="1">
                  <a:txBody>
                    <a:bodyPr/>
                    <a:lstStyle/>
                    <a:p>
                      <a:endParaRPr lang="en-US"/>
                    </a:p>
                  </a:txBody>
                  <a:tcPr/>
                </a:tc>
                <a:tc>
                  <a:txBody>
                    <a:bodyPr/>
                    <a:lstStyle/>
                    <a:p>
                      <a:pPr marL="64135" marR="0">
                        <a:lnSpc>
                          <a:spcPts val="995"/>
                        </a:lnSpc>
                        <a:spcBef>
                          <a:spcPts val="41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7570807"/>
                  </a:ext>
                </a:extLst>
              </a:tr>
            </a:tbl>
          </a:graphicData>
        </a:graphic>
      </p:graphicFrame>
      <p:pic>
        <p:nvPicPr>
          <p:cNvPr id="56323" name="Image 32">
            <a:extLst>
              <a:ext uri="{FF2B5EF4-FFF2-40B4-BE49-F238E27FC236}">
                <a16:creationId xmlns:a16="http://schemas.microsoft.com/office/drawing/2014/main" id="{115C6A6E-ECD5-3A90-C3D0-1E6C2D332D9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329" y="319087"/>
            <a:ext cx="6381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65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21</a:t>
            </a:fld>
            <a:endParaRPr lang="en-US" dirty="0"/>
          </a:p>
        </p:txBody>
      </p:sp>
      <p:graphicFrame>
        <p:nvGraphicFramePr>
          <p:cNvPr id="5" name="Table 4">
            <a:extLst>
              <a:ext uri="{FF2B5EF4-FFF2-40B4-BE49-F238E27FC236}">
                <a16:creationId xmlns:a16="http://schemas.microsoft.com/office/drawing/2014/main" id="{5454D8B9-AD7D-EFB2-C533-E7F545F07DE5}"/>
              </a:ext>
            </a:extLst>
          </p:cNvPr>
          <p:cNvGraphicFramePr>
            <a:graphicFrameLocks noGrp="1"/>
          </p:cNvGraphicFramePr>
          <p:nvPr>
            <p:extLst>
              <p:ext uri="{D42A27DB-BD31-4B8C-83A1-F6EECF244321}">
                <p14:modId xmlns:p14="http://schemas.microsoft.com/office/powerpoint/2010/main" val="574383047"/>
              </p:ext>
            </p:extLst>
          </p:nvPr>
        </p:nvGraphicFramePr>
        <p:xfrm>
          <a:off x="419100" y="1025524"/>
          <a:ext cx="11430000" cy="4806951"/>
        </p:xfrm>
        <a:graphic>
          <a:graphicData uri="http://schemas.openxmlformats.org/drawingml/2006/table">
            <a:tbl>
              <a:tblPr firstRow="1" firstCol="1" lastRow="1" lastCol="1" bandRow="1" bandCol="1"/>
              <a:tblGrid>
                <a:gridCol w="2037229">
                  <a:extLst>
                    <a:ext uri="{9D8B030D-6E8A-4147-A177-3AD203B41FA5}">
                      <a16:colId xmlns:a16="http://schemas.microsoft.com/office/drawing/2014/main" val="4255676772"/>
                    </a:ext>
                  </a:extLst>
                </a:gridCol>
                <a:gridCol w="9392771">
                  <a:extLst>
                    <a:ext uri="{9D8B030D-6E8A-4147-A177-3AD203B41FA5}">
                      <a16:colId xmlns:a16="http://schemas.microsoft.com/office/drawing/2014/main" val="1349108141"/>
                    </a:ext>
                  </a:extLst>
                </a:gridCol>
              </a:tblGrid>
              <a:tr h="703394">
                <a:tc>
                  <a:txBody>
                    <a:bodyPr/>
                    <a:lstStyle/>
                    <a:p>
                      <a:pPr marL="67945" marR="0">
                        <a:spcBef>
                          <a:spcPts val="1680"/>
                        </a:spcBef>
                        <a:spcAft>
                          <a:spcPts val="0"/>
                        </a:spcAft>
                      </a:pPr>
                      <a:r>
                        <a:rPr lang="en-US" sz="1900" b="1" spc="-10" dirty="0">
                          <a:effectLst/>
                          <a:latin typeface="Calibri" panose="020F0502020204030204" pitchFamily="34" charset="0"/>
                          <a:ea typeface="Calibri" panose="020F0502020204030204" pitchFamily="34" charset="0"/>
                          <a:cs typeface="Times New Roman" panose="02020603050405020304" pitchFamily="18" charset="0"/>
                        </a:rPr>
                        <a:t>Ghana</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55"/>
                        </a:spcBef>
                        <a:spcAft>
                          <a:spcPts val="0"/>
                        </a:spcAft>
                      </a:pPr>
                      <a:r>
                        <a:rPr lang="en-US" sz="5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0989309"/>
                  </a:ext>
                </a:extLst>
              </a:tr>
              <a:tr h="185391">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0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52253821"/>
                  </a:ext>
                </a:extLst>
              </a:tr>
              <a:tr h="649473">
                <a:tc vMerge="1">
                  <a:txBody>
                    <a:bodyPr/>
                    <a:lstStyle/>
                    <a:p>
                      <a:endParaRPr lang="en-US"/>
                    </a:p>
                  </a:txBody>
                  <a:tcPr/>
                </a:tc>
                <a:tc>
                  <a:txBody>
                    <a:bodyPr/>
                    <a:lstStyle/>
                    <a:p>
                      <a:pPr marL="64135" marR="421767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SUD </a:t>
                      </a:r>
                      <a:r>
                        <a:rPr lang="en-US" sz="1000" spc="-10">
                          <a:effectLst/>
                          <a:latin typeface="Calibri" panose="020F0502020204030204" pitchFamily="34" charset="0"/>
                          <a:ea typeface="Calibri" panose="020F0502020204030204" pitchFamily="34" charset="0"/>
                          <a:cs typeface="Times New Roman" panose="02020603050405020304" pitchFamily="18" charset="0"/>
                        </a:rPr>
                        <a:t>LLOYDS </a:t>
                      </a:r>
                      <a:r>
                        <a:rPr lang="en-US" sz="10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0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6591594"/>
                  </a:ext>
                </a:extLst>
              </a:tr>
              <a:tr h="185391">
                <a:tc rowSpan="2">
                  <a:txBody>
                    <a:bodyPr/>
                    <a:lstStyle/>
                    <a:p>
                      <a:pPr marL="0" marR="0">
                        <a:spcBef>
                          <a:spcPts val="79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338516155"/>
                  </a:ext>
                </a:extLst>
              </a:tr>
              <a:tr h="489589">
                <a:tc vMerge="1">
                  <a:txBody>
                    <a:bodyPr/>
                    <a:lstStyle/>
                    <a:p>
                      <a:endParaRPr lang="en-US"/>
                    </a:p>
                  </a:txBody>
                  <a:tcPr/>
                </a:tc>
                <a:tc>
                  <a:txBody>
                    <a:bodyPr/>
                    <a:lstStyle/>
                    <a:p>
                      <a:pPr marL="64135" marR="0">
                        <a:lnSpc>
                          <a:spcPts val="134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10">
                          <a:effectLst/>
                          <a:latin typeface="Calibri" panose="020F0502020204030204" pitchFamily="34" charset="0"/>
                          <a:ea typeface="Calibri" panose="020F0502020204030204" pitchFamily="34" charset="0"/>
                          <a:cs typeface="Times New Roman" panose="02020603050405020304" pitchFamily="18" charset="0"/>
                        </a:rPr>
                        <a:t> </a:t>
                      </a:r>
                      <a:r>
                        <a:rPr lang="en-US" sz="10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4297045">
                        <a:lnSpc>
                          <a:spcPts val="1350"/>
                        </a:lnSpc>
                        <a:spcBef>
                          <a:spcPts val="0"/>
                        </a:spcBef>
                        <a:spcAft>
                          <a:spcPts val="0"/>
                        </a:spcAft>
                      </a:pPr>
                      <a:r>
                        <a:rPr lang="en-US" sz="1000" spc="-10">
                          <a:effectLst/>
                          <a:latin typeface="Calibri" panose="020F0502020204030204" pitchFamily="34" charset="0"/>
                          <a:ea typeface="Calibri" panose="020F0502020204030204" pitchFamily="34" charset="0"/>
                          <a:cs typeface="Times New Roman" panose="02020603050405020304" pitchFamily="18" charset="0"/>
                        </a:rPr>
                        <a:t>LLOYDS APAVE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3048638"/>
                  </a:ext>
                </a:extLst>
              </a:tr>
              <a:tr h="184785">
                <a:tc rowSpan="2">
                  <a:txBody>
                    <a:bodyPr/>
                    <a:lstStyle/>
                    <a:p>
                      <a:pPr marL="0" marR="0">
                        <a:spcBef>
                          <a:spcPts val="78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5"/>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49680809"/>
                  </a:ext>
                </a:extLst>
              </a:tr>
              <a:tr h="486499">
                <a:tc vMerge="1">
                  <a:txBody>
                    <a:bodyPr/>
                    <a:lstStyle/>
                    <a:p>
                      <a:endParaRPr lang="en-US"/>
                    </a:p>
                  </a:txBody>
                  <a:tcPr/>
                </a:tc>
                <a:tc>
                  <a:txBody>
                    <a:bodyPr/>
                    <a:lstStyle/>
                    <a:p>
                      <a:pPr marL="64135" marR="421767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SUD </a:t>
                      </a:r>
                      <a:r>
                        <a:rPr lang="en-US" sz="10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35"/>
                        </a:lnSpc>
                        <a:spcBef>
                          <a:spcPts val="0"/>
                        </a:spcBef>
                        <a:spcAft>
                          <a:spcPts val="0"/>
                        </a:spcAft>
                      </a:pPr>
                      <a:r>
                        <a:rPr lang="en-US" sz="10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6118269"/>
                  </a:ext>
                </a:extLst>
              </a:tr>
              <a:tr h="185391">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65620409"/>
                  </a:ext>
                </a:extLst>
              </a:tr>
              <a:tr h="651958">
                <a:tc vMerge="1">
                  <a:txBody>
                    <a:bodyPr/>
                    <a:lstStyle/>
                    <a:p>
                      <a:endParaRPr lang="en-US"/>
                    </a:p>
                  </a:txBody>
                  <a:tcPr/>
                </a:tc>
                <a:tc>
                  <a:txBody>
                    <a:bodyPr/>
                    <a:lstStyle/>
                    <a:p>
                      <a:pPr marL="64135" marR="421767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SUD </a:t>
                      </a:r>
                      <a:r>
                        <a:rPr lang="en-US" sz="10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4297045">
                        <a:lnSpc>
                          <a:spcPts val="1350"/>
                        </a:lnSpc>
                        <a:spcBef>
                          <a:spcPts val="0"/>
                        </a:spcBef>
                        <a:spcAft>
                          <a:spcPts val="0"/>
                        </a:spcAft>
                      </a:pPr>
                      <a:r>
                        <a:rPr lang="en-US" sz="1000" spc="-20">
                          <a:effectLst/>
                          <a:latin typeface="Calibri" panose="020F0502020204030204" pitchFamily="34" charset="0"/>
                          <a:ea typeface="Calibri" panose="020F0502020204030204" pitchFamily="34" charset="0"/>
                          <a:cs typeface="Times New Roman" panose="02020603050405020304" pitchFamily="18" charset="0"/>
                        </a:rPr>
                        <a:t>CICB </a:t>
                      </a:r>
                      <a:r>
                        <a:rPr lang="en-US" sz="10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6016905"/>
                  </a:ext>
                </a:extLst>
              </a:tr>
              <a:tr h="182967">
                <a:tc rowSpan="3">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6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3014683"/>
                  </a:ext>
                </a:extLst>
              </a:tr>
              <a:tr h="719752">
                <a:tc vMerge="1">
                  <a:txBody>
                    <a:bodyPr/>
                    <a:lstStyle/>
                    <a:p>
                      <a:endParaRPr lang="en-US"/>
                    </a:p>
                  </a:txBody>
                  <a:tcPr/>
                </a:tc>
                <a:tc>
                  <a:txBody>
                    <a:bodyPr/>
                    <a:lstStyle/>
                    <a:p>
                      <a:pPr marL="64135" marR="4217670">
                        <a:lnSpc>
                          <a:spcPct val="98000"/>
                        </a:lnSpc>
                        <a:spcBef>
                          <a:spcPts val="15"/>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SUD </a:t>
                      </a:r>
                      <a:r>
                        <a:rPr lang="en-US" sz="10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4297045">
                        <a:spcBef>
                          <a:spcPts val="10"/>
                        </a:spcBef>
                        <a:spcAft>
                          <a:spcPts val="0"/>
                        </a:spcAft>
                      </a:pPr>
                      <a:r>
                        <a:rPr lang="en-US" sz="1000" spc="-20">
                          <a:effectLst/>
                          <a:latin typeface="Calibri" panose="020F0502020204030204" pitchFamily="34" charset="0"/>
                          <a:ea typeface="Calibri" panose="020F0502020204030204" pitchFamily="34" charset="0"/>
                          <a:cs typeface="Times New Roman" panose="02020603050405020304" pitchFamily="18" charset="0"/>
                        </a:rPr>
                        <a:t>CICB </a:t>
                      </a:r>
                      <a:r>
                        <a:rPr lang="en-US" sz="10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699066371"/>
                  </a:ext>
                </a:extLst>
              </a:tr>
              <a:tr h="182361">
                <a:tc vMerge="1">
                  <a:txBody>
                    <a:bodyPr/>
                    <a:lstStyle/>
                    <a:p>
                      <a:endParaRPr lang="en-US"/>
                    </a:p>
                  </a:txBody>
                  <a:tcPr/>
                </a:tc>
                <a:tc>
                  <a:txBody>
                    <a:bodyPr/>
                    <a:lstStyle/>
                    <a:p>
                      <a:pPr marL="64135" marR="0">
                        <a:lnSpc>
                          <a:spcPts val="995"/>
                        </a:lnSpc>
                        <a:spcBef>
                          <a:spcPts val="41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6176481"/>
                  </a:ext>
                </a:extLst>
              </a:tr>
            </a:tbl>
          </a:graphicData>
        </a:graphic>
      </p:graphicFrame>
      <p:pic>
        <p:nvPicPr>
          <p:cNvPr id="63490" name="Image 33">
            <a:extLst>
              <a:ext uri="{FF2B5EF4-FFF2-40B4-BE49-F238E27FC236}">
                <a16:creationId xmlns:a16="http://schemas.microsoft.com/office/drawing/2014/main" id="{D74CF7FE-14FE-DCD9-1BA8-B1ABBF7E4FE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71462"/>
            <a:ext cx="657225" cy="54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67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22</a:t>
            </a:fld>
            <a:endParaRPr lang="en-US" dirty="0"/>
          </a:p>
        </p:txBody>
      </p:sp>
      <p:graphicFrame>
        <p:nvGraphicFramePr>
          <p:cNvPr id="5" name="Table 4">
            <a:extLst>
              <a:ext uri="{FF2B5EF4-FFF2-40B4-BE49-F238E27FC236}">
                <a16:creationId xmlns:a16="http://schemas.microsoft.com/office/drawing/2014/main" id="{07334208-C227-D857-EDC4-7D269D242919}"/>
              </a:ext>
            </a:extLst>
          </p:cNvPr>
          <p:cNvGraphicFramePr>
            <a:graphicFrameLocks noGrp="1"/>
          </p:cNvGraphicFramePr>
          <p:nvPr>
            <p:extLst>
              <p:ext uri="{D42A27DB-BD31-4B8C-83A1-F6EECF244321}">
                <p14:modId xmlns:p14="http://schemas.microsoft.com/office/powerpoint/2010/main" val="2159126017"/>
              </p:ext>
            </p:extLst>
          </p:nvPr>
        </p:nvGraphicFramePr>
        <p:xfrm>
          <a:off x="419100" y="1232796"/>
          <a:ext cx="11430000" cy="4177030"/>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295377683"/>
                    </a:ext>
                  </a:extLst>
                </a:gridCol>
                <a:gridCol w="9383806">
                  <a:extLst>
                    <a:ext uri="{9D8B030D-6E8A-4147-A177-3AD203B41FA5}">
                      <a16:colId xmlns:a16="http://schemas.microsoft.com/office/drawing/2014/main" val="2514563685"/>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Uganda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3086611"/>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26749878"/>
                  </a:ext>
                </a:extLst>
              </a:tr>
              <a:tr h="509905">
                <a:tc vMerge="1">
                  <a:txBody>
                    <a:bodyPr/>
                    <a:lstStyle/>
                    <a:p>
                      <a:endParaRPr lang="en-US"/>
                    </a:p>
                  </a:txBody>
                  <a:tcPr/>
                </a:tc>
                <a:tc>
                  <a:txBody>
                    <a:bodyPr/>
                    <a:lstStyle/>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3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854576"/>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88761818"/>
                  </a:ext>
                </a:extLst>
              </a:tr>
              <a:tr h="511810">
                <a:tc vMerge="1">
                  <a:txBody>
                    <a:bodyPr/>
                    <a:lstStyle/>
                    <a:p>
                      <a:endParaRPr lang="en-US"/>
                    </a:p>
                  </a:txBody>
                  <a:tcPr/>
                </a:tc>
                <a:tc>
                  <a:txBody>
                    <a:bodyPr/>
                    <a:lstStyle/>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8423121"/>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7243573"/>
                  </a:ext>
                </a:extLst>
              </a:tr>
              <a:tr h="511810">
                <a:tc vMerge="1">
                  <a:txBody>
                    <a:bodyPr/>
                    <a:lstStyle/>
                    <a:p>
                      <a:endParaRPr lang="en-US"/>
                    </a:p>
                  </a:txBody>
                  <a:tcPr/>
                </a:tc>
                <a:tc>
                  <a:txBody>
                    <a:bodyPr/>
                    <a:lstStyle/>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5776151"/>
                  </a:ext>
                </a:extLst>
              </a:tr>
              <a:tr h="193040">
                <a:tc rowSpan="2">
                  <a:txBody>
                    <a:bodyPr/>
                    <a:lstStyle/>
                    <a:p>
                      <a:pPr marL="0" marR="0">
                        <a:spcBef>
                          <a:spcPts val="1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61699694"/>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1601579"/>
                  </a:ext>
                </a:extLst>
              </a:tr>
              <a:tr h="194310">
                <a:tc rowSpan="3">
                  <a:txBody>
                    <a:bodyPr/>
                    <a:lstStyle/>
                    <a:p>
                      <a:pPr marL="0" marR="0">
                        <a:spcBef>
                          <a:spcPts val="114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20700164"/>
                  </a:ext>
                </a:extLst>
              </a:tr>
              <a:tr h="408305">
                <a:tc vMerge="1">
                  <a:txBody>
                    <a:bodyPr/>
                    <a:lstStyle/>
                    <a:p>
                      <a:endParaRPr lang="en-US"/>
                    </a:p>
                  </a:txBody>
                  <a:tcPr/>
                </a:tc>
                <a:tc>
                  <a:txBody>
                    <a:bodyPr/>
                    <a:lstStyle/>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853875202"/>
                  </a:ext>
                </a:extLst>
              </a:tr>
              <a:tr h="186690">
                <a:tc vMerge="1">
                  <a:txBody>
                    <a:bodyPr/>
                    <a:lstStyle/>
                    <a:p>
                      <a:endParaRPr lang="en-US"/>
                    </a:p>
                  </a:txBody>
                  <a:tcPr/>
                </a:tc>
                <a:tc>
                  <a:txBody>
                    <a:bodyPr/>
                    <a:lstStyle/>
                    <a:p>
                      <a:pPr marL="64135" marR="0">
                        <a:lnSpc>
                          <a:spcPts val="995"/>
                        </a:lnSpc>
                        <a:spcBef>
                          <a:spcPts val="375"/>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4542967"/>
                  </a:ext>
                </a:extLst>
              </a:tr>
            </a:tbl>
          </a:graphicData>
        </a:graphic>
      </p:graphicFrame>
      <p:pic>
        <p:nvPicPr>
          <p:cNvPr id="55298" name="Image 34">
            <a:extLst>
              <a:ext uri="{FF2B5EF4-FFF2-40B4-BE49-F238E27FC236}">
                <a16:creationId xmlns:a16="http://schemas.microsoft.com/office/drawing/2014/main" id="{AF6EB1EB-5026-0726-C350-7F290CED9E2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33168"/>
            <a:ext cx="6381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286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23</a:t>
            </a:fld>
            <a:endParaRPr lang="en-US" dirty="0"/>
          </a:p>
        </p:txBody>
      </p:sp>
      <p:graphicFrame>
        <p:nvGraphicFramePr>
          <p:cNvPr id="5" name="Table 4">
            <a:extLst>
              <a:ext uri="{FF2B5EF4-FFF2-40B4-BE49-F238E27FC236}">
                <a16:creationId xmlns:a16="http://schemas.microsoft.com/office/drawing/2014/main" id="{13B67BBD-C68A-4A70-9A19-854B7B865BFC}"/>
              </a:ext>
            </a:extLst>
          </p:cNvPr>
          <p:cNvGraphicFramePr>
            <a:graphicFrameLocks noGrp="1"/>
          </p:cNvGraphicFramePr>
          <p:nvPr>
            <p:extLst>
              <p:ext uri="{D42A27DB-BD31-4B8C-83A1-F6EECF244321}">
                <p14:modId xmlns:p14="http://schemas.microsoft.com/office/powerpoint/2010/main" val="349669061"/>
              </p:ext>
            </p:extLst>
          </p:nvPr>
        </p:nvGraphicFramePr>
        <p:xfrm>
          <a:off x="419100" y="1137602"/>
          <a:ext cx="11430000" cy="4582795"/>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3792679896"/>
                    </a:ext>
                  </a:extLst>
                </a:gridCol>
                <a:gridCol w="9401735">
                  <a:extLst>
                    <a:ext uri="{9D8B030D-6E8A-4147-A177-3AD203B41FA5}">
                      <a16:colId xmlns:a16="http://schemas.microsoft.com/office/drawing/2014/main" val="2623113686"/>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Zimbabwe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55"/>
                        </a:spcBef>
                        <a:spcAft>
                          <a:spcPts val="0"/>
                        </a:spcAft>
                      </a:pPr>
                      <a:r>
                        <a:rPr lang="en-US" sz="5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5199269"/>
                  </a:ext>
                </a:extLst>
              </a:tr>
              <a:tr h="194310">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853650883"/>
                  </a:ext>
                </a:extLst>
              </a:tr>
              <a:tr h="509905">
                <a:tc vMerge="1">
                  <a:txBody>
                    <a:bodyPr/>
                    <a:lstStyle/>
                    <a:p>
                      <a:endParaRPr lang="en-US"/>
                    </a:p>
                  </a:txBody>
                  <a:tcPr/>
                </a:tc>
                <a:tc>
                  <a:txBody>
                    <a:bodyPr/>
                    <a:lstStyle/>
                    <a:p>
                      <a:pPr marL="64135" marR="388874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J&amp;H</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Internationals</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Group.</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6692207"/>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40513077"/>
                  </a:ext>
                </a:extLst>
              </a:tr>
              <a:tr h="511810">
                <a:tc vMerge="1">
                  <a:txBody>
                    <a:bodyPr/>
                    <a:lstStyle/>
                    <a:p>
                      <a:endParaRPr lang="en-US"/>
                    </a:p>
                  </a:txBody>
                  <a:tcPr/>
                </a:tc>
                <a:tc>
                  <a:txBody>
                    <a:bodyPr/>
                    <a:lstStyle/>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J&amp;H</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Internationals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5081592"/>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39177754"/>
                  </a:ext>
                </a:extLst>
              </a:tr>
              <a:tr h="511810">
                <a:tc vMerge="1">
                  <a:txBody>
                    <a:bodyPr/>
                    <a:lstStyle/>
                    <a:p>
                      <a:endParaRPr lang="en-US"/>
                    </a:p>
                  </a:txBody>
                  <a:tcPr/>
                </a:tc>
                <a:tc>
                  <a:txBody>
                    <a:bodyPr/>
                    <a:lstStyle/>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J&amp;H</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Internationals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0273970"/>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6840966"/>
                  </a:ext>
                </a:extLst>
              </a:tr>
              <a:tr h="511810">
                <a:tc vMerge="1">
                  <a:txBody>
                    <a:bodyPr/>
                    <a:lstStyle/>
                    <a:p>
                      <a:endParaRPr lang="en-US"/>
                    </a:p>
                  </a:txBody>
                  <a:tcPr/>
                </a:tc>
                <a:tc>
                  <a:txBody>
                    <a:bodyPr/>
                    <a:lstStyle/>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J&amp;H</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Internationals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7729206"/>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3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04243149"/>
                  </a:ext>
                </a:extLst>
              </a:tr>
              <a:tr h="611505">
                <a:tc vMerge="1">
                  <a:txBody>
                    <a:bodyPr/>
                    <a:lstStyle/>
                    <a:p>
                      <a:endParaRPr lang="en-US"/>
                    </a:p>
                  </a:txBody>
                  <a:tcPr/>
                </a:tc>
                <a:tc>
                  <a:txBody>
                    <a:bodyPr/>
                    <a:lstStyle/>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J&amp;H</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Internationals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376007705"/>
                  </a:ext>
                </a:extLst>
              </a:tr>
              <a:tr h="218440">
                <a:tc vMerge="1">
                  <a:txBody>
                    <a:bodyPr/>
                    <a:lstStyle/>
                    <a:p>
                      <a:endParaRPr lang="en-US"/>
                    </a:p>
                  </a:txBody>
                  <a:tcPr/>
                </a:tc>
                <a:tc>
                  <a:txBody>
                    <a:bodyPr/>
                    <a:lstStyle/>
                    <a:p>
                      <a:pPr marL="64135" marR="0">
                        <a:lnSpc>
                          <a:spcPts val="995"/>
                        </a:lnSpc>
                        <a:spcBef>
                          <a:spcPts val="625"/>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7890526"/>
                  </a:ext>
                </a:extLst>
              </a:tr>
            </a:tbl>
          </a:graphicData>
        </a:graphic>
      </p:graphicFrame>
      <p:pic>
        <p:nvPicPr>
          <p:cNvPr id="54274" name="Image 35">
            <a:extLst>
              <a:ext uri="{FF2B5EF4-FFF2-40B4-BE49-F238E27FC236}">
                <a16:creationId xmlns:a16="http://schemas.microsoft.com/office/drawing/2014/main" id="{8BDCB998-FA81-FF26-B2A6-7BA60AA0101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678" y="297338"/>
            <a:ext cx="542925" cy="54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333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24</a:t>
            </a:fld>
            <a:endParaRPr lang="en-US" dirty="0"/>
          </a:p>
        </p:txBody>
      </p:sp>
      <p:graphicFrame>
        <p:nvGraphicFramePr>
          <p:cNvPr id="2" name="Table 1">
            <a:extLst>
              <a:ext uri="{FF2B5EF4-FFF2-40B4-BE49-F238E27FC236}">
                <a16:creationId xmlns:a16="http://schemas.microsoft.com/office/drawing/2014/main" id="{FC9CF83C-690A-645B-EDF9-2C0752E9F7BF}"/>
              </a:ext>
            </a:extLst>
          </p:cNvPr>
          <p:cNvGraphicFramePr>
            <a:graphicFrameLocks noGrp="1"/>
          </p:cNvGraphicFramePr>
          <p:nvPr>
            <p:extLst>
              <p:ext uri="{D42A27DB-BD31-4B8C-83A1-F6EECF244321}">
                <p14:modId xmlns:p14="http://schemas.microsoft.com/office/powerpoint/2010/main" val="1859357901"/>
              </p:ext>
            </p:extLst>
          </p:nvPr>
        </p:nvGraphicFramePr>
        <p:xfrm>
          <a:off x="419100" y="1209601"/>
          <a:ext cx="11430000" cy="3347720"/>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461923415"/>
                    </a:ext>
                  </a:extLst>
                </a:gridCol>
                <a:gridCol w="9401735">
                  <a:extLst>
                    <a:ext uri="{9D8B030D-6E8A-4147-A177-3AD203B41FA5}">
                      <a16:colId xmlns:a16="http://schemas.microsoft.com/office/drawing/2014/main" val="1887048617"/>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Rwanda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0097003"/>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77550509"/>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3855486"/>
                  </a:ext>
                </a:extLst>
              </a:tr>
              <a:tr h="193040">
                <a:tc rowSpan="2">
                  <a:txBody>
                    <a:bodyPr/>
                    <a:lstStyle/>
                    <a:p>
                      <a:pPr marL="0" marR="0">
                        <a:spcBef>
                          <a:spcPts val="1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86469989"/>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0432533"/>
                  </a:ext>
                </a:extLst>
              </a:tr>
              <a:tr h="194945">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806055559"/>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1825547"/>
                  </a:ext>
                </a:extLst>
              </a:tr>
              <a:tr h="193040">
                <a:tc rowSpan="2">
                  <a:txBody>
                    <a:bodyPr/>
                    <a:lstStyle/>
                    <a:p>
                      <a:pPr marL="67945" marR="0">
                        <a:spcBef>
                          <a:spcPts val="88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02506307"/>
                  </a:ext>
                </a:extLst>
              </a:tr>
              <a:tr h="194310">
                <a:tc vMerge="1">
                  <a:txBody>
                    <a:bodyPr/>
                    <a:lstStyle/>
                    <a:p>
                      <a:endParaRPr lang="en-US"/>
                    </a:p>
                  </a:txBody>
                  <a:tcPr/>
                </a:tc>
                <a:tc>
                  <a:txBody>
                    <a:bodyPr/>
                    <a:lstStyle/>
                    <a:p>
                      <a:pPr marL="64135" marR="0">
                        <a:spcBef>
                          <a:spcPts val="5"/>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5789999"/>
                  </a:ext>
                </a:extLst>
              </a:tr>
              <a:tr h="194310">
                <a:tc rowSpan="3">
                  <a:txBody>
                    <a:bodyPr/>
                    <a:lstStyle/>
                    <a:p>
                      <a:pPr marL="0" marR="0">
                        <a:spcBef>
                          <a:spcPts val="46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93172749"/>
                  </a:ext>
                </a:extLst>
              </a:tr>
              <a:tr h="237490">
                <a:tc vMerge="1">
                  <a:txBody>
                    <a:bodyPr/>
                    <a:lstStyle/>
                    <a:p>
                      <a:endParaRPr lang="en-US"/>
                    </a:p>
                  </a:txBody>
                  <a:tcPr/>
                </a:tc>
                <a:tc>
                  <a:txBody>
                    <a:bodyPr/>
                    <a:lstStyle/>
                    <a:p>
                      <a:pPr marL="64135" marR="0">
                        <a:lnSpc>
                          <a:spcPts val="1340"/>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73247168"/>
                  </a:ext>
                </a:extLst>
              </a:tr>
              <a:tr h="186055">
                <a:tc vMerge="1">
                  <a:txBody>
                    <a:bodyPr/>
                    <a:lstStyle/>
                    <a:p>
                      <a:endParaRPr lang="en-US"/>
                    </a:p>
                  </a:txBody>
                  <a:tcPr/>
                </a:tc>
                <a:tc>
                  <a:txBody>
                    <a:bodyPr/>
                    <a:lstStyle/>
                    <a:p>
                      <a:pPr marL="64135" marR="0">
                        <a:lnSpc>
                          <a:spcPts val="995"/>
                        </a:lnSpc>
                        <a:spcBef>
                          <a:spcPts val="37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150849"/>
                  </a:ext>
                </a:extLst>
              </a:tr>
            </a:tbl>
          </a:graphicData>
        </a:graphic>
      </p:graphicFrame>
      <p:pic>
        <p:nvPicPr>
          <p:cNvPr id="53249" name="Image 36">
            <a:extLst>
              <a:ext uri="{FF2B5EF4-FFF2-40B4-BE49-F238E27FC236}">
                <a16:creationId xmlns:a16="http://schemas.microsoft.com/office/drawing/2014/main" id="{D98F611D-B4A2-F3FA-1F26-24040BC1616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421341"/>
            <a:ext cx="619125" cy="60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050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25</a:t>
            </a:fld>
            <a:endParaRPr lang="en-US" dirty="0"/>
          </a:p>
        </p:txBody>
      </p:sp>
      <p:graphicFrame>
        <p:nvGraphicFramePr>
          <p:cNvPr id="2" name="Table 1">
            <a:extLst>
              <a:ext uri="{FF2B5EF4-FFF2-40B4-BE49-F238E27FC236}">
                <a16:creationId xmlns:a16="http://schemas.microsoft.com/office/drawing/2014/main" id="{62C2F0D9-5EFE-2F02-E1D3-2D7BBFDE2DA2}"/>
              </a:ext>
            </a:extLst>
          </p:cNvPr>
          <p:cNvGraphicFramePr>
            <a:graphicFrameLocks noGrp="1"/>
          </p:cNvGraphicFramePr>
          <p:nvPr>
            <p:extLst>
              <p:ext uri="{D42A27DB-BD31-4B8C-83A1-F6EECF244321}">
                <p14:modId xmlns:p14="http://schemas.microsoft.com/office/powerpoint/2010/main" val="1790610568"/>
              </p:ext>
            </p:extLst>
          </p:nvPr>
        </p:nvGraphicFramePr>
        <p:xfrm>
          <a:off x="419100" y="1246511"/>
          <a:ext cx="11430000" cy="4061460"/>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335761814"/>
                    </a:ext>
                  </a:extLst>
                </a:gridCol>
                <a:gridCol w="9383806">
                  <a:extLst>
                    <a:ext uri="{9D8B030D-6E8A-4147-A177-3AD203B41FA5}">
                      <a16:colId xmlns:a16="http://schemas.microsoft.com/office/drawing/2014/main" val="3477991368"/>
                    </a:ext>
                  </a:extLst>
                </a:gridCol>
              </a:tblGrid>
              <a:tr h="737235">
                <a:tc>
                  <a:txBody>
                    <a:bodyPr/>
                    <a:lstStyle/>
                    <a:p>
                      <a:pPr marL="67945" marR="0">
                        <a:spcBef>
                          <a:spcPts val="168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South </a:t>
                      </a: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Africa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6581527"/>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46001242"/>
                  </a:ext>
                </a:extLst>
              </a:tr>
              <a:tr h="509905">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3138501"/>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543345629"/>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3200100"/>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97648032"/>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2526547"/>
                  </a:ext>
                </a:extLst>
              </a:tr>
              <a:tr h="191770">
                <a:tc rowSpan="2">
                  <a:txBody>
                    <a:bodyPr/>
                    <a:lstStyle/>
                    <a:p>
                      <a:pPr marL="0" marR="0">
                        <a:spcBef>
                          <a:spcPts val="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58990167"/>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0586351"/>
                  </a:ext>
                </a:extLst>
              </a:tr>
              <a:tr h="194310">
                <a:tc rowSpan="3">
                  <a:txBody>
                    <a:bodyPr/>
                    <a:lstStyle/>
                    <a:p>
                      <a:pPr marL="0" marR="0">
                        <a:spcBef>
                          <a:spcPts val="6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83255184"/>
                  </a:ext>
                </a:extLst>
              </a:tr>
              <a:tr h="35052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25"/>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72336878"/>
                  </a:ext>
                </a:extLst>
              </a:tr>
              <a:tr h="130175">
                <a:tc vMerge="1">
                  <a:txBody>
                    <a:bodyPr/>
                    <a:lstStyle/>
                    <a:p>
                      <a:endParaRPr lang="en-US"/>
                    </a:p>
                  </a:txBody>
                  <a:tcPr/>
                </a:tc>
                <a:tc>
                  <a:txBody>
                    <a:bodyPr/>
                    <a:lstStyle/>
                    <a:p>
                      <a:pPr marL="64135" marR="0">
                        <a:lnSpc>
                          <a:spcPts val="925"/>
                        </a:lnSpc>
                        <a:spcBef>
                          <a:spcPts val="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9802171"/>
                  </a:ext>
                </a:extLst>
              </a:tr>
            </a:tbl>
          </a:graphicData>
        </a:graphic>
      </p:graphicFrame>
      <p:pic>
        <p:nvPicPr>
          <p:cNvPr id="52225" name="Image 37">
            <a:extLst>
              <a:ext uri="{FF2B5EF4-FFF2-40B4-BE49-F238E27FC236}">
                <a16:creationId xmlns:a16="http://schemas.microsoft.com/office/drawing/2014/main" id="{2D53AF9C-9259-83CD-E25A-48BA0F97BBD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117" y="334972"/>
            <a:ext cx="7429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934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26</a:t>
            </a:fld>
            <a:endParaRPr lang="en-US" dirty="0"/>
          </a:p>
        </p:txBody>
      </p:sp>
      <p:graphicFrame>
        <p:nvGraphicFramePr>
          <p:cNvPr id="2" name="Table 1">
            <a:extLst>
              <a:ext uri="{FF2B5EF4-FFF2-40B4-BE49-F238E27FC236}">
                <a16:creationId xmlns:a16="http://schemas.microsoft.com/office/drawing/2014/main" id="{7ADF0417-4351-3BDE-9E3D-C8041E6C0527}"/>
              </a:ext>
            </a:extLst>
          </p:cNvPr>
          <p:cNvGraphicFramePr>
            <a:graphicFrameLocks noGrp="1"/>
          </p:cNvGraphicFramePr>
          <p:nvPr>
            <p:extLst>
              <p:ext uri="{D42A27DB-BD31-4B8C-83A1-F6EECF244321}">
                <p14:modId xmlns:p14="http://schemas.microsoft.com/office/powerpoint/2010/main" val="2345662460"/>
              </p:ext>
            </p:extLst>
          </p:nvPr>
        </p:nvGraphicFramePr>
        <p:xfrm>
          <a:off x="381000" y="1174283"/>
          <a:ext cx="11430000" cy="4895913"/>
        </p:xfrm>
        <a:graphic>
          <a:graphicData uri="http://schemas.openxmlformats.org/drawingml/2006/table">
            <a:tbl>
              <a:tblPr firstRow="1" firstCol="1" lastRow="1" lastCol="1" bandRow="1" bandCol="1"/>
              <a:tblGrid>
                <a:gridCol w="2093259">
                  <a:extLst>
                    <a:ext uri="{9D8B030D-6E8A-4147-A177-3AD203B41FA5}">
                      <a16:colId xmlns:a16="http://schemas.microsoft.com/office/drawing/2014/main" val="177291615"/>
                    </a:ext>
                  </a:extLst>
                </a:gridCol>
                <a:gridCol w="9336741">
                  <a:extLst>
                    <a:ext uri="{9D8B030D-6E8A-4147-A177-3AD203B41FA5}">
                      <a16:colId xmlns:a16="http://schemas.microsoft.com/office/drawing/2014/main" val="2476616386"/>
                    </a:ext>
                  </a:extLst>
                </a:gridCol>
              </a:tblGrid>
              <a:tr h="557641">
                <a:tc>
                  <a:txBody>
                    <a:bodyPr/>
                    <a:lstStyle/>
                    <a:p>
                      <a:pPr marL="67945" marR="0">
                        <a:spcBef>
                          <a:spcPts val="1680"/>
                        </a:spcBef>
                        <a:spcAft>
                          <a:spcPts val="0"/>
                        </a:spcAft>
                      </a:pPr>
                      <a:r>
                        <a:rPr lang="en-US" sz="1500" b="1" spc="-10" dirty="0">
                          <a:effectLst/>
                          <a:latin typeface="Calibri" panose="020F0502020204030204" pitchFamily="34" charset="0"/>
                          <a:ea typeface="Calibri" panose="020F0502020204030204" pitchFamily="34" charset="0"/>
                          <a:cs typeface="Times New Roman" panose="02020603050405020304" pitchFamily="18" charset="0"/>
                        </a:rPr>
                        <a:t>Nigeria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4089075"/>
                  </a:ext>
                </a:extLst>
              </a:tr>
              <a:tr h="14697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8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8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8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8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60185407"/>
                  </a:ext>
                </a:extLst>
              </a:tr>
              <a:tr h="772820">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ct val="98000"/>
                        </a:lnSpc>
                        <a:spcBef>
                          <a:spcPts val="1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Bureau Veritas</a:t>
                      </a:r>
                    </a:p>
                    <a:p>
                      <a:pPr marL="64135" marR="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JC</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International</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2546985">
                        <a:lnSpc>
                          <a:spcPts val="135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Global</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and</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engineering</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(LEEA)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CICB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6912183"/>
                  </a:ext>
                </a:extLst>
              </a:tr>
              <a:tr h="14697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30211468"/>
                  </a:ext>
                </a:extLst>
              </a:tr>
              <a:tr h="644097">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37305"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JC</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International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0410324"/>
                  </a:ext>
                </a:extLst>
              </a:tr>
              <a:tr h="146975">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39613326"/>
                  </a:ext>
                </a:extLst>
              </a:tr>
              <a:tr h="903465">
                <a:tc vMerge="1">
                  <a:txBody>
                    <a:bodyPr/>
                    <a:lstStyle/>
                    <a:p>
                      <a:endParaRPr lang="en-US"/>
                    </a:p>
                  </a:txBody>
                  <a:tcPr/>
                </a:tc>
                <a:tc>
                  <a:txBody>
                    <a:bodyPr/>
                    <a:lstStyle/>
                    <a:p>
                      <a:pPr marL="64135" marR="0" algn="just">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37305" algn="just">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Bureau Veritas JC</a:t>
                      </a:r>
                      <a:r>
                        <a:rPr lang="en-US" sz="11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International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AP</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gear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LTD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2894965">
                        <a:lnSpc>
                          <a:spcPts val="135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Global</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and</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engineering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CICB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2848422"/>
                  </a:ext>
                </a:extLst>
              </a:tr>
              <a:tr h="145534">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80014719"/>
                  </a:ext>
                </a:extLst>
              </a:tr>
              <a:tr h="515854">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3667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JC</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International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0" dirty="0">
                          <a:effectLst/>
                          <a:latin typeface="Calibri" panose="020F0502020204030204" pitchFamily="34" charset="0"/>
                          <a:ea typeface="Calibri" panose="020F0502020204030204" pitchFamily="34" charset="0"/>
                          <a:cs typeface="Times New Roman" panose="02020603050405020304" pitchFamily="18" charset="0"/>
                        </a:rPr>
                        <a:t>CICB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8951453"/>
                  </a:ext>
                </a:extLst>
              </a:tr>
              <a:tr h="146975">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9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30783915"/>
                  </a:ext>
                </a:extLst>
              </a:tr>
              <a:tr h="552357">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3667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JC</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International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spc="-20" dirty="0">
                          <a:effectLst/>
                          <a:latin typeface="Calibri" panose="020F0502020204030204" pitchFamily="34" charset="0"/>
                          <a:ea typeface="Calibri" panose="020F0502020204030204" pitchFamily="34" charset="0"/>
                          <a:cs typeface="Times New Roman" panose="02020603050405020304" pitchFamily="18" charset="0"/>
                        </a:rPr>
                        <a:t>CICB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76760602"/>
                  </a:ext>
                </a:extLst>
              </a:tr>
              <a:tr h="127282">
                <a:tc vMerge="1">
                  <a:txBody>
                    <a:bodyPr/>
                    <a:lstStyle/>
                    <a:p>
                      <a:endParaRPr lang="en-US"/>
                    </a:p>
                  </a:txBody>
                  <a:tcPr/>
                </a:tc>
                <a:tc>
                  <a:txBody>
                    <a:bodyPr/>
                    <a:lstStyle/>
                    <a:p>
                      <a:pPr marL="64135" marR="0">
                        <a:lnSpc>
                          <a:spcPts val="995"/>
                        </a:lnSpc>
                        <a:spcBef>
                          <a:spcPts val="23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3871756"/>
                  </a:ext>
                </a:extLst>
              </a:tr>
            </a:tbl>
          </a:graphicData>
        </a:graphic>
      </p:graphicFrame>
      <p:pic>
        <p:nvPicPr>
          <p:cNvPr id="51201" name="Image 38">
            <a:extLst>
              <a:ext uri="{FF2B5EF4-FFF2-40B4-BE49-F238E27FC236}">
                <a16:creationId xmlns:a16="http://schemas.microsoft.com/office/drawing/2014/main" id="{A166B638-C612-AF14-02AF-4D5325CA3D6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388" y="336456"/>
            <a:ext cx="6381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979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27</a:t>
            </a:fld>
            <a:endParaRPr lang="en-US" dirty="0"/>
          </a:p>
        </p:txBody>
      </p:sp>
      <p:graphicFrame>
        <p:nvGraphicFramePr>
          <p:cNvPr id="5" name="Table 4">
            <a:extLst>
              <a:ext uri="{FF2B5EF4-FFF2-40B4-BE49-F238E27FC236}">
                <a16:creationId xmlns:a16="http://schemas.microsoft.com/office/drawing/2014/main" id="{86777A29-6F42-DD18-5103-111F6C13C58B}"/>
              </a:ext>
            </a:extLst>
          </p:cNvPr>
          <p:cNvGraphicFramePr>
            <a:graphicFrameLocks noGrp="1"/>
          </p:cNvGraphicFramePr>
          <p:nvPr>
            <p:extLst>
              <p:ext uri="{D42A27DB-BD31-4B8C-83A1-F6EECF244321}">
                <p14:modId xmlns:p14="http://schemas.microsoft.com/office/powerpoint/2010/main" val="3682527548"/>
              </p:ext>
            </p:extLst>
          </p:nvPr>
        </p:nvGraphicFramePr>
        <p:xfrm>
          <a:off x="419100" y="1250001"/>
          <a:ext cx="11430000" cy="4473575"/>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2670702269"/>
                    </a:ext>
                  </a:extLst>
                </a:gridCol>
                <a:gridCol w="9410700">
                  <a:extLst>
                    <a:ext uri="{9D8B030D-6E8A-4147-A177-3AD203B41FA5}">
                      <a16:colId xmlns:a16="http://schemas.microsoft.com/office/drawing/2014/main" val="1743448407"/>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Kenya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5977514"/>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35161578"/>
                  </a:ext>
                </a:extLst>
              </a:tr>
              <a:tr h="509905">
                <a:tc vMerge="1">
                  <a:txBody>
                    <a:bodyPr/>
                    <a:lstStyle/>
                    <a:p>
                      <a:endParaRPr lang="en-US"/>
                    </a:p>
                  </a:txBody>
                  <a:tcPr/>
                </a:tc>
                <a:tc>
                  <a:txBody>
                    <a:bodyPr/>
                    <a:lstStyle/>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171214"/>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20832524"/>
                  </a:ext>
                </a:extLst>
              </a:tr>
              <a:tr h="511810">
                <a:tc vMerge="1">
                  <a:txBody>
                    <a:bodyPr/>
                    <a:lstStyle/>
                    <a:p>
                      <a:endParaRPr lang="en-US"/>
                    </a:p>
                  </a:txBody>
                  <a:tcPr/>
                </a:tc>
                <a:tc>
                  <a:txBody>
                    <a:bodyPr/>
                    <a:lstStyle/>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7189900"/>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368315530"/>
                  </a:ext>
                </a:extLst>
              </a:tr>
              <a:tr h="511810">
                <a:tc vMerge="1">
                  <a:txBody>
                    <a:bodyPr/>
                    <a:lstStyle/>
                    <a:p>
                      <a:endParaRPr lang="en-US"/>
                    </a:p>
                  </a:txBody>
                  <a:tcPr/>
                </a:tc>
                <a:tc>
                  <a:txBody>
                    <a:bodyPr/>
                    <a:lstStyle/>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0073131"/>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91095439"/>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79920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753922"/>
                  </a:ext>
                </a:extLst>
              </a:tr>
              <a:tr h="19304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274342614"/>
                  </a:ext>
                </a:extLst>
              </a:tr>
              <a:tr h="55753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411202967"/>
                  </a:ext>
                </a:extLst>
              </a:tr>
              <a:tr h="164465">
                <a:tc vMerge="1">
                  <a:txBody>
                    <a:bodyPr/>
                    <a:lstStyle/>
                    <a:p>
                      <a:endParaRPr lang="en-US"/>
                    </a:p>
                  </a:txBody>
                  <a:tcPr/>
                </a:tc>
                <a:tc>
                  <a:txBody>
                    <a:bodyPr/>
                    <a:lstStyle/>
                    <a:p>
                      <a:pPr marL="64135" marR="0">
                        <a:lnSpc>
                          <a:spcPts val="995"/>
                        </a:lnSpc>
                        <a:spcBef>
                          <a:spcPts val="20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6634267"/>
                  </a:ext>
                </a:extLst>
              </a:tr>
            </a:tbl>
          </a:graphicData>
        </a:graphic>
      </p:graphicFrame>
      <p:pic>
        <p:nvPicPr>
          <p:cNvPr id="50178" name="Image 39">
            <a:extLst>
              <a:ext uri="{FF2B5EF4-FFF2-40B4-BE49-F238E27FC236}">
                <a16:creationId xmlns:a16="http://schemas.microsoft.com/office/drawing/2014/main" id="{CF87E8E4-3A49-5A96-52BE-47E21718FED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541" y="384649"/>
            <a:ext cx="6381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173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28</a:t>
            </a:fld>
            <a:endParaRPr lang="en-US" dirty="0"/>
          </a:p>
        </p:txBody>
      </p:sp>
      <p:graphicFrame>
        <p:nvGraphicFramePr>
          <p:cNvPr id="5" name="Table 4">
            <a:extLst>
              <a:ext uri="{FF2B5EF4-FFF2-40B4-BE49-F238E27FC236}">
                <a16:creationId xmlns:a16="http://schemas.microsoft.com/office/drawing/2014/main" id="{6FE975AC-0AC1-A75A-7F4E-5B59EEC9B8B4}"/>
              </a:ext>
            </a:extLst>
          </p:cNvPr>
          <p:cNvGraphicFramePr>
            <a:graphicFrameLocks noGrp="1"/>
          </p:cNvGraphicFramePr>
          <p:nvPr>
            <p:extLst>
              <p:ext uri="{D42A27DB-BD31-4B8C-83A1-F6EECF244321}">
                <p14:modId xmlns:p14="http://schemas.microsoft.com/office/powerpoint/2010/main" val="1161022640"/>
              </p:ext>
            </p:extLst>
          </p:nvPr>
        </p:nvGraphicFramePr>
        <p:xfrm>
          <a:off x="419100" y="1160155"/>
          <a:ext cx="11430000" cy="4302125"/>
        </p:xfrm>
        <a:graphic>
          <a:graphicData uri="http://schemas.openxmlformats.org/drawingml/2006/table">
            <a:tbl>
              <a:tblPr firstRow="1" firstCol="1" lastRow="1" lastCol="1" bandRow="1" bandCol="1"/>
              <a:tblGrid>
                <a:gridCol w="5715000">
                  <a:extLst>
                    <a:ext uri="{9D8B030D-6E8A-4147-A177-3AD203B41FA5}">
                      <a16:colId xmlns:a16="http://schemas.microsoft.com/office/drawing/2014/main" val="2231341602"/>
                    </a:ext>
                  </a:extLst>
                </a:gridCol>
                <a:gridCol w="5715000">
                  <a:extLst>
                    <a:ext uri="{9D8B030D-6E8A-4147-A177-3AD203B41FA5}">
                      <a16:colId xmlns:a16="http://schemas.microsoft.com/office/drawing/2014/main" val="1582713568"/>
                    </a:ext>
                  </a:extLst>
                </a:gridCol>
              </a:tblGrid>
              <a:tr h="737235">
                <a:tc>
                  <a:txBody>
                    <a:bodyPr/>
                    <a:lstStyle/>
                    <a:p>
                      <a:pPr marL="67945" marR="0">
                        <a:spcBef>
                          <a:spcPts val="168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Côte</a:t>
                      </a:r>
                      <a:r>
                        <a:rPr lang="en-US" sz="2000" b="1"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d'Ivoire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7539715"/>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47489136"/>
                  </a:ext>
                </a:extLst>
              </a:tr>
              <a:tr h="50990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3427744"/>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79717684"/>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8942396"/>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83915949"/>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88740">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400157"/>
                  </a:ext>
                </a:extLst>
              </a:tr>
              <a:tr h="191770">
                <a:tc rowSpan="2">
                  <a:txBody>
                    <a:bodyPr/>
                    <a:lstStyle/>
                    <a:p>
                      <a:pPr marL="0" marR="0">
                        <a:spcBef>
                          <a:spcPts val="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33633994"/>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0926985"/>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137254481"/>
                  </a:ext>
                </a:extLst>
              </a:tr>
              <a:tr h="471805">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999806894"/>
                  </a:ext>
                </a:extLst>
              </a:tr>
              <a:tr h="249555">
                <a:tc vMerge="1">
                  <a:txBody>
                    <a:bodyPr/>
                    <a:lstStyle/>
                    <a:p>
                      <a:endParaRPr lang="en-US"/>
                    </a:p>
                  </a:txBody>
                  <a:tcPr/>
                </a:tc>
                <a:tc>
                  <a:txBody>
                    <a:bodyPr/>
                    <a:lstStyle/>
                    <a:p>
                      <a:pPr marL="64135" marR="0">
                        <a:lnSpc>
                          <a:spcPts val="995"/>
                        </a:lnSpc>
                        <a:spcBef>
                          <a:spcPts val="87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7570541"/>
                  </a:ext>
                </a:extLst>
              </a:tr>
            </a:tbl>
          </a:graphicData>
        </a:graphic>
      </p:graphicFrame>
      <p:pic>
        <p:nvPicPr>
          <p:cNvPr id="49154" name="Image 40">
            <a:extLst>
              <a:ext uri="{FF2B5EF4-FFF2-40B4-BE49-F238E27FC236}">
                <a16:creationId xmlns:a16="http://schemas.microsoft.com/office/drawing/2014/main" id="{3D010C64-9E91-DD14-394F-DCAA39E91BE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7715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517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29</a:t>
            </a:fld>
            <a:endParaRPr lang="en-US" dirty="0"/>
          </a:p>
        </p:txBody>
      </p:sp>
      <p:graphicFrame>
        <p:nvGraphicFramePr>
          <p:cNvPr id="5" name="Table 4">
            <a:extLst>
              <a:ext uri="{FF2B5EF4-FFF2-40B4-BE49-F238E27FC236}">
                <a16:creationId xmlns:a16="http://schemas.microsoft.com/office/drawing/2014/main" id="{DB900D43-A773-E637-0D5D-73545CAEC6C0}"/>
              </a:ext>
            </a:extLst>
          </p:cNvPr>
          <p:cNvGraphicFramePr>
            <a:graphicFrameLocks noGrp="1"/>
          </p:cNvGraphicFramePr>
          <p:nvPr>
            <p:extLst>
              <p:ext uri="{D42A27DB-BD31-4B8C-83A1-F6EECF244321}">
                <p14:modId xmlns:p14="http://schemas.microsoft.com/office/powerpoint/2010/main" val="2798985727"/>
              </p:ext>
            </p:extLst>
          </p:nvPr>
        </p:nvGraphicFramePr>
        <p:xfrm>
          <a:off x="419100" y="1195666"/>
          <a:ext cx="11430000" cy="3792220"/>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265648586"/>
                    </a:ext>
                  </a:extLst>
                </a:gridCol>
                <a:gridCol w="9401735">
                  <a:extLst>
                    <a:ext uri="{9D8B030D-6E8A-4147-A177-3AD203B41FA5}">
                      <a16:colId xmlns:a16="http://schemas.microsoft.com/office/drawing/2014/main" val="2459232692"/>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Cameroon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3261072"/>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98289435"/>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3914992"/>
                  </a:ext>
                </a:extLst>
              </a:tr>
              <a:tr h="193040">
                <a:tc rowSpan="2">
                  <a:txBody>
                    <a:bodyPr/>
                    <a:lstStyle/>
                    <a:p>
                      <a:pPr marL="0" marR="0">
                        <a:spcBef>
                          <a:spcPts val="1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26073846"/>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796703"/>
                  </a:ext>
                </a:extLst>
              </a:tr>
              <a:tr h="194945">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72121741"/>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2800"/>
                  </a:ext>
                </a:extLst>
              </a:tr>
              <a:tr h="19304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81347948"/>
                  </a:ext>
                </a:extLst>
              </a:tr>
              <a:tr h="340995">
                <a:tc vMerge="1">
                  <a:txBody>
                    <a:bodyPr/>
                    <a:lstStyle/>
                    <a:p>
                      <a:endParaRPr lang="en-US"/>
                    </a:p>
                  </a:txBody>
                  <a:tcPr/>
                </a:tc>
                <a:tc>
                  <a:txBody>
                    <a:bodyPr/>
                    <a:lstStyle/>
                    <a:p>
                      <a:pPr marL="64135" marR="0">
                        <a:lnSpc>
                          <a:spcPts val="133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0826053"/>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800815"/>
                  </a:ext>
                </a:extLst>
              </a:tr>
              <a:tr h="471805">
                <a:tc vMerge="1">
                  <a:txBody>
                    <a:bodyPr/>
                    <a:lstStyle/>
                    <a:p>
                      <a:endParaRPr lang="en-US"/>
                    </a:p>
                  </a:txBody>
                  <a:tcPr/>
                </a:tc>
                <a:tc>
                  <a:txBody>
                    <a:bodyPr/>
                    <a:lstStyle/>
                    <a:p>
                      <a:pPr marL="64135" marR="42176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349213044"/>
                  </a:ext>
                </a:extLst>
              </a:tr>
              <a:tr h="249555">
                <a:tc vMerge="1">
                  <a:txBody>
                    <a:bodyPr/>
                    <a:lstStyle/>
                    <a:p>
                      <a:endParaRPr lang="en-US"/>
                    </a:p>
                  </a:txBody>
                  <a:tcPr/>
                </a:tc>
                <a:tc>
                  <a:txBody>
                    <a:bodyPr/>
                    <a:lstStyle/>
                    <a:p>
                      <a:pPr marL="64135" marR="0">
                        <a:lnSpc>
                          <a:spcPts val="995"/>
                        </a:lnSpc>
                        <a:spcBef>
                          <a:spcPts val="87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8348762"/>
                  </a:ext>
                </a:extLst>
              </a:tr>
            </a:tbl>
          </a:graphicData>
        </a:graphic>
      </p:graphicFrame>
      <p:pic>
        <p:nvPicPr>
          <p:cNvPr id="48130" name="Image 41">
            <a:extLst>
              <a:ext uri="{FF2B5EF4-FFF2-40B4-BE49-F238E27FC236}">
                <a16:creationId xmlns:a16="http://schemas.microsoft.com/office/drawing/2014/main" id="{E80C4C2E-9865-C081-F7A9-4F9D072A569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7715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406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30</a:t>
            </a:fld>
            <a:endParaRPr lang="en-US" dirty="0"/>
          </a:p>
        </p:txBody>
      </p:sp>
      <p:graphicFrame>
        <p:nvGraphicFramePr>
          <p:cNvPr id="5" name="Table 4">
            <a:extLst>
              <a:ext uri="{FF2B5EF4-FFF2-40B4-BE49-F238E27FC236}">
                <a16:creationId xmlns:a16="http://schemas.microsoft.com/office/drawing/2014/main" id="{FAE3DC2A-CF98-7096-4519-E16422AC333D}"/>
              </a:ext>
            </a:extLst>
          </p:cNvPr>
          <p:cNvGraphicFramePr>
            <a:graphicFrameLocks noGrp="1"/>
          </p:cNvGraphicFramePr>
          <p:nvPr>
            <p:extLst>
              <p:ext uri="{D42A27DB-BD31-4B8C-83A1-F6EECF244321}">
                <p14:modId xmlns:p14="http://schemas.microsoft.com/office/powerpoint/2010/main" val="2858142454"/>
              </p:ext>
            </p:extLst>
          </p:nvPr>
        </p:nvGraphicFramePr>
        <p:xfrm>
          <a:off x="419100" y="1192212"/>
          <a:ext cx="11430000" cy="4473575"/>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380088695"/>
                    </a:ext>
                  </a:extLst>
                </a:gridCol>
                <a:gridCol w="9410700">
                  <a:extLst>
                    <a:ext uri="{9D8B030D-6E8A-4147-A177-3AD203B41FA5}">
                      <a16:colId xmlns:a16="http://schemas.microsoft.com/office/drawing/2014/main" val="3952494731"/>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Angola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2981654"/>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55470485"/>
                  </a:ext>
                </a:extLst>
              </a:tr>
              <a:tr h="509905">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3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6148185"/>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1198896"/>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3128114"/>
                  </a:ext>
                </a:extLst>
              </a:tr>
              <a:tr h="194310">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75909607"/>
                  </a:ext>
                </a:extLst>
              </a:tr>
              <a:tr h="68072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2670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Sparrows</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 Bureau Veritas</a:t>
                      </a:r>
                    </a:p>
                    <a:p>
                      <a:pPr marL="64135" marR="0">
                        <a:lnSpc>
                          <a:spcPts val="123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9605405"/>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82825950"/>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Sparrows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8451915"/>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3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82627969"/>
                  </a:ext>
                </a:extLst>
              </a:tr>
              <a:tr h="471805">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Sparrows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51705784"/>
                  </a:ext>
                </a:extLst>
              </a:tr>
              <a:tr h="249555">
                <a:tc vMerge="1">
                  <a:txBody>
                    <a:bodyPr/>
                    <a:lstStyle/>
                    <a:p>
                      <a:endParaRPr lang="en-US"/>
                    </a:p>
                  </a:txBody>
                  <a:tcPr/>
                </a:tc>
                <a:tc>
                  <a:txBody>
                    <a:bodyPr/>
                    <a:lstStyle/>
                    <a:p>
                      <a:pPr marL="64135" marR="0">
                        <a:lnSpc>
                          <a:spcPts val="995"/>
                        </a:lnSpc>
                        <a:spcBef>
                          <a:spcPts val="87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8086415"/>
                  </a:ext>
                </a:extLst>
              </a:tr>
            </a:tbl>
          </a:graphicData>
        </a:graphic>
      </p:graphicFrame>
      <p:pic>
        <p:nvPicPr>
          <p:cNvPr id="47106" name="Image 42">
            <a:extLst>
              <a:ext uri="{FF2B5EF4-FFF2-40B4-BE49-F238E27FC236}">
                <a16:creationId xmlns:a16="http://schemas.microsoft.com/office/drawing/2014/main" id="{3D355F0B-D083-05C9-9FDB-B2B037C404D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77018"/>
            <a:ext cx="666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807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31</a:t>
            </a:fld>
            <a:endParaRPr lang="en-US" dirty="0"/>
          </a:p>
        </p:txBody>
      </p:sp>
      <p:graphicFrame>
        <p:nvGraphicFramePr>
          <p:cNvPr id="5" name="Table 4">
            <a:extLst>
              <a:ext uri="{FF2B5EF4-FFF2-40B4-BE49-F238E27FC236}">
                <a16:creationId xmlns:a16="http://schemas.microsoft.com/office/drawing/2014/main" id="{737AB1D1-B117-0465-E64B-A17A5AEF054E}"/>
              </a:ext>
            </a:extLst>
          </p:cNvPr>
          <p:cNvGraphicFramePr>
            <a:graphicFrameLocks noGrp="1"/>
          </p:cNvGraphicFramePr>
          <p:nvPr>
            <p:extLst>
              <p:ext uri="{D42A27DB-BD31-4B8C-83A1-F6EECF244321}">
                <p14:modId xmlns:p14="http://schemas.microsoft.com/office/powerpoint/2010/main" val="1359610216"/>
              </p:ext>
            </p:extLst>
          </p:nvPr>
        </p:nvGraphicFramePr>
        <p:xfrm>
          <a:off x="419100" y="1176467"/>
          <a:ext cx="11430000" cy="4303395"/>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4017596313"/>
                    </a:ext>
                  </a:extLst>
                </a:gridCol>
                <a:gridCol w="9383806">
                  <a:extLst>
                    <a:ext uri="{9D8B030D-6E8A-4147-A177-3AD203B41FA5}">
                      <a16:colId xmlns:a16="http://schemas.microsoft.com/office/drawing/2014/main" val="2879715701"/>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Tanzania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0384737"/>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40949747"/>
                  </a:ext>
                </a:extLst>
              </a:tr>
              <a:tr h="509905">
                <a:tc vMerge="1">
                  <a:txBody>
                    <a:bodyPr/>
                    <a:lstStyle/>
                    <a:p>
                      <a:endParaRPr lang="en-US"/>
                    </a:p>
                  </a:txBody>
                  <a:tcPr/>
                </a:tc>
                <a:tc>
                  <a:txBody>
                    <a:bodyPr/>
                    <a:lstStyle/>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Rheinland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8985193"/>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70228981"/>
                  </a:ext>
                </a:extLst>
              </a:tr>
              <a:tr h="511810">
                <a:tc vMerge="1">
                  <a:txBody>
                    <a:bodyPr/>
                    <a:lstStyle/>
                    <a:p>
                      <a:endParaRPr lang="en-US"/>
                    </a:p>
                  </a:txBody>
                  <a:tcPr/>
                </a:tc>
                <a:tc>
                  <a:txBody>
                    <a:bodyPr/>
                    <a:lstStyle/>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Rheinland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2384226"/>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50368068"/>
                  </a:ext>
                </a:extLst>
              </a:tr>
              <a:tr h="511810">
                <a:tc vMerge="1">
                  <a:txBody>
                    <a:bodyPr/>
                    <a:lstStyle/>
                    <a:p>
                      <a:endParaRPr lang="en-US"/>
                    </a:p>
                  </a:txBody>
                  <a:tcPr/>
                </a:tc>
                <a:tc>
                  <a:txBody>
                    <a:bodyPr/>
                    <a:lstStyle/>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Rheinland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5576759"/>
                  </a:ext>
                </a:extLst>
              </a:tr>
              <a:tr h="193040">
                <a:tc rowSpan="2">
                  <a:txBody>
                    <a:bodyPr/>
                    <a:lstStyle/>
                    <a:p>
                      <a:pPr marL="0" marR="0">
                        <a:spcBef>
                          <a:spcPts val="1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5744744"/>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6440073"/>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81540914"/>
                  </a:ext>
                </a:extLst>
              </a:tr>
              <a:tr h="471805">
                <a:tc vMerge="1">
                  <a:txBody>
                    <a:bodyPr/>
                    <a:lstStyle/>
                    <a:p>
                      <a:endParaRPr lang="en-US"/>
                    </a:p>
                  </a:txBody>
                  <a:tcPr/>
                </a:tc>
                <a:tc>
                  <a:txBody>
                    <a:bodyPr/>
                    <a:lstStyle/>
                    <a:p>
                      <a:pPr marL="64135" marR="37992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Mainport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410324543"/>
                  </a:ext>
                </a:extLst>
              </a:tr>
              <a:tr h="249555">
                <a:tc vMerge="1">
                  <a:txBody>
                    <a:bodyPr/>
                    <a:lstStyle/>
                    <a:p>
                      <a:endParaRPr lang="en-US"/>
                    </a:p>
                  </a:txBody>
                  <a:tcPr/>
                </a:tc>
                <a:tc>
                  <a:txBody>
                    <a:bodyPr/>
                    <a:lstStyle/>
                    <a:p>
                      <a:pPr marL="64135" marR="0">
                        <a:lnSpc>
                          <a:spcPts val="995"/>
                        </a:lnSpc>
                        <a:spcBef>
                          <a:spcPts val="87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7721580"/>
                  </a:ext>
                </a:extLst>
              </a:tr>
            </a:tbl>
          </a:graphicData>
        </a:graphic>
      </p:graphicFrame>
      <p:pic>
        <p:nvPicPr>
          <p:cNvPr id="46082" name="Image 43">
            <a:extLst>
              <a:ext uri="{FF2B5EF4-FFF2-40B4-BE49-F238E27FC236}">
                <a16:creationId xmlns:a16="http://schemas.microsoft.com/office/drawing/2014/main" id="{AC0DEA78-C4A6-FA49-F888-62301E9790B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710" y="293874"/>
            <a:ext cx="7715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116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DC47A73-6951-CED1-CDAF-4F900BFC56CC}"/>
              </a:ext>
            </a:extLst>
          </p:cNvPr>
          <p:cNvSpPr>
            <a:spLocks noGrp="1"/>
          </p:cNvSpPr>
          <p:nvPr>
            <p:ph type="ftr" sz="quarter" idx="11"/>
          </p:nvPr>
        </p:nvSpPr>
        <p:spPr/>
        <p:txBody>
          <a:bodyPr/>
          <a:lstStyle/>
          <a:p>
            <a:r>
              <a:rPr lang="en-US" dirty="0"/>
              <a:t>© 2024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a:xfrm>
            <a:off x="520571" y="3188556"/>
            <a:ext cx="10706100" cy="849437"/>
          </a:xfrm>
        </p:spPr>
        <p:txBody>
          <a:bodyPr/>
          <a:lstStyle/>
          <a:p>
            <a:r>
              <a:rPr lang="en-US" dirty="0"/>
              <a:t>APAC</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a:xfrm>
            <a:off x="596771" y="4037993"/>
            <a:ext cx="10706100" cy="974725"/>
          </a:xfrm>
        </p:spPr>
        <p:txBody>
          <a:bodyPr/>
          <a:lstStyle/>
          <a:p>
            <a:r>
              <a:rPr lang="en-US" dirty="0"/>
              <a:t>OFS Lifting Teams</a:t>
            </a:r>
          </a:p>
        </p:txBody>
      </p:sp>
      <p:pic>
        <p:nvPicPr>
          <p:cNvPr id="6" name="Picture 5">
            <a:extLst>
              <a:ext uri="{FF2B5EF4-FFF2-40B4-BE49-F238E27FC236}">
                <a16:creationId xmlns:a16="http://schemas.microsoft.com/office/drawing/2014/main" id="{FA410493-A3BC-F3AB-C495-58395F4131FF}"/>
              </a:ext>
            </a:extLst>
          </p:cNvPr>
          <p:cNvPicPr>
            <a:picLocks noChangeAspect="1"/>
          </p:cNvPicPr>
          <p:nvPr/>
        </p:nvPicPr>
        <p:blipFill rotWithShape="1">
          <a:blip r:embed="rId2"/>
          <a:srcRect l="-489" r="40101"/>
          <a:stretch/>
        </p:blipFill>
        <p:spPr>
          <a:xfrm>
            <a:off x="5156200" y="2883149"/>
            <a:ext cx="7035800" cy="3974851"/>
          </a:xfrm>
          <a:prstGeom prst="rect">
            <a:avLst/>
          </a:prstGeom>
        </p:spPr>
      </p:pic>
    </p:spTree>
    <p:extLst>
      <p:ext uri="{BB962C8B-B14F-4D97-AF65-F5344CB8AC3E}">
        <p14:creationId xmlns:p14="http://schemas.microsoft.com/office/powerpoint/2010/main" val="2728065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33</a:t>
            </a:fld>
            <a:endParaRPr lang="en-US" dirty="0"/>
          </a:p>
        </p:txBody>
      </p:sp>
      <p:graphicFrame>
        <p:nvGraphicFramePr>
          <p:cNvPr id="5" name="Table 4">
            <a:extLst>
              <a:ext uri="{FF2B5EF4-FFF2-40B4-BE49-F238E27FC236}">
                <a16:creationId xmlns:a16="http://schemas.microsoft.com/office/drawing/2014/main" id="{F0CC2F22-F820-EB27-CE48-918508BFDEE8}"/>
              </a:ext>
            </a:extLst>
          </p:cNvPr>
          <p:cNvGraphicFramePr>
            <a:graphicFrameLocks noGrp="1"/>
          </p:cNvGraphicFramePr>
          <p:nvPr>
            <p:extLst>
              <p:ext uri="{D42A27DB-BD31-4B8C-83A1-F6EECF244321}">
                <p14:modId xmlns:p14="http://schemas.microsoft.com/office/powerpoint/2010/main" val="409014534"/>
              </p:ext>
            </p:extLst>
          </p:nvPr>
        </p:nvGraphicFramePr>
        <p:xfrm>
          <a:off x="419100" y="1039412"/>
          <a:ext cx="11430000" cy="4811161"/>
        </p:xfrm>
        <a:graphic>
          <a:graphicData uri="http://schemas.openxmlformats.org/drawingml/2006/table">
            <a:tbl>
              <a:tblPr firstRow="1" firstCol="1" lastRow="1" lastCol="1" bandRow="1" bandCol="1"/>
              <a:tblGrid>
                <a:gridCol w="2037229">
                  <a:extLst>
                    <a:ext uri="{9D8B030D-6E8A-4147-A177-3AD203B41FA5}">
                      <a16:colId xmlns:a16="http://schemas.microsoft.com/office/drawing/2014/main" val="1172726691"/>
                    </a:ext>
                  </a:extLst>
                </a:gridCol>
                <a:gridCol w="5581428">
                  <a:extLst>
                    <a:ext uri="{9D8B030D-6E8A-4147-A177-3AD203B41FA5}">
                      <a16:colId xmlns:a16="http://schemas.microsoft.com/office/drawing/2014/main" val="1773881817"/>
                    </a:ext>
                  </a:extLst>
                </a:gridCol>
                <a:gridCol w="3811343">
                  <a:extLst>
                    <a:ext uri="{9D8B030D-6E8A-4147-A177-3AD203B41FA5}">
                      <a16:colId xmlns:a16="http://schemas.microsoft.com/office/drawing/2014/main" val="4273032960"/>
                    </a:ext>
                  </a:extLst>
                </a:gridCol>
              </a:tblGrid>
              <a:tr h="583889">
                <a:tc>
                  <a:txBody>
                    <a:bodyPr/>
                    <a:lstStyle/>
                    <a:p>
                      <a:pPr marL="67945" marR="0">
                        <a:spcBef>
                          <a:spcPts val="1680"/>
                        </a:spcBef>
                        <a:spcAft>
                          <a:spcPts val="0"/>
                        </a:spcAft>
                      </a:pPr>
                      <a:r>
                        <a:rPr lang="en-US" sz="1600" b="1" spc="-10" dirty="0">
                          <a:effectLst/>
                          <a:latin typeface="Calibri" panose="020F0502020204030204" pitchFamily="34" charset="0"/>
                          <a:ea typeface="Calibri" panose="020F0502020204030204" pitchFamily="34" charset="0"/>
                          <a:cs typeface="Times New Roman" panose="02020603050405020304" pitchFamily="18" charset="0"/>
                        </a:rPr>
                        <a:t>India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2444781"/>
                  </a:ext>
                </a:extLst>
              </a:tr>
              <a:tr h="153893">
                <a:tc rowSpan="2">
                  <a:txBody>
                    <a:bodyPr/>
                    <a:lstStyle/>
                    <a:p>
                      <a:pPr marL="0" marR="0">
                        <a:spcBef>
                          <a:spcPts val="0"/>
                        </a:spcBef>
                        <a:spcAft>
                          <a:spcPts val="0"/>
                        </a:spcAft>
                      </a:pPr>
                      <a:r>
                        <a:rPr lang="en-US" sz="9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9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9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1756212196"/>
                  </a:ext>
                </a:extLst>
              </a:tr>
              <a:tr h="674414">
                <a:tc vMerge="1">
                  <a:txBody>
                    <a:bodyPr/>
                    <a:lstStyle/>
                    <a:p>
                      <a:endParaRPr lang="en-US"/>
                    </a:p>
                  </a:txBody>
                  <a:tcPr/>
                </a:tc>
                <a:tc gridSpan="2">
                  <a:txBody>
                    <a:bodyPr/>
                    <a:lstStyle/>
                    <a:p>
                      <a:pPr marL="64135" marR="2940685">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LEEA</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person</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(GSS) TUV</a:t>
                      </a:r>
                      <a:r>
                        <a:rPr lang="en-US" sz="900" spc="20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Rheinland</a:t>
                      </a:r>
                    </a:p>
                    <a:p>
                      <a:pPr marL="64135" marR="0">
                        <a:lnSpc>
                          <a:spcPts val="133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3888105">
                        <a:lnSpc>
                          <a:spcPts val="135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Bureau</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Veritas </a:t>
                      </a:r>
                      <a:r>
                        <a:rPr lang="en-US" sz="9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89401375"/>
                  </a:ext>
                </a:extLst>
              </a:tr>
              <a:tr h="152887">
                <a:tc rowSpan="2">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75"/>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4171749672"/>
                  </a:ext>
                </a:extLst>
              </a:tr>
              <a:tr h="541191">
                <a:tc vMerge="1">
                  <a:txBody>
                    <a:bodyPr/>
                    <a:lstStyle/>
                    <a:p>
                      <a:endParaRPr lang="en-US"/>
                    </a:p>
                  </a:txBody>
                  <a:tcPr/>
                </a:tc>
                <a:tc gridSpan="2">
                  <a:txBody>
                    <a:bodyPr/>
                    <a:lstStyle/>
                    <a:p>
                      <a:pPr marL="64135" marR="2940685">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LEEA</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lifting</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supervisor</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(GSS) TUV</a:t>
                      </a:r>
                      <a:r>
                        <a:rPr lang="en-US" sz="900" spc="20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Rheinland</a:t>
                      </a:r>
                    </a:p>
                    <a:p>
                      <a:pPr marL="64135" marR="4112260">
                        <a:lnSpc>
                          <a:spcPts val="135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NORD </a:t>
                      </a:r>
                      <a:r>
                        <a:rPr lang="en-US" sz="9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992784265"/>
                  </a:ext>
                </a:extLst>
              </a:tr>
              <a:tr h="151882">
                <a:tc rowSpan="2">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65"/>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lnSpc>
                          <a:spcPts val="1330"/>
                        </a:lnSpc>
                        <a:spcBef>
                          <a:spcPts val="8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2203255871"/>
                  </a:ext>
                </a:extLst>
              </a:tr>
              <a:tr h="945990">
                <a:tc vMerge="1">
                  <a:txBody>
                    <a:bodyPr/>
                    <a:lstStyle/>
                    <a:p>
                      <a:endParaRPr lang="en-US"/>
                    </a:p>
                  </a:txBody>
                  <a:tcPr/>
                </a:tc>
                <a:tc>
                  <a:txBody>
                    <a:bodyPr/>
                    <a:lstStyle/>
                    <a:p>
                      <a:pPr marL="64135" marR="171069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NORD </a:t>
                      </a:r>
                      <a:r>
                        <a:rPr lang="en-US" sz="900" spc="-20">
                          <a:effectLst/>
                          <a:latin typeface="Calibri" panose="020F0502020204030204" pitchFamily="34" charset="0"/>
                          <a:ea typeface="Calibri" panose="020F0502020204030204" pitchFamily="34" charset="0"/>
                          <a:cs typeface="Times New Roman" panose="02020603050405020304" pitchFamily="18" charset="0"/>
                        </a:rPr>
                        <a:t>BIST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151257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Niile</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Solutions SRM Institute</a:t>
                      </a:r>
                    </a:p>
                    <a:p>
                      <a:pPr marL="64135" marR="81661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Mahatma</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Gandhi</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Institute </a:t>
                      </a:r>
                      <a:r>
                        <a:rPr lang="en-US" sz="900" spc="-20">
                          <a:effectLst/>
                          <a:latin typeface="Calibri" panose="020F0502020204030204" pitchFamily="34" charset="0"/>
                          <a:ea typeface="Calibri" panose="020F0502020204030204" pitchFamily="34" charset="0"/>
                          <a:cs typeface="Times New Roman" panose="02020603050405020304" pitchFamily="18" charset="0"/>
                        </a:rPr>
                        <a:t>ISM</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900" spc="-20">
                          <a:effectLst/>
                          <a:latin typeface="Calibri" panose="020F0502020204030204" pitchFamily="34" charset="0"/>
                          <a:ea typeface="Calibri" panose="020F0502020204030204" pitchFamily="34" charset="0"/>
                          <a:cs typeface="Times New Roman" panose="02020603050405020304" pitchFamily="18" charset="0"/>
                        </a:rPr>
                        <a:t>AISM</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1209675">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Euro</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Gulf</a:t>
                      </a:r>
                      <a:r>
                        <a:rPr lang="en-US" sz="900" spc="-5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HSE</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India Ameen EHS Hub ASHE Institute Infonix Educare </a:t>
                      </a:r>
                      <a:r>
                        <a:rPr lang="en-US" sz="900" spc="-20">
                          <a:effectLst/>
                          <a:latin typeface="Calibri" panose="020F0502020204030204" pitchFamily="34" charset="0"/>
                          <a:ea typeface="Calibri" panose="020F0502020204030204" pitchFamily="34" charset="0"/>
                          <a:cs typeface="Times New Roman" panose="02020603050405020304" pitchFamily="18" charset="0"/>
                        </a:rPr>
                        <a:t>NIST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8580" marR="0">
                        <a:lnSpc>
                          <a:spcPts val="135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AIMS</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Technical</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Management</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Institute Maersk Training</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7396385"/>
                  </a:ext>
                </a:extLst>
              </a:tr>
              <a:tr h="151882">
                <a:tc rowSpan="2">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lnSpc>
                          <a:spcPts val="1330"/>
                        </a:lnSpc>
                        <a:spcBef>
                          <a:spcPts val="85"/>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9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1652401803"/>
                  </a:ext>
                </a:extLst>
              </a:tr>
              <a:tr h="540135">
                <a:tc vMerge="1">
                  <a:txBody>
                    <a:bodyPr/>
                    <a:lstStyle/>
                    <a:p>
                      <a:endParaRPr lang="en-US"/>
                    </a:p>
                  </a:txBody>
                  <a:tcPr/>
                </a:tc>
                <a:tc gridSpan="2">
                  <a:txBody>
                    <a:bodyPr/>
                    <a:lstStyle/>
                    <a:p>
                      <a:pPr marL="64135" marR="3657600">
                        <a:lnSpc>
                          <a:spcPct val="98000"/>
                        </a:lnSpc>
                        <a:spcBef>
                          <a:spcPts val="15"/>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7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spcBef>
                          <a:spcPts val="1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Bharat</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Technical</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Institute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Central</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staff</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training</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and</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research</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institute</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(NSQF</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spc="-25">
                          <a:effectLst/>
                          <a:latin typeface="Calibri" panose="020F0502020204030204" pitchFamily="34" charset="0"/>
                          <a:ea typeface="Calibri" panose="020F0502020204030204" pitchFamily="34" charset="0"/>
                          <a:cs typeface="Times New Roman" panose="02020603050405020304" pitchFamily="18" charset="0"/>
                        </a:rPr>
                        <a:t>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272793558"/>
                  </a:ext>
                </a:extLst>
              </a:tr>
              <a:tr h="153893">
                <a:tc rowSpan="3">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2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305774463"/>
                  </a:ext>
                </a:extLst>
              </a:tr>
              <a:tr h="601491">
                <a:tc vMerge="1">
                  <a:txBody>
                    <a:bodyPr/>
                    <a:lstStyle/>
                    <a:p>
                      <a:endParaRPr lang="en-US"/>
                    </a:p>
                  </a:txBody>
                  <a:tcPr/>
                </a:tc>
                <a:tc>
                  <a:txBody>
                    <a:bodyPr/>
                    <a:lstStyle/>
                    <a:p>
                      <a:pPr marL="64135" marR="89535">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Rashtriya</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Technical</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Institute</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(RTI) Bharat Technical Institute</a:t>
                      </a:r>
                    </a:p>
                    <a:p>
                      <a:pPr marL="64135" marR="1449705">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7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Rheinland TUV NORD</a:t>
                      </a: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227555543"/>
                  </a:ext>
                </a:extLst>
              </a:tr>
              <a:tr h="155402">
                <a:tc vMerge="1">
                  <a:txBody>
                    <a:bodyPr/>
                    <a:lstStyle/>
                    <a:p>
                      <a:endParaRPr lang="en-US"/>
                    </a:p>
                  </a:txBody>
                  <a:tcPr/>
                </a:tc>
                <a:tc gridSpan="2">
                  <a:txBody>
                    <a:bodyPr/>
                    <a:lstStyle/>
                    <a:p>
                      <a:pPr marL="64135" marR="0">
                        <a:lnSpc>
                          <a:spcPts val="995"/>
                        </a:lnSpc>
                        <a:spcBef>
                          <a:spcPts val="450"/>
                        </a:spcBef>
                        <a:spcAft>
                          <a:spcPts val="0"/>
                        </a:spcAft>
                      </a:pP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7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7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7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444615150"/>
                  </a:ext>
                </a:extLst>
              </a:tr>
            </a:tbl>
          </a:graphicData>
        </a:graphic>
      </p:graphicFrame>
      <p:pic>
        <p:nvPicPr>
          <p:cNvPr id="45058" name="Image 49">
            <a:extLst>
              <a:ext uri="{FF2B5EF4-FFF2-40B4-BE49-F238E27FC236}">
                <a16:creationId xmlns:a16="http://schemas.microsoft.com/office/drawing/2014/main" id="{EDC21EF7-E7C4-1E68-6259-92DAC881878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48313"/>
            <a:ext cx="7429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171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34</a:t>
            </a:fld>
            <a:endParaRPr lang="en-US" dirty="0"/>
          </a:p>
        </p:txBody>
      </p:sp>
      <p:graphicFrame>
        <p:nvGraphicFramePr>
          <p:cNvPr id="5" name="Table 4">
            <a:extLst>
              <a:ext uri="{FF2B5EF4-FFF2-40B4-BE49-F238E27FC236}">
                <a16:creationId xmlns:a16="http://schemas.microsoft.com/office/drawing/2014/main" id="{3E58A6AD-8413-3939-4E43-60970D6661D1}"/>
              </a:ext>
            </a:extLst>
          </p:cNvPr>
          <p:cNvGraphicFramePr>
            <a:graphicFrameLocks noGrp="1"/>
          </p:cNvGraphicFramePr>
          <p:nvPr>
            <p:extLst>
              <p:ext uri="{D42A27DB-BD31-4B8C-83A1-F6EECF244321}">
                <p14:modId xmlns:p14="http://schemas.microsoft.com/office/powerpoint/2010/main" val="1170035767"/>
              </p:ext>
            </p:extLst>
          </p:nvPr>
        </p:nvGraphicFramePr>
        <p:xfrm>
          <a:off x="419100" y="1249773"/>
          <a:ext cx="11430000" cy="3841115"/>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649440201"/>
                    </a:ext>
                  </a:extLst>
                </a:gridCol>
                <a:gridCol w="9383806">
                  <a:extLst>
                    <a:ext uri="{9D8B030D-6E8A-4147-A177-3AD203B41FA5}">
                      <a16:colId xmlns:a16="http://schemas.microsoft.com/office/drawing/2014/main" val="4157984341"/>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Azerbaijan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2709"/>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50665362"/>
                  </a:ext>
                </a:extLst>
              </a:tr>
              <a:tr h="509905">
                <a:tc vMerge="1">
                  <a:txBody>
                    <a:bodyPr/>
                    <a:lstStyle/>
                    <a:p>
                      <a:endParaRPr lang="en-US"/>
                    </a:p>
                  </a:txBody>
                  <a:tcPr/>
                </a:tc>
                <a:tc>
                  <a:txBody>
                    <a:bodyPr/>
                    <a:lstStyle/>
                    <a:p>
                      <a:pPr marL="64135" marR="187198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LEEA</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person</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(ORCA</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Center) LEEA Appointed person (TCS Training Center)</a:t>
                      </a:r>
                    </a:p>
                    <a:p>
                      <a:pPr marL="64135" marR="0">
                        <a:lnSpc>
                          <a:spcPts val="12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7278820"/>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27705097"/>
                  </a:ext>
                </a:extLst>
              </a:tr>
              <a:tr h="511810">
                <a:tc vMerge="1">
                  <a:txBody>
                    <a:bodyPr/>
                    <a:lstStyle/>
                    <a:p>
                      <a:endParaRPr lang="en-US"/>
                    </a:p>
                  </a:txBody>
                  <a:tcPr/>
                </a:tc>
                <a:tc>
                  <a:txBody>
                    <a:bodyPr/>
                    <a:lstStyle/>
                    <a:p>
                      <a:pPr marL="64135" marR="230505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 rigger (ORCA Training Center) Certified</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Rigger</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III</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(TCS</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Center)</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2321862"/>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8326301"/>
                  </a:ext>
                </a:extLst>
              </a:tr>
              <a:tr h="511810">
                <a:tc vMerge="1">
                  <a:txBody>
                    <a:bodyPr/>
                    <a:lstStyle/>
                    <a:p>
                      <a:endParaRPr lang="en-US"/>
                    </a:p>
                  </a:txBody>
                  <a:tcPr/>
                </a:tc>
                <a:tc>
                  <a:txBody>
                    <a:bodyPr/>
                    <a:lstStyle/>
                    <a:p>
                      <a:pPr marL="64135" marR="7766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II</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Site</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(ORCA</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Center) LEEA lifting/rigging supervisor (TCS Training Center)</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9078696"/>
                  </a:ext>
                </a:extLst>
              </a:tr>
              <a:tr h="193040">
                <a:tc rowSpan="2">
                  <a:txBody>
                    <a:bodyPr/>
                    <a:lstStyle/>
                    <a:p>
                      <a:pPr marL="67945" marR="0">
                        <a:spcBef>
                          <a:spcPts val="87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24746037"/>
                  </a:ext>
                </a:extLst>
              </a:tr>
              <a:tr h="19431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9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7138381"/>
                  </a:ext>
                </a:extLst>
              </a:tr>
              <a:tr h="194310">
                <a:tc rowSpan="3">
                  <a:txBody>
                    <a:bodyPr/>
                    <a:lstStyle/>
                    <a:p>
                      <a:pPr marL="0" marR="0">
                        <a:spcBef>
                          <a:spcPts val="4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65720019"/>
                  </a:ext>
                </a:extLst>
              </a:tr>
              <a:tr h="22860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9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235145479"/>
                  </a:ext>
                </a:extLst>
              </a:tr>
              <a:tr h="177165">
                <a:tc vMerge="1">
                  <a:txBody>
                    <a:bodyPr/>
                    <a:lstStyle/>
                    <a:p>
                      <a:endParaRPr lang="en-US"/>
                    </a:p>
                  </a:txBody>
                  <a:tcPr/>
                </a:tc>
                <a:tc>
                  <a:txBody>
                    <a:bodyPr/>
                    <a:lstStyle/>
                    <a:p>
                      <a:pPr marL="64135" marR="0">
                        <a:lnSpc>
                          <a:spcPts val="995"/>
                        </a:lnSpc>
                        <a:spcBef>
                          <a:spcPts val="30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7204624"/>
                  </a:ext>
                </a:extLst>
              </a:tr>
            </a:tbl>
          </a:graphicData>
        </a:graphic>
      </p:graphicFrame>
      <p:pic>
        <p:nvPicPr>
          <p:cNvPr id="44034" name="Image 50">
            <a:extLst>
              <a:ext uri="{FF2B5EF4-FFF2-40B4-BE49-F238E27FC236}">
                <a16:creationId xmlns:a16="http://schemas.microsoft.com/office/drawing/2014/main" id="{968D5B69-E531-8600-F999-27A6BABC313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46047"/>
            <a:ext cx="7715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5030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35</a:t>
            </a:fld>
            <a:endParaRPr lang="en-US" dirty="0"/>
          </a:p>
        </p:txBody>
      </p:sp>
      <p:graphicFrame>
        <p:nvGraphicFramePr>
          <p:cNvPr id="5" name="Table 4">
            <a:extLst>
              <a:ext uri="{FF2B5EF4-FFF2-40B4-BE49-F238E27FC236}">
                <a16:creationId xmlns:a16="http://schemas.microsoft.com/office/drawing/2014/main" id="{D500D14E-A873-828B-923C-096BEBF7E48A}"/>
              </a:ext>
            </a:extLst>
          </p:cNvPr>
          <p:cNvGraphicFramePr>
            <a:graphicFrameLocks noGrp="1"/>
          </p:cNvGraphicFramePr>
          <p:nvPr>
            <p:extLst>
              <p:ext uri="{D42A27DB-BD31-4B8C-83A1-F6EECF244321}">
                <p14:modId xmlns:p14="http://schemas.microsoft.com/office/powerpoint/2010/main" val="511977990"/>
              </p:ext>
            </p:extLst>
          </p:nvPr>
        </p:nvGraphicFramePr>
        <p:xfrm>
          <a:off x="504273" y="1162050"/>
          <a:ext cx="11430000" cy="4806949"/>
        </p:xfrm>
        <a:graphic>
          <a:graphicData uri="http://schemas.openxmlformats.org/drawingml/2006/table">
            <a:tbl>
              <a:tblPr firstRow="1" firstCol="1" lastRow="1" lastCol="1" bandRow="1" bandCol="1"/>
              <a:tblGrid>
                <a:gridCol w="1943092">
                  <a:extLst>
                    <a:ext uri="{9D8B030D-6E8A-4147-A177-3AD203B41FA5}">
                      <a16:colId xmlns:a16="http://schemas.microsoft.com/office/drawing/2014/main" val="665399984"/>
                    </a:ext>
                  </a:extLst>
                </a:gridCol>
                <a:gridCol w="9486908">
                  <a:extLst>
                    <a:ext uri="{9D8B030D-6E8A-4147-A177-3AD203B41FA5}">
                      <a16:colId xmlns:a16="http://schemas.microsoft.com/office/drawing/2014/main" val="599951429"/>
                    </a:ext>
                  </a:extLst>
                </a:gridCol>
              </a:tblGrid>
              <a:tr h="665641">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Kazakhstan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2347265"/>
                  </a:ext>
                </a:extLst>
              </a:tr>
              <a:tr h="17544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13711919"/>
                  </a:ext>
                </a:extLst>
              </a:tr>
              <a:tr h="614614">
                <a:tc vMerge="1">
                  <a:txBody>
                    <a:bodyPr/>
                    <a:lstStyle/>
                    <a:p>
                      <a:endParaRPr lang="en-US"/>
                    </a:p>
                  </a:txBody>
                  <a:tcPr/>
                </a:tc>
                <a:tc>
                  <a:txBody>
                    <a:bodyPr/>
                    <a:lstStyle/>
                    <a:p>
                      <a:pPr marL="64135" marR="368617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TUV SUD</a:t>
                      </a: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2052492"/>
                  </a:ext>
                </a:extLst>
              </a:tr>
              <a:tr h="17544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58496257"/>
                  </a:ext>
                </a:extLst>
              </a:tr>
              <a:tr h="616965">
                <a:tc vMerge="1">
                  <a:txBody>
                    <a:bodyPr/>
                    <a:lstStyle/>
                    <a:p>
                      <a:endParaRPr lang="en-US"/>
                    </a:p>
                  </a:txBody>
                  <a:tcPr/>
                </a:tc>
                <a:tc>
                  <a:txBody>
                    <a:bodyPr/>
                    <a:lstStyle/>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a:t>
                      </a:r>
                    </a:p>
                    <a:p>
                      <a:pPr marL="64135" marR="3686175">
                        <a:lnSpc>
                          <a:spcPts val="135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5421025"/>
                  </a:ext>
                </a:extLst>
              </a:tr>
              <a:tr h="173147">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6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08517788"/>
                  </a:ext>
                </a:extLst>
              </a:tr>
              <a:tr h="769988">
                <a:tc vMerge="1">
                  <a:txBody>
                    <a:bodyPr/>
                    <a:lstStyle/>
                    <a:p>
                      <a:endParaRPr lang="en-US"/>
                    </a:p>
                  </a:txBody>
                  <a:tcPr/>
                </a:tc>
                <a:tc>
                  <a:txBody>
                    <a:bodyPr/>
                    <a:lstStyle/>
                    <a:p>
                      <a:pPr marL="64135" marR="3686175">
                        <a:lnSpc>
                          <a:spcPct val="98000"/>
                        </a:lnSpc>
                        <a:spcBef>
                          <a:spcPts val="1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2670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Sparrows</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7245192"/>
                  </a:ext>
                </a:extLst>
              </a:tr>
              <a:tr h="174294">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45925269"/>
                  </a:ext>
                </a:extLst>
              </a:tr>
              <a:tr h="616965">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1904946"/>
                  </a:ext>
                </a:extLst>
              </a:tr>
              <a:tr h="173147">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85484137"/>
                  </a:ext>
                </a:extLst>
              </a:tr>
              <a:tr h="502814">
                <a:tc vMerge="1">
                  <a:txBody>
                    <a:bodyPr/>
                    <a:lstStyle/>
                    <a:p>
                      <a:endParaRPr lang="en-US"/>
                    </a:p>
                  </a:txBody>
                  <a:tcPr/>
                </a:tc>
                <a:tc>
                  <a:txBody>
                    <a:bodyPr/>
                    <a:lstStyle/>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a:t>
                      </a: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36689520"/>
                  </a:ext>
                </a:extLst>
              </a:tr>
              <a:tr h="148494">
                <a:tc vMerge="1">
                  <a:txBody>
                    <a:bodyPr/>
                    <a:lstStyle/>
                    <a:p>
                      <a:endParaRPr lang="en-US"/>
                    </a:p>
                  </a:txBody>
                  <a:tcPr/>
                </a:tc>
                <a:tc>
                  <a:txBody>
                    <a:bodyPr/>
                    <a:lstStyle/>
                    <a:p>
                      <a:pPr marL="64135" marR="0">
                        <a:lnSpc>
                          <a:spcPts val="995"/>
                        </a:lnSpc>
                        <a:spcBef>
                          <a:spcPts val="20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 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838488"/>
                  </a:ext>
                </a:extLst>
              </a:tr>
            </a:tbl>
          </a:graphicData>
        </a:graphic>
      </p:graphicFrame>
      <p:pic>
        <p:nvPicPr>
          <p:cNvPr id="43010" name="Image 51">
            <a:extLst>
              <a:ext uri="{FF2B5EF4-FFF2-40B4-BE49-F238E27FC236}">
                <a16:creationId xmlns:a16="http://schemas.microsoft.com/office/drawing/2014/main" id="{597283CD-548E-3652-5D0A-15E22F1972D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273" y="375820"/>
            <a:ext cx="7715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214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36</a:t>
            </a:fld>
            <a:endParaRPr lang="en-US" dirty="0"/>
          </a:p>
        </p:txBody>
      </p:sp>
      <p:graphicFrame>
        <p:nvGraphicFramePr>
          <p:cNvPr id="5" name="Table 4">
            <a:extLst>
              <a:ext uri="{FF2B5EF4-FFF2-40B4-BE49-F238E27FC236}">
                <a16:creationId xmlns:a16="http://schemas.microsoft.com/office/drawing/2014/main" id="{41EF3099-8AE7-45E7-A5BE-58603C67F889}"/>
              </a:ext>
            </a:extLst>
          </p:cNvPr>
          <p:cNvGraphicFramePr>
            <a:graphicFrameLocks noGrp="1"/>
          </p:cNvGraphicFramePr>
          <p:nvPr>
            <p:extLst>
              <p:ext uri="{D42A27DB-BD31-4B8C-83A1-F6EECF244321}">
                <p14:modId xmlns:p14="http://schemas.microsoft.com/office/powerpoint/2010/main" val="2301559837"/>
              </p:ext>
            </p:extLst>
          </p:nvPr>
        </p:nvGraphicFramePr>
        <p:xfrm>
          <a:off x="419100" y="1125934"/>
          <a:ext cx="11430000" cy="4856680"/>
        </p:xfrm>
        <a:graphic>
          <a:graphicData uri="http://schemas.openxmlformats.org/drawingml/2006/table">
            <a:tbl>
              <a:tblPr firstRow="1" firstCol="1" lastRow="1" lastCol="1" bandRow="1" bandCol="1"/>
              <a:tblGrid>
                <a:gridCol w="2010335">
                  <a:extLst>
                    <a:ext uri="{9D8B030D-6E8A-4147-A177-3AD203B41FA5}">
                      <a16:colId xmlns:a16="http://schemas.microsoft.com/office/drawing/2014/main" val="2605372226"/>
                    </a:ext>
                  </a:extLst>
                </a:gridCol>
                <a:gridCol w="9419665">
                  <a:extLst>
                    <a:ext uri="{9D8B030D-6E8A-4147-A177-3AD203B41FA5}">
                      <a16:colId xmlns:a16="http://schemas.microsoft.com/office/drawing/2014/main" val="624518003"/>
                    </a:ext>
                  </a:extLst>
                </a:gridCol>
              </a:tblGrid>
              <a:tr h="589881">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Brunei</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9270265"/>
                  </a:ext>
                </a:extLst>
              </a:tr>
              <a:tr h="15547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80940676"/>
                  </a:ext>
                </a:extLst>
              </a:tr>
              <a:tr h="817502">
                <a:tc vMerge="1">
                  <a:txBody>
                    <a:bodyPr/>
                    <a:lstStyle/>
                    <a:p>
                      <a:endParaRPr lang="en-US"/>
                    </a:p>
                  </a:txBody>
                  <a:tcPr/>
                </a:tc>
                <a:tc>
                  <a:txBody>
                    <a:bodyPr/>
                    <a:lstStyle/>
                    <a:p>
                      <a:pPr marL="64135" marR="2797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ATDC</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(CAP</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1</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Planner</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1) MEGAMAS (LEEA) – (Planner 2) TUV SUD</a:t>
                      </a:r>
                    </a:p>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LLOYDS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(DNVGL</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Office)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0417436"/>
                  </a:ext>
                </a:extLst>
              </a:tr>
              <a:tr h="155981">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48551249"/>
                  </a:ext>
                </a:extLst>
              </a:tr>
              <a:tr h="817502">
                <a:tc vMerge="1">
                  <a:txBody>
                    <a:bodyPr/>
                    <a:lstStyle/>
                    <a:p>
                      <a:endParaRPr lang="en-US"/>
                    </a:p>
                  </a:txBody>
                  <a:tcPr/>
                </a:tc>
                <a:tc>
                  <a:txBody>
                    <a:bodyPr/>
                    <a:lstStyle/>
                    <a:p>
                      <a:pPr marL="64135" marR="371284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ATDC (LEEA) MEGAMAS</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686175">
                        <a:lnSpc>
                          <a:spcPct val="98000"/>
                        </a:lnSpc>
                        <a:spcBef>
                          <a:spcPts val="1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Bureau Veritas</a:t>
                      </a:r>
                    </a:p>
                    <a:p>
                      <a:pPr marL="64135" marR="0">
                        <a:lnSpc>
                          <a:spcPts val="1245"/>
                        </a:lnSpc>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LLOYDS</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(DNVGL</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Office)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1947711"/>
                  </a:ext>
                </a:extLst>
              </a:tr>
              <a:tr h="155473">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22443712"/>
                  </a:ext>
                </a:extLst>
              </a:tr>
              <a:tr h="819026">
                <a:tc vMerge="1">
                  <a:txBody>
                    <a:bodyPr/>
                    <a:lstStyle/>
                    <a:p>
                      <a:endParaRPr lang="en-US"/>
                    </a:p>
                  </a:txBody>
                  <a:tcPr/>
                </a:tc>
                <a:tc>
                  <a:txBody>
                    <a:bodyPr/>
                    <a:lstStyle/>
                    <a:p>
                      <a:pPr marL="64135" marR="371284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ATDC (LEEA) MEGAMAS</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68617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Bureau Veritas</a:t>
                      </a: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LLOYDS</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(DNVGL</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Office)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4631105"/>
                  </a:ext>
                </a:extLst>
              </a:tr>
              <a:tr h="154456">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02360580"/>
                  </a:ext>
                </a:extLst>
              </a:tr>
              <a:tr h="409005">
                <a:tc vMerge="1">
                  <a:txBody>
                    <a:bodyPr/>
                    <a:lstStyle/>
                    <a:p>
                      <a:endParaRPr lang="en-US"/>
                    </a:p>
                  </a:txBody>
                  <a:tcPr/>
                </a:tc>
                <a:tc>
                  <a:txBody>
                    <a:bodyPr/>
                    <a:lstStyle/>
                    <a:p>
                      <a:pPr marL="64135" marR="421767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SUD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MEGAMAS</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1333391"/>
                  </a:ext>
                </a:extLst>
              </a:tr>
              <a:tr h="155473">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820425076"/>
                  </a:ext>
                </a:extLst>
              </a:tr>
              <a:tr h="445587">
                <a:tc vMerge="1">
                  <a:txBody>
                    <a:bodyPr/>
                    <a:lstStyle/>
                    <a:p>
                      <a:endParaRPr lang="en-US"/>
                    </a:p>
                  </a:txBody>
                  <a:tcPr/>
                </a:tc>
                <a:tc>
                  <a:txBody>
                    <a:bodyPr/>
                    <a:lstStyle/>
                    <a:p>
                      <a:pPr marL="64135" marR="421767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SUD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MEGAMAS</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208050452"/>
                  </a:ext>
                </a:extLst>
              </a:tr>
              <a:tr h="131593">
                <a:tc vMerge="1">
                  <a:txBody>
                    <a:bodyPr/>
                    <a:lstStyle/>
                    <a:p>
                      <a:endParaRPr lang="en-US"/>
                    </a:p>
                  </a:txBody>
                  <a:tcPr/>
                </a:tc>
                <a:tc>
                  <a:txBody>
                    <a:bodyPr/>
                    <a:lstStyle/>
                    <a:p>
                      <a:pPr marL="64135" marR="0">
                        <a:lnSpc>
                          <a:spcPts val="995"/>
                        </a:lnSpc>
                        <a:spcBef>
                          <a:spcPts val="20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0427904"/>
                  </a:ext>
                </a:extLst>
              </a:tr>
            </a:tbl>
          </a:graphicData>
        </a:graphic>
      </p:graphicFrame>
      <p:pic>
        <p:nvPicPr>
          <p:cNvPr id="41986" name="Image 52">
            <a:extLst>
              <a:ext uri="{FF2B5EF4-FFF2-40B4-BE49-F238E27FC236}">
                <a16:creationId xmlns:a16="http://schemas.microsoft.com/office/drawing/2014/main" id="{A52EDB16-E776-8DCA-1379-D4F698369A9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7429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239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37</a:t>
            </a:fld>
            <a:endParaRPr lang="en-US" dirty="0"/>
          </a:p>
        </p:txBody>
      </p:sp>
      <p:graphicFrame>
        <p:nvGraphicFramePr>
          <p:cNvPr id="7" name="Table 6">
            <a:extLst>
              <a:ext uri="{FF2B5EF4-FFF2-40B4-BE49-F238E27FC236}">
                <a16:creationId xmlns:a16="http://schemas.microsoft.com/office/drawing/2014/main" id="{5F555AD9-CFE4-FE88-61FB-AF7FB6218DC3}"/>
              </a:ext>
            </a:extLst>
          </p:cNvPr>
          <p:cNvGraphicFramePr>
            <a:graphicFrameLocks noGrp="1"/>
          </p:cNvGraphicFramePr>
          <p:nvPr>
            <p:extLst>
              <p:ext uri="{D42A27DB-BD31-4B8C-83A1-F6EECF244321}">
                <p14:modId xmlns:p14="http://schemas.microsoft.com/office/powerpoint/2010/main" val="3295576954"/>
              </p:ext>
            </p:extLst>
          </p:nvPr>
        </p:nvGraphicFramePr>
        <p:xfrm>
          <a:off x="419100" y="1159496"/>
          <a:ext cx="11430000" cy="4812057"/>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3411226630"/>
                    </a:ext>
                  </a:extLst>
                </a:gridCol>
                <a:gridCol w="9410700">
                  <a:extLst>
                    <a:ext uri="{9D8B030D-6E8A-4147-A177-3AD203B41FA5}">
                      <a16:colId xmlns:a16="http://schemas.microsoft.com/office/drawing/2014/main" val="1202331842"/>
                    </a:ext>
                  </a:extLst>
                </a:gridCol>
              </a:tblGrid>
              <a:tr h="709754">
                <a:tc>
                  <a:txBody>
                    <a:bodyPr/>
                    <a:lstStyle/>
                    <a:p>
                      <a:pPr marL="67945" marR="0">
                        <a:spcBef>
                          <a:spcPts val="1680"/>
                        </a:spcBef>
                        <a:spcAft>
                          <a:spcPts val="0"/>
                        </a:spcAft>
                      </a:pPr>
                      <a:r>
                        <a:rPr lang="en-US" sz="1900" b="1" spc="-10" dirty="0">
                          <a:effectLst/>
                          <a:latin typeface="Calibri" panose="020F0502020204030204" pitchFamily="34" charset="0"/>
                          <a:ea typeface="Calibri" panose="020F0502020204030204" pitchFamily="34" charset="0"/>
                          <a:cs typeface="Times New Roman" panose="02020603050405020304" pitchFamily="18" charset="0"/>
                        </a:rPr>
                        <a:t>Japan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2290034"/>
                  </a:ext>
                </a:extLst>
              </a:tr>
              <a:tr h="187067">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655147063"/>
                  </a:ext>
                </a:extLst>
              </a:tr>
              <a:tr h="65534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45"/>
                        </a:lnSpc>
                        <a:spcBef>
                          <a:spcPts val="5"/>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4071186"/>
                  </a:ext>
                </a:extLst>
              </a:tr>
              <a:tr h="187067">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25217669"/>
                  </a:ext>
                </a:extLst>
              </a:tr>
              <a:tr h="665189">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1136671"/>
                  </a:ext>
                </a:extLst>
              </a:tr>
              <a:tr h="184622">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93841830"/>
                  </a:ext>
                </a:extLst>
              </a:tr>
              <a:tr h="656568">
                <a:tc vMerge="1">
                  <a:txBody>
                    <a:bodyPr/>
                    <a:lstStyle/>
                    <a:p>
                      <a:endParaRPr lang="en-US"/>
                    </a:p>
                  </a:txBody>
                  <a:tcPr/>
                </a:tc>
                <a:tc>
                  <a:txBody>
                    <a:bodyPr/>
                    <a:lstStyle/>
                    <a:p>
                      <a:pPr marL="64135" marR="0">
                        <a:lnSpc>
                          <a:spcPts val="133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30505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GWO</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Japan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ClassNK</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GWO</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Certification) TUV</a:t>
                      </a:r>
                      <a:r>
                        <a:rPr lang="en-US" sz="1100" spc="20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4703801"/>
                  </a:ext>
                </a:extLst>
              </a:tr>
              <a:tr h="187067">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53856128"/>
                  </a:ext>
                </a:extLst>
              </a:tr>
              <a:tr h="492732">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Konan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Institute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4546442"/>
                  </a:ext>
                </a:extLst>
              </a:tr>
              <a:tr h="185844">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41929021"/>
                  </a:ext>
                </a:extLst>
              </a:tr>
              <a:tr h="53613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Konan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Institute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32318769"/>
                  </a:ext>
                </a:extLst>
              </a:tr>
              <a:tr h="159557">
                <a:tc vMerge="1">
                  <a:txBody>
                    <a:bodyPr/>
                    <a:lstStyle/>
                    <a:p>
                      <a:endParaRPr lang="en-US"/>
                    </a:p>
                  </a:txBody>
                  <a:tcPr/>
                </a:tc>
                <a:tc>
                  <a:txBody>
                    <a:bodyPr/>
                    <a:lstStyle/>
                    <a:p>
                      <a:pPr marL="64135" marR="0">
                        <a:lnSpc>
                          <a:spcPts val="1010"/>
                        </a:lnSpc>
                        <a:spcBef>
                          <a:spcPts val="20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9986368"/>
                  </a:ext>
                </a:extLst>
              </a:tr>
            </a:tbl>
          </a:graphicData>
        </a:graphic>
      </p:graphicFrame>
      <p:pic>
        <p:nvPicPr>
          <p:cNvPr id="40964" name="Image 53">
            <a:extLst>
              <a:ext uri="{FF2B5EF4-FFF2-40B4-BE49-F238E27FC236}">
                <a16:creationId xmlns:a16="http://schemas.microsoft.com/office/drawing/2014/main" id="{D554884C-C604-F44A-2F61-3D50C9A83F7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8477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6550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38</a:t>
            </a:fld>
            <a:endParaRPr lang="en-US" dirty="0"/>
          </a:p>
        </p:txBody>
      </p:sp>
      <p:graphicFrame>
        <p:nvGraphicFramePr>
          <p:cNvPr id="5" name="Table 4">
            <a:extLst>
              <a:ext uri="{FF2B5EF4-FFF2-40B4-BE49-F238E27FC236}">
                <a16:creationId xmlns:a16="http://schemas.microsoft.com/office/drawing/2014/main" id="{24CE23B8-7D3C-F4B1-5B8F-3A9E1CED337F}"/>
              </a:ext>
            </a:extLst>
          </p:cNvPr>
          <p:cNvGraphicFramePr>
            <a:graphicFrameLocks noGrp="1"/>
          </p:cNvGraphicFramePr>
          <p:nvPr>
            <p:extLst>
              <p:ext uri="{D42A27DB-BD31-4B8C-83A1-F6EECF244321}">
                <p14:modId xmlns:p14="http://schemas.microsoft.com/office/powerpoint/2010/main" val="1461007755"/>
              </p:ext>
            </p:extLst>
          </p:nvPr>
        </p:nvGraphicFramePr>
        <p:xfrm>
          <a:off x="419100" y="1025524"/>
          <a:ext cx="11430000" cy="4808063"/>
        </p:xfrm>
        <a:graphic>
          <a:graphicData uri="http://schemas.openxmlformats.org/drawingml/2006/table">
            <a:tbl>
              <a:tblPr firstRow="1" firstCol="1" lastRow="1" lastCol="1" bandRow="1" bandCol="1"/>
              <a:tblGrid>
                <a:gridCol w="2037229">
                  <a:extLst>
                    <a:ext uri="{9D8B030D-6E8A-4147-A177-3AD203B41FA5}">
                      <a16:colId xmlns:a16="http://schemas.microsoft.com/office/drawing/2014/main" val="2079077068"/>
                    </a:ext>
                  </a:extLst>
                </a:gridCol>
                <a:gridCol w="9392771">
                  <a:extLst>
                    <a:ext uri="{9D8B030D-6E8A-4147-A177-3AD203B41FA5}">
                      <a16:colId xmlns:a16="http://schemas.microsoft.com/office/drawing/2014/main" val="2230697132"/>
                    </a:ext>
                  </a:extLst>
                </a:gridCol>
              </a:tblGrid>
              <a:tr h="638105">
                <a:tc>
                  <a:txBody>
                    <a:bodyPr/>
                    <a:lstStyle/>
                    <a:p>
                      <a:pPr marL="67945" marR="0">
                        <a:spcBef>
                          <a:spcPts val="168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South</a:t>
                      </a:r>
                      <a:r>
                        <a:rPr lang="en-US" sz="1700" b="1" dirty="0">
                          <a:effectLst/>
                          <a:latin typeface="Calibri" panose="020F0502020204030204" pitchFamily="34" charset="0"/>
                          <a:ea typeface="Calibri" panose="020F0502020204030204" pitchFamily="34" charset="0"/>
                          <a:cs typeface="Times New Roman" panose="02020603050405020304" pitchFamily="18" charset="0"/>
                        </a:rPr>
                        <a:t> </a:t>
                      </a:r>
                      <a:r>
                        <a:rPr lang="en-US" sz="1700" b="1" spc="-10" dirty="0">
                          <a:effectLst/>
                          <a:latin typeface="Calibri" panose="020F0502020204030204" pitchFamily="34" charset="0"/>
                          <a:ea typeface="Calibri" panose="020F0502020204030204" pitchFamily="34" charset="0"/>
                          <a:cs typeface="Times New Roman" panose="02020603050405020304" pitchFamily="18" charset="0"/>
                        </a:rPr>
                        <a:t>Korea</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7242623"/>
                  </a:ext>
                </a:extLst>
              </a:tr>
              <a:tr h="16818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690948502"/>
                  </a:ext>
                </a:extLst>
              </a:tr>
              <a:tr h="589189">
                <a:tc vMerge="1">
                  <a:txBody>
                    <a:bodyPr/>
                    <a:lstStyle/>
                    <a:p>
                      <a:endParaRPr lang="en-US"/>
                    </a:p>
                  </a:txBody>
                  <a:tcPr/>
                </a:tc>
                <a:tc>
                  <a:txBody>
                    <a:bodyPr/>
                    <a:lstStyle/>
                    <a:p>
                      <a:pPr marL="64135" marR="349758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(INCOK) TUV SUD</a:t>
                      </a: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Samsung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a:effectLst/>
                          <a:latin typeface="Calibri" panose="020F0502020204030204" pitchFamily="34" charset="0"/>
                          <a:ea typeface="Calibri" panose="020F0502020204030204" pitchFamily="34" charset="0"/>
                          <a:cs typeface="Times New Roman" panose="02020603050405020304" pitchFamily="18" charset="0"/>
                        </a:rPr>
                        <a:t> Industries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9611133"/>
                  </a:ext>
                </a:extLst>
              </a:tr>
              <a:tr h="168183">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41701741"/>
                  </a:ext>
                </a:extLst>
              </a:tr>
              <a:tr h="590838">
                <a:tc vMerge="1">
                  <a:txBody>
                    <a:bodyPr/>
                    <a:lstStyle/>
                    <a:p>
                      <a:endParaRPr lang="en-US"/>
                    </a:p>
                  </a:txBody>
                  <a:tcPr/>
                </a:tc>
                <a:tc>
                  <a:txBody>
                    <a:bodyPr/>
                    <a:lstStyle/>
                    <a:p>
                      <a:pPr marL="64135" marR="349758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(INCOK) TUV SUD</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Samsung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Heavy</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Industries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6528402"/>
                  </a:ext>
                </a:extLst>
              </a:tr>
              <a:tr h="16708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24032295"/>
                  </a:ext>
                </a:extLst>
              </a:tr>
              <a:tr h="738136">
                <a:tc vMerge="1">
                  <a:txBody>
                    <a:bodyPr/>
                    <a:lstStyle/>
                    <a:p>
                      <a:endParaRPr lang="en-US"/>
                    </a:p>
                  </a:txBody>
                  <a:tcPr/>
                </a:tc>
                <a:tc>
                  <a:txBody>
                    <a:bodyPr/>
                    <a:lstStyle/>
                    <a:p>
                      <a:pPr marL="64135" marR="3497580">
                        <a:lnSpc>
                          <a:spcPct val="98000"/>
                        </a:lnSpc>
                        <a:spcBef>
                          <a:spcPts val="1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(INCOK) TUV SUD</a:t>
                      </a:r>
                    </a:p>
                    <a:p>
                      <a:pPr marL="64135" marR="0">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89496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Samsung</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Heavy</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Industries Applus Korea (GWO)</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2776535"/>
                  </a:ext>
                </a:extLst>
              </a:tr>
              <a:tr h="16708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4579690"/>
                  </a:ext>
                </a:extLst>
              </a:tr>
              <a:tr h="590838">
                <a:tc vMerge="1">
                  <a:txBody>
                    <a:bodyPr/>
                    <a:lstStyle/>
                    <a:p>
                      <a:endParaRPr lang="en-US"/>
                    </a:p>
                  </a:txBody>
                  <a:tcPr/>
                </a:tc>
                <a:tc>
                  <a:txBody>
                    <a:bodyPr/>
                    <a:lstStyle/>
                    <a:p>
                      <a:pPr marL="64135" marR="349758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(INCOK) TUV SUD</a:t>
                      </a:r>
                    </a:p>
                    <a:p>
                      <a:pPr marL="64135" marR="0">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Samsung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Heavy</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Industries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7915479"/>
                  </a:ext>
                </a:extLst>
              </a:tr>
              <a:tr h="167084">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407409150"/>
                  </a:ext>
                </a:extLst>
              </a:tr>
              <a:tr h="655143">
                <a:tc vMerge="1">
                  <a:txBody>
                    <a:bodyPr/>
                    <a:lstStyle/>
                    <a:p>
                      <a:endParaRPr lang="en-US"/>
                    </a:p>
                  </a:txBody>
                  <a:tcPr/>
                </a:tc>
                <a:tc>
                  <a:txBody>
                    <a:bodyPr/>
                    <a:lstStyle/>
                    <a:p>
                      <a:pPr marL="64135" marR="349758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(INCOK) TUV SUD</a:t>
                      </a:r>
                    </a:p>
                    <a:p>
                      <a:pPr marL="64135" marR="0">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Samsung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Heavy</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Industries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144010820"/>
                  </a:ext>
                </a:extLst>
              </a:tr>
              <a:tr h="167084">
                <a:tc vMerge="1">
                  <a:txBody>
                    <a:bodyPr/>
                    <a:lstStyle/>
                    <a:p>
                      <a:endParaRPr lang="en-US"/>
                    </a:p>
                  </a:txBody>
                  <a:tcPr/>
                </a:tc>
                <a:tc>
                  <a:txBody>
                    <a:bodyPr/>
                    <a:lstStyle/>
                    <a:p>
                      <a:pPr marL="64135" marR="0">
                        <a:lnSpc>
                          <a:spcPts val="995"/>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6441340"/>
                  </a:ext>
                </a:extLst>
              </a:tr>
            </a:tbl>
          </a:graphicData>
        </a:graphic>
      </p:graphicFrame>
      <p:pic>
        <p:nvPicPr>
          <p:cNvPr id="39938" name="Image 54">
            <a:extLst>
              <a:ext uri="{FF2B5EF4-FFF2-40B4-BE49-F238E27FC236}">
                <a16:creationId xmlns:a16="http://schemas.microsoft.com/office/drawing/2014/main" id="{3D33669A-93C2-F015-F885-178870E9A31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790" y="193674"/>
            <a:ext cx="7429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5981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39</a:t>
            </a:fld>
            <a:endParaRPr lang="en-US" dirty="0"/>
          </a:p>
        </p:txBody>
      </p:sp>
      <p:graphicFrame>
        <p:nvGraphicFramePr>
          <p:cNvPr id="5" name="Table 4">
            <a:extLst>
              <a:ext uri="{FF2B5EF4-FFF2-40B4-BE49-F238E27FC236}">
                <a16:creationId xmlns:a16="http://schemas.microsoft.com/office/drawing/2014/main" id="{225B128B-DAC7-3FB7-80B8-BAEFF5BD41AB}"/>
              </a:ext>
            </a:extLst>
          </p:cNvPr>
          <p:cNvGraphicFramePr>
            <a:graphicFrameLocks noGrp="1"/>
          </p:cNvGraphicFramePr>
          <p:nvPr>
            <p:extLst>
              <p:ext uri="{D42A27DB-BD31-4B8C-83A1-F6EECF244321}">
                <p14:modId xmlns:p14="http://schemas.microsoft.com/office/powerpoint/2010/main" val="383971176"/>
              </p:ext>
            </p:extLst>
          </p:nvPr>
        </p:nvGraphicFramePr>
        <p:xfrm>
          <a:off x="419100" y="1063263"/>
          <a:ext cx="11430000" cy="5043938"/>
        </p:xfrm>
        <a:graphic>
          <a:graphicData uri="http://schemas.openxmlformats.org/drawingml/2006/table">
            <a:tbl>
              <a:tblPr firstRow="1" firstCol="1" lastRow="1" lastCol="1" bandRow="1" bandCol="1"/>
              <a:tblGrid>
                <a:gridCol w="2038350">
                  <a:extLst>
                    <a:ext uri="{9D8B030D-6E8A-4147-A177-3AD203B41FA5}">
                      <a16:colId xmlns:a16="http://schemas.microsoft.com/office/drawing/2014/main" val="1691874105"/>
                    </a:ext>
                  </a:extLst>
                </a:gridCol>
                <a:gridCol w="5580307">
                  <a:extLst>
                    <a:ext uri="{9D8B030D-6E8A-4147-A177-3AD203B41FA5}">
                      <a16:colId xmlns:a16="http://schemas.microsoft.com/office/drawing/2014/main" val="1480006569"/>
                    </a:ext>
                  </a:extLst>
                </a:gridCol>
                <a:gridCol w="3811343">
                  <a:extLst>
                    <a:ext uri="{9D8B030D-6E8A-4147-A177-3AD203B41FA5}">
                      <a16:colId xmlns:a16="http://schemas.microsoft.com/office/drawing/2014/main" val="402849324"/>
                    </a:ext>
                  </a:extLst>
                </a:gridCol>
              </a:tblGrid>
              <a:tr h="407383">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Singapore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987863"/>
                  </a:ext>
                </a:extLst>
              </a:tr>
              <a:tr h="126361">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90"/>
                        </a:spcBef>
                        <a:spcAft>
                          <a:spcPts val="0"/>
                        </a:spcAft>
                      </a:pP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7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7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7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7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7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7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7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1743683320"/>
                  </a:ext>
                </a:extLst>
              </a:tr>
              <a:tr h="667358">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SHE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T&amp;C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1814195">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WSHAsia </a:t>
                      </a:r>
                      <a:r>
                        <a:rPr lang="en-US" sz="1100" spc="-20">
                          <a:effectLst/>
                          <a:latin typeface="Calibri" panose="020F0502020204030204" pitchFamily="34" charset="0"/>
                          <a:ea typeface="Calibri" panose="020F0502020204030204" pitchFamily="34" charset="0"/>
                          <a:cs typeface="Times New Roman" panose="02020603050405020304" pitchFamily="18" charset="0"/>
                        </a:rPr>
                        <a:t>UPME </a:t>
                      </a:r>
                      <a:r>
                        <a:rPr lang="en-US" sz="1100" spc="-10">
                          <a:effectLst/>
                          <a:latin typeface="Calibri" panose="020F0502020204030204" pitchFamily="34" charset="0"/>
                          <a:ea typeface="Calibri" panose="020F0502020204030204" pitchFamily="34" charset="0"/>
                          <a:cs typeface="Times New Roman" panose="02020603050405020304" pitchFamily="18" charset="0"/>
                        </a:rPr>
                        <a:t>ALATAS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MICE</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Global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Singapore</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association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59690" algn="just">
                        <a:spcBef>
                          <a:spcPts val="0"/>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The</a:t>
                      </a:r>
                      <a:r>
                        <a:rPr lang="en-US" sz="700" spc="-35">
                          <a:effectLst/>
                          <a:latin typeface="Calibri" panose="020F0502020204030204" pitchFamily="34" charset="0"/>
                          <a:ea typeface="Calibri" panose="020F0502020204030204" pitchFamily="34" charset="0"/>
                          <a:cs typeface="Times New Roman" panose="02020603050405020304" pitchFamily="18" charset="0"/>
                        </a:rPr>
                        <a:t> </a:t>
                      </a:r>
                      <a:r>
                        <a:rPr lang="en-US" sz="700">
                          <a:effectLst/>
                          <a:latin typeface="Calibri" panose="020F0502020204030204" pitchFamily="34" charset="0"/>
                          <a:ea typeface="Calibri" panose="020F0502020204030204" pitchFamily="34" charset="0"/>
                          <a:cs typeface="Times New Roman" panose="02020603050405020304" pitchFamily="18" charset="0"/>
                        </a:rPr>
                        <a:t>institution</a:t>
                      </a:r>
                      <a:r>
                        <a:rPr lang="en-US" sz="700" spc="-50">
                          <a:effectLst/>
                          <a:latin typeface="Calibri" panose="020F0502020204030204" pitchFamily="34" charset="0"/>
                          <a:ea typeface="Calibri" panose="020F0502020204030204" pitchFamily="34" charset="0"/>
                          <a:cs typeface="Times New Roman" panose="02020603050405020304" pitchFamily="18" charset="0"/>
                        </a:rPr>
                        <a:t> </a:t>
                      </a:r>
                      <a:r>
                        <a:rPr lang="en-US" sz="700">
                          <a:effectLst/>
                          <a:latin typeface="Calibri" panose="020F0502020204030204" pitchFamily="34" charset="0"/>
                          <a:ea typeface="Calibri" panose="020F0502020204030204" pitchFamily="34" charset="0"/>
                          <a:cs typeface="Times New Roman" panose="02020603050405020304" pitchFamily="18" charset="0"/>
                        </a:rPr>
                        <a:t>of</a:t>
                      </a:r>
                      <a:r>
                        <a:rPr lang="en-US" sz="700" spc="-45">
                          <a:effectLst/>
                          <a:latin typeface="Calibri" panose="020F0502020204030204" pitchFamily="34" charset="0"/>
                          <a:ea typeface="Calibri" panose="020F0502020204030204" pitchFamily="34" charset="0"/>
                          <a:cs typeface="Times New Roman" panose="02020603050405020304" pitchFamily="18" charset="0"/>
                        </a:rPr>
                        <a:t> </a:t>
                      </a:r>
                      <a:r>
                        <a:rPr lang="en-US" sz="700">
                          <a:effectLst/>
                          <a:latin typeface="Calibri" panose="020F0502020204030204" pitchFamily="34" charset="0"/>
                          <a:ea typeface="Calibri" panose="020F0502020204030204" pitchFamily="34" charset="0"/>
                          <a:cs typeface="Times New Roman" panose="02020603050405020304" pitchFamily="18" charset="0"/>
                        </a:rPr>
                        <a:t>engineers</a:t>
                      </a:r>
                      <a:r>
                        <a:rPr lang="en-US" sz="700" spc="-30">
                          <a:effectLst/>
                          <a:latin typeface="Calibri" panose="020F0502020204030204" pitchFamily="34" charset="0"/>
                          <a:ea typeface="Calibri" panose="020F0502020204030204" pitchFamily="34" charset="0"/>
                          <a:cs typeface="Times New Roman" panose="02020603050405020304" pitchFamily="18" charset="0"/>
                        </a:rPr>
                        <a:t> </a:t>
                      </a:r>
                      <a:r>
                        <a:rPr lang="en-US" sz="700">
                          <a:effectLst/>
                          <a:latin typeface="Calibri" panose="020F0502020204030204" pitchFamily="34" charset="0"/>
                          <a:ea typeface="Calibri" panose="020F0502020204030204" pitchFamily="34" charset="0"/>
                          <a:cs typeface="Times New Roman" panose="02020603050405020304" pitchFamily="18" charset="0"/>
                        </a:rPr>
                        <a:t>–</a:t>
                      </a:r>
                      <a:r>
                        <a:rPr lang="en-US" sz="700" spc="-30">
                          <a:effectLst/>
                          <a:latin typeface="Calibri" panose="020F0502020204030204" pitchFamily="34" charset="0"/>
                          <a:ea typeface="Calibri" panose="020F0502020204030204" pitchFamily="34" charset="0"/>
                          <a:cs typeface="Times New Roman" panose="02020603050405020304" pitchFamily="18" charset="0"/>
                        </a:rPr>
                        <a:t> </a:t>
                      </a:r>
                      <a:r>
                        <a:rPr lang="en-US" sz="700">
                          <a:effectLst/>
                          <a:latin typeface="Calibri" panose="020F0502020204030204" pitchFamily="34" charset="0"/>
                          <a:ea typeface="Calibri" panose="020F0502020204030204" pitchFamily="34" charset="0"/>
                          <a:cs typeface="Times New Roman" panose="02020603050405020304" pitchFamily="18" charset="0"/>
                        </a:rPr>
                        <a:t>Singapore </a:t>
                      </a:r>
                      <a:r>
                        <a:rPr lang="en-US" sz="700" spc="-10">
                          <a:effectLst/>
                          <a:latin typeface="Calibri" panose="020F0502020204030204" pitchFamily="34" charset="0"/>
                          <a:ea typeface="Calibri" panose="020F0502020204030204" pitchFamily="34" charset="0"/>
                          <a:cs typeface="Times New Roman" panose="02020603050405020304" pitchFamily="18" charset="0"/>
                        </a:rPr>
                        <a:t>(IES)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p>
                      <a:pPr marL="68580" marR="0" algn="just">
                        <a:lnSpc>
                          <a:spcPts val="1335"/>
                        </a:lnSpc>
                        <a:spcBef>
                          <a:spcPts val="0"/>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TUV</a:t>
                      </a:r>
                      <a:r>
                        <a:rPr lang="en-US" sz="700" spc="-10">
                          <a:effectLst/>
                          <a:latin typeface="Calibri" panose="020F0502020204030204" pitchFamily="34" charset="0"/>
                          <a:ea typeface="Calibri" panose="020F0502020204030204" pitchFamily="34" charset="0"/>
                          <a:cs typeface="Times New Roman" panose="02020603050405020304" pitchFamily="18" charset="0"/>
                        </a:rPr>
                        <a:t> </a:t>
                      </a:r>
                      <a:r>
                        <a:rPr lang="en-US" sz="7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p>
                      <a:pPr marL="68580" marR="1452880" algn="just">
                        <a:lnSpc>
                          <a:spcPts val="1350"/>
                        </a:lnSpc>
                        <a:spcBef>
                          <a:spcPts val="0"/>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9651782"/>
                  </a:ext>
                </a:extLst>
              </a:tr>
              <a:tr h="125122">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7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3409142969"/>
                  </a:ext>
                </a:extLst>
              </a:tr>
              <a:tr h="553757">
                <a:tc vMerge="1">
                  <a:txBody>
                    <a:bodyPr/>
                    <a:lstStyle/>
                    <a:p>
                      <a:endParaRPr lang="en-US"/>
                    </a:p>
                  </a:txBody>
                  <a:tcPr/>
                </a:tc>
                <a:tc>
                  <a:txBody>
                    <a:bodyPr/>
                    <a:lstStyle/>
                    <a:p>
                      <a:pPr marL="64135" marR="81661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Eversafe</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Academy</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(SSLO) </a:t>
                      </a:r>
                      <a:r>
                        <a:rPr lang="en-US" sz="1100" spc="-10">
                          <a:effectLst/>
                          <a:latin typeface="Calibri" panose="020F0502020204030204" pitchFamily="34" charset="0"/>
                          <a:ea typeface="Calibri" panose="020F0502020204030204" pitchFamily="34" charset="0"/>
                          <a:cs typeface="Times New Roman" panose="02020603050405020304" pitchFamily="18" charset="0"/>
                        </a:rPr>
                        <a:t>ALATAS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WSQ</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Supervise</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Safe</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Operations (SSLO) – Global Training services</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WFA</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Academy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just">
                        <a:lnSpc>
                          <a:spcPts val="1340"/>
                        </a:lnSpc>
                        <a:spcBef>
                          <a:spcPts val="0"/>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TUV</a:t>
                      </a:r>
                      <a:r>
                        <a:rPr lang="en-US" sz="700" spc="-10">
                          <a:effectLst/>
                          <a:latin typeface="Calibri" panose="020F0502020204030204" pitchFamily="34" charset="0"/>
                          <a:ea typeface="Calibri" panose="020F0502020204030204" pitchFamily="34" charset="0"/>
                          <a:cs typeface="Times New Roman" panose="02020603050405020304" pitchFamily="18" charset="0"/>
                        </a:rPr>
                        <a:t> </a:t>
                      </a:r>
                      <a:r>
                        <a:rPr lang="en-US" sz="7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p>
                      <a:pPr marL="68580" marR="1452880" algn="just">
                        <a:spcBef>
                          <a:spcPts val="0"/>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8580" marR="0" algn="just">
                        <a:lnSpc>
                          <a:spcPts val="1240"/>
                        </a:lnSpc>
                        <a:spcBef>
                          <a:spcPts val="0"/>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MICE</a:t>
                      </a:r>
                      <a:r>
                        <a:rPr lang="en-US" sz="700" spc="-20">
                          <a:effectLst/>
                          <a:latin typeface="Calibri" panose="020F0502020204030204" pitchFamily="34" charset="0"/>
                          <a:ea typeface="Calibri" panose="020F0502020204030204" pitchFamily="34" charset="0"/>
                          <a:cs typeface="Times New Roman" panose="02020603050405020304" pitchFamily="18" charset="0"/>
                        </a:rPr>
                        <a:t> </a:t>
                      </a:r>
                      <a:r>
                        <a:rPr lang="en-US" sz="700" spc="-10">
                          <a:effectLst/>
                          <a:latin typeface="Calibri" panose="020F0502020204030204" pitchFamily="34" charset="0"/>
                          <a:ea typeface="Calibri" panose="020F0502020204030204" pitchFamily="34" charset="0"/>
                          <a:cs typeface="Times New Roman" panose="02020603050405020304" pitchFamily="18" charset="0"/>
                        </a:rPr>
                        <a:t>Global</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9902019"/>
                  </a:ext>
                </a:extLst>
              </a:tr>
              <a:tr h="126361">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1117442013"/>
                  </a:ext>
                </a:extLst>
              </a:tr>
              <a:tr h="559993">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SCAL</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Academy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81661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Global</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services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STC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ETANN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Professional</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Project</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Institute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(PPI)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1284605" algn="just">
                        <a:spcBef>
                          <a:spcPts val="0"/>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Eversafe</a:t>
                      </a:r>
                      <a:r>
                        <a:rPr lang="en-US" sz="700" spc="-65">
                          <a:effectLst/>
                          <a:latin typeface="Calibri" panose="020F0502020204030204" pitchFamily="34" charset="0"/>
                          <a:ea typeface="Calibri" panose="020F0502020204030204" pitchFamily="34" charset="0"/>
                          <a:cs typeface="Times New Roman" panose="02020603050405020304" pitchFamily="18" charset="0"/>
                        </a:rPr>
                        <a:t> </a:t>
                      </a:r>
                      <a:r>
                        <a:rPr lang="en-US" sz="700">
                          <a:effectLst/>
                          <a:latin typeface="Calibri" panose="020F0502020204030204" pitchFamily="34" charset="0"/>
                          <a:ea typeface="Calibri" panose="020F0502020204030204" pitchFamily="34" charset="0"/>
                          <a:cs typeface="Times New Roman" panose="02020603050405020304" pitchFamily="18" charset="0"/>
                        </a:rPr>
                        <a:t>Academy TUV SUD</a:t>
                      </a:r>
                    </a:p>
                    <a:p>
                      <a:pPr marL="68580" marR="1452880" algn="just">
                        <a:lnSpc>
                          <a:spcPts val="1350"/>
                        </a:lnSpc>
                        <a:spcBef>
                          <a:spcPts val="0"/>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1223877"/>
                  </a:ext>
                </a:extLst>
              </a:tr>
              <a:tr h="123883">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6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lnSpc>
                          <a:spcPts val="1330"/>
                        </a:lnSpc>
                        <a:spcBef>
                          <a:spcPts val="75"/>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2385643936"/>
                  </a:ext>
                </a:extLst>
              </a:tr>
              <a:tr h="555615">
                <a:tc vMerge="1">
                  <a:txBody>
                    <a:bodyPr/>
                    <a:lstStyle/>
                    <a:p>
                      <a:endParaRPr lang="en-US"/>
                    </a:p>
                  </a:txBody>
                  <a:tcPr/>
                </a:tc>
                <a:tc>
                  <a:txBody>
                    <a:bodyPr/>
                    <a:lstStyle/>
                    <a:p>
                      <a:pPr marL="64135" marR="1284605">
                        <a:lnSpc>
                          <a:spcPct val="98000"/>
                        </a:lnSpc>
                        <a:spcBef>
                          <a:spcPts val="15"/>
                        </a:spcBef>
                        <a:spcAft>
                          <a:spcPts val="0"/>
                        </a:spcAft>
                      </a:pPr>
                      <a:r>
                        <a:rPr lang="en-US" sz="1100" dirty="0" err="1">
                          <a:effectLst/>
                          <a:latin typeface="Calibri" panose="020F0502020204030204" pitchFamily="34" charset="0"/>
                          <a:ea typeface="Calibri" panose="020F0502020204030204" pitchFamily="34" charset="0"/>
                          <a:cs typeface="Times New Roman" panose="02020603050405020304" pitchFamily="18" charset="0"/>
                        </a:rPr>
                        <a:t>Eversafe</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Academy </a:t>
                      </a: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Interlift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1710690">
                        <a:lnSpc>
                          <a:spcPts val="135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1444625">
                        <a:spcBef>
                          <a:spcPts val="5"/>
                        </a:spcBef>
                        <a:spcAft>
                          <a:spcPts val="0"/>
                        </a:spcAft>
                      </a:pPr>
                      <a:r>
                        <a:rPr lang="en-US" sz="700">
                          <a:effectLst/>
                          <a:latin typeface="Calibri" panose="020F0502020204030204" pitchFamily="34" charset="0"/>
                          <a:ea typeface="Calibri" panose="020F0502020204030204" pitchFamily="34" charset="0"/>
                          <a:cs typeface="Times New Roman" panose="02020603050405020304" pitchFamily="18" charset="0"/>
                        </a:rPr>
                        <a:t>Dynamic</a:t>
                      </a:r>
                      <a:r>
                        <a:rPr lang="en-US" sz="700" spc="-65">
                          <a:effectLst/>
                          <a:latin typeface="Calibri" panose="020F0502020204030204" pitchFamily="34" charset="0"/>
                          <a:ea typeface="Calibri" panose="020F0502020204030204" pitchFamily="34" charset="0"/>
                          <a:cs typeface="Times New Roman" panose="02020603050405020304" pitchFamily="18" charset="0"/>
                        </a:rPr>
                        <a:t> </a:t>
                      </a:r>
                      <a:r>
                        <a:rPr lang="en-US" sz="700">
                          <a:effectLst/>
                          <a:latin typeface="Calibri" panose="020F0502020204030204" pitchFamily="34" charset="0"/>
                          <a:ea typeface="Calibri" panose="020F0502020204030204" pitchFamily="34" charset="0"/>
                          <a:cs typeface="Times New Roman" panose="02020603050405020304" pitchFamily="18" charset="0"/>
                        </a:rPr>
                        <a:t>Safety THT Academy WFA Academy</a:t>
                      </a:r>
                    </a:p>
                    <a:p>
                      <a:pPr marL="68580" marR="0">
                        <a:lnSpc>
                          <a:spcPts val="1335"/>
                        </a:lnSpc>
                        <a:spcBef>
                          <a:spcPts val="0"/>
                        </a:spcBef>
                        <a:spcAft>
                          <a:spcPts val="0"/>
                        </a:spcAft>
                      </a:pPr>
                      <a:r>
                        <a:rPr lang="en-US" sz="700" spc="-10">
                          <a:effectLst/>
                          <a:latin typeface="Calibri" panose="020F0502020204030204" pitchFamily="34" charset="0"/>
                          <a:ea typeface="Calibri" panose="020F0502020204030204" pitchFamily="34" charset="0"/>
                          <a:cs typeface="Times New Roman" panose="02020603050405020304" pitchFamily="18" charset="0"/>
                        </a:rPr>
                        <a:t>IPAF-Southeast</a:t>
                      </a:r>
                      <a:r>
                        <a:rPr lang="en-US" sz="700" spc="70">
                          <a:effectLst/>
                          <a:latin typeface="Calibri" panose="020F0502020204030204" pitchFamily="34" charset="0"/>
                          <a:ea typeface="Calibri" panose="020F0502020204030204" pitchFamily="34" charset="0"/>
                          <a:cs typeface="Times New Roman" panose="02020603050405020304" pitchFamily="18" charset="0"/>
                        </a:rPr>
                        <a:t> </a:t>
                      </a:r>
                      <a:r>
                        <a:rPr lang="en-US" sz="700" spc="-20">
                          <a:effectLst/>
                          <a:latin typeface="Calibri" panose="020F0502020204030204" pitchFamily="34" charset="0"/>
                          <a:ea typeface="Calibri" panose="020F0502020204030204" pitchFamily="34" charset="0"/>
                          <a:cs typeface="Times New Roman" panose="02020603050405020304" pitchFamily="18" charset="0"/>
                        </a:rPr>
                        <a:t>Asia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0459784"/>
                  </a:ext>
                </a:extLst>
              </a:tr>
              <a:tr h="125948">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33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85"/>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ATP)</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1983653039"/>
                  </a:ext>
                </a:extLst>
              </a:tr>
              <a:tr h="1245024">
                <a:tc vMerge="1">
                  <a:txBody>
                    <a:bodyPr/>
                    <a:lstStyle/>
                    <a:p>
                      <a:endParaRPr lang="en-US"/>
                    </a:p>
                  </a:txBody>
                  <a:tcPr/>
                </a:tc>
                <a:tc>
                  <a:txBody>
                    <a:bodyPr/>
                    <a:lstStyle/>
                    <a:p>
                      <a:pPr marL="64135" marR="171386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TOS</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APIQO-</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01)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144970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Dynamic</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Safety BCA Academy</a:t>
                      </a:r>
                    </a:p>
                    <a:p>
                      <a:pPr marL="64135" marR="119634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IPAF-Southeast</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Asia THT Academy</a:t>
                      </a: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WFA</a:t>
                      </a:r>
                      <a:r>
                        <a:rPr lang="en-US" sz="11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Academy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119634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P-One(s) Pte Ltd. AAT</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Hub</a:t>
                      </a: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03475873"/>
                  </a:ext>
                </a:extLst>
              </a:tr>
              <a:tr h="118102">
                <a:tc vMerge="1">
                  <a:txBody>
                    <a:bodyPr/>
                    <a:lstStyle/>
                    <a:p>
                      <a:endParaRPr lang="en-US"/>
                    </a:p>
                  </a:txBody>
                  <a:tcPr/>
                </a:tc>
                <a:tc gridSpan="2">
                  <a:txBody>
                    <a:bodyPr/>
                    <a:lstStyle/>
                    <a:p>
                      <a:pPr marL="64135" marR="0">
                        <a:spcBef>
                          <a:spcPts val="14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846405054"/>
                  </a:ext>
                </a:extLst>
              </a:tr>
            </a:tbl>
          </a:graphicData>
        </a:graphic>
      </p:graphicFrame>
      <p:pic>
        <p:nvPicPr>
          <p:cNvPr id="38914" name="Image 55">
            <a:extLst>
              <a:ext uri="{FF2B5EF4-FFF2-40B4-BE49-F238E27FC236}">
                <a16:creationId xmlns:a16="http://schemas.microsoft.com/office/drawing/2014/main" id="{B642B05A-D591-682B-B9A4-59A0A7D499A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73540"/>
            <a:ext cx="7715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340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40</a:t>
            </a:fld>
            <a:endParaRPr lang="en-US" dirty="0"/>
          </a:p>
        </p:txBody>
      </p:sp>
      <p:graphicFrame>
        <p:nvGraphicFramePr>
          <p:cNvPr id="5" name="Table 4">
            <a:extLst>
              <a:ext uri="{FF2B5EF4-FFF2-40B4-BE49-F238E27FC236}">
                <a16:creationId xmlns:a16="http://schemas.microsoft.com/office/drawing/2014/main" id="{5B1EA21F-928C-4EB3-CFEF-D2C84FCE9057}"/>
              </a:ext>
            </a:extLst>
          </p:cNvPr>
          <p:cNvGraphicFramePr>
            <a:graphicFrameLocks noGrp="1"/>
          </p:cNvGraphicFramePr>
          <p:nvPr>
            <p:extLst>
              <p:ext uri="{D42A27DB-BD31-4B8C-83A1-F6EECF244321}">
                <p14:modId xmlns:p14="http://schemas.microsoft.com/office/powerpoint/2010/main" val="3156241524"/>
              </p:ext>
            </p:extLst>
          </p:nvPr>
        </p:nvGraphicFramePr>
        <p:xfrm>
          <a:off x="419100" y="1125060"/>
          <a:ext cx="11430000" cy="4634230"/>
        </p:xfrm>
        <a:graphic>
          <a:graphicData uri="http://schemas.openxmlformats.org/drawingml/2006/table">
            <a:tbl>
              <a:tblPr firstRow="1" firstCol="1" lastRow="1" lastCol="1" bandRow="1" bandCol="1"/>
              <a:tblGrid>
                <a:gridCol w="2426286">
                  <a:extLst>
                    <a:ext uri="{9D8B030D-6E8A-4147-A177-3AD203B41FA5}">
                      <a16:colId xmlns:a16="http://schemas.microsoft.com/office/drawing/2014/main" val="1041521578"/>
                    </a:ext>
                  </a:extLst>
                </a:gridCol>
                <a:gridCol w="9003714">
                  <a:extLst>
                    <a:ext uri="{9D8B030D-6E8A-4147-A177-3AD203B41FA5}">
                      <a16:colId xmlns:a16="http://schemas.microsoft.com/office/drawing/2014/main" val="4113654215"/>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Taiwan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447380"/>
                  </a:ext>
                </a:extLst>
              </a:tr>
              <a:tr h="19431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855093640"/>
                  </a:ext>
                </a:extLst>
              </a:tr>
              <a:tr h="851535">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ALATAS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3206250"/>
                  </a:ext>
                </a:extLst>
              </a:tr>
              <a:tr h="194945">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19623534"/>
                  </a:ext>
                </a:extLst>
              </a:tr>
              <a:tr h="681990">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LLOYDS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1727082"/>
                  </a:ext>
                </a:extLst>
              </a:tr>
              <a:tr h="191135">
                <a:tc rowSpan="2">
                  <a:txBody>
                    <a:bodyPr/>
                    <a:lstStyle/>
                    <a:p>
                      <a:pPr marL="0" marR="0">
                        <a:spcBef>
                          <a:spcPts val="76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7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50039234"/>
                  </a:ext>
                </a:extLst>
              </a:tr>
              <a:tr h="51117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5860276"/>
                  </a:ext>
                </a:extLst>
              </a:tr>
              <a:tr h="193040">
                <a:tc rowSpan="2">
                  <a:txBody>
                    <a:bodyPr/>
                    <a:lstStyle/>
                    <a:p>
                      <a:pPr marL="0" marR="0">
                        <a:spcBef>
                          <a:spcPts val="10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94488868"/>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2906554"/>
                  </a:ext>
                </a:extLst>
              </a:tr>
              <a:tr h="193040">
                <a:tc rowSpan="3">
                  <a:txBody>
                    <a:bodyPr/>
                    <a:lstStyle/>
                    <a:p>
                      <a:pPr marL="0" marR="0">
                        <a:spcBef>
                          <a:spcPts val="94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64838915"/>
                  </a:ext>
                </a:extLst>
              </a:tr>
              <a:tr h="383540">
                <a:tc vMerge="1">
                  <a:txBody>
                    <a:bodyPr/>
                    <a:lstStyle/>
                    <a:p>
                      <a:endParaRPr lang="en-US"/>
                    </a:p>
                  </a:txBody>
                  <a:tcPr/>
                </a:tc>
                <a:tc>
                  <a:txBody>
                    <a:bodyPr/>
                    <a:lstStyle/>
                    <a:p>
                      <a:pPr marL="64135" marR="4217670">
                        <a:lnSpc>
                          <a:spcPct val="98000"/>
                        </a:lnSpc>
                        <a:spcBef>
                          <a:spcPts val="1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92869782"/>
                  </a:ext>
                </a:extLst>
              </a:tr>
              <a:tr h="161290">
                <a:tc vMerge="1">
                  <a:txBody>
                    <a:bodyPr/>
                    <a:lstStyle/>
                    <a:p>
                      <a:endParaRPr lang="en-US"/>
                    </a:p>
                  </a:txBody>
                  <a:tcPr/>
                </a:tc>
                <a:tc>
                  <a:txBody>
                    <a:bodyPr/>
                    <a:lstStyle/>
                    <a:p>
                      <a:pPr marL="64135" marR="0">
                        <a:lnSpc>
                          <a:spcPts val="995"/>
                        </a:lnSpc>
                        <a:spcBef>
                          <a:spcPts val="175"/>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0441013"/>
                  </a:ext>
                </a:extLst>
              </a:tr>
            </a:tbl>
          </a:graphicData>
        </a:graphic>
      </p:graphicFrame>
      <p:pic>
        <p:nvPicPr>
          <p:cNvPr id="37890" name="Image 56">
            <a:extLst>
              <a:ext uri="{FF2B5EF4-FFF2-40B4-BE49-F238E27FC236}">
                <a16:creationId xmlns:a16="http://schemas.microsoft.com/office/drawing/2014/main" id="{3739FBDB-9A5B-072D-D992-273E0EBB695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05117"/>
            <a:ext cx="7715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669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41</a:t>
            </a:fld>
            <a:endParaRPr lang="en-US" dirty="0"/>
          </a:p>
        </p:txBody>
      </p:sp>
      <p:graphicFrame>
        <p:nvGraphicFramePr>
          <p:cNvPr id="5" name="Table 4">
            <a:extLst>
              <a:ext uri="{FF2B5EF4-FFF2-40B4-BE49-F238E27FC236}">
                <a16:creationId xmlns:a16="http://schemas.microsoft.com/office/drawing/2014/main" id="{D0F1883D-428D-F3E6-26B2-C26439738953}"/>
              </a:ext>
            </a:extLst>
          </p:cNvPr>
          <p:cNvGraphicFramePr>
            <a:graphicFrameLocks noGrp="1"/>
          </p:cNvGraphicFramePr>
          <p:nvPr>
            <p:extLst>
              <p:ext uri="{D42A27DB-BD31-4B8C-83A1-F6EECF244321}">
                <p14:modId xmlns:p14="http://schemas.microsoft.com/office/powerpoint/2010/main" val="2985922148"/>
              </p:ext>
            </p:extLst>
          </p:nvPr>
        </p:nvGraphicFramePr>
        <p:xfrm>
          <a:off x="419100" y="1092994"/>
          <a:ext cx="11430000" cy="4844416"/>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2893244283"/>
                    </a:ext>
                  </a:extLst>
                </a:gridCol>
                <a:gridCol w="9410700">
                  <a:extLst>
                    <a:ext uri="{9D8B030D-6E8A-4147-A177-3AD203B41FA5}">
                      <a16:colId xmlns:a16="http://schemas.microsoft.com/office/drawing/2014/main" val="2939916121"/>
                    </a:ext>
                  </a:extLst>
                </a:gridCol>
              </a:tblGrid>
              <a:tr h="600998">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China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1464715"/>
                  </a:ext>
                </a:extLst>
              </a:tr>
              <a:tr h="15840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112871754"/>
                  </a:ext>
                </a:extLst>
              </a:tr>
              <a:tr h="554927">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3944293"/>
                  </a:ext>
                </a:extLst>
              </a:tr>
              <a:tr h="15840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33460686"/>
                  </a:ext>
                </a:extLst>
              </a:tr>
              <a:tr h="834978">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6969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Bureau Veritas TUV NORD</a:t>
                      </a:r>
                      <a:r>
                        <a:rPr lang="en-US" sz="1100" spc="20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SKIP</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H-</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Lift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0683088"/>
                  </a:ext>
                </a:extLst>
              </a:tr>
              <a:tr h="157367">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198803156"/>
                  </a:ext>
                </a:extLst>
              </a:tr>
              <a:tr h="695211">
                <a:tc vMerge="1">
                  <a:txBody>
                    <a:bodyPr/>
                    <a:lstStyle/>
                    <a:p>
                      <a:endParaRPr lang="en-US"/>
                    </a:p>
                  </a:txBody>
                  <a:tcPr/>
                </a:tc>
                <a:tc>
                  <a:txBody>
                    <a:bodyPr/>
                    <a:lstStyle/>
                    <a:p>
                      <a:pPr marL="64135" marR="0" algn="just">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Bureau Veritas TUV NORD</a:t>
                      </a:r>
                    </a:p>
                    <a:p>
                      <a:pPr marL="64135" marR="0">
                        <a:lnSpc>
                          <a:spcPts val="1245"/>
                        </a:lnSpc>
                        <a:spcBef>
                          <a:spcPts val="5"/>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H-</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Lift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2325859"/>
                  </a:ext>
                </a:extLst>
              </a:tr>
              <a:tr h="158920">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54664897"/>
                  </a:ext>
                </a:extLst>
              </a:tr>
              <a:tr h="554927">
                <a:tc vMerge="1">
                  <a:txBody>
                    <a:bodyPr/>
                    <a:lstStyle/>
                    <a:p>
                      <a:endParaRPr lang="en-US"/>
                    </a:p>
                  </a:txBody>
                  <a:tcPr/>
                </a:tc>
                <a:tc>
                  <a:txBody>
                    <a:bodyPr/>
                    <a:lstStyle/>
                    <a:p>
                      <a:pPr marL="64135" marR="399796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IPAF-China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514370"/>
                  </a:ext>
                </a:extLst>
              </a:tr>
              <a:tr h="158403">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9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63776158"/>
                  </a:ext>
                </a:extLst>
              </a:tr>
              <a:tr h="617045">
                <a:tc vMerge="1">
                  <a:txBody>
                    <a:bodyPr/>
                    <a:lstStyle/>
                    <a:p>
                      <a:endParaRPr lang="en-US"/>
                    </a:p>
                  </a:txBody>
                  <a:tcPr/>
                </a:tc>
                <a:tc>
                  <a:txBody>
                    <a:bodyPr/>
                    <a:lstStyle/>
                    <a:p>
                      <a:pPr marL="64135" marR="399796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IPAF-China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51553970"/>
                  </a:ext>
                </a:extLst>
              </a:tr>
              <a:tr h="157367">
                <a:tc vMerge="1">
                  <a:txBody>
                    <a:bodyPr/>
                    <a:lstStyle/>
                    <a:p>
                      <a:endParaRPr lang="en-US"/>
                    </a:p>
                  </a:txBody>
                  <a:tcPr/>
                </a:tc>
                <a:tc>
                  <a:txBody>
                    <a:bodyPr/>
                    <a:lstStyle/>
                    <a:p>
                      <a:pPr marL="64135" marR="0">
                        <a:lnSpc>
                          <a:spcPts val="995"/>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24812"/>
                  </a:ext>
                </a:extLst>
              </a:tr>
            </a:tbl>
          </a:graphicData>
        </a:graphic>
      </p:graphicFrame>
      <p:pic>
        <p:nvPicPr>
          <p:cNvPr id="35842" name="Image 57">
            <a:extLst>
              <a:ext uri="{FF2B5EF4-FFF2-40B4-BE49-F238E27FC236}">
                <a16:creationId xmlns:a16="http://schemas.microsoft.com/office/drawing/2014/main" id="{CF55A0F7-BDA4-872F-ED99-37ACE19A002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666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7881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42</a:t>
            </a:fld>
            <a:endParaRPr lang="en-US" dirty="0"/>
          </a:p>
        </p:txBody>
      </p:sp>
      <p:graphicFrame>
        <p:nvGraphicFramePr>
          <p:cNvPr id="5" name="Table 4">
            <a:extLst>
              <a:ext uri="{FF2B5EF4-FFF2-40B4-BE49-F238E27FC236}">
                <a16:creationId xmlns:a16="http://schemas.microsoft.com/office/drawing/2014/main" id="{62294B16-345B-5B7F-DCE2-EB9D06F79967}"/>
              </a:ext>
            </a:extLst>
          </p:cNvPr>
          <p:cNvGraphicFramePr>
            <a:graphicFrameLocks noGrp="1"/>
          </p:cNvGraphicFramePr>
          <p:nvPr>
            <p:extLst>
              <p:ext uri="{D42A27DB-BD31-4B8C-83A1-F6EECF244321}">
                <p14:modId xmlns:p14="http://schemas.microsoft.com/office/powerpoint/2010/main" val="1392289052"/>
              </p:ext>
            </p:extLst>
          </p:nvPr>
        </p:nvGraphicFramePr>
        <p:xfrm>
          <a:off x="419100" y="1149335"/>
          <a:ext cx="11430000" cy="5010185"/>
        </p:xfrm>
        <a:graphic>
          <a:graphicData uri="http://schemas.openxmlformats.org/drawingml/2006/table">
            <a:tbl>
              <a:tblPr firstRow="1" firstCol="1" lastRow="1" lastCol="1" bandRow="1" bandCol="1"/>
              <a:tblGrid>
                <a:gridCol w="2047875">
                  <a:extLst>
                    <a:ext uri="{9D8B030D-6E8A-4147-A177-3AD203B41FA5}">
                      <a16:colId xmlns:a16="http://schemas.microsoft.com/office/drawing/2014/main" val="733713226"/>
                    </a:ext>
                  </a:extLst>
                </a:gridCol>
                <a:gridCol w="9382125">
                  <a:extLst>
                    <a:ext uri="{9D8B030D-6E8A-4147-A177-3AD203B41FA5}">
                      <a16:colId xmlns:a16="http://schemas.microsoft.com/office/drawing/2014/main" val="3466885932"/>
                    </a:ext>
                  </a:extLst>
                </a:gridCol>
              </a:tblGrid>
              <a:tr h="469138">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Malaysia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8050267"/>
                  </a:ext>
                </a:extLst>
              </a:tr>
              <a:tr h="123649">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7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7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7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7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7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7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7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16267966"/>
                  </a:ext>
                </a:extLst>
              </a:tr>
              <a:tr h="867966">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4135" marR="4145280">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Averest </a:t>
                      </a:r>
                      <a:r>
                        <a:rPr lang="en-US" sz="1100">
                          <a:effectLst/>
                          <a:latin typeface="Calibri" panose="020F0502020204030204" pitchFamily="34" charset="0"/>
                          <a:ea typeface="Calibri" panose="020F0502020204030204" pitchFamily="34" charset="0"/>
                          <a:cs typeface="Times New Roman" panose="02020603050405020304" pitchFamily="18" charset="0"/>
                        </a:rPr>
                        <a:t>ISO</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Group</a:t>
                      </a:r>
                    </a:p>
                    <a:p>
                      <a:pPr marL="64135" marR="32670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NOSH</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Global</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Sdn.Bhd </a:t>
                      </a: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0844284"/>
                  </a:ext>
                </a:extLst>
              </a:tr>
              <a:tr h="122841">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9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263972317"/>
                  </a:ext>
                </a:extLst>
              </a:tr>
              <a:tr h="867562">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ISO</a:t>
                      </a:r>
                      <a:r>
                        <a:rPr lang="en-US" sz="1100" spc="-10">
                          <a:effectLst/>
                          <a:latin typeface="Calibri" panose="020F0502020204030204" pitchFamily="34" charset="0"/>
                          <a:ea typeface="Calibri" panose="020F0502020204030204" pitchFamily="34" charset="0"/>
                          <a:cs typeface="Times New Roman" panose="02020603050405020304" pitchFamily="18" charset="0"/>
                        </a:rPr>
                        <a:t> Group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49059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NOSH</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Global</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Sdn.Bhd BSTC (RM1060) </a:t>
                      </a: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544545"/>
                  </a:ext>
                </a:extLst>
              </a:tr>
              <a:tr h="12243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6936936"/>
                  </a:ext>
                </a:extLst>
              </a:tr>
              <a:tr h="541873">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4135" marR="0" algn="just">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BSTC</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(RM848)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538801"/>
                  </a:ext>
                </a:extLst>
              </a:tr>
              <a:tr h="123649">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111241526"/>
                  </a:ext>
                </a:extLst>
              </a:tr>
              <a:tr h="650571">
                <a:tc vMerge="1">
                  <a:txBody>
                    <a:bodyPr/>
                    <a:lstStyle/>
                    <a:p>
                      <a:endParaRPr lang="en-US"/>
                    </a:p>
                  </a:txBody>
                  <a:tcPr/>
                </a:tc>
                <a:tc>
                  <a:txBody>
                    <a:bodyPr/>
                    <a:lstStyle/>
                    <a:p>
                      <a:pPr marL="64135" marR="399796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ISO</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Groupe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TOS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APIQO-</a:t>
                      </a:r>
                      <a:r>
                        <a:rPr lang="en-US" sz="1100" spc="-25">
                          <a:effectLst/>
                          <a:latin typeface="Calibri" panose="020F0502020204030204" pitchFamily="34" charset="0"/>
                          <a:ea typeface="Calibri" panose="020F0502020204030204" pitchFamily="34" charset="0"/>
                          <a:cs typeface="Times New Roman" panose="02020603050405020304" pitchFamily="18" charset="0"/>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BSTC</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(RM848)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4882926"/>
                  </a:ext>
                </a:extLst>
              </a:tr>
              <a:tr h="124053">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3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534294280"/>
                  </a:ext>
                </a:extLst>
              </a:tr>
              <a:tr h="684513">
                <a:tc vMerge="1">
                  <a:txBody>
                    <a:bodyPr/>
                    <a:lstStyle/>
                    <a:p>
                      <a:endParaRPr lang="en-US"/>
                    </a:p>
                  </a:txBody>
                  <a:tcPr/>
                </a:tc>
                <a:tc>
                  <a:txBody>
                    <a:bodyPr/>
                    <a:lstStyle/>
                    <a:p>
                      <a:pPr marL="64135" marR="399796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ISO</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Groupe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TOS</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APIQO-</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01)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BSTC</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(RM1802</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and</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1908)</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96042084"/>
                  </a:ext>
                </a:extLst>
              </a:tr>
              <a:tr h="108698">
                <a:tc vMerge="1">
                  <a:txBody>
                    <a:bodyPr/>
                    <a:lstStyle/>
                    <a:p>
                      <a:endParaRPr lang="en-US"/>
                    </a:p>
                  </a:txBody>
                  <a:tcPr/>
                </a:tc>
                <a:tc>
                  <a:txBody>
                    <a:bodyPr/>
                    <a:lstStyle/>
                    <a:p>
                      <a:pPr marL="64135" marR="0">
                        <a:lnSpc>
                          <a:spcPts val="995"/>
                        </a:lnSpc>
                        <a:spcBef>
                          <a:spcPts val="25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4025453"/>
                  </a:ext>
                </a:extLst>
              </a:tr>
            </a:tbl>
          </a:graphicData>
        </a:graphic>
      </p:graphicFrame>
      <p:pic>
        <p:nvPicPr>
          <p:cNvPr id="34818" name="Image 58">
            <a:extLst>
              <a:ext uri="{FF2B5EF4-FFF2-40B4-BE49-F238E27FC236}">
                <a16:creationId xmlns:a16="http://schemas.microsoft.com/office/drawing/2014/main" id="{FF398410-7625-80B8-2A76-85BDDC29C72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60585"/>
            <a:ext cx="647700" cy="64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553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43</a:t>
            </a:fld>
            <a:endParaRPr lang="en-US" dirty="0"/>
          </a:p>
        </p:txBody>
      </p:sp>
      <p:graphicFrame>
        <p:nvGraphicFramePr>
          <p:cNvPr id="5" name="Table 4">
            <a:extLst>
              <a:ext uri="{FF2B5EF4-FFF2-40B4-BE49-F238E27FC236}">
                <a16:creationId xmlns:a16="http://schemas.microsoft.com/office/drawing/2014/main" id="{693985CE-A3E7-7322-8E4B-FE99CD3FB931}"/>
              </a:ext>
            </a:extLst>
          </p:cNvPr>
          <p:cNvGraphicFramePr>
            <a:graphicFrameLocks noGrp="1"/>
          </p:cNvGraphicFramePr>
          <p:nvPr>
            <p:extLst>
              <p:ext uri="{D42A27DB-BD31-4B8C-83A1-F6EECF244321}">
                <p14:modId xmlns:p14="http://schemas.microsoft.com/office/powerpoint/2010/main" val="2617258425"/>
              </p:ext>
            </p:extLst>
          </p:nvPr>
        </p:nvGraphicFramePr>
        <p:xfrm>
          <a:off x="419100" y="1110946"/>
          <a:ext cx="11430000" cy="4865341"/>
        </p:xfrm>
        <a:graphic>
          <a:graphicData uri="http://schemas.openxmlformats.org/drawingml/2006/table">
            <a:tbl>
              <a:tblPr firstRow="1" firstCol="1" lastRow="1" lastCol="1" bandRow="1" bandCol="1"/>
              <a:tblGrid>
                <a:gridCol w="2009775">
                  <a:extLst>
                    <a:ext uri="{9D8B030D-6E8A-4147-A177-3AD203B41FA5}">
                      <a16:colId xmlns:a16="http://schemas.microsoft.com/office/drawing/2014/main" val="737500669"/>
                    </a:ext>
                  </a:extLst>
                </a:gridCol>
                <a:gridCol w="9420225">
                  <a:extLst>
                    <a:ext uri="{9D8B030D-6E8A-4147-A177-3AD203B41FA5}">
                      <a16:colId xmlns:a16="http://schemas.microsoft.com/office/drawing/2014/main" val="2850016349"/>
                    </a:ext>
                  </a:extLst>
                </a:gridCol>
              </a:tblGrid>
              <a:tr h="582056">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Philippines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8057524"/>
                  </a:ext>
                </a:extLst>
              </a:tr>
              <a:tr h="15341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0870636"/>
                  </a:ext>
                </a:extLst>
              </a:tr>
              <a:tr h="672297">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4135" marR="0">
                        <a:lnSpc>
                          <a:spcPts val="1240"/>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ALATAS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9227711"/>
                  </a:ext>
                </a:extLst>
              </a:tr>
              <a:tr h="153911">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58500115"/>
                  </a:ext>
                </a:extLst>
              </a:tr>
              <a:tr h="545509">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3129229"/>
                  </a:ext>
                </a:extLst>
              </a:tr>
              <a:tr h="15090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6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7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510751233"/>
                  </a:ext>
                </a:extLst>
              </a:tr>
              <a:tr h="685884">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11270">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 TUV NORD </a:t>
                      </a:r>
                      <a:r>
                        <a:rPr lang="en-US" sz="1100" spc="-10">
                          <a:effectLst/>
                          <a:latin typeface="Calibri" panose="020F0502020204030204" pitchFamily="34" charset="0"/>
                          <a:ea typeface="Calibri" panose="020F0502020204030204" pitchFamily="34" charset="0"/>
                          <a:cs typeface="Times New Roman" panose="02020603050405020304" pitchFamily="18" charset="0"/>
                        </a:rPr>
                        <a:t>TESDA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7726561"/>
                  </a:ext>
                </a:extLst>
              </a:tr>
              <a:tr h="15140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43949891"/>
                  </a:ext>
                </a:extLst>
              </a:tr>
              <a:tr h="672297">
                <a:tc vMerge="1">
                  <a:txBody>
                    <a:bodyPr/>
                    <a:lstStyle/>
                    <a:p>
                      <a:endParaRPr lang="en-US"/>
                    </a:p>
                  </a:txBody>
                  <a:tcPr/>
                </a:tc>
                <a:tc>
                  <a:txBody>
                    <a:bodyPr/>
                    <a:lstStyle/>
                    <a:p>
                      <a:pPr marL="64135" marR="399796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TESDA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Mcbeker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0196636"/>
                  </a:ext>
                </a:extLst>
              </a:tr>
              <a:tr h="1534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88448140"/>
                  </a:ext>
                </a:extLst>
              </a:tr>
              <a:tr h="731957">
                <a:tc vMerge="1">
                  <a:txBody>
                    <a:bodyPr/>
                    <a:lstStyle/>
                    <a:p>
                      <a:endParaRPr lang="en-US"/>
                    </a:p>
                  </a:txBody>
                  <a:tcPr/>
                </a:tc>
                <a:tc>
                  <a:txBody>
                    <a:bodyPr/>
                    <a:lstStyle/>
                    <a:p>
                      <a:pPr marL="64135" marR="399796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TESDA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Mcbeker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0813822"/>
                  </a:ext>
                </a:extLst>
              </a:tr>
              <a:tr h="153911">
                <a:tc vMerge="1">
                  <a:txBody>
                    <a:bodyPr/>
                    <a:lstStyle/>
                    <a:p>
                      <a:endParaRPr lang="en-US"/>
                    </a:p>
                  </a:txBody>
                  <a:tcPr/>
                </a:tc>
                <a:tc>
                  <a:txBody>
                    <a:bodyPr/>
                    <a:lstStyle/>
                    <a:p>
                      <a:pPr marL="64135" marR="0">
                        <a:lnSpc>
                          <a:spcPts val="1010"/>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5862501"/>
                  </a:ext>
                </a:extLst>
              </a:tr>
            </a:tbl>
          </a:graphicData>
        </a:graphic>
      </p:graphicFrame>
      <p:pic>
        <p:nvPicPr>
          <p:cNvPr id="33794" name="Image 59">
            <a:extLst>
              <a:ext uri="{FF2B5EF4-FFF2-40B4-BE49-F238E27FC236}">
                <a16:creationId xmlns:a16="http://schemas.microsoft.com/office/drawing/2014/main" id="{7268FF92-420D-DC49-FD97-D66612938F1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75270"/>
            <a:ext cx="6381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889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44</a:t>
            </a:fld>
            <a:endParaRPr lang="en-US" dirty="0"/>
          </a:p>
        </p:txBody>
      </p:sp>
      <p:graphicFrame>
        <p:nvGraphicFramePr>
          <p:cNvPr id="5" name="Table 4">
            <a:extLst>
              <a:ext uri="{FF2B5EF4-FFF2-40B4-BE49-F238E27FC236}">
                <a16:creationId xmlns:a16="http://schemas.microsoft.com/office/drawing/2014/main" id="{C67A2560-7EF9-6BA6-9CD2-F220EF11672B}"/>
              </a:ext>
            </a:extLst>
          </p:cNvPr>
          <p:cNvGraphicFramePr>
            <a:graphicFrameLocks noGrp="1"/>
          </p:cNvGraphicFramePr>
          <p:nvPr>
            <p:extLst>
              <p:ext uri="{D42A27DB-BD31-4B8C-83A1-F6EECF244321}">
                <p14:modId xmlns:p14="http://schemas.microsoft.com/office/powerpoint/2010/main" val="3085317111"/>
              </p:ext>
            </p:extLst>
          </p:nvPr>
        </p:nvGraphicFramePr>
        <p:xfrm>
          <a:off x="419100" y="1145664"/>
          <a:ext cx="11430000" cy="4861987"/>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3290776126"/>
                    </a:ext>
                  </a:extLst>
                </a:gridCol>
                <a:gridCol w="9401735">
                  <a:extLst>
                    <a:ext uri="{9D8B030D-6E8A-4147-A177-3AD203B41FA5}">
                      <a16:colId xmlns:a16="http://schemas.microsoft.com/office/drawing/2014/main" val="4235945144"/>
                    </a:ext>
                  </a:extLst>
                </a:gridCol>
              </a:tblGrid>
              <a:tr h="583340">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Thailand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0074890"/>
                  </a:ext>
                </a:extLst>
              </a:tr>
              <a:tr h="153748">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37308789"/>
                  </a:ext>
                </a:extLst>
              </a:tr>
              <a:tr h="538622">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7966608"/>
                  </a:ext>
                </a:extLst>
              </a:tr>
              <a:tr h="153748">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7121)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110354394"/>
                  </a:ext>
                </a:extLst>
              </a:tr>
              <a:tr h="546712">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2321341"/>
                  </a:ext>
                </a:extLst>
              </a:tr>
              <a:tr h="151739">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9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42017453"/>
                  </a:ext>
                </a:extLst>
              </a:tr>
              <a:tr h="809943">
                <a:tc vMerge="1">
                  <a:txBody>
                    <a:bodyPr/>
                    <a:lstStyle/>
                    <a:p>
                      <a:endParaRPr lang="en-US"/>
                    </a:p>
                  </a:txBody>
                  <a:tcPr/>
                </a:tc>
                <a:tc>
                  <a:txBody>
                    <a:bodyPr/>
                    <a:lstStyle/>
                    <a:p>
                      <a:pPr marL="64135" marR="0">
                        <a:lnSpc>
                          <a:spcPts val="133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6969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 TUV NORD</a:t>
                      </a:r>
                      <a:r>
                        <a:rPr lang="en-US" sz="1100" spc="20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TPTI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MOGIT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8600844"/>
                  </a:ext>
                </a:extLst>
              </a:tr>
              <a:tr h="153748">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46187162"/>
                  </a:ext>
                </a:extLst>
              </a:tr>
              <a:tr h="673780">
                <a:tc vMerge="1">
                  <a:txBody>
                    <a:bodyPr/>
                    <a:lstStyle/>
                    <a:p>
                      <a:endParaRPr lang="en-US"/>
                    </a:p>
                  </a:txBody>
                  <a:tcPr/>
                </a:tc>
                <a:tc>
                  <a:txBody>
                    <a:bodyPr/>
                    <a:lstStyle/>
                    <a:p>
                      <a:pPr marL="64135" marR="399796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PTTCO</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school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TOS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APIQO-</a:t>
                      </a:r>
                      <a:r>
                        <a:rPr lang="en-US" sz="1100" spc="-25">
                          <a:effectLst/>
                          <a:latin typeface="Calibri" panose="020F0502020204030204" pitchFamily="34" charset="0"/>
                          <a:ea typeface="Calibri" panose="020F0502020204030204" pitchFamily="34" charset="0"/>
                          <a:cs typeface="Times New Roman" panose="02020603050405020304" pitchFamily="18" charset="0"/>
                        </a:rPr>
                        <a:t>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5827657"/>
                  </a:ext>
                </a:extLst>
              </a:tr>
              <a:tr h="153748">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77569685"/>
                  </a:ext>
                </a:extLst>
              </a:tr>
              <a:tr h="733571">
                <a:tc vMerge="1">
                  <a:txBody>
                    <a:bodyPr/>
                    <a:lstStyle/>
                    <a:p>
                      <a:endParaRPr lang="en-US"/>
                    </a:p>
                  </a:txBody>
                  <a:tcPr/>
                </a:tc>
                <a:tc>
                  <a:txBody>
                    <a:bodyPr/>
                    <a:lstStyle/>
                    <a:p>
                      <a:pPr marL="64135" marR="399796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49758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PTTCO</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school TOS ( APIQO-01)</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86698773"/>
                  </a:ext>
                </a:extLst>
              </a:tr>
              <a:tr h="154251">
                <a:tc vMerge="1">
                  <a:txBody>
                    <a:bodyPr/>
                    <a:lstStyle/>
                    <a:p>
                      <a:endParaRPr lang="en-US"/>
                    </a:p>
                  </a:txBody>
                  <a:tcPr/>
                </a:tc>
                <a:tc>
                  <a:txBody>
                    <a:bodyPr/>
                    <a:lstStyle/>
                    <a:p>
                      <a:pPr marL="64135" marR="0">
                        <a:lnSpc>
                          <a:spcPts val="1010"/>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7032133"/>
                  </a:ext>
                </a:extLst>
              </a:tr>
            </a:tbl>
          </a:graphicData>
        </a:graphic>
      </p:graphicFrame>
      <p:pic>
        <p:nvPicPr>
          <p:cNvPr id="32770" name="Image 60">
            <a:extLst>
              <a:ext uri="{FF2B5EF4-FFF2-40B4-BE49-F238E27FC236}">
                <a16:creationId xmlns:a16="http://schemas.microsoft.com/office/drawing/2014/main" id="{29A0F1C2-C62B-555F-8B15-C2EA53DEDED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23223"/>
            <a:ext cx="6191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098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45</a:t>
            </a:fld>
            <a:endParaRPr lang="en-US" dirty="0"/>
          </a:p>
        </p:txBody>
      </p:sp>
      <p:graphicFrame>
        <p:nvGraphicFramePr>
          <p:cNvPr id="5" name="Table 4">
            <a:extLst>
              <a:ext uri="{FF2B5EF4-FFF2-40B4-BE49-F238E27FC236}">
                <a16:creationId xmlns:a16="http://schemas.microsoft.com/office/drawing/2014/main" id="{264EA98A-41AA-B1BE-5B79-522A01E6AA3F}"/>
              </a:ext>
            </a:extLst>
          </p:cNvPr>
          <p:cNvGraphicFramePr>
            <a:graphicFrameLocks noGrp="1"/>
          </p:cNvGraphicFramePr>
          <p:nvPr>
            <p:extLst>
              <p:ext uri="{D42A27DB-BD31-4B8C-83A1-F6EECF244321}">
                <p14:modId xmlns:p14="http://schemas.microsoft.com/office/powerpoint/2010/main" val="3001011801"/>
              </p:ext>
            </p:extLst>
          </p:nvPr>
        </p:nvGraphicFramePr>
        <p:xfrm>
          <a:off x="419100" y="1029651"/>
          <a:ext cx="11430000" cy="5059328"/>
        </p:xfrm>
        <a:graphic>
          <a:graphicData uri="http://schemas.openxmlformats.org/drawingml/2006/table">
            <a:tbl>
              <a:tblPr firstRow="1" firstCol="1" lastRow="1" lastCol="1" bandRow="1" bandCol="1"/>
              <a:tblGrid>
                <a:gridCol w="2047875">
                  <a:extLst>
                    <a:ext uri="{9D8B030D-6E8A-4147-A177-3AD203B41FA5}">
                      <a16:colId xmlns:a16="http://schemas.microsoft.com/office/drawing/2014/main" val="3620837700"/>
                    </a:ext>
                  </a:extLst>
                </a:gridCol>
                <a:gridCol w="9382125">
                  <a:extLst>
                    <a:ext uri="{9D8B030D-6E8A-4147-A177-3AD203B41FA5}">
                      <a16:colId xmlns:a16="http://schemas.microsoft.com/office/drawing/2014/main" val="719997630"/>
                    </a:ext>
                  </a:extLst>
                </a:gridCol>
              </a:tblGrid>
              <a:tr h="499764">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Indonesia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1945139"/>
                  </a:ext>
                </a:extLst>
              </a:tr>
              <a:tr h="131721">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7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7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7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7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7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7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7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7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46060627"/>
                  </a:ext>
                </a:extLst>
              </a:tr>
              <a:tr h="808835">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Rigspek</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Perkasa</a:t>
                      </a:r>
                      <a:r>
                        <a:rPr lang="en-US" sz="1100" spc="-10">
                          <a:effectLst/>
                          <a:latin typeface="Calibri" panose="020F0502020204030204" pitchFamily="34" charset="0"/>
                          <a:ea typeface="Calibri" panose="020F0502020204030204" pitchFamily="34" charset="0"/>
                          <a:cs typeface="Times New Roman" panose="02020603050405020304" pitchFamily="18" charset="0"/>
                        </a:rPr>
                        <a:t> (LEEA)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395855" algn="just">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Wire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Rope</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Consultancy</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856990" algn="just">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4135" marR="0">
                        <a:lnSpc>
                          <a:spcPts val="1245"/>
                        </a:lnSpc>
                        <a:spcBef>
                          <a:spcPts val="1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ALATAS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9534120"/>
                  </a:ext>
                </a:extLst>
              </a:tr>
              <a:tr h="131721">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6328393"/>
                  </a:ext>
                </a:extLst>
              </a:tr>
              <a:tr h="808404">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Rigspek</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Perkasa</a:t>
                      </a:r>
                      <a:r>
                        <a:rPr lang="en-US" sz="1100" spc="-10">
                          <a:effectLst/>
                          <a:latin typeface="Calibri" panose="020F0502020204030204" pitchFamily="34" charset="0"/>
                          <a:ea typeface="Calibri" panose="020F0502020204030204" pitchFamily="34" charset="0"/>
                          <a:cs typeface="Times New Roman" panose="02020603050405020304" pitchFamily="18" charset="0"/>
                        </a:rPr>
                        <a:t> (LEEA)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395855"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Wire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Rope</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Consultancy</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85699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4135" marR="0" algn="just">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LERUS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3518397"/>
                  </a:ext>
                </a:extLst>
              </a:tr>
              <a:tr h="131721">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85748416"/>
                  </a:ext>
                </a:extLst>
              </a:tr>
              <a:tr h="808835">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Rigspek</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Perkasa</a:t>
                      </a:r>
                      <a:r>
                        <a:rPr lang="en-US" sz="1100" spc="-10">
                          <a:effectLst/>
                          <a:latin typeface="Calibri" panose="020F0502020204030204" pitchFamily="34" charset="0"/>
                          <a:ea typeface="Calibri" panose="020F0502020204030204" pitchFamily="34" charset="0"/>
                          <a:cs typeface="Times New Roman" panose="02020603050405020304" pitchFamily="18" charset="0"/>
                        </a:rPr>
                        <a:t> (LEEA)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395855"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Wire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Rope</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Consultancy</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856990" algn="just">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4135" marR="0" algn="just">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LERUS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957164"/>
                  </a:ext>
                </a:extLst>
              </a:tr>
              <a:tr h="131721">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48848679"/>
                  </a:ext>
                </a:extLst>
              </a:tr>
              <a:tr h="462314">
                <a:tc vMerge="1">
                  <a:txBody>
                    <a:bodyPr/>
                    <a:lstStyle/>
                    <a:p>
                      <a:endParaRPr lang="en-US"/>
                    </a:p>
                  </a:txBody>
                  <a:tcPr/>
                </a:tc>
                <a:tc>
                  <a:txBody>
                    <a:bodyPr/>
                    <a:lstStyle/>
                    <a:p>
                      <a:pPr marL="64135" marR="399796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SBI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8347919"/>
                  </a:ext>
                </a:extLst>
              </a:tr>
              <a:tr h="13086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3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89141741"/>
                  </a:ext>
                </a:extLst>
              </a:tr>
              <a:tr h="571651">
                <a:tc vMerge="1">
                  <a:txBody>
                    <a:bodyPr/>
                    <a:lstStyle/>
                    <a:p>
                      <a:endParaRPr lang="en-US"/>
                    </a:p>
                  </a:txBody>
                  <a:tcPr/>
                </a:tc>
                <a:tc>
                  <a:txBody>
                    <a:bodyPr/>
                    <a:lstStyle/>
                    <a:p>
                      <a:pPr marL="64135" marR="399796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SBI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01221941"/>
                  </a:ext>
                </a:extLst>
              </a:tr>
              <a:tr h="189403">
                <a:tc vMerge="1">
                  <a:txBody>
                    <a:bodyPr/>
                    <a:lstStyle/>
                    <a:p>
                      <a:endParaRPr lang="en-US"/>
                    </a:p>
                  </a:txBody>
                  <a:tcPr/>
                </a:tc>
                <a:tc>
                  <a:txBody>
                    <a:bodyPr/>
                    <a:lstStyle/>
                    <a:p>
                      <a:pPr marL="0" marR="0">
                        <a:spcBef>
                          <a:spcPts val="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995"/>
                        </a:lnSpc>
                        <a:spcBef>
                          <a:spcPts val="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2846363"/>
                  </a:ext>
                </a:extLst>
              </a:tr>
            </a:tbl>
          </a:graphicData>
        </a:graphic>
      </p:graphicFrame>
      <p:pic>
        <p:nvPicPr>
          <p:cNvPr id="31746" name="Image 61">
            <a:extLst>
              <a:ext uri="{FF2B5EF4-FFF2-40B4-BE49-F238E27FC236}">
                <a16:creationId xmlns:a16="http://schemas.microsoft.com/office/drawing/2014/main" id="{B85D93E0-F307-BE53-3D21-7BEAD93F7B6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47738"/>
            <a:ext cx="6191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3550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46</a:t>
            </a:fld>
            <a:endParaRPr lang="en-US" dirty="0"/>
          </a:p>
        </p:txBody>
      </p:sp>
      <p:graphicFrame>
        <p:nvGraphicFramePr>
          <p:cNvPr id="5" name="Table 4">
            <a:extLst>
              <a:ext uri="{FF2B5EF4-FFF2-40B4-BE49-F238E27FC236}">
                <a16:creationId xmlns:a16="http://schemas.microsoft.com/office/drawing/2014/main" id="{0273F02B-CDCA-8D76-3F4D-18B8E0FEE28F}"/>
              </a:ext>
            </a:extLst>
          </p:cNvPr>
          <p:cNvGraphicFramePr>
            <a:graphicFrameLocks noGrp="1"/>
          </p:cNvGraphicFramePr>
          <p:nvPr>
            <p:extLst>
              <p:ext uri="{D42A27DB-BD31-4B8C-83A1-F6EECF244321}">
                <p14:modId xmlns:p14="http://schemas.microsoft.com/office/powerpoint/2010/main" val="1132948278"/>
              </p:ext>
            </p:extLst>
          </p:nvPr>
        </p:nvGraphicFramePr>
        <p:xfrm>
          <a:off x="381000" y="1028432"/>
          <a:ext cx="11430000" cy="5097597"/>
        </p:xfrm>
        <a:graphic>
          <a:graphicData uri="http://schemas.openxmlformats.org/drawingml/2006/table">
            <a:tbl>
              <a:tblPr firstRow="1" firstCol="1" lastRow="1" lastCol="1" bandRow="1" bandCol="1"/>
              <a:tblGrid>
                <a:gridCol w="2075329">
                  <a:extLst>
                    <a:ext uri="{9D8B030D-6E8A-4147-A177-3AD203B41FA5}">
                      <a16:colId xmlns:a16="http://schemas.microsoft.com/office/drawing/2014/main" val="2215735409"/>
                    </a:ext>
                  </a:extLst>
                </a:gridCol>
                <a:gridCol w="9354671">
                  <a:extLst>
                    <a:ext uri="{9D8B030D-6E8A-4147-A177-3AD203B41FA5}">
                      <a16:colId xmlns:a16="http://schemas.microsoft.com/office/drawing/2014/main" val="1026119722"/>
                    </a:ext>
                  </a:extLst>
                </a:gridCol>
              </a:tblGrid>
              <a:tr h="509110">
                <a:tc>
                  <a:txBody>
                    <a:bodyPr/>
                    <a:lstStyle/>
                    <a:p>
                      <a:pPr marL="67945" marR="0">
                        <a:spcBef>
                          <a:spcPts val="1680"/>
                        </a:spcBef>
                        <a:spcAft>
                          <a:spcPts val="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New</a:t>
                      </a:r>
                      <a:r>
                        <a:rPr lang="en-US" sz="1400" b="1" spc="-10"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Zealand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1494353"/>
                  </a:ext>
                </a:extLst>
              </a:tr>
              <a:tr h="134184">
                <a:tc rowSpan="2">
                  <a:txBody>
                    <a:bodyPr/>
                    <a:lstStyle/>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8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8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8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8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52202073"/>
                  </a:ext>
                </a:extLst>
              </a:tr>
              <a:tr h="23548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Te</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Pukenga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APOLO</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from</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any</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approved</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center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(Approved</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CPCS)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9053294"/>
                  </a:ext>
                </a:extLst>
              </a:tr>
              <a:tr h="13330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8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82387049"/>
                  </a:ext>
                </a:extLst>
              </a:tr>
              <a:tr h="824838">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Rigspek</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Perkasa</a:t>
                      </a:r>
                      <a:r>
                        <a:rPr lang="en-US" sz="1100" spc="-10">
                          <a:effectLst/>
                          <a:latin typeface="Calibri" panose="020F0502020204030204" pitchFamily="34" charset="0"/>
                          <a:ea typeface="Calibri" panose="020F0502020204030204" pitchFamily="34" charset="0"/>
                          <a:cs typeface="Times New Roman" panose="02020603050405020304" pitchFamily="18" charset="0"/>
                        </a:rPr>
                        <a:t> (LEEA)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395855"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Wire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Rope</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Consultancy</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856990" algn="just">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TUV NORD</a:t>
                      </a:r>
                    </a:p>
                    <a:p>
                      <a:pPr marL="64135" marR="0" algn="just">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LERUS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461775"/>
                  </a:ext>
                </a:extLst>
              </a:tr>
              <a:tr h="13330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III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197872494"/>
                  </a:ext>
                </a:extLst>
              </a:tr>
              <a:tr h="824838">
                <a:tc vMerge="1">
                  <a:txBody>
                    <a:bodyPr/>
                    <a:lstStyle/>
                    <a:p>
                      <a:endParaRPr lang="en-US"/>
                    </a:p>
                  </a:txBody>
                  <a:tcPr/>
                </a:tc>
                <a:tc>
                  <a:txBody>
                    <a:bodyPr/>
                    <a:lstStyle/>
                    <a:p>
                      <a:pPr marL="64135" marR="172656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NZ</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Certificate</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III</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(Skills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Consulting</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Group) Major Oak Safety Training Limited</a:t>
                      </a:r>
                    </a:p>
                    <a:p>
                      <a:pPr marL="64135" marR="381635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Vertical</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Horizon Te Pukenga </a:t>
                      </a:r>
                      <a:r>
                        <a:rPr lang="en-US" sz="1100" spc="-10">
                          <a:effectLst/>
                          <a:latin typeface="Calibri" panose="020F0502020204030204" pitchFamily="34" charset="0"/>
                          <a:ea typeface="Calibri" panose="020F0502020204030204" pitchFamily="34" charset="0"/>
                          <a:cs typeface="Times New Roman" panose="02020603050405020304" pitchFamily="18" charset="0"/>
                        </a:rPr>
                        <a:t>Axiom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41693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Neames Limited 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(GWO)</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6674721"/>
                  </a:ext>
                </a:extLst>
              </a:tr>
              <a:tr h="13243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NZ</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Level</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5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85018157"/>
                  </a:ext>
                </a:extLst>
              </a:tr>
              <a:tr h="942797">
                <a:tc vMerge="1">
                  <a:txBody>
                    <a:bodyPr/>
                    <a:lstStyle/>
                    <a:p>
                      <a:endParaRPr lang="en-US"/>
                    </a:p>
                  </a:txBody>
                  <a:tcPr/>
                </a:tc>
                <a:tc>
                  <a:txBody>
                    <a:bodyPr/>
                    <a:lstStyle/>
                    <a:p>
                      <a:pPr marL="64135" marR="3816350">
                        <a:lnSpc>
                          <a:spcPct val="98000"/>
                        </a:lnSpc>
                        <a:spcBef>
                          <a:spcPts val="1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Vertical</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Horizon Te Pukenga</a:t>
                      </a:r>
                    </a:p>
                    <a:p>
                      <a:pPr marL="64135" marR="2797175">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Major</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Oak</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Safety</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Limited AMS Group Limited</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Safety</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a:t>
                      </a:r>
                      <a:r>
                        <a:rPr lang="en-US" sz="1100" spc="-10">
                          <a:effectLst/>
                          <a:latin typeface="Calibri" panose="020F0502020204030204" pitchFamily="34" charset="0"/>
                          <a:ea typeface="Calibri" panose="020F0502020204030204" pitchFamily="34" charset="0"/>
                          <a:cs typeface="Times New Roman" panose="02020603050405020304" pitchFamily="18" charset="0"/>
                        </a:rPr>
                        <a:t> Action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Axiom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Neames</a:t>
                      </a:r>
                      <a:r>
                        <a:rPr lang="en-US" sz="1100" spc="-10">
                          <a:effectLst/>
                          <a:latin typeface="Calibri" panose="020F0502020204030204" pitchFamily="34" charset="0"/>
                          <a:ea typeface="Calibri" panose="020F0502020204030204" pitchFamily="34" charset="0"/>
                          <a:cs typeface="Times New Roman" panose="02020603050405020304" pitchFamily="18" charset="0"/>
                        </a:rPr>
                        <a:t> Limited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SRD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10">
                          <a:effectLst/>
                          <a:latin typeface="Calibri" panose="020F0502020204030204" pitchFamily="34" charset="0"/>
                          <a:ea typeface="Calibri" panose="020F0502020204030204" pitchFamily="34" charset="0"/>
                          <a:cs typeface="Times New Roman" panose="02020603050405020304" pitchFamily="18" charset="0"/>
                        </a:rPr>
                        <a:t> Assessment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099592"/>
                  </a:ext>
                </a:extLst>
              </a:tr>
              <a:tr h="133307">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6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NZ</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Level</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5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78252209"/>
                  </a:ext>
                </a:extLst>
              </a:tr>
              <a:tr h="714333">
                <a:tc vMerge="1">
                  <a:txBody>
                    <a:bodyPr/>
                    <a:lstStyle/>
                    <a:p>
                      <a:endParaRPr lang="en-US"/>
                    </a:p>
                  </a:txBody>
                  <a:tcPr/>
                </a:tc>
                <a:tc>
                  <a:txBody>
                    <a:bodyPr/>
                    <a:lstStyle/>
                    <a:p>
                      <a:pPr marL="64135" marR="3816350">
                        <a:lnSpc>
                          <a:spcPct val="98000"/>
                        </a:lnSpc>
                        <a:spcBef>
                          <a:spcPts val="1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Vertical</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Horizon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Te</a:t>
                      </a: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Pukenga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2797175">
                        <a:spcBef>
                          <a:spcPts val="1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Major</a:t>
                      </a:r>
                      <a:r>
                        <a:rPr lang="en-US" sz="11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Oak</a:t>
                      </a:r>
                      <a:r>
                        <a:rPr lang="en-US" sz="11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Safety</a:t>
                      </a:r>
                      <a:r>
                        <a:rPr lang="en-US" sz="11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Limited AMS Group Limited</a:t>
                      </a:r>
                    </a:p>
                    <a:p>
                      <a:pPr marL="64135" marR="0">
                        <a:spcBef>
                          <a:spcPts val="5"/>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Axiom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0"/>
                        </a:lnSpc>
                        <a:spcBef>
                          <a:spcPts val="0"/>
                        </a:spcBef>
                        <a:spcAft>
                          <a:spcPts val="0"/>
                        </a:spcAft>
                      </a:pPr>
                      <a:r>
                        <a:rPr lang="en-US" sz="1100" dirty="0" err="1">
                          <a:effectLst/>
                          <a:latin typeface="Calibri" panose="020F0502020204030204" pitchFamily="34" charset="0"/>
                          <a:ea typeface="Calibri" panose="020F0502020204030204" pitchFamily="34" charset="0"/>
                          <a:cs typeface="Times New Roman" panose="02020603050405020304" pitchFamily="18" charset="0"/>
                        </a:rPr>
                        <a:t>Neames</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Limited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248100468"/>
                  </a:ext>
                </a:extLst>
              </a:tr>
              <a:tr h="89018">
                <a:tc vMerge="1">
                  <a:txBody>
                    <a:bodyPr/>
                    <a:lstStyle/>
                    <a:p>
                      <a:endParaRPr lang="en-US"/>
                    </a:p>
                  </a:txBody>
                  <a:tcPr/>
                </a:tc>
                <a:tc>
                  <a:txBody>
                    <a:bodyPr/>
                    <a:lstStyle/>
                    <a:p>
                      <a:pPr marL="64135" marR="0">
                        <a:lnSpc>
                          <a:spcPts val="920"/>
                        </a:lnSpc>
                        <a:spcBef>
                          <a:spcPts val="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4362685"/>
                  </a:ext>
                </a:extLst>
              </a:tr>
            </a:tbl>
          </a:graphicData>
        </a:graphic>
      </p:graphicFrame>
      <p:pic>
        <p:nvPicPr>
          <p:cNvPr id="30722" name="Image 62">
            <a:extLst>
              <a:ext uri="{FF2B5EF4-FFF2-40B4-BE49-F238E27FC236}">
                <a16:creationId xmlns:a16="http://schemas.microsoft.com/office/drawing/2014/main" id="{CD0F41E8-1C51-1A4D-362B-A6B4F3FED93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3399"/>
            <a:ext cx="6191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16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47</a:t>
            </a:fld>
            <a:endParaRPr lang="en-US" dirty="0"/>
          </a:p>
        </p:txBody>
      </p:sp>
      <p:graphicFrame>
        <p:nvGraphicFramePr>
          <p:cNvPr id="5" name="Table 4">
            <a:extLst>
              <a:ext uri="{FF2B5EF4-FFF2-40B4-BE49-F238E27FC236}">
                <a16:creationId xmlns:a16="http://schemas.microsoft.com/office/drawing/2014/main" id="{B8B99A66-A052-F1CA-2F7A-18DB5CEF847E}"/>
              </a:ext>
            </a:extLst>
          </p:cNvPr>
          <p:cNvGraphicFramePr>
            <a:graphicFrameLocks noGrp="1"/>
          </p:cNvGraphicFramePr>
          <p:nvPr>
            <p:extLst>
              <p:ext uri="{D42A27DB-BD31-4B8C-83A1-F6EECF244321}">
                <p14:modId xmlns:p14="http://schemas.microsoft.com/office/powerpoint/2010/main" val="440674369"/>
              </p:ext>
            </p:extLst>
          </p:nvPr>
        </p:nvGraphicFramePr>
        <p:xfrm>
          <a:off x="419100" y="1005864"/>
          <a:ext cx="11430000" cy="4990445"/>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802325692"/>
                    </a:ext>
                  </a:extLst>
                </a:gridCol>
                <a:gridCol w="9401735">
                  <a:extLst>
                    <a:ext uri="{9D8B030D-6E8A-4147-A177-3AD203B41FA5}">
                      <a16:colId xmlns:a16="http://schemas.microsoft.com/office/drawing/2014/main" val="2741708655"/>
                    </a:ext>
                  </a:extLst>
                </a:gridCol>
              </a:tblGrid>
              <a:tr h="567219">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Australia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0791951"/>
                  </a:ext>
                </a:extLst>
              </a:tr>
              <a:tr h="149500">
                <a:tc rowSpan="2">
                  <a:txBody>
                    <a:bodyPr/>
                    <a:lstStyle/>
                    <a:p>
                      <a:pPr marL="67945" marR="0">
                        <a:spcBef>
                          <a:spcPts val="87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(TLID4032)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44832513"/>
                  </a:ext>
                </a:extLst>
              </a:tr>
              <a:tr h="148522">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Construction</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International</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(CTI)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3521180"/>
                  </a:ext>
                </a:extLst>
              </a:tr>
              <a:tr h="149500">
                <a:tc rowSpan="2">
                  <a:txBody>
                    <a:bodyPr/>
                    <a:lstStyle/>
                    <a:p>
                      <a:pPr marL="67945" marR="0">
                        <a:spcBef>
                          <a:spcPts val="785"/>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5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(TLID4030)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97554400"/>
                  </a:ext>
                </a:extLst>
              </a:tr>
              <a:tr h="130934">
                <a:tc vMerge="1">
                  <a:txBody>
                    <a:bodyPr/>
                    <a:lstStyle/>
                    <a:p>
                      <a:endParaRPr lang="en-US"/>
                    </a:p>
                  </a:txBody>
                  <a:tcPr/>
                </a:tc>
                <a:tc>
                  <a:txBody>
                    <a:bodyPr/>
                    <a:lstStyle/>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Construction</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International</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(CTI)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345169"/>
                  </a:ext>
                </a:extLst>
              </a:tr>
              <a:tr h="148522">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(CPC30720)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57475939"/>
                  </a:ext>
                </a:extLst>
              </a:tr>
              <a:tr h="788049">
                <a:tc vMerge="1">
                  <a:txBody>
                    <a:bodyPr/>
                    <a:lstStyle/>
                    <a:p>
                      <a:endParaRPr lang="en-US"/>
                    </a:p>
                  </a:txBody>
                  <a:tcPr/>
                </a:tc>
                <a:tc>
                  <a:txBody>
                    <a:bodyPr/>
                    <a:lstStyle/>
                    <a:p>
                      <a:pPr marL="64135" marR="37363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CSTC Pty Ltd CTPM</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Australasia</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Halo</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Nation</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Pty</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Ltd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Host</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Safety</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and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RTO</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40772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AUSTRALIAN</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INDUSTRIAL</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TRAINERS,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ASSESSORS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CONSULTANTS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(AITAC)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(GWO)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0877973"/>
                  </a:ext>
                </a:extLst>
              </a:tr>
              <a:tr h="26235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40"/>
                        </a:lnSpc>
                        <a:spcBef>
                          <a:spcPts val="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operate</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bridge</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gantry</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TLILIC3003&amp;TLILIC0016)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gantry</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(RIIHAN305D)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4597866"/>
                  </a:ext>
                </a:extLst>
              </a:tr>
              <a:tr h="393780">
                <a:tc vMerge="1">
                  <a:txBody>
                    <a:bodyPr/>
                    <a:lstStyle/>
                    <a:p>
                      <a:endParaRPr lang="en-US"/>
                    </a:p>
                  </a:txBody>
                  <a:tcPr/>
                </a:tc>
                <a:tc>
                  <a:txBody>
                    <a:bodyPr/>
                    <a:lstStyle/>
                    <a:p>
                      <a:pPr marL="64135" marR="2797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Access Training Centre Pty Ltd Accredited</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Skills</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Provider</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A.S.P</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ATS</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Rail</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Construction</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8629390"/>
                  </a:ext>
                </a:extLst>
              </a:tr>
              <a:tr h="655160">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5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1132205" algn="just">
                        <a:spcBef>
                          <a:spcPts val="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Certificate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III</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TLI30121&amp;TLI30122) Certificate IV</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 Crane Operations</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(TLI40721&amp;TLI40722) Certificate III in Construction Crane Operations ( CPC32912)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gn="just">
                        <a:lnSpc>
                          <a:spcPts val="1335"/>
                        </a:lnSpc>
                        <a:spcBef>
                          <a:spcPts val="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operate</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non-slewing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(&gt;</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tones</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capacity)</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(TLILIC3006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gn="just">
                        <a:lnSpc>
                          <a:spcPts val="1245"/>
                        </a:lnSpc>
                        <a:spcBef>
                          <a:spcPts val="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2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TLILIC0040)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43667998"/>
                  </a:ext>
                </a:extLst>
              </a:tr>
              <a:tr h="1251204">
                <a:tc vMerge="1">
                  <a:txBody>
                    <a:bodyPr/>
                    <a:lstStyle/>
                    <a:p>
                      <a:endParaRPr lang="en-US"/>
                    </a:p>
                  </a:txBody>
                  <a:tcPr/>
                </a:tc>
                <a:tc>
                  <a:txBody>
                    <a:bodyPr/>
                    <a:lstStyle/>
                    <a:p>
                      <a:pPr marL="64135" marR="172656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Australian Training Management Pty Ltd Construction</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Forestry</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Mining</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Energy</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Union</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(CFMEU) Halo Nation Training Pty Ltd</a:t>
                      </a: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TAFE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NSW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Centre</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For</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Excellence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Rail</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AUSTRALIAN</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INDUSTRIAL</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TRAINERS,</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ASSESSORS</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&amp;</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CONSULTANTS</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(AITAC)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ECB</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Services</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Pty</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Ltd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230505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Host Safety and Training RTO 40772 Mobile</a:t>
                      </a:r>
                      <a:r>
                        <a:rPr lang="en-US" sz="11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Plant</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Services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951540575"/>
                  </a:ext>
                </a:extLst>
              </a:tr>
              <a:tr h="162202">
                <a:tc vMerge="1">
                  <a:txBody>
                    <a:bodyPr/>
                    <a:lstStyle/>
                    <a:p>
                      <a:endParaRPr lang="en-US"/>
                    </a:p>
                  </a:txBody>
                  <a:tcPr/>
                </a:tc>
                <a:tc>
                  <a:txBody>
                    <a:bodyPr/>
                    <a:lstStyle/>
                    <a:p>
                      <a:pPr marL="64135" marR="0">
                        <a:lnSpc>
                          <a:spcPts val="1010"/>
                        </a:lnSpc>
                        <a:spcBef>
                          <a:spcPts val="55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676076"/>
                  </a:ext>
                </a:extLst>
              </a:tr>
            </a:tbl>
          </a:graphicData>
        </a:graphic>
      </p:graphicFrame>
      <p:pic>
        <p:nvPicPr>
          <p:cNvPr id="29698" name="Image 63">
            <a:extLst>
              <a:ext uri="{FF2B5EF4-FFF2-40B4-BE49-F238E27FC236}">
                <a16:creationId xmlns:a16="http://schemas.microsoft.com/office/drawing/2014/main" id="{87907714-D38E-D549-FE95-7DFF7C118CD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76449"/>
            <a:ext cx="619125" cy="638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069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DC47A73-6951-CED1-CDAF-4F900BFC56CC}"/>
              </a:ext>
            </a:extLst>
          </p:cNvPr>
          <p:cNvSpPr>
            <a:spLocks noGrp="1"/>
          </p:cNvSpPr>
          <p:nvPr>
            <p:ph type="ftr" sz="quarter" idx="11"/>
          </p:nvPr>
        </p:nvSpPr>
        <p:spPr/>
        <p:txBody>
          <a:bodyPr/>
          <a:lstStyle/>
          <a:p>
            <a:r>
              <a:rPr lang="en-US" dirty="0"/>
              <a:t>© 2024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a:xfrm>
            <a:off x="520571" y="3188556"/>
            <a:ext cx="10706100" cy="849437"/>
          </a:xfrm>
        </p:spPr>
        <p:txBody>
          <a:bodyPr/>
          <a:lstStyle/>
          <a:p>
            <a:r>
              <a:rPr lang="en-US" dirty="0"/>
              <a:t>LATAM</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a:xfrm>
            <a:off x="596771" y="4037993"/>
            <a:ext cx="10706100" cy="974725"/>
          </a:xfrm>
        </p:spPr>
        <p:txBody>
          <a:bodyPr/>
          <a:lstStyle/>
          <a:p>
            <a:r>
              <a:rPr lang="en-US" dirty="0"/>
              <a:t>OFS Lifting Teams</a:t>
            </a:r>
          </a:p>
        </p:txBody>
      </p:sp>
      <p:pic>
        <p:nvPicPr>
          <p:cNvPr id="6" name="Picture 5">
            <a:extLst>
              <a:ext uri="{FF2B5EF4-FFF2-40B4-BE49-F238E27FC236}">
                <a16:creationId xmlns:a16="http://schemas.microsoft.com/office/drawing/2014/main" id="{FA410493-A3BC-F3AB-C495-58395F4131FF}"/>
              </a:ext>
            </a:extLst>
          </p:cNvPr>
          <p:cNvPicPr>
            <a:picLocks noChangeAspect="1"/>
          </p:cNvPicPr>
          <p:nvPr/>
        </p:nvPicPr>
        <p:blipFill rotWithShape="1">
          <a:blip r:embed="rId2"/>
          <a:srcRect l="-489" r="40101"/>
          <a:stretch/>
        </p:blipFill>
        <p:spPr>
          <a:xfrm>
            <a:off x="5156200" y="2883149"/>
            <a:ext cx="7035800" cy="3974851"/>
          </a:xfrm>
          <a:prstGeom prst="rect">
            <a:avLst/>
          </a:prstGeom>
        </p:spPr>
      </p:pic>
    </p:spTree>
    <p:extLst>
      <p:ext uri="{BB962C8B-B14F-4D97-AF65-F5344CB8AC3E}">
        <p14:creationId xmlns:p14="http://schemas.microsoft.com/office/powerpoint/2010/main" val="27481184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49</a:t>
            </a:fld>
            <a:endParaRPr lang="en-US" dirty="0"/>
          </a:p>
        </p:txBody>
      </p:sp>
      <p:graphicFrame>
        <p:nvGraphicFramePr>
          <p:cNvPr id="5" name="Table 4">
            <a:extLst>
              <a:ext uri="{FF2B5EF4-FFF2-40B4-BE49-F238E27FC236}">
                <a16:creationId xmlns:a16="http://schemas.microsoft.com/office/drawing/2014/main" id="{E7354EDE-8BBB-B568-9F73-1E08B5B39C4F}"/>
              </a:ext>
            </a:extLst>
          </p:cNvPr>
          <p:cNvGraphicFramePr>
            <a:graphicFrameLocks noGrp="1"/>
          </p:cNvGraphicFramePr>
          <p:nvPr>
            <p:extLst>
              <p:ext uri="{D42A27DB-BD31-4B8C-83A1-F6EECF244321}">
                <p14:modId xmlns:p14="http://schemas.microsoft.com/office/powerpoint/2010/main" val="4212484208"/>
              </p:ext>
            </p:extLst>
          </p:nvPr>
        </p:nvGraphicFramePr>
        <p:xfrm>
          <a:off x="419100" y="997426"/>
          <a:ext cx="11430000" cy="4359910"/>
        </p:xfrm>
        <a:graphic>
          <a:graphicData uri="http://schemas.openxmlformats.org/drawingml/2006/table">
            <a:tbl>
              <a:tblPr firstRow="1" firstCol="1" lastRow="1" lastCol="1" bandRow="1" bandCol="1"/>
              <a:tblGrid>
                <a:gridCol w="2047875">
                  <a:extLst>
                    <a:ext uri="{9D8B030D-6E8A-4147-A177-3AD203B41FA5}">
                      <a16:colId xmlns:a16="http://schemas.microsoft.com/office/drawing/2014/main" val="1315065337"/>
                    </a:ext>
                  </a:extLst>
                </a:gridCol>
                <a:gridCol w="9382125">
                  <a:extLst>
                    <a:ext uri="{9D8B030D-6E8A-4147-A177-3AD203B41FA5}">
                      <a16:colId xmlns:a16="http://schemas.microsoft.com/office/drawing/2014/main" val="3394693974"/>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Brazil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1324120"/>
                  </a:ext>
                </a:extLst>
              </a:tr>
              <a:tr h="194310">
                <a:tc rowSpan="2">
                  <a:txBody>
                    <a:bodyPr/>
                    <a:lstStyle/>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251184209"/>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Te</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1755043"/>
                  </a:ext>
                </a:extLst>
              </a:tr>
              <a:tr h="193040">
                <a:tc rowSpan="2">
                  <a:txBody>
                    <a:bodyPr/>
                    <a:lstStyle/>
                    <a:p>
                      <a:pPr marL="0" marR="0">
                        <a:spcBef>
                          <a:spcPts val="1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27690034"/>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6394672"/>
                  </a:ext>
                </a:extLst>
              </a:tr>
              <a:tr h="194945">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68139205"/>
                  </a:ext>
                </a:extLst>
              </a:tr>
              <a:tr h="102171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SMC</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Slovensko</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a.s.</a:t>
                      </a:r>
                      <a:r>
                        <a:rPr lang="en-US" sz="1100" spc="-20">
                          <a:effectLst/>
                          <a:latin typeface="Calibri" panose="020F0502020204030204" pitchFamily="34" charset="0"/>
                          <a:ea typeface="Calibri" panose="020F0502020204030204" pitchFamily="34" charset="0"/>
                          <a:cs typeface="Times New Roman" panose="02020603050405020304" pitchFamily="18" charset="0"/>
                        </a:rPr>
                        <a:t> (GWO)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ALC-AMERICA</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LATINA</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CERTIFICAÇÕES</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EIRELI</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(GWO)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112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 Veritas Maersk</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Columbus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McKinnon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(5</a:t>
                      </a:r>
                      <a:r>
                        <a:rPr lang="en-US" sz="1100" spc="-20">
                          <a:effectLst/>
                          <a:latin typeface="Calibri" panose="020F0502020204030204" pitchFamily="34" charset="0"/>
                          <a:ea typeface="Calibri" panose="020F0502020204030204" pitchFamily="34" charset="0"/>
                          <a:cs typeface="Times New Roman" panose="02020603050405020304" pitchFamily="18" charset="0"/>
                        </a:rPr>
                        <a:t> days)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5794296"/>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NZ</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Level</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5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19747211"/>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IPAF-Latin</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America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1031769"/>
                  </a:ext>
                </a:extLst>
              </a:tr>
              <a:tr h="194310">
                <a:tc rowSpan="3">
                  <a:txBody>
                    <a:bodyPr/>
                    <a:lstStyle/>
                    <a:p>
                      <a:pPr marL="0" marR="0">
                        <a:spcBef>
                          <a:spcPts val="118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NZ</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Level</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5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34029181"/>
                  </a:ext>
                </a:extLst>
              </a:tr>
              <a:tr h="41465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IPAF-Latin</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America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37573842"/>
                  </a:ext>
                </a:extLst>
              </a:tr>
              <a:tr h="192405">
                <a:tc vMerge="1">
                  <a:txBody>
                    <a:bodyPr/>
                    <a:lstStyle/>
                    <a:p>
                      <a:endParaRPr lang="en-US"/>
                    </a:p>
                  </a:txBody>
                  <a:tcPr/>
                </a:tc>
                <a:tc>
                  <a:txBody>
                    <a:bodyPr/>
                    <a:lstStyle/>
                    <a:p>
                      <a:pPr marL="64135" marR="0">
                        <a:lnSpc>
                          <a:spcPts val="995"/>
                        </a:lnSpc>
                        <a:spcBef>
                          <a:spcPts val="42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8144093"/>
                  </a:ext>
                </a:extLst>
              </a:tr>
            </a:tbl>
          </a:graphicData>
        </a:graphic>
      </p:graphicFrame>
      <p:pic>
        <p:nvPicPr>
          <p:cNvPr id="28674" name="Image 69">
            <a:extLst>
              <a:ext uri="{FF2B5EF4-FFF2-40B4-BE49-F238E27FC236}">
                <a16:creationId xmlns:a16="http://schemas.microsoft.com/office/drawing/2014/main" id="{6F4AD857-6557-3171-9E9C-40364F8C68E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15344"/>
            <a:ext cx="6191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7420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50</a:t>
            </a:fld>
            <a:endParaRPr lang="en-US" dirty="0"/>
          </a:p>
        </p:txBody>
      </p:sp>
      <p:graphicFrame>
        <p:nvGraphicFramePr>
          <p:cNvPr id="5" name="Table 4">
            <a:extLst>
              <a:ext uri="{FF2B5EF4-FFF2-40B4-BE49-F238E27FC236}">
                <a16:creationId xmlns:a16="http://schemas.microsoft.com/office/drawing/2014/main" id="{247AB17C-5E68-6EB5-BA02-58766B7EBE9D}"/>
              </a:ext>
            </a:extLst>
          </p:cNvPr>
          <p:cNvGraphicFramePr>
            <a:graphicFrameLocks noGrp="1"/>
          </p:cNvGraphicFramePr>
          <p:nvPr>
            <p:extLst>
              <p:ext uri="{D42A27DB-BD31-4B8C-83A1-F6EECF244321}">
                <p14:modId xmlns:p14="http://schemas.microsoft.com/office/powerpoint/2010/main" val="3930602274"/>
              </p:ext>
            </p:extLst>
          </p:nvPr>
        </p:nvGraphicFramePr>
        <p:xfrm>
          <a:off x="419100" y="993805"/>
          <a:ext cx="11430000" cy="4911205"/>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243506705"/>
                    </a:ext>
                  </a:extLst>
                </a:gridCol>
                <a:gridCol w="9410700">
                  <a:extLst>
                    <a:ext uri="{9D8B030D-6E8A-4147-A177-3AD203B41FA5}">
                      <a16:colId xmlns:a16="http://schemas.microsoft.com/office/drawing/2014/main" val="713482772"/>
                    </a:ext>
                  </a:extLst>
                </a:gridCol>
              </a:tblGrid>
              <a:tr h="542248">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Argentina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3058541"/>
                  </a:ext>
                </a:extLst>
              </a:tr>
              <a:tr h="142918">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8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8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8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8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252119567"/>
                  </a:ext>
                </a:extLst>
              </a:tr>
              <a:tr h="626317">
                <a:tc vMerge="1">
                  <a:txBody>
                    <a:bodyPr/>
                    <a:lstStyle/>
                    <a:p>
                      <a:endParaRPr lang="en-US"/>
                    </a:p>
                  </a:txBody>
                  <a:tcPr/>
                </a:tc>
                <a:tc>
                  <a:txBody>
                    <a:bodyPr/>
                    <a:lstStyle/>
                    <a:p>
                      <a:pPr marL="64135" marR="386778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TUV NORD</a:t>
                      </a:r>
                      <a:r>
                        <a:rPr lang="en-US" sz="1100" spc="20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TUV SUD</a:t>
                      </a: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0" dirty="0">
                          <a:effectLst/>
                          <a:latin typeface="Calibri" panose="020F0502020204030204" pitchFamily="34" charset="0"/>
                          <a:ea typeface="Calibri" panose="020F0502020204030204" pitchFamily="34" charset="0"/>
                          <a:cs typeface="Times New Roman" panose="02020603050405020304" pitchFamily="18" charset="0"/>
                        </a:rPr>
                        <a:t>CICB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4837731"/>
                  </a:ext>
                </a:extLst>
              </a:tr>
              <a:tr h="14338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24996801"/>
                  </a:ext>
                </a:extLst>
              </a:tr>
              <a:tr h="627251">
                <a:tc vMerge="1">
                  <a:txBody>
                    <a:bodyPr/>
                    <a:lstStyle/>
                    <a:p>
                      <a:endParaRPr lang="en-US"/>
                    </a:p>
                  </a:txBody>
                  <a:tcPr/>
                </a:tc>
                <a:tc>
                  <a:txBody>
                    <a:bodyPr/>
                    <a:lstStyle/>
                    <a:p>
                      <a:pPr marL="64135" marR="38366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a:t>
                      </a:r>
                      <a:r>
                        <a:rPr lang="en-US" sz="1100" spc="-10">
                          <a:effectLst/>
                          <a:latin typeface="Calibri" panose="020F0502020204030204" pitchFamily="34" charset="0"/>
                          <a:ea typeface="Calibri" panose="020F0502020204030204" pitchFamily="34" charset="0"/>
                          <a:cs typeface="Times New Roman" panose="02020603050405020304" pitchFamily="18" charset="0"/>
                        </a:rPr>
                        <a:t>Arginbureau </a:t>
                      </a:r>
                      <a:r>
                        <a:rPr lang="en-US" sz="1100">
                          <a:effectLst/>
                          <a:latin typeface="Calibri" panose="020F0502020204030204" pitchFamily="34" charset="0"/>
                          <a:ea typeface="Calibri" panose="020F0502020204030204" pitchFamily="34" charset="0"/>
                          <a:cs typeface="Times New Roman" panose="02020603050405020304" pitchFamily="18" charset="0"/>
                        </a:rPr>
                        <a:t>TUV SUD</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319928"/>
                  </a:ext>
                </a:extLst>
              </a:tr>
              <a:tr h="14198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28495995"/>
                  </a:ext>
                </a:extLst>
              </a:tr>
              <a:tr h="87852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117729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IRAM</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Instituto</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Argentino</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de</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Normalización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y</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Certificación TUV SUD</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Columbus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McKinnon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(5</a:t>
                      </a:r>
                      <a:r>
                        <a:rPr lang="en-US" sz="1100" spc="-20">
                          <a:effectLst/>
                          <a:latin typeface="Calibri" panose="020F0502020204030204" pitchFamily="34" charset="0"/>
                          <a:ea typeface="Calibri" panose="020F0502020204030204" pitchFamily="34" charset="0"/>
                          <a:cs typeface="Times New Roman" panose="02020603050405020304" pitchFamily="18" charset="0"/>
                        </a:rPr>
                        <a:t> days)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1594767"/>
                  </a:ext>
                </a:extLst>
              </a:tr>
              <a:tr h="14198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41355963"/>
                  </a:ext>
                </a:extLst>
              </a:tr>
              <a:tr h="502595">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Argentina</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SA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140026"/>
                  </a:ext>
                </a:extLst>
              </a:tr>
              <a:tr h="141984">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39921713"/>
                  </a:ext>
                </a:extLst>
              </a:tr>
              <a:tr h="791187">
                <a:tc vMerge="1">
                  <a:txBody>
                    <a:bodyPr/>
                    <a:lstStyle/>
                    <a:p>
                      <a:endParaRPr lang="en-US"/>
                    </a:p>
                  </a:txBody>
                  <a:tcPr/>
                </a:tc>
                <a:tc>
                  <a:txBody>
                    <a:bodyPr/>
                    <a:lstStyle/>
                    <a:p>
                      <a:pPr marL="64135" marR="368617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Argentina</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SA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PLG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997960">
                        <a:spcBef>
                          <a:spcPts val="0"/>
                        </a:spcBef>
                        <a:spcAft>
                          <a:spcPts val="0"/>
                        </a:spcAft>
                      </a:pP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Arginbureau</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 NORD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CICB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608720300"/>
                  </a:ext>
                </a:extLst>
              </a:tr>
              <a:tr h="126571">
                <a:tc vMerge="1">
                  <a:txBody>
                    <a:bodyPr/>
                    <a:lstStyle/>
                    <a:p>
                      <a:endParaRPr lang="en-US"/>
                    </a:p>
                  </a:txBody>
                  <a:tcPr/>
                </a:tc>
                <a:tc>
                  <a:txBody>
                    <a:bodyPr/>
                    <a:lstStyle/>
                    <a:p>
                      <a:pPr marL="64135" marR="0">
                        <a:lnSpc>
                          <a:spcPts val="995"/>
                        </a:lnSpc>
                        <a:spcBef>
                          <a:spcPts val="26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1038289"/>
                  </a:ext>
                </a:extLst>
              </a:tr>
            </a:tbl>
          </a:graphicData>
        </a:graphic>
      </p:graphicFrame>
      <p:pic>
        <p:nvPicPr>
          <p:cNvPr id="27650" name="Image 70">
            <a:extLst>
              <a:ext uri="{FF2B5EF4-FFF2-40B4-BE49-F238E27FC236}">
                <a16:creationId xmlns:a16="http://schemas.microsoft.com/office/drawing/2014/main" id="{21A37680-3C03-7F70-E47A-1ADB43BD164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60283"/>
            <a:ext cx="6286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7317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51</a:t>
            </a:fld>
            <a:endParaRPr lang="en-US" dirty="0"/>
          </a:p>
        </p:txBody>
      </p:sp>
      <p:graphicFrame>
        <p:nvGraphicFramePr>
          <p:cNvPr id="5" name="Table 4">
            <a:extLst>
              <a:ext uri="{FF2B5EF4-FFF2-40B4-BE49-F238E27FC236}">
                <a16:creationId xmlns:a16="http://schemas.microsoft.com/office/drawing/2014/main" id="{64D4FE04-5EAC-8664-0751-A76749B97900}"/>
              </a:ext>
            </a:extLst>
          </p:cNvPr>
          <p:cNvGraphicFramePr>
            <a:graphicFrameLocks noGrp="1"/>
          </p:cNvGraphicFramePr>
          <p:nvPr>
            <p:extLst>
              <p:ext uri="{D42A27DB-BD31-4B8C-83A1-F6EECF244321}">
                <p14:modId xmlns:p14="http://schemas.microsoft.com/office/powerpoint/2010/main" val="3324878780"/>
              </p:ext>
            </p:extLst>
          </p:nvPr>
        </p:nvGraphicFramePr>
        <p:xfrm>
          <a:off x="419100" y="1088707"/>
          <a:ext cx="11430000" cy="4530090"/>
        </p:xfrm>
        <a:graphic>
          <a:graphicData uri="http://schemas.openxmlformats.org/drawingml/2006/table">
            <a:tbl>
              <a:tblPr firstRow="1" firstCol="1" lastRow="1" lastCol="1" bandRow="1" bandCol="1"/>
              <a:tblGrid>
                <a:gridCol w="2038350">
                  <a:extLst>
                    <a:ext uri="{9D8B030D-6E8A-4147-A177-3AD203B41FA5}">
                      <a16:colId xmlns:a16="http://schemas.microsoft.com/office/drawing/2014/main" val="1974290879"/>
                    </a:ext>
                  </a:extLst>
                </a:gridCol>
                <a:gridCol w="9391650">
                  <a:extLst>
                    <a:ext uri="{9D8B030D-6E8A-4147-A177-3AD203B41FA5}">
                      <a16:colId xmlns:a16="http://schemas.microsoft.com/office/drawing/2014/main" val="3368239305"/>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Colombia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589992"/>
                  </a:ext>
                </a:extLst>
              </a:tr>
              <a:tr h="194310">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69813542"/>
                  </a:ext>
                </a:extLst>
              </a:tr>
              <a:tr h="50990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5249407"/>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4846024"/>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313995"/>
                  </a:ext>
                </a:extLst>
              </a:tr>
              <a:tr h="194310">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96901332"/>
                  </a:ext>
                </a:extLst>
              </a:tr>
              <a:tr h="68199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Columbus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McKinnon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(5</a:t>
                      </a:r>
                      <a:r>
                        <a:rPr lang="en-US" sz="1100" spc="-20">
                          <a:effectLst/>
                          <a:latin typeface="Calibri" panose="020F0502020204030204" pitchFamily="34" charset="0"/>
                          <a:ea typeface="Calibri" panose="020F0502020204030204" pitchFamily="34" charset="0"/>
                          <a:cs typeface="Times New Roman" panose="02020603050405020304" pitchFamily="18" charset="0"/>
                        </a:rPr>
                        <a:t> days)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4023433"/>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84255186"/>
                  </a:ext>
                </a:extLst>
              </a:tr>
              <a:tr h="511810">
                <a:tc vMerge="1">
                  <a:txBody>
                    <a:bodyPr/>
                    <a:lstStyle/>
                    <a:p>
                      <a:endParaRPr lang="en-US"/>
                    </a:p>
                  </a:txBody>
                  <a:tcPr/>
                </a:tc>
                <a:tc>
                  <a:txBody>
                    <a:bodyPr/>
                    <a:lstStyle/>
                    <a:p>
                      <a:pPr marL="64135" marR="42176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7403384"/>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13946001"/>
                  </a:ext>
                </a:extLst>
              </a:tr>
              <a:tr h="585470">
                <a:tc vMerge="1">
                  <a:txBody>
                    <a:bodyPr/>
                    <a:lstStyle/>
                    <a:p>
                      <a:endParaRPr lang="en-US"/>
                    </a:p>
                  </a:txBody>
                  <a:tcPr/>
                </a:tc>
                <a:tc>
                  <a:txBody>
                    <a:bodyPr/>
                    <a:lstStyle/>
                    <a:p>
                      <a:pPr marL="64135" marR="42176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270504441"/>
                  </a:ext>
                </a:extLst>
              </a:tr>
              <a:tr h="192405">
                <a:tc vMerge="1">
                  <a:txBody>
                    <a:bodyPr/>
                    <a:lstStyle/>
                    <a:p>
                      <a:endParaRPr lang="en-US"/>
                    </a:p>
                  </a:txBody>
                  <a:tcPr/>
                </a:tc>
                <a:tc>
                  <a:txBody>
                    <a:bodyPr/>
                    <a:lstStyle/>
                    <a:p>
                      <a:pPr marL="64135" marR="0">
                        <a:lnSpc>
                          <a:spcPts val="995"/>
                        </a:lnSpc>
                        <a:spcBef>
                          <a:spcPts val="42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4226934"/>
                  </a:ext>
                </a:extLst>
              </a:tr>
            </a:tbl>
          </a:graphicData>
        </a:graphic>
      </p:graphicFrame>
      <p:pic>
        <p:nvPicPr>
          <p:cNvPr id="26626" name="Image 71">
            <a:extLst>
              <a:ext uri="{FF2B5EF4-FFF2-40B4-BE49-F238E27FC236}">
                <a16:creationId xmlns:a16="http://schemas.microsoft.com/office/drawing/2014/main" id="{5C25BE23-41D3-BF0D-863E-7039D952605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36458"/>
            <a:ext cx="6286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912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52</a:t>
            </a:fld>
            <a:endParaRPr lang="en-US" dirty="0"/>
          </a:p>
        </p:txBody>
      </p:sp>
      <p:graphicFrame>
        <p:nvGraphicFramePr>
          <p:cNvPr id="5" name="Table 4">
            <a:extLst>
              <a:ext uri="{FF2B5EF4-FFF2-40B4-BE49-F238E27FC236}">
                <a16:creationId xmlns:a16="http://schemas.microsoft.com/office/drawing/2014/main" id="{E5C7A567-27C8-99CA-078D-0FC89369BD7E}"/>
              </a:ext>
            </a:extLst>
          </p:cNvPr>
          <p:cNvGraphicFramePr>
            <a:graphicFrameLocks noGrp="1"/>
          </p:cNvGraphicFramePr>
          <p:nvPr>
            <p:extLst>
              <p:ext uri="{D42A27DB-BD31-4B8C-83A1-F6EECF244321}">
                <p14:modId xmlns:p14="http://schemas.microsoft.com/office/powerpoint/2010/main" val="2158536347"/>
              </p:ext>
            </p:extLst>
          </p:nvPr>
        </p:nvGraphicFramePr>
        <p:xfrm>
          <a:off x="419100" y="1084580"/>
          <a:ext cx="11430000" cy="3558540"/>
        </p:xfrm>
        <a:graphic>
          <a:graphicData uri="http://schemas.openxmlformats.org/drawingml/2006/table">
            <a:tbl>
              <a:tblPr firstRow="1" firstCol="1" lastRow="1" lastCol="1" bandRow="1" bandCol="1"/>
              <a:tblGrid>
                <a:gridCol w="2028825">
                  <a:extLst>
                    <a:ext uri="{9D8B030D-6E8A-4147-A177-3AD203B41FA5}">
                      <a16:colId xmlns:a16="http://schemas.microsoft.com/office/drawing/2014/main" val="121580599"/>
                    </a:ext>
                  </a:extLst>
                </a:gridCol>
                <a:gridCol w="9401175">
                  <a:extLst>
                    <a:ext uri="{9D8B030D-6E8A-4147-A177-3AD203B41FA5}">
                      <a16:colId xmlns:a16="http://schemas.microsoft.com/office/drawing/2014/main" val="3340568133"/>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Uruguay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3454228"/>
                  </a:ext>
                </a:extLst>
              </a:tr>
              <a:tr h="194310">
                <a:tc rowSpan="2">
                  <a:txBody>
                    <a:bodyPr/>
                    <a:lstStyle/>
                    <a:p>
                      <a:pPr marL="67945" marR="0">
                        <a:spcBef>
                          <a:spcPts val="87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719844573"/>
                  </a:ext>
                </a:extLst>
              </a:tr>
              <a:tr h="19304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8736000"/>
                  </a:ext>
                </a:extLst>
              </a:tr>
              <a:tr h="194310">
                <a:tc rowSpan="2">
                  <a:txBody>
                    <a:bodyPr/>
                    <a:lstStyle/>
                    <a:p>
                      <a:pPr marL="67945" marR="0">
                        <a:spcBef>
                          <a:spcPts val="78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9587291"/>
                  </a:ext>
                </a:extLst>
              </a:tr>
              <a:tr h="170180">
                <a:tc vMerge="1">
                  <a:txBody>
                    <a:bodyPr/>
                    <a:lstStyle/>
                    <a:p>
                      <a:endParaRPr lang="en-US"/>
                    </a:p>
                  </a:txBody>
                  <a:tcPr/>
                </a:tc>
                <a:tc>
                  <a:txBody>
                    <a:bodyPr/>
                    <a:lstStyle/>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820278"/>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46612790"/>
                  </a:ext>
                </a:extLst>
              </a:tr>
              <a:tr h="511810">
                <a:tc vMerge="1">
                  <a:txBody>
                    <a:bodyPr/>
                    <a:lstStyle/>
                    <a:p>
                      <a:endParaRPr lang="en-US"/>
                    </a:p>
                  </a:txBody>
                  <a:tcPr/>
                </a:tc>
                <a:tc>
                  <a:txBody>
                    <a:bodyPr/>
                    <a:lstStyle/>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Columbus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McKinnon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(5</a:t>
                      </a:r>
                      <a:r>
                        <a:rPr lang="en-US" sz="1100" spc="-20">
                          <a:effectLst/>
                          <a:latin typeface="Calibri" panose="020F0502020204030204" pitchFamily="34" charset="0"/>
                          <a:ea typeface="Calibri" panose="020F0502020204030204" pitchFamily="34" charset="0"/>
                          <a:cs typeface="Times New Roman" panose="02020603050405020304" pitchFamily="18" charset="0"/>
                        </a:rPr>
                        <a:t> days)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3657073"/>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854648654"/>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Rheinland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0651748"/>
                  </a:ext>
                </a:extLst>
              </a:tr>
              <a:tr h="193040">
                <a:tc rowSpan="3">
                  <a:txBody>
                    <a:bodyPr/>
                    <a:lstStyle/>
                    <a:p>
                      <a:pPr marL="0" marR="0">
                        <a:spcBef>
                          <a:spcPts val="12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75376953"/>
                  </a:ext>
                </a:extLst>
              </a:tr>
              <a:tr h="429260">
                <a:tc vMerge="1">
                  <a:txBody>
                    <a:bodyPr/>
                    <a:lstStyle/>
                    <a:p>
                      <a:endParaRPr lang="en-US"/>
                    </a:p>
                  </a:txBody>
                  <a:tcPr/>
                </a:tc>
                <a:tc>
                  <a:txBody>
                    <a:bodyPr/>
                    <a:lstStyle/>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70199731"/>
                  </a:ext>
                </a:extLst>
              </a:tr>
              <a:tr h="207010">
                <a:tc vMerge="1">
                  <a:txBody>
                    <a:bodyPr/>
                    <a:lstStyle/>
                    <a:p>
                      <a:endParaRPr lang="en-US"/>
                    </a:p>
                  </a:txBody>
                  <a:tcPr/>
                </a:tc>
                <a:tc>
                  <a:txBody>
                    <a:bodyPr/>
                    <a:lstStyle/>
                    <a:p>
                      <a:pPr marL="64135" marR="0">
                        <a:lnSpc>
                          <a:spcPts val="995"/>
                        </a:lnSpc>
                        <a:spcBef>
                          <a:spcPts val="535"/>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2204770"/>
                  </a:ext>
                </a:extLst>
              </a:tr>
            </a:tbl>
          </a:graphicData>
        </a:graphic>
      </p:graphicFrame>
      <p:pic>
        <p:nvPicPr>
          <p:cNvPr id="25602" name="Image 72">
            <a:extLst>
              <a:ext uri="{FF2B5EF4-FFF2-40B4-BE49-F238E27FC236}">
                <a16:creationId xmlns:a16="http://schemas.microsoft.com/office/drawing/2014/main" id="{0AE527B5-181B-8EEF-A5CA-E4F89C35FE1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23202"/>
            <a:ext cx="6286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7494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53</a:t>
            </a:fld>
            <a:endParaRPr lang="en-US" dirty="0"/>
          </a:p>
        </p:txBody>
      </p:sp>
      <p:graphicFrame>
        <p:nvGraphicFramePr>
          <p:cNvPr id="5" name="Table 4">
            <a:extLst>
              <a:ext uri="{FF2B5EF4-FFF2-40B4-BE49-F238E27FC236}">
                <a16:creationId xmlns:a16="http://schemas.microsoft.com/office/drawing/2014/main" id="{A5AE7B4D-8C18-C02F-6304-88D33CF9D82A}"/>
              </a:ext>
            </a:extLst>
          </p:cNvPr>
          <p:cNvGraphicFramePr>
            <a:graphicFrameLocks noGrp="1"/>
          </p:cNvGraphicFramePr>
          <p:nvPr>
            <p:extLst>
              <p:ext uri="{D42A27DB-BD31-4B8C-83A1-F6EECF244321}">
                <p14:modId xmlns:p14="http://schemas.microsoft.com/office/powerpoint/2010/main" val="3906547620"/>
              </p:ext>
            </p:extLst>
          </p:nvPr>
        </p:nvGraphicFramePr>
        <p:xfrm>
          <a:off x="419100" y="975990"/>
          <a:ext cx="11430000" cy="4806949"/>
        </p:xfrm>
        <a:graphic>
          <a:graphicData uri="http://schemas.openxmlformats.org/drawingml/2006/table">
            <a:tbl>
              <a:tblPr firstRow="1" firstCol="1" lastRow="1" lastCol="1" bandRow="1" bandCol="1"/>
              <a:tblGrid>
                <a:gridCol w="2038350">
                  <a:extLst>
                    <a:ext uri="{9D8B030D-6E8A-4147-A177-3AD203B41FA5}">
                      <a16:colId xmlns:a16="http://schemas.microsoft.com/office/drawing/2014/main" val="2762557136"/>
                    </a:ext>
                  </a:extLst>
                </a:gridCol>
                <a:gridCol w="9391650">
                  <a:extLst>
                    <a:ext uri="{9D8B030D-6E8A-4147-A177-3AD203B41FA5}">
                      <a16:colId xmlns:a16="http://schemas.microsoft.com/office/drawing/2014/main" val="2097937033"/>
                    </a:ext>
                  </a:extLst>
                </a:gridCol>
              </a:tblGrid>
              <a:tr h="710558">
                <a:tc>
                  <a:txBody>
                    <a:bodyPr/>
                    <a:lstStyle/>
                    <a:p>
                      <a:pPr marL="67945" marR="0">
                        <a:spcBef>
                          <a:spcPts val="1680"/>
                        </a:spcBef>
                        <a:spcAft>
                          <a:spcPts val="0"/>
                        </a:spcAft>
                      </a:pPr>
                      <a:r>
                        <a:rPr lang="en-US" sz="1900" b="1" spc="-10" dirty="0">
                          <a:effectLst/>
                          <a:latin typeface="Calibri" panose="020F0502020204030204" pitchFamily="34" charset="0"/>
                          <a:ea typeface="Calibri" panose="020F0502020204030204" pitchFamily="34" charset="0"/>
                          <a:cs typeface="Times New Roman" panose="02020603050405020304" pitchFamily="18" charset="0"/>
                        </a:rPr>
                        <a:t>Chile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807606"/>
                  </a:ext>
                </a:extLst>
              </a:tr>
              <a:tr h="187279">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66183001"/>
                  </a:ext>
                </a:extLst>
              </a:tr>
              <a:tr h="656088">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45"/>
                        </a:lnSpc>
                        <a:spcBef>
                          <a:spcPts val="5"/>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5589594"/>
                  </a:ext>
                </a:extLst>
              </a:tr>
              <a:tr h="187279">
                <a:tc rowSpan="2">
                  <a:txBody>
                    <a:bodyPr/>
                    <a:lstStyle/>
                    <a:p>
                      <a:pPr marL="0" marR="0">
                        <a:spcBef>
                          <a:spcPts val="7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07894623"/>
                  </a:ext>
                </a:extLst>
              </a:tr>
              <a:tr h="49457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6099299"/>
                  </a:ext>
                </a:extLst>
              </a:tr>
              <a:tr h="186667">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8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92265443"/>
                  </a:ext>
                </a:extLst>
              </a:tr>
              <a:tr h="820722">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Columbus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McKinnon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(5</a:t>
                      </a:r>
                      <a:r>
                        <a:rPr lang="en-US" sz="1100" spc="-20">
                          <a:effectLst/>
                          <a:latin typeface="Calibri" panose="020F0502020204030204" pitchFamily="34" charset="0"/>
                          <a:ea typeface="Calibri" panose="020F0502020204030204" pitchFamily="34" charset="0"/>
                          <a:cs typeface="Times New Roman" panose="02020603050405020304" pitchFamily="18" charset="0"/>
                        </a:rPr>
                        <a:t> days)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2107958"/>
                  </a:ext>
                </a:extLst>
              </a:tr>
              <a:tr h="187279">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337590067"/>
                  </a:ext>
                </a:extLst>
              </a:tr>
              <a:tr h="49457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7694239"/>
                  </a:ext>
                </a:extLst>
              </a:tr>
              <a:tr h="185443">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05769845"/>
                  </a:ext>
                </a:extLst>
              </a:tr>
              <a:tr h="536744">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607631086"/>
                  </a:ext>
                </a:extLst>
              </a:tr>
              <a:tr h="159738">
                <a:tc vMerge="1">
                  <a:txBody>
                    <a:bodyPr/>
                    <a:lstStyle/>
                    <a:p>
                      <a:endParaRPr lang="en-US"/>
                    </a:p>
                  </a:txBody>
                  <a:tcPr/>
                </a:tc>
                <a:tc>
                  <a:txBody>
                    <a:bodyPr/>
                    <a:lstStyle/>
                    <a:p>
                      <a:pPr marL="64135" marR="0">
                        <a:lnSpc>
                          <a:spcPts val="1010"/>
                        </a:lnSpc>
                        <a:spcBef>
                          <a:spcPts val="20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9420643"/>
                  </a:ext>
                </a:extLst>
              </a:tr>
            </a:tbl>
          </a:graphicData>
        </a:graphic>
      </p:graphicFrame>
      <p:pic>
        <p:nvPicPr>
          <p:cNvPr id="24578" name="Image 73">
            <a:extLst>
              <a:ext uri="{FF2B5EF4-FFF2-40B4-BE49-F238E27FC236}">
                <a16:creationId xmlns:a16="http://schemas.microsoft.com/office/drawing/2014/main" id="{DBE2FE30-1A35-1E74-BB44-D9DAD6E0C48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68907"/>
            <a:ext cx="7048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8098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54</a:t>
            </a:fld>
            <a:endParaRPr lang="en-US" dirty="0"/>
          </a:p>
        </p:txBody>
      </p:sp>
      <p:graphicFrame>
        <p:nvGraphicFramePr>
          <p:cNvPr id="5" name="Table 4">
            <a:extLst>
              <a:ext uri="{FF2B5EF4-FFF2-40B4-BE49-F238E27FC236}">
                <a16:creationId xmlns:a16="http://schemas.microsoft.com/office/drawing/2014/main" id="{AA4FC214-93B2-A98A-D3A9-6E4711C06D5B}"/>
              </a:ext>
            </a:extLst>
          </p:cNvPr>
          <p:cNvGraphicFramePr>
            <a:graphicFrameLocks noGrp="1"/>
          </p:cNvGraphicFramePr>
          <p:nvPr>
            <p:extLst>
              <p:ext uri="{D42A27DB-BD31-4B8C-83A1-F6EECF244321}">
                <p14:modId xmlns:p14="http://schemas.microsoft.com/office/powerpoint/2010/main" val="3296772751"/>
              </p:ext>
            </p:extLst>
          </p:nvPr>
        </p:nvGraphicFramePr>
        <p:xfrm>
          <a:off x="419100" y="1025525"/>
          <a:ext cx="11430000" cy="4806949"/>
        </p:xfrm>
        <a:graphic>
          <a:graphicData uri="http://schemas.openxmlformats.org/drawingml/2006/table">
            <a:tbl>
              <a:tblPr firstRow="1" firstCol="1" lastRow="1" lastCol="1" bandRow="1" bandCol="1"/>
              <a:tblGrid>
                <a:gridCol w="2028825">
                  <a:extLst>
                    <a:ext uri="{9D8B030D-6E8A-4147-A177-3AD203B41FA5}">
                      <a16:colId xmlns:a16="http://schemas.microsoft.com/office/drawing/2014/main" val="2560256807"/>
                    </a:ext>
                  </a:extLst>
                </a:gridCol>
                <a:gridCol w="9401175">
                  <a:extLst>
                    <a:ext uri="{9D8B030D-6E8A-4147-A177-3AD203B41FA5}">
                      <a16:colId xmlns:a16="http://schemas.microsoft.com/office/drawing/2014/main" val="191582808"/>
                    </a:ext>
                  </a:extLst>
                </a:gridCol>
              </a:tblGrid>
              <a:tr h="710558">
                <a:tc>
                  <a:txBody>
                    <a:bodyPr/>
                    <a:lstStyle/>
                    <a:p>
                      <a:pPr marL="67945" marR="0">
                        <a:spcBef>
                          <a:spcPts val="1680"/>
                        </a:spcBef>
                        <a:spcAft>
                          <a:spcPts val="0"/>
                        </a:spcAft>
                      </a:pPr>
                      <a:r>
                        <a:rPr lang="en-US" sz="1900" b="1" spc="-10" dirty="0">
                          <a:effectLst/>
                          <a:latin typeface="Calibri" panose="020F0502020204030204" pitchFamily="34" charset="0"/>
                          <a:ea typeface="Calibri" panose="020F0502020204030204" pitchFamily="34" charset="0"/>
                          <a:cs typeface="Times New Roman" panose="02020603050405020304" pitchFamily="18" charset="0"/>
                        </a:rPr>
                        <a:t>Ecuador</a:t>
                      </a:r>
                    </a:p>
                    <a:p>
                      <a:pPr marL="67945" marR="0">
                        <a:spcBef>
                          <a:spcPts val="168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7698847"/>
                  </a:ext>
                </a:extLst>
              </a:tr>
              <a:tr h="187279">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164492448"/>
                  </a:ext>
                </a:extLst>
              </a:tr>
              <a:tr h="656088">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p>
                      <a:pPr marL="64135" marR="0">
                        <a:lnSpc>
                          <a:spcPts val="1245"/>
                        </a:lnSpc>
                        <a:spcBef>
                          <a:spcPts val="5"/>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6481255"/>
                  </a:ext>
                </a:extLst>
              </a:tr>
              <a:tr h="187279">
                <a:tc rowSpan="2">
                  <a:txBody>
                    <a:bodyPr/>
                    <a:lstStyle/>
                    <a:p>
                      <a:pPr marL="0" marR="0">
                        <a:spcBef>
                          <a:spcPts val="7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01033137"/>
                  </a:ext>
                </a:extLst>
              </a:tr>
              <a:tr h="49457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89097"/>
                  </a:ext>
                </a:extLst>
              </a:tr>
              <a:tr h="186667">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8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260095448"/>
                  </a:ext>
                </a:extLst>
              </a:tr>
              <a:tr h="820722">
                <a:tc vMerge="1">
                  <a:txBody>
                    <a:bodyPr/>
                    <a:lstStyle/>
                    <a:p>
                      <a:endParaRPr lang="en-US"/>
                    </a:p>
                  </a:txBody>
                  <a:tcPr/>
                </a:tc>
                <a:tc>
                  <a:txBody>
                    <a:bodyPr/>
                    <a:lstStyle/>
                    <a:p>
                      <a:pPr marL="64135" marR="0" algn="just">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5699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Bureau Veritas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Columbus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McKinnon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(5</a:t>
                      </a:r>
                      <a:r>
                        <a:rPr lang="en-US" sz="1100" spc="-20">
                          <a:effectLst/>
                          <a:latin typeface="Calibri" panose="020F0502020204030204" pitchFamily="34" charset="0"/>
                          <a:ea typeface="Calibri" panose="020F0502020204030204" pitchFamily="34" charset="0"/>
                          <a:cs typeface="Times New Roman" panose="02020603050405020304" pitchFamily="18" charset="0"/>
                        </a:rPr>
                        <a:t> days)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4128493"/>
                  </a:ext>
                </a:extLst>
              </a:tr>
              <a:tr h="187279">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13500839"/>
                  </a:ext>
                </a:extLst>
              </a:tr>
              <a:tr h="49457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8663184"/>
                  </a:ext>
                </a:extLst>
              </a:tr>
              <a:tr h="185443">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9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18839458"/>
                  </a:ext>
                </a:extLst>
              </a:tr>
              <a:tr h="536744">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67132559"/>
                  </a:ext>
                </a:extLst>
              </a:tr>
              <a:tr h="159738">
                <a:tc vMerge="1">
                  <a:txBody>
                    <a:bodyPr/>
                    <a:lstStyle/>
                    <a:p>
                      <a:endParaRPr lang="en-US"/>
                    </a:p>
                  </a:txBody>
                  <a:tcPr/>
                </a:tc>
                <a:tc>
                  <a:txBody>
                    <a:bodyPr/>
                    <a:lstStyle/>
                    <a:p>
                      <a:pPr marL="64135" marR="0">
                        <a:lnSpc>
                          <a:spcPts val="1010"/>
                        </a:lnSpc>
                        <a:spcBef>
                          <a:spcPts val="20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2019278"/>
                  </a:ext>
                </a:extLst>
              </a:tr>
            </a:tbl>
          </a:graphicData>
        </a:graphic>
      </p:graphicFrame>
      <p:pic>
        <p:nvPicPr>
          <p:cNvPr id="23554" name="Image 74">
            <a:extLst>
              <a:ext uri="{FF2B5EF4-FFF2-40B4-BE49-F238E27FC236}">
                <a16:creationId xmlns:a16="http://schemas.microsoft.com/office/drawing/2014/main" id="{3AB0F9B1-1515-9D9B-9A46-01AC5BE95DF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2" y="221613"/>
            <a:ext cx="771525" cy="64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43332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DC47A73-6951-CED1-CDAF-4F900BFC56CC}"/>
              </a:ext>
            </a:extLst>
          </p:cNvPr>
          <p:cNvSpPr>
            <a:spLocks noGrp="1"/>
          </p:cNvSpPr>
          <p:nvPr>
            <p:ph type="ftr" sz="quarter" idx="11"/>
          </p:nvPr>
        </p:nvSpPr>
        <p:spPr/>
        <p:txBody>
          <a:bodyPr/>
          <a:lstStyle/>
          <a:p>
            <a:r>
              <a:rPr lang="en-US" dirty="0"/>
              <a:t>© 2024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a:xfrm>
            <a:off x="520571" y="3188556"/>
            <a:ext cx="10706100" cy="849437"/>
          </a:xfrm>
        </p:spPr>
        <p:txBody>
          <a:bodyPr/>
          <a:lstStyle/>
          <a:p>
            <a:r>
              <a:rPr lang="en-US" dirty="0"/>
              <a:t>NAM</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a:xfrm>
            <a:off x="596771" y="4037993"/>
            <a:ext cx="10706100" cy="974725"/>
          </a:xfrm>
        </p:spPr>
        <p:txBody>
          <a:bodyPr/>
          <a:lstStyle/>
          <a:p>
            <a:r>
              <a:rPr lang="en-US" dirty="0"/>
              <a:t>OFS Lifting Teams</a:t>
            </a:r>
          </a:p>
        </p:txBody>
      </p:sp>
      <p:pic>
        <p:nvPicPr>
          <p:cNvPr id="6" name="Picture 5">
            <a:extLst>
              <a:ext uri="{FF2B5EF4-FFF2-40B4-BE49-F238E27FC236}">
                <a16:creationId xmlns:a16="http://schemas.microsoft.com/office/drawing/2014/main" id="{FA410493-A3BC-F3AB-C495-58395F4131FF}"/>
              </a:ext>
            </a:extLst>
          </p:cNvPr>
          <p:cNvPicPr>
            <a:picLocks noChangeAspect="1"/>
          </p:cNvPicPr>
          <p:nvPr/>
        </p:nvPicPr>
        <p:blipFill rotWithShape="1">
          <a:blip r:embed="rId2"/>
          <a:srcRect l="-489" r="40101"/>
          <a:stretch/>
        </p:blipFill>
        <p:spPr>
          <a:xfrm>
            <a:off x="5156200" y="2883149"/>
            <a:ext cx="7035800" cy="3974851"/>
          </a:xfrm>
          <a:prstGeom prst="rect">
            <a:avLst/>
          </a:prstGeom>
        </p:spPr>
      </p:pic>
    </p:spTree>
    <p:extLst>
      <p:ext uri="{BB962C8B-B14F-4D97-AF65-F5344CB8AC3E}">
        <p14:creationId xmlns:p14="http://schemas.microsoft.com/office/powerpoint/2010/main" val="11242301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56</a:t>
            </a:fld>
            <a:endParaRPr lang="en-US" dirty="0"/>
          </a:p>
        </p:txBody>
      </p:sp>
      <p:graphicFrame>
        <p:nvGraphicFramePr>
          <p:cNvPr id="5" name="Table 4">
            <a:extLst>
              <a:ext uri="{FF2B5EF4-FFF2-40B4-BE49-F238E27FC236}">
                <a16:creationId xmlns:a16="http://schemas.microsoft.com/office/drawing/2014/main" id="{385A7E22-5E7E-5F3A-56A2-3D0BC35109A7}"/>
              </a:ext>
            </a:extLst>
          </p:cNvPr>
          <p:cNvGraphicFramePr>
            <a:graphicFrameLocks noGrp="1"/>
          </p:cNvGraphicFramePr>
          <p:nvPr>
            <p:extLst>
              <p:ext uri="{D42A27DB-BD31-4B8C-83A1-F6EECF244321}">
                <p14:modId xmlns:p14="http://schemas.microsoft.com/office/powerpoint/2010/main" val="2502243562"/>
              </p:ext>
            </p:extLst>
          </p:nvPr>
        </p:nvGraphicFramePr>
        <p:xfrm>
          <a:off x="419100" y="1036252"/>
          <a:ext cx="11430000" cy="4785495"/>
        </p:xfrm>
        <a:graphic>
          <a:graphicData uri="http://schemas.openxmlformats.org/drawingml/2006/table">
            <a:tbl>
              <a:tblPr firstRow="1" firstCol="1" lastRow="1" lastCol="1" bandRow="1" bandCol="1"/>
              <a:tblGrid>
                <a:gridCol w="2028825">
                  <a:extLst>
                    <a:ext uri="{9D8B030D-6E8A-4147-A177-3AD203B41FA5}">
                      <a16:colId xmlns:a16="http://schemas.microsoft.com/office/drawing/2014/main" val="3363425275"/>
                    </a:ext>
                  </a:extLst>
                </a:gridCol>
                <a:gridCol w="9401175">
                  <a:extLst>
                    <a:ext uri="{9D8B030D-6E8A-4147-A177-3AD203B41FA5}">
                      <a16:colId xmlns:a16="http://schemas.microsoft.com/office/drawing/2014/main" val="73801529"/>
                    </a:ext>
                  </a:extLst>
                </a:gridCol>
              </a:tblGrid>
              <a:tr h="601423">
                <a:tc>
                  <a:txBody>
                    <a:bodyPr/>
                    <a:lstStyle/>
                    <a:p>
                      <a:pPr marL="67945" marR="0">
                        <a:spcBef>
                          <a:spcPts val="1680"/>
                        </a:spcBef>
                        <a:spcAft>
                          <a:spcPts val="0"/>
                        </a:spcAft>
                      </a:pPr>
                      <a:r>
                        <a:rPr lang="en-US" sz="1700" b="1" spc="-10" dirty="0">
                          <a:effectLst/>
                          <a:latin typeface="Calibri" panose="020F0502020204030204" pitchFamily="34" charset="0"/>
                          <a:ea typeface="Calibri" panose="020F0502020204030204" pitchFamily="34" charset="0"/>
                          <a:cs typeface="Times New Roman" panose="02020603050405020304" pitchFamily="18" charset="0"/>
                        </a:rPr>
                        <a:t>Canada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9654025"/>
                  </a:ext>
                </a:extLst>
              </a:tr>
              <a:tr h="166394">
                <a:tc rowSpan="2">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9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306992992"/>
                  </a:ext>
                </a:extLst>
              </a:tr>
              <a:tr h="729199">
                <a:tc vMerge="1">
                  <a:txBody>
                    <a:bodyPr/>
                    <a:lstStyle/>
                    <a:p>
                      <a:endParaRPr lang="en-US"/>
                    </a:p>
                  </a:txBody>
                  <a:tcPr/>
                </a:tc>
                <a:tc>
                  <a:txBody>
                    <a:bodyPr/>
                    <a:lstStyle/>
                    <a:p>
                      <a:pPr marL="64135" marR="2797175">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Approved</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LEEA</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or</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CPCS</a:t>
                      </a:r>
                      <a:r>
                        <a:rPr lang="en-US" sz="900" spc="-5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Centers TUV SUD</a:t>
                      </a:r>
                    </a:p>
                    <a:p>
                      <a:pPr marL="64135" marR="306705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IHSA</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(Hoisting</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Engineer</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2) City &amp; Guilds</a:t>
                      </a:r>
                    </a:p>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Hercules</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spc="-25">
                          <a:effectLst/>
                          <a:latin typeface="Calibri" panose="020F0502020204030204" pitchFamily="34" charset="0"/>
                          <a:ea typeface="Calibri" panose="020F0502020204030204" pitchFamily="34" charset="0"/>
                          <a:cs typeface="Times New Roman" panose="02020603050405020304" pitchFamily="18" charset="0"/>
                        </a:rPr>
                        <a:t>SLR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6682050"/>
                  </a:ext>
                </a:extLst>
              </a:tr>
              <a:tr h="166938">
                <a:tc rowSpan="2">
                  <a:txBody>
                    <a:bodyPr/>
                    <a:lstStyle/>
                    <a:p>
                      <a:pPr marL="0" marR="0">
                        <a:spcBef>
                          <a:spcPts val="79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467359296"/>
                  </a:ext>
                </a:extLst>
              </a:tr>
              <a:tr h="438281">
                <a:tc vMerge="1">
                  <a:txBody>
                    <a:bodyPr/>
                    <a:lstStyle/>
                    <a:p>
                      <a:endParaRPr lang="en-US"/>
                    </a:p>
                  </a:txBody>
                  <a:tcPr/>
                </a:tc>
                <a:tc>
                  <a:txBody>
                    <a:bodyPr/>
                    <a:lstStyle/>
                    <a:p>
                      <a:pPr marL="64135" marR="0">
                        <a:lnSpc>
                          <a:spcPts val="13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Fulford</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(level</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25">
                          <a:effectLst/>
                          <a:latin typeface="Calibri" panose="020F0502020204030204" pitchFamily="34" charset="0"/>
                          <a:ea typeface="Calibri" panose="020F0502020204030204" pitchFamily="34" charset="0"/>
                          <a:cs typeface="Times New Roman" panose="02020603050405020304" pitchFamily="18" charset="0"/>
                        </a:rPr>
                        <a:t>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Fulford</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(Load</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Turning</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&amp;</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Drifting)</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Advanced</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Rigger</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Technician</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(Hercules</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SLR</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5</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spc="-20">
                          <a:effectLst/>
                          <a:latin typeface="Calibri" panose="020F0502020204030204" pitchFamily="34" charset="0"/>
                          <a:ea typeface="Calibri" panose="020F0502020204030204" pitchFamily="34" charset="0"/>
                          <a:cs typeface="Times New Roman" panose="02020603050405020304" pitchFamily="18" charset="0"/>
                        </a:rPr>
                        <a:t>Days)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9823008"/>
                  </a:ext>
                </a:extLst>
              </a:tr>
              <a:tr h="165307">
                <a:tc rowSpan="2">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25733912"/>
                  </a:ext>
                </a:extLst>
              </a:tr>
              <a:tr h="584012">
                <a:tc vMerge="1">
                  <a:txBody>
                    <a:bodyPr/>
                    <a:lstStyle/>
                    <a:p>
                      <a:endParaRPr lang="en-US"/>
                    </a:p>
                  </a:txBody>
                  <a:tcPr/>
                </a:tc>
                <a:tc>
                  <a:txBody>
                    <a:bodyPr/>
                    <a:lstStyle/>
                    <a:p>
                      <a:pPr marL="64135" marR="2607310">
                        <a:spcBef>
                          <a:spcPts val="5"/>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Fulford (Level 1 and then level 2) LEEA</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6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Rigger</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(Hercules</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SLR) IHSA (Rigging and Hoisting)</a:t>
                      </a:r>
                    </a:p>
                    <a:p>
                      <a:pPr marL="64135" marR="0">
                        <a:lnSpc>
                          <a:spcPts val="12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CMC</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Rigger</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&amp;</a:t>
                      </a:r>
                      <a:r>
                        <a:rPr lang="en-US" sz="900" spc="-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Signaler</a:t>
                      </a:r>
                      <a:r>
                        <a:rPr lang="en-US" sz="900" spc="-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5</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spc="-20">
                          <a:effectLst/>
                          <a:latin typeface="Calibri" panose="020F0502020204030204" pitchFamily="34" charset="0"/>
                          <a:ea typeface="Calibri" panose="020F0502020204030204" pitchFamily="34" charset="0"/>
                          <a:cs typeface="Times New Roman" panose="02020603050405020304" pitchFamily="18" charset="0"/>
                        </a:rPr>
                        <a:t>days)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2355318"/>
                  </a:ext>
                </a:extLst>
              </a:tr>
              <a:tr h="166394">
                <a:tc rowSpan="2">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r>
                        <a:rPr lang="en-US" sz="9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Must</a:t>
                      </a:r>
                      <a:r>
                        <a:rPr lang="en-US" sz="9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b="1"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approved</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by</a:t>
                      </a:r>
                      <a:r>
                        <a:rPr lang="en-US" sz="900" b="1"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work</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safe</a:t>
                      </a:r>
                      <a:r>
                        <a:rPr lang="en-US" sz="9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80082810"/>
                  </a:ext>
                </a:extLst>
              </a:tr>
              <a:tr h="584556">
                <a:tc vMerge="1">
                  <a:txBody>
                    <a:bodyPr/>
                    <a:lstStyle/>
                    <a:p>
                      <a:endParaRPr lang="en-US"/>
                    </a:p>
                  </a:txBody>
                  <a:tcPr/>
                </a:tc>
                <a:tc>
                  <a:txBody>
                    <a:bodyPr/>
                    <a:lstStyle/>
                    <a:p>
                      <a:pPr marL="64135" marR="0">
                        <a:lnSpc>
                          <a:spcPts val="13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MHSA</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(Advanced</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level)</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14732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Fulford</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(Overhead</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Crane</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Operator</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Certificate</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of</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Competence</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5</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Years) Overhead crane operator (Hercules SLR – 5 Days)</a:t>
                      </a:r>
                    </a:p>
                    <a:p>
                      <a:pPr marL="64135" marR="0">
                        <a:lnSpc>
                          <a:spcPts val="1245"/>
                        </a:lnSpc>
                        <a:spcBef>
                          <a:spcPts val="5"/>
                        </a:spcBef>
                        <a:spcAft>
                          <a:spcPts val="0"/>
                        </a:spcAft>
                      </a:pPr>
                      <a:r>
                        <a:rPr lang="en-US" sz="900" spc="-25">
                          <a:effectLst/>
                          <a:latin typeface="Calibri" panose="020F0502020204030204" pitchFamily="34" charset="0"/>
                          <a:ea typeface="Calibri" panose="020F0502020204030204" pitchFamily="34" charset="0"/>
                          <a:cs typeface="Times New Roman" panose="02020603050405020304" pitchFamily="18" charset="0"/>
                        </a:rPr>
                        <a:t>HSI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9575084"/>
                  </a:ext>
                </a:extLst>
              </a:tr>
              <a:tr h="165307">
                <a:tc rowSpan="3">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4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Must</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approved</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by</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work</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safe</a:t>
                      </a:r>
                      <a:r>
                        <a:rPr lang="en-US" sz="9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70001245"/>
                  </a:ext>
                </a:extLst>
              </a:tr>
              <a:tr h="818922">
                <a:tc vMerge="1">
                  <a:txBody>
                    <a:bodyPr/>
                    <a:lstStyle/>
                    <a:p>
                      <a:endParaRPr lang="en-US"/>
                    </a:p>
                  </a:txBody>
                  <a:tcPr/>
                </a:tc>
                <a:tc>
                  <a:txBody>
                    <a:bodyPr/>
                    <a:lstStyle/>
                    <a:p>
                      <a:pPr marL="64135" marR="0">
                        <a:lnSpc>
                          <a:spcPts val="13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NBCC</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Mobile</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Crane</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230505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5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crane</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operator</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(BC</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Crane</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Safety) MHSA (Advanced level)</a:t>
                      </a:r>
                    </a:p>
                    <a:p>
                      <a:pPr marL="64135" marR="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Fulford</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(BC/Yukon)</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IHSA</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(Mobile</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Crane</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53058138"/>
                  </a:ext>
                </a:extLst>
              </a:tr>
              <a:tr h="190320">
                <a:tc vMerge="1">
                  <a:txBody>
                    <a:bodyPr/>
                    <a:lstStyle/>
                    <a:p>
                      <a:endParaRPr lang="en-US"/>
                    </a:p>
                  </a:txBody>
                  <a:tcPr/>
                </a:tc>
                <a:tc>
                  <a:txBody>
                    <a:bodyPr/>
                    <a:lstStyle/>
                    <a:p>
                      <a:pPr marL="64135" marR="0">
                        <a:lnSpc>
                          <a:spcPts val="995"/>
                        </a:lnSpc>
                        <a:spcBef>
                          <a:spcPts val="655"/>
                        </a:spcBef>
                        <a:spcAft>
                          <a:spcPts val="0"/>
                        </a:spcAft>
                      </a:pP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8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8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0229658"/>
                  </a:ext>
                </a:extLst>
              </a:tr>
            </a:tbl>
          </a:graphicData>
        </a:graphic>
      </p:graphicFrame>
      <p:pic>
        <p:nvPicPr>
          <p:cNvPr id="22530" name="Image 80">
            <a:extLst>
              <a:ext uri="{FF2B5EF4-FFF2-40B4-BE49-F238E27FC236}">
                <a16:creationId xmlns:a16="http://schemas.microsoft.com/office/drawing/2014/main" id="{7322FCFD-2535-48CE-B29F-9DCD6D5E6E7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99038"/>
            <a:ext cx="6953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1575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57</a:t>
            </a:fld>
            <a:endParaRPr lang="en-US" dirty="0"/>
          </a:p>
        </p:txBody>
      </p:sp>
      <p:graphicFrame>
        <p:nvGraphicFramePr>
          <p:cNvPr id="5" name="Table 4">
            <a:extLst>
              <a:ext uri="{FF2B5EF4-FFF2-40B4-BE49-F238E27FC236}">
                <a16:creationId xmlns:a16="http://schemas.microsoft.com/office/drawing/2014/main" id="{92CD2D75-A6C6-EF73-63C1-B57EABE9E4E8}"/>
              </a:ext>
            </a:extLst>
          </p:cNvPr>
          <p:cNvGraphicFramePr>
            <a:graphicFrameLocks noGrp="1"/>
          </p:cNvGraphicFramePr>
          <p:nvPr>
            <p:extLst>
              <p:ext uri="{D42A27DB-BD31-4B8C-83A1-F6EECF244321}">
                <p14:modId xmlns:p14="http://schemas.microsoft.com/office/powerpoint/2010/main" val="86749589"/>
              </p:ext>
            </p:extLst>
          </p:nvPr>
        </p:nvGraphicFramePr>
        <p:xfrm>
          <a:off x="495300" y="989298"/>
          <a:ext cx="11430000" cy="4529455"/>
        </p:xfrm>
        <a:graphic>
          <a:graphicData uri="http://schemas.openxmlformats.org/drawingml/2006/table">
            <a:tbl>
              <a:tblPr firstRow="1" firstCol="1" lastRow="1" lastCol="1" bandRow="1" bandCol="1"/>
              <a:tblGrid>
                <a:gridCol w="1952625">
                  <a:extLst>
                    <a:ext uri="{9D8B030D-6E8A-4147-A177-3AD203B41FA5}">
                      <a16:colId xmlns:a16="http://schemas.microsoft.com/office/drawing/2014/main" val="3506637584"/>
                    </a:ext>
                  </a:extLst>
                </a:gridCol>
                <a:gridCol w="9477375">
                  <a:extLst>
                    <a:ext uri="{9D8B030D-6E8A-4147-A177-3AD203B41FA5}">
                      <a16:colId xmlns:a16="http://schemas.microsoft.com/office/drawing/2014/main" val="3434224324"/>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México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0455903"/>
                  </a:ext>
                </a:extLst>
              </a:tr>
              <a:tr h="194310">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99006369"/>
                  </a:ext>
                </a:extLst>
              </a:tr>
              <a:tr h="680720">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87470">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ALATAS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1371010"/>
                  </a:ext>
                </a:extLst>
              </a:tr>
              <a:tr h="194310">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09824447"/>
                  </a:ext>
                </a:extLst>
              </a:tr>
              <a:tr h="682625">
                <a:tc vMerge="1">
                  <a:txBody>
                    <a:bodyPr/>
                    <a:lstStyle/>
                    <a:p>
                      <a:endParaRPr lang="en-US"/>
                    </a:p>
                  </a:txBody>
                  <a:tcPr/>
                </a:tc>
                <a:tc>
                  <a:txBody>
                    <a:bodyPr/>
                    <a:lstStyle/>
                    <a:p>
                      <a:pPr marL="64135" marR="254698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Crane Supervisor ( Bureau Veritas)</a:t>
                      </a:r>
                    </a:p>
                    <a:p>
                      <a:pPr marL="64135" marR="1871980">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and</a:t>
                      </a:r>
                      <a:r>
                        <a:rPr lang="en-US" sz="1100" spc="18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a:t>
                      </a:r>
                      <a:r>
                        <a:rPr lang="en-US" sz="1100" spc="-10">
                          <a:effectLst/>
                          <a:latin typeface="Calibri" panose="020F0502020204030204" pitchFamily="34" charset="0"/>
                          <a:ea typeface="Calibri" panose="020F0502020204030204" pitchFamily="34" charset="0"/>
                          <a:cs typeface="Times New Roman" panose="02020603050405020304" pitchFamily="18" charset="0"/>
                        </a:rPr>
                        <a:t>ALATAS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239523"/>
                  </a:ext>
                </a:extLst>
              </a:tr>
              <a:tr h="191770">
                <a:tc rowSpan="2">
                  <a:txBody>
                    <a:bodyPr/>
                    <a:lstStyle/>
                    <a:p>
                      <a:pPr marL="0" marR="0">
                        <a:spcBef>
                          <a:spcPts val="10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85407947"/>
                  </a:ext>
                </a:extLst>
              </a:tr>
              <a:tr h="340995">
                <a:tc vMerge="1">
                  <a:txBody>
                    <a:bodyPr/>
                    <a:lstStyle/>
                    <a:p>
                      <a:endParaRPr lang="en-US"/>
                    </a:p>
                  </a:txBody>
                  <a:tcPr/>
                </a:tc>
                <a:tc>
                  <a:txBody>
                    <a:bodyPr/>
                    <a:lstStyle/>
                    <a:p>
                      <a:pPr marL="64135" marR="0">
                        <a:lnSpc>
                          <a:spcPts val="133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(Rigger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Level</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(Rigger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Level</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1</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&amp;</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2)</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(GWO)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785138"/>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27695275"/>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and</a:t>
                      </a:r>
                      <a:r>
                        <a:rPr lang="en-US" sz="1100" spc="18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IPAF-México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089212"/>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91439736"/>
                  </a:ext>
                </a:extLst>
              </a:tr>
              <a:tr h="585470">
                <a:tc vMerge="1">
                  <a:txBody>
                    <a:bodyPr/>
                    <a:lstStyle/>
                    <a:p>
                      <a:endParaRPr lang="en-US"/>
                    </a:p>
                  </a:txBody>
                  <a:tcPr/>
                </a:tc>
                <a:tc>
                  <a:txBody>
                    <a:bodyPr/>
                    <a:lstStyle/>
                    <a:p>
                      <a:pPr marL="64135" marR="2797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Mobile</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MTC </a:t>
                      </a:r>
                      <a:r>
                        <a:rPr lang="en-US" sz="1100" spc="-10">
                          <a:effectLst/>
                          <a:latin typeface="Calibri" panose="020F0502020204030204" pitchFamily="34" charset="0"/>
                          <a:ea typeface="Calibri" panose="020F0502020204030204" pitchFamily="34" charset="0"/>
                          <a:cs typeface="Times New Roman" panose="02020603050405020304" pitchFamily="18" charset="0"/>
                        </a:rPr>
                        <a:t>NCCER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IPAF-México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82443701"/>
                  </a:ext>
                </a:extLst>
              </a:tr>
              <a:tr h="192405">
                <a:tc vMerge="1">
                  <a:txBody>
                    <a:bodyPr/>
                    <a:lstStyle/>
                    <a:p>
                      <a:endParaRPr lang="en-US"/>
                    </a:p>
                  </a:txBody>
                  <a:tcPr/>
                </a:tc>
                <a:tc>
                  <a:txBody>
                    <a:bodyPr/>
                    <a:lstStyle/>
                    <a:p>
                      <a:pPr marL="64135" marR="0">
                        <a:lnSpc>
                          <a:spcPts val="995"/>
                        </a:lnSpc>
                        <a:spcBef>
                          <a:spcPts val="42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050158"/>
                  </a:ext>
                </a:extLst>
              </a:tr>
            </a:tbl>
          </a:graphicData>
        </a:graphic>
      </p:graphicFrame>
      <p:pic>
        <p:nvPicPr>
          <p:cNvPr id="21506" name="Image 81">
            <a:extLst>
              <a:ext uri="{FF2B5EF4-FFF2-40B4-BE49-F238E27FC236}">
                <a16:creationId xmlns:a16="http://schemas.microsoft.com/office/drawing/2014/main" id="{B3A93E8A-8179-C17E-D34B-02E4CA6C958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 y="210486"/>
            <a:ext cx="80010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5694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58</a:t>
            </a:fld>
            <a:endParaRPr lang="en-US" dirty="0"/>
          </a:p>
        </p:txBody>
      </p:sp>
      <p:graphicFrame>
        <p:nvGraphicFramePr>
          <p:cNvPr id="5" name="Table 4">
            <a:extLst>
              <a:ext uri="{FF2B5EF4-FFF2-40B4-BE49-F238E27FC236}">
                <a16:creationId xmlns:a16="http://schemas.microsoft.com/office/drawing/2014/main" id="{30DC32E2-7B8F-6ED4-D954-9A17B467570C}"/>
              </a:ext>
            </a:extLst>
          </p:cNvPr>
          <p:cNvGraphicFramePr>
            <a:graphicFrameLocks noGrp="1"/>
          </p:cNvGraphicFramePr>
          <p:nvPr>
            <p:extLst>
              <p:ext uri="{D42A27DB-BD31-4B8C-83A1-F6EECF244321}">
                <p14:modId xmlns:p14="http://schemas.microsoft.com/office/powerpoint/2010/main" val="1800577763"/>
              </p:ext>
            </p:extLst>
          </p:nvPr>
        </p:nvGraphicFramePr>
        <p:xfrm>
          <a:off x="419100" y="971504"/>
          <a:ext cx="11430000" cy="5067569"/>
        </p:xfrm>
        <a:graphic>
          <a:graphicData uri="http://schemas.openxmlformats.org/drawingml/2006/table">
            <a:tbl>
              <a:tblPr firstRow="1" firstCol="1" lastRow="1" lastCol="1" bandRow="1" bandCol="1"/>
              <a:tblGrid>
                <a:gridCol w="2057400">
                  <a:extLst>
                    <a:ext uri="{9D8B030D-6E8A-4147-A177-3AD203B41FA5}">
                      <a16:colId xmlns:a16="http://schemas.microsoft.com/office/drawing/2014/main" val="3760497109"/>
                    </a:ext>
                  </a:extLst>
                </a:gridCol>
                <a:gridCol w="5561256">
                  <a:extLst>
                    <a:ext uri="{9D8B030D-6E8A-4147-A177-3AD203B41FA5}">
                      <a16:colId xmlns:a16="http://schemas.microsoft.com/office/drawing/2014/main" val="1094912693"/>
                    </a:ext>
                  </a:extLst>
                </a:gridCol>
                <a:gridCol w="3811344">
                  <a:extLst>
                    <a:ext uri="{9D8B030D-6E8A-4147-A177-3AD203B41FA5}">
                      <a16:colId xmlns:a16="http://schemas.microsoft.com/office/drawing/2014/main" val="4191860285"/>
                    </a:ext>
                  </a:extLst>
                </a:gridCol>
              </a:tblGrid>
              <a:tr h="504321">
                <a:tc>
                  <a:txBody>
                    <a:bodyPr/>
                    <a:lstStyle/>
                    <a:p>
                      <a:pPr marL="67945" marR="0">
                        <a:spcBef>
                          <a:spcPts val="1680"/>
                        </a:spcBef>
                        <a:spcAft>
                          <a:spcPts val="0"/>
                        </a:spcAft>
                      </a:pPr>
                      <a:r>
                        <a:rPr lang="en-US" sz="2000" b="1" spc="-25" dirty="0">
                          <a:effectLst/>
                          <a:latin typeface="Calibri" panose="020F0502020204030204" pitchFamily="34" charset="0"/>
                          <a:ea typeface="Calibri" panose="020F0502020204030204" pitchFamily="34" charset="0"/>
                          <a:cs typeface="Times New Roman" panose="02020603050405020304" pitchFamily="18" charset="0"/>
                        </a:rPr>
                        <a:t>USA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45359"/>
                  </a:ext>
                </a:extLst>
              </a:tr>
              <a:tr h="23326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lnSpc>
                          <a:spcPts val="1340"/>
                        </a:lnSpc>
                        <a:spcBef>
                          <a:spcPts val="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NCCCO</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Tower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NCCCO</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(MLD)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966013780"/>
                  </a:ext>
                </a:extLst>
              </a:tr>
              <a:tr h="349680">
                <a:tc vMerge="1">
                  <a:txBody>
                    <a:bodyPr/>
                    <a:lstStyle/>
                    <a:p>
                      <a:endParaRPr lang="en-US"/>
                    </a:p>
                  </a:txBody>
                  <a:tcPr/>
                </a:tc>
                <a:tc>
                  <a:txBody>
                    <a:bodyPr/>
                    <a:lstStyle/>
                    <a:p>
                      <a:pPr marL="64135" marR="64198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Preparation in ITI</a:t>
                      </a:r>
                      <a:r>
                        <a:rPr lang="en-US" sz="1100" spc="40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Preparation</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Institute</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Tech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41021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NACB</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Director</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 CICB Training Center</a:t>
                      </a:r>
                    </a:p>
                    <a:p>
                      <a:pPr marL="68580" marR="0">
                        <a:lnSpc>
                          <a:spcPts val="1245"/>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NTT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9353480"/>
                  </a:ext>
                </a:extLst>
              </a:tr>
              <a:tr h="132053">
                <a:tc rowSpan="2">
                  <a:txBody>
                    <a:bodyPr/>
                    <a:lstStyle/>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NCCCO</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Level</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3361306947"/>
                  </a:ext>
                </a:extLst>
              </a:tr>
              <a:tr h="351027">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Preparation</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ITI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1480820">
                        <a:lnSpc>
                          <a:spcPts val="135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Crane Tech Crane</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Institute</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American</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and</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Safety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8580" marR="76263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CICB</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Center </a:t>
                      </a:r>
                      <a:r>
                        <a:rPr lang="en-US" sz="1100" spc="-10">
                          <a:effectLst/>
                          <a:latin typeface="Calibri" panose="020F0502020204030204" pitchFamily="34" charset="0"/>
                          <a:ea typeface="Calibri" panose="020F0502020204030204" pitchFamily="34" charset="0"/>
                          <a:cs typeface="Times New Roman" panose="02020603050405020304" pitchFamily="18" charset="0"/>
                        </a:rPr>
                        <a:t>ALATAS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3932606"/>
                  </a:ext>
                </a:extLst>
              </a:tr>
              <a:tr h="132487">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8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8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NCCCO</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Level</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5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3828430910"/>
                  </a:ext>
                </a:extLst>
              </a:tr>
              <a:tr h="583379">
                <a:tc vMerge="1">
                  <a:txBody>
                    <a:bodyPr/>
                    <a:lstStyle/>
                    <a:p>
                      <a:endParaRPr lang="en-US"/>
                    </a:p>
                  </a:txBody>
                  <a:tcPr/>
                </a:tc>
                <a:tc>
                  <a:txBody>
                    <a:bodyPr/>
                    <a:lstStyle/>
                    <a:p>
                      <a:pPr marL="64135" marR="134810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Preparation</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ITI Crane Tech</a:t>
                      </a:r>
                      <a:r>
                        <a:rPr lang="en-US" sz="1100" spc="20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 Institute</a:t>
                      </a:r>
                    </a:p>
                    <a:p>
                      <a:pPr marL="64135" marR="64198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American</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and</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Safety CICB Training Center</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NTT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8580"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LEAVITT</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8580"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GWO</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centers</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(LRQA,</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Orion</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register</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Inc, Afnor groupe)</a:t>
                      </a:r>
                    </a:p>
                    <a:p>
                      <a:pPr marL="68580"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Columbus</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McKinnon</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(5</a:t>
                      </a:r>
                      <a:r>
                        <a:rPr lang="en-US" sz="1100" spc="-20">
                          <a:effectLst/>
                          <a:latin typeface="Calibri" panose="020F0502020204030204" pitchFamily="34" charset="0"/>
                          <a:ea typeface="Calibri" panose="020F0502020204030204" pitchFamily="34" charset="0"/>
                          <a:cs typeface="Times New Roman" panose="02020603050405020304" pitchFamily="18" charset="0"/>
                        </a:rPr>
                        <a:t> days)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8775568"/>
                  </a:ext>
                </a:extLst>
              </a:tr>
              <a:tr h="13118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6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lnSpc>
                          <a:spcPts val="1330"/>
                        </a:lnSpc>
                        <a:spcBef>
                          <a:spcPts val="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NCCCO</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2292834062"/>
                  </a:ext>
                </a:extLst>
              </a:tr>
              <a:tr h="583379">
                <a:tc vMerge="1">
                  <a:txBody>
                    <a:bodyPr/>
                    <a:lstStyle/>
                    <a:p>
                      <a:endParaRPr lang="en-US"/>
                    </a:p>
                  </a:txBody>
                  <a:tcPr/>
                </a:tc>
                <a:tc>
                  <a:txBody>
                    <a:bodyPr/>
                    <a:lstStyle/>
                    <a:p>
                      <a:pPr marL="64135" marR="188976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Prep</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ITI </a:t>
                      </a:r>
                      <a:r>
                        <a:rPr lang="en-US" sz="1100" spc="-20">
                          <a:effectLst/>
                          <a:latin typeface="Calibri" panose="020F0502020204030204" pitchFamily="34" charset="0"/>
                          <a:ea typeface="Calibri" panose="020F0502020204030204" pitchFamily="34" charset="0"/>
                          <a:cs typeface="Times New Roman" panose="02020603050405020304" pitchFamily="18" charset="0"/>
                        </a:rPr>
                        <a:t>CMAA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Tech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1480820">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Institute CICB Center</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2096770">
                        <a:spcBef>
                          <a:spcPts val="0"/>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HIS </a:t>
                      </a:r>
                      <a:r>
                        <a:rPr lang="en-US" sz="1100" spc="-25">
                          <a:effectLst/>
                          <a:latin typeface="Calibri" panose="020F0502020204030204" pitchFamily="34" charset="0"/>
                          <a:ea typeface="Calibri" panose="020F0502020204030204" pitchFamily="34" charset="0"/>
                          <a:cs typeface="Times New Roman" panose="02020603050405020304" pitchFamily="18" charset="0"/>
                        </a:rPr>
                        <a:t>NTT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8580" marR="1270000">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AMATROL</a:t>
                      </a:r>
                      <a:r>
                        <a:rPr lang="en-US" sz="1100" spc="20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LEAVITT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6839755"/>
                  </a:ext>
                </a:extLst>
              </a:tr>
              <a:tr h="698491">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36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1203960">
                        <a:spcBef>
                          <a:spcPts val="0"/>
                        </a:spcBef>
                        <a:spcAft>
                          <a:spcPts val="0"/>
                        </a:spcAft>
                      </a:pPr>
                      <a:r>
                        <a:rPr lang="en-US" sz="11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NCCCO</a:t>
                      </a:r>
                      <a:r>
                        <a:rPr lang="en-US" sz="1100" u="sng"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u="sng" spc="-4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u="sng"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u="sng"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r>
                        <a:rPr lang="en-US" sz="1100" u="sng" spc="-4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u="sng"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the</a:t>
                      </a:r>
                      <a:r>
                        <a:rPr lang="en-US" sz="1100" u="sng"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following:</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Lattice Boom Crawler Cranes (LBC)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2322195">
                        <a:spcBef>
                          <a:spcPts val="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Lattice Boom Truck Cranes (LBT) Telescopic</a:t>
                      </a:r>
                      <a:r>
                        <a:rPr lang="en-US" sz="1100" spc="-5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Boom</a:t>
                      </a:r>
                      <a:r>
                        <a:rPr lang="en-US" sz="1100" spc="-4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Cranes—Swing</a:t>
                      </a:r>
                      <a:r>
                        <a:rPr lang="en-US" sz="1100" spc="-5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Cab</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(TLL) Telescopic</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Boom</a:t>
                      </a:r>
                      <a:r>
                        <a:rPr lang="en-US" sz="11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Cranes—Fixed</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Cab</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(TSS)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NCCER</a:t>
                      </a:r>
                      <a:r>
                        <a:rPr lang="en-US" sz="11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(approved</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a:t>
                      </a:r>
                      <a:r>
                        <a:rPr lang="en-US" sz="11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some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states</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only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5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1428454282"/>
                  </a:ext>
                </a:extLst>
              </a:tr>
              <a:tr h="980407">
                <a:tc vMerge="1">
                  <a:txBody>
                    <a:bodyPr/>
                    <a:lstStyle/>
                    <a:p>
                      <a:endParaRPr lang="en-US"/>
                    </a:p>
                  </a:txBody>
                  <a:tcPr/>
                </a:tc>
                <a:tc>
                  <a:txBody>
                    <a:bodyPr/>
                    <a:lstStyle/>
                    <a:p>
                      <a:pPr marL="64135" marR="1692275">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Prep ITI Crane</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Tech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CICB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14839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AP Crane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Crane</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Institute</a:t>
                      </a:r>
                    </a:p>
                    <a:p>
                      <a:pPr marL="64135" marR="48831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Colorado</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School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NTT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LEAVITT</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spcBef>
                          <a:spcPts val="0"/>
                        </a:spcBef>
                        <a:spcAft>
                          <a:spcPts val="0"/>
                        </a:spcAft>
                      </a:pPr>
                      <a:r>
                        <a:rPr lang="en-US" sz="1100" dirty="0">
                          <a:effectLst/>
                          <a:latin typeface="Times New Roman" panose="02020603050405020304" pitchFamily="18" charset="0"/>
                          <a:ea typeface="Calibri" panose="020F0502020204030204" pitchFamily="34" charset="0"/>
                          <a:cs typeface="Calibri" panose="020F0502020204030204" pitchFamily="34"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1212711"/>
                  </a:ext>
                </a:extLst>
              </a:tr>
              <a:tr h="127275">
                <a:tc vMerge="1">
                  <a:txBody>
                    <a:bodyPr/>
                    <a:lstStyle/>
                    <a:p>
                      <a:endParaRPr lang="en-US"/>
                    </a:p>
                  </a:txBody>
                  <a:tcPr/>
                </a:tc>
                <a:tc gridSpan="2">
                  <a:txBody>
                    <a:bodyPr/>
                    <a:lstStyle/>
                    <a:p>
                      <a:pPr marL="64135" marR="0">
                        <a:lnSpc>
                          <a:spcPts val="995"/>
                        </a:lnSpc>
                        <a:spcBef>
                          <a:spcPts val="37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804224983"/>
                  </a:ext>
                </a:extLst>
              </a:tr>
            </a:tbl>
          </a:graphicData>
        </a:graphic>
      </p:graphicFrame>
      <p:pic>
        <p:nvPicPr>
          <p:cNvPr id="20482" name="Image 82">
            <a:extLst>
              <a:ext uri="{FF2B5EF4-FFF2-40B4-BE49-F238E27FC236}">
                <a16:creationId xmlns:a16="http://schemas.microsoft.com/office/drawing/2014/main" id="{90FAF31F-737C-C0EF-094D-5A4E1D3A4DE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2" y="198614"/>
            <a:ext cx="8096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3432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DC47A73-6951-CED1-CDAF-4F900BFC56CC}"/>
              </a:ext>
            </a:extLst>
          </p:cNvPr>
          <p:cNvSpPr>
            <a:spLocks noGrp="1"/>
          </p:cNvSpPr>
          <p:nvPr>
            <p:ph type="ftr" sz="quarter" idx="11"/>
          </p:nvPr>
        </p:nvSpPr>
        <p:spPr/>
        <p:txBody>
          <a:bodyPr/>
          <a:lstStyle/>
          <a:p>
            <a:r>
              <a:rPr lang="en-US" dirty="0"/>
              <a:t>© 2024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a:xfrm>
            <a:off x="520571" y="3188556"/>
            <a:ext cx="10706100" cy="849437"/>
          </a:xfrm>
        </p:spPr>
        <p:txBody>
          <a:bodyPr/>
          <a:lstStyle/>
          <a:p>
            <a:r>
              <a:rPr lang="en-US" dirty="0"/>
              <a:t>Europe</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a:xfrm>
            <a:off x="596771" y="4037993"/>
            <a:ext cx="10706100" cy="974725"/>
          </a:xfrm>
        </p:spPr>
        <p:txBody>
          <a:bodyPr/>
          <a:lstStyle/>
          <a:p>
            <a:r>
              <a:rPr lang="en-US" dirty="0"/>
              <a:t>OFS Lifting Teams</a:t>
            </a:r>
          </a:p>
        </p:txBody>
      </p:sp>
      <p:pic>
        <p:nvPicPr>
          <p:cNvPr id="6" name="Picture 5">
            <a:extLst>
              <a:ext uri="{FF2B5EF4-FFF2-40B4-BE49-F238E27FC236}">
                <a16:creationId xmlns:a16="http://schemas.microsoft.com/office/drawing/2014/main" id="{FA410493-A3BC-F3AB-C495-58395F4131FF}"/>
              </a:ext>
            </a:extLst>
          </p:cNvPr>
          <p:cNvPicPr>
            <a:picLocks noChangeAspect="1"/>
          </p:cNvPicPr>
          <p:nvPr/>
        </p:nvPicPr>
        <p:blipFill rotWithShape="1">
          <a:blip r:embed="rId2"/>
          <a:srcRect l="-489" r="40101"/>
          <a:stretch/>
        </p:blipFill>
        <p:spPr>
          <a:xfrm>
            <a:off x="5156200" y="2883149"/>
            <a:ext cx="7035800" cy="3974851"/>
          </a:xfrm>
          <a:prstGeom prst="rect">
            <a:avLst/>
          </a:prstGeom>
        </p:spPr>
      </p:pic>
    </p:spTree>
    <p:extLst>
      <p:ext uri="{BB962C8B-B14F-4D97-AF65-F5344CB8AC3E}">
        <p14:creationId xmlns:p14="http://schemas.microsoft.com/office/powerpoint/2010/main" val="39054247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60</a:t>
            </a:fld>
            <a:endParaRPr lang="en-US" dirty="0"/>
          </a:p>
        </p:txBody>
      </p:sp>
      <p:graphicFrame>
        <p:nvGraphicFramePr>
          <p:cNvPr id="5" name="Table 4">
            <a:extLst>
              <a:ext uri="{FF2B5EF4-FFF2-40B4-BE49-F238E27FC236}">
                <a16:creationId xmlns:a16="http://schemas.microsoft.com/office/drawing/2014/main" id="{F5C29D40-99F6-2BF8-1AA0-5A3A0162F984}"/>
              </a:ext>
            </a:extLst>
          </p:cNvPr>
          <p:cNvGraphicFramePr>
            <a:graphicFrameLocks noGrp="1"/>
          </p:cNvGraphicFramePr>
          <p:nvPr>
            <p:extLst>
              <p:ext uri="{D42A27DB-BD31-4B8C-83A1-F6EECF244321}">
                <p14:modId xmlns:p14="http://schemas.microsoft.com/office/powerpoint/2010/main" val="3882252611"/>
              </p:ext>
            </p:extLst>
          </p:nvPr>
        </p:nvGraphicFramePr>
        <p:xfrm>
          <a:off x="419100" y="1043075"/>
          <a:ext cx="11430000" cy="4806952"/>
        </p:xfrm>
        <a:graphic>
          <a:graphicData uri="http://schemas.openxmlformats.org/drawingml/2006/table">
            <a:tbl>
              <a:tblPr firstRow="1" firstCol="1" lastRow="1" lastCol="1" bandRow="1" bandCol="1"/>
              <a:tblGrid>
                <a:gridCol w="2032000">
                  <a:extLst>
                    <a:ext uri="{9D8B030D-6E8A-4147-A177-3AD203B41FA5}">
                      <a16:colId xmlns:a16="http://schemas.microsoft.com/office/drawing/2014/main" val="1615270508"/>
                    </a:ext>
                  </a:extLst>
                </a:gridCol>
                <a:gridCol w="9398000">
                  <a:extLst>
                    <a:ext uri="{9D8B030D-6E8A-4147-A177-3AD203B41FA5}">
                      <a16:colId xmlns:a16="http://schemas.microsoft.com/office/drawing/2014/main" val="164723320"/>
                    </a:ext>
                  </a:extLst>
                </a:gridCol>
              </a:tblGrid>
              <a:tr h="727244">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Ukraine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4343191"/>
                  </a:ext>
                </a:extLst>
              </a:tr>
              <a:tr h="191677">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800944367"/>
                  </a:ext>
                </a:extLst>
              </a:tr>
              <a:tr h="502995">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8338433"/>
                  </a:ext>
                </a:extLst>
              </a:tr>
              <a:tr h="191677">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867047017"/>
                  </a:ext>
                </a:extLst>
              </a:tr>
              <a:tr h="504874">
                <a:tc vMerge="1">
                  <a:txBody>
                    <a:bodyPr/>
                    <a:lstStyle/>
                    <a:p>
                      <a:endParaRPr lang="en-US"/>
                    </a:p>
                  </a:txBody>
                  <a:tcPr/>
                </a:tc>
                <a:tc>
                  <a:txBody>
                    <a:bodyPr/>
                    <a:lstStyle/>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a:t>
                      </a: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0242601"/>
                  </a:ext>
                </a:extLst>
              </a:tr>
              <a:tr h="191677">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56734393"/>
                  </a:ext>
                </a:extLst>
              </a:tr>
              <a:tr h="504874">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6112993"/>
                  </a:ext>
                </a:extLst>
              </a:tr>
              <a:tr h="190424">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40448053"/>
                  </a:ext>
                </a:extLst>
              </a:tr>
              <a:tr h="672747">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TUV SUD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6267406"/>
                  </a:ext>
                </a:extLst>
              </a:tr>
              <a:tr h="191677">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99458616"/>
                  </a:ext>
                </a:extLst>
              </a:tr>
              <a:tr h="746036">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TUV SUD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09288859"/>
                  </a:ext>
                </a:extLst>
              </a:tr>
              <a:tr h="191050">
                <a:tc vMerge="1">
                  <a:txBody>
                    <a:bodyPr/>
                    <a:lstStyle/>
                    <a:p>
                      <a:endParaRPr lang="en-US"/>
                    </a:p>
                  </a:txBody>
                  <a:tcPr/>
                </a:tc>
                <a:tc>
                  <a:txBody>
                    <a:bodyPr/>
                    <a:lstStyle/>
                    <a:p>
                      <a:pPr marL="64135" marR="0">
                        <a:lnSpc>
                          <a:spcPts val="995"/>
                        </a:lnSpc>
                        <a:spcBef>
                          <a:spcPts val="43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4304106"/>
                  </a:ext>
                </a:extLst>
              </a:tr>
            </a:tbl>
          </a:graphicData>
        </a:graphic>
      </p:graphicFrame>
      <p:pic>
        <p:nvPicPr>
          <p:cNvPr id="19458" name="Image 88">
            <a:extLst>
              <a:ext uri="{FF2B5EF4-FFF2-40B4-BE49-F238E27FC236}">
                <a16:creationId xmlns:a16="http://schemas.microsoft.com/office/drawing/2014/main" id="{39E14881-E41F-8311-A08C-6F94C3F898B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37947"/>
            <a:ext cx="7334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524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61</a:t>
            </a:fld>
            <a:endParaRPr lang="en-US" dirty="0"/>
          </a:p>
        </p:txBody>
      </p:sp>
      <p:graphicFrame>
        <p:nvGraphicFramePr>
          <p:cNvPr id="5" name="Table 4">
            <a:extLst>
              <a:ext uri="{FF2B5EF4-FFF2-40B4-BE49-F238E27FC236}">
                <a16:creationId xmlns:a16="http://schemas.microsoft.com/office/drawing/2014/main" id="{B0F1CE00-F17B-CC5F-0C59-F0994BF24852}"/>
              </a:ext>
            </a:extLst>
          </p:cNvPr>
          <p:cNvGraphicFramePr>
            <a:graphicFrameLocks noGrp="1"/>
          </p:cNvGraphicFramePr>
          <p:nvPr>
            <p:extLst>
              <p:ext uri="{D42A27DB-BD31-4B8C-83A1-F6EECF244321}">
                <p14:modId xmlns:p14="http://schemas.microsoft.com/office/powerpoint/2010/main" val="3613851349"/>
              </p:ext>
            </p:extLst>
          </p:nvPr>
        </p:nvGraphicFramePr>
        <p:xfrm>
          <a:off x="419100" y="1143317"/>
          <a:ext cx="11430000" cy="4361815"/>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208499790"/>
                    </a:ext>
                  </a:extLst>
                </a:gridCol>
                <a:gridCol w="9410700">
                  <a:extLst>
                    <a:ext uri="{9D8B030D-6E8A-4147-A177-3AD203B41FA5}">
                      <a16:colId xmlns:a16="http://schemas.microsoft.com/office/drawing/2014/main" val="826006989"/>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Russia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906029"/>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86035519"/>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TCS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6463032"/>
                  </a:ext>
                </a:extLst>
              </a:tr>
              <a:tr h="193040">
                <a:tc rowSpan="2">
                  <a:txBody>
                    <a:bodyPr/>
                    <a:lstStyle/>
                    <a:p>
                      <a:pPr marL="0" marR="0">
                        <a:spcBef>
                          <a:spcPts val="1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2891717"/>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TCS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4614475"/>
                  </a:ext>
                </a:extLst>
              </a:tr>
              <a:tr h="194945">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33911345"/>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TCS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4023199"/>
                  </a:ext>
                </a:extLst>
              </a:tr>
              <a:tr h="193040">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45291710"/>
                  </a:ext>
                </a:extLst>
              </a:tr>
              <a:tr h="681990">
                <a:tc vMerge="1">
                  <a:txBody>
                    <a:bodyPr/>
                    <a:lstStyle/>
                    <a:p>
                      <a:endParaRPr lang="en-US"/>
                    </a:p>
                  </a:txBody>
                  <a:tcPr/>
                </a:tc>
                <a:tc>
                  <a:txBody>
                    <a:bodyPr/>
                    <a:lstStyle/>
                    <a:p>
                      <a:pPr marL="64135" marR="0">
                        <a:lnSpc>
                          <a:spcPts val="1335"/>
                        </a:lnSpc>
                        <a:spcBef>
                          <a:spcPts val="5"/>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TCS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7744580"/>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66542526"/>
                  </a:ext>
                </a:extLst>
              </a:tr>
              <a:tr h="75692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TCS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01085961"/>
                  </a:ext>
                </a:extLst>
              </a:tr>
              <a:tr h="193040">
                <a:tc vMerge="1">
                  <a:txBody>
                    <a:bodyPr/>
                    <a:lstStyle/>
                    <a:p>
                      <a:endParaRPr lang="en-US"/>
                    </a:p>
                  </a:txBody>
                  <a:tcPr/>
                </a:tc>
                <a:tc>
                  <a:txBody>
                    <a:bodyPr/>
                    <a:lstStyle/>
                    <a:p>
                      <a:pPr marL="64135" marR="0">
                        <a:lnSpc>
                          <a:spcPts val="995"/>
                        </a:lnSpc>
                        <a:spcBef>
                          <a:spcPts val="425"/>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2396914"/>
                  </a:ext>
                </a:extLst>
              </a:tr>
            </a:tbl>
          </a:graphicData>
        </a:graphic>
      </p:graphicFrame>
      <p:pic>
        <p:nvPicPr>
          <p:cNvPr id="18434" name="Image 89">
            <a:extLst>
              <a:ext uri="{FF2B5EF4-FFF2-40B4-BE49-F238E27FC236}">
                <a16:creationId xmlns:a16="http://schemas.microsoft.com/office/drawing/2014/main" id="{1850A8E8-D9E4-8027-99E2-F156513ADA9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09562"/>
            <a:ext cx="72390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1157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62</a:t>
            </a:fld>
            <a:endParaRPr lang="en-US" dirty="0"/>
          </a:p>
        </p:txBody>
      </p:sp>
      <p:graphicFrame>
        <p:nvGraphicFramePr>
          <p:cNvPr id="5" name="Table 4">
            <a:extLst>
              <a:ext uri="{FF2B5EF4-FFF2-40B4-BE49-F238E27FC236}">
                <a16:creationId xmlns:a16="http://schemas.microsoft.com/office/drawing/2014/main" id="{FD9ED3FA-69D2-5B33-BBC5-E7872DEFB71E}"/>
              </a:ext>
            </a:extLst>
          </p:cNvPr>
          <p:cNvGraphicFramePr>
            <a:graphicFrameLocks noGrp="1"/>
          </p:cNvGraphicFramePr>
          <p:nvPr>
            <p:extLst>
              <p:ext uri="{D42A27DB-BD31-4B8C-83A1-F6EECF244321}">
                <p14:modId xmlns:p14="http://schemas.microsoft.com/office/powerpoint/2010/main" val="1216645513"/>
              </p:ext>
            </p:extLst>
          </p:nvPr>
        </p:nvGraphicFramePr>
        <p:xfrm>
          <a:off x="419100" y="1093942"/>
          <a:ext cx="11430000" cy="4806949"/>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489156479"/>
                    </a:ext>
                  </a:extLst>
                </a:gridCol>
                <a:gridCol w="9383806">
                  <a:extLst>
                    <a:ext uri="{9D8B030D-6E8A-4147-A177-3AD203B41FA5}">
                      <a16:colId xmlns:a16="http://schemas.microsoft.com/office/drawing/2014/main" val="3428879780"/>
                    </a:ext>
                  </a:extLst>
                </a:gridCol>
              </a:tblGrid>
              <a:tr h="702792">
                <a:tc>
                  <a:txBody>
                    <a:bodyPr/>
                    <a:lstStyle/>
                    <a:p>
                      <a:pPr marL="67945" marR="0">
                        <a:spcBef>
                          <a:spcPts val="1680"/>
                        </a:spcBef>
                        <a:spcAft>
                          <a:spcPts val="0"/>
                        </a:spcAft>
                      </a:pPr>
                      <a:r>
                        <a:rPr lang="en-US" sz="1900" b="1" spc="-10" dirty="0">
                          <a:effectLst/>
                          <a:latin typeface="Calibri" panose="020F0502020204030204" pitchFamily="34" charset="0"/>
                          <a:ea typeface="Calibri" panose="020F0502020204030204" pitchFamily="34" charset="0"/>
                          <a:cs typeface="Times New Roman" panose="02020603050405020304" pitchFamily="18" charset="0"/>
                        </a:rPr>
                        <a:t>Croatia</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7147201"/>
                  </a:ext>
                </a:extLst>
              </a:tr>
              <a:tr h="185232">
                <a:tc rowSpan="2">
                  <a:txBody>
                    <a:bodyPr/>
                    <a:lstStyle/>
                    <a:p>
                      <a:pPr marL="0" marR="0">
                        <a:spcBef>
                          <a:spcPts val="78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0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83040263"/>
                  </a:ext>
                </a:extLst>
              </a:tr>
              <a:tr h="486082">
                <a:tc vMerge="1">
                  <a:txBody>
                    <a:bodyPr/>
                    <a:lstStyle/>
                    <a:p>
                      <a:endParaRPr lang="en-US"/>
                    </a:p>
                  </a:txBody>
                  <a:tcPr/>
                </a:tc>
                <a:tc>
                  <a:txBody>
                    <a:bodyPr/>
                    <a:lstStyle/>
                    <a:p>
                      <a:pPr marL="64135" marR="0">
                        <a:lnSpc>
                          <a:spcPts val="134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10">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10">
                          <a:effectLst/>
                          <a:latin typeface="Calibri" panose="020F0502020204030204" pitchFamily="34" charset="0"/>
                          <a:ea typeface="Calibri" panose="020F0502020204030204" pitchFamily="34" charset="0"/>
                          <a:cs typeface="Times New Roman" panose="02020603050405020304" pitchFamily="18" charset="0"/>
                        </a:rPr>
                        <a:t> Rheinland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1266904"/>
                  </a:ext>
                </a:extLst>
              </a:tr>
              <a:tr h="185232">
                <a:tc rowSpan="2">
                  <a:txBody>
                    <a:bodyPr/>
                    <a:lstStyle/>
                    <a:p>
                      <a:pPr marL="0" marR="0">
                        <a:spcBef>
                          <a:spcPts val="78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101030416"/>
                  </a:ext>
                </a:extLst>
              </a:tr>
              <a:tr h="487898">
                <a:tc vMerge="1">
                  <a:txBody>
                    <a:bodyPr/>
                    <a:lstStyle/>
                    <a:p>
                      <a:endParaRPr lang="en-US"/>
                    </a:p>
                  </a:txBody>
                  <a:tcPr/>
                </a:tc>
                <a:tc>
                  <a:txBody>
                    <a:bodyPr/>
                    <a:lstStyle/>
                    <a:p>
                      <a:pPr marL="64135" marR="0">
                        <a:lnSpc>
                          <a:spcPts val="134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10">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10">
                          <a:effectLst/>
                          <a:latin typeface="Calibri" panose="020F0502020204030204" pitchFamily="34" charset="0"/>
                          <a:ea typeface="Calibri" panose="020F0502020204030204" pitchFamily="34" charset="0"/>
                          <a:cs typeface="Times New Roman" panose="02020603050405020304" pitchFamily="18" charset="0"/>
                        </a:rPr>
                        <a:t> Rheinland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847975"/>
                  </a:ext>
                </a:extLst>
              </a:tr>
              <a:tr h="185232">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627873723"/>
                  </a:ext>
                </a:extLst>
              </a:tr>
              <a:tr h="811752">
                <a:tc vMerge="1">
                  <a:txBody>
                    <a:bodyPr/>
                    <a:lstStyle/>
                    <a:p>
                      <a:endParaRPr lang="en-US"/>
                    </a:p>
                  </a:txBody>
                  <a:tcPr/>
                </a:tc>
                <a:tc>
                  <a:txBody>
                    <a:bodyPr/>
                    <a:lstStyle/>
                    <a:p>
                      <a:pPr marL="64135" marR="0" algn="just">
                        <a:lnSpc>
                          <a:spcPts val="134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10">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3889375" algn="just">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Rheinland Bureau</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Veritas </a:t>
                      </a:r>
                      <a:r>
                        <a:rPr lang="en-US" sz="1000" spc="-10">
                          <a:effectLst/>
                          <a:latin typeface="Calibri" panose="020F0502020204030204" pitchFamily="34" charset="0"/>
                          <a:ea typeface="Calibri" panose="020F0502020204030204" pitchFamily="34" charset="0"/>
                          <a:cs typeface="Times New Roman" panose="02020603050405020304" pitchFamily="18" charset="0"/>
                        </a:rPr>
                        <a:t>MUSTRA</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gn="just">
                        <a:lnSpc>
                          <a:spcPts val="124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SSM</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United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23107"/>
                  </a:ext>
                </a:extLst>
              </a:tr>
              <a:tr h="185232">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321573984"/>
                  </a:ext>
                </a:extLst>
              </a:tr>
              <a:tr h="650733">
                <a:tc vMerge="1">
                  <a:txBody>
                    <a:bodyPr/>
                    <a:lstStyle/>
                    <a:p>
                      <a:endParaRPr lang="en-US"/>
                    </a:p>
                  </a:txBody>
                  <a:tcPr/>
                </a:tc>
                <a:tc>
                  <a:txBody>
                    <a:bodyPr/>
                    <a:lstStyle/>
                    <a:p>
                      <a:pPr marL="64135" marR="4112895">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NORD </a:t>
                      </a:r>
                      <a:r>
                        <a:rPr lang="en-US" sz="1000" spc="-20">
                          <a:effectLst/>
                          <a:latin typeface="Calibri" panose="020F0502020204030204" pitchFamily="34" charset="0"/>
                          <a:ea typeface="Calibri" panose="020F0502020204030204" pitchFamily="34" charset="0"/>
                          <a:cs typeface="Times New Roman" panose="02020603050405020304" pitchFamily="18" charset="0"/>
                        </a:rPr>
                        <a:t>SGS </a:t>
                      </a:r>
                      <a:r>
                        <a:rPr lang="en-US" sz="1000" spc="-10">
                          <a:effectLst/>
                          <a:latin typeface="Calibri" panose="020F0502020204030204" pitchFamily="34" charset="0"/>
                          <a:ea typeface="Calibri" panose="020F0502020204030204" pitchFamily="34" charset="0"/>
                          <a:cs typeface="Times New Roman" panose="02020603050405020304" pitchFamily="18" charset="0"/>
                        </a:rPr>
                        <a:t>MUSTRA</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5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EUROPEAN</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OPERATOR</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LICENSE</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9419452"/>
                  </a:ext>
                </a:extLst>
              </a:tr>
              <a:tr h="184021">
                <a:tc rowSpan="3">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1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183091355"/>
                  </a:ext>
                </a:extLst>
              </a:tr>
              <a:tr h="558722">
                <a:tc vMerge="1">
                  <a:txBody>
                    <a:bodyPr/>
                    <a:lstStyle/>
                    <a:p>
                      <a:endParaRPr lang="en-US"/>
                    </a:p>
                  </a:txBody>
                  <a:tcPr/>
                </a:tc>
                <a:tc>
                  <a:txBody>
                    <a:bodyPr/>
                    <a:lstStyle/>
                    <a:p>
                      <a:pPr marL="64135" marR="4112895">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NORD </a:t>
                      </a:r>
                      <a:r>
                        <a:rPr lang="en-US" sz="1000" spc="-20">
                          <a:effectLst/>
                          <a:latin typeface="Calibri" panose="020F0502020204030204" pitchFamily="34" charset="0"/>
                          <a:ea typeface="Calibri" panose="020F0502020204030204" pitchFamily="34" charset="0"/>
                          <a:cs typeface="Times New Roman" panose="02020603050405020304" pitchFamily="18" charset="0"/>
                        </a:rPr>
                        <a:t>SGS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EUROPEAN</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OPERATOR</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LICENSE</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59545220"/>
                  </a:ext>
                </a:extLst>
              </a:tr>
              <a:tr h="184021">
                <a:tc vMerge="1">
                  <a:txBody>
                    <a:bodyPr/>
                    <a:lstStyle/>
                    <a:p>
                      <a:endParaRPr lang="en-US"/>
                    </a:p>
                  </a:txBody>
                  <a:tcPr/>
                </a:tc>
                <a:tc>
                  <a:txBody>
                    <a:bodyPr/>
                    <a:lstStyle/>
                    <a:p>
                      <a:pPr marL="64135" marR="0">
                        <a:lnSpc>
                          <a:spcPts val="995"/>
                        </a:lnSpc>
                        <a:spcBef>
                          <a:spcPts val="425"/>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7949789"/>
                  </a:ext>
                </a:extLst>
              </a:tr>
            </a:tbl>
          </a:graphicData>
        </a:graphic>
      </p:graphicFrame>
      <p:pic>
        <p:nvPicPr>
          <p:cNvPr id="17410" name="Image 90">
            <a:extLst>
              <a:ext uri="{FF2B5EF4-FFF2-40B4-BE49-F238E27FC236}">
                <a16:creationId xmlns:a16="http://schemas.microsoft.com/office/drawing/2014/main" id="{B43CB5A6-C3D1-A51A-96FE-E1A62E85E79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95992"/>
            <a:ext cx="7334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5565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63</a:t>
            </a:fld>
            <a:endParaRPr lang="en-US" dirty="0"/>
          </a:p>
        </p:txBody>
      </p:sp>
      <p:graphicFrame>
        <p:nvGraphicFramePr>
          <p:cNvPr id="6" name="Table 5">
            <a:extLst>
              <a:ext uri="{FF2B5EF4-FFF2-40B4-BE49-F238E27FC236}">
                <a16:creationId xmlns:a16="http://schemas.microsoft.com/office/drawing/2014/main" id="{7D24BBD5-EE53-5F0A-C779-741F7BFCB81C}"/>
              </a:ext>
            </a:extLst>
          </p:cNvPr>
          <p:cNvGraphicFramePr>
            <a:graphicFrameLocks noGrp="1"/>
          </p:cNvGraphicFramePr>
          <p:nvPr>
            <p:extLst>
              <p:ext uri="{D42A27DB-BD31-4B8C-83A1-F6EECF244321}">
                <p14:modId xmlns:p14="http://schemas.microsoft.com/office/powerpoint/2010/main" val="2697544718"/>
              </p:ext>
            </p:extLst>
          </p:nvPr>
        </p:nvGraphicFramePr>
        <p:xfrm>
          <a:off x="436562" y="1025526"/>
          <a:ext cx="11430000" cy="4806948"/>
        </p:xfrm>
        <a:graphic>
          <a:graphicData uri="http://schemas.openxmlformats.org/drawingml/2006/table">
            <a:tbl>
              <a:tblPr firstRow="1" firstCol="1" lastRow="1" lastCol="1" bandRow="1" bandCol="1"/>
              <a:tblGrid>
                <a:gridCol w="2014538">
                  <a:extLst>
                    <a:ext uri="{9D8B030D-6E8A-4147-A177-3AD203B41FA5}">
                      <a16:colId xmlns:a16="http://schemas.microsoft.com/office/drawing/2014/main" val="3310584742"/>
                    </a:ext>
                  </a:extLst>
                </a:gridCol>
                <a:gridCol w="9415462">
                  <a:extLst>
                    <a:ext uri="{9D8B030D-6E8A-4147-A177-3AD203B41FA5}">
                      <a16:colId xmlns:a16="http://schemas.microsoft.com/office/drawing/2014/main" val="1296059101"/>
                    </a:ext>
                  </a:extLst>
                </a:gridCol>
              </a:tblGrid>
              <a:tr h="694829">
                <a:tc>
                  <a:txBody>
                    <a:bodyPr/>
                    <a:lstStyle/>
                    <a:p>
                      <a:pPr marL="67945" marR="0">
                        <a:spcBef>
                          <a:spcPts val="1680"/>
                        </a:spcBef>
                        <a:spcAft>
                          <a:spcPts val="0"/>
                        </a:spcAft>
                      </a:pPr>
                      <a:r>
                        <a:rPr lang="en-US" sz="1900" b="1" spc="-10" dirty="0">
                          <a:effectLst/>
                          <a:latin typeface="Calibri" panose="020F0502020204030204" pitchFamily="34" charset="0"/>
                          <a:ea typeface="Calibri" panose="020F0502020204030204" pitchFamily="34" charset="0"/>
                          <a:cs typeface="Times New Roman" panose="02020603050405020304" pitchFamily="18" charset="0"/>
                        </a:rPr>
                        <a:t>Latvia</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8975935"/>
                  </a:ext>
                </a:extLst>
              </a:tr>
              <a:tr h="183133">
                <a:tc rowSpan="2">
                  <a:txBody>
                    <a:bodyPr/>
                    <a:lstStyle/>
                    <a:p>
                      <a:pPr marL="0" marR="0">
                        <a:spcBef>
                          <a:spcPts val="78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0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8170913"/>
                  </a:ext>
                </a:extLst>
              </a:tr>
              <a:tr h="480575">
                <a:tc vMerge="1">
                  <a:txBody>
                    <a:bodyPr/>
                    <a:lstStyle/>
                    <a:p>
                      <a:endParaRPr lang="en-US"/>
                    </a:p>
                  </a:txBody>
                  <a:tcPr/>
                </a:tc>
                <a:tc>
                  <a:txBody>
                    <a:bodyPr/>
                    <a:lstStyle/>
                    <a:p>
                      <a:pPr marL="64135" marR="388747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3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4021921"/>
                  </a:ext>
                </a:extLst>
              </a:tr>
              <a:tr h="183133">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90413555"/>
                  </a:ext>
                </a:extLst>
              </a:tr>
              <a:tr h="643360">
                <a:tc vMerge="1">
                  <a:txBody>
                    <a:bodyPr/>
                    <a:lstStyle/>
                    <a:p>
                      <a:endParaRPr lang="en-US"/>
                    </a:p>
                  </a:txBody>
                  <a:tcPr/>
                </a:tc>
                <a:tc>
                  <a:txBody>
                    <a:bodyPr/>
                    <a:lstStyle/>
                    <a:p>
                      <a:pPr marL="64135" marR="388747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Novikontas</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Training</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Center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9550498"/>
                  </a:ext>
                </a:extLst>
              </a:tr>
              <a:tr h="183133">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08427346"/>
                  </a:ext>
                </a:extLst>
              </a:tr>
              <a:tr h="802555">
                <a:tc vMerge="1">
                  <a:txBody>
                    <a:bodyPr/>
                    <a:lstStyle/>
                    <a:p>
                      <a:endParaRPr lang="en-US"/>
                    </a:p>
                  </a:txBody>
                  <a:tcPr/>
                </a:tc>
                <a:tc>
                  <a:txBody>
                    <a:bodyPr/>
                    <a:lstStyle/>
                    <a:p>
                      <a:pPr marL="64135" marR="388747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388874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Veritas BOTC (GWO)</a:t>
                      </a:r>
                    </a:p>
                    <a:p>
                      <a:pPr marL="64135" marR="0">
                        <a:lnSpc>
                          <a:spcPts val="124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Novikontas</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Training</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Center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7105762"/>
                  </a:ext>
                </a:extLst>
              </a:tr>
              <a:tr h="183133">
                <a:tc rowSpan="2">
                  <a:txBody>
                    <a:bodyPr/>
                    <a:lstStyle/>
                    <a:p>
                      <a:pPr marL="0" marR="0">
                        <a:spcBef>
                          <a:spcPts val="78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7713376"/>
                  </a:ext>
                </a:extLst>
              </a:tr>
              <a:tr h="482371">
                <a:tc vMerge="1">
                  <a:txBody>
                    <a:bodyPr/>
                    <a:lstStyle/>
                    <a:p>
                      <a:endParaRPr lang="en-US"/>
                    </a:p>
                  </a:txBody>
                  <a:tcPr/>
                </a:tc>
                <a:tc>
                  <a:txBody>
                    <a:bodyPr/>
                    <a:lstStyle/>
                    <a:p>
                      <a:pPr marL="64135" marR="0">
                        <a:lnSpc>
                          <a:spcPts val="1340"/>
                        </a:lnSpc>
                        <a:spcBef>
                          <a:spcPts val="0"/>
                        </a:spcBef>
                        <a:spcAft>
                          <a:spcPts val="0"/>
                        </a:spcAft>
                      </a:pPr>
                      <a:r>
                        <a:rPr lang="en-US" sz="10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10">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5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EUROPEAN</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OPERATOR</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LICENSE</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6136657"/>
                  </a:ext>
                </a:extLst>
              </a:tr>
              <a:tr h="181936">
                <a:tc rowSpan="3">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4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01814473"/>
                  </a:ext>
                </a:extLst>
              </a:tr>
              <a:tr h="578725">
                <a:tc vMerge="1">
                  <a:txBody>
                    <a:bodyPr/>
                    <a:lstStyle/>
                    <a:p>
                      <a:endParaRPr lang="en-US"/>
                    </a:p>
                  </a:txBody>
                  <a:tcPr/>
                </a:tc>
                <a:tc>
                  <a:txBody>
                    <a:bodyPr/>
                    <a:lstStyle/>
                    <a:p>
                      <a:pPr marL="64135" marR="0">
                        <a:lnSpc>
                          <a:spcPts val="1340"/>
                        </a:lnSpc>
                        <a:spcBef>
                          <a:spcPts val="0"/>
                        </a:spcBef>
                        <a:spcAft>
                          <a:spcPts val="0"/>
                        </a:spcAft>
                      </a:pPr>
                      <a:r>
                        <a:rPr lang="en-US" sz="10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a:t>
                      </a:r>
                      <a:r>
                        <a:rPr lang="en-US" sz="1000" spc="-10">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EUROPEAN</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OPERATOR</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LICENSE</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63622811"/>
                  </a:ext>
                </a:extLst>
              </a:tr>
              <a:tr h="210065">
                <a:tc vMerge="1">
                  <a:txBody>
                    <a:bodyPr/>
                    <a:lstStyle/>
                    <a:p>
                      <a:endParaRPr lang="en-US"/>
                    </a:p>
                  </a:txBody>
                  <a:tcPr/>
                </a:tc>
                <a:tc>
                  <a:txBody>
                    <a:bodyPr/>
                    <a:lstStyle/>
                    <a:p>
                      <a:pPr marL="64135" marR="0">
                        <a:lnSpc>
                          <a:spcPts val="1010"/>
                        </a:lnSpc>
                        <a:spcBef>
                          <a:spcPts val="650"/>
                        </a:spcBef>
                        <a:spcAft>
                          <a:spcPts val="0"/>
                        </a:spcAft>
                      </a:pP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8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8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8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8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8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8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370925"/>
                  </a:ext>
                </a:extLst>
              </a:tr>
            </a:tbl>
          </a:graphicData>
        </a:graphic>
      </p:graphicFrame>
      <p:pic>
        <p:nvPicPr>
          <p:cNvPr id="16387" name="Image 91">
            <a:extLst>
              <a:ext uri="{FF2B5EF4-FFF2-40B4-BE49-F238E27FC236}">
                <a16:creationId xmlns:a16="http://schemas.microsoft.com/office/drawing/2014/main" id="{EDDF7811-C73A-EAA1-6533-DE65B9BEAC3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63525"/>
            <a:ext cx="7334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3110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64</a:t>
            </a:fld>
            <a:endParaRPr lang="en-US" dirty="0"/>
          </a:p>
        </p:txBody>
      </p:sp>
      <p:graphicFrame>
        <p:nvGraphicFramePr>
          <p:cNvPr id="5" name="Table 4">
            <a:extLst>
              <a:ext uri="{FF2B5EF4-FFF2-40B4-BE49-F238E27FC236}">
                <a16:creationId xmlns:a16="http://schemas.microsoft.com/office/drawing/2014/main" id="{F5111318-57AE-A0E5-EA1D-8FD987A8AFB1}"/>
              </a:ext>
            </a:extLst>
          </p:cNvPr>
          <p:cNvGraphicFramePr>
            <a:graphicFrameLocks noGrp="1"/>
          </p:cNvGraphicFramePr>
          <p:nvPr>
            <p:extLst>
              <p:ext uri="{D42A27DB-BD31-4B8C-83A1-F6EECF244321}">
                <p14:modId xmlns:p14="http://schemas.microsoft.com/office/powerpoint/2010/main" val="2624439892"/>
              </p:ext>
            </p:extLst>
          </p:nvPr>
        </p:nvGraphicFramePr>
        <p:xfrm>
          <a:off x="419100" y="1025525"/>
          <a:ext cx="11430000" cy="4849271"/>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709794105"/>
                    </a:ext>
                  </a:extLst>
                </a:gridCol>
                <a:gridCol w="9401735">
                  <a:extLst>
                    <a:ext uri="{9D8B030D-6E8A-4147-A177-3AD203B41FA5}">
                      <a16:colId xmlns:a16="http://schemas.microsoft.com/office/drawing/2014/main" val="412914578"/>
                    </a:ext>
                  </a:extLst>
                </a:gridCol>
              </a:tblGrid>
              <a:tr h="599822">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Serbia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7456822"/>
                  </a:ext>
                </a:extLst>
              </a:tr>
              <a:tr h="15809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264788980"/>
                  </a:ext>
                </a:extLst>
              </a:tr>
              <a:tr h="692818">
                <a:tc vMerge="1">
                  <a:txBody>
                    <a:bodyPr/>
                    <a:lstStyle/>
                    <a:p>
                      <a:endParaRPr lang="en-US"/>
                    </a:p>
                  </a:txBody>
                  <a:tcPr/>
                </a:tc>
                <a:tc>
                  <a:txBody>
                    <a:bodyPr/>
                    <a:lstStyle/>
                    <a:p>
                      <a:pPr marL="64135" marR="289496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Rossendale</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Group</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Ltd</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3224812"/>
                  </a:ext>
                </a:extLst>
              </a:tr>
              <a:tr h="158609">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47497918"/>
                  </a:ext>
                </a:extLst>
              </a:tr>
              <a:tr h="700620">
                <a:tc vMerge="1">
                  <a:txBody>
                    <a:bodyPr/>
                    <a:lstStyle/>
                    <a:p>
                      <a:endParaRPr lang="en-US"/>
                    </a:p>
                  </a:txBody>
                  <a:tcPr/>
                </a:tc>
                <a:tc>
                  <a:txBody>
                    <a:bodyPr/>
                    <a:lstStyle/>
                    <a:p>
                      <a:pPr marL="64135" marR="3093720" algn="just">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Rossendale</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Group</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Ltd</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889375" algn="just">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APAVE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5749901"/>
                  </a:ext>
                </a:extLst>
              </a:tr>
              <a:tr h="15499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6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6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06863763"/>
                  </a:ext>
                </a:extLst>
              </a:tr>
              <a:tr h="700620">
                <a:tc vMerge="1">
                  <a:txBody>
                    <a:bodyPr/>
                    <a:lstStyle/>
                    <a:p>
                      <a:endParaRPr lang="en-US"/>
                    </a:p>
                  </a:txBody>
                  <a:tcPr/>
                </a:tc>
                <a:tc>
                  <a:txBody>
                    <a:bodyPr/>
                    <a:lstStyle/>
                    <a:p>
                      <a:pPr marL="64135" marR="289496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Rossendale</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Group</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Ltd</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 TUV SUD</a:t>
                      </a: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Rheinland HSE</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DOO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0730328"/>
                  </a:ext>
                </a:extLst>
              </a:tr>
              <a:tr h="15654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49551215"/>
                  </a:ext>
                </a:extLst>
              </a:tr>
              <a:tr h="553841">
                <a:tc vMerge="1">
                  <a:txBody>
                    <a:bodyPr/>
                    <a:lstStyle/>
                    <a:p>
                      <a:endParaRPr lang="en-US"/>
                    </a:p>
                  </a:txBody>
                  <a:tcPr/>
                </a:tc>
                <a:tc>
                  <a:txBody>
                    <a:bodyPr/>
                    <a:lstStyle/>
                    <a:p>
                      <a:pPr marL="64135" marR="354393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a:t>
                      </a:r>
                      <a:r>
                        <a:rPr lang="en-US" sz="1100" spc="20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AKADEMIJA</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OXFORD</a:t>
                      </a: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3034362"/>
                  </a:ext>
                </a:extLst>
              </a:tr>
              <a:tr h="158093">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47190394"/>
                  </a:ext>
                </a:extLst>
              </a:tr>
              <a:tr h="615838">
                <a:tc vMerge="1">
                  <a:txBody>
                    <a:bodyPr/>
                    <a:lstStyle/>
                    <a:p>
                      <a:endParaRPr lang="en-US"/>
                    </a:p>
                  </a:txBody>
                  <a:tcPr/>
                </a:tc>
                <a:tc>
                  <a:txBody>
                    <a:bodyPr/>
                    <a:lstStyle/>
                    <a:p>
                      <a:pPr marL="64135" marR="354393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a:t>
                      </a:r>
                      <a:r>
                        <a:rPr lang="en-US" sz="1100" spc="20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AKADEMIJA</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OXFORD</a:t>
                      </a:r>
                    </a:p>
                    <a:p>
                      <a:pPr marL="64135" marR="187198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(ECOL)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219173108"/>
                  </a:ext>
                </a:extLst>
              </a:tr>
              <a:tr h="157059">
                <a:tc vMerge="1">
                  <a:txBody>
                    <a:bodyPr/>
                    <a:lstStyle/>
                    <a:p>
                      <a:endParaRPr lang="en-US"/>
                    </a:p>
                  </a:txBody>
                  <a:tcPr/>
                </a:tc>
                <a:tc>
                  <a:txBody>
                    <a:bodyPr/>
                    <a:lstStyle/>
                    <a:p>
                      <a:pPr marL="64135" marR="0">
                        <a:lnSpc>
                          <a:spcPts val="995"/>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1804751"/>
                  </a:ext>
                </a:extLst>
              </a:tr>
            </a:tbl>
          </a:graphicData>
        </a:graphic>
      </p:graphicFrame>
      <p:pic>
        <p:nvPicPr>
          <p:cNvPr id="15362" name="Image 92">
            <a:extLst>
              <a:ext uri="{FF2B5EF4-FFF2-40B4-BE49-F238E27FC236}">
                <a16:creationId xmlns:a16="http://schemas.microsoft.com/office/drawing/2014/main" id="{552926BD-4110-B1AE-11A6-E08BA2A6214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09039"/>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1902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65</a:t>
            </a:fld>
            <a:endParaRPr lang="en-US" dirty="0"/>
          </a:p>
        </p:txBody>
      </p:sp>
      <p:graphicFrame>
        <p:nvGraphicFramePr>
          <p:cNvPr id="5" name="Table 4">
            <a:extLst>
              <a:ext uri="{FF2B5EF4-FFF2-40B4-BE49-F238E27FC236}">
                <a16:creationId xmlns:a16="http://schemas.microsoft.com/office/drawing/2014/main" id="{ECDC5B82-4260-491C-CC07-EEC5C99E8762}"/>
              </a:ext>
            </a:extLst>
          </p:cNvPr>
          <p:cNvGraphicFramePr>
            <a:graphicFrameLocks noGrp="1"/>
          </p:cNvGraphicFramePr>
          <p:nvPr>
            <p:extLst>
              <p:ext uri="{D42A27DB-BD31-4B8C-83A1-F6EECF244321}">
                <p14:modId xmlns:p14="http://schemas.microsoft.com/office/powerpoint/2010/main" val="1530731035"/>
              </p:ext>
            </p:extLst>
          </p:nvPr>
        </p:nvGraphicFramePr>
        <p:xfrm>
          <a:off x="419100" y="1007460"/>
          <a:ext cx="11430000" cy="4843080"/>
        </p:xfrm>
        <a:graphic>
          <a:graphicData uri="http://schemas.openxmlformats.org/drawingml/2006/table">
            <a:tbl>
              <a:tblPr firstRow="1" firstCol="1" lastRow="1" lastCol="1" bandRow="1" bandCol="1"/>
              <a:tblGrid>
                <a:gridCol w="2047875">
                  <a:extLst>
                    <a:ext uri="{9D8B030D-6E8A-4147-A177-3AD203B41FA5}">
                      <a16:colId xmlns:a16="http://schemas.microsoft.com/office/drawing/2014/main" val="798027563"/>
                    </a:ext>
                  </a:extLst>
                </a:gridCol>
                <a:gridCol w="9382125">
                  <a:extLst>
                    <a:ext uri="{9D8B030D-6E8A-4147-A177-3AD203B41FA5}">
                      <a16:colId xmlns:a16="http://schemas.microsoft.com/office/drawing/2014/main" val="1342086556"/>
                    </a:ext>
                  </a:extLst>
                </a:gridCol>
              </a:tblGrid>
              <a:tr h="61429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Germany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6263008"/>
                  </a:ext>
                </a:extLst>
              </a:tr>
              <a:tr h="16190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01236267"/>
                  </a:ext>
                </a:extLst>
              </a:tr>
              <a:tr h="709534">
                <a:tc vMerge="1">
                  <a:txBody>
                    <a:bodyPr/>
                    <a:lstStyle/>
                    <a:p>
                      <a:endParaRPr lang="en-US"/>
                    </a:p>
                  </a:txBody>
                  <a:tcPr/>
                </a:tc>
                <a:tc>
                  <a:txBody>
                    <a:bodyPr/>
                    <a:lstStyle/>
                    <a:p>
                      <a:pPr marL="64135" marR="388747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TUV SUD</a:t>
                      </a: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WOLFF</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(CPCS</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level</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0377405"/>
                  </a:ext>
                </a:extLst>
              </a:tr>
              <a:tr h="162436">
                <a:tc rowSpan="2">
                  <a:txBody>
                    <a:bodyPr/>
                    <a:lstStyle/>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79807105"/>
                  </a:ext>
                </a:extLst>
              </a:tr>
              <a:tr h="426461">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3207919"/>
                  </a:ext>
                </a:extLst>
              </a:tr>
              <a:tr h="160849">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61674548"/>
                  </a:ext>
                </a:extLst>
              </a:tr>
              <a:tr h="425932">
                <a:tc vMerge="1">
                  <a:txBody>
                    <a:bodyPr/>
                    <a:lstStyle/>
                    <a:p>
                      <a:endParaRPr lang="en-US"/>
                    </a:p>
                  </a:txBody>
                  <a:tcPr/>
                </a:tc>
                <a:tc>
                  <a:txBody>
                    <a:bodyPr/>
                    <a:lstStyle/>
                    <a:p>
                      <a:pPr marL="64135" marR="3887470">
                        <a:lnSpc>
                          <a:spcPct val="98000"/>
                        </a:lnSpc>
                        <a:spcBef>
                          <a:spcPts val="1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3193056"/>
                  </a:ext>
                </a:extLst>
              </a:tr>
              <a:tr h="16190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65932588"/>
                  </a:ext>
                </a:extLst>
              </a:tr>
              <a:tr h="711122">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362325">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IPAF-Deutschland </a:t>
                      </a:r>
                      <a:r>
                        <a:rPr lang="en-US" sz="1100">
                          <a:effectLst/>
                          <a:latin typeface="Calibri" panose="020F0502020204030204" pitchFamily="34" charset="0"/>
                          <a:ea typeface="Calibri" panose="020F0502020204030204" pitchFamily="34" charset="0"/>
                          <a:cs typeface="Times New Roman" panose="02020603050405020304" pitchFamily="18" charset="0"/>
                        </a:rPr>
                        <a:t>Cramer</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Arbeitsbuehnen</a:t>
                      </a: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6315464"/>
                  </a:ext>
                </a:extLst>
              </a:tr>
              <a:tr h="160849">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51353057"/>
                  </a:ext>
                </a:extLst>
              </a:tr>
              <a:tr h="1003190">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141224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PLANETA</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Centre</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IPAF-Deutschland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776605">
                        <a:lnSpc>
                          <a:spcPts val="135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DEMAG Crane Operator Training (specific for Demag cranes) LIEBHERR</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(specific</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for</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Liebherr</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95744058"/>
                  </a:ext>
                </a:extLst>
              </a:tr>
              <a:tr h="108467">
                <a:tc vMerge="1">
                  <a:txBody>
                    <a:bodyPr/>
                    <a:lstStyle/>
                    <a:p>
                      <a:endParaRPr lang="en-US"/>
                    </a:p>
                  </a:txBody>
                  <a:tcPr/>
                </a:tc>
                <a:tc>
                  <a:txBody>
                    <a:bodyPr/>
                    <a:lstStyle/>
                    <a:p>
                      <a:pPr marL="64135" marR="0">
                        <a:lnSpc>
                          <a:spcPts val="925"/>
                        </a:lnSpc>
                        <a:spcBef>
                          <a:spcPts val="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4254634"/>
                  </a:ext>
                </a:extLst>
              </a:tr>
            </a:tbl>
          </a:graphicData>
        </a:graphic>
      </p:graphicFrame>
      <p:pic>
        <p:nvPicPr>
          <p:cNvPr id="14338" name="Image 93">
            <a:extLst>
              <a:ext uri="{FF2B5EF4-FFF2-40B4-BE49-F238E27FC236}">
                <a16:creationId xmlns:a16="http://schemas.microsoft.com/office/drawing/2014/main" id="{7B020F49-19E9-7099-F5A9-6D4C9E82BB8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81011"/>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267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66</a:t>
            </a:fld>
            <a:endParaRPr lang="en-US" dirty="0"/>
          </a:p>
        </p:txBody>
      </p:sp>
      <p:graphicFrame>
        <p:nvGraphicFramePr>
          <p:cNvPr id="5" name="Table 4">
            <a:extLst>
              <a:ext uri="{FF2B5EF4-FFF2-40B4-BE49-F238E27FC236}">
                <a16:creationId xmlns:a16="http://schemas.microsoft.com/office/drawing/2014/main" id="{6A5105F0-FABA-5357-0B65-ACA91A10141C}"/>
              </a:ext>
            </a:extLst>
          </p:cNvPr>
          <p:cNvGraphicFramePr>
            <a:graphicFrameLocks noGrp="1"/>
          </p:cNvGraphicFramePr>
          <p:nvPr>
            <p:extLst>
              <p:ext uri="{D42A27DB-BD31-4B8C-83A1-F6EECF244321}">
                <p14:modId xmlns:p14="http://schemas.microsoft.com/office/powerpoint/2010/main" val="3627250708"/>
              </p:ext>
            </p:extLst>
          </p:nvPr>
        </p:nvGraphicFramePr>
        <p:xfrm>
          <a:off x="419100" y="1114286"/>
          <a:ext cx="11430000" cy="4902477"/>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473405036"/>
                    </a:ext>
                  </a:extLst>
                </a:gridCol>
                <a:gridCol w="9410700">
                  <a:extLst>
                    <a:ext uri="{9D8B030D-6E8A-4147-A177-3AD203B41FA5}">
                      <a16:colId xmlns:a16="http://schemas.microsoft.com/office/drawing/2014/main" val="3388646745"/>
                    </a:ext>
                  </a:extLst>
                </a:gridCol>
              </a:tblGrid>
              <a:tr h="638178">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France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4797612"/>
                  </a:ext>
                </a:extLst>
              </a:tr>
              <a:tr h="168202">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800277777"/>
                  </a:ext>
                </a:extLst>
              </a:tr>
              <a:tr h="737121">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797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WOLFF</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(CPCS</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level</a:t>
                      </a:r>
                      <a:r>
                        <a:rPr lang="en-US" sz="1100" spc="-5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5) APAVE (LEEA APOLO)</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8623330"/>
                  </a:ext>
                </a:extLst>
              </a:tr>
              <a:tr h="16710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523329226"/>
                  </a:ext>
                </a:extLst>
              </a:tr>
              <a:tr h="590356">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APAVE</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(LEEA</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1727576"/>
                  </a:ext>
                </a:extLst>
              </a:tr>
              <a:tr h="167103">
                <a:tc rowSpan="2">
                  <a:txBody>
                    <a:bodyPr/>
                    <a:lstStyle/>
                    <a:p>
                      <a:pPr marL="0" marR="0">
                        <a:spcBef>
                          <a:spcPts val="77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78018545"/>
                  </a:ext>
                </a:extLst>
              </a:tr>
              <a:tr h="442492">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7856639"/>
                  </a:ext>
                </a:extLst>
              </a:tr>
              <a:tr h="168202">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26305704"/>
                  </a:ext>
                </a:extLst>
              </a:tr>
              <a:tr h="738770">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IPAF-</a:t>
                      </a:r>
                      <a:r>
                        <a:rPr lang="en-US" sz="1100" spc="-20" dirty="0" err="1">
                          <a:effectLst/>
                          <a:latin typeface="Calibri" panose="020F0502020204030204" pitchFamily="34" charset="0"/>
                          <a:ea typeface="Calibri" panose="020F0502020204030204" pitchFamily="34" charset="0"/>
                          <a:cs typeface="Times New Roman" panose="02020603050405020304" pitchFamily="18" charset="0"/>
                        </a:rPr>
                        <a:t>Bâle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RCI</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International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0648038"/>
                  </a:ext>
                </a:extLst>
              </a:tr>
              <a:tr h="167103">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09277450"/>
                  </a:ext>
                </a:extLst>
              </a:tr>
              <a:tr h="655218">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IPAF-</a:t>
                      </a:r>
                      <a:r>
                        <a:rPr lang="en-US" sz="1100" spc="-20" dirty="0" err="1">
                          <a:effectLst/>
                          <a:latin typeface="Calibri" panose="020F0502020204030204" pitchFamily="34" charset="0"/>
                          <a:ea typeface="Calibri" panose="020F0502020204030204" pitchFamily="34" charset="0"/>
                          <a:cs typeface="Times New Roman" panose="02020603050405020304" pitchFamily="18" charset="0"/>
                        </a:rPr>
                        <a:t>Bâle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173732418"/>
                  </a:ext>
                </a:extLst>
              </a:tr>
              <a:tr h="167103">
                <a:tc vMerge="1">
                  <a:txBody>
                    <a:bodyPr/>
                    <a:lstStyle/>
                    <a:p>
                      <a:endParaRPr lang="en-US"/>
                    </a:p>
                  </a:txBody>
                  <a:tcPr/>
                </a:tc>
                <a:tc>
                  <a:txBody>
                    <a:bodyPr/>
                    <a:lstStyle/>
                    <a:p>
                      <a:pPr marL="64135" marR="0">
                        <a:lnSpc>
                          <a:spcPts val="995"/>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401570"/>
                  </a:ext>
                </a:extLst>
              </a:tr>
            </a:tbl>
          </a:graphicData>
        </a:graphic>
      </p:graphicFrame>
      <p:pic>
        <p:nvPicPr>
          <p:cNvPr id="13314" name="Image 94">
            <a:extLst>
              <a:ext uri="{FF2B5EF4-FFF2-40B4-BE49-F238E27FC236}">
                <a16:creationId xmlns:a16="http://schemas.microsoft.com/office/drawing/2014/main" id="{0E1AA84D-AF69-F993-70D2-445AFC05879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94389"/>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92586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67</a:t>
            </a:fld>
            <a:endParaRPr lang="en-US" dirty="0"/>
          </a:p>
        </p:txBody>
      </p:sp>
      <p:graphicFrame>
        <p:nvGraphicFramePr>
          <p:cNvPr id="5" name="Table 4">
            <a:extLst>
              <a:ext uri="{FF2B5EF4-FFF2-40B4-BE49-F238E27FC236}">
                <a16:creationId xmlns:a16="http://schemas.microsoft.com/office/drawing/2014/main" id="{6A3386A7-E8E6-C80C-2AE2-87A7B4BE2C11}"/>
              </a:ext>
            </a:extLst>
          </p:cNvPr>
          <p:cNvGraphicFramePr>
            <a:graphicFrameLocks noGrp="1"/>
          </p:cNvGraphicFramePr>
          <p:nvPr>
            <p:extLst>
              <p:ext uri="{D42A27DB-BD31-4B8C-83A1-F6EECF244321}">
                <p14:modId xmlns:p14="http://schemas.microsoft.com/office/powerpoint/2010/main" val="1938600403"/>
              </p:ext>
            </p:extLst>
          </p:nvPr>
        </p:nvGraphicFramePr>
        <p:xfrm>
          <a:off x="419100" y="1140619"/>
          <a:ext cx="11430000" cy="4530725"/>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2709484531"/>
                    </a:ext>
                  </a:extLst>
                </a:gridCol>
                <a:gridCol w="9410700">
                  <a:extLst>
                    <a:ext uri="{9D8B030D-6E8A-4147-A177-3AD203B41FA5}">
                      <a16:colId xmlns:a16="http://schemas.microsoft.com/office/drawing/2014/main" val="1100576136"/>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Greece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7715089"/>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77665696"/>
                  </a:ext>
                </a:extLst>
              </a:tr>
              <a:tr h="509905">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3374174"/>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255224399"/>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0660216"/>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47654972"/>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1684277"/>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96502708"/>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8130815"/>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15725864"/>
                  </a:ext>
                </a:extLst>
              </a:tr>
              <a:tr h="58547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908470906"/>
                  </a:ext>
                </a:extLst>
              </a:tr>
              <a:tr h="192405">
                <a:tc vMerge="1">
                  <a:txBody>
                    <a:bodyPr/>
                    <a:lstStyle/>
                    <a:p>
                      <a:endParaRPr lang="en-US"/>
                    </a:p>
                  </a:txBody>
                  <a:tcPr/>
                </a:tc>
                <a:tc>
                  <a:txBody>
                    <a:bodyPr/>
                    <a:lstStyle/>
                    <a:p>
                      <a:pPr marL="64135" marR="0">
                        <a:lnSpc>
                          <a:spcPts val="995"/>
                        </a:lnSpc>
                        <a:spcBef>
                          <a:spcPts val="42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4624764"/>
                  </a:ext>
                </a:extLst>
              </a:tr>
            </a:tbl>
          </a:graphicData>
        </a:graphic>
      </p:graphicFrame>
      <p:pic>
        <p:nvPicPr>
          <p:cNvPr id="12290" name="Image 95">
            <a:extLst>
              <a:ext uri="{FF2B5EF4-FFF2-40B4-BE49-F238E27FC236}">
                <a16:creationId xmlns:a16="http://schemas.microsoft.com/office/drawing/2014/main" id="{5E873DBA-CE09-62D9-F972-3B2C1BA53CB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3834"/>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0671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68</a:t>
            </a:fld>
            <a:endParaRPr lang="en-US" dirty="0"/>
          </a:p>
        </p:txBody>
      </p:sp>
      <p:graphicFrame>
        <p:nvGraphicFramePr>
          <p:cNvPr id="5" name="Table 4">
            <a:extLst>
              <a:ext uri="{FF2B5EF4-FFF2-40B4-BE49-F238E27FC236}">
                <a16:creationId xmlns:a16="http://schemas.microsoft.com/office/drawing/2014/main" id="{A2446728-5FCB-3BBA-8BEB-D44FCDA3522F}"/>
              </a:ext>
            </a:extLst>
          </p:cNvPr>
          <p:cNvGraphicFramePr>
            <a:graphicFrameLocks noGrp="1"/>
          </p:cNvGraphicFramePr>
          <p:nvPr>
            <p:extLst>
              <p:ext uri="{D42A27DB-BD31-4B8C-83A1-F6EECF244321}">
                <p14:modId xmlns:p14="http://schemas.microsoft.com/office/powerpoint/2010/main" val="3661183648"/>
              </p:ext>
            </p:extLst>
          </p:nvPr>
        </p:nvGraphicFramePr>
        <p:xfrm>
          <a:off x="419100" y="1140152"/>
          <a:ext cx="11430000" cy="4530725"/>
        </p:xfrm>
        <a:graphic>
          <a:graphicData uri="http://schemas.openxmlformats.org/drawingml/2006/table">
            <a:tbl>
              <a:tblPr firstRow="1" firstCol="1" lastRow="1" lastCol="1" bandRow="1" bandCol="1"/>
              <a:tblGrid>
                <a:gridCol w="2037229">
                  <a:extLst>
                    <a:ext uri="{9D8B030D-6E8A-4147-A177-3AD203B41FA5}">
                      <a16:colId xmlns:a16="http://schemas.microsoft.com/office/drawing/2014/main" val="1092091499"/>
                    </a:ext>
                  </a:extLst>
                </a:gridCol>
                <a:gridCol w="9392771">
                  <a:extLst>
                    <a:ext uri="{9D8B030D-6E8A-4147-A177-3AD203B41FA5}">
                      <a16:colId xmlns:a16="http://schemas.microsoft.com/office/drawing/2014/main" val="307873169"/>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Lithuania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3467807"/>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28424647"/>
                  </a:ext>
                </a:extLst>
              </a:tr>
              <a:tr h="509905">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6490423"/>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76463996"/>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7223328"/>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45983483"/>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6106439"/>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03661247"/>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1072345"/>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77803010"/>
                  </a:ext>
                </a:extLst>
              </a:tr>
              <a:tr h="58547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1483821"/>
                  </a:ext>
                </a:extLst>
              </a:tr>
              <a:tr h="192405">
                <a:tc vMerge="1">
                  <a:txBody>
                    <a:bodyPr/>
                    <a:lstStyle/>
                    <a:p>
                      <a:endParaRPr lang="en-US"/>
                    </a:p>
                  </a:txBody>
                  <a:tcPr/>
                </a:tc>
                <a:tc>
                  <a:txBody>
                    <a:bodyPr/>
                    <a:lstStyle/>
                    <a:p>
                      <a:pPr marL="64135" marR="0">
                        <a:lnSpc>
                          <a:spcPts val="995"/>
                        </a:lnSpc>
                        <a:spcBef>
                          <a:spcPts val="42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528124"/>
                  </a:ext>
                </a:extLst>
              </a:tr>
            </a:tbl>
          </a:graphicData>
        </a:graphic>
      </p:graphicFrame>
      <p:pic>
        <p:nvPicPr>
          <p:cNvPr id="11266" name="Image 96">
            <a:extLst>
              <a:ext uri="{FF2B5EF4-FFF2-40B4-BE49-F238E27FC236}">
                <a16:creationId xmlns:a16="http://schemas.microsoft.com/office/drawing/2014/main" id="{A284435C-6DAF-56DE-8FC0-80CDA22657D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5513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69</a:t>
            </a:fld>
            <a:endParaRPr lang="en-US" dirty="0"/>
          </a:p>
        </p:txBody>
      </p:sp>
      <p:graphicFrame>
        <p:nvGraphicFramePr>
          <p:cNvPr id="5" name="Table 4">
            <a:extLst>
              <a:ext uri="{FF2B5EF4-FFF2-40B4-BE49-F238E27FC236}">
                <a16:creationId xmlns:a16="http://schemas.microsoft.com/office/drawing/2014/main" id="{E523D0BE-8829-EB36-D981-25EA2BC35E44}"/>
              </a:ext>
            </a:extLst>
          </p:cNvPr>
          <p:cNvGraphicFramePr>
            <a:graphicFrameLocks noGrp="1"/>
          </p:cNvGraphicFramePr>
          <p:nvPr>
            <p:extLst>
              <p:ext uri="{D42A27DB-BD31-4B8C-83A1-F6EECF244321}">
                <p14:modId xmlns:p14="http://schemas.microsoft.com/office/powerpoint/2010/main" val="1321597548"/>
              </p:ext>
            </p:extLst>
          </p:nvPr>
        </p:nvGraphicFramePr>
        <p:xfrm>
          <a:off x="419100" y="1140619"/>
          <a:ext cx="11430000" cy="4530725"/>
        </p:xfrm>
        <a:graphic>
          <a:graphicData uri="http://schemas.openxmlformats.org/drawingml/2006/table">
            <a:tbl>
              <a:tblPr firstRow="1" firstCol="1" lastRow="1" lastCol="1" bandRow="1" bandCol="1"/>
              <a:tblGrid>
                <a:gridCol w="2037229">
                  <a:extLst>
                    <a:ext uri="{9D8B030D-6E8A-4147-A177-3AD203B41FA5}">
                      <a16:colId xmlns:a16="http://schemas.microsoft.com/office/drawing/2014/main" val="2755282732"/>
                    </a:ext>
                  </a:extLst>
                </a:gridCol>
                <a:gridCol w="9392771">
                  <a:extLst>
                    <a:ext uri="{9D8B030D-6E8A-4147-A177-3AD203B41FA5}">
                      <a16:colId xmlns:a16="http://schemas.microsoft.com/office/drawing/2014/main" val="2476202886"/>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Bulgaria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3788933"/>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04730819"/>
                  </a:ext>
                </a:extLst>
              </a:tr>
              <a:tr h="509905">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3744053"/>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04916805"/>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7132005"/>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606066325"/>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3154979"/>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133235391"/>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1038514"/>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22975832"/>
                  </a:ext>
                </a:extLst>
              </a:tr>
              <a:tr h="58547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81622226"/>
                  </a:ext>
                </a:extLst>
              </a:tr>
              <a:tr h="192405">
                <a:tc vMerge="1">
                  <a:txBody>
                    <a:bodyPr/>
                    <a:lstStyle/>
                    <a:p>
                      <a:endParaRPr lang="en-US"/>
                    </a:p>
                  </a:txBody>
                  <a:tcPr/>
                </a:tc>
                <a:tc>
                  <a:txBody>
                    <a:bodyPr/>
                    <a:lstStyle/>
                    <a:p>
                      <a:pPr marL="64135" marR="0">
                        <a:lnSpc>
                          <a:spcPts val="995"/>
                        </a:lnSpc>
                        <a:spcBef>
                          <a:spcPts val="42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4051792"/>
                  </a:ext>
                </a:extLst>
              </a:tr>
            </a:tbl>
          </a:graphicData>
        </a:graphic>
      </p:graphicFrame>
      <p:pic>
        <p:nvPicPr>
          <p:cNvPr id="36866" name="Image 97">
            <a:extLst>
              <a:ext uri="{FF2B5EF4-FFF2-40B4-BE49-F238E27FC236}">
                <a16:creationId xmlns:a16="http://schemas.microsoft.com/office/drawing/2014/main" id="{B1EFC730-8567-B5F7-3DFC-9B6814C8E1B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22799"/>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6633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70</a:t>
            </a:fld>
            <a:endParaRPr lang="en-US" dirty="0"/>
          </a:p>
        </p:txBody>
      </p:sp>
      <p:graphicFrame>
        <p:nvGraphicFramePr>
          <p:cNvPr id="5" name="Table 4">
            <a:extLst>
              <a:ext uri="{FF2B5EF4-FFF2-40B4-BE49-F238E27FC236}">
                <a16:creationId xmlns:a16="http://schemas.microsoft.com/office/drawing/2014/main" id="{DDADD82A-AC29-933F-8B2F-474B30159DD6}"/>
              </a:ext>
            </a:extLst>
          </p:cNvPr>
          <p:cNvGraphicFramePr>
            <a:graphicFrameLocks noGrp="1"/>
          </p:cNvGraphicFramePr>
          <p:nvPr>
            <p:extLst>
              <p:ext uri="{D42A27DB-BD31-4B8C-83A1-F6EECF244321}">
                <p14:modId xmlns:p14="http://schemas.microsoft.com/office/powerpoint/2010/main" val="1204440085"/>
              </p:ext>
            </p:extLst>
          </p:nvPr>
        </p:nvGraphicFramePr>
        <p:xfrm>
          <a:off x="381000" y="1066333"/>
          <a:ext cx="11430000" cy="4530725"/>
        </p:xfrm>
        <a:graphic>
          <a:graphicData uri="http://schemas.openxmlformats.org/drawingml/2006/table">
            <a:tbl>
              <a:tblPr firstRow="1" firstCol="1" lastRow="1" lastCol="1" bandRow="1" bandCol="1"/>
              <a:tblGrid>
                <a:gridCol w="2057400">
                  <a:extLst>
                    <a:ext uri="{9D8B030D-6E8A-4147-A177-3AD203B41FA5}">
                      <a16:colId xmlns:a16="http://schemas.microsoft.com/office/drawing/2014/main" val="1248814755"/>
                    </a:ext>
                  </a:extLst>
                </a:gridCol>
                <a:gridCol w="9372600">
                  <a:extLst>
                    <a:ext uri="{9D8B030D-6E8A-4147-A177-3AD203B41FA5}">
                      <a16:colId xmlns:a16="http://schemas.microsoft.com/office/drawing/2014/main" val="3256260213"/>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Portugal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1366950"/>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1115456"/>
                  </a:ext>
                </a:extLst>
              </a:tr>
              <a:tr h="509905">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2732828"/>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312431267"/>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5585859"/>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34866210"/>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0787837"/>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87247339"/>
                  </a:ext>
                </a:extLst>
              </a:tr>
              <a:tr h="51181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80812"/>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86414258"/>
                  </a:ext>
                </a:extLst>
              </a:tr>
              <a:tr h="585470">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88250137"/>
                  </a:ext>
                </a:extLst>
              </a:tr>
              <a:tr h="192405">
                <a:tc vMerge="1">
                  <a:txBody>
                    <a:bodyPr/>
                    <a:lstStyle/>
                    <a:p>
                      <a:endParaRPr lang="en-US"/>
                    </a:p>
                  </a:txBody>
                  <a:tcPr/>
                </a:tc>
                <a:tc>
                  <a:txBody>
                    <a:bodyPr/>
                    <a:lstStyle/>
                    <a:p>
                      <a:pPr marL="64135" marR="0">
                        <a:lnSpc>
                          <a:spcPts val="995"/>
                        </a:lnSpc>
                        <a:spcBef>
                          <a:spcPts val="42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4311658"/>
                  </a:ext>
                </a:extLst>
              </a:tr>
            </a:tbl>
          </a:graphicData>
        </a:graphic>
      </p:graphicFrame>
      <p:pic>
        <p:nvPicPr>
          <p:cNvPr id="84994" name="Image 98">
            <a:extLst>
              <a:ext uri="{FF2B5EF4-FFF2-40B4-BE49-F238E27FC236}">
                <a16:creationId xmlns:a16="http://schemas.microsoft.com/office/drawing/2014/main" id="{C576895D-A07A-4F63-F6A8-12830938510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9933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3965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71</a:t>
            </a:fld>
            <a:endParaRPr lang="en-US" dirty="0"/>
          </a:p>
        </p:txBody>
      </p:sp>
      <p:graphicFrame>
        <p:nvGraphicFramePr>
          <p:cNvPr id="5" name="Table 4">
            <a:extLst>
              <a:ext uri="{FF2B5EF4-FFF2-40B4-BE49-F238E27FC236}">
                <a16:creationId xmlns:a16="http://schemas.microsoft.com/office/drawing/2014/main" id="{F5470CC6-6C70-B4C4-13DC-56AD58DA1E04}"/>
              </a:ext>
            </a:extLst>
          </p:cNvPr>
          <p:cNvGraphicFramePr>
            <a:graphicFrameLocks noGrp="1"/>
          </p:cNvGraphicFramePr>
          <p:nvPr>
            <p:extLst>
              <p:ext uri="{D42A27DB-BD31-4B8C-83A1-F6EECF244321}">
                <p14:modId xmlns:p14="http://schemas.microsoft.com/office/powerpoint/2010/main" val="2170711318"/>
              </p:ext>
            </p:extLst>
          </p:nvPr>
        </p:nvGraphicFramePr>
        <p:xfrm>
          <a:off x="419100" y="1025524"/>
          <a:ext cx="11430000" cy="4806952"/>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3815690336"/>
                    </a:ext>
                  </a:extLst>
                </a:gridCol>
                <a:gridCol w="9401735">
                  <a:extLst>
                    <a:ext uri="{9D8B030D-6E8A-4147-A177-3AD203B41FA5}">
                      <a16:colId xmlns:a16="http://schemas.microsoft.com/office/drawing/2014/main" val="1717252633"/>
                    </a:ext>
                  </a:extLst>
                </a:gridCol>
              </a:tblGrid>
              <a:tr h="727244">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Spain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7389331"/>
                  </a:ext>
                </a:extLst>
              </a:tr>
              <a:tr h="191677">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53666189"/>
                  </a:ext>
                </a:extLst>
              </a:tr>
              <a:tr h="502995">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1525394"/>
                  </a:ext>
                </a:extLst>
              </a:tr>
              <a:tr h="191677">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388540745"/>
                  </a:ext>
                </a:extLst>
              </a:tr>
              <a:tr h="504874">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784612"/>
                  </a:ext>
                </a:extLst>
              </a:tr>
              <a:tr h="191677">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17311964"/>
                  </a:ext>
                </a:extLst>
              </a:tr>
              <a:tr h="504874">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16449"/>
                  </a:ext>
                </a:extLst>
              </a:tr>
              <a:tr h="190424">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845709851"/>
                  </a:ext>
                </a:extLst>
              </a:tr>
              <a:tr h="672747">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94335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IPAF-</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ESPAÑA</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0358083"/>
                  </a:ext>
                </a:extLst>
              </a:tr>
              <a:tr h="191677">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2084018"/>
                  </a:ext>
                </a:extLst>
              </a:tr>
              <a:tr h="746036">
                <a:tc vMerge="1">
                  <a:txBody>
                    <a:bodyPr/>
                    <a:lstStyle/>
                    <a:p>
                      <a:endParaRPr lang="en-US"/>
                    </a:p>
                  </a:txBody>
                  <a:tcPr/>
                </a:tc>
                <a:tc>
                  <a:txBody>
                    <a:bodyPr/>
                    <a:lstStyle/>
                    <a:p>
                      <a:pPr marL="64135" marR="0">
                        <a:lnSpc>
                          <a:spcPts val="1340"/>
                        </a:lnSpc>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SGS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943350">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IPAF-</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ESPAÑA</a:t>
                      </a:r>
                    </a:p>
                    <a:p>
                      <a:pPr marL="64135" marR="0">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10018991"/>
                  </a:ext>
                </a:extLst>
              </a:tr>
              <a:tr h="191050">
                <a:tc vMerge="1">
                  <a:txBody>
                    <a:bodyPr/>
                    <a:lstStyle/>
                    <a:p>
                      <a:endParaRPr lang="en-US"/>
                    </a:p>
                  </a:txBody>
                  <a:tcPr/>
                </a:tc>
                <a:tc>
                  <a:txBody>
                    <a:bodyPr/>
                    <a:lstStyle/>
                    <a:p>
                      <a:pPr marL="64135" marR="0">
                        <a:lnSpc>
                          <a:spcPts val="995"/>
                        </a:lnSpc>
                        <a:spcBef>
                          <a:spcPts val="43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0185400"/>
                  </a:ext>
                </a:extLst>
              </a:tr>
            </a:tbl>
          </a:graphicData>
        </a:graphic>
      </p:graphicFrame>
      <p:pic>
        <p:nvPicPr>
          <p:cNvPr id="83970" name="Image 99">
            <a:extLst>
              <a:ext uri="{FF2B5EF4-FFF2-40B4-BE49-F238E27FC236}">
                <a16:creationId xmlns:a16="http://schemas.microsoft.com/office/drawing/2014/main" id="{D0441F31-0CD5-A438-FBC6-ACD7058A91D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479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72</a:t>
            </a:fld>
            <a:endParaRPr lang="en-US" dirty="0"/>
          </a:p>
        </p:txBody>
      </p:sp>
      <p:graphicFrame>
        <p:nvGraphicFramePr>
          <p:cNvPr id="5" name="Table 4">
            <a:extLst>
              <a:ext uri="{FF2B5EF4-FFF2-40B4-BE49-F238E27FC236}">
                <a16:creationId xmlns:a16="http://schemas.microsoft.com/office/drawing/2014/main" id="{74E5D911-355C-E919-8B77-1D8EE6243651}"/>
              </a:ext>
            </a:extLst>
          </p:cNvPr>
          <p:cNvGraphicFramePr>
            <a:graphicFrameLocks noGrp="1"/>
          </p:cNvGraphicFramePr>
          <p:nvPr>
            <p:extLst>
              <p:ext uri="{D42A27DB-BD31-4B8C-83A1-F6EECF244321}">
                <p14:modId xmlns:p14="http://schemas.microsoft.com/office/powerpoint/2010/main" val="613384173"/>
              </p:ext>
            </p:extLst>
          </p:nvPr>
        </p:nvGraphicFramePr>
        <p:xfrm>
          <a:off x="419100" y="1092169"/>
          <a:ext cx="11430000" cy="4876863"/>
        </p:xfrm>
        <a:graphic>
          <a:graphicData uri="http://schemas.openxmlformats.org/drawingml/2006/table">
            <a:tbl>
              <a:tblPr firstRow="1" firstCol="1" lastRow="1" lastCol="1" bandRow="1" bandCol="1"/>
              <a:tblGrid>
                <a:gridCol w="2044700">
                  <a:extLst>
                    <a:ext uri="{9D8B030D-6E8A-4147-A177-3AD203B41FA5}">
                      <a16:colId xmlns:a16="http://schemas.microsoft.com/office/drawing/2014/main" val="2817531745"/>
                    </a:ext>
                  </a:extLst>
                </a:gridCol>
                <a:gridCol w="9385300">
                  <a:extLst>
                    <a:ext uri="{9D8B030D-6E8A-4147-A177-3AD203B41FA5}">
                      <a16:colId xmlns:a16="http://schemas.microsoft.com/office/drawing/2014/main" val="3041889647"/>
                    </a:ext>
                  </a:extLst>
                </a:gridCol>
              </a:tblGrid>
              <a:tr h="584139">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Swiss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4013055"/>
                  </a:ext>
                </a:extLst>
              </a:tr>
              <a:tr h="153959">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894854109"/>
                  </a:ext>
                </a:extLst>
              </a:tr>
              <a:tr h="674704">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WOLFF</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AG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5210513"/>
                  </a:ext>
                </a:extLst>
              </a:tr>
              <a:tr h="154462">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30097539"/>
                  </a:ext>
                </a:extLst>
              </a:tr>
              <a:tr h="6757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3686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WOLFF Training 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AG</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2538392"/>
                  </a:ext>
                </a:extLst>
              </a:tr>
              <a:tr h="15194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9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98434684"/>
                  </a:ext>
                </a:extLst>
              </a:tr>
              <a:tr h="540367">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AG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1847186"/>
                  </a:ext>
                </a:extLst>
              </a:tr>
              <a:tr h="153959">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36663642"/>
                  </a:ext>
                </a:extLst>
              </a:tr>
              <a:tr h="674704">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0">
                        <a:lnSpc>
                          <a:spcPts val="1335"/>
                        </a:lnSpc>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IPAF-Basel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7542412"/>
                  </a:ext>
                </a:extLst>
              </a:tr>
              <a:tr h="153959">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070723575"/>
                  </a:ext>
                </a:extLst>
              </a:tr>
              <a:tr h="734577">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0">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IPAF-Basel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02060791"/>
                  </a:ext>
                </a:extLst>
              </a:tr>
              <a:tr h="154462">
                <a:tc vMerge="1">
                  <a:txBody>
                    <a:bodyPr/>
                    <a:lstStyle/>
                    <a:p>
                      <a:endParaRPr lang="en-US"/>
                    </a:p>
                  </a:txBody>
                  <a:tcPr/>
                </a:tc>
                <a:tc>
                  <a:txBody>
                    <a:bodyPr/>
                    <a:lstStyle/>
                    <a:p>
                      <a:pPr marL="64135" marR="0">
                        <a:lnSpc>
                          <a:spcPts val="1010"/>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7571013"/>
                  </a:ext>
                </a:extLst>
              </a:tr>
            </a:tbl>
          </a:graphicData>
        </a:graphic>
      </p:graphicFrame>
      <p:pic>
        <p:nvPicPr>
          <p:cNvPr id="82946" name="Image 100">
            <a:extLst>
              <a:ext uri="{FF2B5EF4-FFF2-40B4-BE49-F238E27FC236}">
                <a16:creationId xmlns:a16="http://schemas.microsoft.com/office/drawing/2014/main" id="{D14CB2D9-26DF-4AB4-2996-3A08B25CA37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7511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73</a:t>
            </a:fld>
            <a:endParaRPr lang="en-US" dirty="0"/>
          </a:p>
        </p:txBody>
      </p:sp>
      <p:graphicFrame>
        <p:nvGraphicFramePr>
          <p:cNvPr id="5" name="Table 4">
            <a:extLst>
              <a:ext uri="{FF2B5EF4-FFF2-40B4-BE49-F238E27FC236}">
                <a16:creationId xmlns:a16="http://schemas.microsoft.com/office/drawing/2014/main" id="{7C2231FA-6218-2B4A-49D9-9BF49219CBF4}"/>
              </a:ext>
            </a:extLst>
          </p:cNvPr>
          <p:cNvGraphicFramePr>
            <a:graphicFrameLocks noGrp="1"/>
          </p:cNvGraphicFramePr>
          <p:nvPr>
            <p:extLst>
              <p:ext uri="{D42A27DB-BD31-4B8C-83A1-F6EECF244321}">
                <p14:modId xmlns:p14="http://schemas.microsoft.com/office/powerpoint/2010/main" val="4017710723"/>
              </p:ext>
            </p:extLst>
          </p:nvPr>
        </p:nvGraphicFramePr>
        <p:xfrm>
          <a:off x="419100" y="1093708"/>
          <a:ext cx="11430000" cy="4842463"/>
        </p:xfrm>
        <a:graphic>
          <a:graphicData uri="http://schemas.openxmlformats.org/drawingml/2006/table">
            <a:tbl>
              <a:tblPr firstRow="1" firstCol="1" lastRow="1" lastCol="1" bandRow="1" bandCol="1"/>
              <a:tblGrid>
                <a:gridCol w="2046194">
                  <a:extLst>
                    <a:ext uri="{9D8B030D-6E8A-4147-A177-3AD203B41FA5}">
                      <a16:colId xmlns:a16="http://schemas.microsoft.com/office/drawing/2014/main" val="1961417565"/>
                    </a:ext>
                  </a:extLst>
                </a:gridCol>
                <a:gridCol w="9383806">
                  <a:extLst>
                    <a:ext uri="{9D8B030D-6E8A-4147-A177-3AD203B41FA5}">
                      <a16:colId xmlns:a16="http://schemas.microsoft.com/office/drawing/2014/main" val="149883507"/>
                    </a:ext>
                  </a:extLst>
                </a:gridCol>
              </a:tblGrid>
              <a:tr h="600933">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Turkey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0162277"/>
                  </a:ext>
                </a:extLst>
              </a:tr>
              <a:tr h="158386">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42269726"/>
                  </a:ext>
                </a:extLst>
              </a:tr>
              <a:tr h="554867">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868373"/>
                  </a:ext>
                </a:extLst>
              </a:tr>
              <a:tr h="158386">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53561306"/>
                  </a:ext>
                </a:extLst>
              </a:tr>
              <a:tr h="55642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3249816"/>
                  </a:ext>
                </a:extLst>
              </a:tr>
              <a:tr h="15735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97627977"/>
                  </a:ext>
                </a:extLst>
              </a:tr>
              <a:tr h="695137">
                <a:tc vMerge="1">
                  <a:txBody>
                    <a:bodyPr/>
                    <a:lstStyle/>
                    <a:p>
                      <a:endParaRPr lang="en-US"/>
                    </a:p>
                  </a:txBody>
                  <a:tcPr/>
                </a:tc>
                <a:tc>
                  <a:txBody>
                    <a:bodyPr/>
                    <a:lstStyle/>
                    <a:p>
                      <a:pPr marL="64135" marR="3887470">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Mercury</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8299654"/>
                  </a:ext>
                </a:extLst>
              </a:tr>
              <a:tr h="158386">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897051230"/>
                  </a:ext>
                </a:extLst>
              </a:tr>
              <a:tr h="694101">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0">
                        <a:lnSpc>
                          <a:spcPts val="1335"/>
                        </a:lnSpc>
                        <a:spcBef>
                          <a:spcPts val="5"/>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E-Crane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391675"/>
                  </a:ext>
                </a:extLst>
              </a:tr>
              <a:tr h="158386">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3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71640894"/>
                  </a:ext>
                </a:extLst>
              </a:tr>
              <a:tr h="756731">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0">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E-Crane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45258570"/>
                  </a:ext>
                </a:extLst>
              </a:tr>
              <a:tr h="157868">
                <a:tc vMerge="1">
                  <a:txBody>
                    <a:bodyPr/>
                    <a:lstStyle/>
                    <a:p>
                      <a:endParaRPr lang="en-US"/>
                    </a:p>
                  </a:txBody>
                  <a:tcPr/>
                </a:tc>
                <a:tc>
                  <a:txBody>
                    <a:bodyPr/>
                    <a:lstStyle/>
                    <a:p>
                      <a:pPr marL="64135" marR="0">
                        <a:lnSpc>
                          <a:spcPts val="995"/>
                        </a:lnSpc>
                        <a:spcBef>
                          <a:spcPts val="43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78319"/>
                  </a:ext>
                </a:extLst>
              </a:tr>
            </a:tbl>
          </a:graphicData>
        </a:graphic>
      </p:graphicFrame>
      <p:pic>
        <p:nvPicPr>
          <p:cNvPr id="81922" name="Image 101">
            <a:extLst>
              <a:ext uri="{FF2B5EF4-FFF2-40B4-BE49-F238E27FC236}">
                <a16:creationId xmlns:a16="http://schemas.microsoft.com/office/drawing/2014/main" id="{C9A3A785-9FDD-B9DC-D11C-98B92469918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4325"/>
            <a:ext cx="657225" cy="62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0993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74</a:t>
            </a:fld>
            <a:endParaRPr lang="en-US" dirty="0"/>
          </a:p>
        </p:txBody>
      </p:sp>
      <p:graphicFrame>
        <p:nvGraphicFramePr>
          <p:cNvPr id="5" name="Table 4">
            <a:extLst>
              <a:ext uri="{FF2B5EF4-FFF2-40B4-BE49-F238E27FC236}">
                <a16:creationId xmlns:a16="http://schemas.microsoft.com/office/drawing/2014/main" id="{6BB0E153-135F-8CE7-00D2-B0A1A21B3386}"/>
              </a:ext>
            </a:extLst>
          </p:cNvPr>
          <p:cNvGraphicFramePr>
            <a:graphicFrameLocks noGrp="1"/>
          </p:cNvGraphicFramePr>
          <p:nvPr>
            <p:extLst>
              <p:ext uri="{D42A27DB-BD31-4B8C-83A1-F6EECF244321}">
                <p14:modId xmlns:p14="http://schemas.microsoft.com/office/powerpoint/2010/main" val="1964673513"/>
              </p:ext>
            </p:extLst>
          </p:nvPr>
        </p:nvGraphicFramePr>
        <p:xfrm>
          <a:off x="419100" y="1152954"/>
          <a:ext cx="11430000" cy="4840381"/>
        </p:xfrm>
        <a:graphic>
          <a:graphicData uri="http://schemas.openxmlformats.org/drawingml/2006/table">
            <a:tbl>
              <a:tblPr firstRow="1" firstCol="1" lastRow="1" lastCol="1" bandRow="1" bandCol="1"/>
              <a:tblGrid>
                <a:gridCol w="2057400">
                  <a:extLst>
                    <a:ext uri="{9D8B030D-6E8A-4147-A177-3AD203B41FA5}">
                      <a16:colId xmlns:a16="http://schemas.microsoft.com/office/drawing/2014/main" val="3302031974"/>
                    </a:ext>
                  </a:extLst>
                </a:gridCol>
                <a:gridCol w="9372600">
                  <a:extLst>
                    <a:ext uri="{9D8B030D-6E8A-4147-A177-3AD203B41FA5}">
                      <a16:colId xmlns:a16="http://schemas.microsoft.com/office/drawing/2014/main" val="726721328"/>
                    </a:ext>
                  </a:extLst>
                </a:gridCol>
              </a:tblGrid>
              <a:tr h="650663">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Belgium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6931933"/>
                  </a:ext>
                </a:extLst>
              </a:tr>
              <a:tr h="17149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06142060"/>
                  </a:ext>
                </a:extLst>
              </a:tr>
              <a:tr h="751541">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Austria 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WOLFF</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9433106"/>
                  </a:ext>
                </a:extLst>
              </a:tr>
              <a:tr h="17205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54301038"/>
                  </a:ext>
                </a:extLst>
              </a:tr>
              <a:tr h="760004">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3830320">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Austria Bureau Veritas WOLFF</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3065006"/>
                  </a:ext>
                </a:extLst>
              </a:tr>
              <a:tr h="168130">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60"/>
                        </a:spcBef>
                        <a:spcAft>
                          <a:spcPts val="0"/>
                        </a:spcAft>
                      </a:pP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98877881"/>
                  </a:ext>
                </a:extLst>
              </a:tr>
              <a:tr h="603083">
                <a:tc vMerge="1">
                  <a:txBody>
                    <a:bodyPr/>
                    <a:lstStyle/>
                    <a:p>
                      <a:endParaRPr lang="en-US"/>
                    </a:p>
                  </a:txBody>
                  <a:tcPr/>
                </a:tc>
                <a:tc>
                  <a:txBody>
                    <a:bodyPr/>
                    <a:lstStyle/>
                    <a:p>
                      <a:pPr marL="64135" marR="388747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Rheinland</a:t>
                      </a:r>
                      <a:r>
                        <a:rPr lang="en-US" sz="1100" dirty="0">
                          <a:effectLst/>
                          <a:latin typeface="Calibri" panose="020F0502020204030204" pitchFamily="34" charset="0"/>
                          <a:ea typeface="Calibri" panose="020F0502020204030204" pitchFamily="34" charset="0"/>
                          <a:cs typeface="Times New Roman" panose="02020603050405020304" pitchFamily="18" charset="0"/>
                        </a:rPr>
                        <a:t> TUV SUD</a:t>
                      </a:r>
                    </a:p>
                    <a:p>
                      <a:pPr marL="64135" marR="3888740">
                        <a:lnSpc>
                          <a:spcPts val="135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Austria Bureau</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1597208"/>
                  </a:ext>
                </a:extLst>
              </a:tr>
              <a:tr h="170372">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262768017"/>
                  </a:ext>
                </a:extLst>
              </a:tr>
              <a:tr h="451709">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3656380"/>
                  </a:ext>
                </a:extLst>
              </a:tr>
              <a:tr h="170372">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4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51323204"/>
                  </a:ext>
                </a:extLst>
              </a:tr>
              <a:tr h="541939">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677714989"/>
                  </a:ext>
                </a:extLst>
              </a:tr>
              <a:tr h="195591">
                <a:tc vMerge="1">
                  <a:txBody>
                    <a:bodyPr/>
                    <a:lstStyle/>
                    <a:p>
                      <a:endParaRPr lang="en-US"/>
                    </a:p>
                  </a:txBody>
                  <a:tcPr/>
                </a:tc>
                <a:tc>
                  <a:txBody>
                    <a:bodyPr/>
                    <a:lstStyle/>
                    <a:p>
                      <a:pPr marL="64135" marR="0">
                        <a:lnSpc>
                          <a:spcPts val="995"/>
                        </a:lnSpc>
                        <a:spcBef>
                          <a:spcPts val="65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1068871"/>
                  </a:ext>
                </a:extLst>
              </a:tr>
            </a:tbl>
          </a:graphicData>
        </a:graphic>
      </p:graphicFrame>
      <p:pic>
        <p:nvPicPr>
          <p:cNvPr id="80898" name="Image 102">
            <a:extLst>
              <a:ext uri="{FF2B5EF4-FFF2-40B4-BE49-F238E27FC236}">
                <a16:creationId xmlns:a16="http://schemas.microsoft.com/office/drawing/2014/main" id="{F17732EB-B072-48C1-0775-A3D125E153A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2290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6011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75</a:t>
            </a:fld>
            <a:endParaRPr lang="en-US" dirty="0"/>
          </a:p>
        </p:txBody>
      </p:sp>
      <p:graphicFrame>
        <p:nvGraphicFramePr>
          <p:cNvPr id="5" name="Table 4">
            <a:extLst>
              <a:ext uri="{FF2B5EF4-FFF2-40B4-BE49-F238E27FC236}">
                <a16:creationId xmlns:a16="http://schemas.microsoft.com/office/drawing/2014/main" id="{9633325F-AF50-D23A-EDF0-C2A99BDABE0B}"/>
              </a:ext>
            </a:extLst>
          </p:cNvPr>
          <p:cNvGraphicFramePr>
            <a:graphicFrameLocks noGrp="1"/>
          </p:cNvGraphicFramePr>
          <p:nvPr>
            <p:extLst>
              <p:ext uri="{D42A27DB-BD31-4B8C-83A1-F6EECF244321}">
                <p14:modId xmlns:p14="http://schemas.microsoft.com/office/powerpoint/2010/main" val="4278732952"/>
              </p:ext>
            </p:extLst>
          </p:nvPr>
        </p:nvGraphicFramePr>
        <p:xfrm>
          <a:off x="419100" y="1047554"/>
          <a:ext cx="11430000" cy="4831153"/>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2217020723"/>
                    </a:ext>
                  </a:extLst>
                </a:gridCol>
                <a:gridCol w="9401735">
                  <a:extLst>
                    <a:ext uri="{9D8B030D-6E8A-4147-A177-3AD203B41FA5}">
                      <a16:colId xmlns:a16="http://schemas.microsoft.com/office/drawing/2014/main" val="3084666925"/>
                    </a:ext>
                  </a:extLst>
                </a:gridCol>
              </a:tblGrid>
              <a:tr h="618989">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Italy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0775175"/>
                  </a:ext>
                </a:extLst>
              </a:tr>
              <a:tr h="16314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308900488"/>
                  </a:ext>
                </a:extLst>
              </a:tr>
              <a:tr h="571539">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 SRL</a:t>
                      </a: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Austria</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SRL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SPA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1713926"/>
                  </a:ext>
                </a:extLst>
              </a:tr>
              <a:tr h="16314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25534329"/>
                  </a:ext>
                </a:extLst>
              </a:tr>
              <a:tr h="573725">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 SRL</a:t>
                      </a:r>
                    </a:p>
                    <a:p>
                      <a:pPr marL="64135" marR="3497580">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Austria SRL 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SPA</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4287260"/>
                  </a:ext>
                </a:extLst>
              </a:tr>
              <a:tr h="161012">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6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79781491"/>
                  </a:ext>
                </a:extLst>
              </a:tr>
              <a:tr h="716023">
                <a:tc vMerge="1">
                  <a:txBody>
                    <a:bodyPr/>
                    <a:lstStyle/>
                    <a:p>
                      <a:endParaRPr lang="en-US"/>
                    </a:p>
                  </a:txBody>
                  <a:tcPr/>
                </a:tc>
                <a:tc>
                  <a:txBody>
                    <a:bodyPr/>
                    <a:lstStyle/>
                    <a:p>
                      <a:pPr marL="64135" marR="3887470">
                        <a:lnSpc>
                          <a:spcPct val="98000"/>
                        </a:lnSpc>
                        <a:spcBef>
                          <a:spcPts val="1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 SRL</a:t>
                      </a:r>
                    </a:p>
                    <a:p>
                      <a:pPr marL="64135" marR="0">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Austria</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SRL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7971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Cartec</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Safety</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level) Bureau Veritas SPA</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6710203"/>
                  </a:ext>
                </a:extLst>
              </a:tr>
              <a:tr h="162078">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62742723"/>
                  </a:ext>
                </a:extLst>
              </a:tr>
              <a:tr h="573138">
                <a:tc vMerge="1">
                  <a:txBody>
                    <a:bodyPr/>
                    <a:lstStyle/>
                    <a:p>
                      <a:endParaRPr lang="en-US"/>
                    </a:p>
                  </a:txBody>
                  <a:tcPr/>
                </a:tc>
                <a:tc>
                  <a:txBody>
                    <a:bodyPr/>
                    <a:lstStyle/>
                    <a:p>
                      <a:pPr marL="64135" marR="42176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SGS SPA 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IPAF-Italia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4531064"/>
                  </a:ext>
                </a:extLst>
              </a:tr>
              <a:tr h="162078">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786411804"/>
                  </a:ext>
                </a:extLst>
              </a:tr>
              <a:tr h="779468">
                <a:tc vMerge="1">
                  <a:txBody>
                    <a:bodyPr/>
                    <a:lstStyle/>
                    <a:p>
                      <a:endParaRPr lang="en-US"/>
                    </a:p>
                  </a:txBody>
                  <a:tcPr/>
                </a:tc>
                <a:tc>
                  <a:txBody>
                    <a:bodyPr/>
                    <a:lstStyle/>
                    <a:p>
                      <a:pPr marL="64135" marR="421767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SGS SPA 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6705">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IPAF-Italia </a:t>
                      </a:r>
                      <a:r>
                        <a:rPr lang="en-US" sz="1100" dirty="0">
                          <a:effectLst/>
                          <a:latin typeface="Calibri" panose="020F0502020204030204" pitchFamily="34" charset="0"/>
                          <a:ea typeface="Calibri" panose="020F0502020204030204" pitchFamily="34" charset="0"/>
                          <a:cs typeface="Times New Roman" panose="02020603050405020304" pitchFamily="18" charset="0"/>
                        </a:rPr>
                        <a:t>NMG</a:t>
                      </a:r>
                      <a:r>
                        <a:rPr lang="en-US" sz="11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Italia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73375931"/>
                  </a:ext>
                </a:extLst>
              </a:tr>
              <a:tr h="162611">
                <a:tc vMerge="1">
                  <a:txBody>
                    <a:bodyPr/>
                    <a:lstStyle/>
                    <a:p>
                      <a:endParaRPr lang="en-US"/>
                    </a:p>
                  </a:txBody>
                  <a:tcPr/>
                </a:tc>
                <a:tc>
                  <a:txBody>
                    <a:bodyPr/>
                    <a:lstStyle/>
                    <a:p>
                      <a:pPr marL="64135" marR="0">
                        <a:lnSpc>
                          <a:spcPts val="995"/>
                        </a:lnSpc>
                        <a:spcBef>
                          <a:spcPts val="43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0398948"/>
                  </a:ext>
                </a:extLst>
              </a:tr>
            </a:tbl>
          </a:graphicData>
        </a:graphic>
      </p:graphicFrame>
      <p:pic>
        <p:nvPicPr>
          <p:cNvPr id="79874" name="Image 103">
            <a:extLst>
              <a:ext uri="{FF2B5EF4-FFF2-40B4-BE49-F238E27FC236}">
                <a16:creationId xmlns:a16="http://schemas.microsoft.com/office/drawing/2014/main" id="{4106992C-4657-45D0-3A5B-CECE46D47AD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2" y="307084"/>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1160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76</a:t>
            </a:fld>
            <a:endParaRPr lang="en-US" dirty="0"/>
          </a:p>
        </p:txBody>
      </p:sp>
      <p:graphicFrame>
        <p:nvGraphicFramePr>
          <p:cNvPr id="5" name="Table 4">
            <a:extLst>
              <a:ext uri="{FF2B5EF4-FFF2-40B4-BE49-F238E27FC236}">
                <a16:creationId xmlns:a16="http://schemas.microsoft.com/office/drawing/2014/main" id="{EBD417D9-B79E-4D21-28DD-6662A804303A}"/>
              </a:ext>
            </a:extLst>
          </p:cNvPr>
          <p:cNvGraphicFramePr>
            <a:graphicFrameLocks noGrp="1"/>
          </p:cNvGraphicFramePr>
          <p:nvPr>
            <p:extLst>
              <p:ext uri="{D42A27DB-BD31-4B8C-83A1-F6EECF244321}">
                <p14:modId xmlns:p14="http://schemas.microsoft.com/office/powerpoint/2010/main" val="3480035910"/>
              </p:ext>
            </p:extLst>
          </p:nvPr>
        </p:nvGraphicFramePr>
        <p:xfrm>
          <a:off x="419100" y="1088388"/>
          <a:ext cx="11430000" cy="4853653"/>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1860695655"/>
                    </a:ext>
                  </a:extLst>
                </a:gridCol>
                <a:gridCol w="9410700">
                  <a:extLst>
                    <a:ext uri="{9D8B030D-6E8A-4147-A177-3AD203B41FA5}">
                      <a16:colId xmlns:a16="http://schemas.microsoft.com/office/drawing/2014/main" val="114296004"/>
                    </a:ext>
                  </a:extLst>
                </a:gridCol>
              </a:tblGrid>
              <a:tr h="600998">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Austria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5361681"/>
                  </a:ext>
                </a:extLst>
              </a:tr>
              <a:tr h="15840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0530356"/>
                  </a:ext>
                </a:extLst>
              </a:tr>
              <a:tr h="554927">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30320">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Austria WOLFF</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Gmbh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5444485"/>
                  </a:ext>
                </a:extLst>
              </a:tr>
              <a:tr h="158403">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6617688"/>
                  </a:ext>
                </a:extLst>
              </a:tr>
              <a:tr h="834978">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383032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Austria WOLFF</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Gmbh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4471637"/>
                  </a:ext>
                </a:extLst>
              </a:tr>
              <a:tr h="15736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421643765"/>
                  </a:ext>
                </a:extLst>
              </a:tr>
              <a:tr h="695211">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Austria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Gmbh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4845360"/>
                  </a:ext>
                </a:extLst>
              </a:tr>
              <a:tr h="15892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110831952"/>
                  </a:ext>
                </a:extLst>
              </a:tr>
              <a:tr h="554927">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SGS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Gmbh 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Austria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2812411"/>
                  </a:ext>
                </a:extLst>
              </a:tr>
              <a:tr h="158403">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9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447009127"/>
                  </a:ext>
                </a:extLst>
              </a:tr>
              <a:tr h="617045">
                <a:tc vMerge="1">
                  <a:txBody>
                    <a:bodyPr/>
                    <a:lstStyle/>
                    <a:p>
                      <a:endParaRPr lang="en-US"/>
                    </a:p>
                  </a:txBody>
                  <a:tcPr/>
                </a:tc>
                <a:tc>
                  <a:txBody>
                    <a:bodyPr/>
                    <a:lstStyle/>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SGS</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Gmbh</a:t>
                      </a:r>
                      <a:r>
                        <a:rPr lang="en-US" sz="1100" dirty="0">
                          <a:effectLst/>
                          <a:latin typeface="Calibri" panose="020F0502020204030204" pitchFamily="34" charset="0"/>
                          <a:ea typeface="Calibri" panose="020F0502020204030204" pitchFamily="34" charset="0"/>
                          <a:cs typeface="Times New Roman" panose="02020603050405020304" pitchFamily="18" charset="0"/>
                        </a:rPr>
                        <a:t> 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Austria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68695333"/>
                  </a:ext>
                </a:extLst>
              </a:tr>
              <a:tr h="157367">
                <a:tc vMerge="1">
                  <a:txBody>
                    <a:bodyPr/>
                    <a:lstStyle/>
                    <a:p>
                      <a:endParaRPr lang="en-US"/>
                    </a:p>
                  </a:txBody>
                  <a:tcPr/>
                </a:tc>
                <a:tc>
                  <a:txBody>
                    <a:bodyPr/>
                    <a:lstStyle/>
                    <a:p>
                      <a:pPr marL="64135" marR="0">
                        <a:lnSpc>
                          <a:spcPts val="995"/>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8541847"/>
                  </a:ext>
                </a:extLst>
              </a:tr>
            </a:tbl>
          </a:graphicData>
        </a:graphic>
      </p:graphicFrame>
      <p:pic>
        <p:nvPicPr>
          <p:cNvPr id="77826" name="Image 104">
            <a:extLst>
              <a:ext uri="{FF2B5EF4-FFF2-40B4-BE49-F238E27FC236}">
                <a16:creationId xmlns:a16="http://schemas.microsoft.com/office/drawing/2014/main" id="{BDE7E875-9292-57B7-5201-DD3EF85971E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4783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77</a:t>
            </a:fld>
            <a:endParaRPr lang="en-US" dirty="0"/>
          </a:p>
        </p:txBody>
      </p:sp>
      <p:graphicFrame>
        <p:nvGraphicFramePr>
          <p:cNvPr id="5" name="Table 4">
            <a:extLst>
              <a:ext uri="{FF2B5EF4-FFF2-40B4-BE49-F238E27FC236}">
                <a16:creationId xmlns:a16="http://schemas.microsoft.com/office/drawing/2014/main" id="{67599438-33E5-86DB-4129-8EBA1620ED56}"/>
              </a:ext>
            </a:extLst>
          </p:cNvPr>
          <p:cNvGraphicFramePr>
            <a:graphicFrameLocks noGrp="1"/>
          </p:cNvGraphicFramePr>
          <p:nvPr>
            <p:extLst>
              <p:ext uri="{D42A27DB-BD31-4B8C-83A1-F6EECF244321}">
                <p14:modId xmlns:p14="http://schemas.microsoft.com/office/powerpoint/2010/main" val="734931962"/>
              </p:ext>
            </p:extLst>
          </p:nvPr>
        </p:nvGraphicFramePr>
        <p:xfrm>
          <a:off x="470910" y="1104252"/>
          <a:ext cx="11430000" cy="4904178"/>
        </p:xfrm>
        <a:graphic>
          <a:graphicData uri="http://schemas.openxmlformats.org/drawingml/2006/table">
            <a:tbl>
              <a:tblPr firstRow="1" firstCol="1" lastRow="1" lastCol="1" bandRow="1" bandCol="1"/>
              <a:tblGrid>
                <a:gridCol w="1985419">
                  <a:extLst>
                    <a:ext uri="{9D8B030D-6E8A-4147-A177-3AD203B41FA5}">
                      <a16:colId xmlns:a16="http://schemas.microsoft.com/office/drawing/2014/main" val="3080497002"/>
                    </a:ext>
                  </a:extLst>
                </a:gridCol>
                <a:gridCol w="9444581">
                  <a:extLst>
                    <a:ext uri="{9D8B030D-6E8A-4147-A177-3AD203B41FA5}">
                      <a16:colId xmlns:a16="http://schemas.microsoft.com/office/drawing/2014/main" val="1661024073"/>
                    </a:ext>
                  </a:extLst>
                </a:gridCol>
              </a:tblGrid>
              <a:tr h="557418">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Romania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0717932"/>
                  </a:ext>
                </a:extLst>
              </a:tr>
              <a:tr h="146916">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8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8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8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8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8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99910625"/>
                  </a:ext>
                </a:extLst>
              </a:tr>
              <a:tr h="643839">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Austria</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Romania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6916959"/>
                  </a:ext>
                </a:extLst>
              </a:tr>
              <a:tr h="147396">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03543845"/>
                  </a:ext>
                </a:extLst>
              </a:tr>
              <a:tr h="64480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 TUV SUD</a:t>
                      </a:r>
                    </a:p>
                    <a:p>
                      <a:pPr marL="64135" marR="3267075">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Austria</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Romania Bureau 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3075344"/>
                  </a:ext>
                </a:extLst>
              </a:tr>
              <a:tr h="144996">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6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7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15455796"/>
                  </a:ext>
                </a:extLst>
              </a:tr>
              <a:tr h="64480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ALP Access</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GSP</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Center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0817912"/>
                  </a:ext>
                </a:extLst>
              </a:tr>
              <a:tr h="147396">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83332419"/>
                  </a:ext>
                </a:extLst>
              </a:tr>
              <a:tr h="643839">
                <a:tc vMerge="1">
                  <a:txBody>
                    <a:bodyPr/>
                    <a:lstStyle/>
                    <a:p>
                      <a:endParaRPr lang="en-US"/>
                    </a:p>
                  </a:txBody>
                  <a:tcPr/>
                </a:tc>
                <a:tc>
                  <a:txBody>
                    <a:bodyPr/>
                    <a:lstStyle/>
                    <a:p>
                      <a:pPr marL="64135" marR="3686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Romania</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SA TUV NORD</a:t>
                      </a: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GSP</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Center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7550343"/>
                  </a:ext>
                </a:extLst>
              </a:tr>
              <a:tr h="146916">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663369151"/>
                  </a:ext>
                </a:extLst>
              </a:tr>
              <a:tr h="810921">
                <a:tc vMerge="1">
                  <a:txBody>
                    <a:bodyPr/>
                    <a:lstStyle/>
                    <a:p>
                      <a:endParaRPr lang="en-US"/>
                    </a:p>
                  </a:txBody>
                  <a:tcPr/>
                </a:tc>
                <a:tc>
                  <a:txBody>
                    <a:bodyPr/>
                    <a:lstStyle/>
                    <a:p>
                      <a:pPr marL="64135" marR="2546985">
                        <a:spcBef>
                          <a:spcPts val="0"/>
                        </a:spcBef>
                        <a:spcAft>
                          <a:spcPts val="0"/>
                        </a:spcAft>
                      </a:pPr>
                      <a:r>
                        <a:rPr lang="en-US" sz="1100" dirty="0" err="1">
                          <a:effectLst/>
                          <a:latin typeface="Calibri" panose="020F0502020204030204" pitchFamily="34" charset="0"/>
                          <a:ea typeface="Calibri" panose="020F0502020204030204" pitchFamily="34" charset="0"/>
                          <a:cs typeface="Times New Roman" panose="02020603050405020304" pitchFamily="18" charset="0"/>
                        </a:rPr>
                        <a:t>Argecoterm</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S.R.L.</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(Romanian</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Official) SGS Romania SA</a:t>
                      </a:r>
                    </a:p>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GSP</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Center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284147692"/>
                  </a:ext>
                </a:extLst>
              </a:tr>
              <a:tr h="127712">
                <a:tc vMerge="1">
                  <a:txBody>
                    <a:bodyPr/>
                    <a:lstStyle/>
                    <a:p>
                      <a:endParaRPr lang="en-US"/>
                    </a:p>
                  </a:txBody>
                  <a:tcPr/>
                </a:tc>
                <a:tc>
                  <a:txBody>
                    <a:bodyPr/>
                    <a:lstStyle/>
                    <a:p>
                      <a:pPr marL="64135" marR="0">
                        <a:lnSpc>
                          <a:spcPts val="995"/>
                        </a:lnSpc>
                        <a:spcBef>
                          <a:spcPts val="23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6035530"/>
                  </a:ext>
                </a:extLst>
              </a:tr>
            </a:tbl>
          </a:graphicData>
        </a:graphic>
      </p:graphicFrame>
      <p:pic>
        <p:nvPicPr>
          <p:cNvPr id="78850" name="Image 105">
            <a:extLst>
              <a:ext uri="{FF2B5EF4-FFF2-40B4-BE49-F238E27FC236}">
                <a16:creationId xmlns:a16="http://schemas.microsoft.com/office/drawing/2014/main" id="{89ADC46E-1F98-02C9-CCDA-2FAA1B046A9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910" y="31908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54882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78</a:t>
            </a:fld>
            <a:endParaRPr lang="en-US" dirty="0"/>
          </a:p>
        </p:txBody>
      </p:sp>
      <p:graphicFrame>
        <p:nvGraphicFramePr>
          <p:cNvPr id="5" name="Table 4">
            <a:extLst>
              <a:ext uri="{FF2B5EF4-FFF2-40B4-BE49-F238E27FC236}">
                <a16:creationId xmlns:a16="http://schemas.microsoft.com/office/drawing/2014/main" id="{2F30CEB5-2FD1-4DDB-8E06-712FFF044B14}"/>
              </a:ext>
            </a:extLst>
          </p:cNvPr>
          <p:cNvGraphicFramePr>
            <a:graphicFrameLocks noGrp="1"/>
          </p:cNvGraphicFramePr>
          <p:nvPr>
            <p:extLst>
              <p:ext uri="{D42A27DB-BD31-4B8C-83A1-F6EECF244321}">
                <p14:modId xmlns:p14="http://schemas.microsoft.com/office/powerpoint/2010/main" val="477425317"/>
              </p:ext>
            </p:extLst>
          </p:nvPr>
        </p:nvGraphicFramePr>
        <p:xfrm>
          <a:off x="419100" y="1149564"/>
          <a:ext cx="11430000" cy="4297680"/>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3923453321"/>
                    </a:ext>
                  </a:extLst>
                </a:gridCol>
                <a:gridCol w="9410700">
                  <a:extLst>
                    <a:ext uri="{9D8B030D-6E8A-4147-A177-3AD203B41FA5}">
                      <a16:colId xmlns:a16="http://schemas.microsoft.com/office/drawing/2014/main" val="2151197990"/>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Iceland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9316682"/>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87649132"/>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(Energy</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label)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67924"/>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46273279"/>
                  </a:ext>
                </a:extLst>
              </a:tr>
              <a:tr h="511810">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NORD</a:t>
                      </a:r>
                    </a:p>
                    <a:p>
                      <a:pPr marL="64135" marR="0">
                        <a:lnSpc>
                          <a:spcPts val="1250"/>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Ísfell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1114"/>
                  </a:ext>
                </a:extLst>
              </a:tr>
              <a:tr h="194310">
                <a:tc rowSpan="2">
                  <a:txBody>
                    <a:bodyPr/>
                    <a:lstStyle/>
                    <a:p>
                      <a:pPr marL="0" marR="0">
                        <a:spcBef>
                          <a:spcPts val="78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207166839"/>
                  </a:ext>
                </a:extLst>
              </a:tr>
              <a:tr h="511175">
                <a:tc vMerge="1">
                  <a:txBody>
                    <a:bodyPr/>
                    <a:lstStyle/>
                    <a:p>
                      <a:endParaRPr lang="en-US"/>
                    </a:p>
                  </a:txBody>
                  <a:tcPr/>
                </a:tc>
                <a:tc>
                  <a:txBody>
                    <a:bodyPr/>
                    <a:lstStyle/>
                    <a:p>
                      <a:pPr marL="64135" marR="38874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 TUV SUD</a:t>
                      </a:r>
                    </a:p>
                    <a:p>
                      <a:pPr marL="64135" marR="0">
                        <a:lnSpc>
                          <a:spcPts val="1245"/>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Ísfell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2521555"/>
                  </a:ext>
                </a:extLst>
              </a:tr>
              <a:tr h="193040">
                <a:tc rowSpan="2">
                  <a:txBody>
                    <a:bodyPr/>
                    <a:lstStyle/>
                    <a:p>
                      <a:pPr marL="0" marR="0">
                        <a:spcBef>
                          <a:spcPts val="77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46566895"/>
                  </a:ext>
                </a:extLst>
              </a:tr>
              <a:tr h="511810">
                <a:tc vMerge="1">
                  <a:txBody>
                    <a:bodyPr/>
                    <a:lstStyle/>
                    <a:p>
                      <a:endParaRPr lang="en-US"/>
                    </a:p>
                  </a:txBody>
                  <a:tcPr/>
                </a:tc>
                <a:tc>
                  <a:txBody>
                    <a:bodyPr/>
                    <a:lstStyle/>
                    <a:p>
                      <a:pPr marL="64135" marR="260731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(Starfsgreinasamband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Íslands)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9779530"/>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27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87080472"/>
                  </a:ext>
                </a:extLst>
              </a:tr>
              <a:tr h="554355">
                <a:tc vMerge="1">
                  <a:txBody>
                    <a:bodyPr/>
                    <a:lstStyle/>
                    <a:p>
                      <a:endParaRPr lang="en-US"/>
                    </a:p>
                  </a:txBody>
                  <a:tcPr/>
                </a:tc>
                <a:tc>
                  <a:txBody>
                    <a:bodyPr/>
                    <a:lstStyle/>
                    <a:p>
                      <a:pPr marL="64135" marR="260731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(Starfsgreinasamband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Íslands) TUV SUD</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56578453"/>
                  </a:ext>
                </a:extLst>
              </a:tr>
              <a:tr h="161290">
                <a:tc vMerge="1">
                  <a:txBody>
                    <a:bodyPr/>
                    <a:lstStyle/>
                    <a:p>
                      <a:endParaRPr lang="en-US"/>
                    </a:p>
                  </a:txBody>
                  <a:tcPr/>
                </a:tc>
                <a:tc>
                  <a:txBody>
                    <a:bodyPr/>
                    <a:lstStyle/>
                    <a:p>
                      <a:pPr marL="64135" marR="0">
                        <a:lnSpc>
                          <a:spcPts val="995"/>
                        </a:lnSpc>
                        <a:spcBef>
                          <a:spcPts val="175"/>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5741926"/>
                  </a:ext>
                </a:extLst>
              </a:tr>
            </a:tbl>
          </a:graphicData>
        </a:graphic>
      </p:graphicFrame>
      <p:pic>
        <p:nvPicPr>
          <p:cNvPr id="76802" name="Image 106">
            <a:extLst>
              <a:ext uri="{FF2B5EF4-FFF2-40B4-BE49-F238E27FC236}">
                <a16:creationId xmlns:a16="http://schemas.microsoft.com/office/drawing/2014/main" id="{A797F61E-501E-38AD-25EF-363DDE7E0C6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1908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2131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79</a:t>
            </a:fld>
            <a:endParaRPr lang="en-US" dirty="0"/>
          </a:p>
        </p:txBody>
      </p:sp>
      <p:graphicFrame>
        <p:nvGraphicFramePr>
          <p:cNvPr id="5" name="Table 4">
            <a:extLst>
              <a:ext uri="{FF2B5EF4-FFF2-40B4-BE49-F238E27FC236}">
                <a16:creationId xmlns:a16="http://schemas.microsoft.com/office/drawing/2014/main" id="{FD572EE0-78C4-3F19-0363-58ADFBEFAB80}"/>
              </a:ext>
            </a:extLst>
          </p:cNvPr>
          <p:cNvGraphicFramePr>
            <a:graphicFrameLocks noGrp="1"/>
          </p:cNvGraphicFramePr>
          <p:nvPr>
            <p:extLst>
              <p:ext uri="{D42A27DB-BD31-4B8C-83A1-F6EECF244321}">
                <p14:modId xmlns:p14="http://schemas.microsoft.com/office/powerpoint/2010/main" val="1032046974"/>
              </p:ext>
            </p:extLst>
          </p:nvPr>
        </p:nvGraphicFramePr>
        <p:xfrm>
          <a:off x="419100" y="986883"/>
          <a:ext cx="11430000" cy="5215116"/>
        </p:xfrm>
        <a:graphic>
          <a:graphicData uri="http://schemas.openxmlformats.org/drawingml/2006/table">
            <a:tbl>
              <a:tblPr firstRow="1" firstCol="1" lastRow="1" lastCol="1" bandRow="1" bandCol="1"/>
              <a:tblGrid>
                <a:gridCol w="2057400">
                  <a:extLst>
                    <a:ext uri="{9D8B030D-6E8A-4147-A177-3AD203B41FA5}">
                      <a16:colId xmlns:a16="http://schemas.microsoft.com/office/drawing/2014/main" val="2897891522"/>
                    </a:ext>
                  </a:extLst>
                </a:gridCol>
                <a:gridCol w="9372600">
                  <a:extLst>
                    <a:ext uri="{9D8B030D-6E8A-4147-A177-3AD203B41FA5}">
                      <a16:colId xmlns:a16="http://schemas.microsoft.com/office/drawing/2014/main" val="1865135999"/>
                    </a:ext>
                  </a:extLst>
                </a:gridCol>
              </a:tblGrid>
              <a:tr h="465262">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Norway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889676"/>
                  </a:ext>
                </a:extLst>
              </a:tr>
              <a:tr h="12262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94153683"/>
                  </a:ext>
                </a:extLst>
              </a:tr>
              <a:tr h="429596">
                <a:tc vMerge="1">
                  <a:txBody>
                    <a:bodyPr/>
                    <a:lstStyle/>
                    <a:p>
                      <a:endParaRPr lang="en-US"/>
                    </a:p>
                  </a:txBody>
                  <a:tcPr/>
                </a:tc>
                <a:tc>
                  <a:txBody>
                    <a:bodyPr/>
                    <a:lstStyle/>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0">
                        <a:lnSpc>
                          <a:spcPts val="133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12hoist4u</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6369009"/>
                  </a:ext>
                </a:extLst>
              </a:tr>
              <a:tr h="12262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21104802"/>
                  </a:ext>
                </a:extLst>
              </a:tr>
              <a:tr h="431240">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3888740">
                        <a:lnSpc>
                          <a:spcPts val="13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a:effectLst/>
                          <a:latin typeface="Calibri" panose="020F0502020204030204" pitchFamily="34" charset="0"/>
                          <a:ea typeface="Calibri" panose="020F0502020204030204" pitchFamily="34" charset="0"/>
                          <a:cs typeface="Times New Roman" panose="02020603050405020304" pitchFamily="18" charset="0"/>
                        </a:rPr>
                        <a:t>12hoist4u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7586598"/>
                  </a:ext>
                </a:extLst>
              </a:tr>
              <a:tr h="12102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060963214"/>
                  </a:ext>
                </a:extLst>
              </a:tr>
              <a:tr h="969397">
                <a:tc vMerge="1">
                  <a:txBody>
                    <a:bodyPr/>
                    <a:lstStyle/>
                    <a:p>
                      <a:endParaRPr lang="en-US"/>
                    </a:p>
                  </a:txBody>
                  <a:tcPr/>
                </a:tc>
                <a:tc>
                  <a:txBody>
                    <a:bodyPr/>
                    <a:lstStyle/>
                    <a:p>
                      <a:pPr marL="64135" marR="4112895">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 TUV SUD BIKS AS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GWO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8874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PNI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20" dirty="0">
                          <a:effectLst/>
                          <a:latin typeface="Calibri" panose="020F0502020204030204" pitchFamily="34" charset="0"/>
                          <a:ea typeface="Calibri" panose="020F0502020204030204" pitchFamily="34" charset="0"/>
                          <a:cs typeface="Times New Roman" panose="02020603050405020304" pitchFamily="18" charset="0"/>
                        </a:rPr>
                        <a:t>ONIX</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Maersk</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12hoist4u</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0249954"/>
                  </a:ext>
                </a:extLst>
              </a:tr>
              <a:tr h="121826">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08824123"/>
                  </a:ext>
                </a:extLst>
              </a:tr>
              <a:tr h="861597">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a:t>
                      </a:r>
                    </a:p>
                    <a:p>
                      <a:pPr marL="64135" marR="2797175">
                        <a:spcBef>
                          <a:spcPts val="0"/>
                        </a:spcBef>
                        <a:spcAft>
                          <a:spcPts val="0"/>
                        </a:spcAft>
                      </a:pPr>
                      <a:r>
                        <a:rPr lang="en-US" sz="1100" dirty="0" err="1">
                          <a:effectLst/>
                          <a:latin typeface="Calibri" panose="020F0502020204030204" pitchFamily="34" charset="0"/>
                          <a:ea typeface="Calibri" panose="020F0502020204030204" pitchFamily="34" charset="0"/>
                          <a:cs typeface="Times New Roman" panose="02020603050405020304" pitchFamily="18" charset="0"/>
                        </a:rPr>
                        <a:t>Munck</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 BIKS AS</a:t>
                      </a:r>
                    </a:p>
                    <a:p>
                      <a:pPr marL="64135" marR="0">
                        <a:spcBef>
                          <a:spcPts val="5"/>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PNI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Maersk</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3664448"/>
                  </a:ext>
                </a:extLst>
              </a:tr>
              <a:tr h="121826">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25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20287579"/>
                  </a:ext>
                </a:extLst>
              </a:tr>
              <a:tr h="913293">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a:t>
                      </a:r>
                    </a:p>
                    <a:p>
                      <a:pPr marL="64135" marR="4112895">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12hoist4u </a:t>
                      </a:r>
                      <a:r>
                        <a:rPr lang="en-US" sz="1100" dirty="0">
                          <a:effectLst/>
                          <a:latin typeface="Calibri" panose="020F0502020204030204" pitchFamily="34" charset="0"/>
                          <a:ea typeface="Calibri" panose="020F0502020204030204" pitchFamily="34" charset="0"/>
                          <a:cs typeface="Times New Roman" panose="02020603050405020304" pitchFamily="18" charset="0"/>
                        </a:rPr>
                        <a:t>BIKS AS</a:t>
                      </a:r>
                    </a:p>
                    <a:p>
                      <a:pPr marL="64135" marR="2894965">
                        <a:spcBef>
                          <a:spcPts val="5"/>
                        </a:spcBef>
                        <a:spcAft>
                          <a:spcPts val="0"/>
                        </a:spcAft>
                      </a:pPr>
                      <a:r>
                        <a:rPr lang="en-US" sz="1100" dirty="0" err="1">
                          <a:effectLst/>
                          <a:latin typeface="Calibri" panose="020F0502020204030204" pitchFamily="34" charset="0"/>
                          <a:ea typeface="Calibri" panose="020F0502020204030204" pitchFamily="34" charset="0"/>
                          <a:cs typeface="Times New Roman" panose="02020603050405020304" pitchFamily="18" charset="0"/>
                        </a:rPr>
                        <a:t>Altinn</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(Certificate</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Category</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G1)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PNI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308910860"/>
                  </a:ext>
                </a:extLst>
              </a:tr>
              <a:tr h="126635">
                <a:tc vMerge="1">
                  <a:txBody>
                    <a:bodyPr/>
                    <a:lstStyle/>
                    <a:p>
                      <a:endParaRPr lang="en-US"/>
                    </a:p>
                  </a:txBody>
                  <a:tcPr/>
                </a:tc>
                <a:tc>
                  <a:txBody>
                    <a:bodyPr/>
                    <a:lstStyle/>
                    <a:p>
                      <a:pPr marL="64135" marR="0">
                        <a:lnSpc>
                          <a:spcPts val="995"/>
                        </a:lnSpc>
                        <a:spcBef>
                          <a:spcPts val="48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6142324"/>
                  </a:ext>
                </a:extLst>
              </a:tr>
            </a:tbl>
          </a:graphicData>
        </a:graphic>
      </p:graphicFrame>
      <p:pic>
        <p:nvPicPr>
          <p:cNvPr id="75778" name="Image 107">
            <a:extLst>
              <a:ext uri="{FF2B5EF4-FFF2-40B4-BE49-F238E27FC236}">
                <a16:creationId xmlns:a16="http://schemas.microsoft.com/office/drawing/2014/main" id="{4B42D0AD-EF07-97AE-62D3-FCE2851BAE8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565" y="310879"/>
            <a:ext cx="65722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28830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80</a:t>
            </a:fld>
            <a:endParaRPr lang="en-US" dirty="0"/>
          </a:p>
        </p:txBody>
      </p:sp>
      <p:graphicFrame>
        <p:nvGraphicFramePr>
          <p:cNvPr id="5" name="Table 4">
            <a:extLst>
              <a:ext uri="{FF2B5EF4-FFF2-40B4-BE49-F238E27FC236}">
                <a16:creationId xmlns:a16="http://schemas.microsoft.com/office/drawing/2014/main" id="{13AD488E-3261-CA2B-ECE4-620D8E779C22}"/>
              </a:ext>
            </a:extLst>
          </p:cNvPr>
          <p:cNvGraphicFramePr>
            <a:graphicFrameLocks noGrp="1"/>
          </p:cNvGraphicFramePr>
          <p:nvPr>
            <p:extLst>
              <p:ext uri="{D42A27DB-BD31-4B8C-83A1-F6EECF244321}">
                <p14:modId xmlns:p14="http://schemas.microsoft.com/office/powerpoint/2010/main" val="1509782622"/>
              </p:ext>
            </p:extLst>
          </p:nvPr>
        </p:nvGraphicFramePr>
        <p:xfrm>
          <a:off x="506506" y="998099"/>
          <a:ext cx="11430000" cy="4861801"/>
        </p:xfrm>
        <a:graphic>
          <a:graphicData uri="http://schemas.openxmlformats.org/drawingml/2006/table">
            <a:tbl>
              <a:tblPr firstRow="1" firstCol="1" lastRow="1" lastCol="1" bandRow="1" bandCol="1"/>
              <a:tblGrid>
                <a:gridCol w="1958788">
                  <a:extLst>
                    <a:ext uri="{9D8B030D-6E8A-4147-A177-3AD203B41FA5}">
                      <a16:colId xmlns:a16="http://schemas.microsoft.com/office/drawing/2014/main" val="2747287685"/>
                    </a:ext>
                  </a:extLst>
                </a:gridCol>
                <a:gridCol w="9471212">
                  <a:extLst>
                    <a:ext uri="{9D8B030D-6E8A-4147-A177-3AD203B41FA5}">
                      <a16:colId xmlns:a16="http://schemas.microsoft.com/office/drawing/2014/main" val="2878248614"/>
                    </a:ext>
                  </a:extLst>
                </a:gridCol>
              </a:tblGrid>
              <a:tr h="584017">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Denmark</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570420"/>
                  </a:ext>
                </a:extLst>
              </a:tr>
              <a:tr h="153927">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376308584"/>
                  </a:ext>
                </a:extLst>
              </a:tr>
              <a:tr h="403933">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4791686"/>
                  </a:ext>
                </a:extLst>
              </a:tr>
              <a:tr h="153927">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676871794"/>
                  </a:ext>
                </a:extLst>
              </a:tr>
              <a:tr h="405442">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242190"/>
                  </a:ext>
                </a:extLst>
              </a:tr>
              <a:tr h="15392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46980593"/>
                  </a:ext>
                </a:extLst>
              </a:tr>
              <a:tr h="809877">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TUV SUD BIKS AS</a:t>
                      </a:r>
                    </a:p>
                    <a:p>
                      <a:pPr marL="64135" marR="38887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20">
                          <a:effectLst/>
                          <a:latin typeface="Calibri" panose="020F0502020204030204" pitchFamily="34" charset="0"/>
                          <a:ea typeface="Calibri" panose="020F0502020204030204" pitchFamily="34" charset="0"/>
                          <a:cs typeface="Times New Roman" panose="02020603050405020304" pitchFamily="18" charset="0"/>
                        </a:rPr>
                        <a:t>GWO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Maersk</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8424509"/>
                  </a:ext>
                </a:extLst>
              </a:tr>
              <a:tr h="153927">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437474899"/>
                  </a:ext>
                </a:extLst>
              </a:tr>
              <a:tr h="945192">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a:t>
                      </a:r>
                    </a:p>
                    <a:p>
                      <a:pPr marL="64135" marR="3811270">
                        <a:spcBef>
                          <a:spcPts val="5"/>
                        </a:spcBef>
                        <a:spcAft>
                          <a:spcPts val="0"/>
                        </a:spcAft>
                      </a:pP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Arbejdstilsynet</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Maersk</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p>
                    <a:p>
                      <a:pPr marL="64135" marR="0">
                        <a:lnSpc>
                          <a:spcPts val="1335"/>
                        </a:lnSpc>
                        <a:spcBef>
                          <a:spcPts val="0"/>
                        </a:spcBef>
                        <a:spcAft>
                          <a:spcPts val="0"/>
                        </a:spcAft>
                      </a:pPr>
                      <a:r>
                        <a:rPr lang="en-US" sz="1100" dirty="0" err="1">
                          <a:effectLst/>
                          <a:latin typeface="Calibri" panose="020F0502020204030204" pitchFamily="34" charset="0"/>
                          <a:ea typeface="Calibri" panose="020F0502020204030204" pitchFamily="34" charset="0"/>
                          <a:cs typeface="Times New Roman" panose="02020603050405020304" pitchFamily="18" charset="0"/>
                        </a:rPr>
                        <a:t>Munck</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1255307"/>
                  </a:ext>
                </a:extLst>
              </a:tr>
              <a:tr h="153927">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29195987"/>
                  </a:ext>
                </a:extLst>
              </a:tr>
              <a:tr h="734423">
                <a:tc vMerge="1">
                  <a:txBody>
                    <a:bodyPr/>
                    <a:lstStyle/>
                    <a:p>
                      <a:endParaRPr lang="en-US"/>
                    </a:p>
                  </a:txBody>
                  <a:tcPr/>
                </a:tc>
                <a:tc>
                  <a:txBody>
                    <a:bodyPr/>
                    <a:lstStyle/>
                    <a:p>
                      <a:pPr marL="64135" marR="0">
                        <a:lnSpc>
                          <a:spcPts val="1340"/>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SGS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4112895">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NORD</a:t>
                      </a:r>
                    </a:p>
                    <a:p>
                      <a:pPr marL="64135" marR="0">
                        <a:spcBef>
                          <a:spcPts val="0"/>
                        </a:spcBef>
                        <a:spcAft>
                          <a:spcPts val="0"/>
                        </a:spcAft>
                      </a:pP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Arbejdstilsynet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53868764"/>
                  </a:ext>
                </a:extLst>
              </a:tr>
              <a:tr h="154430">
                <a:tc vMerge="1">
                  <a:txBody>
                    <a:bodyPr/>
                    <a:lstStyle/>
                    <a:p>
                      <a:endParaRPr lang="en-US"/>
                    </a:p>
                  </a:txBody>
                  <a:tcPr/>
                </a:tc>
                <a:tc>
                  <a:txBody>
                    <a:bodyPr/>
                    <a:lstStyle/>
                    <a:p>
                      <a:pPr marL="64135" marR="0">
                        <a:lnSpc>
                          <a:spcPts val="1010"/>
                        </a:lnSpc>
                        <a:spcBef>
                          <a:spcPts val="425"/>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7042759"/>
                  </a:ext>
                </a:extLst>
              </a:tr>
            </a:tbl>
          </a:graphicData>
        </a:graphic>
      </p:graphicFrame>
      <p:pic>
        <p:nvPicPr>
          <p:cNvPr id="74754" name="Image 108">
            <a:extLst>
              <a:ext uri="{FF2B5EF4-FFF2-40B4-BE49-F238E27FC236}">
                <a16:creationId xmlns:a16="http://schemas.microsoft.com/office/drawing/2014/main" id="{790C7AF0-ECD6-5864-C40E-C94F7EEA2E5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506" y="31908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1865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81</a:t>
            </a:fld>
            <a:endParaRPr lang="en-US" dirty="0"/>
          </a:p>
        </p:txBody>
      </p:sp>
      <p:graphicFrame>
        <p:nvGraphicFramePr>
          <p:cNvPr id="5" name="Table 4">
            <a:extLst>
              <a:ext uri="{FF2B5EF4-FFF2-40B4-BE49-F238E27FC236}">
                <a16:creationId xmlns:a16="http://schemas.microsoft.com/office/drawing/2014/main" id="{FC5AD8CF-1E19-2F1E-5E85-D34DAF9652EE}"/>
              </a:ext>
            </a:extLst>
          </p:cNvPr>
          <p:cNvGraphicFramePr>
            <a:graphicFrameLocks noGrp="1"/>
          </p:cNvGraphicFramePr>
          <p:nvPr>
            <p:extLst>
              <p:ext uri="{D42A27DB-BD31-4B8C-83A1-F6EECF244321}">
                <p14:modId xmlns:p14="http://schemas.microsoft.com/office/powerpoint/2010/main" val="45463946"/>
              </p:ext>
            </p:extLst>
          </p:nvPr>
        </p:nvGraphicFramePr>
        <p:xfrm>
          <a:off x="419100" y="1088310"/>
          <a:ext cx="11430000" cy="4912201"/>
        </p:xfrm>
        <a:graphic>
          <a:graphicData uri="http://schemas.openxmlformats.org/drawingml/2006/table">
            <a:tbl>
              <a:tblPr firstRow="1" firstCol="1" lastRow="1" lastCol="1" bandRow="1" bandCol="1"/>
              <a:tblGrid>
                <a:gridCol w="2037229">
                  <a:extLst>
                    <a:ext uri="{9D8B030D-6E8A-4147-A177-3AD203B41FA5}">
                      <a16:colId xmlns:a16="http://schemas.microsoft.com/office/drawing/2014/main" val="3964765134"/>
                    </a:ext>
                  </a:extLst>
                </a:gridCol>
                <a:gridCol w="9392771">
                  <a:extLst>
                    <a:ext uri="{9D8B030D-6E8A-4147-A177-3AD203B41FA5}">
                      <a16:colId xmlns:a16="http://schemas.microsoft.com/office/drawing/2014/main" val="1855214283"/>
                    </a:ext>
                  </a:extLst>
                </a:gridCol>
              </a:tblGrid>
              <a:tr h="542406">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Sweden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431355"/>
                  </a:ext>
                </a:extLst>
              </a:tr>
              <a:tr h="14296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8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8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8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8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8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8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42383757"/>
                  </a:ext>
                </a:extLst>
              </a:tr>
              <a:tr h="50082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067050">
                        <a:lnSpc>
                          <a:spcPct val="98000"/>
                        </a:lnSpc>
                        <a:spcBef>
                          <a:spcPts val="1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Sweden</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AB TUV SUD</a:t>
                      </a: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4032617"/>
                  </a:ext>
                </a:extLst>
              </a:tr>
              <a:tr h="142960">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161762352"/>
                  </a:ext>
                </a:extLst>
              </a:tr>
              <a:tr h="633555">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TUV SUD</a:t>
                      </a:r>
                    </a:p>
                    <a:p>
                      <a:pPr marL="64135" marR="3888740">
                        <a:lnSpc>
                          <a:spcPts val="1350"/>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Certex Byggsäkerhet </a:t>
                      </a: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8004524"/>
                  </a:ext>
                </a:extLst>
              </a:tr>
              <a:tr h="14062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7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98166323"/>
                  </a:ext>
                </a:extLst>
              </a:tr>
              <a:tr h="1004455">
                <a:tc vMerge="1">
                  <a:txBody>
                    <a:bodyPr/>
                    <a:lstStyle/>
                    <a:p>
                      <a:endParaRPr lang="en-US"/>
                    </a:p>
                  </a:txBody>
                  <a:tcPr/>
                </a:tc>
                <a:tc>
                  <a:txBody>
                    <a:bodyPr/>
                    <a:lstStyle/>
                    <a:p>
                      <a:pPr marL="64135" marR="411543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 TUV SUD </a:t>
                      </a:r>
                      <a:r>
                        <a:rPr lang="en-US" sz="1100" spc="-20">
                          <a:effectLst/>
                          <a:latin typeface="Calibri" panose="020F0502020204030204" pitchFamily="34" charset="0"/>
                          <a:ea typeface="Calibri" panose="020F0502020204030204" pitchFamily="34" charset="0"/>
                          <a:cs typeface="Times New Roman" panose="02020603050405020304" pitchFamily="18" charset="0"/>
                        </a:rPr>
                        <a:t>GWO</a:t>
                      </a:r>
                      <a:r>
                        <a:rPr lang="en-US" sz="1100" spc="40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MWI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2797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Sweden</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AB </a:t>
                      </a:r>
                      <a:r>
                        <a:rPr lang="en-US" sz="1100" spc="-10">
                          <a:effectLst/>
                          <a:latin typeface="Calibri" panose="020F0502020204030204" pitchFamily="34" charset="0"/>
                          <a:ea typeface="Calibri" panose="020F0502020204030204" pitchFamily="34" charset="0"/>
                          <a:cs typeface="Times New Roman" panose="02020603050405020304" pitchFamily="18" charset="0"/>
                        </a:rPr>
                        <a:t>Byggsäkerhet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spc="-25">
                          <a:effectLst/>
                          <a:latin typeface="Calibri" panose="020F0502020204030204" pitchFamily="34" charset="0"/>
                          <a:ea typeface="Calibri" panose="020F0502020204030204" pitchFamily="34" charset="0"/>
                          <a:cs typeface="Times New Roman" panose="02020603050405020304" pitchFamily="18" charset="0"/>
                        </a:rPr>
                        <a:t>JFK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9816987"/>
                  </a:ext>
                </a:extLst>
              </a:tr>
              <a:tr h="14202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0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801877419"/>
                  </a:ext>
                </a:extLst>
              </a:tr>
              <a:tr h="753108">
                <a:tc vMerge="1">
                  <a:txBody>
                    <a:bodyPr/>
                    <a:lstStyle/>
                    <a:p>
                      <a:endParaRPr lang="en-US"/>
                    </a:p>
                  </a:txBody>
                  <a:tcPr/>
                </a:tc>
                <a:tc>
                  <a:txBody>
                    <a:bodyPr/>
                    <a:lstStyle/>
                    <a:p>
                      <a:pPr marL="64135" marR="411289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 SUD 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NORD</a:t>
                      </a:r>
                    </a:p>
                    <a:p>
                      <a:pPr marL="64135" marR="27971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Munck</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 Maersk Training</a:t>
                      </a: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IPAF-Nordic</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Baltic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6686494"/>
                  </a:ext>
                </a:extLst>
              </a:tr>
              <a:tr h="142960">
                <a:tc rowSpan="3">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9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5716748"/>
                  </a:ext>
                </a:extLst>
              </a:tr>
              <a:tr h="537267">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267075">
                        <a:lnSpc>
                          <a:spcPct val="98000"/>
                        </a:lnSpc>
                        <a:spcBef>
                          <a:spcPts val="1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IPAF-Nordic</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and</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Baltic TUV NORD</a:t>
                      </a:r>
                    </a:p>
                    <a:p>
                      <a:pPr marL="64135" marR="0">
                        <a:spcBef>
                          <a:spcPts val="1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558860116"/>
                  </a:ext>
                </a:extLst>
              </a:tr>
              <a:tr h="123805">
                <a:tc vMerge="1">
                  <a:txBody>
                    <a:bodyPr/>
                    <a:lstStyle/>
                    <a:p>
                      <a:endParaRPr lang="en-US"/>
                    </a:p>
                  </a:txBody>
                  <a:tcPr/>
                </a:tc>
                <a:tc>
                  <a:txBody>
                    <a:bodyPr/>
                    <a:lstStyle/>
                    <a:p>
                      <a:pPr marL="64135" marR="0">
                        <a:lnSpc>
                          <a:spcPts val="995"/>
                        </a:lnSpc>
                        <a:spcBef>
                          <a:spcPts val="23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7294697"/>
                  </a:ext>
                </a:extLst>
              </a:tr>
            </a:tbl>
          </a:graphicData>
        </a:graphic>
      </p:graphicFrame>
      <p:pic>
        <p:nvPicPr>
          <p:cNvPr id="73730" name="Image 109">
            <a:extLst>
              <a:ext uri="{FF2B5EF4-FFF2-40B4-BE49-F238E27FC236}">
                <a16:creationId xmlns:a16="http://schemas.microsoft.com/office/drawing/2014/main" id="{D3B81CE9-F9C3-6FEA-0AC5-A8A14C7C84E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26867"/>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1475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82</a:t>
            </a:fld>
            <a:endParaRPr lang="en-US" dirty="0"/>
          </a:p>
        </p:txBody>
      </p:sp>
      <p:graphicFrame>
        <p:nvGraphicFramePr>
          <p:cNvPr id="5" name="Table 4">
            <a:extLst>
              <a:ext uri="{FF2B5EF4-FFF2-40B4-BE49-F238E27FC236}">
                <a16:creationId xmlns:a16="http://schemas.microsoft.com/office/drawing/2014/main" id="{99298D2E-6111-1B66-0ACC-ADA5E82956D1}"/>
              </a:ext>
            </a:extLst>
          </p:cNvPr>
          <p:cNvGraphicFramePr>
            <a:graphicFrameLocks noGrp="1"/>
          </p:cNvGraphicFramePr>
          <p:nvPr>
            <p:extLst>
              <p:ext uri="{D42A27DB-BD31-4B8C-83A1-F6EECF244321}">
                <p14:modId xmlns:p14="http://schemas.microsoft.com/office/powerpoint/2010/main" val="1047008575"/>
              </p:ext>
            </p:extLst>
          </p:nvPr>
        </p:nvGraphicFramePr>
        <p:xfrm>
          <a:off x="419100" y="1025525"/>
          <a:ext cx="11430000" cy="4806949"/>
        </p:xfrm>
        <a:graphic>
          <a:graphicData uri="http://schemas.openxmlformats.org/drawingml/2006/table">
            <a:tbl>
              <a:tblPr firstRow="1" firstCol="1" lastRow="1" lastCol="1" bandRow="1" bandCol="1"/>
              <a:tblGrid>
                <a:gridCol w="2037229">
                  <a:extLst>
                    <a:ext uri="{9D8B030D-6E8A-4147-A177-3AD203B41FA5}">
                      <a16:colId xmlns:a16="http://schemas.microsoft.com/office/drawing/2014/main" val="1009996063"/>
                    </a:ext>
                  </a:extLst>
                </a:gridCol>
                <a:gridCol w="9392771">
                  <a:extLst>
                    <a:ext uri="{9D8B030D-6E8A-4147-A177-3AD203B41FA5}">
                      <a16:colId xmlns:a16="http://schemas.microsoft.com/office/drawing/2014/main" val="2260122291"/>
                    </a:ext>
                  </a:extLst>
                </a:gridCol>
              </a:tblGrid>
              <a:tr h="679599">
                <a:tc>
                  <a:txBody>
                    <a:bodyPr/>
                    <a:lstStyle/>
                    <a:p>
                      <a:pPr marL="67945" marR="0">
                        <a:spcBef>
                          <a:spcPts val="1680"/>
                        </a:spcBef>
                        <a:spcAft>
                          <a:spcPts val="0"/>
                        </a:spcAft>
                      </a:pPr>
                      <a:r>
                        <a:rPr lang="en-US" sz="1800" b="1" spc="-10" dirty="0">
                          <a:effectLst/>
                          <a:latin typeface="Calibri" panose="020F0502020204030204" pitchFamily="34" charset="0"/>
                          <a:ea typeface="Calibri" panose="020F0502020204030204" pitchFamily="34" charset="0"/>
                          <a:cs typeface="Times New Roman" panose="02020603050405020304" pitchFamily="18" charset="0"/>
                        </a:rPr>
                        <a:t>Finland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20544"/>
                  </a:ext>
                </a:extLst>
              </a:tr>
              <a:tr h="179119">
                <a:tc rowSpan="2">
                  <a:txBody>
                    <a:bodyPr/>
                    <a:lstStyle/>
                    <a:p>
                      <a:pPr marL="0" marR="0">
                        <a:spcBef>
                          <a:spcPts val="78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0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56463092"/>
                  </a:ext>
                </a:extLst>
              </a:tr>
              <a:tr h="470041">
                <a:tc vMerge="1">
                  <a:txBody>
                    <a:bodyPr/>
                    <a:lstStyle/>
                    <a:p>
                      <a:endParaRPr lang="en-US"/>
                    </a:p>
                  </a:txBody>
                  <a:tcPr/>
                </a:tc>
                <a:tc>
                  <a:txBody>
                    <a:bodyPr/>
                    <a:lstStyle/>
                    <a:p>
                      <a:pPr marL="64135" marR="349758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TÜV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Nord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Finland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Oy TUV SUD</a:t>
                      </a:r>
                    </a:p>
                    <a:p>
                      <a:pPr marL="64135" marR="0">
                        <a:lnSpc>
                          <a:spcPts val="123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Veritas</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Finland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532951"/>
                  </a:ext>
                </a:extLst>
              </a:tr>
              <a:tr h="179119">
                <a:tc rowSpan="2">
                  <a:txBody>
                    <a:bodyPr/>
                    <a:lstStyle/>
                    <a:p>
                      <a:pPr marL="0" marR="0">
                        <a:spcBef>
                          <a:spcPts val="78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756071014"/>
                  </a:ext>
                </a:extLst>
              </a:tr>
              <a:tr h="471798">
                <a:tc vMerge="1">
                  <a:txBody>
                    <a:bodyPr/>
                    <a:lstStyle/>
                    <a:p>
                      <a:endParaRPr lang="en-US"/>
                    </a:p>
                  </a:txBody>
                  <a:tcPr/>
                </a:tc>
                <a:tc>
                  <a:txBody>
                    <a:bodyPr/>
                    <a:lstStyle/>
                    <a:p>
                      <a:pPr marL="64135" marR="4112895">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TUV SUD TUV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NORD</a:t>
                      </a:r>
                    </a:p>
                    <a:p>
                      <a:pPr marL="64135" marR="0">
                        <a:lnSpc>
                          <a:spcPts val="124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Veritas</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Finland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4972144"/>
                  </a:ext>
                </a:extLst>
              </a:tr>
              <a:tr h="179119">
                <a:tc rowSpan="2">
                  <a:txBody>
                    <a:bodyPr/>
                    <a:lstStyle/>
                    <a:p>
                      <a:pPr marL="0" marR="0">
                        <a:spcBef>
                          <a:spcPts val="78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671039915"/>
                  </a:ext>
                </a:extLst>
              </a:tr>
              <a:tr h="471798">
                <a:tc vMerge="1">
                  <a:txBody>
                    <a:bodyPr/>
                    <a:lstStyle/>
                    <a:p>
                      <a:endParaRPr lang="en-US"/>
                    </a:p>
                  </a:txBody>
                  <a:tcPr/>
                </a:tc>
                <a:tc>
                  <a:txBody>
                    <a:bodyPr/>
                    <a:lstStyle/>
                    <a:p>
                      <a:pPr marL="64135" marR="349758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TÜV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Nord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Finland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Oy TUV SUD</a:t>
                      </a:r>
                    </a:p>
                    <a:p>
                      <a:pPr marL="64135" marR="0">
                        <a:lnSpc>
                          <a:spcPts val="124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Veritas</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Finland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1947071"/>
                  </a:ext>
                </a:extLst>
              </a:tr>
              <a:tr h="177948">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7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2223855186"/>
                  </a:ext>
                </a:extLst>
              </a:tr>
              <a:tr h="786134">
                <a:tc vMerge="1">
                  <a:txBody>
                    <a:bodyPr/>
                    <a:lstStyle/>
                    <a:p>
                      <a:endParaRPr lang="en-US"/>
                    </a:p>
                  </a:txBody>
                  <a:tcPr/>
                </a:tc>
                <a:tc>
                  <a:txBody>
                    <a:bodyPr/>
                    <a:lstStyle/>
                    <a:p>
                      <a:pPr marL="64135" marR="0">
                        <a:lnSpc>
                          <a:spcPts val="134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SGS</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Finland</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spc="-25">
                          <a:effectLst/>
                          <a:latin typeface="Calibri" panose="020F0502020204030204" pitchFamily="34" charset="0"/>
                          <a:ea typeface="Calibri" panose="020F0502020204030204" pitchFamily="34" charset="0"/>
                          <a:cs typeface="Times New Roman" panose="02020603050405020304" pitchFamily="18" charset="0"/>
                        </a:rPr>
                        <a:t>Oy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349758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TÜV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Nord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Finland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Oy TUV SUD</a:t>
                      </a:r>
                    </a:p>
                    <a:p>
                      <a:pPr marL="64135" marR="0">
                        <a:spcBef>
                          <a:spcPts val="0"/>
                        </a:spcBef>
                        <a:spcAft>
                          <a:spcPts val="0"/>
                        </a:spcAft>
                      </a:pPr>
                      <a:r>
                        <a:rPr lang="en-US" sz="1000" spc="-10">
                          <a:effectLst/>
                          <a:latin typeface="Calibri" panose="020F0502020204030204" pitchFamily="34" charset="0"/>
                          <a:ea typeface="Calibri" panose="020F0502020204030204" pitchFamily="34" charset="0"/>
                          <a:cs typeface="Times New Roman" panose="02020603050405020304" pitchFamily="18" charset="0"/>
                        </a:rPr>
                        <a:t>KOTKA</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EUROPEAN</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OPERATOR</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LICENSE</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226329"/>
                  </a:ext>
                </a:extLst>
              </a:tr>
              <a:tr h="177948">
                <a:tc rowSpan="3">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83591574"/>
                  </a:ext>
                </a:extLst>
              </a:tr>
              <a:tr h="855792">
                <a:tc vMerge="1">
                  <a:txBody>
                    <a:bodyPr/>
                    <a:lstStyle/>
                    <a:p>
                      <a:endParaRPr lang="en-US"/>
                    </a:p>
                  </a:txBody>
                  <a:tcPr/>
                </a:tc>
                <a:tc>
                  <a:txBody>
                    <a:bodyPr/>
                    <a:lstStyle/>
                    <a:p>
                      <a:pPr marL="64135" marR="0">
                        <a:lnSpc>
                          <a:spcPts val="1335"/>
                        </a:lnSpc>
                        <a:spcBef>
                          <a:spcPts val="5"/>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SGS</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Finland</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spc="-25">
                          <a:effectLst/>
                          <a:latin typeface="Calibri" panose="020F0502020204030204" pitchFamily="34" charset="0"/>
                          <a:ea typeface="Calibri" panose="020F0502020204030204" pitchFamily="34" charset="0"/>
                          <a:cs typeface="Times New Roman" panose="02020603050405020304" pitchFamily="18" charset="0"/>
                        </a:rPr>
                        <a:t>Oy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349758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TÜV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Nord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Finland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Oy TUV SUD</a:t>
                      </a:r>
                    </a:p>
                    <a:p>
                      <a:pPr marL="64135" marR="0">
                        <a:spcBef>
                          <a:spcPts val="0"/>
                        </a:spcBef>
                        <a:spcAft>
                          <a:spcPts val="0"/>
                        </a:spcAft>
                      </a:pPr>
                      <a:r>
                        <a:rPr lang="en-US" sz="1000" spc="-10">
                          <a:effectLst/>
                          <a:latin typeface="Calibri" panose="020F0502020204030204" pitchFamily="34" charset="0"/>
                          <a:ea typeface="Calibri" panose="020F0502020204030204" pitchFamily="34" charset="0"/>
                          <a:cs typeface="Times New Roman" panose="02020603050405020304" pitchFamily="18" charset="0"/>
                        </a:rPr>
                        <a:t>KOTKA</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EUROPEAN</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OPERATOR</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LICENSE</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41854064"/>
                  </a:ext>
                </a:extLst>
              </a:tr>
              <a:tr h="178534">
                <a:tc vMerge="1">
                  <a:txBody>
                    <a:bodyPr/>
                    <a:lstStyle/>
                    <a:p>
                      <a:endParaRPr lang="en-US"/>
                    </a:p>
                  </a:txBody>
                  <a:tcPr/>
                </a:tc>
                <a:tc>
                  <a:txBody>
                    <a:bodyPr/>
                    <a:lstStyle/>
                    <a:p>
                      <a:pPr marL="64135" marR="0">
                        <a:lnSpc>
                          <a:spcPts val="995"/>
                        </a:lnSpc>
                        <a:spcBef>
                          <a:spcPts val="430"/>
                        </a:spcBef>
                        <a:spcAft>
                          <a:spcPts val="0"/>
                        </a:spcAft>
                      </a:pP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8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8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339013"/>
                  </a:ext>
                </a:extLst>
              </a:tr>
            </a:tbl>
          </a:graphicData>
        </a:graphic>
      </p:graphicFrame>
      <p:pic>
        <p:nvPicPr>
          <p:cNvPr id="72706" name="Image 110">
            <a:extLst>
              <a:ext uri="{FF2B5EF4-FFF2-40B4-BE49-F238E27FC236}">
                <a16:creationId xmlns:a16="http://schemas.microsoft.com/office/drawing/2014/main" id="{E8F69135-51C4-4372-64DA-DA5CE5DDEFB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82902"/>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3302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83</a:t>
            </a:fld>
            <a:endParaRPr lang="en-US" dirty="0"/>
          </a:p>
        </p:txBody>
      </p:sp>
      <p:graphicFrame>
        <p:nvGraphicFramePr>
          <p:cNvPr id="5" name="Table 4">
            <a:extLst>
              <a:ext uri="{FF2B5EF4-FFF2-40B4-BE49-F238E27FC236}">
                <a16:creationId xmlns:a16="http://schemas.microsoft.com/office/drawing/2014/main" id="{49CBCD57-E30C-D741-54CC-B44D9632BFDF}"/>
              </a:ext>
            </a:extLst>
          </p:cNvPr>
          <p:cNvGraphicFramePr>
            <a:graphicFrameLocks noGrp="1"/>
          </p:cNvGraphicFramePr>
          <p:nvPr>
            <p:extLst>
              <p:ext uri="{D42A27DB-BD31-4B8C-83A1-F6EECF244321}">
                <p14:modId xmlns:p14="http://schemas.microsoft.com/office/powerpoint/2010/main" val="449685582"/>
              </p:ext>
            </p:extLst>
          </p:nvPr>
        </p:nvGraphicFramePr>
        <p:xfrm>
          <a:off x="419100" y="993398"/>
          <a:ext cx="11430000" cy="4942192"/>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1221059892"/>
                    </a:ext>
                  </a:extLst>
                </a:gridCol>
                <a:gridCol w="9410700">
                  <a:extLst>
                    <a:ext uri="{9D8B030D-6E8A-4147-A177-3AD203B41FA5}">
                      <a16:colId xmlns:a16="http://schemas.microsoft.com/office/drawing/2014/main" val="452501037"/>
                    </a:ext>
                  </a:extLst>
                </a:gridCol>
              </a:tblGrid>
              <a:tr h="58389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Netherlands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0669400"/>
                  </a:ext>
                </a:extLst>
              </a:tr>
              <a:tr h="153895">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065810869"/>
                  </a:ext>
                </a:extLst>
              </a:tr>
              <a:tr h="403848">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12hoist4u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5193982"/>
                  </a:ext>
                </a:extLst>
              </a:tr>
              <a:tr h="15389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30730620"/>
                  </a:ext>
                </a:extLst>
              </a:tr>
              <a:tr h="540644">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77310">
                        <a:lnSpc>
                          <a:spcPts val="1350"/>
                        </a:lnSpc>
                        <a:spcBef>
                          <a:spcPts val="0"/>
                        </a:spcBef>
                        <a:spcAft>
                          <a:spcPts val="0"/>
                        </a:spcAft>
                      </a:pPr>
                      <a:r>
                        <a:rPr lang="en-US" sz="1100" spc="-10">
                          <a:effectLst/>
                          <a:latin typeface="Calibri" panose="020F0502020204030204" pitchFamily="34" charset="0"/>
                          <a:ea typeface="Calibri" panose="020F0502020204030204" pitchFamily="34" charset="0"/>
                          <a:cs typeface="Times New Roman" panose="02020603050405020304" pitchFamily="18" charset="0"/>
                        </a:rPr>
                        <a:t>12hoist4u</a:t>
                      </a:r>
                      <a:r>
                        <a:rPr lang="en-US" sz="1100" spc="20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TCVT</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(20</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Days)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605689"/>
                  </a:ext>
                </a:extLst>
              </a:tr>
              <a:tr h="153392">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46286368"/>
                  </a:ext>
                </a:extLst>
              </a:tr>
              <a:tr h="809708">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8874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Veritas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12hoist4u </a:t>
                      </a: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Hollcert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spc="-25" dirty="0">
                          <a:effectLst/>
                          <a:latin typeface="Calibri" panose="020F0502020204030204" pitchFamily="34" charset="0"/>
                          <a:ea typeface="Calibri" panose="020F0502020204030204" pitchFamily="34" charset="0"/>
                          <a:cs typeface="Times New Roman" panose="02020603050405020304" pitchFamily="18" charset="0"/>
                        </a:rPr>
                        <a:t>DNV</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WAGENBORG</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FOXDRILL</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838756"/>
                  </a:ext>
                </a:extLst>
              </a:tr>
              <a:tr h="153895">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78887291"/>
                  </a:ext>
                </a:extLst>
              </a:tr>
              <a:tr h="540644">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88112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Nederland </a:t>
                      </a:r>
                      <a:r>
                        <a:rPr lang="en-US" sz="1100" spc="-20">
                          <a:effectLst/>
                          <a:latin typeface="Calibri" panose="020F0502020204030204" pitchFamily="34" charset="0"/>
                          <a:ea typeface="Calibri" panose="020F0502020204030204" pitchFamily="34" charset="0"/>
                          <a:cs typeface="Times New Roman" panose="02020603050405020304" pitchFamily="18" charset="0"/>
                        </a:rPr>
                        <a:t>SOMA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7203634"/>
                  </a:ext>
                </a:extLst>
              </a:tr>
              <a:tr h="152889">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943625818"/>
                  </a:ext>
                </a:extLst>
              </a:tr>
              <a:tr h="1005848">
                <a:tc vMerge="1">
                  <a:txBody>
                    <a:bodyPr/>
                    <a:lstStyle/>
                    <a:p>
                      <a:endParaRPr lang="en-US"/>
                    </a:p>
                  </a:txBody>
                  <a:tcPr/>
                </a:tc>
                <a:tc>
                  <a:txBody>
                    <a:bodyPr/>
                    <a:lstStyle/>
                    <a:p>
                      <a:pPr marL="64135" marR="0">
                        <a:lnSpc>
                          <a:spcPts val="134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8112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Nederland </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SOMA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3888740">
                        <a:spcBef>
                          <a:spcPts val="0"/>
                        </a:spcBef>
                        <a:spcAft>
                          <a:spcPts val="0"/>
                        </a:spcAft>
                      </a:pPr>
                      <a:r>
                        <a:rPr lang="en-US" sz="1100" spc="-10" dirty="0">
                          <a:effectLst/>
                          <a:latin typeface="Calibri" panose="020F0502020204030204" pitchFamily="34" charset="0"/>
                          <a:ea typeface="Calibri" panose="020F0502020204030204" pitchFamily="34" charset="0"/>
                          <a:cs typeface="Times New Roman" panose="02020603050405020304" pitchFamily="18" charset="0"/>
                        </a:rPr>
                        <a:t>12hoist4u </a:t>
                      </a:r>
                      <a:r>
                        <a:rPr lang="en-US" sz="1100" spc="-10" dirty="0" err="1">
                          <a:effectLst/>
                          <a:latin typeface="Calibri" panose="020F0502020204030204" pitchFamily="34" charset="0"/>
                          <a:ea typeface="Calibri" panose="020F0502020204030204" pitchFamily="34" charset="0"/>
                          <a:cs typeface="Times New Roman" panose="02020603050405020304" pitchFamily="18" charset="0"/>
                        </a:rPr>
                        <a:t>Hollcert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5"/>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TCVT</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(20</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Days)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299719695"/>
                  </a:ext>
                </a:extLst>
              </a:tr>
              <a:tr h="154398">
                <a:tc vMerge="1">
                  <a:txBody>
                    <a:bodyPr/>
                    <a:lstStyle/>
                    <a:p>
                      <a:endParaRPr lang="en-US"/>
                    </a:p>
                  </a:txBody>
                  <a:tcPr/>
                </a:tc>
                <a:tc>
                  <a:txBody>
                    <a:bodyPr/>
                    <a:lstStyle/>
                    <a:p>
                      <a:pPr marL="64135" marR="0">
                        <a:lnSpc>
                          <a:spcPts val="995"/>
                        </a:lnSpc>
                        <a:spcBef>
                          <a:spcPts val="44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1624586"/>
                  </a:ext>
                </a:extLst>
              </a:tr>
            </a:tbl>
          </a:graphicData>
        </a:graphic>
      </p:graphicFrame>
      <p:pic>
        <p:nvPicPr>
          <p:cNvPr id="71682" name="Image 111">
            <a:extLst>
              <a:ext uri="{FF2B5EF4-FFF2-40B4-BE49-F238E27FC236}">
                <a16:creationId xmlns:a16="http://schemas.microsoft.com/office/drawing/2014/main" id="{E02B41C7-63A0-1CE5-C884-F0B1A4662DC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74556"/>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213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84</a:t>
            </a:fld>
            <a:endParaRPr lang="en-US" dirty="0"/>
          </a:p>
        </p:txBody>
      </p:sp>
      <p:graphicFrame>
        <p:nvGraphicFramePr>
          <p:cNvPr id="5" name="Table 4">
            <a:extLst>
              <a:ext uri="{FF2B5EF4-FFF2-40B4-BE49-F238E27FC236}">
                <a16:creationId xmlns:a16="http://schemas.microsoft.com/office/drawing/2014/main" id="{BED604B4-2DC9-C7F6-0A44-49759096D8D9}"/>
              </a:ext>
            </a:extLst>
          </p:cNvPr>
          <p:cNvGraphicFramePr>
            <a:graphicFrameLocks noGrp="1"/>
          </p:cNvGraphicFramePr>
          <p:nvPr>
            <p:extLst>
              <p:ext uri="{D42A27DB-BD31-4B8C-83A1-F6EECF244321}">
                <p14:modId xmlns:p14="http://schemas.microsoft.com/office/powerpoint/2010/main" val="284181736"/>
              </p:ext>
            </p:extLst>
          </p:nvPr>
        </p:nvGraphicFramePr>
        <p:xfrm>
          <a:off x="419100" y="984866"/>
          <a:ext cx="11430000" cy="4191635"/>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337056871"/>
                    </a:ext>
                  </a:extLst>
                </a:gridCol>
                <a:gridCol w="9401735">
                  <a:extLst>
                    <a:ext uri="{9D8B030D-6E8A-4147-A177-3AD203B41FA5}">
                      <a16:colId xmlns:a16="http://schemas.microsoft.com/office/drawing/2014/main" val="1068518483"/>
                    </a:ext>
                  </a:extLst>
                </a:gridCol>
              </a:tblGrid>
              <a:tr h="737235">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Israel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5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1565587"/>
                  </a:ext>
                </a:extLst>
              </a:tr>
              <a:tr h="194310">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069679181"/>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2297606"/>
                  </a:ext>
                </a:extLst>
              </a:tr>
              <a:tr h="193040">
                <a:tc rowSpan="2">
                  <a:txBody>
                    <a:bodyPr/>
                    <a:lstStyle/>
                    <a:p>
                      <a:pPr marL="0" marR="0">
                        <a:spcBef>
                          <a:spcPts val="10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8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583463891"/>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4567927"/>
                  </a:ext>
                </a:extLst>
              </a:tr>
              <a:tr h="194945">
                <a:tc rowSpan="2">
                  <a:txBody>
                    <a:bodyPr/>
                    <a:lstStyle/>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5"/>
                        </a:spcBef>
                        <a:spcAft>
                          <a:spcPts val="0"/>
                        </a:spcAft>
                      </a:pP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5"/>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52863351"/>
                  </a:ext>
                </a:extLst>
              </a:tr>
              <a:tr h="34099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6976733"/>
                  </a:ext>
                </a:extLst>
              </a:tr>
              <a:tr h="193040">
                <a:tc rowSpan="2">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27690967"/>
                  </a:ext>
                </a:extLst>
              </a:tr>
              <a:tr h="681990">
                <a:tc vMerge="1">
                  <a:txBody>
                    <a:bodyPr/>
                    <a:lstStyle/>
                    <a:p>
                      <a:endParaRPr lang="en-US"/>
                    </a:p>
                  </a:txBody>
                  <a:tcPr/>
                </a:tc>
                <a:tc>
                  <a:txBody>
                    <a:bodyPr/>
                    <a:lstStyle/>
                    <a:p>
                      <a:pPr marL="64135" marR="4217670">
                        <a:lnSpc>
                          <a:spcPct val="98000"/>
                        </a:lnSpc>
                        <a:spcBef>
                          <a:spcPts val="1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 </a:t>
                      </a:r>
                      <a:r>
                        <a:rPr lang="en-US" sz="1100" spc="-20">
                          <a:effectLst/>
                          <a:latin typeface="Calibri" panose="020F0502020204030204" pitchFamily="34" charset="0"/>
                          <a:ea typeface="Calibri" panose="020F0502020204030204" pitchFamily="34" charset="0"/>
                          <a:cs typeface="Times New Roman" panose="02020603050405020304" pitchFamily="18" charset="0"/>
                        </a:rPr>
                        <a:t>CICB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4439285">
                        <a:lnSpc>
                          <a:spcPts val="1350"/>
                        </a:lnSpc>
                        <a:spcBef>
                          <a:spcPts val="0"/>
                        </a:spcBef>
                        <a:spcAft>
                          <a:spcPts val="0"/>
                        </a:spcAft>
                      </a:pPr>
                      <a:r>
                        <a:rPr lang="en-US" sz="1100" spc="-20">
                          <a:effectLst/>
                          <a:latin typeface="Calibri" panose="020F0502020204030204" pitchFamily="34" charset="0"/>
                          <a:ea typeface="Calibri" panose="020F0502020204030204" pitchFamily="34" charset="0"/>
                          <a:cs typeface="Times New Roman" panose="02020603050405020304" pitchFamily="18" charset="0"/>
                        </a:rPr>
                        <a:t>SGS </a:t>
                      </a:r>
                      <a:r>
                        <a:rPr lang="en-US" sz="1100" spc="-10">
                          <a:effectLst/>
                          <a:latin typeface="Calibri" panose="020F0502020204030204" pitchFamily="34" charset="0"/>
                          <a:ea typeface="Calibri" panose="020F0502020204030204" pitchFamily="34" charset="0"/>
                          <a:cs typeface="Times New Roman" panose="02020603050405020304" pitchFamily="18" charset="0"/>
                        </a:rPr>
                        <a:t>STILL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2984775"/>
                  </a:ext>
                </a:extLst>
              </a:tr>
              <a:tr h="194310">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92144476"/>
                  </a:ext>
                </a:extLst>
              </a:tr>
              <a:tr h="585470">
                <a:tc vMerge="1">
                  <a:txBody>
                    <a:bodyPr/>
                    <a:lstStyle/>
                    <a:p>
                      <a:endParaRPr lang="en-US"/>
                    </a:p>
                  </a:txBody>
                  <a:tcPr/>
                </a:tc>
                <a:tc>
                  <a:txBody>
                    <a:bodyPr/>
                    <a:lstStyle/>
                    <a:p>
                      <a:pPr marL="64135" marR="421894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SUD </a:t>
                      </a:r>
                      <a:r>
                        <a:rPr lang="en-US" sz="1100" spc="-20">
                          <a:effectLst/>
                          <a:latin typeface="Calibri" panose="020F0502020204030204" pitchFamily="34" charset="0"/>
                          <a:ea typeface="Calibri" panose="020F0502020204030204" pitchFamily="34" charset="0"/>
                          <a:cs typeface="Times New Roman" panose="02020603050405020304" pitchFamily="18" charset="0"/>
                        </a:rPr>
                        <a:t>SGS</a:t>
                      </a:r>
                      <a:r>
                        <a:rPr lang="en-US" sz="1100" spc="20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STILL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444332942"/>
                  </a:ext>
                </a:extLst>
              </a:tr>
              <a:tr h="194310">
                <a:tc vMerge="1">
                  <a:txBody>
                    <a:bodyPr/>
                    <a:lstStyle/>
                    <a:p>
                      <a:endParaRPr lang="en-US"/>
                    </a:p>
                  </a:txBody>
                  <a:tcPr/>
                </a:tc>
                <a:tc>
                  <a:txBody>
                    <a:bodyPr/>
                    <a:lstStyle/>
                    <a:p>
                      <a:pPr marL="64135" marR="0">
                        <a:lnSpc>
                          <a:spcPts val="1010"/>
                        </a:lnSpc>
                        <a:spcBef>
                          <a:spcPts val="420"/>
                        </a:spcBef>
                        <a:spcAft>
                          <a:spcPts val="0"/>
                        </a:spcAft>
                      </a:pP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9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9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9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9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6327578"/>
                  </a:ext>
                </a:extLst>
              </a:tr>
            </a:tbl>
          </a:graphicData>
        </a:graphic>
      </p:graphicFrame>
      <p:pic>
        <p:nvPicPr>
          <p:cNvPr id="70658" name="Image 112">
            <a:extLst>
              <a:ext uri="{FF2B5EF4-FFF2-40B4-BE49-F238E27FC236}">
                <a16:creationId xmlns:a16="http://schemas.microsoft.com/office/drawing/2014/main" id="{A537D935-AABB-F86F-96A4-4FE76723E36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47369"/>
            <a:ext cx="6762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53211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85</a:t>
            </a:fld>
            <a:endParaRPr lang="en-US" dirty="0"/>
          </a:p>
        </p:txBody>
      </p:sp>
      <p:graphicFrame>
        <p:nvGraphicFramePr>
          <p:cNvPr id="5" name="Table 4">
            <a:extLst>
              <a:ext uri="{FF2B5EF4-FFF2-40B4-BE49-F238E27FC236}">
                <a16:creationId xmlns:a16="http://schemas.microsoft.com/office/drawing/2014/main" id="{EA870BD4-331C-F720-2E64-3DC16FFDBA5B}"/>
              </a:ext>
            </a:extLst>
          </p:cNvPr>
          <p:cNvGraphicFramePr>
            <a:graphicFrameLocks noGrp="1"/>
          </p:cNvGraphicFramePr>
          <p:nvPr>
            <p:extLst>
              <p:ext uri="{D42A27DB-BD31-4B8C-83A1-F6EECF244321}">
                <p14:modId xmlns:p14="http://schemas.microsoft.com/office/powerpoint/2010/main" val="2406431848"/>
              </p:ext>
            </p:extLst>
          </p:nvPr>
        </p:nvGraphicFramePr>
        <p:xfrm>
          <a:off x="419100" y="981044"/>
          <a:ext cx="11430000" cy="4934011"/>
        </p:xfrm>
        <a:graphic>
          <a:graphicData uri="http://schemas.openxmlformats.org/drawingml/2006/table">
            <a:tbl>
              <a:tblPr firstRow="1" firstCol="1" lastRow="1" lastCol="1" bandRow="1" bandCol="1"/>
              <a:tblGrid>
                <a:gridCol w="2062843">
                  <a:extLst>
                    <a:ext uri="{9D8B030D-6E8A-4147-A177-3AD203B41FA5}">
                      <a16:colId xmlns:a16="http://schemas.microsoft.com/office/drawing/2014/main" val="486938702"/>
                    </a:ext>
                  </a:extLst>
                </a:gridCol>
                <a:gridCol w="9367157">
                  <a:extLst>
                    <a:ext uri="{9D8B030D-6E8A-4147-A177-3AD203B41FA5}">
                      <a16:colId xmlns:a16="http://schemas.microsoft.com/office/drawing/2014/main" val="4106044239"/>
                    </a:ext>
                  </a:extLst>
                </a:gridCol>
              </a:tblGrid>
              <a:tr h="618722">
                <a:tc>
                  <a:txBody>
                    <a:bodyPr/>
                    <a:lstStyle/>
                    <a:p>
                      <a:pPr marL="67945" marR="0">
                        <a:spcBef>
                          <a:spcPts val="1680"/>
                        </a:spcBef>
                        <a:spcAft>
                          <a:spcPts val="0"/>
                        </a:spcAft>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Poland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806102"/>
                  </a:ext>
                </a:extLst>
              </a:tr>
              <a:tr h="163074">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1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9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9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703856778"/>
                  </a:ext>
                </a:extLst>
              </a:tr>
              <a:tr h="427936">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TÜV</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Polska</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Polska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9823620"/>
                  </a:ext>
                </a:extLst>
              </a:tr>
              <a:tr h="163074">
                <a:tc rowSpan="2">
                  <a:txBody>
                    <a:bodyPr/>
                    <a:lstStyle/>
                    <a:p>
                      <a:pPr marL="0" marR="0">
                        <a:spcBef>
                          <a:spcPts val="78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1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363884325"/>
                  </a:ext>
                </a:extLst>
              </a:tr>
              <a:tr h="429535">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TÜV</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Polska</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spc="-25">
                          <a:effectLst/>
                          <a:latin typeface="Calibri" panose="020F0502020204030204" pitchFamily="34" charset="0"/>
                          <a:ea typeface="Calibri" panose="020F0502020204030204" pitchFamily="34" charset="0"/>
                          <a:cs typeface="Times New Roman" panose="02020603050405020304" pitchFamily="18" charset="0"/>
                        </a:rPr>
                        <a:t>Sp.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5"/>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Polska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1261972"/>
                  </a:ext>
                </a:extLst>
              </a:tr>
              <a:tr h="16307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538588975"/>
                  </a:ext>
                </a:extLst>
              </a:tr>
              <a:tr h="571292">
                <a:tc vMerge="1">
                  <a:txBody>
                    <a:bodyPr/>
                    <a:lstStyle/>
                    <a:p>
                      <a:endParaRPr lang="en-US"/>
                    </a:p>
                  </a:txBody>
                  <a:tcPr/>
                </a:tc>
                <a:tc>
                  <a:txBody>
                    <a:bodyPr/>
                    <a:lstStyle/>
                    <a:p>
                      <a:pPr marL="64135" marR="0">
                        <a:lnSpc>
                          <a:spcPts val="134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TUV</a:t>
                      </a:r>
                      <a:r>
                        <a:rPr lang="en-US" sz="1100" spc="-10">
                          <a:effectLst/>
                          <a:latin typeface="Calibri" panose="020F0502020204030204" pitchFamily="34" charset="0"/>
                          <a:ea typeface="Calibri" panose="020F0502020204030204" pitchFamily="34" charset="0"/>
                          <a:cs typeface="Times New Roman" panose="02020603050405020304" pitchFamily="18" charset="0"/>
                        </a:rPr>
                        <a:t> </a:t>
                      </a:r>
                      <a:r>
                        <a:rPr lang="en-US" sz="11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3267075">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TÜV</a:t>
                      </a:r>
                      <a:r>
                        <a:rPr lang="en-US" sz="1100" spc="-7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Rheinland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Polska</a:t>
                      </a:r>
                      <a:r>
                        <a:rPr lang="en-US" sz="1100" spc="-5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Sp. Bureau Veritas Polska</a:t>
                      </a:r>
                    </a:p>
                    <a:p>
                      <a:pPr marL="64135" marR="0">
                        <a:lnSpc>
                          <a:spcPts val="1235"/>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Kurso</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2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Center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0589456"/>
                  </a:ext>
                </a:extLst>
              </a:tr>
              <a:tr h="163074">
                <a:tc rowSpan="2">
                  <a:txBody>
                    <a:bodyPr/>
                    <a:lstStyle/>
                    <a:p>
                      <a:pPr marL="0" marR="0">
                        <a:spcBef>
                          <a:spcPts val="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1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982064714"/>
                  </a:ext>
                </a:extLst>
              </a:tr>
              <a:tr h="715713">
                <a:tc vMerge="1">
                  <a:txBody>
                    <a:bodyPr/>
                    <a:lstStyle/>
                    <a:p>
                      <a:endParaRPr lang="en-US"/>
                    </a:p>
                  </a:txBody>
                  <a:tcPr/>
                </a:tc>
                <a:tc>
                  <a:txBody>
                    <a:bodyPr/>
                    <a:lstStyle/>
                    <a:p>
                      <a:pPr marL="64135" marR="381127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Poland</a:t>
                      </a:r>
                      <a:r>
                        <a:rPr lang="en-US" sz="1100" spc="-6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Sp. TUV NORD </a:t>
                      </a:r>
                      <a:r>
                        <a:rPr lang="en-US" sz="1100" spc="-10">
                          <a:effectLst/>
                          <a:latin typeface="Calibri" panose="020F0502020204030204" pitchFamily="34" charset="0"/>
                          <a:ea typeface="Calibri" panose="020F0502020204030204" pitchFamily="34" charset="0"/>
                          <a:cs typeface="Times New Roman" panose="02020603050405020304" pitchFamily="18" charset="0"/>
                        </a:rPr>
                        <a:t>ERGON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Kurso</a:t>
                      </a:r>
                      <a:r>
                        <a:rPr lang="en-US" sz="1100" spc="-4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Center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5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a:effectLst/>
                          <a:latin typeface="Calibri" panose="020F0502020204030204" pitchFamily="34" charset="0"/>
                          <a:ea typeface="Calibri" panose="020F0502020204030204" pitchFamily="34" charset="0"/>
                          <a:cs typeface="Times New Roman" panose="02020603050405020304" pitchFamily="18" charset="0"/>
                        </a:rPr>
                        <a:t> </a:t>
                      </a:r>
                      <a:r>
                        <a:rPr lang="en-US" sz="1100">
                          <a:effectLst/>
                          <a:latin typeface="Calibri" panose="020F0502020204030204" pitchFamily="34" charset="0"/>
                          <a:ea typeface="Calibri" panose="020F0502020204030204" pitchFamily="34" charset="0"/>
                          <a:cs typeface="Times New Roman" panose="02020603050405020304" pitchFamily="18" charset="0"/>
                        </a:rPr>
                        <a:t>–</a:t>
                      </a:r>
                      <a:r>
                        <a:rPr lang="en-US" sz="1100" spc="-30">
                          <a:effectLst/>
                          <a:latin typeface="Calibri" panose="020F0502020204030204" pitchFamily="34" charset="0"/>
                          <a:ea typeface="Calibri" panose="020F0502020204030204" pitchFamily="34" charset="0"/>
                          <a:cs typeface="Times New Roman" panose="02020603050405020304" pitchFamily="18" charset="0"/>
                        </a:rPr>
                        <a:t> </a:t>
                      </a:r>
                      <a:r>
                        <a:rPr lang="en-US" sz="11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8750544"/>
                  </a:ext>
                </a:extLst>
              </a:tr>
              <a:tr h="162008">
                <a:tc rowSpan="3">
                  <a:txBody>
                    <a:bodyPr/>
                    <a:lstStyle/>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100" b="1">
                          <a:effectLst/>
                          <a:latin typeface="Calibri" panose="020F050202020403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1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1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21492085"/>
                  </a:ext>
                </a:extLst>
              </a:tr>
              <a:tr h="1065843">
                <a:tc vMerge="1">
                  <a:txBody>
                    <a:bodyPr/>
                    <a:lstStyle/>
                    <a:p>
                      <a:endParaRPr lang="en-US"/>
                    </a:p>
                  </a:txBody>
                  <a:tcPr/>
                </a:tc>
                <a:tc>
                  <a:txBody>
                    <a:bodyPr/>
                    <a:lstStyle/>
                    <a:p>
                      <a:pPr marL="64135" marR="381127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SGS</a:t>
                      </a:r>
                      <a:r>
                        <a:rPr lang="en-US" sz="11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Poland</a:t>
                      </a:r>
                      <a:r>
                        <a:rPr lang="en-US" sz="11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Sp. TUV NORD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ERGON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err="1">
                          <a:effectLst/>
                          <a:latin typeface="Calibri" panose="020F0502020204030204" pitchFamily="34" charset="0"/>
                          <a:ea typeface="Calibri" panose="020F0502020204030204" pitchFamily="34" charset="0"/>
                          <a:cs typeface="Times New Roman" panose="02020603050405020304" pitchFamily="18" charset="0"/>
                        </a:rPr>
                        <a:t>Kurso</a:t>
                      </a:r>
                      <a:r>
                        <a:rPr lang="en-US" sz="11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Center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err="1">
                          <a:effectLst/>
                          <a:latin typeface="Calibri" panose="020F0502020204030204" pitchFamily="34" charset="0"/>
                          <a:ea typeface="Calibri" panose="020F0502020204030204" pitchFamily="34" charset="0"/>
                          <a:cs typeface="Times New Roman" panose="02020603050405020304" pitchFamily="18" charset="0"/>
                        </a:rPr>
                        <a:t>Ośrodek</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Szkolenia</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Operatorów</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25" dirty="0">
                          <a:effectLst/>
                          <a:latin typeface="Calibri" panose="020F0502020204030204" pitchFamily="34" charset="0"/>
                          <a:ea typeface="Calibri" panose="020F0502020204030204" pitchFamily="34" charset="0"/>
                          <a:cs typeface="Times New Roman" panose="02020603050405020304" pitchFamily="18" charset="0"/>
                        </a:rPr>
                        <a:t>OSO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Veritas</a:t>
                      </a:r>
                      <a:r>
                        <a:rPr lang="en-US" sz="11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Polska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EUROPEAN</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CRANE</a:t>
                      </a:r>
                      <a:r>
                        <a:rPr lang="en-US" sz="11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OPERATOR</a:t>
                      </a:r>
                      <a:r>
                        <a:rPr lang="en-US" sz="11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r>
                        <a:rPr lang="en-US" sz="11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100" spc="-10" dirty="0">
                          <a:effectLst/>
                          <a:latin typeface="Calibri" panose="020F0502020204030204" pitchFamily="34" charset="0"/>
                          <a:ea typeface="Calibri" panose="020F0502020204030204" pitchFamily="34" charset="0"/>
                          <a:cs typeface="Times New Roman" panose="02020603050405020304" pitchFamily="18" charset="0"/>
                        </a:rPr>
                        <a:t>(ECOL)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309530134"/>
                  </a:ext>
                </a:extLst>
              </a:tr>
              <a:tr h="163607">
                <a:tc vMerge="1">
                  <a:txBody>
                    <a:bodyPr/>
                    <a:lstStyle/>
                    <a:p>
                      <a:endParaRPr lang="en-US"/>
                    </a:p>
                  </a:txBody>
                  <a:tcPr/>
                </a:tc>
                <a:tc>
                  <a:txBody>
                    <a:bodyPr/>
                    <a:lstStyle/>
                    <a:p>
                      <a:pPr marL="64135" marR="0">
                        <a:lnSpc>
                          <a:spcPts val="995"/>
                        </a:lnSpc>
                        <a:spcBef>
                          <a:spcPts val="440"/>
                        </a:spcBef>
                        <a:spcAft>
                          <a:spcPts val="0"/>
                        </a:spcAft>
                      </a:pP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11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1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 regulations</a:t>
                      </a:r>
                      <a:r>
                        <a:rPr lang="en-US" sz="11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1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7950221"/>
                  </a:ext>
                </a:extLst>
              </a:tr>
            </a:tbl>
          </a:graphicData>
        </a:graphic>
      </p:graphicFrame>
      <p:pic>
        <p:nvPicPr>
          <p:cNvPr id="69634" name="Image 113">
            <a:extLst>
              <a:ext uri="{FF2B5EF4-FFF2-40B4-BE49-F238E27FC236}">
                <a16:creationId xmlns:a16="http://schemas.microsoft.com/office/drawing/2014/main" id="{3E6C679D-F7ED-8143-0E43-D242F5325E7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34950"/>
            <a:ext cx="676275" cy="638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3413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86</a:t>
            </a:fld>
            <a:endParaRPr lang="en-US" dirty="0"/>
          </a:p>
        </p:txBody>
      </p:sp>
      <p:graphicFrame>
        <p:nvGraphicFramePr>
          <p:cNvPr id="5" name="Table 4">
            <a:extLst>
              <a:ext uri="{FF2B5EF4-FFF2-40B4-BE49-F238E27FC236}">
                <a16:creationId xmlns:a16="http://schemas.microsoft.com/office/drawing/2014/main" id="{4C572CD2-AF39-2D29-A966-934DD849D7CE}"/>
              </a:ext>
            </a:extLst>
          </p:cNvPr>
          <p:cNvGraphicFramePr>
            <a:graphicFrameLocks noGrp="1"/>
          </p:cNvGraphicFramePr>
          <p:nvPr>
            <p:extLst>
              <p:ext uri="{D42A27DB-BD31-4B8C-83A1-F6EECF244321}">
                <p14:modId xmlns:p14="http://schemas.microsoft.com/office/powerpoint/2010/main" val="3292164403"/>
              </p:ext>
            </p:extLst>
          </p:nvPr>
        </p:nvGraphicFramePr>
        <p:xfrm>
          <a:off x="419100" y="1091432"/>
          <a:ext cx="11430000" cy="4806947"/>
        </p:xfrm>
        <a:graphic>
          <a:graphicData uri="http://schemas.openxmlformats.org/drawingml/2006/table">
            <a:tbl>
              <a:tblPr firstRow="1" firstCol="1" lastRow="1" lastCol="1" bandRow="1" bandCol="1"/>
              <a:tblGrid>
                <a:gridCol w="2019300">
                  <a:extLst>
                    <a:ext uri="{9D8B030D-6E8A-4147-A177-3AD203B41FA5}">
                      <a16:colId xmlns:a16="http://schemas.microsoft.com/office/drawing/2014/main" val="78606812"/>
                    </a:ext>
                  </a:extLst>
                </a:gridCol>
                <a:gridCol w="9410700">
                  <a:extLst>
                    <a:ext uri="{9D8B030D-6E8A-4147-A177-3AD203B41FA5}">
                      <a16:colId xmlns:a16="http://schemas.microsoft.com/office/drawing/2014/main" val="582203771"/>
                    </a:ext>
                  </a:extLst>
                </a:gridCol>
              </a:tblGrid>
              <a:tr h="658121">
                <a:tc>
                  <a:txBody>
                    <a:bodyPr/>
                    <a:lstStyle/>
                    <a:p>
                      <a:pPr marL="67945" marR="0">
                        <a:spcBef>
                          <a:spcPts val="1680"/>
                        </a:spcBef>
                        <a:spcAft>
                          <a:spcPts val="0"/>
                        </a:spcAft>
                      </a:pPr>
                      <a:r>
                        <a:rPr lang="en-US" sz="1800" b="1" spc="-10" dirty="0">
                          <a:effectLst/>
                          <a:latin typeface="Calibri" panose="020F0502020204030204" pitchFamily="34" charset="0"/>
                          <a:ea typeface="Calibri" panose="020F0502020204030204" pitchFamily="34" charset="0"/>
                          <a:cs typeface="Times New Roman" panose="02020603050405020304" pitchFamily="18" charset="0"/>
                        </a:rPr>
                        <a:t>Hungary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0063942"/>
                  </a:ext>
                </a:extLst>
              </a:tr>
              <a:tr h="173458">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11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1000" b="1"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4244662918"/>
                  </a:ext>
                </a:extLst>
              </a:tr>
              <a:tr h="607671">
                <a:tc vMerge="1">
                  <a:txBody>
                    <a:bodyPr/>
                    <a:lstStyle/>
                    <a:p>
                      <a:endParaRPr lang="en-US"/>
                    </a:p>
                  </a:txBody>
                  <a:tcPr/>
                </a:tc>
                <a:tc>
                  <a:txBody>
                    <a:bodyPr/>
                    <a:lstStyle/>
                    <a:p>
                      <a:pPr marL="64135" marR="3267075">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TÜV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Rheinland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InterCert TÜV SÜD Kft.</a:t>
                      </a:r>
                    </a:p>
                    <a:p>
                      <a:pPr marL="64135" marR="0">
                        <a:lnSpc>
                          <a:spcPts val="133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Magyar</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Mérnöki</a:t>
                      </a:r>
                      <a:r>
                        <a:rPr lang="en-US" sz="1000" spc="-2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Kamara</a:t>
                      </a:r>
                      <a:r>
                        <a:rPr lang="en-US" sz="1000" spc="-10">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(MMK)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4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Veritas</a:t>
                      </a:r>
                      <a:r>
                        <a:rPr lang="en-US" sz="1000" spc="-5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Magyarország</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Kft.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241341"/>
                  </a:ext>
                </a:extLst>
              </a:tr>
              <a:tr h="173458">
                <a:tc rowSpan="2">
                  <a:txBody>
                    <a:bodyPr/>
                    <a:lstStyle/>
                    <a:p>
                      <a:pPr marL="0" marR="0">
                        <a:spcBef>
                          <a:spcPts val="79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1000"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3233205126"/>
                  </a:ext>
                </a:extLst>
              </a:tr>
              <a:tr h="456887">
                <a:tc vMerge="1">
                  <a:txBody>
                    <a:bodyPr/>
                    <a:lstStyle/>
                    <a:p>
                      <a:endParaRPr lang="en-US"/>
                    </a:p>
                  </a:txBody>
                  <a:tcPr/>
                </a:tc>
                <a:tc>
                  <a:txBody>
                    <a:bodyPr/>
                    <a:lstStyle/>
                    <a:p>
                      <a:pPr marL="64135" marR="3267075">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TÜV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Rheinland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InterCert TÜV SÜD Kft.</a:t>
                      </a:r>
                    </a:p>
                    <a:p>
                      <a:pPr marL="64135" marR="0">
                        <a:lnSpc>
                          <a:spcPts val="124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Veritas</a:t>
                      </a:r>
                      <a:r>
                        <a:rPr lang="en-US" sz="1000" spc="-5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Magyarország</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Kft.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6227932"/>
                  </a:ext>
                </a:extLst>
              </a:tr>
              <a:tr h="173458">
                <a:tc rowSpan="2">
                  <a:txBody>
                    <a:bodyPr/>
                    <a:lstStyle/>
                    <a:p>
                      <a:pPr marL="0" marR="0">
                        <a:spcBef>
                          <a:spcPts val="78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957650413"/>
                  </a:ext>
                </a:extLst>
              </a:tr>
              <a:tr h="455186">
                <a:tc vMerge="1">
                  <a:txBody>
                    <a:bodyPr/>
                    <a:lstStyle/>
                    <a:p>
                      <a:endParaRPr lang="en-US"/>
                    </a:p>
                  </a:txBody>
                  <a:tcPr/>
                </a:tc>
                <a:tc>
                  <a:txBody>
                    <a:bodyPr/>
                    <a:lstStyle/>
                    <a:p>
                      <a:pPr marL="64135" marR="3267075">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TÜV</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Rheinland</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InterCert TÜV SÜD Kft.</a:t>
                      </a:r>
                    </a:p>
                    <a:p>
                      <a:pPr marL="64135" marR="0">
                        <a:lnSpc>
                          <a:spcPts val="1235"/>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Bureau</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Veritas</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Magyarország</a:t>
                      </a:r>
                      <a:r>
                        <a:rPr lang="en-US" sz="1000" spc="-40">
                          <a:effectLst/>
                          <a:latin typeface="Calibri" panose="020F0502020204030204" pitchFamily="34" charset="0"/>
                          <a:ea typeface="Calibri" panose="020F0502020204030204" pitchFamily="34" charset="0"/>
                          <a:cs typeface="Times New Roman" panose="02020603050405020304" pitchFamily="18" charset="0"/>
                        </a:rPr>
                        <a:t> </a:t>
                      </a:r>
                      <a:r>
                        <a:rPr lang="en-US" sz="1000" spc="-20">
                          <a:effectLst/>
                          <a:latin typeface="Calibri" panose="020F0502020204030204" pitchFamily="34" charset="0"/>
                          <a:ea typeface="Calibri" panose="020F0502020204030204" pitchFamily="34" charset="0"/>
                          <a:cs typeface="Times New Roman" panose="02020603050405020304" pitchFamily="18" charset="0"/>
                        </a:rPr>
                        <a:t>Kft.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8343106"/>
                  </a:ext>
                </a:extLst>
              </a:tr>
              <a:tr h="173458">
                <a:tc rowSpan="2">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10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1843619139"/>
                  </a:ext>
                </a:extLst>
              </a:tr>
              <a:tr h="761289">
                <a:tc vMerge="1">
                  <a:txBody>
                    <a:bodyPr/>
                    <a:lstStyle/>
                    <a:p>
                      <a:endParaRPr lang="en-US"/>
                    </a:p>
                  </a:txBody>
                  <a:tcPr/>
                </a:tc>
                <a:tc>
                  <a:txBody>
                    <a:bodyPr/>
                    <a:lstStyle/>
                    <a:p>
                      <a:pPr marL="64135" marR="3686175">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Sennebogen TLC SGS</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Hungária</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Kft. TÜV SÜD Kft.</a:t>
                      </a:r>
                    </a:p>
                    <a:p>
                      <a:pPr marL="64135" marR="0">
                        <a:spcBef>
                          <a:spcPts val="0"/>
                        </a:spcBef>
                        <a:spcAft>
                          <a:spcPts val="0"/>
                        </a:spcAft>
                      </a:pPr>
                      <a:r>
                        <a:rPr lang="en-US" sz="1000" spc="-20">
                          <a:effectLst/>
                          <a:latin typeface="Calibri" panose="020F0502020204030204" pitchFamily="34" charset="0"/>
                          <a:ea typeface="Calibri" panose="020F0502020204030204" pitchFamily="34" charset="0"/>
                          <a:cs typeface="Times New Roman" panose="02020603050405020304" pitchFamily="18" charset="0"/>
                        </a:rPr>
                        <a:t>OEME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250"/>
                        </a:lnSpc>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EUROPEAN</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OPERATOR</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LICENSE</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8016733"/>
                  </a:ext>
                </a:extLst>
              </a:tr>
              <a:tr h="172325">
                <a:tc rowSpan="3">
                  <a:txBody>
                    <a:bodyPr/>
                    <a:lstStyle/>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525"/>
                        </a:spcBef>
                        <a:spcAft>
                          <a:spcPts val="0"/>
                        </a:spcAft>
                      </a:pPr>
                      <a:r>
                        <a:rPr lang="en-US" sz="1000" b="1">
                          <a:effectLst/>
                          <a:latin typeface="Calibri" panose="020F0502020204030204" pitchFamily="34" charset="0"/>
                          <a:ea typeface="Calibri" panose="020F0502020204030204" pitchFamily="34" charset="0"/>
                          <a:cs typeface="Times New Roman" panose="02020603050405020304" pitchFamily="18" charset="0"/>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330"/>
                        </a:lnSpc>
                        <a:spcBef>
                          <a:spcPts val="90"/>
                        </a:spcBef>
                        <a:spcAft>
                          <a:spcPts val="0"/>
                        </a:spcAft>
                      </a:pP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10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10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0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extLst>
                  <a:ext uri="{0D108BD9-81ED-4DB2-BD59-A6C34878D82A}">
                    <a16:rowId xmlns:a16="http://schemas.microsoft.com/office/drawing/2014/main" val="611696407"/>
                  </a:ext>
                </a:extLst>
              </a:tr>
              <a:tr h="828745">
                <a:tc vMerge="1">
                  <a:txBody>
                    <a:bodyPr/>
                    <a:lstStyle/>
                    <a:p>
                      <a:endParaRPr lang="en-US"/>
                    </a:p>
                  </a:txBody>
                  <a:tcPr/>
                </a:tc>
                <a:tc>
                  <a:txBody>
                    <a:bodyPr/>
                    <a:lstStyle/>
                    <a:p>
                      <a:pPr marL="64135" marR="3686175">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Sennebogen TLC SGS</a:t>
                      </a:r>
                      <a:r>
                        <a:rPr lang="en-US" sz="1000" spc="-6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Hungária</a:t>
                      </a:r>
                      <a:r>
                        <a:rPr lang="en-US" sz="1000" spc="-6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Kft. TÜV SÜD Kft.</a:t>
                      </a:r>
                    </a:p>
                    <a:p>
                      <a:pPr marL="64135" marR="0">
                        <a:spcBef>
                          <a:spcPts val="0"/>
                        </a:spcBef>
                        <a:spcAft>
                          <a:spcPts val="0"/>
                        </a:spcAft>
                      </a:pPr>
                      <a:r>
                        <a:rPr lang="en-US" sz="1000" spc="-20">
                          <a:effectLst/>
                          <a:latin typeface="Calibri" panose="020F0502020204030204" pitchFamily="34" charset="0"/>
                          <a:ea typeface="Calibri" panose="020F0502020204030204" pitchFamily="34" charset="0"/>
                          <a:cs typeface="Times New Roman" panose="02020603050405020304" pitchFamily="18" charset="0"/>
                        </a:rPr>
                        <a:t>OEME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1000">
                          <a:effectLst/>
                          <a:latin typeface="Calibri" panose="020F0502020204030204" pitchFamily="34" charset="0"/>
                          <a:ea typeface="Calibri" panose="020F0502020204030204" pitchFamily="34" charset="0"/>
                          <a:cs typeface="Times New Roman" panose="02020603050405020304" pitchFamily="18" charset="0"/>
                        </a:rPr>
                        <a:t>EUROPEAN</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CRANE</a:t>
                      </a:r>
                      <a:r>
                        <a:rPr lang="en-US" sz="1000" spc="-3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OPERATOR</a:t>
                      </a:r>
                      <a:r>
                        <a:rPr lang="en-US" sz="1000" spc="-20">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LICENSE</a:t>
                      </a:r>
                      <a:r>
                        <a:rPr lang="en-US" sz="1000" spc="-15">
                          <a:effectLst/>
                          <a:latin typeface="Calibri" panose="020F0502020204030204" pitchFamily="34" charset="0"/>
                          <a:ea typeface="Calibri" panose="020F0502020204030204" pitchFamily="34" charset="0"/>
                          <a:cs typeface="Times New Roman" panose="02020603050405020304" pitchFamily="18" charset="0"/>
                        </a:rPr>
                        <a:t> </a:t>
                      </a:r>
                      <a:r>
                        <a:rPr lang="en-US" sz="1000">
                          <a:effectLst/>
                          <a:latin typeface="Calibri" panose="020F0502020204030204" pitchFamily="34" charset="0"/>
                          <a:ea typeface="Calibri" panose="020F0502020204030204" pitchFamily="34" charset="0"/>
                          <a:cs typeface="Times New Roman" panose="02020603050405020304" pitchFamily="18" charset="0"/>
                        </a:rPr>
                        <a:t>–</a:t>
                      </a:r>
                      <a:r>
                        <a:rPr lang="en-US" sz="1000" spc="-30">
                          <a:effectLst/>
                          <a:latin typeface="Calibri" panose="020F0502020204030204" pitchFamily="34" charset="0"/>
                          <a:ea typeface="Calibri" panose="020F0502020204030204" pitchFamily="34" charset="0"/>
                          <a:cs typeface="Times New Roman" panose="02020603050405020304" pitchFamily="18" charset="0"/>
                        </a:rPr>
                        <a:t> </a:t>
                      </a:r>
                      <a:r>
                        <a:rPr lang="en-US" sz="10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323097538"/>
                  </a:ext>
                </a:extLst>
              </a:tr>
              <a:tr h="172891">
                <a:tc vMerge="1">
                  <a:txBody>
                    <a:bodyPr/>
                    <a:lstStyle/>
                    <a:p>
                      <a:endParaRPr lang="en-US"/>
                    </a:p>
                  </a:txBody>
                  <a:tcPr/>
                </a:tc>
                <a:tc>
                  <a:txBody>
                    <a:bodyPr/>
                    <a:lstStyle/>
                    <a:p>
                      <a:pPr marL="64135" marR="0">
                        <a:lnSpc>
                          <a:spcPts val="995"/>
                        </a:lnSpc>
                        <a:spcBef>
                          <a:spcPts val="430"/>
                        </a:spcBef>
                        <a:spcAft>
                          <a:spcPts val="0"/>
                        </a:spcAft>
                      </a:pP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8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8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8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needed.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8607079"/>
                  </a:ext>
                </a:extLst>
              </a:tr>
            </a:tbl>
          </a:graphicData>
        </a:graphic>
      </p:graphicFrame>
      <p:pic>
        <p:nvPicPr>
          <p:cNvPr id="68610" name="Image 114">
            <a:extLst>
              <a:ext uri="{FF2B5EF4-FFF2-40B4-BE49-F238E27FC236}">
                <a16:creationId xmlns:a16="http://schemas.microsoft.com/office/drawing/2014/main" id="{BBE66DBE-7C86-D34A-2412-FA11CEB3927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729" y="297248"/>
            <a:ext cx="628650" cy="62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03880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87</a:t>
            </a:fld>
            <a:endParaRPr lang="en-US" dirty="0"/>
          </a:p>
        </p:txBody>
      </p:sp>
      <p:graphicFrame>
        <p:nvGraphicFramePr>
          <p:cNvPr id="9" name="Table 8">
            <a:extLst>
              <a:ext uri="{FF2B5EF4-FFF2-40B4-BE49-F238E27FC236}">
                <a16:creationId xmlns:a16="http://schemas.microsoft.com/office/drawing/2014/main" id="{6BF45111-2004-7938-F542-C42ADD8595CD}"/>
              </a:ext>
            </a:extLst>
          </p:cNvPr>
          <p:cNvGraphicFramePr>
            <a:graphicFrameLocks noGrp="1"/>
          </p:cNvGraphicFramePr>
          <p:nvPr>
            <p:extLst>
              <p:ext uri="{D42A27DB-BD31-4B8C-83A1-F6EECF244321}">
                <p14:modId xmlns:p14="http://schemas.microsoft.com/office/powerpoint/2010/main" val="2243436365"/>
              </p:ext>
            </p:extLst>
          </p:nvPr>
        </p:nvGraphicFramePr>
        <p:xfrm>
          <a:off x="419100" y="388875"/>
          <a:ext cx="11430000" cy="6062588"/>
        </p:xfrm>
        <a:graphic>
          <a:graphicData uri="http://schemas.openxmlformats.org/drawingml/2006/table">
            <a:tbl>
              <a:tblPr firstRow="1" firstCol="1" lastRow="1" lastCol="1" bandRow="1" bandCol="1"/>
              <a:tblGrid>
                <a:gridCol w="2028265">
                  <a:extLst>
                    <a:ext uri="{9D8B030D-6E8A-4147-A177-3AD203B41FA5}">
                      <a16:colId xmlns:a16="http://schemas.microsoft.com/office/drawing/2014/main" val="2269997240"/>
                    </a:ext>
                  </a:extLst>
                </a:gridCol>
                <a:gridCol w="5989877">
                  <a:extLst>
                    <a:ext uri="{9D8B030D-6E8A-4147-A177-3AD203B41FA5}">
                      <a16:colId xmlns:a16="http://schemas.microsoft.com/office/drawing/2014/main" val="913831047"/>
                    </a:ext>
                  </a:extLst>
                </a:gridCol>
                <a:gridCol w="3411858">
                  <a:extLst>
                    <a:ext uri="{9D8B030D-6E8A-4147-A177-3AD203B41FA5}">
                      <a16:colId xmlns:a16="http://schemas.microsoft.com/office/drawing/2014/main" val="667280651"/>
                    </a:ext>
                  </a:extLst>
                </a:gridCol>
              </a:tblGrid>
              <a:tr h="417949">
                <a:tc gridSpan="2">
                  <a:txBody>
                    <a:bodyPr/>
                    <a:lstStyle/>
                    <a:p>
                      <a:pPr marL="67945" marR="0">
                        <a:spcBef>
                          <a:spcPts val="168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United</a:t>
                      </a:r>
                      <a:r>
                        <a:rPr lang="en-US" sz="1200" b="1"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Kingdom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spcBef>
                          <a:spcPts val="45"/>
                        </a:spcBef>
                        <a:spcAft>
                          <a:spcPts val="0"/>
                        </a:spcAft>
                      </a:pPr>
                      <a:r>
                        <a:rPr lang="en-US" sz="200" b="1">
                          <a:effectLst/>
                          <a:latin typeface="Calibri" panose="020F0502020204030204" pitchFamily="34" charset="0"/>
                          <a:ea typeface="Calibri" panose="020F0502020204030204" pitchFamily="34" charset="0"/>
                          <a:cs typeface="Times New Roman" panose="02020603050405020304" pitchFamily="18"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5303868"/>
                  </a:ext>
                </a:extLst>
              </a:tr>
              <a:tr h="119486">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1F1F1"/>
                    </a:solidFill>
                  </a:tcPr>
                </a:tc>
                <a:tc gridSpan="2">
                  <a:txBody>
                    <a:bodyPr/>
                    <a:lstStyle/>
                    <a:p>
                      <a:pPr marL="64770" marR="0">
                        <a:spcBef>
                          <a:spcPts val="90"/>
                        </a:spcBef>
                        <a:spcAft>
                          <a:spcPts val="0"/>
                        </a:spcAft>
                      </a:pP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7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Appointed</a:t>
                      </a:r>
                      <a:r>
                        <a:rPr lang="en-US" sz="7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person</a:t>
                      </a:r>
                      <a:r>
                        <a:rPr lang="en-US" sz="7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7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lifting</a:t>
                      </a:r>
                      <a:r>
                        <a:rPr lang="en-US" sz="7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operations</a:t>
                      </a:r>
                      <a:r>
                        <a:rPr lang="en-US" sz="7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7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7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CPCS</a:t>
                      </a:r>
                      <a:r>
                        <a:rPr lang="en-US" sz="7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7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7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7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3743300562"/>
                  </a:ext>
                </a:extLst>
              </a:tr>
              <a:tr h="133770">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340"/>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CITB</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(CPCS)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67310" marR="0">
                        <a:lnSpc>
                          <a:spcPts val="1340"/>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JCD</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573354540"/>
                  </a:ext>
                </a:extLst>
              </a:tr>
              <a:tr h="10200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0"/>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Carl</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Wright</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0"/>
                        </a:lnSpc>
                        <a:spcBef>
                          <a:spcPts val="0"/>
                        </a:spcBef>
                        <a:spcAft>
                          <a:spcPts val="0"/>
                        </a:spcAft>
                      </a:pPr>
                      <a:r>
                        <a:rPr lang="en-US" sz="800" spc="-10">
                          <a:effectLst/>
                          <a:latin typeface="Calibri" panose="020F0502020204030204" pitchFamily="34" charset="0"/>
                          <a:ea typeface="Calibri" panose="020F0502020204030204" pitchFamily="34" charset="0"/>
                          <a:cs typeface="Times New Roman" panose="02020603050405020304" pitchFamily="18" charset="0"/>
                        </a:rPr>
                        <a:t>Lift-</a:t>
                      </a:r>
                      <a:r>
                        <a:rPr lang="en-US" sz="800" spc="-25">
                          <a:effectLst/>
                          <a:latin typeface="Calibri" panose="020F0502020204030204" pitchFamily="34" charset="0"/>
                          <a:ea typeface="Calibri" panose="020F0502020204030204" pitchFamily="34" charset="0"/>
                          <a:cs typeface="Times New Roman" panose="02020603050405020304" pitchFamily="18" charset="0"/>
                        </a:rPr>
                        <a:t>It</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668976272"/>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3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Carl</a:t>
                      </a:r>
                      <a:r>
                        <a:rPr lang="en-US" sz="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Stahl</a:t>
                      </a:r>
                      <a:r>
                        <a:rPr lang="en-US" sz="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35"/>
                        </a:lnSpc>
                        <a:spcBef>
                          <a:spcPts val="0"/>
                        </a:spcBef>
                        <a:spcAft>
                          <a:spcPts val="0"/>
                        </a:spcAft>
                      </a:pPr>
                      <a:r>
                        <a:rPr lang="en-US" sz="800" spc="-20">
                          <a:effectLst/>
                          <a:latin typeface="Calibri" panose="020F0502020204030204" pitchFamily="34" charset="0"/>
                          <a:ea typeface="Calibri" panose="020F0502020204030204" pitchFamily="34" charset="0"/>
                          <a:cs typeface="Times New Roman" panose="02020603050405020304" pitchFamily="18" charset="0"/>
                        </a:rPr>
                        <a:t>NETA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22383906"/>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Towne</a:t>
                      </a:r>
                      <a:r>
                        <a:rPr lang="en-US" sz="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Lifting</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&amp;</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Testing</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10">
                          <a:effectLst/>
                          <a:latin typeface="Calibri" panose="020F0502020204030204" pitchFamily="34" charset="0"/>
                          <a:ea typeface="Calibri" panose="020F0502020204030204" pitchFamily="34" charset="0"/>
                          <a:cs typeface="Times New Roman" panose="02020603050405020304" pitchFamily="18" charset="0"/>
                        </a:rPr>
                        <a:t>Mentor</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751650817"/>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Alba</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Rossendale</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Group</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spc="-25">
                          <a:effectLst/>
                          <a:latin typeface="Calibri" panose="020F0502020204030204" pitchFamily="34" charset="0"/>
                          <a:ea typeface="Calibri" panose="020F0502020204030204" pitchFamily="34" charset="0"/>
                          <a:cs typeface="Times New Roman" panose="02020603050405020304" pitchFamily="18" charset="0"/>
                        </a:rPr>
                        <a:t>Ltd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4141063"/>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ACE</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Winches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RSS</a:t>
                      </a:r>
                      <a:r>
                        <a:rPr lang="en-US" sz="800" spc="-15">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561698311"/>
                  </a:ext>
                </a:extLst>
              </a:tr>
              <a:tr h="125495">
                <a:tc>
                  <a:txBody>
                    <a:bodyPr/>
                    <a:lstStyle/>
                    <a:p>
                      <a:pPr marL="0" marR="0">
                        <a:spcBef>
                          <a:spcPts val="0"/>
                        </a:spcBef>
                        <a:spcAft>
                          <a:spcPts val="0"/>
                        </a:spcAft>
                      </a:pPr>
                      <a:r>
                        <a:rPr lang="en-US" sz="600" dirty="0">
                          <a:effectLst/>
                          <a:latin typeface="Times New Roman" panose="02020603050405020304" pitchFamily="18" charset="0"/>
                          <a:ea typeface="Calibri" panose="020F0502020204030204" pitchFamily="34" charset="0"/>
                          <a:cs typeface="Calibri" panose="020F0502020204030204" pitchFamily="34" charset="0"/>
                        </a:rPr>
                        <a:t> </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err="1">
                          <a:effectLst/>
                          <a:latin typeface="Calibri" panose="020F0502020204030204" pitchFamily="34" charset="0"/>
                          <a:ea typeface="Calibri" panose="020F0502020204030204" pitchFamily="34" charset="0"/>
                          <a:cs typeface="Times New Roman" panose="02020603050405020304" pitchFamily="18" charset="0"/>
                        </a:rPr>
                        <a:t>Certex</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20">
                          <a:effectLst/>
                          <a:latin typeface="Calibri" panose="020F0502020204030204" pitchFamily="34" charset="0"/>
                          <a:ea typeface="Calibri" panose="020F0502020204030204" pitchFamily="34" charset="0"/>
                          <a:cs typeface="Times New Roman" panose="02020603050405020304" pitchFamily="18" charset="0"/>
                        </a:rPr>
                        <a:t>SEPA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46343686"/>
                  </a:ext>
                </a:extLst>
              </a:tr>
              <a:tr h="125495">
                <a:tc>
                  <a:txBody>
                    <a:bodyPr/>
                    <a:lstStyle/>
                    <a:p>
                      <a:pPr marL="0" marR="0">
                        <a:spcBef>
                          <a:spcPts val="0"/>
                        </a:spcBef>
                        <a:spcAft>
                          <a:spcPts val="0"/>
                        </a:spcAft>
                      </a:pPr>
                      <a:r>
                        <a:rPr lang="en-US" sz="900" dirty="0">
                          <a:effectLst/>
                          <a:latin typeface="Times New Roman" panose="02020603050405020304" pitchFamily="18"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EDF</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Speedy</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35">
                          <a:effectLst/>
                          <a:latin typeface="Calibri" panose="020F0502020204030204" pitchFamily="34" charset="0"/>
                          <a:ea typeface="Calibri" panose="020F0502020204030204" pitchFamily="34" charset="0"/>
                          <a:cs typeface="Times New Roman" panose="02020603050405020304" pitchFamily="18" charset="0"/>
                        </a:rPr>
                        <a:t> </a:t>
                      </a:r>
                      <a:r>
                        <a:rPr lang="en-US" sz="800" spc="-25">
                          <a:effectLst/>
                          <a:latin typeface="Calibri" panose="020F0502020204030204" pitchFamily="34" charset="0"/>
                          <a:ea typeface="Calibri" panose="020F0502020204030204" pitchFamily="34" charset="0"/>
                          <a:cs typeface="Times New Roman" panose="02020603050405020304" pitchFamily="18" charset="0"/>
                        </a:rPr>
                        <a:t>PLC</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129464300"/>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spc="-10" dirty="0" err="1">
                          <a:effectLst/>
                          <a:latin typeface="Calibri" panose="020F0502020204030204" pitchFamily="34" charset="0"/>
                          <a:ea typeface="Calibri" panose="020F0502020204030204" pitchFamily="34" charset="0"/>
                          <a:cs typeface="Times New Roman" panose="02020603050405020304" pitchFamily="18" charset="0"/>
                        </a:rPr>
                        <a:t>Containerlift</a:t>
                      </a:r>
                      <a:r>
                        <a:rPr lang="en-US" sz="8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25">
                          <a:effectLst/>
                          <a:latin typeface="Calibri" panose="020F0502020204030204" pitchFamily="34" charset="0"/>
                          <a:ea typeface="Calibri" panose="020F0502020204030204" pitchFamily="34" charset="0"/>
                          <a:cs typeface="Times New Roman" panose="02020603050405020304" pitchFamily="18" charset="0"/>
                        </a:rPr>
                        <a:t>SWL</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52621728"/>
                  </a:ext>
                </a:extLst>
              </a:tr>
              <a:tr h="251541">
                <a:tc>
                  <a:txBody>
                    <a:bodyPr/>
                    <a:lstStyle/>
                    <a:p>
                      <a:pPr marL="67945" marR="0">
                        <a:spcBef>
                          <a:spcPts val="165"/>
                        </a:spcBef>
                        <a:spcAft>
                          <a:spcPts val="0"/>
                        </a:spcAft>
                      </a:pPr>
                      <a:r>
                        <a:rPr lang="en-US" sz="9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CAP/Lift</a:t>
                      </a:r>
                      <a:r>
                        <a:rPr lang="en-US" sz="900" b="1"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Director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Certs</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Assured</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marL="64770" marR="0">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HIRD</a:t>
                      </a:r>
                      <a:r>
                        <a:rPr lang="en-US" sz="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(CPCS</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&amp;</a:t>
                      </a:r>
                      <a:r>
                        <a:rPr lang="en-US" sz="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10">
                          <a:effectLst/>
                          <a:latin typeface="Calibri" panose="020F0502020204030204" pitchFamily="34" charset="0"/>
                          <a:ea typeface="Calibri" panose="020F0502020204030204" pitchFamily="34" charset="0"/>
                          <a:cs typeface="Times New Roman" panose="02020603050405020304" pitchFamily="18" charset="0"/>
                        </a:rPr>
                        <a:t>Tensology</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p>
                      <a:pPr marL="67310" marR="0">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Unique</a:t>
                      </a:r>
                      <a:r>
                        <a:rPr lang="en-US" sz="800" spc="-40">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754167865"/>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0"/>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Guardian</a:t>
                      </a:r>
                      <a:r>
                        <a:rPr lang="en-US" sz="800" spc="-50">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0"/>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Wolf</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Safety</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spc="-25">
                          <a:effectLst/>
                          <a:latin typeface="Calibri" panose="020F0502020204030204" pitchFamily="34" charset="0"/>
                          <a:ea typeface="Calibri" panose="020F0502020204030204" pitchFamily="34" charset="0"/>
                          <a:cs typeface="Times New Roman" panose="02020603050405020304" pitchFamily="18" charset="0"/>
                        </a:rPr>
                        <a:t>Ltd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5373902"/>
                  </a:ext>
                </a:extLst>
              </a:tr>
              <a:tr h="125495">
                <a:tc>
                  <a:txBody>
                    <a:bodyPr/>
                    <a:lstStyle/>
                    <a:p>
                      <a:pPr marL="0" marR="0">
                        <a:spcBef>
                          <a:spcPts val="0"/>
                        </a:spcBef>
                        <a:spcAft>
                          <a:spcPts val="0"/>
                        </a:spcAft>
                      </a:pPr>
                      <a:r>
                        <a:rPr lang="en-US" sz="900" dirty="0">
                          <a:effectLst/>
                          <a:latin typeface="Times New Roman" panose="02020603050405020304" pitchFamily="18"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3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GGR</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Group</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3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British</a:t>
                      </a:r>
                      <a:r>
                        <a:rPr lang="en-US" sz="800" spc="-3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safety</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spc="-20">
                          <a:effectLst/>
                          <a:latin typeface="Calibri" panose="020F0502020204030204" pitchFamily="34" charset="0"/>
                          <a:ea typeface="Calibri" panose="020F0502020204030204" pitchFamily="34" charset="0"/>
                          <a:cs typeface="Times New Roman" panose="02020603050405020304" pitchFamily="18" charset="0"/>
                        </a:rPr>
                        <a:t>(BSS)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78845574"/>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ETDL</a:t>
                      </a:r>
                      <a:r>
                        <a:rPr lang="en-US" sz="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TUV</a:t>
                      </a:r>
                      <a:r>
                        <a:rPr lang="en-US" sz="800" spc="-10">
                          <a:effectLst/>
                          <a:latin typeface="Calibri" panose="020F0502020204030204" pitchFamily="34" charset="0"/>
                          <a:ea typeface="Calibri" panose="020F0502020204030204" pitchFamily="34" charset="0"/>
                          <a:cs typeface="Times New Roman" panose="02020603050405020304" pitchFamily="18" charset="0"/>
                        </a:rPr>
                        <a:t> Rheinland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78422154"/>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Royal</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Navy</a:t>
                      </a:r>
                      <a:r>
                        <a:rPr lang="en-US" sz="800" spc="-5">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TUV</a:t>
                      </a:r>
                      <a:r>
                        <a:rPr lang="en-US" sz="800" spc="-10">
                          <a:effectLst/>
                          <a:latin typeface="Calibri" panose="020F0502020204030204" pitchFamily="34" charset="0"/>
                          <a:ea typeface="Calibri" panose="020F0502020204030204" pitchFamily="34" charset="0"/>
                          <a:cs typeface="Times New Roman" panose="02020603050405020304" pitchFamily="18" charset="0"/>
                        </a:rPr>
                        <a:t> </a:t>
                      </a:r>
                      <a:r>
                        <a:rPr lang="en-US" sz="8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588598229"/>
                  </a:ext>
                </a:extLst>
              </a:tr>
              <a:tr h="125495">
                <a:tc>
                  <a:txBody>
                    <a:bodyPr/>
                    <a:lstStyle/>
                    <a:p>
                      <a:pPr marL="0" marR="0">
                        <a:spcBef>
                          <a:spcPts val="0"/>
                        </a:spcBef>
                        <a:spcAft>
                          <a:spcPts val="0"/>
                        </a:spcAft>
                      </a:pPr>
                      <a:r>
                        <a:rPr lang="en-US" sz="900" dirty="0">
                          <a:effectLst/>
                          <a:latin typeface="Times New Roman" panose="02020603050405020304" pitchFamily="18"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JB</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and</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Lifting</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Solutions</a:t>
                      </a:r>
                      <a:r>
                        <a:rPr lang="en-US" sz="800" spc="-1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(LEEA</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&amp;</a:t>
                      </a:r>
                      <a:r>
                        <a:rPr lang="en-US" sz="800" spc="-10">
                          <a:effectLst/>
                          <a:latin typeface="Calibri" panose="020F0502020204030204" pitchFamily="34" charset="0"/>
                          <a:ea typeface="Calibri" panose="020F0502020204030204" pitchFamily="34" charset="0"/>
                          <a:cs typeface="Times New Roman" panose="02020603050405020304" pitchFamily="18" charset="0"/>
                        </a:rPr>
                        <a:t> CPCS)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TUV</a:t>
                      </a:r>
                      <a:r>
                        <a:rPr lang="en-US" sz="800" spc="-10">
                          <a:effectLst/>
                          <a:latin typeface="Calibri" panose="020F0502020204030204" pitchFamily="34" charset="0"/>
                          <a:ea typeface="Calibri" panose="020F0502020204030204" pitchFamily="34" charset="0"/>
                          <a:cs typeface="Times New Roman" panose="02020603050405020304" pitchFamily="18" charset="0"/>
                        </a:rPr>
                        <a:t> </a:t>
                      </a:r>
                      <a:r>
                        <a:rPr lang="en-US" sz="8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69259561"/>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err="1">
                          <a:effectLst/>
                          <a:latin typeface="Calibri" panose="020F0502020204030204" pitchFamily="34" charset="0"/>
                          <a:ea typeface="Calibri" panose="020F0502020204030204" pitchFamily="34" charset="0"/>
                          <a:cs typeface="Times New Roman" panose="02020603050405020304" pitchFamily="18" charset="0"/>
                        </a:rPr>
                        <a:t>Eryri</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Consulting</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Limited</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Bureau</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404533594"/>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TR</a:t>
                      </a:r>
                      <a:r>
                        <a:rPr lang="en-US" sz="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(CPCS</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NVQ</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Level</a:t>
                      </a:r>
                      <a:r>
                        <a:rPr lang="en-US" sz="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5)</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NPORS</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N401</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(Many</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Training</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716070970"/>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LLOYDS</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10">
                          <a:effectLst/>
                          <a:latin typeface="Calibri" panose="020F0502020204030204" pitchFamily="34" charset="0"/>
                          <a:ea typeface="Calibri" panose="020F0502020204030204" pitchFamily="34" charset="0"/>
                          <a:cs typeface="Times New Roman" panose="02020603050405020304" pitchFamily="18" charset="0"/>
                        </a:rPr>
                        <a:t>Providers)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77019058"/>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Northern</a:t>
                      </a:r>
                      <a:r>
                        <a:rPr lang="en-US" sz="8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Ireland</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Chamber</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of</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Commerce</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(ITS)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978124"/>
                  </a:ext>
                </a:extLst>
              </a:tr>
              <a:tr h="119151">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1F1F1"/>
                    </a:solidFill>
                  </a:tcPr>
                </a:tc>
                <a:tc gridSpan="2">
                  <a:txBody>
                    <a:bodyPr/>
                    <a:lstStyle/>
                    <a:p>
                      <a:pPr marL="64770" marR="0">
                        <a:spcBef>
                          <a:spcPts val="90"/>
                        </a:spcBef>
                        <a:spcAft>
                          <a:spcPts val="0"/>
                        </a:spcAft>
                      </a:pP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8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Crane/Lifting</a:t>
                      </a:r>
                      <a:r>
                        <a:rPr lang="en-US" sz="8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r>
                        <a:rPr lang="en-US" sz="8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(LEEA</a:t>
                      </a:r>
                      <a:r>
                        <a:rPr lang="en-US" sz="8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8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CPCS</a:t>
                      </a:r>
                      <a:r>
                        <a:rPr lang="en-US" sz="8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8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per</a:t>
                      </a:r>
                      <a:r>
                        <a:rPr lang="en-US" sz="8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BS</a:t>
                      </a:r>
                      <a:r>
                        <a:rPr lang="en-US" sz="8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7121)</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1175598475"/>
                  </a:ext>
                </a:extLst>
              </a:tr>
              <a:tr h="133770">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33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CITB</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(CPCS)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67310" marR="0">
                        <a:lnSpc>
                          <a:spcPts val="133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JCD</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04289510"/>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3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Carl</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Wright</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15">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35"/>
                        </a:lnSpc>
                        <a:spcBef>
                          <a:spcPts val="0"/>
                        </a:spcBef>
                        <a:spcAft>
                          <a:spcPts val="0"/>
                        </a:spcAft>
                      </a:pPr>
                      <a:r>
                        <a:rPr lang="en-US" sz="800" spc="-10">
                          <a:effectLst/>
                          <a:latin typeface="Calibri" panose="020F0502020204030204" pitchFamily="34" charset="0"/>
                          <a:ea typeface="Calibri" panose="020F0502020204030204" pitchFamily="34" charset="0"/>
                          <a:cs typeface="Times New Roman" panose="02020603050405020304" pitchFamily="18" charset="0"/>
                        </a:rPr>
                        <a:t>Lift-</a:t>
                      </a:r>
                      <a:r>
                        <a:rPr lang="en-US" sz="800" spc="-25">
                          <a:effectLst/>
                          <a:latin typeface="Calibri" panose="020F0502020204030204" pitchFamily="34" charset="0"/>
                          <a:ea typeface="Calibri" panose="020F0502020204030204" pitchFamily="34" charset="0"/>
                          <a:cs typeface="Times New Roman" panose="02020603050405020304" pitchFamily="18" charset="0"/>
                        </a:rPr>
                        <a:t>It</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163926987"/>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Carl</a:t>
                      </a:r>
                      <a:r>
                        <a:rPr lang="en-US" sz="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Stahl</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20">
                          <a:effectLst/>
                          <a:latin typeface="Calibri" panose="020F0502020204030204" pitchFamily="34" charset="0"/>
                          <a:ea typeface="Calibri" panose="020F0502020204030204" pitchFamily="34" charset="0"/>
                          <a:cs typeface="Times New Roman" panose="02020603050405020304" pitchFamily="18" charset="0"/>
                        </a:rPr>
                        <a:t>NETA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246121215"/>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Towne</a:t>
                      </a:r>
                      <a:r>
                        <a:rPr lang="en-US" sz="800" spc="-1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Lifting</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&amp;</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Testing</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10">
                          <a:effectLst/>
                          <a:latin typeface="Calibri" panose="020F0502020204030204" pitchFamily="34" charset="0"/>
                          <a:ea typeface="Calibri" panose="020F0502020204030204" pitchFamily="34" charset="0"/>
                          <a:cs typeface="Times New Roman" panose="02020603050405020304" pitchFamily="18" charset="0"/>
                        </a:rPr>
                        <a:t>Mentor</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158120410"/>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Alba</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Rossendale</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Group</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spc="-25">
                          <a:effectLst/>
                          <a:latin typeface="Calibri" panose="020F0502020204030204" pitchFamily="34" charset="0"/>
                          <a:ea typeface="Calibri" panose="020F0502020204030204" pitchFamily="34" charset="0"/>
                          <a:cs typeface="Times New Roman" panose="02020603050405020304" pitchFamily="18" charset="0"/>
                        </a:rPr>
                        <a:t>Ltd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78282900"/>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ACE</a:t>
                      </a:r>
                      <a:r>
                        <a:rPr lang="en-US" sz="800" spc="-10">
                          <a:effectLst/>
                          <a:latin typeface="Calibri" panose="020F0502020204030204" pitchFamily="34" charset="0"/>
                          <a:ea typeface="Calibri" panose="020F0502020204030204" pitchFamily="34" charset="0"/>
                          <a:cs typeface="Times New Roman" panose="02020603050405020304" pitchFamily="18" charset="0"/>
                        </a:rPr>
                        <a:t> Winches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RSS</a:t>
                      </a:r>
                      <a:r>
                        <a:rPr lang="en-US" sz="800" spc="-15">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79112651"/>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Certex</a:t>
                      </a:r>
                      <a:r>
                        <a:rPr lang="en-US" sz="800" spc="-10">
                          <a:effectLst/>
                          <a:latin typeface="Calibri" panose="020F0502020204030204" pitchFamily="34" charset="0"/>
                          <a:ea typeface="Calibri" panose="020F0502020204030204" pitchFamily="34" charset="0"/>
                          <a:cs typeface="Times New Roman" panose="02020603050405020304" pitchFamily="18" charset="0"/>
                        </a:rPr>
                        <a:t> (LEEA)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20">
                          <a:effectLst/>
                          <a:latin typeface="Calibri" panose="020F0502020204030204" pitchFamily="34" charset="0"/>
                          <a:ea typeface="Calibri" panose="020F0502020204030204" pitchFamily="34" charset="0"/>
                          <a:cs typeface="Times New Roman" panose="02020603050405020304" pitchFamily="18" charset="0"/>
                        </a:rPr>
                        <a:t>SEPA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56229004"/>
                  </a:ext>
                </a:extLst>
              </a:tr>
              <a:tr h="125495">
                <a:tc>
                  <a:txBody>
                    <a:bodyPr/>
                    <a:lstStyle/>
                    <a:p>
                      <a:pPr marL="0" marR="0">
                        <a:spcBef>
                          <a:spcPts val="0"/>
                        </a:spcBef>
                        <a:spcAft>
                          <a:spcPts val="0"/>
                        </a:spcAft>
                      </a:pPr>
                      <a:r>
                        <a:rPr lang="en-US" sz="9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EDF</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Speedy</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PLC</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730263028"/>
                  </a:ext>
                </a:extLst>
              </a:tr>
              <a:tr h="133770">
                <a:tc>
                  <a:txBody>
                    <a:bodyPr/>
                    <a:lstStyle/>
                    <a:p>
                      <a:pPr marL="67945" marR="0">
                        <a:lnSpc>
                          <a:spcPts val="1250"/>
                        </a:lnSpc>
                        <a:spcBef>
                          <a:spcPts val="90"/>
                        </a:spcBef>
                        <a:spcAft>
                          <a:spcPts val="0"/>
                        </a:spcAft>
                      </a:pPr>
                      <a:r>
                        <a:rPr lang="en-US" sz="9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spc="-10" dirty="0" err="1">
                          <a:effectLst/>
                          <a:latin typeface="Calibri" panose="020F0502020204030204" pitchFamily="34" charset="0"/>
                          <a:ea typeface="Calibri" panose="020F0502020204030204" pitchFamily="34" charset="0"/>
                          <a:cs typeface="Times New Roman" panose="02020603050405020304" pitchFamily="18" charset="0"/>
                        </a:rPr>
                        <a:t>Containerlift</a:t>
                      </a:r>
                      <a:r>
                        <a:rPr lang="en-US" sz="8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25">
                          <a:effectLst/>
                          <a:latin typeface="Calibri" panose="020F0502020204030204" pitchFamily="34" charset="0"/>
                          <a:ea typeface="Calibri" panose="020F0502020204030204" pitchFamily="34" charset="0"/>
                          <a:cs typeface="Times New Roman" panose="02020603050405020304" pitchFamily="18" charset="0"/>
                        </a:rPr>
                        <a:t>SWL</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730416121"/>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150"/>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Certs</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Assured</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150"/>
                        </a:lnSpc>
                        <a:spcBef>
                          <a:spcPts val="0"/>
                        </a:spcBef>
                        <a:spcAft>
                          <a:spcPts val="0"/>
                        </a:spcAft>
                      </a:pPr>
                      <a:r>
                        <a:rPr lang="en-US" sz="800" spc="-10">
                          <a:effectLst/>
                          <a:latin typeface="Calibri" panose="020F0502020204030204" pitchFamily="34" charset="0"/>
                          <a:ea typeface="Calibri" panose="020F0502020204030204" pitchFamily="34" charset="0"/>
                          <a:cs typeface="Times New Roman" panose="02020603050405020304" pitchFamily="18" charset="0"/>
                        </a:rPr>
                        <a:t>Tensology</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845280284"/>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0"/>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HIRD</a:t>
                      </a:r>
                      <a:r>
                        <a:rPr lang="en-US" sz="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(CPCS</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&amp;</a:t>
                      </a:r>
                      <a:r>
                        <a:rPr lang="en-US" sz="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0"/>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Unique</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Group</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215445981"/>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3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Guardian</a:t>
                      </a:r>
                      <a:r>
                        <a:rPr lang="en-US" sz="8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3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Wolf</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Safety</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Services</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Ltd</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86627416"/>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GGR</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Group</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(LEEA)</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TUV</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err="1">
                          <a:effectLst/>
                          <a:latin typeface="Calibri" panose="020F0502020204030204" pitchFamily="34" charset="0"/>
                          <a:ea typeface="Calibri" panose="020F0502020204030204" pitchFamily="34" charset="0"/>
                          <a:cs typeface="Times New Roman" panose="02020603050405020304" pitchFamily="18" charset="0"/>
                        </a:rPr>
                        <a:t>Rheinland</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620645344"/>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ETDL</a:t>
                      </a:r>
                      <a:r>
                        <a:rPr lang="en-US" sz="800" spc="-15">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TUV</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25" dirty="0">
                          <a:effectLst/>
                          <a:latin typeface="Calibri" panose="020F0502020204030204" pitchFamily="34" charset="0"/>
                          <a:ea typeface="Calibri" panose="020F0502020204030204" pitchFamily="34" charset="0"/>
                          <a:cs typeface="Times New Roman" panose="02020603050405020304" pitchFamily="18" charset="0"/>
                        </a:rPr>
                        <a:t>SUD</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205786036"/>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Royal</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Navy</a:t>
                      </a:r>
                      <a:r>
                        <a:rPr lang="en-US" sz="800" spc="-5">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TUV</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20" dirty="0">
                          <a:effectLst/>
                          <a:latin typeface="Calibri" panose="020F0502020204030204" pitchFamily="34" charset="0"/>
                          <a:ea typeface="Calibri" panose="020F0502020204030204" pitchFamily="34" charset="0"/>
                          <a:cs typeface="Times New Roman" panose="02020603050405020304" pitchFamily="18" charset="0"/>
                        </a:rPr>
                        <a:t>NORD</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337619628"/>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JB</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2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and</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Lifting</a:t>
                      </a:r>
                      <a:r>
                        <a:rPr lang="en-US" sz="800" spc="-1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Solutions</a:t>
                      </a:r>
                      <a:r>
                        <a:rPr lang="en-US" sz="800" spc="-1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(LEEA</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&amp;</a:t>
                      </a:r>
                      <a:r>
                        <a:rPr lang="en-US" sz="800" spc="-10">
                          <a:effectLst/>
                          <a:latin typeface="Calibri" panose="020F0502020204030204" pitchFamily="34" charset="0"/>
                          <a:ea typeface="Calibri" panose="020F0502020204030204" pitchFamily="34" charset="0"/>
                          <a:cs typeface="Times New Roman" panose="02020603050405020304" pitchFamily="18" charset="0"/>
                        </a:rPr>
                        <a:t> CPCS)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dirty="0">
                          <a:effectLst/>
                          <a:latin typeface="Calibri" panose="020F0502020204030204" pitchFamily="34" charset="0"/>
                          <a:ea typeface="Calibri" panose="020F0502020204030204" pitchFamily="34" charset="0"/>
                          <a:cs typeface="Times New Roman" panose="02020603050405020304" pitchFamily="18" charset="0"/>
                        </a:rPr>
                        <a:t>Bureau</a:t>
                      </a:r>
                      <a:r>
                        <a:rPr lang="en-US" sz="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800" spc="-10" dirty="0">
                          <a:effectLst/>
                          <a:latin typeface="Calibri" panose="020F0502020204030204" pitchFamily="34" charset="0"/>
                          <a:ea typeface="Calibri" panose="020F0502020204030204" pitchFamily="34" charset="0"/>
                          <a:cs typeface="Times New Roman" panose="02020603050405020304" pitchFamily="18" charset="0"/>
                        </a:rPr>
                        <a:t>Veritas</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81414818"/>
                  </a:ext>
                </a:extLst>
              </a:tr>
              <a:tr h="125495">
                <a:tc>
                  <a:txBody>
                    <a:bodyPr/>
                    <a:lstStyle/>
                    <a:p>
                      <a:pPr marL="0" marR="0">
                        <a:spcBef>
                          <a:spcPts val="0"/>
                        </a:spcBef>
                        <a:spcAft>
                          <a:spcPts val="0"/>
                        </a:spcAft>
                      </a:pPr>
                      <a:r>
                        <a:rPr lang="en-US" sz="6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NPORS</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N405</a:t>
                      </a:r>
                      <a:r>
                        <a:rPr lang="en-US" sz="800" spc="-2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(Many</a:t>
                      </a:r>
                      <a:r>
                        <a:rPr lang="en-US" sz="800" spc="-35">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Training</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Providers)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7310" marR="0">
                        <a:lnSpc>
                          <a:spcPts val="1245"/>
                        </a:lnSpc>
                        <a:spcBef>
                          <a:spcPts val="0"/>
                        </a:spcBef>
                        <a:spcAft>
                          <a:spcPts val="0"/>
                        </a:spcAft>
                      </a:pPr>
                      <a:r>
                        <a:rPr lang="en-US" sz="800" spc="-10" dirty="0">
                          <a:effectLst/>
                          <a:latin typeface="Calibri" panose="020F0502020204030204" pitchFamily="34" charset="0"/>
                          <a:ea typeface="Calibri" panose="020F0502020204030204" pitchFamily="34" charset="0"/>
                          <a:cs typeface="Times New Roman" panose="02020603050405020304" pitchFamily="18" charset="0"/>
                        </a:rPr>
                        <a:t>APAVE</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860304929"/>
                  </a:ext>
                </a:extLst>
              </a:tr>
              <a:tr h="125495">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1F1F1"/>
                    </a:solidFill>
                  </a:tcPr>
                </a:tc>
                <a:tc>
                  <a:txBody>
                    <a:bodyPr/>
                    <a:lstStyle/>
                    <a:p>
                      <a:pPr marL="64770" marR="0">
                        <a:lnSpc>
                          <a:spcPts val="1245"/>
                        </a:lnSpc>
                        <a:spcBef>
                          <a:spcPts val="0"/>
                        </a:spcBef>
                        <a:spcAft>
                          <a:spcPts val="0"/>
                        </a:spcAft>
                      </a:pPr>
                      <a:r>
                        <a:rPr lang="en-US" sz="800">
                          <a:effectLst/>
                          <a:latin typeface="Calibri" panose="020F0502020204030204" pitchFamily="34" charset="0"/>
                          <a:ea typeface="Calibri" panose="020F0502020204030204" pitchFamily="34" charset="0"/>
                          <a:cs typeface="Times New Roman" panose="02020603050405020304" pitchFamily="18" charset="0"/>
                        </a:rPr>
                        <a:t>LLOYDS</a:t>
                      </a:r>
                      <a:r>
                        <a:rPr lang="en-US" sz="800" spc="-30">
                          <a:effectLst/>
                          <a:latin typeface="Calibri" panose="020F0502020204030204" pitchFamily="34" charset="0"/>
                          <a:ea typeface="Calibri" panose="020F0502020204030204" pitchFamily="34" charset="0"/>
                          <a:cs typeface="Times New Roman" panose="02020603050405020304" pitchFamily="18" charset="0"/>
                        </a:rPr>
                        <a:t> </a:t>
                      </a:r>
                      <a:r>
                        <a:rPr lang="en-US" sz="8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800" dirty="0">
                          <a:effectLst/>
                          <a:latin typeface="Times New Roman" panose="02020603050405020304" pitchFamily="18" charset="0"/>
                          <a:ea typeface="Calibri" panose="020F0502020204030204" pitchFamily="34" charset="0"/>
                          <a:cs typeface="Calibri" panose="020F0502020204030204" pitchFamily="34" charset="0"/>
                        </a:rPr>
                        <a:t> </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5808612"/>
                  </a:ext>
                </a:extLst>
              </a:tr>
            </a:tbl>
          </a:graphicData>
        </a:graphic>
      </p:graphicFrame>
      <p:pic>
        <p:nvPicPr>
          <p:cNvPr id="67590" name="Image 115">
            <a:extLst>
              <a:ext uri="{FF2B5EF4-FFF2-40B4-BE49-F238E27FC236}">
                <a16:creationId xmlns:a16="http://schemas.microsoft.com/office/drawing/2014/main" id="{5AA6E80D-D519-84D9-8B43-92E884A3F46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448" y="7669"/>
            <a:ext cx="405653" cy="36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9613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053-B7F5-A585-0291-203C527AAE20}"/>
              </a:ext>
            </a:extLst>
          </p:cNvPr>
          <p:cNvSpPr>
            <a:spLocks noGrp="1"/>
          </p:cNvSpPr>
          <p:nvPr>
            <p:ph type="ftr" sz="quarter" idx="11"/>
          </p:nvPr>
        </p:nvSpPr>
        <p:spPr/>
        <p:txBody>
          <a:bodyPr/>
          <a:lstStyle/>
          <a:p>
            <a:pPr algn="l"/>
            <a:r>
              <a:rPr lang="en-US" dirty="0"/>
              <a:t>© 2024 GE Vernova and/or its affiliates. All rights reserved.</a:t>
            </a:r>
          </a:p>
        </p:txBody>
      </p:sp>
      <p:sp>
        <p:nvSpPr>
          <p:cNvPr id="4" name="Slide Number Placeholder 3">
            <a:extLst>
              <a:ext uri="{FF2B5EF4-FFF2-40B4-BE49-F238E27FC236}">
                <a16:creationId xmlns:a16="http://schemas.microsoft.com/office/drawing/2014/main" id="{B4A96DD5-6C96-3F3D-798D-5466560BB5BB}"/>
              </a:ext>
            </a:extLst>
          </p:cNvPr>
          <p:cNvSpPr>
            <a:spLocks noGrp="1"/>
          </p:cNvSpPr>
          <p:nvPr>
            <p:ph type="sldNum" sz="quarter" idx="12"/>
          </p:nvPr>
        </p:nvSpPr>
        <p:spPr/>
        <p:txBody>
          <a:bodyPr/>
          <a:lstStyle/>
          <a:p>
            <a:fld id="{7A7A97EF-C944-4447-B862-B593E9B4A0FF}" type="slidenum">
              <a:rPr lang="en-US" smtClean="0"/>
              <a:t>88</a:t>
            </a:fld>
            <a:endParaRPr lang="en-US" dirty="0"/>
          </a:p>
        </p:txBody>
      </p:sp>
      <p:graphicFrame>
        <p:nvGraphicFramePr>
          <p:cNvPr id="8" name="Table 7">
            <a:extLst>
              <a:ext uri="{FF2B5EF4-FFF2-40B4-BE49-F238E27FC236}">
                <a16:creationId xmlns:a16="http://schemas.microsoft.com/office/drawing/2014/main" id="{0832FEBE-226B-4312-F8C0-D636D505931A}"/>
              </a:ext>
            </a:extLst>
          </p:cNvPr>
          <p:cNvGraphicFramePr>
            <a:graphicFrameLocks noGrp="1"/>
          </p:cNvGraphicFramePr>
          <p:nvPr>
            <p:extLst>
              <p:ext uri="{D42A27DB-BD31-4B8C-83A1-F6EECF244321}">
                <p14:modId xmlns:p14="http://schemas.microsoft.com/office/powerpoint/2010/main" val="3397340079"/>
              </p:ext>
            </p:extLst>
          </p:nvPr>
        </p:nvGraphicFramePr>
        <p:xfrm>
          <a:off x="419100" y="660187"/>
          <a:ext cx="11430000" cy="417949"/>
        </p:xfrm>
        <a:graphic>
          <a:graphicData uri="http://schemas.openxmlformats.org/drawingml/2006/table">
            <a:tbl>
              <a:tblPr firstRow="1" firstCol="1" lastRow="1" lastCol="1" bandRow="1" bandCol="1"/>
              <a:tblGrid>
                <a:gridCol w="8018142">
                  <a:extLst>
                    <a:ext uri="{9D8B030D-6E8A-4147-A177-3AD203B41FA5}">
                      <a16:colId xmlns:a16="http://schemas.microsoft.com/office/drawing/2014/main" val="2269997240"/>
                    </a:ext>
                  </a:extLst>
                </a:gridCol>
                <a:gridCol w="3411858">
                  <a:extLst>
                    <a:ext uri="{9D8B030D-6E8A-4147-A177-3AD203B41FA5}">
                      <a16:colId xmlns:a16="http://schemas.microsoft.com/office/drawing/2014/main" val="667280651"/>
                    </a:ext>
                  </a:extLst>
                </a:gridCol>
              </a:tblGrid>
              <a:tr h="417949">
                <a:tc>
                  <a:txBody>
                    <a:bodyPr/>
                    <a:lstStyle/>
                    <a:p>
                      <a:pPr marL="67945" marR="0">
                        <a:spcBef>
                          <a:spcPts val="168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United</a:t>
                      </a:r>
                      <a:r>
                        <a:rPr lang="en-US" sz="1200" b="1"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Kingdom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45"/>
                        </a:spcBef>
                        <a:spcAft>
                          <a:spcPts val="0"/>
                        </a:spcAft>
                      </a:pPr>
                      <a:r>
                        <a:rPr lang="en-US" sz="2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5303868"/>
                  </a:ext>
                </a:extLst>
              </a:tr>
            </a:tbl>
          </a:graphicData>
        </a:graphic>
      </p:graphicFrame>
      <p:pic>
        <p:nvPicPr>
          <p:cNvPr id="9" name="Image 115">
            <a:extLst>
              <a:ext uri="{FF2B5EF4-FFF2-40B4-BE49-F238E27FC236}">
                <a16:creationId xmlns:a16="http://schemas.microsoft.com/office/drawing/2014/main" id="{1895F566-E9D5-49A7-906A-239AED81D8B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61271"/>
            <a:ext cx="503705" cy="44851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13BB513F-7921-1F8B-9988-706C092F1BBD}"/>
              </a:ext>
            </a:extLst>
          </p:cNvPr>
          <p:cNvGraphicFramePr>
            <a:graphicFrameLocks noGrp="1"/>
          </p:cNvGraphicFramePr>
          <p:nvPr>
            <p:extLst>
              <p:ext uri="{D42A27DB-BD31-4B8C-83A1-F6EECF244321}">
                <p14:modId xmlns:p14="http://schemas.microsoft.com/office/powerpoint/2010/main" val="1802904064"/>
              </p:ext>
            </p:extLst>
          </p:nvPr>
        </p:nvGraphicFramePr>
        <p:xfrm>
          <a:off x="425573" y="1078136"/>
          <a:ext cx="11430000" cy="5143426"/>
        </p:xfrm>
        <a:graphic>
          <a:graphicData uri="http://schemas.openxmlformats.org/drawingml/2006/table">
            <a:tbl>
              <a:tblPr firstRow="1" firstCol="1" lastRow="1" lastCol="1" bandRow="1" bandCol="1"/>
              <a:tblGrid>
                <a:gridCol w="3012756">
                  <a:extLst>
                    <a:ext uri="{9D8B030D-6E8A-4147-A177-3AD203B41FA5}">
                      <a16:colId xmlns:a16="http://schemas.microsoft.com/office/drawing/2014/main" val="3026561311"/>
                    </a:ext>
                  </a:extLst>
                </a:gridCol>
                <a:gridCol w="5004937">
                  <a:extLst>
                    <a:ext uri="{9D8B030D-6E8A-4147-A177-3AD203B41FA5}">
                      <a16:colId xmlns:a16="http://schemas.microsoft.com/office/drawing/2014/main" val="3995511973"/>
                    </a:ext>
                  </a:extLst>
                </a:gridCol>
                <a:gridCol w="3412307">
                  <a:extLst>
                    <a:ext uri="{9D8B030D-6E8A-4147-A177-3AD203B41FA5}">
                      <a16:colId xmlns:a16="http://schemas.microsoft.com/office/drawing/2014/main" val="4005295373"/>
                    </a:ext>
                  </a:extLst>
                </a:gridCol>
              </a:tblGrid>
              <a:tr h="150754">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1F1F1"/>
                    </a:solidFill>
                  </a:tcPr>
                </a:tc>
                <a:tc gridSpan="2">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Advanced</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Rigging</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and</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Slinging</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2537459417"/>
                  </a:ext>
                </a:extLst>
              </a:tr>
              <a:tr h="140933">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3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CITB</a:t>
                      </a:r>
                      <a:r>
                        <a:rPr lang="en-US" sz="900" spc="-10">
                          <a:effectLst/>
                          <a:latin typeface="Calibri" panose="020F0502020204030204" pitchFamily="34" charset="0"/>
                          <a:ea typeface="Calibri" panose="020F0502020204030204" pitchFamily="34" charset="0"/>
                          <a:cs typeface="Times New Roman" panose="02020603050405020304" pitchFamily="18" charset="0"/>
                        </a:rPr>
                        <a:t> (CPCS)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66675" marR="0">
                        <a:lnSpc>
                          <a:spcPts val="13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JCD</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Training</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Services</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423248122"/>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Carl</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Wright</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Training</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Services</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spc="-10">
                          <a:effectLst/>
                          <a:latin typeface="Calibri" panose="020F0502020204030204" pitchFamily="34" charset="0"/>
                          <a:ea typeface="Calibri" panose="020F0502020204030204" pitchFamily="34" charset="0"/>
                          <a:cs typeface="Times New Roman" panose="02020603050405020304" pitchFamily="18" charset="0"/>
                        </a:rPr>
                        <a:t>Lift-</a:t>
                      </a:r>
                      <a:r>
                        <a:rPr lang="en-US" sz="900" spc="-25">
                          <a:effectLst/>
                          <a:latin typeface="Calibri" panose="020F0502020204030204" pitchFamily="34" charset="0"/>
                          <a:ea typeface="Calibri" panose="020F0502020204030204" pitchFamily="34" charset="0"/>
                          <a:cs typeface="Times New Roman" panose="02020603050405020304" pitchFamily="18" charset="0"/>
                        </a:rPr>
                        <a:t>It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10622728"/>
                  </a:ext>
                </a:extLst>
              </a:tr>
              <a:tr h="131112">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Carl</a:t>
                      </a:r>
                      <a:r>
                        <a:rPr lang="en-US" sz="900" spc="-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Stahl</a:t>
                      </a:r>
                      <a:r>
                        <a:rPr lang="en-US" sz="900" spc="-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0"/>
                        </a:lnSpc>
                        <a:spcBef>
                          <a:spcPts val="0"/>
                        </a:spcBef>
                        <a:spcAft>
                          <a:spcPts val="0"/>
                        </a:spcAft>
                      </a:pPr>
                      <a:r>
                        <a:rPr lang="en-US" sz="900" spc="-20">
                          <a:effectLst/>
                          <a:latin typeface="Calibri" panose="020F0502020204030204" pitchFamily="34" charset="0"/>
                          <a:ea typeface="Calibri" panose="020F0502020204030204" pitchFamily="34" charset="0"/>
                          <a:cs typeface="Times New Roman" panose="02020603050405020304" pitchFamily="18" charset="0"/>
                        </a:rPr>
                        <a:t>NETA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71482130"/>
                  </a:ext>
                </a:extLst>
              </a:tr>
              <a:tr h="131112">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3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Towne</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Lifting</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&amp;</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Testing</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35"/>
                        </a:lnSpc>
                        <a:spcBef>
                          <a:spcPts val="0"/>
                        </a:spcBef>
                        <a:spcAft>
                          <a:spcPts val="0"/>
                        </a:spcAft>
                      </a:pPr>
                      <a:r>
                        <a:rPr lang="en-US" sz="900" spc="-10">
                          <a:effectLst/>
                          <a:latin typeface="Calibri" panose="020F0502020204030204" pitchFamily="34" charset="0"/>
                          <a:ea typeface="Calibri" panose="020F0502020204030204" pitchFamily="34" charset="0"/>
                          <a:cs typeface="Times New Roman" panose="02020603050405020304" pitchFamily="18" charset="0"/>
                        </a:rPr>
                        <a:t>Mentor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460876645"/>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Alba</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Training</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Rossendale</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Group</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25">
                          <a:effectLst/>
                          <a:latin typeface="Calibri" panose="020F0502020204030204" pitchFamily="34" charset="0"/>
                          <a:ea typeface="Calibri" panose="020F0502020204030204" pitchFamily="34" charset="0"/>
                          <a:cs typeface="Times New Roman" panose="02020603050405020304" pitchFamily="18" charset="0"/>
                        </a:rPr>
                        <a:t>Ltd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618837704"/>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ACE</a:t>
                      </a:r>
                      <a:r>
                        <a:rPr lang="en-US" sz="900" spc="-10">
                          <a:effectLst/>
                          <a:latin typeface="Calibri" panose="020F0502020204030204" pitchFamily="34" charset="0"/>
                          <a:ea typeface="Calibri" panose="020F0502020204030204" pitchFamily="34" charset="0"/>
                          <a:cs typeface="Times New Roman" panose="02020603050405020304" pitchFamily="18" charset="0"/>
                        </a:rPr>
                        <a:t> Winches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RSS</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295982212"/>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Certex</a:t>
                      </a:r>
                      <a:r>
                        <a:rPr lang="en-US" sz="900" spc="-10">
                          <a:effectLst/>
                          <a:latin typeface="Calibri" panose="020F0502020204030204" pitchFamily="34" charset="0"/>
                          <a:ea typeface="Calibri" panose="020F0502020204030204" pitchFamily="34" charset="0"/>
                          <a:cs typeface="Times New Roman" panose="02020603050405020304" pitchFamily="18" charset="0"/>
                        </a:rPr>
                        <a:t> (LEEA)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spc="-20">
                          <a:effectLst/>
                          <a:latin typeface="Calibri" panose="020F0502020204030204" pitchFamily="34" charset="0"/>
                          <a:ea typeface="Calibri" panose="020F0502020204030204" pitchFamily="34" charset="0"/>
                          <a:cs typeface="Times New Roman" panose="02020603050405020304" pitchFamily="18" charset="0"/>
                        </a:rPr>
                        <a:t>SEPA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60611769"/>
                  </a:ext>
                </a:extLst>
              </a:tr>
              <a:tr h="263697">
                <a:tc>
                  <a:txBody>
                    <a:bodyPr/>
                    <a:lstStyle/>
                    <a:p>
                      <a:pPr marL="67945" marR="0">
                        <a:spcBef>
                          <a:spcPts val="450"/>
                        </a:spcBef>
                        <a:spcAft>
                          <a:spcPts val="0"/>
                        </a:spcAft>
                      </a:pP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Rigger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EDF</a:t>
                      </a:r>
                      <a:r>
                        <a:rPr lang="en-US" sz="900" spc="-10">
                          <a:effectLst/>
                          <a:latin typeface="Calibri" panose="020F0502020204030204" pitchFamily="34" charset="0"/>
                          <a:ea typeface="Calibri" panose="020F0502020204030204" pitchFamily="34" charset="0"/>
                          <a:cs typeface="Times New Roman" panose="02020603050405020304" pitchFamily="18" charset="0"/>
                        </a:rPr>
                        <a:t> (LEEA)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0">
                        <a:spcBef>
                          <a:spcPts val="0"/>
                        </a:spcBef>
                        <a:spcAft>
                          <a:spcPts val="0"/>
                        </a:spcAft>
                      </a:pPr>
                      <a:r>
                        <a:rPr lang="en-US" sz="900" spc="-10">
                          <a:effectLst/>
                          <a:latin typeface="Calibri" panose="020F0502020204030204" pitchFamily="34" charset="0"/>
                          <a:ea typeface="Calibri" panose="020F0502020204030204" pitchFamily="34" charset="0"/>
                          <a:cs typeface="Times New Roman" panose="02020603050405020304" pitchFamily="18" charset="0"/>
                        </a:rPr>
                        <a:t>Containerlift</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Speedy</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Services</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spc="-25">
                          <a:effectLst/>
                          <a:latin typeface="Calibri" panose="020F0502020204030204" pitchFamily="34" charset="0"/>
                          <a:ea typeface="Calibri" panose="020F0502020204030204" pitchFamily="34" charset="0"/>
                          <a:cs typeface="Times New Roman" panose="02020603050405020304" pitchFamily="18" charset="0"/>
                        </a:rPr>
                        <a:t>PLC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6675" marR="0">
                        <a:spcBef>
                          <a:spcPts val="0"/>
                        </a:spcBef>
                        <a:spcAft>
                          <a:spcPts val="0"/>
                        </a:spcAft>
                      </a:pPr>
                      <a:r>
                        <a:rPr lang="en-US" sz="900" spc="-25">
                          <a:effectLst/>
                          <a:latin typeface="Calibri" panose="020F0502020204030204" pitchFamily="34" charset="0"/>
                          <a:ea typeface="Calibri" panose="020F0502020204030204" pitchFamily="34" charset="0"/>
                          <a:cs typeface="Times New Roman" panose="02020603050405020304" pitchFamily="18" charset="0"/>
                        </a:rPr>
                        <a:t>SWL</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747011819"/>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Certs</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Assured</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spc="-10">
                          <a:effectLst/>
                          <a:latin typeface="Calibri" panose="020F0502020204030204" pitchFamily="34" charset="0"/>
                          <a:ea typeface="Calibri" panose="020F0502020204030204" pitchFamily="34" charset="0"/>
                          <a:cs typeface="Times New Roman" panose="02020603050405020304" pitchFamily="18" charset="0"/>
                        </a:rPr>
                        <a:t>Tensology</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39612407"/>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HIRD</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(CPCS</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&amp;</a:t>
                      </a:r>
                      <a:r>
                        <a:rPr lang="en-US" sz="900" spc="-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Unique</a:t>
                      </a:r>
                      <a:r>
                        <a:rPr lang="en-US" sz="900" spc="-4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Group</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84333520"/>
                  </a:ext>
                </a:extLst>
              </a:tr>
              <a:tr h="132094">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Guardian</a:t>
                      </a:r>
                      <a:r>
                        <a:rPr lang="en-US" sz="900" spc="-5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Wolf</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Safety</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Services</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25">
                          <a:effectLst/>
                          <a:latin typeface="Calibri" panose="020F0502020204030204" pitchFamily="34" charset="0"/>
                          <a:ea typeface="Calibri" panose="020F0502020204030204" pitchFamily="34" charset="0"/>
                          <a:cs typeface="Times New Roman" panose="02020603050405020304" pitchFamily="18" charset="0"/>
                        </a:rPr>
                        <a:t>Ltd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503288406"/>
                  </a:ext>
                </a:extLst>
              </a:tr>
              <a:tr h="131112">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GGR</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Group</a:t>
                      </a:r>
                      <a:r>
                        <a:rPr lang="en-US" sz="900" spc="-10">
                          <a:effectLst/>
                          <a:latin typeface="Calibri" panose="020F0502020204030204" pitchFamily="34" charset="0"/>
                          <a:ea typeface="Calibri" panose="020F0502020204030204" pitchFamily="34" charset="0"/>
                          <a:cs typeface="Times New Roman" panose="02020603050405020304" pitchFamily="18" charset="0"/>
                        </a:rPr>
                        <a:t> (LEEA)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10">
                          <a:effectLst/>
                          <a:latin typeface="Calibri" panose="020F0502020204030204" pitchFamily="34" charset="0"/>
                          <a:ea typeface="Calibri" panose="020F0502020204030204" pitchFamily="34" charset="0"/>
                          <a:cs typeface="Times New Roman" panose="02020603050405020304" pitchFamily="18" charset="0"/>
                        </a:rPr>
                        <a:t> Rheinland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659077368"/>
                  </a:ext>
                </a:extLst>
              </a:tr>
              <a:tr h="131112">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3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ETDL</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3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703271769"/>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Royal</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Navy</a:t>
                      </a:r>
                      <a:r>
                        <a:rPr lang="en-US" sz="900" spc="-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598961344"/>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JB</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Training</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and</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Lifting</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Solutions</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(LEEA</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&amp;</a:t>
                      </a:r>
                      <a:r>
                        <a:rPr lang="en-US" sz="900" spc="-10">
                          <a:effectLst/>
                          <a:latin typeface="Calibri" panose="020F0502020204030204" pitchFamily="34" charset="0"/>
                          <a:ea typeface="Calibri" panose="020F0502020204030204" pitchFamily="34" charset="0"/>
                          <a:cs typeface="Times New Roman" panose="02020603050405020304" pitchFamily="18" charset="0"/>
                        </a:rPr>
                        <a:t> CPCS)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6667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Bureau</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539708883"/>
                  </a:ext>
                </a:extLst>
              </a:tr>
              <a:tr h="12227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1F1F1"/>
                    </a:solidFill>
                  </a:tcPr>
                </a:tc>
                <a:tc>
                  <a:txBody>
                    <a:bodyPr/>
                    <a:lstStyle/>
                    <a:p>
                      <a:pPr marL="64135" marR="0">
                        <a:lnSpc>
                          <a:spcPts val="11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NPORS</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N047</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(Many</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Training</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Providers)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66675" marR="0">
                        <a:lnSpc>
                          <a:spcPts val="11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LLOYDS</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(LEEA)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390727"/>
                  </a:ext>
                </a:extLst>
              </a:tr>
              <a:tr h="150263">
                <a:tc rowSpan="2">
                  <a:txBody>
                    <a:bodyPr/>
                    <a:lstStyle/>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790"/>
                        </a:spcBef>
                        <a:spcAft>
                          <a:spcPts val="0"/>
                        </a:spcAft>
                      </a:pPr>
                      <a:r>
                        <a:rPr lang="en-US" sz="900" b="1">
                          <a:effectLst/>
                          <a:latin typeface="Calibri" panose="020F0502020204030204" pitchFamily="34" charset="0"/>
                          <a:ea typeface="Calibri" panose="020F0502020204030204" pitchFamily="34" charset="0"/>
                          <a:cs typeface="Times New Roman" panose="02020603050405020304" pitchFamily="18"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7945" marR="0">
                        <a:spcBef>
                          <a:spcPts val="0"/>
                        </a:spcBef>
                        <a:spcAft>
                          <a:spcPts val="0"/>
                        </a:spcAft>
                      </a:pP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Course:</a:t>
                      </a:r>
                      <a:r>
                        <a:rPr lang="en-US" sz="900" spc="-3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4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Overhead</a:t>
                      </a:r>
                      <a:r>
                        <a:rPr lang="en-US" sz="9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2235995467"/>
                  </a:ext>
                </a:extLst>
              </a:tr>
              <a:tr h="922695">
                <a:tc vMerge="1">
                  <a:txBody>
                    <a:bodyPr/>
                    <a:lstStyle/>
                    <a:p>
                      <a:endParaRPr lang="en-US"/>
                    </a:p>
                  </a:txBody>
                  <a:tcPr/>
                </a:tc>
                <a:tc gridSpan="2">
                  <a:txBody>
                    <a:bodyPr/>
                    <a:lstStyle/>
                    <a:p>
                      <a:pPr marL="64135" marR="4114165">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 SUD TUV</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NORD</a:t>
                      </a:r>
                    </a:p>
                    <a:p>
                      <a:pPr marL="64135" marR="389001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Bureau</a:t>
                      </a:r>
                      <a:r>
                        <a:rPr lang="en-US" sz="900" spc="-6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Veritas </a:t>
                      </a:r>
                      <a:r>
                        <a:rPr lang="en-US" sz="900" spc="-20">
                          <a:effectLst/>
                          <a:latin typeface="Calibri" panose="020F0502020204030204" pitchFamily="34" charset="0"/>
                          <a:ea typeface="Calibri" panose="020F0502020204030204" pitchFamily="34" charset="0"/>
                          <a:cs typeface="Times New Roman" panose="02020603050405020304" pitchFamily="18" charset="0"/>
                        </a:rPr>
                        <a:t>IPAF</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2113280">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NPORS</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N104</a:t>
                      </a:r>
                      <a:r>
                        <a:rPr lang="en-US" sz="900" spc="-4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(Many</a:t>
                      </a:r>
                      <a:r>
                        <a:rPr lang="en-US" sz="900" spc="-5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Training</a:t>
                      </a:r>
                      <a:r>
                        <a:rPr lang="en-US" sz="900" spc="-5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Providers) LLOYDS (LEEA)</a:t>
                      </a:r>
                    </a:p>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EUROPEAN</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CRANE</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OPERATOR</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942666234"/>
                  </a:ext>
                </a:extLst>
              </a:tr>
              <a:tr h="150263">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1F1F1"/>
                    </a:solidFill>
                  </a:tcPr>
                </a:tc>
                <a:tc gridSpan="2">
                  <a:txBody>
                    <a:bodyPr/>
                    <a:lstStyle/>
                    <a:p>
                      <a:pPr marL="64135" marR="0">
                        <a:spcBef>
                          <a:spcPts val="90"/>
                        </a:spcBef>
                        <a:spcAft>
                          <a:spcPts val="0"/>
                        </a:spcAft>
                      </a:pP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Certified</a:t>
                      </a:r>
                      <a:r>
                        <a:rPr lang="en-US" sz="900" spc="-4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900"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1CC"/>
                    </a:solidFill>
                  </a:tcPr>
                </a:tc>
                <a:tc hMerge="1">
                  <a:txBody>
                    <a:bodyPr/>
                    <a:lstStyle/>
                    <a:p>
                      <a:endParaRPr lang="en-US"/>
                    </a:p>
                  </a:txBody>
                  <a:tcPr/>
                </a:tc>
                <a:extLst>
                  <a:ext uri="{0D108BD9-81ED-4DB2-BD59-A6C34878D82A}">
                    <a16:rowId xmlns:a16="http://schemas.microsoft.com/office/drawing/2014/main" val="3838506150"/>
                  </a:ext>
                </a:extLst>
              </a:tr>
              <a:tr h="140933">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340"/>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spc="-25">
                          <a:effectLst/>
                          <a:latin typeface="Calibri" panose="020F0502020204030204" pitchFamily="34" charset="0"/>
                          <a:ea typeface="Calibri" panose="020F0502020204030204" pitchFamily="34" charset="0"/>
                          <a:cs typeface="Times New Roman" panose="02020603050405020304" pitchFamily="18" charset="0"/>
                        </a:rPr>
                        <a:t>SUD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rowSpan="6">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906468575"/>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TUV</a:t>
                      </a:r>
                      <a:r>
                        <a:rPr lang="en-US" sz="900" spc="-10">
                          <a:effectLst/>
                          <a:latin typeface="Calibri" panose="020F0502020204030204" pitchFamily="34" charset="0"/>
                          <a:ea typeface="Calibri" panose="020F0502020204030204" pitchFamily="34" charset="0"/>
                          <a:cs typeface="Times New Roman" panose="02020603050405020304" pitchFamily="18" charset="0"/>
                        </a:rPr>
                        <a:t> </a:t>
                      </a:r>
                      <a:r>
                        <a:rPr lang="en-US" sz="900" spc="-20">
                          <a:effectLst/>
                          <a:latin typeface="Calibri" panose="020F0502020204030204" pitchFamily="34" charset="0"/>
                          <a:ea typeface="Calibri" panose="020F0502020204030204" pitchFamily="34" charset="0"/>
                          <a:cs typeface="Times New Roman" panose="02020603050405020304" pitchFamily="18" charset="0"/>
                        </a:rPr>
                        <a:t>NORD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US"/>
                    </a:p>
                  </a:txBody>
                  <a:tcPr/>
                </a:tc>
                <a:extLst>
                  <a:ext uri="{0D108BD9-81ED-4DB2-BD59-A6C34878D82A}">
                    <a16:rowId xmlns:a16="http://schemas.microsoft.com/office/drawing/2014/main" val="471619621"/>
                  </a:ext>
                </a:extLst>
              </a:tr>
              <a:tr h="131603">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Bureau</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Veritas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US"/>
                    </a:p>
                  </a:txBody>
                  <a:tcPr/>
                </a:tc>
                <a:extLst>
                  <a:ext uri="{0D108BD9-81ED-4DB2-BD59-A6C34878D82A}">
                    <a16:rowId xmlns:a16="http://schemas.microsoft.com/office/drawing/2014/main" val="2808769638"/>
                  </a:ext>
                </a:extLst>
              </a:tr>
              <a:tr h="263206">
                <a:tc>
                  <a:txBody>
                    <a:bodyPr/>
                    <a:lstStyle/>
                    <a:p>
                      <a:pPr marL="67945" marR="0">
                        <a:spcBef>
                          <a:spcPts val="725"/>
                        </a:spcBef>
                        <a:spcAft>
                          <a:spcPts val="0"/>
                        </a:spcAft>
                      </a:pP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Mobile</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Crane</a:t>
                      </a:r>
                      <a:r>
                        <a:rPr lang="en-US" sz="9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9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Operator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spc="-20">
                          <a:effectLst/>
                          <a:latin typeface="Calibri" panose="020F0502020204030204" pitchFamily="34" charset="0"/>
                          <a:ea typeface="Calibri" panose="020F0502020204030204" pitchFamily="34" charset="0"/>
                          <a:cs typeface="Times New Roman" panose="02020603050405020304" pitchFamily="18" charset="0"/>
                        </a:rPr>
                        <a:t>IPAF</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pPr marL="64135" marR="0">
                        <a:lnSpc>
                          <a:spcPts val="133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LLOYDS</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British</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US"/>
                    </a:p>
                  </a:txBody>
                  <a:tcPr/>
                </a:tc>
                <a:extLst>
                  <a:ext uri="{0D108BD9-81ED-4DB2-BD59-A6C34878D82A}">
                    <a16:rowId xmlns:a16="http://schemas.microsoft.com/office/drawing/2014/main" val="3662627369"/>
                  </a:ext>
                </a:extLst>
              </a:tr>
              <a:tr h="131112">
                <a:tc>
                  <a:txBody>
                    <a:bodyPr/>
                    <a:lstStyle/>
                    <a:p>
                      <a:pPr marL="0" marR="0">
                        <a:spcBef>
                          <a:spcPts val="0"/>
                        </a:spcBef>
                        <a:spcAft>
                          <a:spcPts val="0"/>
                        </a:spcAft>
                      </a:pPr>
                      <a:r>
                        <a:rPr lang="en-US" sz="7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3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NPORS</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N101</a:t>
                      </a:r>
                      <a:r>
                        <a:rPr lang="en-US" sz="900" spc="-2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(Many</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Training</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Providers)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US"/>
                    </a:p>
                  </a:txBody>
                  <a:tcPr/>
                </a:tc>
                <a:extLst>
                  <a:ext uri="{0D108BD9-81ED-4DB2-BD59-A6C34878D82A}">
                    <a16:rowId xmlns:a16="http://schemas.microsoft.com/office/drawing/2014/main" val="474950240"/>
                  </a:ext>
                </a:extLst>
              </a:tr>
              <a:tr h="181691">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a:txBody>
                    <a:bodyPr/>
                    <a:lstStyle/>
                    <a:p>
                      <a:pPr marL="64135" marR="0">
                        <a:lnSpc>
                          <a:spcPts val="1245"/>
                        </a:lnSpc>
                        <a:spcBef>
                          <a:spcPts val="0"/>
                        </a:spcBef>
                        <a:spcAft>
                          <a:spcPts val="0"/>
                        </a:spcAft>
                      </a:pPr>
                      <a:r>
                        <a:rPr lang="en-US" sz="900">
                          <a:effectLst/>
                          <a:latin typeface="Calibri" panose="020F0502020204030204" pitchFamily="34" charset="0"/>
                          <a:ea typeface="Calibri" panose="020F0502020204030204" pitchFamily="34" charset="0"/>
                          <a:cs typeface="Times New Roman" panose="02020603050405020304" pitchFamily="18" charset="0"/>
                        </a:rPr>
                        <a:t>EUROPEAN</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CRANE</a:t>
                      </a:r>
                      <a:r>
                        <a:rPr lang="en-US" sz="900" spc="-3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OPERATOR</a:t>
                      </a:r>
                      <a:r>
                        <a:rPr lang="en-US" sz="900" spc="-20">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LICENSE</a:t>
                      </a:r>
                      <a:r>
                        <a:rPr lang="en-US" sz="900" spc="-15">
                          <a:effectLst/>
                          <a:latin typeface="Calibri" panose="020F0502020204030204" pitchFamily="34" charset="0"/>
                          <a:ea typeface="Calibri" panose="020F0502020204030204" pitchFamily="34" charset="0"/>
                          <a:cs typeface="Times New Roman" panose="02020603050405020304" pitchFamily="18" charset="0"/>
                        </a:rPr>
                        <a:t> </a:t>
                      </a:r>
                      <a:r>
                        <a:rPr lang="en-US" sz="900">
                          <a:effectLst/>
                          <a:latin typeface="Calibri" panose="020F0502020204030204" pitchFamily="34" charset="0"/>
                          <a:ea typeface="Calibri" panose="020F0502020204030204" pitchFamily="34" charset="0"/>
                          <a:cs typeface="Times New Roman" panose="02020603050405020304" pitchFamily="18" charset="0"/>
                        </a:rPr>
                        <a:t>–</a:t>
                      </a:r>
                      <a:r>
                        <a:rPr lang="en-US" sz="900" spc="-30">
                          <a:effectLst/>
                          <a:latin typeface="Calibri" panose="020F0502020204030204" pitchFamily="34" charset="0"/>
                          <a:ea typeface="Calibri" panose="020F0502020204030204" pitchFamily="34" charset="0"/>
                          <a:cs typeface="Times New Roman" panose="02020603050405020304" pitchFamily="18" charset="0"/>
                        </a:rPr>
                        <a:t> </a:t>
                      </a:r>
                      <a:r>
                        <a:rPr lang="en-US" sz="900" spc="-10">
                          <a:effectLst/>
                          <a:latin typeface="Calibri" panose="020F0502020204030204" pitchFamily="34" charset="0"/>
                          <a:ea typeface="Calibri" panose="020F0502020204030204" pitchFamily="34" charset="0"/>
                          <a:cs typeface="Times New Roman" panose="02020603050405020304" pitchFamily="18" charset="0"/>
                        </a:rPr>
                        <a:t>(ECOL)</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US"/>
                    </a:p>
                  </a:txBody>
                  <a:tcPr/>
                </a:tc>
                <a:extLst>
                  <a:ext uri="{0D108BD9-81ED-4DB2-BD59-A6C34878D82A}">
                    <a16:rowId xmlns:a16="http://schemas.microsoft.com/office/drawing/2014/main" val="2986756002"/>
                  </a:ext>
                </a:extLst>
              </a:tr>
              <a:tr h="117854">
                <a:tc>
                  <a:txBody>
                    <a:bodyPr/>
                    <a:lstStyle/>
                    <a:p>
                      <a:pPr marL="0" marR="0">
                        <a:spcBef>
                          <a:spcPts val="0"/>
                        </a:spcBef>
                        <a:spcAft>
                          <a:spcPts val="0"/>
                        </a:spcAft>
                      </a:pPr>
                      <a:r>
                        <a:rPr lang="en-US" sz="8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1F1F1"/>
                    </a:solidFill>
                  </a:tcPr>
                </a:tc>
                <a:tc gridSpan="2">
                  <a:txBody>
                    <a:bodyPr/>
                    <a:lstStyle/>
                    <a:p>
                      <a:pPr marL="64135" marR="0">
                        <a:lnSpc>
                          <a:spcPts val="1080"/>
                        </a:lnSpc>
                        <a:spcBef>
                          <a:spcPts val="445"/>
                        </a:spcBef>
                        <a:spcAft>
                          <a:spcPts val="0"/>
                        </a:spcAft>
                      </a:pP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a:t>
                      </a:r>
                      <a:r>
                        <a:rPr lang="en-US" sz="7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7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heavy</a:t>
                      </a:r>
                      <a:r>
                        <a:rPr lang="en-US" sz="7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equipment</a:t>
                      </a:r>
                      <a:r>
                        <a:rPr lang="en-US" sz="700" spc="-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license</a:t>
                      </a:r>
                      <a:r>
                        <a:rPr lang="en-US" sz="700" spc="-1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700" spc="-1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per the</a:t>
                      </a:r>
                      <a:r>
                        <a:rPr lang="en-US" sz="7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local</a:t>
                      </a:r>
                      <a:r>
                        <a:rPr lang="en-US" sz="7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regulations</a:t>
                      </a:r>
                      <a:r>
                        <a:rPr lang="en-US" sz="700" spc="-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might</a:t>
                      </a:r>
                      <a:r>
                        <a:rPr lang="en-US" sz="7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7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needed.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extLst>
                  <a:ext uri="{0D108BD9-81ED-4DB2-BD59-A6C34878D82A}">
                    <a16:rowId xmlns:a16="http://schemas.microsoft.com/office/drawing/2014/main" val="341875793"/>
                  </a:ext>
                </a:extLst>
              </a:tr>
              <a:tr h="98702">
                <a:tc>
                  <a:txBody>
                    <a:bodyPr/>
                    <a:lstStyle/>
                    <a:p>
                      <a:pPr marL="0" marR="0">
                        <a:spcBef>
                          <a:spcPts val="0"/>
                        </a:spcBef>
                        <a:spcAft>
                          <a:spcPts val="0"/>
                        </a:spcAft>
                      </a:pPr>
                      <a:r>
                        <a:rPr lang="en-US" sz="500">
                          <a:effectLst/>
                          <a:latin typeface="Times New Roman" panose="02020603050405020304" pitchFamily="18" charset="0"/>
                          <a:ea typeface="Calibri" panose="020F0502020204030204" pitchFamily="34" charset="0"/>
                          <a:cs typeface="Calibri" panose="020F0502020204030204" pitchFamily="34" charset="0"/>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1F1F1"/>
                    </a:solidFill>
                  </a:tcPr>
                </a:tc>
                <a:tc gridSpan="2">
                  <a:txBody>
                    <a:bodyPr/>
                    <a:lstStyle/>
                    <a:p>
                      <a:pPr marL="64135" marR="0">
                        <a:lnSpc>
                          <a:spcPts val="910"/>
                        </a:lnSpc>
                        <a:spcBef>
                          <a:spcPts val="0"/>
                        </a:spcBef>
                        <a:spcAft>
                          <a:spcPts val="0"/>
                        </a:spcAft>
                      </a:pP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CPCS</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blue</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card</a:t>
                      </a:r>
                      <a:r>
                        <a:rPr lang="en-US" sz="700" spc="-1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for</a:t>
                      </a:r>
                      <a:r>
                        <a:rPr lang="en-US" sz="7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all</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as</a:t>
                      </a:r>
                      <a:r>
                        <a:rPr lang="en-US" sz="7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7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minimum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941777871"/>
                  </a:ext>
                </a:extLst>
              </a:tr>
            </a:tbl>
          </a:graphicData>
        </a:graphic>
      </p:graphicFrame>
    </p:spTree>
    <p:extLst>
      <p:ext uri="{BB962C8B-B14F-4D97-AF65-F5344CB8AC3E}">
        <p14:creationId xmlns:p14="http://schemas.microsoft.com/office/powerpoint/2010/main" val="24644789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ACB188-53A8-C19D-26D4-AA609047C9FF}"/>
              </a:ext>
            </a:extLst>
          </p:cNvPr>
          <p:cNvSpPr>
            <a:spLocks noGrp="1"/>
          </p:cNvSpPr>
          <p:nvPr>
            <p:ph type="ftr" sz="quarter" idx="11"/>
          </p:nvPr>
        </p:nvSpPr>
        <p:spPr/>
        <p:txBody>
          <a:bodyPr/>
          <a:lstStyle/>
          <a:p>
            <a:r>
              <a:rPr lang="en-US" dirty="0"/>
              <a:t>© 2023 GE Vernova and/or its affiliates. All rights reserved.</a:t>
            </a:r>
          </a:p>
        </p:txBody>
      </p:sp>
      <p:sp>
        <p:nvSpPr>
          <p:cNvPr id="3" name="Slide Number Placeholder 2">
            <a:extLst>
              <a:ext uri="{FF2B5EF4-FFF2-40B4-BE49-F238E27FC236}">
                <a16:creationId xmlns:a16="http://schemas.microsoft.com/office/drawing/2014/main" id="{24455610-CE36-714E-BFE9-AC014DE6B8AD}"/>
              </a:ext>
            </a:extLst>
          </p:cNvPr>
          <p:cNvSpPr>
            <a:spLocks noGrp="1"/>
          </p:cNvSpPr>
          <p:nvPr>
            <p:ph type="sldNum" sz="quarter" idx="12"/>
          </p:nvPr>
        </p:nvSpPr>
        <p:spPr/>
        <p:txBody>
          <a:bodyPr/>
          <a:lstStyle/>
          <a:p>
            <a:fld id="{7A7A97EF-C944-4447-B862-B593E9B4A0FF}" type="slidenum">
              <a:rPr lang="en-US"/>
              <a:pPr/>
              <a:t>89</a:t>
            </a:fld>
            <a:endParaRPr lang="en-US" dirty="0"/>
          </a:p>
        </p:txBody>
      </p:sp>
      <p:sp>
        <p:nvSpPr>
          <p:cNvPr id="6" name="Text Placeholder 3">
            <a:extLst>
              <a:ext uri="{FF2B5EF4-FFF2-40B4-BE49-F238E27FC236}">
                <a16:creationId xmlns:a16="http://schemas.microsoft.com/office/drawing/2014/main" id="{8332DF37-E9B4-BE64-5148-DC7D7C650230}"/>
              </a:ext>
            </a:extLst>
          </p:cNvPr>
          <p:cNvSpPr txBox="1">
            <a:spLocks/>
          </p:cNvSpPr>
          <p:nvPr/>
        </p:nvSpPr>
        <p:spPr>
          <a:xfrm>
            <a:off x="8087320" y="2869532"/>
            <a:ext cx="2435037" cy="183200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800" kern="1200">
                <a:solidFill>
                  <a:srgbClr val="212121"/>
                </a:solidFill>
                <a:latin typeface="+mn-lt"/>
                <a:ea typeface="+mn-ea"/>
                <a:cs typeface="+mn-cs"/>
              </a:defRPr>
            </a:lvl1pPr>
            <a:lvl2pPr marL="171450" indent="-17145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800" kern="1200">
                <a:solidFill>
                  <a:srgbClr val="212121"/>
                </a:solidFill>
                <a:latin typeface="+mn-lt"/>
                <a:ea typeface="+mn-ea"/>
                <a:cs typeface="+mn-cs"/>
              </a:defRPr>
            </a:lvl2pPr>
            <a:lvl3pPr marL="365760" indent="-182880" algn="l" defTabSz="914400" rtl="0" eaLnBrk="1" latinLnBrk="0" hangingPunct="1">
              <a:lnSpc>
                <a:spcPct val="100000"/>
              </a:lnSpc>
              <a:spcBef>
                <a:spcPts val="0"/>
              </a:spcBef>
              <a:spcAft>
                <a:spcPts val="600"/>
              </a:spcAft>
              <a:buClr>
                <a:schemeClr val="tx1"/>
              </a:buClr>
              <a:buFont typeface="System Font Regular"/>
              <a:buChar char="–"/>
              <a:defRPr sz="1800" kern="1200">
                <a:solidFill>
                  <a:srgbClr val="212121"/>
                </a:solidFill>
                <a:latin typeface="+mn-lt"/>
                <a:ea typeface="+mn-ea"/>
                <a:cs typeface="+mn-cs"/>
              </a:defRPr>
            </a:lvl3pPr>
            <a:lvl4pPr marL="548640" indent="-182880" algn="l" defTabSz="914400" rtl="0" eaLnBrk="1" latinLnBrk="0" hangingPunct="1">
              <a:lnSpc>
                <a:spcPct val="100000"/>
              </a:lnSpc>
              <a:spcBef>
                <a:spcPts val="0"/>
              </a:spcBef>
              <a:spcAft>
                <a:spcPts val="600"/>
              </a:spcAft>
              <a:buClr>
                <a:schemeClr val="tx1"/>
              </a:buClr>
              <a:buFont typeface="System Font Regular"/>
              <a:buChar char="–"/>
              <a:defRPr sz="1800" kern="1200">
                <a:solidFill>
                  <a:srgbClr val="212121"/>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1"/>
              </a:buClr>
              <a:buFont typeface="System Font Regular"/>
              <a:buChar char="–"/>
              <a:defRPr sz="1800" kern="1200">
                <a:solidFill>
                  <a:srgbClr val="21212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gn="ctr">
              <a:lnSpc>
                <a:spcPts val="4500"/>
              </a:lnSpc>
              <a:spcAft>
                <a:spcPts val="0"/>
              </a:spcAft>
            </a:pPr>
            <a:r>
              <a:rPr lang="en-US" sz="5000" cap="all" dirty="0">
                <a:solidFill>
                  <a:schemeClr val="tx1"/>
                </a:solidFill>
                <a:latin typeface="Sons Condensed Extrabold" panose="02060906060206060203" pitchFamily="18" charset="0"/>
              </a:rPr>
              <a:t>The energy </a:t>
            </a:r>
          </a:p>
          <a:p>
            <a:pPr algn="ctr">
              <a:lnSpc>
                <a:spcPts val="4500"/>
              </a:lnSpc>
              <a:spcAft>
                <a:spcPts val="0"/>
              </a:spcAft>
            </a:pPr>
            <a:r>
              <a:rPr lang="en-US" sz="5000" cap="all" dirty="0">
                <a:solidFill>
                  <a:schemeClr val="tx1"/>
                </a:solidFill>
                <a:latin typeface="Sons Condensed Extrabold" panose="02060906060206060203" pitchFamily="18" charset="0"/>
                <a:ea typeface="Inter" panose="02000503000000020004" pitchFamily="2" charset="0"/>
              </a:rPr>
              <a:t>to change </a:t>
            </a:r>
          </a:p>
          <a:p>
            <a:pPr algn="ctr">
              <a:lnSpc>
                <a:spcPts val="4500"/>
              </a:lnSpc>
              <a:spcAft>
                <a:spcPts val="0"/>
              </a:spcAft>
            </a:pPr>
            <a:r>
              <a:rPr lang="en-US" sz="5000" cap="all" dirty="0">
                <a:solidFill>
                  <a:schemeClr val="tx1"/>
                </a:solidFill>
                <a:latin typeface="Sons Condensed Extrabold" panose="02060906060206060203" pitchFamily="18" charset="0"/>
                <a:ea typeface="Inter" panose="02000503000000020004" pitchFamily="2" charset="0"/>
              </a:rPr>
              <a:t>the world</a:t>
            </a:r>
          </a:p>
        </p:txBody>
      </p:sp>
      <p:pic>
        <p:nvPicPr>
          <p:cNvPr id="12" name="Picture 11">
            <a:extLst>
              <a:ext uri="{FF2B5EF4-FFF2-40B4-BE49-F238E27FC236}">
                <a16:creationId xmlns:a16="http://schemas.microsoft.com/office/drawing/2014/main" id="{1E1EF4EF-03BD-10C3-0E14-7445BBD4B96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7052441" cy="6858000"/>
          </a:xfrm>
          <a:prstGeom prst="rect">
            <a:avLst/>
          </a:prstGeom>
        </p:spPr>
      </p:pic>
      <p:pic>
        <p:nvPicPr>
          <p:cNvPr id="13" name="Picture 12" descr="Text&#10;&#10;Description automatically generated">
            <a:extLst>
              <a:ext uri="{FF2B5EF4-FFF2-40B4-BE49-F238E27FC236}">
                <a16:creationId xmlns:a16="http://schemas.microsoft.com/office/drawing/2014/main" id="{92AB65C5-6F96-1C42-A577-D827A4623B49}"/>
              </a:ext>
            </a:extLst>
          </p:cNvPr>
          <p:cNvPicPr>
            <a:picLocks noChangeAspect="1"/>
          </p:cNvPicPr>
          <p:nvPr/>
        </p:nvPicPr>
        <p:blipFill>
          <a:blip r:embed="rId3"/>
          <a:stretch>
            <a:fillRect/>
          </a:stretch>
        </p:blipFill>
        <p:spPr>
          <a:xfrm>
            <a:off x="7535481" y="1762738"/>
            <a:ext cx="2890779" cy="903011"/>
          </a:xfrm>
          <a:prstGeom prst="rect">
            <a:avLst/>
          </a:prstGeom>
        </p:spPr>
      </p:pic>
      <p:sp>
        <p:nvSpPr>
          <p:cNvPr id="16" name="Rectangle 15">
            <a:extLst>
              <a:ext uri="{FF2B5EF4-FFF2-40B4-BE49-F238E27FC236}">
                <a16:creationId xmlns:a16="http://schemas.microsoft.com/office/drawing/2014/main" id="{44329DDB-BB1C-3A5B-B385-3C57B2E94931}"/>
              </a:ext>
            </a:extLst>
          </p:cNvPr>
          <p:cNvSpPr/>
          <p:nvPr/>
        </p:nvSpPr>
        <p:spPr>
          <a:xfrm>
            <a:off x="10174014" y="273269"/>
            <a:ext cx="1849820" cy="641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11" name="TextBox 10">
            <a:extLst>
              <a:ext uri="{FF2B5EF4-FFF2-40B4-BE49-F238E27FC236}">
                <a16:creationId xmlns:a16="http://schemas.microsoft.com/office/drawing/2014/main" id="{6B93EA64-6737-0856-3C1B-AC37EAFFEAE1}"/>
              </a:ext>
            </a:extLst>
          </p:cNvPr>
          <p:cNvSpPr txBox="1"/>
          <p:nvPr/>
        </p:nvSpPr>
        <p:spPr>
          <a:xfrm>
            <a:off x="214993" y="6522084"/>
            <a:ext cx="6134100" cy="215444"/>
          </a:xfrm>
          <a:prstGeom prst="rect">
            <a:avLst/>
          </a:prstGeom>
          <a:noFill/>
        </p:spPr>
        <p:txBody>
          <a:bodyPr wrap="square">
            <a:spAutoFit/>
          </a:bodyPr>
          <a:lstStyle/>
          <a:p>
            <a:pPr algn="l"/>
            <a:r>
              <a:rPr lang="en-US" sz="800" dirty="0">
                <a:latin typeface="Inter" panose="020B0604020202020204" charset="0"/>
                <a:ea typeface="Inter" panose="020B0604020202020204" charset="0"/>
              </a:rPr>
              <a:t>© 2024 GE Vernova and/or its affiliates. All rights reserved.</a:t>
            </a:r>
          </a:p>
        </p:txBody>
      </p:sp>
    </p:spTree>
    <p:extLst>
      <p:ext uri="{BB962C8B-B14F-4D97-AF65-F5344CB8AC3E}">
        <p14:creationId xmlns:p14="http://schemas.microsoft.com/office/powerpoint/2010/main" val="2252881588"/>
      </p:ext>
    </p:extLst>
  </p:cSld>
  <p:clrMapOvr>
    <a:masterClrMapping/>
  </p:clrMapOvr>
</p:sld>
</file>

<file path=ppt/theme/theme1.xml><?xml version="1.0" encoding="utf-8"?>
<a:theme xmlns:a="http://schemas.openxmlformats.org/drawingml/2006/main" name="2_GE Vernova">
  <a:themeElements>
    <a:clrScheme name="GE Vernova Palette">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tainless Steel">
      <a:srgbClr val="D2D2D2"/>
    </a:custClr>
    <a:custClr name="Aluminum">
      <a:srgbClr val="AEAEAE"/>
    </a:custClr>
    <a:custClr name="Titanium">
      <a:srgbClr val="969696"/>
    </a:custClr>
    <a:custClr name="Yellow">
      <a:srgbClr val="FFD400"/>
    </a:custClr>
    <a:custClr name="Orange">
      <a:srgbClr val="FF8400"/>
    </a:custClr>
    <a:custClr name="Red">
      <a:srgbClr val="FF1900"/>
    </a:custClr>
    <a:custClr name="Purple">
      <a:srgbClr val="8F00FF"/>
    </a:custClr>
    <a:custClr name="Fuschia">
      <a:srgbClr val="DE00F7"/>
    </a:custClr>
    <a:custClr name="Blue">
      <a:srgbClr val="3900F8"/>
    </a:custClr>
    <a:custClr name="Teal">
      <a:srgbClr val="00D0E1"/>
    </a:custClr>
  </a:custClrLst>
  <a:extLst>
    <a:ext uri="{05A4C25C-085E-4340-85A3-A5531E510DB2}">
      <thm15:themeFamily xmlns:thm15="http://schemas.microsoft.com/office/thememl/2012/main" name="Presentation4" id="{77138258-1F32-CC4F-AD00-276CC45CAEF4}" vid="{6B3F7B16-E948-6A48-9477-92E28E9819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rocess_x0020_Owmer xmlns="25586fb6-ed09-4f2d-8ea7-eda1a9fd2320">
      <UserInfo>
        <DisplayName>Montaser, Mohamed (GE Vernova)</DisplayName>
        <AccountId>2287</AccountId>
        <AccountType/>
      </UserInfo>
    </Process_x0020_Owmer>
    <Functional_x0020_Owner xmlns="25586fb6-ed09-4f2d-8ea7-eda1a9fd2320">Management Processes - Leadership and Commitment</Functional_x0020_Owner>
    <Nomenclature xmlns="25586fb6-ed09-4f2d-8ea7-eda1a9fd2320">XYZ</Nomenclature>
    <LastReviewDate xmlns="cc7fbaa3-8214-4644-99f1-d2e5a6ae9914" xsi:nil="true"/>
    <RevisionNumber xmlns="cc7fbaa3-8214-4644-99f1-d2e5a6ae991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 ds:uri="25586fb6-ed09-4f2d-8ea7-eda1a9fd2320"/>
    <ds:schemaRef ds:uri="cc7fbaa3-8214-4644-99f1-d2e5a6ae9914"/>
  </ds:schemaRefs>
</ds:datastoreItem>
</file>

<file path=customXml/itemProps2.xml><?xml version="1.0" encoding="utf-8"?>
<ds:datastoreItem xmlns:ds="http://schemas.openxmlformats.org/officeDocument/2006/customXml" ds:itemID="{BDE64E55-0318-435E-9885-1C7A491FCFD5}">
  <ds:schemaRefs>
    <ds:schemaRef ds:uri="http://schemas.microsoft.com/sharepoint/v3/contenttype/forms"/>
  </ds:schemaRefs>
</ds:datastoreItem>
</file>

<file path=customXml/itemProps3.xml><?xml version="1.0" encoding="utf-8"?>
<ds:datastoreItem xmlns:ds="http://schemas.openxmlformats.org/officeDocument/2006/customXml" ds:itemID="{1D15FF6D-D49A-41E4-B861-735C928ABB5F}"/>
</file>

<file path=docProps/app.xml><?xml version="1.0" encoding="utf-8"?>
<Properties xmlns="http://schemas.openxmlformats.org/officeDocument/2006/extended-properties" xmlns:vt="http://schemas.openxmlformats.org/officeDocument/2006/docPropsVTypes">
  <Template/>
  <TotalTime>9058</TotalTime>
  <Words>13190</Words>
  <Application>Microsoft Office PowerPoint</Application>
  <PresentationFormat>Widescreen</PresentationFormat>
  <Paragraphs>3102</Paragraphs>
  <Slides>89</Slides>
  <Notes>0</Notes>
  <HiddenSlides>0</HiddenSlides>
  <MMClips>0</MMClips>
  <ScaleCrop>false</ScaleCrop>
  <HeadingPairs>
    <vt:vector size="4" baseType="variant">
      <vt:variant>
        <vt:lpstr>Theme</vt:lpstr>
      </vt:variant>
      <vt:variant>
        <vt:i4>1</vt:i4>
      </vt:variant>
      <vt:variant>
        <vt:lpstr>Slide Titles</vt:lpstr>
      </vt:variant>
      <vt:variant>
        <vt:i4>89</vt:i4>
      </vt:variant>
    </vt:vector>
  </HeadingPairs>
  <TitlesOfParts>
    <vt:vector size="90" baseType="lpstr">
      <vt:lpstr>2_GE Vernova</vt:lpstr>
      <vt:lpstr>PowerPoint Presentation</vt:lpstr>
      <vt:lpstr>Training Matrix</vt:lpstr>
      <vt:lpstr>Introduction</vt:lpstr>
      <vt:lpstr>MEA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APAC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LATAM</vt:lpstr>
      <vt:lpstr>PowerPoint Presentation</vt:lpstr>
      <vt:lpstr>PowerPoint Presentation</vt:lpstr>
      <vt:lpstr>PowerPoint Presentation</vt:lpstr>
      <vt:lpstr>PowerPoint Presentation</vt:lpstr>
      <vt:lpstr>PowerPoint Presentation</vt:lpstr>
      <vt:lpstr>PowerPoint Presentation</vt:lpstr>
      <vt:lpstr>NAM</vt:lpstr>
      <vt:lpstr>PowerPoint Presentation</vt:lpstr>
      <vt:lpstr>PowerPoint Presentation</vt:lpstr>
      <vt:lpstr>PowerPoint Presentation</vt:lpstr>
      <vt:lpstr>Europe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1 blue slide titles may be 2 lines</dc:title>
  <dc:subject/>
  <dc:creator>Matthew Koval (Interbrand)</dc:creator>
  <cp:keywords/>
  <dc:description/>
  <cp:lastModifiedBy>Randolph, Michael (GE Vernova)</cp:lastModifiedBy>
  <cp:revision>111</cp:revision>
  <dcterms:created xsi:type="dcterms:W3CDTF">2023-01-17T15:42:59Z</dcterms:created>
  <dcterms:modified xsi:type="dcterms:W3CDTF">2024-11-18T21:43:41Z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