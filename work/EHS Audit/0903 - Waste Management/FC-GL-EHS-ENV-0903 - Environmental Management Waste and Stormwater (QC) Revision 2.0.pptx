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9966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511E6-A727-42CC-8DE9-1AA510D0A958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F2CB9-52EC-4212-AA32-C268F8CF39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189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55B9BF-99C7-425D-A1C7-4E0B887165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GE Inspira Pitch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GE Inspira Pitch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5113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6AD7F-C662-41D1-80BE-A22E5BFB9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71ACA-D4F2-4B18-BBE3-3B5503E09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C845-D5C8-4574-AB3E-B86293053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7AE74-9B03-49A6-826D-1D7BDEB4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8C51B-3E11-42AD-B22A-6B69DE9CA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86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6F68A-C57F-4B94-AA69-2D631145D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D0C8-443C-463E-8D0C-175266AFD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2A257-D9C1-4FA6-A460-1D622B6E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1443D-F70E-4735-B899-CAEEDA076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BE153-F942-4F2B-BAB4-89A6448F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008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45B33-A3D7-4B1D-8509-D38C422C1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28DD15-659F-446A-929D-715144423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CC87E-7383-437A-8E5A-836263B25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2470E-ED5C-4F9F-B285-1B9796B21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DB7AD-270B-4495-8830-59A71EC4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253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0B0A-D2E4-41E1-A2E5-2ACFE796D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62661-DADF-4109-A5DC-827048E6A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AA124-90A4-41AE-9815-5BA2D1C71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60A04C-EFD5-4B2C-AA5B-E7A4A4321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ADC632-002B-4BBA-894A-F450853EB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F6BCD-7930-41F5-AB83-C3C9C247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564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9B72-E005-427B-A794-221CC626B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90FCC-FC9E-46E8-B657-DEFE4FAEB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263EF8-A458-418B-9FF9-501C3C0F2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5BB18-9531-4921-BBD1-74DAFD34E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23BD41-9CC9-4852-89CB-F3334CF6D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4162DF-4B5B-4AD4-8A47-0C9DDC205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039A3B-8925-4BB8-8A36-983D95DD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AEE89F-2567-465B-A756-28AEF1481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12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979E-64CA-4BBB-BABE-E38DE558C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3C2905-0884-404A-B0AF-95DD999E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C2D739-F182-4D69-B0EC-172090F33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55EE3-8454-4921-91CD-2BECB08FC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2326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507A4F-1AFD-432E-AB86-769094408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2D70AA-CC7F-491B-92AB-124B7963D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7C4A3-D53B-4CB6-8DBC-196DC883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76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1291-922D-4B07-85CA-74A4E27F1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DBD7F-7404-43BF-84F3-69B9D7876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A09A0-C2E5-411F-8879-86268E918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429D0-2F34-4305-BE7E-00CBB5042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C2401-F7EB-4DC3-857B-CFE9C6670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D275E-F858-4425-B024-CBCEA1D5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966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90B77-5962-45DA-9E0E-B5ACD9AC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693431-2DF8-4035-9FA2-E05E4E2AA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EA93E-09FF-4299-ABF1-4A6C78836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BB982-2647-4278-A4E5-0C3603108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8C3E0-2621-4571-AAE9-0A6D74891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E7BB0-7151-4C33-8E51-958C3461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28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8334C-F972-4FB9-9FF9-FA6A90FE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46359-4C00-495E-87DA-00E53F445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F9011-B387-4A0D-B557-6A19CECBB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5A4AB-34CD-41DE-9C73-BC4D08F0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B4646-4C33-48CC-80F5-828E188EA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51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6BF622-F4DE-4758-99AE-F83518C6C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FCBF8-E16E-4DA8-9339-362217282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833C1-754C-428A-AE6F-03FD5F05A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9F933-B312-42BA-B579-8671D0EF8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42E1-74E3-4835-AFE2-F39FCB16D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444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alf Text -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2534" y="1655445"/>
            <a:ext cx="4919133" cy="4397693"/>
          </a:xfrm>
        </p:spPr>
        <p:txBody>
          <a:bodyPr vert="horz" lIns="0" tIns="0" rIns="0" bIns="0" rtlCol="0">
            <a:noAutofit/>
          </a:bodyPr>
          <a:lstStyle>
            <a:lvl1pPr>
              <a:defRPr lang="en-US" sz="2000" dirty="0" smtClean="0"/>
            </a:lvl1pPr>
            <a:lvl2pPr>
              <a:defRPr lang="en-US" sz="1800" dirty="0" smtClean="0"/>
            </a:lvl2pPr>
            <a:lvl3pPr>
              <a:defRPr lang="en-US" sz="1600" dirty="0" smtClean="0"/>
            </a:lvl3pPr>
            <a:lvl4pPr>
              <a:defRPr lang="en-US" sz="1400" dirty="0" smtClean="0"/>
            </a:lvl4pPr>
          </a:lstStyle>
          <a:p>
            <a:pPr lvl="0">
              <a:spcBef>
                <a:spcPts val="1000"/>
              </a:spcBef>
            </a:pPr>
            <a:r>
              <a:rPr lang="en-US" dirty="0"/>
              <a:t>Click to edit Master text styles</a:t>
            </a:r>
          </a:p>
          <a:p>
            <a:pPr lvl="1">
              <a:spcBef>
                <a:spcPts val="1000"/>
              </a:spcBef>
            </a:pPr>
            <a:r>
              <a:rPr lang="en-US" dirty="0"/>
              <a:t>Second level</a:t>
            </a:r>
          </a:p>
          <a:p>
            <a:pPr lvl="2">
              <a:spcBef>
                <a:spcPts val="1000"/>
              </a:spcBef>
            </a:pPr>
            <a:r>
              <a:rPr lang="en-US" dirty="0"/>
              <a:t>Third level</a:t>
            </a:r>
          </a:p>
          <a:p>
            <a:pPr lvl="3">
              <a:spcBef>
                <a:spcPts val="1000"/>
              </a:spcBef>
            </a:pPr>
            <a:r>
              <a:rPr lang="en-US" dirty="0"/>
              <a:t>Fourth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Title or Job Number | XX Month 201X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58541-60C9-42A2-8392-FF12533A6B7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 hasCustomPrompt="1"/>
          </p:nvPr>
        </p:nvSpPr>
        <p:spPr>
          <a:xfrm>
            <a:off x="1" y="1728788"/>
            <a:ext cx="6019800" cy="43243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317128" y="171992"/>
            <a:ext cx="4975208" cy="615553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>
            <a:defPPr>
              <a:defRPr lang="en-US"/>
            </a:defPPr>
            <a:lvl1pPr>
              <a:defRPr sz="1200">
                <a:solidFill>
                  <a:srgbClr val="878787"/>
                </a:solidFill>
              </a:defRPr>
            </a:lvl1pPr>
          </a:lstStyle>
          <a:p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Gotham Rounded Bold" pitchFamily="50" charset="0"/>
              </a:rPr>
              <a:t>FIELDCORE EHS MANAGEMENT SYSTEM </a:t>
            </a:r>
          </a:p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Gotham Rounded Bold" pitchFamily="50" charset="0"/>
              </a:rPr>
              <a:t>EHS Procedure QuickCard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91FDCF-E5B8-4169-8B0C-B6F747E441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1511" y="166687"/>
            <a:ext cx="2190156" cy="63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44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C7467E-9F37-4E07-BA9E-8DB0198DE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F7C53B-6A7E-4A82-A066-62860E8E5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BA2DD-B8D2-4C98-A79D-3DE12EF6E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9752C-5C70-4AD2-BA2F-7A4AE864A789}" type="datetimeFigureOut">
              <a:rPr lang="en-GB" smtClean="0"/>
              <a:t>05/01/2024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13E3F-C5CF-4356-8031-FCEF5F901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22821-E9F4-43BE-8B0D-7AF6AA6D0F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9FDC1-F1FC-4F75-A41D-4AC90887D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73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9EEDA47-C771-4170-A7A7-F36383021FC8}"/>
              </a:ext>
            </a:extLst>
          </p:cNvPr>
          <p:cNvGrpSpPr/>
          <p:nvPr/>
        </p:nvGrpSpPr>
        <p:grpSpPr>
          <a:xfrm>
            <a:off x="306205" y="1545789"/>
            <a:ext cx="6645745" cy="5045810"/>
            <a:chOff x="316005" y="1763540"/>
            <a:chExt cx="6550621" cy="4392277"/>
          </a:xfrm>
        </p:grpSpPr>
        <p:pic>
          <p:nvPicPr>
            <p:cNvPr id="6" name="Picture 4" descr="Image result for hazardous waste drum storage pictures">
              <a:extLst>
                <a:ext uri="{FF2B5EF4-FFF2-40B4-BE49-F238E27FC236}">
                  <a16:creationId xmlns:a16="http://schemas.microsoft.com/office/drawing/2014/main" id="{3DB77837-D43F-4258-86EA-4168FE1E6B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5437" y="2076652"/>
              <a:ext cx="3541526" cy="3441983"/>
            </a:xfrm>
            <a:prstGeom prst="rect">
              <a:avLst/>
            </a:prstGeom>
            <a:noFill/>
            <a:effectLst>
              <a:softEdge rad="6350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41F70FE-0404-4096-9247-144DBA70FD7C}"/>
                </a:ext>
              </a:extLst>
            </p:cNvPr>
            <p:cNvGrpSpPr/>
            <p:nvPr/>
          </p:nvGrpSpPr>
          <p:grpSpPr>
            <a:xfrm>
              <a:off x="316005" y="1763540"/>
              <a:ext cx="5630940" cy="4392277"/>
              <a:chOff x="273524" y="1625615"/>
              <a:chExt cx="6418090" cy="4223234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83B17AF1-7BEB-404C-BAE7-E161E80684DF}"/>
                  </a:ext>
                </a:extLst>
              </p:cNvPr>
              <p:cNvSpPr/>
              <p:nvPr/>
            </p:nvSpPr>
            <p:spPr>
              <a:xfrm>
                <a:off x="2409865" y="2225170"/>
                <a:ext cx="2436957" cy="678115"/>
              </a:xfrm>
              <a:prstGeom prst="roundRect">
                <a:avLst/>
              </a:prstGeom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100" dirty="0">
                    <a:solidFill>
                      <a:schemeClr val="bg1"/>
                    </a:solidFill>
                    <a:latin typeface="Montserrat" panose="00000500000000000000" pitchFamily="2" charset="0"/>
                  </a:rPr>
                  <a:t>FieldCore Fixed Facilities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55D5E24D-8F22-4DFB-88CE-40DDF362BABC}"/>
                  </a:ext>
                </a:extLst>
              </p:cNvPr>
              <p:cNvSpPr/>
              <p:nvPr/>
            </p:nvSpPr>
            <p:spPr>
              <a:xfrm>
                <a:off x="2347996" y="3223347"/>
                <a:ext cx="2582981" cy="696327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05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Project / Service sites where FieldCore has contractual responsibility for waste</a:t>
                </a: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5FB18C37-A247-42C2-B5D1-2ABAD313885E}"/>
                  </a:ext>
                </a:extLst>
              </p:cNvPr>
              <p:cNvSpPr/>
              <p:nvPr/>
            </p:nvSpPr>
            <p:spPr>
              <a:xfrm>
                <a:off x="2425271" y="4326436"/>
                <a:ext cx="2477355" cy="696327"/>
              </a:xfrm>
              <a:prstGeom prst="roundRect">
                <a:avLst/>
              </a:prstGeom>
              <a:solidFill>
                <a:srgbClr val="FF9966"/>
              </a:solidFill>
              <a:scene3d>
                <a:camera prst="orthographicFront"/>
                <a:lightRig rig="threePt" dir="t"/>
              </a:scene3d>
              <a:sp3d>
                <a:bevelT w="165100" prst="coolSlant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050" dirty="0">
                    <a:solidFill>
                      <a:schemeClr val="tx1"/>
                    </a:solidFill>
                    <a:latin typeface="Montserrat" panose="00000500000000000000" pitchFamily="2" charset="0"/>
                  </a:rPr>
                  <a:t>Customer or Landlord has contractual responsibility for waste</a:t>
                </a: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C07FF436-73F2-4871-9183-223CF8C3C166}"/>
                  </a:ext>
                </a:extLst>
              </p:cNvPr>
              <p:cNvSpPr/>
              <p:nvPr/>
            </p:nvSpPr>
            <p:spPr>
              <a:xfrm>
                <a:off x="273524" y="1625615"/>
                <a:ext cx="6418090" cy="4223234"/>
              </a:xfrm>
              <a:prstGeom prst="roundRect">
                <a:avLst/>
              </a:prstGeom>
              <a:noFill/>
              <a:ln w="5397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Montserrat" panose="00000500000000000000" pitchFamily="2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914ADEB-F024-4D33-9FE3-A892C813B3AC}"/>
                  </a:ext>
                </a:extLst>
              </p:cNvPr>
              <p:cNvSpPr txBox="1"/>
              <p:nvPr/>
            </p:nvSpPr>
            <p:spPr>
              <a:xfrm>
                <a:off x="355864" y="3186412"/>
                <a:ext cx="1200144" cy="785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100" b="1" dirty="0">
                    <a:latin typeface="Montserrat" panose="00000500000000000000" pitchFamily="2" charset="0"/>
                  </a:rPr>
                  <a:t>Minimize waste generation where possible</a:t>
                </a: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0D055A8-396D-44BA-9843-9944B2E2479F}"/>
                </a:ext>
              </a:extLst>
            </p:cNvPr>
            <p:cNvSpPr txBox="1"/>
            <p:nvPr/>
          </p:nvSpPr>
          <p:spPr>
            <a:xfrm>
              <a:off x="4928975" y="2444852"/>
              <a:ext cx="1937651" cy="6697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>
                  <a:latin typeface="Montserrat" panose="00000500000000000000" pitchFamily="2" charset="0"/>
                </a:rPr>
                <a:t>Document Environmental Management activities using procedural forms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8E5FF3D-E6DB-41EB-A615-8CF16B6DBC59}"/>
                </a:ext>
              </a:extLst>
            </p:cNvPr>
            <p:cNvSpPr txBox="1"/>
            <p:nvPr/>
          </p:nvSpPr>
          <p:spPr>
            <a:xfrm>
              <a:off x="4917890" y="3239459"/>
              <a:ext cx="1948736" cy="11118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>
                  <a:latin typeface="Montserrat" panose="00000500000000000000" pitchFamily="2" charset="0"/>
                </a:rPr>
                <a:t>Select ComplyWorks approved waste vendor and assure vendor has signatory authority for hazardous waste manifest chain of custody responsibility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E100B3A-A52A-4FD4-B693-DFAD7E878874}"/>
                </a:ext>
              </a:extLst>
            </p:cNvPr>
            <p:cNvSpPr txBox="1"/>
            <p:nvPr/>
          </p:nvSpPr>
          <p:spPr>
            <a:xfrm>
              <a:off x="4917890" y="4460010"/>
              <a:ext cx="1721195" cy="8171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dirty="0">
                  <a:latin typeface="Montserrat" panose="00000500000000000000" pitchFamily="2" charset="0"/>
                </a:rPr>
                <a:t>Comply with customer or landlord requirements. </a:t>
              </a:r>
            </a:p>
            <a:p>
              <a:r>
                <a:rPr lang="en-GB" sz="1100" b="1" dirty="0">
                  <a:latin typeface="Montserrat" panose="00000500000000000000" pitchFamily="2" charset="0"/>
                </a:rPr>
                <a:t>Do not remove waste from site</a:t>
              </a:r>
            </a:p>
          </p:txBody>
        </p: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B56D5DF0-910D-4D1D-8DF0-7CBD867117F3}"/>
                </a:ext>
              </a:extLst>
            </p:cNvPr>
            <p:cNvSpPr/>
            <p:nvPr/>
          </p:nvSpPr>
          <p:spPr>
            <a:xfrm>
              <a:off x="1536593" y="2285592"/>
              <a:ext cx="408000" cy="3024102"/>
            </a:xfrm>
            <a:prstGeom prst="lef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sz="1200">
                <a:latin typeface="Montserrat" panose="00000500000000000000" pitchFamily="2" charset="0"/>
              </a:endParaRPr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35FEF554-3CF9-4EF6-98D0-F519D130F55B}"/>
                </a:ext>
              </a:extLst>
            </p:cNvPr>
            <p:cNvSpPr/>
            <p:nvPr/>
          </p:nvSpPr>
          <p:spPr>
            <a:xfrm>
              <a:off x="4550240" y="2745768"/>
              <a:ext cx="212800" cy="48910"/>
            </a:xfrm>
            <a:prstGeom prst="rightArrow">
              <a:avLst/>
            </a:prstGeom>
            <a:solidFill>
              <a:schemeClr val="tx1"/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>
                <a:latin typeface="Montserrat" panose="00000500000000000000" pitchFamily="2" charset="0"/>
              </a:endParaRPr>
            </a:p>
          </p:txBody>
        </p:sp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31F41181-163F-4ACA-952A-933261EC2459}"/>
                </a:ext>
              </a:extLst>
            </p:cNvPr>
            <p:cNvSpPr/>
            <p:nvPr/>
          </p:nvSpPr>
          <p:spPr>
            <a:xfrm>
              <a:off x="4570201" y="3738413"/>
              <a:ext cx="212800" cy="48910"/>
            </a:xfrm>
            <a:prstGeom prst="rightArrow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>
                <a:latin typeface="Montserrat" panose="00000500000000000000" pitchFamily="2" charset="0"/>
              </a:endParaRP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9555B39C-77DA-4FF5-A5B0-D066137ED4B2}"/>
                </a:ext>
              </a:extLst>
            </p:cNvPr>
            <p:cNvSpPr/>
            <p:nvPr/>
          </p:nvSpPr>
          <p:spPr>
            <a:xfrm>
              <a:off x="4598922" y="4819668"/>
              <a:ext cx="212800" cy="48910"/>
            </a:xfrm>
            <a:prstGeom prst="rightArrow">
              <a:avLst/>
            </a:prstGeom>
            <a:solidFill>
              <a:schemeClr val="tx1"/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200">
                <a:latin typeface="Montserrat" panose="00000500000000000000" pitchFamily="2" charset="0"/>
              </a:endParaRPr>
            </a:p>
          </p:txBody>
        </p:sp>
      </p:grpSp>
      <p:sp>
        <p:nvSpPr>
          <p:cNvPr id="11" name="Title 1"/>
          <p:cNvSpPr txBox="1">
            <a:spLocks/>
          </p:cNvSpPr>
          <p:nvPr/>
        </p:nvSpPr>
        <p:spPr>
          <a:xfrm>
            <a:off x="292870" y="975940"/>
            <a:ext cx="6125184" cy="297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rgbClr val="FF3300"/>
                </a:solidFill>
                <a:latin typeface="Montserrat" panose="00000500000000000000" pitchFamily="2" charset="0"/>
              </a:rPr>
              <a:t>FC-GL-EHS-ENV-0903: Environmental Management Waste and Stormwater</a:t>
            </a:r>
          </a:p>
        </p:txBody>
      </p:sp>
      <p:graphicFrame>
        <p:nvGraphicFramePr>
          <p:cNvPr id="16" name="Group 7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09243"/>
              </p:ext>
            </p:extLst>
          </p:nvPr>
        </p:nvGraphicFramePr>
        <p:xfrm>
          <a:off x="7654575" y="1237276"/>
          <a:ext cx="4423544" cy="2714573"/>
        </p:xfrm>
        <a:graphic>
          <a:graphicData uri="http://schemas.openxmlformats.org/drawingml/2006/table">
            <a:tbl>
              <a:tblPr/>
              <a:tblGrid>
                <a:gridCol w="4423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6415">
                <a:tc>
                  <a:txBody>
                    <a:bodyPr/>
                    <a:lstStyle/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1" kern="1200" dirty="0">
                          <a:solidFill>
                            <a:schemeClr val="bg1"/>
                          </a:solidFill>
                          <a:latin typeface="Gotham Rounded Book" pitchFamily="50" charset="0"/>
                          <a:ea typeface="+mj-ea"/>
                          <a:cs typeface="Arial" pitchFamily="34" charset="0"/>
                        </a:rPr>
                        <a:t>Key </a:t>
                      </a:r>
                      <a:r>
                        <a:rPr lang="en-AU" sz="1600" b="1" kern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+mj-ea"/>
                          <a:cs typeface="Arial" pitchFamily="34" charset="0"/>
                        </a:rPr>
                        <a:t>Points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7151">
                <a:tc>
                  <a:txBody>
                    <a:bodyPr/>
                    <a:lstStyle/>
                    <a:p>
                      <a:pPr marL="190500" marR="0" lvl="0" indent="-190500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1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Replaces and supersedes </a:t>
                      </a:r>
                    </a:p>
                    <a:p>
                      <a:pPr marL="0" marR="0" lvl="0" indent="0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     - FC-GL-EHS-ENV-0903: Waste Management</a:t>
                      </a: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1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Applicability chart to identify different requirements for customer sites and fixed facilities</a:t>
                      </a: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1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Requirement to follow waste hierarchy where possible</a:t>
                      </a: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itchFamily="34" charset="0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7151">
                <a:tc>
                  <a:txBody>
                    <a:bodyPr/>
                    <a:lstStyle/>
                    <a:p>
                      <a:pPr marL="190500" marR="0" lvl="0" indent="-190500" algn="l" defTabSz="6953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GB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itchFamily="34" charset="0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977450"/>
                  </a:ext>
                </a:extLst>
              </a:tr>
            </a:tbl>
          </a:graphicData>
        </a:graphic>
      </p:graphicFrame>
      <p:graphicFrame>
        <p:nvGraphicFramePr>
          <p:cNvPr id="17" name="Group 7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03061"/>
              </p:ext>
            </p:extLst>
          </p:nvPr>
        </p:nvGraphicFramePr>
        <p:xfrm>
          <a:off x="7717026" y="2978315"/>
          <a:ext cx="4361093" cy="2002128"/>
        </p:xfrm>
        <a:graphic>
          <a:graphicData uri="http://schemas.openxmlformats.org/drawingml/2006/table">
            <a:tbl>
              <a:tblPr/>
              <a:tblGrid>
                <a:gridCol w="4361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5334">
                <a:tc>
                  <a:txBody>
                    <a:bodyPr/>
                    <a:lstStyle/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1" kern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+mj-ea"/>
                          <a:cs typeface="Arial" pitchFamily="34" charset="0"/>
                        </a:rPr>
                        <a:t>Key </a:t>
                      </a:r>
                      <a:r>
                        <a:rPr lang="en-AU" sz="1600" b="0" kern="1200" dirty="0">
                          <a:solidFill>
                            <a:schemeClr val="bg1"/>
                          </a:solidFill>
                          <a:latin typeface="Montserrat" panose="00000500000000000000" pitchFamily="2" charset="0"/>
                          <a:ea typeface="+mj-ea"/>
                          <a:cs typeface="Arial" pitchFamily="34" charset="0"/>
                        </a:rPr>
                        <a:t>Tools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903">
                <a:tc>
                  <a:txBody>
                    <a:bodyPr/>
                    <a:lstStyle/>
                    <a:p>
                      <a:pPr marL="190500" marR="0" lvl="0" indent="-19050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1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FC-GL-EHS-ENV-0903-F1: Waste Inventory – Fixed Facilities</a:t>
                      </a: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1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FC-GL-EHS-ENV-0903-F2: Waste Disposal Log</a:t>
                      </a: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1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FC-GL-EHS-ENV-0903-F3: Weekly Waste Inspection Checklist</a:t>
                      </a: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FC-GL-EHS-ENV-0903-F4</a:t>
                      </a:r>
                      <a:r>
                        <a:rPr kumimoji="0" lang="en-GB" sz="11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: Stormwater Pollution Exposure Inspection </a:t>
                      </a: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1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FC-GL-EHS-ENV-0903-G1: Waste Risk Assessment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Group 7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786412"/>
              </p:ext>
            </p:extLst>
          </p:nvPr>
        </p:nvGraphicFramePr>
        <p:xfrm>
          <a:off x="7750097" y="5063708"/>
          <a:ext cx="4328022" cy="1368454"/>
        </p:xfrm>
        <a:graphic>
          <a:graphicData uri="http://schemas.openxmlformats.org/drawingml/2006/table">
            <a:tbl>
              <a:tblPr/>
              <a:tblGrid>
                <a:gridCol w="43280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1303">
                <a:tc>
                  <a:txBody>
                    <a:bodyPr/>
                    <a:lstStyle/>
                    <a:p>
                      <a:pPr marL="0" marR="0" lvl="0" indent="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352425" algn="l"/>
                          <a:tab pos="722313" algn="l"/>
                          <a:tab pos="1074738" algn="l"/>
                          <a:tab pos="1427163" algn="l"/>
                          <a:tab pos="1700213" algn="l"/>
                        </a:tabLst>
                      </a:pPr>
                      <a:r>
                        <a:rPr lang="en-AU" sz="1600" b="1" kern="1200" dirty="0">
                          <a:solidFill>
                            <a:schemeClr val="bg1"/>
                          </a:solidFill>
                          <a:latin typeface="Gotham Rounded Book" pitchFamily="50" charset="0"/>
                          <a:ea typeface="+mj-ea"/>
                          <a:cs typeface="Arial" pitchFamily="34" charset="0"/>
                        </a:rPr>
                        <a:t>Further Work / Support</a:t>
                      </a: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7151">
                <a:tc>
                  <a:txBody>
                    <a:bodyPr/>
                    <a:lstStyle/>
                    <a:p>
                      <a:pPr marL="190500" marR="0" lvl="0" indent="-19050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1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Fixed Facilities compliance calendar task for annual stormwater pollution exposure inspection</a:t>
                      </a:r>
                    </a:p>
                    <a:p>
                      <a:pPr marL="190500" marR="0" lvl="0" indent="-190500" algn="l" defTabSz="6953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0A1B5F"/>
                        </a:buClr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en-GB" sz="115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Full Implementation by: 30 </a:t>
                      </a:r>
                      <a:r>
                        <a:rPr kumimoji="0" lang="en-GB" sz="115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ontserrat" panose="00000500000000000000" pitchFamily="2" charset="0"/>
                          <a:ea typeface="+mn-ea"/>
                          <a:cs typeface="Calibri" pitchFamily="34" charset="0"/>
                        </a:rPr>
                        <a:t>Jan 2024</a:t>
                      </a:r>
                      <a:endParaRPr kumimoji="0" lang="en-GB" sz="115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ontserrat" panose="00000500000000000000" pitchFamily="2" charset="0"/>
                        <a:ea typeface="+mn-ea"/>
                        <a:cs typeface="Calibri" pitchFamily="34" charset="0"/>
                      </a:endParaRPr>
                    </a:p>
                  </a:txBody>
                  <a:tcPr marL="83077" marR="83077" marT="54000" marB="54000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E5CA0C50-94E0-413B-AF93-BA4B98E37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658" y="6319406"/>
            <a:ext cx="1110687" cy="427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F44368-B5D9-43EB-AF47-5BD189A4E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157" y="6318076"/>
            <a:ext cx="1192206" cy="44835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C39265F-F98D-4C92-9AF9-C5A1B0C524C0}"/>
              </a:ext>
            </a:extLst>
          </p:cNvPr>
          <p:cNvSpPr txBox="1"/>
          <p:nvPr/>
        </p:nvSpPr>
        <p:spPr>
          <a:xfrm>
            <a:off x="11286227" y="6591599"/>
            <a:ext cx="9057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V3 / Oct 2022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35750C9-76D5-438B-8BB6-FB727B6161C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556" y="1214048"/>
            <a:ext cx="415282" cy="391288"/>
          </a:xfrm>
          <a:prstGeom prst="rect">
            <a:avLst/>
          </a:prstGeom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4148" y="2942920"/>
            <a:ext cx="384972" cy="422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711" y="5031953"/>
            <a:ext cx="384971" cy="39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653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ss_x0020_Owmer xmlns="25586fb6-ed09-4f2d-8ea7-eda1a9fd2320">
      <UserInfo>
        <DisplayName>Trujillo, Jennifer (GE Vernova)</DisplayName>
        <AccountId>1839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 xsi:nil="true"/>
    <LastReviewDate xmlns="cc7fbaa3-8214-4644-99f1-d2e5a6ae9914" xsi:nil="true"/>
    <RevisionNumber xmlns="cc7fbaa3-8214-4644-99f1-d2e5a6ae9914" xsi:nil="true"/>
  </documentManagement>
</p:properties>
</file>

<file path=customXml/itemProps1.xml><?xml version="1.0" encoding="utf-8"?>
<ds:datastoreItem xmlns:ds="http://schemas.openxmlformats.org/officeDocument/2006/customXml" ds:itemID="{A877585D-CD3A-4501-B6E1-8653B84B81BB}"/>
</file>

<file path=customXml/itemProps2.xml><?xml version="1.0" encoding="utf-8"?>
<ds:datastoreItem xmlns:ds="http://schemas.openxmlformats.org/officeDocument/2006/customXml" ds:itemID="{E3972B31-C2FF-4FFB-B32F-2DEC25B097A4}"/>
</file>

<file path=customXml/itemProps3.xml><?xml version="1.0" encoding="utf-8"?>
<ds:datastoreItem xmlns:ds="http://schemas.openxmlformats.org/officeDocument/2006/customXml" ds:itemID="{BBC311B3-B8AF-4BB3-A11D-D107A28DAE87}"/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161</Words>
  <Application>Microsoft Office PowerPoint</Application>
  <PresentationFormat>Widescreen</PresentationFormat>
  <Paragraphs>25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GE Inspira Pitch</vt:lpstr>
      <vt:lpstr>Gotham Rounded Bold</vt:lpstr>
      <vt:lpstr>Gotham Rounded Book</vt:lpstr>
      <vt:lpstr>Montserrat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Wright, Keith (Granite)</dc:creator>
  <cp:lastModifiedBy>Edwards1, Mark (GE Vernova)</cp:lastModifiedBy>
  <cp:revision>74</cp:revision>
  <dcterms:created xsi:type="dcterms:W3CDTF">2017-11-29T10:17:31Z</dcterms:created>
  <dcterms:modified xsi:type="dcterms:W3CDTF">2024-01-05T12:58:00Z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