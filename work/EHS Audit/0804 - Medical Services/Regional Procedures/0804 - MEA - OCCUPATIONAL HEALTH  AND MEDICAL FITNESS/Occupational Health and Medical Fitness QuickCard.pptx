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20" r:id="rId4"/>
  </p:sldMasterIdLst>
  <p:notesMasterIdLst>
    <p:notesMasterId r:id="rId6"/>
  </p:notesMasterIdLst>
  <p:handoutMasterIdLst>
    <p:handoutMasterId r:id="rId7"/>
  </p:handoutMasterIdLst>
  <p:sldIdLst>
    <p:sldId id="288" r:id="rId5"/>
  </p:sldIdLst>
  <p:sldSz cx="12192000" cy="6858000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Montserrat" panose="00000500000000000000" pitchFamily="2" charset="0"/>
      <p:regular r:id="rId12"/>
      <p:bold r:id="rId13"/>
      <p:italic r:id="rId14"/>
      <p:boldItalic r:id="rId15"/>
    </p:embeddedFont>
    <p:embeddedFont>
      <p:font typeface="Montserrat Light" panose="00000400000000000000" pitchFamily="2" charset="0"/>
      <p:regular r:id="rId16"/>
      <p:italic r:id="rId17"/>
    </p:embeddedFont>
    <p:embeddedFont>
      <p:font typeface="Montserrat SemiBold" panose="00000700000000000000" pitchFamily="2" charset="0"/>
      <p:bold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s" id="{19B0068E-58D5-4B0F-BF59-D31288384082}">
          <p14:sldIdLst/>
        </p14:section>
        <p14:section name="Section Dividers" id="{FF4F9912-A49F-478F-A41C-068A93868F5B}">
          <p14:sldIdLst/>
        </p14:section>
        <p14:section name="Text and Content Slides" id="{C5CDFF87-AAB8-4760-89C3-E754182CDAAD}">
          <p14:sldIdLst>
            <p14:sldId id="288"/>
          </p14:sldIdLst>
        </p14:section>
        <p14:section name="Table Slides" id="{FD512581-63E3-4B33-BF60-C90C8ACADD91}">
          <p14:sldIdLst/>
        </p14:section>
        <p14:section name="Graphs" id="{B9D38125-E668-DC47-B7D2-EBE30D81008A}">
          <p14:sldIdLst/>
        </p14:section>
        <p14:section name="Image Slides" id="{C74422F3-E6CC-4188-83B6-5326EAA02976}">
          <p14:sldIdLst/>
        </p14:section>
        <p14:section name="Closing Slide" id="{D5690712-7C69-9945-AA3B-A9D78AC69BD1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00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9AAA"/>
    <a:srgbClr val="3FAE2A"/>
    <a:srgbClr val="B7E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7752061-5463-48E6-A297-43E0E91C0267}">
  <a:tblStyle styleId="{0817EA92-75D0-4044-A80A-286907CE0DDB}" styleName="GE Ruled Table">
    <a:wholeTbl>
      <a:tcTxStyle>
        <a:fontRef idx="minor">
          <a:prstClr val="black"/>
        </a:fontRef>
        <a:schemeClr val="accent2"/>
      </a:tcTxStyle>
      <a:tcStyle>
        <a:tcBdr>
          <a:left>
            <a:ln w="0" cmpd="sng">
              <a:solidFill>
                <a:schemeClr val="bg1"/>
              </a:solidFill>
            </a:ln>
          </a:left>
          <a:right>
            <a:ln w="0" cmpd="sng">
              <a:solidFill>
                <a:schemeClr val="bg1"/>
              </a:solidFill>
            </a:ln>
          </a:right>
          <a:top>
            <a:ln w="19050" cmpd="sng">
              <a:gradFill>
                <a:gsLst>
                  <a:gs pos="0">
                    <a:schemeClr val="bg1"/>
                  </a:gs>
                  <a:gs pos="25000">
                    <a:srgbClr val="B7E6FF"/>
                  </a:gs>
                  <a:gs pos="100000">
                    <a:schemeClr val="accent3"/>
                  </a:gs>
                </a:gsLst>
                <a:lin ang="0" scaled="0"/>
              </a:gradFill>
            </a:ln>
          </a:top>
          <a:bottom>
            <a:ln w="0" cmpd="sng">
              <a:solidFill>
                <a:schemeClr val="bg1"/>
              </a:solidFill>
            </a:ln>
          </a:bottom>
          <a:insideH>
            <a:ln w="19050" cmpd="sng">
              <a:gradFill>
                <a:gsLst>
                  <a:gs pos="0">
                    <a:schemeClr val="bg1"/>
                  </a:gs>
                  <a:gs pos="25000">
                    <a:srgbClr val="B7E6FF"/>
                  </a:gs>
                  <a:gs pos="100000">
                    <a:schemeClr val="accent3"/>
                  </a:gs>
                </a:gsLst>
                <a:lin ang="0" scaled="0"/>
              </a:gradFill>
            </a:ln>
          </a:insideH>
          <a:insideV>
            <a:ln w="0" cmpd="sng">
              <a:solidFill>
                <a:schemeClr val="bg1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TxStyle b="on">
        <a:fontRef idx="minor">
          <a:prstClr val="black"/>
        </a:fontRef>
        <a:schemeClr val="accent2"/>
      </a:tcTxStyle>
      <a:tcStyle>
        <a:tcBdr>
          <a:top>
            <a:ln w="0" cmpd="sng">
              <a:solidFill>
                <a:schemeClr val="lt1"/>
              </a:solidFill>
            </a:ln>
          </a:top>
          <a:insideH>
            <a:ln w="0" cmpd="sng">
              <a:solidFill>
                <a:schemeClr val="lt1"/>
              </a:solidFill>
            </a:ln>
          </a:insideH>
        </a:tcBdr>
      </a:tcStyle>
    </a:firstCol>
    <a:lastRow>
      <a:tcStyle>
        <a:tcBdr/>
      </a:tcStyle>
    </a:lastRow>
    <a:firstRow>
      <a:tcStyle>
        <a:tcBdr/>
      </a:tcStyle>
    </a:firstRow>
  </a:tblStyle>
  <a:tblStyle styleId="{B7752061-5463-48E6-A297-43E0E91C0267}" styleName="GE Solid Table">
    <a:wholeTbl>
      <a:tcTxStyle>
        <a:fontRef idx="minor">
          <a:prstClr val="black"/>
        </a:fontRef>
        <a:schemeClr val="accent2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712" autoAdjust="0"/>
  </p:normalViewPr>
  <p:slideViewPr>
    <p:cSldViewPr snapToGrid="0" showGuides="1">
      <p:cViewPr varScale="1">
        <p:scale>
          <a:sx n="90" d="100"/>
          <a:sy n="90" d="100"/>
        </p:scale>
        <p:origin x="576" y="78"/>
      </p:cViewPr>
      <p:guideLst>
        <p:guide orient="horz" pos="1008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8056"/>
    </p:cViewPr>
  </p:sorterViewPr>
  <p:notesViewPr>
    <p:cSldViewPr snapToGrid="0" showGuides="1">
      <p:cViewPr varScale="1">
        <p:scale>
          <a:sx n="84" d="100"/>
          <a:sy n="84" d="100"/>
        </p:scale>
        <p:origin x="3828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customXml" Target="../customXml/item2.xml"/><Relationship Id="rId16" Type="http://schemas.openxmlformats.org/officeDocument/2006/relationships/font" Target="fonts/font9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font" Target="fonts/font8.fntdata"/><Relationship Id="rId23" Type="http://schemas.openxmlformats.org/officeDocument/2006/relationships/tableStyles" Target="tableStyle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1741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 dirty="0">
              <a:latin typeface="Montserrat Light" panose="00000400000000000000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366259" y="0"/>
            <a:ext cx="2490153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F77B6-06AB-43A3-89A4-8CD1677993D0}" type="datetimeFigureOut">
              <a:rPr lang="en-CA" smtClean="0">
                <a:latin typeface="Montserrat Light" panose="00000400000000000000" pitchFamily="2" charset="0"/>
              </a:rPr>
              <a:t>2021-06-07</a:t>
            </a:fld>
            <a:endParaRPr lang="en-CA" dirty="0">
              <a:latin typeface="Montserrat Light" panose="00000400000000000000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 dirty="0">
              <a:latin typeface="Montserrat Light" panose="00000400000000000000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762B2D-468D-4837-8CAA-70AF425658B8}" type="slidenum">
              <a:rPr lang="en-CA" smtClean="0">
                <a:latin typeface="Montserrat Light" panose="00000400000000000000" pitchFamily="2" charset="0"/>
              </a:rPr>
              <a:t>‹#›</a:t>
            </a:fld>
            <a:endParaRPr lang="en-CA" dirty="0">
              <a:latin typeface="Montserrat Light" panose="000004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0852D4-37A9-4D73-BE44-8725E8DF82A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91530" y="0"/>
            <a:ext cx="147494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0291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5146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ontserrat Light" panose="00000400000000000000" pitchFamily="2" charset="0"/>
              </a:defRPr>
            </a:lvl1pPr>
          </a:lstStyle>
          <a:p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341811" y="0"/>
            <a:ext cx="2514601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ontserrat Light" panose="00000400000000000000" pitchFamily="2" charset="0"/>
              </a:defRPr>
            </a:lvl1pPr>
          </a:lstStyle>
          <a:p>
            <a:fld id="{9B6804B0-AD37-4623-8498-3C9AE39E25E5}" type="datetimeFigureOut">
              <a:rPr lang="en-CA" smtClean="0"/>
              <a:pPr/>
              <a:t>2021-06-07</a:t>
            </a:fld>
            <a:endParaRPr lang="en-C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77687" y="4343400"/>
            <a:ext cx="6102626" cy="41148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ontserrat Light" panose="00000400000000000000" pitchFamily="2" charset="0"/>
              </a:defRPr>
            </a:lvl1pPr>
          </a:lstStyle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ontserrat Light" panose="00000400000000000000" pitchFamily="2" charset="0"/>
              </a:defRPr>
            </a:lvl1pPr>
          </a:lstStyle>
          <a:p>
            <a:fld id="{80CDABC8-FD09-47BC-822A-A981D494E0D7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2B339A-0230-4555-B3E7-851136367E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530" y="0"/>
            <a:ext cx="147494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857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 Light" panose="00000400000000000000" pitchFamily="2" charset="0"/>
        <a:ea typeface="+mn-ea"/>
        <a:cs typeface="+mn-cs"/>
      </a:defRPr>
    </a:lvl1pPr>
    <a:lvl2pPr marL="228600" indent="0" algn="l" defTabSz="914400" rtl="0" eaLnBrk="1" latinLnBrk="0" hangingPunct="1">
      <a:defRPr sz="1200" kern="1200">
        <a:solidFill>
          <a:schemeClr val="tx1"/>
        </a:solidFill>
        <a:latin typeface="Montserrat Light" panose="00000400000000000000" pitchFamily="2" charset="0"/>
        <a:ea typeface="+mn-ea"/>
        <a:cs typeface="+mn-cs"/>
      </a:defRPr>
    </a:lvl2pPr>
    <a:lvl3pPr marL="457200" indent="0" algn="l" defTabSz="914400" rtl="0" eaLnBrk="1" latinLnBrk="0" hangingPunct="1">
      <a:defRPr sz="1200" kern="1200">
        <a:solidFill>
          <a:schemeClr val="tx1"/>
        </a:solidFill>
        <a:latin typeface="Montserrat Light" panose="00000400000000000000" pitchFamily="2" charset="0"/>
        <a:ea typeface="+mn-ea"/>
        <a:cs typeface="+mn-cs"/>
      </a:defRPr>
    </a:lvl3pPr>
    <a:lvl4pPr marL="685800" indent="0" algn="l" defTabSz="914400" rtl="0" eaLnBrk="1" latinLnBrk="0" hangingPunct="1">
      <a:defRPr sz="1200" kern="1200">
        <a:solidFill>
          <a:schemeClr val="tx1"/>
        </a:solidFill>
        <a:latin typeface="Montserrat Light" panose="00000400000000000000" pitchFamily="2" charset="0"/>
        <a:ea typeface="+mn-ea"/>
        <a:cs typeface="+mn-cs"/>
      </a:defRPr>
    </a:lvl4pPr>
    <a:lvl5pPr marL="914400" indent="0" algn="l" defTabSz="914400" rtl="0" eaLnBrk="1" latinLnBrk="0" hangingPunct="1">
      <a:defRPr sz="1200" kern="1200">
        <a:solidFill>
          <a:schemeClr val="tx1"/>
        </a:solidFill>
        <a:latin typeface="Montserrat Light" panose="000004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CDABC8-FD09-47BC-822A-A981D494E0D7}" type="slidenum">
              <a:rPr lang="en-CA" smtClean="0"/>
              <a:pPr/>
              <a:t>1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53614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No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B1A55E8-7CD4-41D3-8CAA-B68CF83BFF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276" y="190318"/>
            <a:ext cx="4818573" cy="23237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1400">
                <a:latin typeface="Montserrat SemiBold" panose="00000700000000000000" pitchFamily="2" charset="0"/>
              </a:defRPr>
            </a:lvl1pPr>
          </a:lstStyle>
          <a:p>
            <a:r>
              <a:rPr lang="en-US" dirty="0"/>
              <a:t>FIELDCORE EHS MANAGEMENT SYSTEM</a:t>
            </a:r>
            <a:endParaRPr lang="en-CA" dirty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5158343C-E1EC-4F60-8894-D778F694222F}"/>
              </a:ext>
            </a:extLst>
          </p:cNvPr>
          <p:cNvSpPr txBox="1">
            <a:spLocks/>
          </p:cNvSpPr>
          <p:nvPr userDrawn="1"/>
        </p:nvSpPr>
        <p:spPr>
          <a:xfrm>
            <a:off x="331398" y="375248"/>
            <a:ext cx="4844452" cy="42269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1600" kern="1200" spc="0">
                <a:solidFill>
                  <a:schemeClr val="tx2"/>
                </a:solidFill>
                <a:latin typeface="Montserrat SemiBold" panose="00000700000000000000" pitchFamily="2" charset="0"/>
                <a:ea typeface="Montserrat Light" panose="00000400000000000000" pitchFamily="2" charset="0"/>
                <a:cs typeface="Montserrat Light" panose="00000400000000000000" pitchFamily="2" charset="0"/>
              </a:defRPr>
            </a:lvl1pPr>
          </a:lstStyle>
          <a:p>
            <a:r>
              <a:rPr lang="en-US" sz="2600" dirty="0"/>
              <a:t>EHS Procedure QuickCard</a:t>
            </a:r>
            <a:endParaRPr lang="en-CA" sz="2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922DC8-F763-44D9-8412-32C88E32F0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555" y="97719"/>
            <a:ext cx="2349386" cy="91157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5"/>
          <p:cNvSpPr txBox="1">
            <a:spLocks/>
          </p:cNvSpPr>
          <p:nvPr userDrawn="1"/>
        </p:nvSpPr>
        <p:spPr>
          <a:xfrm>
            <a:off x="495300" y="6378815"/>
            <a:ext cx="329636" cy="182880"/>
          </a:xfrm>
          <a:prstGeom prst="rect">
            <a:avLst/>
          </a:prstGeom>
          <a:noFill/>
        </p:spPr>
        <p:txBody>
          <a:bodyPr lIns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00E6A5BD-C011-4A45-AA3A-201790FB7F2B}" type="slidenum">
              <a:rPr lang="en-CA" sz="800" b="0" i="0" smtClean="0">
                <a:solidFill>
                  <a:schemeClr val="bg1">
                    <a:lumMod val="50000"/>
                  </a:schemeClr>
                </a:solidFill>
                <a:latin typeface="Montserrat Light" panose="00000400000000000000" pitchFamily="2" charset="0"/>
                <a:ea typeface="Gotham Rounded Book" charset="0"/>
                <a:cs typeface="Gotham Rounded Book" charset="0"/>
              </a:rPr>
              <a:pPr algn="l"/>
              <a:t>‹#›</a:t>
            </a:fld>
            <a:endParaRPr lang="en-CA" sz="800" b="0" i="0" dirty="0">
              <a:solidFill>
                <a:schemeClr val="bg1">
                  <a:lumMod val="50000"/>
                </a:schemeClr>
              </a:solidFill>
              <a:latin typeface="Montserrat Light" panose="00000400000000000000" pitchFamily="2" charset="0"/>
              <a:ea typeface="Gotham Rounded Book" charset="0"/>
              <a:cs typeface="Gotham Rounded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769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</p:sldLayoutIdLst>
  <p:transition spd="slow">
    <p:push dir="u"/>
  </p:transition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spc="0">
          <a:solidFill>
            <a:schemeClr val="tx2"/>
          </a:solidFill>
          <a:latin typeface="Montserrat Light" panose="00000400000000000000" pitchFamily="2" charset="0"/>
          <a:ea typeface="Montserrat Light" panose="00000400000000000000" pitchFamily="2" charset="0"/>
          <a:cs typeface="Montserrat Light" panose="00000400000000000000" pitchFamily="2" charset="0"/>
        </a:defRPr>
      </a:lvl1pPr>
    </p:titleStyle>
    <p:bodyStyle>
      <a:lvl1pPr marL="155448" indent="-155448" algn="l" defTabSz="914400" rtl="0" eaLnBrk="1" latinLnBrk="0" hangingPunct="1">
        <a:lnSpc>
          <a:spcPct val="90000"/>
        </a:lnSpc>
        <a:spcBef>
          <a:spcPts val="800"/>
        </a:spcBef>
        <a:spcAft>
          <a:spcPts val="300"/>
        </a:spcAft>
        <a:buClrTx/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Montserrat Light" panose="00000400000000000000" pitchFamily="2" charset="0"/>
          <a:ea typeface="Montserrat Light" panose="00000400000000000000" pitchFamily="2" charset="0"/>
          <a:cs typeface="Montserrat Light" panose="00000400000000000000" pitchFamily="2" charset="0"/>
        </a:defRPr>
      </a:lvl1pPr>
      <a:lvl2pPr marL="155448" indent="0" algn="l" defTabSz="91440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Tx/>
        <a:buNone/>
        <a:defRPr sz="1800" b="0" i="0" kern="1200">
          <a:solidFill>
            <a:schemeClr val="tx1"/>
          </a:solidFill>
          <a:latin typeface="Montserrat Light" panose="00000400000000000000" pitchFamily="2" charset="0"/>
          <a:ea typeface="Montserrat Light" panose="00000400000000000000" pitchFamily="2" charset="0"/>
          <a:cs typeface="Montserrat Light" panose="00000400000000000000" pitchFamily="2" charset="0"/>
        </a:defRPr>
      </a:lvl2pPr>
      <a:lvl3pPr marL="155448" indent="-155448" algn="l" defTabSz="914400" rtl="0" eaLnBrk="1" latinLnBrk="0" hangingPunct="1">
        <a:lnSpc>
          <a:spcPct val="90000"/>
        </a:lnSpc>
        <a:spcBef>
          <a:spcPts val="1100"/>
        </a:spcBef>
        <a:spcAft>
          <a:spcPts val="300"/>
        </a:spcAft>
        <a:buClrTx/>
        <a:buSzPct val="91000"/>
        <a:buFont typeface="Arial" charset="0"/>
        <a:buChar char="•"/>
        <a:defRPr lang="en-US" sz="1600" b="0" i="0" kern="1200" dirty="0">
          <a:solidFill>
            <a:schemeClr val="tx1"/>
          </a:solidFill>
          <a:latin typeface="Montserrat Light" panose="00000400000000000000" pitchFamily="2" charset="0"/>
          <a:ea typeface="Montserrat Light" panose="00000400000000000000" pitchFamily="2" charset="0"/>
          <a:cs typeface="Montserrat Light" panose="00000400000000000000" pitchFamily="2" charset="0"/>
        </a:defRPr>
      </a:lvl3pPr>
      <a:lvl4pPr marL="155448" indent="0" algn="l" defTabSz="91440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Tx/>
        <a:buNone/>
        <a:defRPr sz="1400" b="0" i="0" kern="1200">
          <a:solidFill>
            <a:schemeClr val="tx1"/>
          </a:solidFill>
          <a:latin typeface="Montserrat Light" panose="00000400000000000000" pitchFamily="2" charset="0"/>
          <a:ea typeface="Montserrat Light" panose="00000400000000000000" pitchFamily="2" charset="0"/>
          <a:cs typeface="Montserrat Light" panose="00000400000000000000" pitchFamily="2" charset="0"/>
        </a:defRPr>
      </a:lvl4pPr>
      <a:lvl5pPr marL="155448" indent="-155448" algn="l" defTabSz="914400" rtl="0" eaLnBrk="1" latinLnBrk="0" hangingPunct="1">
        <a:lnSpc>
          <a:spcPct val="99000"/>
        </a:lnSpc>
        <a:spcBef>
          <a:spcPts val="900"/>
        </a:spcBef>
        <a:buClr>
          <a:schemeClr val="accent5"/>
        </a:buClr>
        <a:buSzPct val="91000"/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192024" indent="0" algn="l" defTabSz="914400" rtl="0" eaLnBrk="1" latinLnBrk="0" hangingPunct="1">
        <a:lnSpc>
          <a:spcPct val="99000"/>
        </a:lnSpc>
        <a:spcBef>
          <a:spcPts val="0"/>
        </a:spcBef>
        <a:buSzPct val="91000"/>
        <a:buFontTx/>
        <a:buNone/>
        <a:defRPr sz="18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9000"/>
        </a:lnSpc>
        <a:spcBef>
          <a:spcPts val="900"/>
        </a:spcBef>
        <a:buSzPct val="91000"/>
        <a:buFontTx/>
        <a:buNone/>
        <a:defRPr sz="1800" b="1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9000"/>
        </a:lnSpc>
        <a:spcBef>
          <a:spcPts val="0"/>
        </a:spcBef>
        <a:buSzPct val="91000"/>
        <a:buFontTx/>
        <a:buNone/>
        <a:defRPr sz="18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9000"/>
        </a:lnSpc>
        <a:spcBef>
          <a:spcPts val="900"/>
        </a:spcBef>
        <a:buSzPct val="91000"/>
        <a:buFontTx/>
        <a:buNone/>
        <a:defRPr sz="1800" i="1" kern="1200">
          <a:solidFill>
            <a:schemeClr val="accent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lnSpc>
          <a:spcPct val="99000"/>
        </a:lnSpc>
        <a:defRPr sz="14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algn="l" defTabSz="914400" rtl="0" eaLnBrk="1" latinLnBrk="0" hangingPunct="1">
        <a:lnSpc>
          <a:spcPct val="99000"/>
        </a:lnSpc>
        <a:spcBef>
          <a:spcPts val="900"/>
        </a:spcBef>
        <a:defRPr sz="1400" b="1" kern="1200">
          <a:solidFill>
            <a:schemeClr val="accent2"/>
          </a:solidFill>
          <a:latin typeface="+mn-lt"/>
          <a:ea typeface="+mn-ea"/>
          <a:cs typeface="+mn-cs"/>
        </a:defRPr>
      </a:lvl2pPr>
      <a:lvl3pPr marL="155448" indent="-155448" algn="l" defTabSz="914400" rtl="0" eaLnBrk="1" latinLnBrk="0" hangingPunct="1">
        <a:lnSpc>
          <a:spcPct val="99000"/>
        </a:lnSpc>
        <a:buSzPct val="91000"/>
        <a:buFont typeface="Arial" panose="020B0604020202020204" pitchFamily="34" charset="0"/>
        <a:buChar char="•"/>
        <a:defRPr sz="14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155448" indent="-155448" algn="l" defTabSz="914400" rtl="0" eaLnBrk="1" latinLnBrk="0" hangingPunct="1">
        <a:lnSpc>
          <a:spcPct val="99000"/>
        </a:lnSpc>
        <a:spcBef>
          <a:spcPts val="900"/>
        </a:spcBef>
        <a:buSzPct val="91000"/>
        <a:buFont typeface="Arial" panose="020B0604020202020204" pitchFamily="34" charset="0"/>
        <a:buChar char="•"/>
        <a:defRPr sz="1400" b="1" kern="1200">
          <a:solidFill>
            <a:schemeClr val="accent2"/>
          </a:solidFill>
          <a:latin typeface="+mn-lt"/>
          <a:ea typeface="+mn-ea"/>
          <a:cs typeface="+mn-cs"/>
        </a:defRPr>
      </a:lvl4pPr>
      <a:lvl5pPr marL="155448" algn="l" defTabSz="914400" rtl="0" eaLnBrk="1" latinLnBrk="0" hangingPunct="1">
        <a:lnSpc>
          <a:spcPct val="99000"/>
        </a:lnSpc>
        <a:defRPr sz="14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0" algn="l" defTabSz="914400" rtl="0" eaLnBrk="1" latinLnBrk="0" hangingPunct="1">
        <a:lnSpc>
          <a:spcPct val="99000"/>
        </a:lnSpc>
        <a:defRPr sz="14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algn="l" defTabSz="914400" rtl="0" eaLnBrk="1" latinLnBrk="0" hangingPunct="1">
        <a:lnSpc>
          <a:spcPct val="99000"/>
        </a:lnSpc>
        <a:defRPr sz="1400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algn="l" defTabSz="914400" rtl="0" eaLnBrk="1" latinLnBrk="0" hangingPunct="1">
        <a:lnSpc>
          <a:spcPct val="99000"/>
        </a:lnSpc>
        <a:defRPr sz="14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algn="l" defTabSz="914400" rtl="0" eaLnBrk="1" latinLnBrk="0" hangingPunct="1">
        <a:lnSpc>
          <a:spcPct val="99000"/>
        </a:lnSpc>
        <a:defRPr sz="1400" kern="1200">
          <a:solidFill>
            <a:schemeClr val="accent2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40" userDrawn="1">
          <p15:clr>
            <a:srgbClr val="F26B43"/>
          </p15:clr>
        </p15:guide>
        <p15:guide id="3" pos="312" userDrawn="1">
          <p15:clr>
            <a:srgbClr val="F26B43"/>
          </p15:clr>
        </p15:guide>
        <p15:guide id="4" pos="7368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orient="horz" pos="480" userDrawn="1">
          <p15:clr>
            <a:srgbClr val="F26B43"/>
          </p15:clr>
        </p15:guide>
        <p15:guide id="10" orient="horz" pos="410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FFC97-8132-4E0E-8975-B0EF0828F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3DAAFC-298D-47A5-940B-214CE9F016AB}"/>
              </a:ext>
            </a:extLst>
          </p:cNvPr>
          <p:cNvSpPr txBox="1"/>
          <p:nvPr/>
        </p:nvSpPr>
        <p:spPr>
          <a:xfrm>
            <a:off x="10324638" y="6540137"/>
            <a:ext cx="162850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1000" dirty="0">
                <a:solidFill>
                  <a:schemeClr val="accent2"/>
                </a:solidFill>
                <a:latin typeface="Montserrat" panose="00000500000000000000" pitchFamily="2" charset="0"/>
              </a:rPr>
              <a:t>V1 / Jun 2021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00BDC15-303D-4B95-A3B7-90CD7FAE2080}"/>
              </a:ext>
            </a:extLst>
          </p:cNvPr>
          <p:cNvSpPr txBox="1">
            <a:spLocks/>
          </p:cNvSpPr>
          <p:nvPr/>
        </p:nvSpPr>
        <p:spPr>
          <a:xfrm>
            <a:off x="357276" y="833661"/>
            <a:ext cx="9967362" cy="33914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rgbClr val="FF3300"/>
                </a:solidFill>
                <a:latin typeface="Montserrat SemiBold" panose="00000700000000000000" pitchFamily="2" charset="0"/>
              </a:rPr>
              <a:t>FC-MEA-EHS-HEA-0804: MEA Occupational Health and Medical Fitness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43E6F0-5869-4D61-993B-F87995A52086}"/>
              </a:ext>
            </a:extLst>
          </p:cNvPr>
          <p:cNvSpPr txBox="1"/>
          <p:nvPr/>
        </p:nvSpPr>
        <p:spPr>
          <a:xfrm>
            <a:off x="922811" y="1901626"/>
            <a:ext cx="2832753" cy="4139595"/>
          </a:xfrm>
          <a:prstGeom prst="rect">
            <a:avLst/>
          </a:prstGeom>
          <a:gradFill rotWithShape="1">
            <a:gsLst>
              <a:gs pos="0">
                <a:srgbClr val="4472C4">
                  <a:satMod val="103000"/>
                  <a:lumMod val="102000"/>
                  <a:tint val="94000"/>
                </a:srgbClr>
              </a:gs>
              <a:gs pos="50000">
                <a:srgbClr val="4472C4">
                  <a:satMod val="110000"/>
                  <a:lumMod val="100000"/>
                  <a:shade val="100000"/>
                </a:srgbClr>
              </a:gs>
              <a:gs pos="100000">
                <a:srgbClr val="4472C4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</a:rPr>
              <a:t>Ensure all employees are aware of the procedure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</a:rPr>
              <a:t>Each FC employee and contractor are subjected to Medical Fitness test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</a:rPr>
              <a:t>Any abnormal cases are kept confidential and correct assignment of the role is ensured  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</a:rPr>
              <a:t>Records are maintained for at least 30 years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</a:rPr>
              <a:t>Country regulations are identified and incorporated in the Medical Protocols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</a:rPr>
              <a:t>Procedure is reviewed whenever there is change in regulations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BD9047D-D1AC-4F11-8EE8-C3F4AAF16399}"/>
              </a:ext>
            </a:extLst>
          </p:cNvPr>
          <p:cNvGrpSpPr/>
          <p:nvPr/>
        </p:nvGrpSpPr>
        <p:grpSpPr>
          <a:xfrm>
            <a:off x="3944219" y="1921452"/>
            <a:ext cx="3948547" cy="3870036"/>
            <a:chOff x="235526" y="1874982"/>
            <a:chExt cx="3948547" cy="3870036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B7E059F9-C10B-43D6-9E91-06F3EF5DB7EB}"/>
                </a:ext>
              </a:extLst>
            </p:cNvPr>
            <p:cNvSpPr/>
            <p:nvPr/>
          </p:nvSpPr>
          <p:spPr>
            <a:xfrm>
              <a:off x="831273" y="1874982"/>
              <a:ext cx="3352800" cy="738909"/>
            </a:xfrm>
            <a:prstGeom prst="roundRect">
              <a:avLst/>
            </a:prstGeom>
            <a:solidFill>
              <a:srgbClr val="4472C4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US" kern="0" dirty="0">
                  <a:solidFill>
                    <a:prstClr val="black"/>
                  </a:solidFill>
                  <a:latin typeface="Calibri" panose="020F0502020204030204"/>
                </a:rPr>
                <a:t>Employee entry Fitness test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BE34A5B-C28E-4175-8929-719B9D18FB6A}"/>
                </a:ext>
              </a:extLst>
            </p:cNvPr>
            <p:cNvSpPr/>
            <p:nvPr/>
          </p:nvSpPr>
          <p:spPr>
            <a:xfrm>
              <a:off x="831273" y="2918691"/>
              <a:ext cx="3352800" cy="738909"/>
            </a:xfrm>
            <a:prstGeom prst="roundRect">
              <a:avLst/>
            </a:prstGeom>
            <a:solidFill>
              <a:srgbClr val="4472C4">
                <a:lumMod val="40000"/>
                <a:lumOff val="60000"/>
              </a:srgbClr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US" kern="0" dirty="0">
                  <a:solidFill>
                    <a:prstClr val="black"/>
                  </a:solidFill>
                  <a:latin typeface="Calibri" panose="020F0502020204030204"/>
                </a:rPr>
                <a:t>Periodic Fitness test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D09E5BFD-7FA6-407B-9D14-58D5FE8C6132}"/>
                </a:ext>
              </a:extLst>
            </p:cNvPr>
            <p:cNvSpPr/>
            <p:nvPr/>
          </p:nvSpPr>
          <p:spPr>
            <a:xfrm>
              <a:off x="831273" y="3962400"/>
              <a:ext cx="3352800" cy="738909"/>
            </a:xfrm>
            <a:prstGeom prst="roundRect">
              <a:avLst/>
            </a:prstGeom>
            <a:solidFill>
              <a:srgbClr val="4472C4">
                <a:lumMod val="40000"/>
                <a:lumOff val="60000"/>
              </a:srgbClr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US" kern="0" dirty="0">
                  <a:solidFill>
                    <a:prstClr val="black"/>
                  </a:solidFill>
                  <a:latin typeface="Calibri" panose="020F0502020204030204"/>
                </a:rPr>
                <a:t>Post / Exit Fitness test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601DFE3B-5B28-4620-ADB7-E14BA04D463D}"/>
                </a:ext>
              </a:extLst>
            </p:cNvPr>
            <p:cNvSpPr/>
            <p:nvPr/>
          </p:nvSpPr>
          <p:spPr>
            <a:xfrm>
              <a:off x="831273" y="5006109"/>
              <a:ext cx="3352800" cy="738909"/>
            </a:xfrm>
            <a:prstGeom prst="roundRect">
              <a:avLst/>
            </a:prstGeom>
            <a:solidFill>
              <a:srgbClr val="4472C4">
                <a:lumMod val="40000"/>
                <a:lumOff val="60000"/>
              </a:srgbClr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txBody>
            <a:bodyPr rtlCol="0" anchor="ctr"/>
            <a:lstStyle/>
            <a:p>
              <a:pPr algn="ctr">
                <a:defRPr/>
              </a:pPr>
              <a:r>
                <a:rPr lang="en-US" kern="0" dirty="0">
                  <a:solidFill>
                    <a:prstClr val="black"/>
                  </a:solidFill>
                  <a:latin typeface="Calibri" panose="020F0502020204030204"/>
                </a:rPr>
                <a:t>Record Keeping</a:t>
              </a:r>
            </a:p>
          </p:txBody>
        </p:sp>
        <p:sp>
          <p:nvSpPr>
            <p:cNvPr id="18" name="Arrow: Curved Right 17">
              <a:extLst>
                <a:ext uri="{FF2B5EF4-FFF2-40B4-BE49-F238E27FC236}">
                  <a16:creationId xmlns:a16="http://schemas.microsoft.com/office/drawing/2014/main" id="{B090029F-4DFE-4398-872C-8FBFC6755FA7}"/>
                </a:ext>
              </a:extLst>
            </p:cNvPr>
            <p:cNvSpPr/>
            <p:nvPr/>
          </p:nvSpPr>
          <p:spPr>
            <a:xfrm>
              <a:off x="240142" y="2235201"/>
              <a:ext cx="489528" cy="955964"/>
            </a:xfrm>
            <a:prstGeom prst="curvedRightArrow">
              <a:avLst/>
            </a:prstGeom>
            <a:solidFill>
              <a:srgbClr val="4472C4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9" name="Arrow: Curved Right 18">
              <a:extLst>
                <a:ext uri="{FF2B5EF4-FFF2-40B4-BE49-F238E27FC236}">
                  <a16:creationId xmlns:a16="http://schemas.microsoft.com/office/drawing/2014/main" id="{32E5C611-69C8-401C-AA38-F48A5DFEE62E}"/>
                </a:ext>
              </a:extLst>
            </p:cNvPr>
            <p:cNvSpPr/>
            <p:nvPr/>
          </p:nvSpPr>
          <p:spPr>
            <a:xfrm>
              <a:off x="235526" y="3412836"/>
              <a:ext cx="489528" cy="955964"/>
            </a:xfrm>
            <a:prstGeom prst="curvedRightArrow">
              <a:avLst/>
            </a:prstGeom>
            <a:solidFill>
              <a:srgbClr val="4472C4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0" name="Arrow: Curved Right 19">
              <a:extLst>
                <a:ext uri="{FF2B5EF4-FFF2-40B4-BE49-F238E27FC236}">
                  <a16:creationId xmlns:a16="http://schemas.microsoft.com/office/drawing/2014/main" id="{CD40A770-C413-49BB-87F4-D464B9D78A77}"/>
                </a:ext>
              </a:extLst>
            </p:cNvPr>
            <p:cNvSpPr/>
            <p:nvPr/>
          </p:nvSpPr>
          <p:spPr>
            <a:xfrm>
              <a:off x="240145" y="4516577"/>
              <a:ext cx="489528" cy="955964"/>
            </a:xfrm>
            <a:prstGeom prst="curvedRightArrow">
              <a:avLst/>
            </a:prstGeom>
            <a:solidFill>
              <a:srgbClr val="4472C4"/>
            </a:solidFill>
            <a:ln w="12700" cap="flat" cmpd="sng" algn="ctr">
              <a:solidFill>
                <a:srgbClr val="4472C4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6EEEFA9-87A5-4AAD-B8E2-0035B0CCA2BF}"/>
              </a:ext>
            </a:extLst>
          </p:cNvPr>
          <p:cNvSpPr/>
          <p:nvPr/>
        </p:nvSpPr>
        <p:spPr>
          <a:xfrm>
            <a:off x="9135834" y="1285596"/>
            <a:ext cx="1511929" cy="400110"/>
          </a:xfrm>
          <a:prstGeom prst="roundRect">
            <a:avLst/>
          </a:prstGeom>
          <a:solidFill>
            <a:srgbClr val="70AD47"/>
          </a:solidFill>
          <a:ln w="12700" cap="flat" cmpd="sng" algn="ctr">
            <a:solidFill>
              <a:srgbClr val="70AD47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</a:rPr>
              <a:t>Purpose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05AA5F-F862-4379-B66D-5386F8E9A40F}"/>
              </a:ext>
            </a:extLst>
          </p:cNvPr>
          <p:cNvSpPr/>
          <p:nvPr/>
        </p:nvSpPr>
        <p:spPr>
          <a:xfrm>
            <a:off x="8243802" y="1824880"/>
            <a:ext cx="3465186" cy="2031325"/>
          </a:xfrm>
          <a:prstGeom prst="rect">
            <a:avLst/>
          </a:prstGeom>
          <a:gradFill rotWithShape="1">
            <a:gsLst>
              <a:gs pos="0">
                <a:srgbClr val="70AD47">
                  <a:satMod val="103000"/>
                  <a:lumMod val="102000"/>
                  <a:tint val="94000"/>
                </a:srgbClr>
              </a:gs>
              <a:gs pos="50000">
                <a:srgbClr val="70AD47">
                  <a:satMod val="110000"/>
                  <a:lumMod val="100000"/>
                  <a:shade val="100000"/>
                </a:srgbClr>
              </a:gs>
              <a:gs pos="100000">
                <a:srgbClr val="70AD47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70AD47"/>
            </a:solidFill>
            <a:prstDash val="solid"/>
            <a:miter lim="800000"/>
          </a:ln>
          <a:effectLst/>
        </p:spPr>
        <p:txBody>
          <a:bodyPr wrap="square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</a:rPr>
              <a:t>To meet country regulations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</a:rPr>
              <a:t>To meet business needs, customer requirements, best practices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</a:rPr>
              <a:t>Assure that employees / new hire candidate / contractors / sub-contractors are medically and physically capable to execute their tasks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0DF1966-268A-4BCB-9334-70FCEFCDB86D}"/>
              </a:ext>
            </a:extLst>
          </p:cNvPr>
          <p:cNvSpPr/>
          <p:nvPr/>
        </p:nvSpPr>
        <p:spPr>
          <a:xfrm>
            <a:off x="9220430" y="3933475"/>
            <a:ext cx="1511929" cy="400110"/>
          </a:xfrm>
          <a:prstGeom prst="roundRect">
            <a:avLst/>
          </a:prstGeom>
          <a:solidFill>
            <a:srgbClr val="70AD47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</a:rPr>
              <a:t>Advantage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7C27B44-9B31-4E04-A1E7-74868F24CA4D}"/>
              </a:ext>
            </a:extLst>
          </p:cNvPr>
          <p:cNvSpPr/>
          <p:nvPr/>
        </p:nvSpPr>
        <p:spPr>
          <a:xfrm>
            <a:off x="8280708" y="4403847"/>
            <a:ext cx="3465186" cy="1815882"/>
          </a:xfrm>
          <a:prstGeom prst="rect">
            <a:avLst/>
          </a:prstGeom>
          <a:gradFill rotWithShape="1">
            <a:gsLst>
              <a:gs pos="0">
                <a:srgbClr val="70AD47">
                  <a:satMod val="103000"/>
                  <a:lumMod val="102000"/>
                  <a:tint val="94000"/>
                </a:srgbClr>
              </a:gs>
              <a:gs pos="50000">
                <a:srgbClr val="70AD47">
                  <a:satMod val="110000"/>
                  <a:lumMod val="100000"/>
                  <a:shade val="100000"/>
                </a:srgbClr>
              </a:gs>
              <a:gs pos="100000">
                <a:srgbClr val="70AD47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70AD47"/>
            </a:solidFill>
            <a:prstDash val="solid"/>
            <a:miter lim="800000"/>
          </a:ln>
          <a:effectLst/>
        </p:spPr>
        <p:txBody>
          <a:bodyPr wrap="square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</a:rPr>
              <a:t>Generates robust data to manage and support legal cases.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</a:rPr>
              <a:t>Ensure better health of employees post job / retirement.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</a:rPr>
              <a:t>Keeping employee safe from the Occupational risks.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</a:rPr>
              <a:t>Know the trends related to Health hazards with employees.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CB52597-C9B0-40FA-AE93-66C81C818E54}"/>
              </a:ext>
            </a:extLst>
          </p:cNvPr>
          <p:cNvSpPr/>
          <p:nvPr/>
        </p:nvSpPr>
        <p:spPr>
          <a:xfrm>
            <a:off x="4539967" y="6216971"/>
            <a:ext cx="3352799" cy="477054"/>
          </a:xfrm>
          <a:prstGeom prst="roundRect">
            <a:avLst/>
          </a:prstGeom>
          <a:solidFill>
            <a:srgbClr val="70AD47"/>
          </a:solidFill>
          <a:ln w="12700" cap="flat" cmpd="sng" algn="ctr">
            <a:solidFill>
              <a:srgbClr val="70AD47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</a:rPr>
              <a:t>Timeline for implementation: December 2021</a:t>
            </a:r>
          </a:p>
        </p:txBody>
      </p:sp>
    </p:spTree>
    <p:extLst>
      <p:ext uri="{BB962C8B-B14F-4D97-AF65-F5344CB8AC3E}">
        <p14:creationId xmlns:p14="http://schemas.microsoft.com/office/powerpoint/2010/main" val="27920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FieldCore_2017">
  <a:themeElements>
    <a:clrScheme name="Custom 1">
      <a:dk1>
        <a:srgbClr val="63666A"/>
      </a:dk1>
      <a:lt1>
        <a:srgbClr val="FFFFFF"/>
      </a:lt1>
      <a:dk2>
        <a:srgbClr val="13294B"/>
      </a:dk2>
      <a:lt2>
        <a:srgbClr val="FFFFFF"/>
      </a:lt2>
      <a:accent1>
        <a:srgbClr val="FE5000"/>
      </a:accent1>
      <a:accent2>
        <a:srgbClr val="005EB8"/>
      </a:accent2>
      <a:accent3>
        <a:srgbClr val="63666A"/>
      </a:accent3>
      <a:accent4>
        <a:srgbClr val="B1B3B3"/>
      </a:accent4>
      <a:accent5>
        <a:srgbClr val="00B5E2"/>
      </a:accent5>
      <a:accent6>
        <a:srgbClr val="3EAE2A"/>
      </a:accent6>
      <a:hlink>
        <a:srgbClr val="FE5000"/>
      </a:hlink>
      <a:folHlink>
        <a:srgbClr val="090936"/>
      </a:folHlink>
    </a:clrScheme>
    <a:fontScheme name="FieldCore - Gotham">
      <a:majorFont>
        <a:latin typeface="Gotham Light"/>
        <a:ea typeface=""/>
        <a:cs typeface=""/>
      </a:majorFont>
      <a:minorFont>
        <a:latin typeface="Gotham 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66ED2"/>
        </a:solidFill>
      </a:spPr>
      <a:bodyPr wrap="square" rtlCol="0" anchor="ctr">
        <a:noAutofit/>
      </a:bodyPr>
      <a:lstStyle>
        <a:defPPr algn="ctr">
          <a:defRPr dirty="0" smtClean="0">
            <a:solidFill>
              <a:schemeClr val="bg1"/>
            </a:solidFill>
            <a:ea typeface="Arial" charset="0"/>
          </a:defRPr>
        </a:defPPr>
      </a:lstStyle>
    </a:spDef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FC-GL-EHS-MAN-0201 - Compliance Assurance (QC) v4" id="{979D7D89-E179-4650-B340-9B0317C3FEEF}" vid="{38AA9E95-E542-4BB4-82E6-46C52740A1C5}"/>
    </a:ext>
  </a:extLst>
</a:theme>
</file>

<file path=ppt/theme/theme2.xml><?xml version="1.0" encoding="utf-8"?>
<a:theme xmlns:a="http://schemas.openxmlformats.org/drawingml/2006/main" name="Office Theme">
  <a:themeElements>
    <a:clrScheme name="GE Colors">
      <a:dk1>
        <a:sysClr val="windowText" lastClr="000000"/>
      </a:dk1>
      <a:lt1>
        <a:sysClr val="window" lastClr="FFFFFF"/>
      </a:lt1>
      <a:dk2>
        <a:srgbClr val="B1B3B3"/>
      </a:dk2>
      <a:lt2>
        <a:srgbClr val="F0F0F0"/>
      </a:lt2>
      <a:accent1>
        <a:srgbClr val="005CB9"/>
      </a:accent1>
      <a:accent2>
        <a:srgbClr val="63666A"/>
      </a:accent2>
      <a:accent3>
        <a:srgbClr val="00B5E2"/>
      </a:accent3>
      <a:accent4>
        <a:srgbClr val="0A0A37"/>
      </a:accent4>
      <a:accent5>
        <a:srgbClr val="FE5000"/>
      </a:accent5>
      <a:accent6>
        <a:srgbClr val="00BF6F"/>
      </a:accent6>
      <a:hlink>
        <a:srgbClr val="005CB9"/>
      </a:hlink>
      <a:folHlink>
        <a:srgbClr val="00B5E2"/>
      </a:folHlink>
    </a:clrScheme>
    <a:fontScheme name="GE">
      <a:majorFont>
        <a:latin typeface="GE Inspira Sans"/>
        <a:ea typeface=""/>
        <a:cs typeface=""/>
      </a:majorFont>
      <a:minorFont>
        <a:latin typeface="GE Inspira San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GE Colors">
      <a:dk1>
        <a:sysClr val="windowText" lastClr="000000"/>
      </a:dk1>
      <a:lt1>
        <a:sysClr val="window" lastClr="FFFFFF"/>
      </a:lt1>
      <a:dk2>
        <a:srgbClr val="B1B3B3"/>
      </a:dk2>
      <a:lt2>
        <a:srgbClr val="F0F0F0"/>
      </a:lt2>
      <a:accent1>
        <a:srgbClr val="005CB9"/>
      </a:accent1>
      <a:accent2>
        <a:srgbClr val="63666A"/>
      </a:accent2>
      <a:accent3>
        <a:srgbClr val="00B5E2"/>
      </a:accent3>
      <a:accent4>
        <a:srgbClr val="0A0A37"/>
      </a:accent4>
      <a:accent5>
        <a:srgbClr val="FE5000"/>
      </a:accent5>
      <a:accent6>
        <a:srgbClr val="00BF6F"/>
      </a:accent6>
      <a:hlink>
        <a:srgbClr val="005CB9"/>
      </a:hlink>
      <a:folHlink>
        <a:srgbClr val="00B5E2"/>
      </a:folHlink>
    </a:clrScheme>
    <a:fontScheme name="GE">
      <a:majorFont>
        <a:latin typeface="GE Inspira Sans"/>
        <a:ea typeface=""/>
        <a:cs typeface=""/>
      </a:majorFont>
      <a:minorFont>
        <a:latin typeface="GE Inspira San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rocess_x0020_Owmer xmlns="25586fb6-ed09-4f2d-8ea7-eda1a9fd2320">
      <UserInfo>
        <DisplayName>Bluhm, Joyce (FieldCore)</DisplayName>
        <AccountId>72</AccountId>
        <AccountType/>
      </UserInfo>
    </Process_x0020_Owmer>
    <Functional_x0020_Owner xmlns="25586fb6-ed09-4f2d-8ea7-eda1a9fd2320">Management Processes - Leadership and Commitment</Functional_x0020_Owner>
    <Nomenclature xmlns="25586fb6-ed09-4f2d-8ea7-eda1a9fd2320">FC-MEA-EHS-HEA-0804-QC</Nomenclature>
    <LastReviewDate xmlns="cc7fbaa3-8214-4644-99f1-d2e5a6ae9914" xsi:nil="true"/>
    <RevisionNumber xmlns="cc7fbaa3-8214-4644-99f1-d2e5a6ae991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BA2F64D6E2C740A2EFD32F6136F44B" ma:contentTypeVersion="31" ma:contentTypeDescription="Create a new document." ma:contentTypeScope="" ma:versionID="f6d5169442be2795745eeba6edf0f975">
  <xsd:schema xmlns:xsd="http://www.w3.org/2001/XMLSchema" xmlns:xs="http://www.w3.org/2001/XMLSchema" xmlns:p="http://schemas.microsoft.com/office/2006/metadata/properties" xmlns:ns2="25586fb6-ed09-4f2d-8ea7-eda1a9fd2320" xmlns:ns3="cc7fbaa3-8214-4644-99f1-d2e5a6ae9914" xmlns:ns4="f0c7a816-7a7e-42fb-b4dd-eafc20cb049d" targetNamespace="http://schemas.microsoft.com/office/2006/metadata/properties" ma:root="true" ma:fieldsID="1d6046f623722b44c576f527ef753e5d" ns2:_="" ns3:_="" ns4:_="">
    <xsd:import namespace="25586fb6-ed09-4f2d-8ea7-eda1a9fd2320"/>
    <xsd:import namespace="cc7fbaa3-8214-4644-99f1-d2e5a6ae9914"/>
    <xsd:import namespace="f0c7a816-7a7e-42fb-b4dd-eafc20cb049d"/>
    <xsd:element name="properties">
      <xsd:complexType>
        <xsd:sequence>
          <xsd:element name="documentManagement">
            <xsd:complexType>
              <xsd:all>
                <xsd:element ref="ns2:Process_x0020_Owmer"/>
                <xsd:element ref="ns2:Functional_x0020_Owner"/>
                <xsd:element ref="ns3:LastReviewDate" minOccurs="0"/>
                <xsd:element ref="ns2:Nomenclature" minOccurs="0"/>
                <xsd:element ref="ns3:RevisionNumber" minOccurs="0"/>
                <xsd:element ref="ns2:MediaServiceMetadata" minOccurs="0"/>
                <xsd:element ref="ns2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586fb6-ed09-4f2d-8ea7-eda1a9fd2320" elementFormDefault="qualified">
    <xsd:import namespace="http://schemas.microsoft.com/office/2006/documentManagement/types"/>
    <xsd:import namespace="http://schemas.microsoft.com/office/infopath/2007/PartnerControls"/>
    <xsd:element name="Process_x0020_Owmer" ma:index="1" ma:displayName="Have a question? Email the Process Owner" ma:description="Discuss Audit Findings and QWI Updates with the Responsible Person" ma:list="UserInfo" ma:SharePointGroup="0" ma:internalName="Process_x0020_Owmer" ma:readOnly="false" ma:showField="NameWithPictureAndDetails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unctional_x0020_Owner" ma:index="2" ma:displayName="Function" ma:default="Management Processes - Leadership and Commitment" ma:description="Management Processes - Leadership and Commitment" ma:format="Dropdown" ma:internalName="Functional_x0020_Owner" ma:readOnly="false">
      <xsd:simpleType>
        <xsd:restriction base="dms:Text">
          <xsd:maxLength value="255"/>
        </xsd:restriction>
      </xsd:simpleType>
    </xsd:element>
    <xsd:element name="Nomenclature" ma:index="4" nillable="true" ma:displayName="Document Number" ma:format="Dropdown" ma:internalName="Nomenclature" ma:readOnly="false">
      <xsd:simpleType>
        <xsd:restriction base="dms:Text">
          <xsd:maxLength value="255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fbaa3-8214-4644-99f1-d2e5a6ae9914" elementFormDefault="qualified">
    <xsd:import namespace="http://schemas.microsoft.com/office/2006/documentManagement/types"/>
    <xsd:import namespace="http://schemas.microsoft.com/office/infopath/2007/PartnerControls"/>
    <xsd:element name="LastReviewDate" ma:index="3" nillable="true" ma:displayName="Last Review Date" ma:description="The date the procedure was last reviewed or revised" ma:format="DateOnly" ma:internalName="LastReviewDate" ma:readOnly="false">
      <xsd:simpleType>
        <xsd:restriction base="dms:DateTime"/>
      </xsd:simpleType>
    </xsd:element>
    <xsd:element name="RevisionNumber" ma:index="5" nillable="true" ma:displayName="Revision Number" ma:decimals="1" ma:description="The current revision published" ma:format="Dropdown" ma:internalName="RevisionNumber" ma:readOnly="false" ma:percentage="FALSE">
      <xsd:simpleType>
        <xsd:restriction base="dms:Number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hidden="true" ma:internalName="MediaServiceKeyPoints" ma:readOnly="true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c7a816-7a7e-42fb-b4dd-eafc20cb049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hidden="true" ma:internalName="SharedWithDetail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displayName="QMS Lev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3437A54-72A5-4156-AB59-7F8081ED2DEA}">
  <ds:schemaRefs>
    <ds:schemaRef ds:uri="http://schemas.microsoft.com/office/2006/documentManagement/types"/>
    <ds:schemaRef ds:uri="http://schemas.microsoft.com/office/infopath/2007/PartnerControls"/>
    <ds:schemaRef ds:uri="d6057043-4bab-4082-934f-7693f7fd0ead"/>
    <ds:schemaRef ds:uri="http://purl.org/dc/elements/1.1/"/>
    <ds:schemaRef ds:uri="http://purl.org/dc/terms/"/>
    <ds:schemaRef ds:uri="http://schemas.openxmlformats.org/package/2006/metadata/core-properties"/>
    <ds:schemaRef ds:uri="http://www.w3.org/XML/1998/namespace"/>
    <ds:schemaRef ds:uri="42054fea-1c7a-4775-a5bc-42c69eb541e4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ACF6336-C6B1-438A-9EBF-E05F65D03D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B6F4F90-3208-4199-986F-995A805648DB}"/>
</file>

<file path=docProps/app.xml><?xml version="1.0" encoding="utf-8"?>
<Properties xmlns="http://schemas.openxmlformats.org/officeDocument/2006/extended-properties" xmlns:vt="http://schemas.openxmlformats.org/officeDocument/2006/docPropsVTypes">
  <Template>FCQ Quick Card (v3)</Template>
  <TotalTime>8</TotalTime>
  <Words>167</Words>
  <Application>Microsoft Office PowerPoint</Application>
  <PresentationFormat>Widescreen</PresentationFormat>
  <Paragraphs>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Montserrat SemiBold</vt:lpstr>
      <vt:lpstr>Montserrat</vt:lpstr>
      <vt:lpstr>Montserrat Light</vt:lpstr>
      <vt:lpstr>Calibri</vt:lpstr>
      <vt:lpstr>Arial</vt:lpstr>
      <vt:lpstr>FieldCore_2017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Wright, Keith (FieldCore)</dc:creator>
  <dc:description>Version 1.08
Job 1437
August 25, 2016</dc:description>
  <cp:lastModifiedBy>Padawe, Prabodh (FieldCore)</cp:lastModifiedBy>
  <cp:revision>2</cp:revision>
  <dcterms:created xsi:type="dcterms:W3CDTF">2021-06-03T15:41:35Z</dcterms:created>
  <dcterms:modified xsi:type="dcterms:W3CDTF">2021-06-07T08:48:20Z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0x010100AABA2F64D6E2C740A2EFD32F6136F44B</vt:lpwstr>
  </property>
</Properties>
</file>