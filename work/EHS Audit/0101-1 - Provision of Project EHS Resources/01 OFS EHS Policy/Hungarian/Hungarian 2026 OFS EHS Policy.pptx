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7772400" cy="10058400"/>
  <p:notesSz cx="68580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60"/>
    <a:srgbClr val="696969"/>
    <a:srgbClr val="484848"/>
    <a:srgbClr val="E3E3E3"/>
    <a:srgbClr val="FFFEFC"/>
    <a:srgbClr val="8D8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81" autoAdjust="0"/>
    <p:restoredTop sz="94673" autoAdjust="0"/>
  </p:normalViewPr>
  <p:slideViewPr>
    <p:cSldViewPr snapToGrid="0">
      <p:cViewPr>
        <p:scale>
          <a:sx n="100" d="100"/>
          <a:sy n="100" d="100"/>
        </p:scale>
        <p:origin x="25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12465-B93B-4C89-8962-65869DA8E1FC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24088" y="1154113"/>
            <a:ext cx="240982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45000"/>
            <a:ext cx="548640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36773-3A60-4CD3-B810-B928EA536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9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C41A86-5D21-4E83-800F-748C950C4662}"/>
              </a:ext>
            </a:extLst>
          </p:cNvPr>
          <p:cNvSpPr/>
          <p:nvPr userDrawn="1"/>
        </p:nvSpPr>
        <p:spPr>
          <a:xfrm>
            <a:off x="193040" y="3344544"/>
            <a:ext cx="7386320" cy="5615186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8C045-E9A4-457B-B00C-0C279905ADE3}"/>
              </a:ext>
            </a:extLst>
          </p:cNvPr>
          <p:cNvSpPr/>
          <p:nvPr userDrawn="1"/>
        </p:nvSpPr>
        <p:spPr>
          <a:xfrm>
            <a:off x="193040" y="2733040"/>
            <a:ext cx="7386320" cy="5943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45694-D800-4336-B687-EB2E002A4E76}"/>
              </a:ext>
            </a:extLst>
          </p:cNvPr>
          <p:cNvSpPr txBox="1"/>
          <p:nvPr userDrawn="1"/>
        </p:nvSpPr>
        <p:spPr>
          <a:xfrm>
            <a:off x="804259" y="9490383"/>
            <a:ext cx="159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Jim Vono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One Field Services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DAB11-D89E-4579-A97D-FEA73BC6CC15}"/>
              </a:ext>
            </a:extLst>
          </p:cNvPr>
          <p:cNvSpPr txBox="1"/>
          <p:nvPr userDrawn="1"/>
        </p:nvSpPr>
        <p:spPr>
          <a:xfrm>
            <a:off x="2700942" y="9490383"/>
            <a:ext cx="256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Jeff Gifford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EHS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BA8D22-8CE3-4517-B48D-E8F158A8004E}"/>
              </a:ext>
            </a:extLst>
          </p:cNvPr>
          <p:cNvCxnSpPr/>
          <p:nvPr userDrawn="1"/>
        </p:nvCxnSpPr>
        <p:spPr>
          <a:xfrm>
            <a:off x="4808220" y="9013542"/>
            <a:ext cx="0" cy="837317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9D2BD6C-23CD-86C1-F7F1-6439335B51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4"/>
          <a:stretch/>
        </p:blipFill>
        <p:spPr>
          <a:xfrm>
            <a:off x="4965067" y="9053508"/>
            <a:ext cx="2471238" cy="6850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F57D87-A53A-9A66-3E99-919168969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095" y="9118217"/>
            <a:ext cx="1487468" cy="5114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9FA114-0DFF-E4EC-8F9B-E248BDC7D9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742" y="9116983"/>
            <a:ext cx="1490472" cy="327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46678-2886-29F0-F905-A3D7AC56E20B}"/>
              </a:ext>
            </a:extLst>
          </p:cNvPr>
          <p:cNvSpPr txBox="1"/>
          <p:nvPr userDrawn="1"/>
        </p:nvSpPr>
        <p:spPr>
          <a:xfrm>
            <a:off x="5979160" y="9677400"/>
            <a:ext cx="16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8D8988"/>
                </a:solidFill>
                <a:latin typeface="Gotham Rounded Book" pitchFamily="50" charset="0"/>
              </a:rPr>
              <a:t> January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8E628-1831-3141-773D-9A07A11E502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5"/>
          <a:stretch/>
        </p:blipFill>
        <p:spPr>
          <a:xfrm>
            <a:off x="0" y="0"/>
            <a:ext cx="7772400" cy="269986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55E72C8-6A29-C2CD-F104-C064BF288D5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686" y="142433"/>
            <a:ext cx="2127028" cy="2127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CC4E44-2707-9ED3-8A3D-828F5679B1D6}"/>
              </a:ext>
            </a:extLst>
          </p:cNvPr>
          <p:cNvSpPr/>
          <p:nvPr userDrawn="1"/>
        </p:nvSpPr>
        <p:spPr>
          <a:xfrm>
            <a:off x="0" y="0"/>
            <a:ext cx="7772400" cy="2687388"/>
          </a:xfrm>
          <a:prstGeom prst="rect">
            <a:avLst/>
          </a:prstGeom>
          <a:solidFill>
            <a:srgbClr val="005E60">
              <a:alpha val="40000"/>
            </a:srgb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5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65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 spd="slow">
    <p:push dir="u"/>
  </p:transition>
  <p:txStyles>
    <p:titleStyle>
      <a:lvl1pPr algn="l" defTabSz="582930" rtl="0" eaLnBrk="1" latinLnBrk="0" hangingPunct="1">
        <a:lnSpc>
          <a:spcPct val="100000"/>
        </a:lnSpc>
        <a:spcBef>
          <a:spcPct val="0"/>
        </a:spcBef>
        <a:buNone/>
        <a:defRPr sz="2040" kern="1200" spc="0">
          <a:solidFill>
            <a:schemeClr val="tx2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</p:titleStyle>
    <p:bodyStyle>
      <a:lvl1pPr marL="99098" indent="-99098" algn="l" defTabSz="582930" rtl="0" eaLnBrk="1" latinLnBrk="0" hangingPunct="1">
        <a:lnSpc>
          <a:spcPct val="90000"/>
        </a:lnSpc>
        <a:spcBef>
          <a:spcPts val="510"/>
        </a:spcBef>
        <a:spcAft>
          <a:spcPts val="191"/>
        </a:spcAft>
        <a:buClrTx/>
        <a:buFont typeface="Arial" panose="020B0604020202020204" pitchFamily="34" charset="0"/>
        <a:buChar char="•"/>
        <a:defRPr sz="1275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  <a:lvl2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148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2pPr>
      <a:lvl3pPr marL="99098" indent="-99098" algn="l" defTabSz="582930" rtl="0" eaLnBrk="1" latinLnBrk="0" hangingPunct="1">
        <a:lnSpc>
          <a:spcPct val="90000"/>
        </a:lnSpc>
        <a:spcBef>
          <a:spcPts val="701"/>
        </a:spcBef>
        <a:spcAft>
          <a:spcPts val="191"/>
        </a:spcAft>
        <a:buClrTx/>
        <a:buSzPct val="91000"/>
        <a:buFont typeface="Arial" charset="0"/>
        <a:buChar char="•"/>
        <a:defRPr lang="en-US" sz="1020" b="0" i="0" kern="1200" dirty="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3pPr>
      <a:lvl4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893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4pPr>
      <a:lvl5pPr marL="99098" indent="-99098" algn="l" defTabSz="582930" rtl="0" eaLnBrk="1" latinLnBrk="0" hangingPunct="1">
        <a:lnSpc>
          <a:spcPct val="99000"/>
        </a:lnSpc>
        <a:spcBef>
          <a:spcPts val="5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148" kern="1200">
          <a:solidFill>
            <a:schemeClr val="accent2"/>
          </a:solidFill>
          <a:latin typeface="+mn-lt"/>
          <a:ea typeface="+mn-ea"/>
          <a:cs typeface="+mn-cs"/>
        </a:defRPr>
      </a:lvl5pPr>
      <a:lvl6pPr marL="122415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582930" rtl="0" eaLnBrk="1" latinLnBrk="0" hangingPunct="1">
        <a:lnSpc>
          <a:spcPct val="99000"/>
        </a:lnSpc>
        <a:spcBef>
          <a:spcPts val="574"/>
        </a:spcBef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99098" indent="-99098" algn="l" defTabSz="58293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893" kern="1200">
          <a:solidFill>
            <a:schemeClr val="accent2"/>
          </a:solidFill>
          <a:latin typeface="+mn-lt"/>
          <a:ea typeface="+mn-ea"/>
          <a:cs typeface="+mn-cs"/>
        </a:defRPr>
      </a:lvl3pPr>
      <a:lvl4pPr marL="99098" indent="-99098" algn="l" defTabSz="582930" rtl="0" eaLnBrk="1" latinLnBrk="0" hangingPunct="1">
        <a:lnSpc>
          <a:spcPct val="99000"/>
        </a:lnSpc>
        <a:spcBef>
          <a:spcPts val="574"/>
        </a:spcBef>
        <a:buSzPct val="91000"/>
        <a:buFont typeface="Arial" panose="020B0604020202020204" pitchFamily="34" charset="0"/>
        <a:buChar char="•"/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99098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90CB834-096B-471A-825F-74C4B7E6E08D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60680" y="3352799"/>
            <a:ext cx="7157720" cy="5529943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 One Field Services (OFS) megingathatatlan elkötelezettsége mellett védi munkavállalóit, ügyfeleit, alvállalkozóit és mindenkit, akire tevékenységünk hatással van. A biztonság nem csupán prioritás – ez alapvető fontosságú és alapértékünk. Feddhetetlenül és felelősségteljesen járunk el, hogy megfeleljünk minden szabályozási, ügyfél- és egyéb vonatkozó követelménynek, sőt meg is haladjuk azokat. Világos célokat és mérhető KPI-okat határozunk meg, amelyek lehetővé teszik a folyamatos EHS-fejlesztést. Legfőbb célunk egyszerű és nem alku tárgya: a nulla ártalom.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hu-HU" sz="100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Célunk:</a:t>
            </a:r>
          </a:p>
          <a:p>
            <a:pPr marL="344488" lvl="1" indent="-290513" algn="l">
              <a:lnSpc>
                <a:spcPct val="120000"/>
              </a:lnSpc>
              <a:buClrTx/>
              <a:buFont typeface="Wingdings" panose="05000000000000000000" pitchFamily="2" charset="2"/>
              <a:buChar char="Ø"/>
            </a:pPr>
            <a:r>
              <a:rPr lang="hu-HU" sz="100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Munkavállalóink testi épségének megóvása a következőkkel: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Olyan Életmentő Szabályok (Life Saving Rules) bevezetése, amelyek megelőzik vagy mérséklik a mindennapi tevékenységeink során felmerülő elsődleges kockázatokat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Biztonságos és egészséges munkakörülmények biztosítása a munkával összefüggő sérülések és egészségkárosodások megelőzése érdekében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Proaktív, szerepkör alapú EHS-oktatás és képzés biztosítása, amely igazodik a munkaspecifikus kockázatokhoz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 veszélyek azonosítása, kiküszöbölése és csökkentése a kockázatalapú Életmentő Szabályokon keresztül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 munkavállalók ellátása a biztonságos munkavégzéshez szükséges megfelelő eszközökkel, erőforrásokkal és támogatással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Minden munkavállaló felhatalmazása és ösztönzése a MUNKABESZÜNTETÉSRE (STOP WORK), ha a körülmények nem biztonságosak – habozás vagy következmények nélkül.</a:t>
            </a:r>
          </a:p>
          <a:p>
            <a:pPr marL="344488" lvl="1" indent="-290513" algn="l">
              <a:lnSpc>
                <a:spcPct val="100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hu-HU" sz="100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 környezet megóvása a következőkkel: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 környezetszennyezés megelőzése tevékenységünk minden szintjén</a:t>
            </a:r>
          </a:p>
          <a:p>
            <a:pPr marL="569913" lvl="2" indent="-225425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Telephelyeink, szolgáltatásaink és projektjeink káros környezeti hatásainak minimalizálása.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Hisszük, hogy az erős EHS-teljesítmény a nyílt kommunikáción és az együttműködésen alapul. Aktívan bevonjuk munkavállalóinkat, ügyfeleinkat, alvállalkozóinkat és érdekelt feleinket, ösztönözve őket az </a:t>
            </a:r>
            <a:r>
              <a:rPr lang="hu-HU" sz="100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Életmentő Szabályok (Life Saving Rules)</a:t>
            </a: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 megerősítésében, valamint az EHS-kockázatok és környezeti hatások csökkentésében való részvételre.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Az EHS az OFS </a:t>
            </a:r>
            <a:r>
              <a:rPr lang="hu-HU" sz="1000" b="1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minden egyes munkatársának </a:t>
            </a:r>
            <a:r>
              <a:rPr lang="hu-HU" sz="1000" noProof="0" dirty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közös felelőssége. Mindannyian felelősek vagyunk önmagunk, munkatársaink, ügyfeleink, a látogatók, a környező közösségek és a környezet védelméért. </a:t>
            </a:r>
            <a:r>
              <a:rPr lang="hu-HU" sz="1000" noProof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Együtt olyan kultúrát hozunk létre, ahol </a:t>
            </a:r>
            <a:r>
              <a:rPr lang="hu-HU" sz="1000" b="1" noProof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minden döntést a biztonság vezérel</a:t>
            </a:r>
            <a:r>
              <a:rPr lang="hu-HU" sz="1000" noProof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Inter" panose="020B0502030000000004" pitchFamily="34" charset="0"/>
                <a:cs typeface="Arial" panose="020B0604020202020204" pitchFamily="34" charset="0"/>
              </a:rPr>
              <a:t>, és a nulla ártalom elérhető cél.</a:t>
            </a:r>
          </a:p>
          <a:p>
            <a:endParaRPr lang="hu-HU" sz="1150" noProof="0" dirty="0">
              <a:solidFill>
                <a:schemeClr val="tx1">
                  <a:lumMod val="75000"/>
                </a:schemeClr>
              </a:solidFill>
              <a:latin typeface="Arial" panose="020B0604020202020204" pitchFamily="34" charset="0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A8BFA6-A3B9-4236-91AD-6725937BC68C}"/>
              </a:ext>
            </a:extLst>
          </p:cNvPr>
          <p:cNvSpPr txBox="1"/>
          <p:nvPr/>
        </p:nvSpPr>
        <p:spPr>
          <a:xfrm>
            <a:off x="360680" y="2690143"/>
            <a:ext cx="7157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400" noProof="0" dirty="0">
                <a:solidFill>
                  <a:schemeClr val="bg1"/>
                </a:solidFill>
                <a:latin typeface="Sons Condensed Semibold" panose="02060706060206060203" pitchFamily="18" charset="0"/>
              </a:rPr>
              <a:t>Gas Power One Field Services Környezetvédelmi, Egészségügyi és Biztonsági (EHS) Szabályzat</a:t>
            </a:r>
          </a:p>
        </p:txBody>
      </p:sp>
    </p:spTree>
    <p:extLst>
      <p:ext uri="{BB962C8B-B14F-4D97-AF65-F5344CB8AC3E}">
        <p14:creationId xmlns:p14="http://schemas.microsoft.com/office/powerpoint/2010/main" val="2114297706"/>
      </p:ext>
    </p:extLst>
  </p:cSld>
  <p:clrMapOvr>
    <a:masterClrMapping/>
  </p:clrMapOvr>
</p:sld>
</file>

<file path=ppt/theme/theme1.xml><?xml version="1.0" encoding="utf-8"?>
<a:theme xmlns:a="http://schemas.openxmlformats.org/drawingml/2006/main" name="FieldCore_2017">
  <a:themeElements>
    <a:clrScheme name="Custom 14">
      <a:dk1>
        <a:srgbClr val="63666A"/>
      </a:dk1>
      <a:lt1>
        <a:srgbClr val="FFFFFF"/>
      </a:lt1>
      <a:dk2>
        <a:srgbClr val="090936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1 FC new font template_test1_R1" id="{9AA2E0B5-DA9B-4844-AFA8-7AD242CFC0F9}" vid="{25A4205F-3365-4494-A059-27D7887B49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 xsi:nil="true"/>
  </documentManagement>
</p:properties>
</file>

<file path=customXml/itemProps1.xml><?xml version="1.0" encoding="utf-8"?>
<ds:datastoreItem xmlns:ds="http://schemas.openxmlformats.org/officeDocument/2006/customXml" ds:itemID="{A4CE44E0-4A23-4C76-B2DA-ABD7961EBBA6}"/>
</file>

<file path=customXml/itemProps2.xml><?xml version="1.0" encoding="utf-8"?>
<ds:datastoreItem xmlns:ds="http://schemas.openxmlformats.org/officeDocument/2006/customXml" ds:itemID="{82C5E936-0011-4982-BDE4-31CD0255FB81}"/>
</file>

<file path=customXml/itemProps3.xml><?xml version="1.0" encoding="utf-8"?>
<ds:datastoreItem xmlns:ds="http://schemas.openxmlformats.org/officeDocument/2006/customXml" ds:itemID="{2E4B52A5-B199-42F2-A0CF-57C80A0266DF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CS18810-03 FieldCore Template_R3</Template>
  <TotalTime>1077</TotalTime>
  <Words>323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Gotham Light</vt:lpstr>
      <vt:lpstr>Gotham Rounded Book</vt:lpstr>
      <vt:lpstr>Sons Condensed Semibold</vt:lpstr>
      <vt:lpstr>Wingdings</vt:lpstr>
      <vt:lpstr>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Stout, David (FieldCore)</dc:creator>
  <cp:lastModifiedBy>Kecerin, Filip (GE Vernova)</cp:lastModifiedBy>
  <cp:revision>57</cp:revision>
  <cp:lastPrinted>2018-11-19T17:02:52Z</cp:lastPrinted>
  <dcterms:created xsi:type="dcterms:W3CDTF">2018-11-14T17:47:23Z</dcterms:created>
  <dcterms:modified xsi:type="dcterms:W3CDTF">2026-05-27T06:54:34Z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