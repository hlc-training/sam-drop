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7772400" cy="100584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60"/>
    <a:srgbClr val="696969"/>
    <a:srgbClr val="484848"/>
    <a:srgbClr val="E3E3E3"/>
    <a:srgbClr val="FFFEFC"/>
    <a:srgbClr val="8D89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81" autoAdjust="0"/>
    <p:restoredTop sz="94712" autoAdjust="0"/>
  </p:normalViewPr>
  <p:slideViewPr>
    <p:cSldViewPr snapToGrid="0">
      <p:cViewPr>
        <p:scale>
          <a:sx n="150" d="100"/>
          <a:sy n="150" d="100"/>
        </p:scale>
        <p:origin x="1362" y="-2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666"/>
          </a:xfrm>
          <a:prstGeom prst="rect">
            <a:avLst/>
          </a:prstGeom>
        </p:spPr>
        <p:txBody>
          <a:bodyPr vert="horz" lIns="98481" tIns="49240" rIns="98481" bIns="49240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666"/>
          </a:xfrm>
          <a:prstGeom prst="rect">
            <a:avLst/>
          </a:prstGeom>
        </p:spPr>
        <p:txBody>
          <a:bodyPr vert="horz" lIns="98481" tIns="49240" rIns="98481" bIns="49240" rtlCol="0"/>
          <a:lstStyle>
            <a:lvl1pPr algn="r">
              <a:defRPr sz="1300"/>
            </a:lvl1pPr>
          </a:lstStyle>
          <a:p>
            <a:fld id="{77A12465-B93B-4C89-8962-65869DA8E1F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79525"/>
            <a:ext cx="26670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81" tIns="49240" rIns="98481" bIns="4924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562"/>
            <a:ext cx="5679440" cy="4030165"/>
          </a:xfrm>
          <a:prstGeom prst="rect">
            <a:avLst/>
          </a:prstGeom>
        </p:spPr>
        <p:txBody>
          <a:bodyPr vert="horz" lIns="98481" tIns="49240" rIns="98481" bIns="4924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947"/>
            <a:ext cx="3076363" cy="513666"/>
          </a:xfrm>
          <a:prstGeom prst="rect">
            <a:avLst/>
          </a:prstGeom>
        </p:spPr>
        <p:txBody>
          <a:bodyPr vert="horz" lIns="98481" tIns="49240" rIns="98481" bIns="4924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0947"/>
            <a:ext cx="3076363" cy="513666"/>
          </a:xfrm>
          <a:prstGeom prst="rect">
            <a:avLst/>
          </a:prstGeom>
        </p:spPr>
        <p:txBody>
          <a:bodyPr vert="horz" lIns="98481" tIns="49240" rIns="98481" bIns="49240" rtlCol="0" anchor="b"/>
          <a:lstStyle>
            <a:lvl1pPr algn="r">
              <a:defRPr sz="1300"/>
            </a:lvl1pPr>
          </a:lstStyle>
          <a:p>
            <a:fld id="{39E36773-3A60-4CD3-B810-B928EA536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9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C41A86-5D21-4E83-800F-748C950C4662}"/>
              </a:ext>
            </a:extLst>
          </p:cNvPr>
          <p:cNvSpPr/>
          <p:nvPr userDrawn="1"/>
        </p:nvSpPr>
        <p:spPr>
          <a:xfrm>
            <a:off x="193040" y="3344544"/>
            <a:ext cx="7386320" cy="5615186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8C045-E9A4-457B-B00C-0C279905ADE3}"/>
              </a:ext>
            </a:extLst>
          </p:cNvPr>
          <p:cNvSpPr/>
          <p:nvPr userDrawn="1"/>
        </p:nvSpPr>
        <p:spPr>
          <a:xfrm>
            <a:off x="193040" y="2733040"/>
            <a:ext cx="7386320" cy="5943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45694-D800-4336-B687-EB2E002A4E76}"/>
              </a:ext>
            </a:extLst>
          </p:cNvPr>
          <p:cNvSpPr txBox="1"/>
          <p:nvPr userDrawn="1"/>
        </p:nvSpPr>
        <p:spPr>
          <a:xfrm>
            <a:off x="804259" y="9490383"/>
            <a:ext cx="159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Jim Vono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One Field Services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DAB11-D89E-4579-A97D-FEA73BC6CC15}"/>
              </a:ext>
            </a:extLst>
          </p:cNvPr>
          <p:cNvSpPr txBox="1"/>
          <p:nvPr userDrawn="1"/>
        </p:nvSpPr>
        <p:spPr>
          <a:xfrm>
            <a:off x="2700942" y="9490383"/>
            <a:ext cx="256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Jeff Gifford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EHS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BA8D22-8CE3-4517-B48D-E8F158A8004E}"/>
              </a:ext>
            </a:extLst>
          </p:cNvPr>
          <p:cNvCxnSpPr/>
          <p:nvPr userDrawn="1"/>
        </p:nvCxnSpPr>
        <p:spPr>
          <a:xfrm>
            <a:off x="4808220" y="9013542"/>
            <a:ext cx="0" cy="837317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9D2BD6C-23CD-86C1-F7F1-6439335B51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4"/>
          <a:stretch/>
        </p:blipFill>
        <p:spPr>
          <a:xfrm>
            <a:off x="4965067" y="9053508"/>
            <a:ext cx="2471238" cy="6850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1F57D87-A53A-9A66-3E99-9191689692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095" y="9118217"/>
            <a:ext cx="1487468" cy="5114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C9FA114-0DFF-E4EC-8F9B-E248BDC7D9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4742" y="9116983"/>
            <a:ext cx="1490472" cy="327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46678-2886-29F0-F905-A3D7AC56E20B}"/>
              </a:ext>
            </a:extLst>
          </p:cNvPr>
          <p:cNvSpPr txBox="1"/>
          <p:nvPr userDrawn="1"/>
        </p:nvSpPr>
        <p:spPr>
          <a:xfrm>
            <a:off x="5979160" y="9677400"/>
            <a:ext cx="160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8D8988"/>
                </a:solidFill>
                <a:latin typeface="Gotham Rounded Book" pitchFamily="50" charset="0"/>
              </a:rPr>
              <a:t> January 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8E628-1831-3141-773D-9A07A11E502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95"/>
          <a:stretch/>
        </p:blipFill>
        <p:spPr>
          <a:xfrm>
            <a:off x="0" y="0"/>
            <a:ext cx="7772400" cy="269986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55E72C8-6A29-C2CD-F104-C064BF288D5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2686" y="142433"/>
            <a:ext cx="2127028" cy="212702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CC4E44-2707-9ED3-8A3D-828F5679B1D6}"/>
              </a:ext>
            </a:extLst>
          </p:cNvPr>
          <p:cNvSpPr/>
          <p:nvPr userDrawn="1"/>
        </p:nvSpPr>
        <p:spPr>
          <a:xfrm>
            <a:off x="0" y="0"/>
            <a:ext cx="7772400" cy="2687388"/>
          </a:xfrm>
          <a:prstGeom prst="rect">
            <a:avLst/>
          </a:prstGeom>
          <a:solidFill>
            <a:srgbClr val="005E60">
              <a:alpha val="40000"/>
            </a:srgbClr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5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 userDrawn="1">
          <p15:clr>
            <a:srgbClr val="FBAE40"/>
          </p15:clr>
        </p15:guide>
        <p15:guide id="2" pos="244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65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 spd="slow">
    <p:push dir="u"/>
  </p:transition>
  <p:txStyles>
    <p:titleStyle>
      <a:lvl1pPr algn="l" defTabSz="582930" rtl="0" eaLnBrk="1" latinLnBrk="0" hangingPunct="1">
        <a:lnSpc>
          <a:spcPct val="100000"/>
        </a:lnSpc>
        <a:spcBef>
          <a:spcPct val="0"/>
        </a:spcBef>
        <a:buNone/>
        <a:defRPr sz="2040" kern="1200" spc="0">
          <a:solidFill>
            <a:schemeClr val="tx2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</p:titleStyle>
    <p:bodyStyle>
      <a:lvl1pPr marL="99098" indent="-99098" algn="l" defTabSz="582930" rtl="0" eaLnBrk="1" latinLnBrk="0" hangingPunct="1">
        <a:lnSpc>
          <a:spcPct val="90000"/>
        </a:lnSpc>
        <a:spcBef>
          <a:spcPts val="510"/>
        </a:spcBef>
        <a:spcAft>
          <a:spcPts val="191"/>
        </a:spcAft>
        <a:buClrTx/>
        <a:buFont typeface="Arial" panose="020B0604020202020204" pitchFamily="34" charset="0"/>
        <a:buChar char="•"/>
        <a:defRPr sz="1275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  <a:lvl2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148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2pPr>
      <a:lvl3pPr marL="99098" indent="-99098" algn="l" defTabSz="582930" rtl="0" eaLnBrk="1" latinLnBrk="0" hangingPunct="1">
        <a:lnSpc>
          <a:spcPct val="90000"/>
        </a:lnSpc>
        <a:spcBef>
          <a:spcPts val="701"/>
        </a:spcBef>
        <a:spcAft>
          <a:spcPts val="191"/>
        </a:spcAft>
        <a:buClrTx/>
        <a:buSzPct val="91000"/>
        <a:buFont typeface="Arial" charset="0"/>
        <a:buChar char="•"/>
        <a:defRPr lang="en-US" sz="1020" b="0" i="0" kern="1200" dirty="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3pPr>
      <a:lvl4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893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4pPr>
      <a:lvl5pPr marL="99098" indent="-99098" algn="l" defTabSz="582930" rtl="0" eaLnBrk="1" latinLnBrk="0" hangingPunct="1">
        <a:lnSpc>
          <a:spcPct val="99000"/>
        </a:lnSpc>
        <a:spcBef>
          <a:spcPts val="574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148" kern="1200">
          <a:solidFill>
            <a:schemeClr val="accent2"/>
          </a:solidFill>
          <a:latin typeface="+mn-lt"/>
          <a:ea typeface="+mn-ea"/>
          <a:cs typeface="+mn-cs"/>
        </a:defRPr>
      </a:lvl5pPr>
      <a:lvl6pPr marL="122415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582930" rtl="0" eaLnBrk="1" latinLnBrk="0" hangingPunct="1">
        <a:lnSpc>
          <a:spcPct val="99000"/>
        </a:lnSpc>
        <a:spcBef>
          <a:spcPts val="574"/>
        </a:spcBef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99098" indent="-99098" algn="l" defTabSz="58293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893" kern="1200">
          <a:solidFill>
            <a:schemeClr val="accent2"/>
          </a:solidFill>
          <a:latin typeface="+mn-lt"/>
          <a:ea typeface="+mn-ea"/>
          <a:cs typeface="+mn-cs"/>
        </a:defRPr>
      </a:lvl3pPr>
      <a:lvl4pPr marL="99098" indent="-99098" algn="l" defTabSz="582930" rtl="0" eaLnBrk="1" latinLnBrk="0" hangingPunct="1">
        <a:lnSpc>
          <a:spcPct val="99000"/>
        </a:lnSpc>
        <a:spcBef>
          <a:spcPts val="574"/>
        </a:spcBef>
        <a:buSzPct val="91000"/>
        <a:buFont typeface="Arial" panose="020B0604020202020204" pitchFamily="34" charset="0"/>
        <a:buChar char="•"/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99098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0CB834-096B-471A-825F-74C4B7E6E08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60680" y="3352799"/>
            <a:ext cx="7157720" cy="5683251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One Field Services (OFS)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olarak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çalışanlarımızı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müşterilerimizi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alt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yüklenicilerimizi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operasyonlarımızdan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etkilenen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herkesi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koruma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konusundaki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kararlılığımız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sarsılmazdır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Güvenlik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bizim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için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sadece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öncelik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değil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;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temel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değer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kurumsal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varlığımızın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dayanağıdır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Yasal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mevzuatlara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müşteri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taleplerine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ilgili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tüm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şartlara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uymak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bu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şartların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ötesine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geçmek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için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dürüstlük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sorumluluk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bilinciyle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hareket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eder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; ÇSG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alanında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sürekli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iyileşmeyi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tetikleyecek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net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hedefler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ölçülebilir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performans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göstergeleri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(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KPI'lar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)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belirleriz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Nihai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hedefimiz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basit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tartışılamazdır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Sıfır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Zarar.</a:t>
            </a: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Hedefimiz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</a:t>
            </a:r>
          </a:p>
          <a:p>
            <a:pPr marL="344488" lvl="1" indent="-290513" algn="l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Aşağıdaki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maddeler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yoluyla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çalışanlarımızın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zarar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görmesini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engellemek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Günlük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operasyonlarımızdaki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birincil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riskleri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önleyen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veya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etkisini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azaltan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Hayat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Kurtaran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Kuralları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uygulamak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İşle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ilgili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yaralanmaları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sağlık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bozulmalarını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önlemek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amacıyla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güvenli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sağlıklı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çalışma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koşulları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sağlamak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İşe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özgü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risklerle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uyumlu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proaktif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rol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bazlı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ÇSG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eğitimleri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bilgilendirmeleri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sunmak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Risk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odaklı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Hayat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Kurtaran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Kurallar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aracılığıyla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tehlikeleri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tanımlamak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ortadan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kaldırmak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azaltmak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Çalışanlara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güvenli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şekilde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çalışmaları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için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doğru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ekipmanı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kaynağı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desteği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sağlamak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Güvenli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olmayan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koşullarda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her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çalışanımızı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hiçbir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tereddüt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duymadan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olumsuz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sonuçla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karşılaşma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kaygısı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taşımadan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İŞİ DURDURMA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konusunda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yetkilendirmek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teşvik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etmek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344488" lvl="1" indent="-290513" algn="l">
              <a:lnSpc>
                <a:spcPct val="100000"/>
              </a:lnSpc>
              <a:buClrTx/>
              <a:buFont typeface="Wingdings" panose="05000000000000000000" pitchFamily="2" charset="2"/>
              <a:buChar char="Ø"/>
            </a:pP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Aşağıdaki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maddeler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yoluyla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çevreye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zarar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verilmesini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engellemek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Operasyonlarımızın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her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aşamasında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kirliliği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kaynağında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önlemek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Sabit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tesislerimizin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hizmetlerimizin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proje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sahalarımızın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çevre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üzerindeki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olumsuz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etkilerini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aza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indirmek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344488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Güçlü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ÇSG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performansının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açık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iletişim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iş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birliğine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dayandığına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inanıyoruz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Hayat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Kurtaran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Kurallar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ımızı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pekiştirmek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ÇSG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risklerini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çevresel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etkileri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azaltmak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amacıyla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çalışanlarımız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müşterilerimiz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alt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yüklenicilerimiz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paydaşlarımızla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aktif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olarak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görüş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alışverişinde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bulunur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katılımlarını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teşvik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ederiz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ÇSG, OFS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bünyesindeki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her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bireyin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ortak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sorumluluğudur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Kendimizi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çalışma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arkadaşlarımızı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müşterilerimizi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saha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ziyaretçilerimizi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faaliyet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gösterdiğimiz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toplulukları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ve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çevreyi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korumaktan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her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birimiz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sorumluyuz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Güvenliğin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her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karara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yön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verdiği</a:t>
            </a:r>
            <a:r>
              <a:rPr lang="en-US" sz="105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ve "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sıfır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zarar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"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hedefinin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ulaşılabilir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olduğu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kültürü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birlikte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oluşturacağız</a:t>
            </a:r>
            <a:r>
              <a:rPr lang="en-US" sz="105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05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A8BFA6-A3B9-4236-91AD-6725937BC68C}"/>
              </a:ext>
            </a:extLst>
          </p:cNvPr>
          <p:cNvSpPr txBox="1"/>
          <p:nvPr/>
        </p:nvSpPr>
        <p:spPr>
          <a:xfrm>
            <a:off x="360680" y="2690143"/>
            <a:ext cx="7157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Gas Power One Field Services Çevre, </a:t>
            </a:r>
            <a:r>
              <a:rPr lang="en-US" sz="32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Sağlık</a:t>
            </a:r>
            <a:r>
              <a:rPr lang="en-US" sz="32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ve </a:t>
            </a:r>
            <a:r>
              <a:rPr lang="en-US" sz="32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Güvenlik</a:t>
            </a:r>
            <a:r>
              <a:rPr lang="en-US" sz="32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Politikası</a:t>
            </a:r>
            <a:endParaRPr lang="en-US" sz="3200" dirty="0">
              <a:solidFill>
                <a:schemeClr val="bg1"/>
              </a:solidFill>
              <a:latin typeface="Sons Condensed Semibold" panose="02060706060206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297706"/>
      </p:ext>
    </p:extLst>
  </p:cSld>
  <p:clrMapOvr>
    <a:masterClrMapping/>
  </p:clrMapOvr>
</p:sld>
</file>

<file path=ppt/theme/theme1.xml><?xml version="1.0" encoding="utf-8"?>
<a:theme xmlns:a="http://schemas.openxmlformats.org/drawingml/2006/main" name="FieldCore_2017">
  <a:themeElements>
    <a:clrScheme name="Custom 14">
      <a:dk1>
        <a:srgbClr val="63666A"/>
      </a:dk1>
      <a:lt1>
        <a:srgbClr val="FFFFFF"/>
      </a:lt1>
      <a:dk2>
        <a:srgbClr val="090936"/>
      </a:dk2>
      <a:lt2>
        <a:srgbClr val="FFFFFF"/>
      </a:lt2>
      <a:accent1>
        <a:srgbClr val="FE5000"/>
      </a:accent1>
      <a:accent2>
        <a:srgbClr val="005EB8"/>
      </a:accent2>
      <a:accent3>
        <a:srgbClr val="63666A"/>
      </a:accent3>
      <a:accent4>
        <a:srgbClr val="B1B3B3"/>
      </a:accent4>
      <a:accent5>
        <a:srgbClr val="00B5E2"/>
      </a:accent5>
      <a:accent6>
        <a:srgbClr val="3EAE2A"/>
      </a:accent6>
      <a:hlink>
        <a:srgbClr val="FE5000"/>
      </a:hlink>
      <a:folHlink>
        <a:srgbClr val="090936"/>
      </a:folHlink>
    </a:clrScheme>
    <a:fontScheme name="FieldCore - Gotham">
      <a:majorFont>
        <a:latin typeface="Gotham Light"/>
        <a:ea typeface=""/>
        <a:cs typeface=""/>
      </a:majorFont>
      <a:minorFont>
        <a:latin typeface="Gotham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18810-01 FC new font template_test1_R1" id="{9AA2E0B5-DA9B-4844-AFA8-7AD242CFC0F9}" vid="{25A4205F-3365-4494-A059-27D7887B49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>1</RevisionNumber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 xsi:nil="true"/>
  </documentManagement>
</p:properties>
</file>

<file path=customXml/itemProps1.xml><?xml version="1.0" encoding="utf-8"?>
<ds:datastoreItem xmlns:ds="http://schemas.openxmlformats.org/officeDocument/2006/customXml" ds:itemID="{33427DA3-7A5E-44D8-B52C-27F4263F1038}"/>
</file>

<file path=customXml/itemProps2.xml><?xml version="1.0" encoding="utf-8"?>
<ds:datastoreItem xmlns:ds="http://schemas.openxmlformats.org/officeDocument/2006/customXml" ds:itemID="{1E83BD40-E19B-4E32-A6DE-BFC2A4C45B83}"/>
</file>

<file path=customXml/itemProps3.xml><?xml version="1.0" encoding="utf-8"?>
<ds:datastoreItem xmlns:ds="http://schemas.openxmlformats.org/officeDocument/2006/customXml" ds:itemID="{3FC61BBD-158F-4F1C-B086-AF349E565DFE}"/>
</file>

<file path=docMetadata/LabelInfo.xml><?xml version="1.0" encoding="utf-8"?>
<clbl:labelList xmlns:clbl="http://schemas.microsoft.com/office/2020/mipLabelMetadata">
  <clbl:label id="{15ccb6d1-d335-4996-b6f9-7b6925f08121}" enabled="0" method="" siteId="{15ccb6d1-d335-4996-b6f9-7b6925f081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CS18810-03 FieldCore Template_R3</Template>
  <TotalTime>1122</TotalTime>
  <Words>323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Gotham Light</vt:lpstr>
      <vt:lpstr>Gotham Rounded Book</vt:lpstr>
      <vt:lpstr>Sons Condensed Semibold</vt:lpstr>
      <vt:lpstr>Wingdings</vt:lpstr>
      <vt:lpstr>FieldCore_2017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Stout, David (FieldCore)</dc:creator>
  <cp:lastModifiedBy>Filiz, Cem (GE Vernova)</cp:lastModifiedBy>
  <cp:revision>55</cp:revision>
  <cp:lastPrinted>2026-06-01T08:29:33Z</cp:lastPrinted>
  <dcterms:created xsi:type="dcterms:W3CDTF">2018-11-14T17:47:23Z</dcterms:created>
  <dcterms:modified xsi:type="dcterms:W3CDTF">2026-06-01T08:31:46Z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