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8" r:id="rId2"/>
  </p:sldIdLst>
  <p:sldSz cx="7772400" cy="10058400"/>
  <p:notesSz cx="68580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60"/>
    <a:srgbClr val="696969"/>
    <a:srgbClr val="484848"/>
    <a:srgbClr val="E3E3E3"/>
    <a:srgbClr val="FFFEFC"/>
    <a:srgbClr val="8D89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A0EABF-B6DB-4CB6-B20C-EF89C4AB03B7}" v="1" dt="2026-03-20T10:04:05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81" autoAdjust="0"/>
    <p:restoredTop sz="94712" autoAdjust="0"/>
  </p:normalViewPr>
  <p:slideViewPr>
    <p:cSldViewPr snapToGrid="0">
      <p:cViewPr>
        <p:scale>
          <a:sx n="125" d="100"/>
          <a:sy n="125" d="100"/>
        </p:scale>
        <p:origin x="19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12465-B93B-4C89-8962-65869DA8E1F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24088" y="1154113"/>
            <a:ext cx="240982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45000"/>
            <a:ext cx="5486400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772525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36773-3A60-4CD3-B810-B928EA536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9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C41A86-5D21-4E83-800F-748C950C4662}"/>
              </a:ext>
            </a:extLst>
          </p:cNvPr>
          <p:cNvSpPr/>
          <p:nvPr userDrawn="1"/>
        </p:nvSpPr>
        <p:spPr>
          <a:xfrm>
            <a:off x="193040" y="3344544"/>
            <a:ext cx="7386320" cy="5615186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98C045-E9A4-457B-B00C-0C279905ADE3}"/>
              </a:ext>
            </a:extLst>
          </p:cNvPr>
          <p:cNvSpPr/>
          <p:nvPr userDrawn="1"/>
        </p:nvSpPr>
        <p:spPr>
          <a:xfrm>
            <a:off x="193040" y="2733040"/>
            <a:ext cx="7386320" cy="59436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245694-D800-4336-B687-EB2E002A4E76}"/>
              </a:ext>
            </a:extLst>
          </p:cNvPr>
          <p:cNvSpPr txBox="1"/>
          <p:nvPr userDrawn="1"/>
        </p:nvSpPr>
        <p:spPr>
          <a:xfrm>
            <a:off x="804259" y="9490383"/>
            <a:ext cx="1597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Jim Vono </a:t>
            </a:r>
          </a:p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One Field Services Leader</a:t>
            </a:r>
            <a:endParaRPr lang="en-US" sz="1000" dirty="0">
              <a:solidFill>
                <a:srgbClr val="8D8988"/>
              </a:solidFill>
              <a:latin typeface="Gotham Rounded Book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5DAB11-D89E-4579-A97D-FEA73BC6CC15}"/>
              </a:ext>
            </a:extLst>
          </p:cNvPr>
          <p:cNvSpPr txBox="1"/>
          <p:nvPr userDrawn="1"/>
        </p:nvSpPr>
        <p:spPr>
          <a:xfrm>
            <a:off x="2700942" y="9490383"/>
            <a:ext cx="2563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Jeff Gifford </a:t>
            </a:r>
          </a:p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EHS Leader</a:t>
            </a:r>
            <a:endParaRPr lang="en-US" sz="1000" dirty="0">
              <a:solidFill>
                <a:srgbClr val="8D8988"/>
              </a:solidFill>
              <a:latin typeface="Gotham Rounded Book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BA8D22-8CE3-4517-B48D-E8F158A8004E}"/>
              </a:ext>
            </a:extLst>
          </p:cNvPr>
          <p:cNvCxnSpPr/>
          <p:nvPr userDrawn="1"/>
        </p:nvCxnSpPr>
        <p:spPr>
          <a:xfrm>
            <a:off x="4808220" y="9013542"/>
            <a:ext cx="0" cy="837317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9D2BD6C-23CD-86C1-F7F1-6439335B51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4"/>
          <a:stretch/>
        </p:blipFill>
        <p:spPr>
          <a:xfrm>
            <a:off x="4965067" y="9053508"/>
            <a:ext cx="2471238" cy="68505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1F57D87-A53A-9A66-3E99-9191689692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095" y="9118217"/>
            <a:ext cx="1487468" cy="51143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C9FA114-0DFF-E4EC-8F9B-E248BDC7D9B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14742" y="9116983"/>
            <a:ext cx="1490472" cy="3277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C46678-2886-29F0-F905-A3D7AC56E20B}"/>
              </a:ext>
            </a:extLst>
          </p:cNvPr>
          <p:cNvSpPr txBox="1"/>
          <p:nvPr userDrawn="1"/>
        </p:nvSpPr>
        <p:spPr>
          <a:xfrm>
            <a:off x="5979160" y="9677400"/>
            <a:ext cx="160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8D8988"/>
                </a:solidFill>
                <a:latin typeface="Gotham Rounded Book" pitchFamily="50" charset="0"/>
              </a:rPr>
              <a:t> January 2026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88E628-1831-3141-773D-9A07A11E502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95"/>
          <a:stretch/>
        </p:blipFill>
        <p:spPr>
          <a:xfrm>
            <a:off x="0" y="0"/>
            <a:ext cx="7772400" cy="269986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55E72C8-6A29-C2CD-F104-C064BF288D5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2686" y="142433"/>
            <a:ext cx="2127028" cy="212702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CC4E44-2707-9ED3-8A3D-828F5679B1D6}"/>
              </a:ext>
            </a:extLst>
          </p:cNvPr>
          <p:cNvSpPr/>
          <p:nvPr userDrawn="1"/>
        </p:nvSpPr>
        <p:spPr>
          <a:xfrm>
            <a:off x="0" y="0"/>
            <a:ext cx="7772400" cy="2687388"/>
          </a:xfrm>
          <a:prstGeom prst="rect">
            <a:avLst/>
          </a:prstGeom>
          <a:solidFill>
            <a:srgbClr val="005E60">
              <a:alpha val="40000"/>
            </a:srgbClr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75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 userDrawn="1">
          <p15:clr>
            <a:srgbClr val="FBAE40"/>
          </p15:clr>
        </p15:guide>
        <p15:guide id="2" pos="244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657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 spd="slow">
    <p:push dir="u"/>
  </p:transition>
  <p:txStyles>
    <p:titleStyle>
      <a:lvl1pPr algn="l" defTabSz="582930" rtl="0" eaLnBrk="1" latinLnBrk="0" hangingPunct="1">
        <a:lnSpc>
          <a:spcPct val="100000"/>
        </a:lnSpc>
        <a:spcBef>
          <a:spcPct val="0"/>
        </a:spcBef>
        <a:buNone/>
        <a:defRPr sz="2040" kern="1200" spc="0">
          <a:solidFill>
            <a:schemeClr val="tx2"/>
          </a:solidFill>
          <a:latin typeface="Gotham Light" pitchFamily="50" charset="0"/>
          <a:ea typeface="Gotham Light" pitchFamily="50" charset="0"/>
          <a:cs typeface="Gotham Light" pitchFamily="50" charset="0"/>
        </a:defRPr>
      </a:lvl1pPr>
    </p:titleStyle>
    <p:bodyStyle>
      <a:lvl1pPr marL="99098" indent="-99098" algn="l" defTabSz="582930" rtl="0" eaLnBrk="1" latinLnBrk="0" hangingPunct="1">
        <a:lnSpc>
          <a:spcPct val="90000"/>
        </a:lnSpc>
        <a:spcBef>
          <a:spcPts val="510"/>
        </a:spcBef>
        <a:spcAft>
          <a:spcPts val="191"/>
        </a:spcAft>
        <a:buClrTx/>
        <a:buFont typeface="Arial" panose="020B0604020202020204" pitchFamily="34" charset="0"/>
        <a:buChar char="•"/>
        <a:defRPr sz="1275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1pPr>
      <a:lvl2pPr marL="99098" indent="0" algn="l" defTabSz="58293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148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2pPr>
      <a:lvl3pPr marL="99098" indent="-99098" algn="l" defTabSz="582930" rtl="0" eaLnBrk="1" latinLnBrk="0" hangingPunct="1">
        <a:lnSpc>
          <a:spcPct val="90000"/>
        </a:lnSpc>
        <a:spcBef>
          <a:spcPts val="701"/>
        </a:spcBef>
        <a:spcAft>
          <a:spcPts val="191"/>
        </a:spcAft>
        <a:buClrTx/>
        <a:buSzPct val="91000"/>
        <a:buFont typeface="Arial" charset="0"/>
        <a:buChar char="•"/>
        <a:defRPr lang="en-US" sz="1020" b="0" i="0" kern="1200" dirty="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3pPr>
      <a:lvl4pPr marL="99098" indent="0" algn="l" defTabSz="58293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893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4pPr>
      <a:lvl5pPr marL="99098" indent="-99098" algn="l" defTabSz="582930" rtl="0" eaLnBrk="1" latinLnBrk="0" hangingPunct="1">
        <a:lnSpc>
          <a:spcPct val="99000"/>
        </a:lnSpc>
        <a:spcBef>
          <a:spcPts val="574"/>
        </a:spcBef>
        <a:buClr>
          <a:schemeClr val="accent5"/>
        </a:buClr>
        <a:buSzPct val="91000"/>
        <a:buFont typeface="Arial" panose="020B0604020202020204" pitchFamily="34" charset="0"/>
        <a:buChar char="•"/>
        <a:defRPr sz="1148" kern="1200">
          <a:solidFill>
            <a:schemeClr val="accent2"/>
          </a:solidFill>
          <a:latin typeface="+mn-lt"/>
          <a:ea typeface="+mn-ea"/>
          <a:cs typeface="+mn-cs"/>
        </a:defRPr>
      </a:lvl5pPr>
      <a:lvl6pPr marL="122415" indent="0" algn="l" defTabSz="58293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148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582930" rtl="0" eaLnBrk="1" latinLnBrk="0" hangingPunct="1">
        <a:lnSpc>
          <a:spcPct val="99000"/>
        </a:lnSpc>
        <a:spcBef>
          <a:spcPts val="574"/>
        </a:spcBef>
        <a:buSzPct val="91000"/>
        <a:buFontTx/>
        <a:buNone/>
        <a:defRPr sz="1148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58293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148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582930" rtl="0" eaLnBrk="1" latinLnBrk="0" hangingPunct="1">
        <a:lnSpc>
          <a:spcPct val="99000"/>
        </a:lnSpc>
        <a:spcBef>
          <a:spcPts val="574"/>
        </a:spcBef>
        <a:buSzPct val="91000"/>
        <a:buFontTx/>
        <a:buNone/>
        <a:defRPr sz="1148" i="1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582930" rtl="0" eaLnBrk="1" latinLnBrk="0" hangingPunct="1">
        <a:lnSpc>
          <a:spcPct val="99000"/>
        </a:lnSpc>
        <a:spcBef>
          <a:spcPts val="574"/>
        </a:spcBef>
        <a:defRPr sz="893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99098" indent="-99098" algn="l" defTabSz="582930" rtl="0" eaLnBrk="1" latinLnBrk="0" hangingPunct="1">
        <a:lnSpc>
          <a:spcPct val="99000"/>
        </a:lnSpc>
        <a:buSzPct val="91000"/>
        <a:buFont typeface="Arial" panose="020B0604020202020204" pitchFamily="34" charset="0"/>
        <a:buChar char="•"/>
        <a:defRPr sz="893" kern="1200">
          <a:solidFill>
            <a:schemeClr val="accent2"/>
          </a:solidFill>
          <a:latin typeface="+mn-lt"/>
          <a:ea typeface="+mn-ea"/>
          <a:cs typeface="+mn-cs"/>
        </a:defRPr>
      </a:lvl3pPr>
      <a:lvl4pPr marL="99098" indent="-99098" algn="l" defTabSz="582930" rtl="0" eaLnBrk="1" latinLnBrk="0" hangingPunct="1">
        <a:lnSpc>
          <a:spcPct val="99000"/>
        </a:lnSpc>
        <a:spcBef>
          <a:spcPts val="574"/>
        </a:spcBef>
        <a:buSzPct val="91000"/>
        <a:buFont typeface="Arial" panose="020B0604020202020204" pitchFamily="34" charset="0"/>
        <a:buChar char="•"/>
        <a:defRPr sz="893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99098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0CB834-096B-471A-825F-74C4B7E6E08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60680" y="3352799"/>
            <a:ext cx="7157720" cy="6705601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One Field Services (OFS)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își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menține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angajamentul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ferm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de a ne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proteja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angajații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clienții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contractorii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pe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toți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cei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afectați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de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operațiunile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noastre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Siguranța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nu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este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doar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o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prioritate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ci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este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fundamentală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reprezintă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o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valoare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de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bază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Acționăm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cu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integritate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responsabilitate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pentru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îndeplini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depăși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toate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cerințele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de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reglementare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ale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clienților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orice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alte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cerințe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aplicabile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stabilind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obiective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clare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indicatori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de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performanță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(KPI)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măsurabili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care ne permit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impulsionăm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îmbunătățirea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continuă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sistemului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EHS.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Scopul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nostru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final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este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simplu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nenegociabil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 zero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prejudicii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Scopul</a:t>
            </a:r>
            <a:r>
              <a:rPr lang="en-US" sz="110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nostru</a:t>
            </a:r>
            <a:r>
              <a:rPr lang="en-US" sz="110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</a:t>
            </a:r>
          </a:p>
          <a:p>
            <a:pPr marL="344488" lvl="1" indent="-290513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pt-BR" b="1" dirty="0"/>
              <a:t>Zero prejudicii pentru angajații noștri prin:</a:t>
            </a:r>
            <a:endParaRPr lang="en-US" sz="1100" b="1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Stabilirea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unor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Reguli de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Salvare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Vieții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(Life Saving Rules) care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previn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sau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atenuează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riscurile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principale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din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operațiunile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noastre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zilnice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Asigurarea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unor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condiții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de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muncă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sigure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sănătoase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pentru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prevenirea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accidentelor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de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muncă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îmbolnăvirilor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profesionale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Furnizarea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de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cursuri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instruire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EHS proactive,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bazate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pe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roluri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aliniate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la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riscurile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specifice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fiecărui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post.</a:t>
            </a:r>
          </a:p>
          <a:p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Identificarea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eliminarea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reducerea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pericolelor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prin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intermediul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Regulilor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de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Salvare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Vieții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bazate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pe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riscuri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Furnizarea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către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angajați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instrumentelor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resurselor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suportului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adecvat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pentru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lucra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în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siguranță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Împuternicirea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încurajarea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fiecărui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angajat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de a OPRI LUCRUL (STOP WORK)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atunci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când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condițiile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sunt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nesigure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–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fără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ezitare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sau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consecințe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pPr marL="344488" lvl="1" indent="-290513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pt-BR" b="1" dirty="0"/>
              <a:t>Zero prejudicii pentru mediu prin:</a:t>
            </a:r>
            <a:endParaRPr lang="en-US" sz="1100" b="1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Prevenirea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poluării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la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fiecare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nivel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al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operațiunilor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noastre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Minimizarea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impactului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negativ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asupra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mediului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în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facilitățile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noastre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fixe,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în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servicii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pe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șantierele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de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proiect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Credem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o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performanță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EHS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solidă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depinde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de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comunicarea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deschisă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colaborare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Ne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implicăm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activ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ne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consultăm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cu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angajații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clienții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contractorii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părțile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interesate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încurajând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participarea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la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consolidarea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Regulilor</a:t>
            </a:r>
            <a:r>
              <a:rPr lang="en-US" sz="110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noastre</a:t>
            </a:r>
            <a:r>
              <a:rPr lang="en-US" sz="110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de </a:t>
            </a:r>
            <a:r>
              <a:rPr lang="en-US" sz="110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Salvare</a:t>
            </a:r>
            <a:r>
              <a:rPr lang="en-US" sz="110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a </a:t>
            </a:r>
            <a:r>
              <a:rPr lang="en-US" sz="110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Vieții</a:t>
            </a:r>
            <a:r>
              <a:rPr lang="en-US" sz="110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la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reducerea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riscurilor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EHS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impactului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asupra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mediului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  <a:r>
              <a:rPr lang="en-US" dirty="0"/>
              <a:t> </a:t>
            </a:r>
          </a:p>
          <a:p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EHS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este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o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responsabilitate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comună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a </a:t>
            </a:r>
            <a:r>
              <a:rPr lang="en-US" sz="110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fiecărei</a:t>
            </a:r>
            <a:r>
              <a:rPr lang="en-US" sz="110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persoane</a:t>
            </a:r>
            <a:r>
              <a:rPr lang="en-US" sz="110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din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cadrul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OFS.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Fiecare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dintre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este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responsabil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pentru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protejarea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propriei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persoane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colegilor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clienților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vizitatorilor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pe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șantier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comunităților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în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care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activăm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a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mediului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Împreună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vom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crea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o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cultură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în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care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siguranța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ghidează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fiecare</a:t>
            </a:r>
            <a:r>
              <a:rPr lang="en-US" sz="110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decizie</a:t>
            </a:r>
            <a:r>
              <a:rPr lang="en-US" sz="1100" b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și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în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care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obiectivul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„zero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prejudicii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”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este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realizabil</a:t>
            </a:r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</a:p>
          <a:p>
            <a:br>
              <a:rPr lang="en-US" sz="1100" dirty="0"/>
            </a:br>
            <a:endParaRPr lang="en-US" sz="115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A8BFA6-A3B9-4236-91AD-6725937BC68C}"/>
              </a:ext>
            </a:extLst>
          </p:cNvPr>
          <p:cNvSpPr txBox="1"/>
          <p:nvPr/>
        </p:nvSpPr>
        <p:spPr>
          <a:xfrm>
            <a:off x="180340" y="2690143"/>
            <a:ext cx="741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Politica</a:t>
            </a:r>
            <a:r>
              <a:rPr lang="en-US" sz="28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 de </a:t>
            </a:r>
            <a:r>
              <a:rPr lang="en-US" sz="28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mediu</a:t>
            </a:r>
            <a:r>
              <a:rPr lang="en-US" sz="28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Sanatate</a:t>
            </a:r>
            <a:r>
              <a:rPr lang="en-US" sz="28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si</a:t>
            </a:r>
            <a:r>
              <a:rPr lang="en-US" sz="28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Sons Condensed Semibold" panose="02060706060206060203" pitchFamily="18" charset="0"/>
              </a:rPr>
              <a:t>Siguranta</a:t>
            </a:r>
            <a:r>
              <a:rPr lang="en-US" sz="280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 (EHS)- Gas Power one Field Services</a:t>
            </a:r>
          </a:p>
        </p:txBody>
      </p:sp>
    </p:spTree>
    <p:extLst>
      <p:ext uri="{BB962C8B-B14F-4D97-AF65-F5344CB8AC3E}">
        <p14:creationId xmlns:p14="http://schemas.microsoft.com/office/powerpoint/2010/main" val="2114297706"/>
      </p:ext>
    </p:extLst>
  </p:cSld>
  <p:clrMapOvr>
    <a:masterClrMapping/>
  </p:clrMapOvr>
</p:sld>
</file>

<file path=ppt/theme/theme1.xml><?xml version="1.0" encoding="utf-8"?>
<a:theme xmlns:a="http://schemas.openxmlformats.org/drawingml/2006/main" name="FieldCore_2017">
  <a:themeElements>
    <a:clrScheme name="Custom 14">
      <a:dk1>
        <a:srgbClr val="63666A"/>
      </a:dk1>
      <a:lt1>
        <a:srgbClr val="FFFFFF"/>
      </a:lt1>
      <a:dk2>
        <a:srgbClr val="090936"/>
      </a:dk2>
      <a:lt2>
        <a:srgbClr val="FFFFFF"/>
      </a:lt2>
      <a:accent1>
        <a:srgbClr val="FE5000"/>
      </a:accent1>
      <a:accent2>
        <a:srgbClr val="005EB8"/>
      </a:accent2>
      <a:accent3>
        <a:srgbClr val="63666A"/>
      </a:accent3>
      <a:accent4>
        <a:srgbClr val="B1B3B3"/>
      </a:accent4>
      <a:accent5>
        <a:srgbClr val="00B5E2"/>
      </a:accent5>
      <a:accent6>
        <a:srgbClr val="3EAE2A"/>
      </a:accent6>
      <a:hlink>
        <a:srgbClr val="FE5000"/>
      </a:hlink>
      <a:folHlink>
        <a:srgbClr val="090936"/>
      </a:folHlink>
    </a:clrScheme>
    <a:fontScheme name="FieldCore - Gotham">
      <a:majorFont>
        <a:latin typeface="Gotham Light"/>
        <a:ea typeface=""/>
        <a:cs typeface=""/>
      </a:majorFont>
      <a:minorFont>
        <a:latin typeface="Gotham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6ED2"/>
        </a:solidFill>
      </a:spPr>
      <a:bodyPr wrap="square" rtlCol="0" anchor="ctr">
        <a:noAutofit/>
      </a:bodyPr>
      <a:lstStyle>
        <a:defPPr algn="ctr">
          <a:defRPr dirty="0" smtClean="0">
            <a:solidFill>
              <a:schemeClr val="bg1"/>
            </a:solidFill>
            <a:ea typeface="Arial" charset="0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18810-01 FC new font template_test1_R1" id="{9AA2E0B5-DA9B-4844-AFA8-7AD242CFC0F9}" vid="{25A4205F-3365-4494-A059-27D7887B49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>1</RevisionNumber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 xsi:nil="true"/>
  </documentManagement>
</p:properties>
</file>

<file path=customXml/itemProps1.xml><?xml version="1.0" encoding="utf-8"?>
<ds:datastoreItem xmlns:ds="http://schemas.openxmlformats.org/officeDocument/2006/customXml" ds:itemID="{A9F9E97A-BB00-4310-8501-6D76914D0AB7}"/>
</file>

<file path=customXml/itemProps2.xml><?xml version="1.0" encoding="utf-8"?>
<ds:datastoreItem xmlns:ds="http://schemas.openxmlformats.org/officeDocument/2006/customXml" ds:itemID="{A472F004-43B5-4642-8DD1-498CBE69EFB2}"/>
</file>

<file path=customXml/itemProps3.xml><?xml version="1.0" encoding="utf-8"?>
<ds:datastoreItem xmlns:ds="http://schemas.openxmlformats.org/officeDocument/2006/customXml" ds:itemID="{D111AC9C-D567-4325-9A0C-BC33BD3CED0A}"/>
</file>

<file path=docMetadata/LabelInfo.xml><?xml version="1.0" encoding="utf-8"?>
<clbl:labelList xmlns:clbl="http://schemas.microsoft.com/office/2020/mipLabelMetadata">
  <clbl:label id="{15ccb6d1-d335-4996-b6f9-7b6925f08121}" enabled="0" method="" siteId="{15ccb6d1-d335-4996-b6f9-7b6925f0812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CS18810-03 FieldCore Template_R3</Template>
  <TotalTime>1159</TotalTime>
  <Words>391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Gotham Light</vt:lpstr>
      <vt:lpstr>Gotham Rounded Book</vt:lpstr>
      <vt:lpstr>Sons Condensed Semibold</vt:lpstr>
      <vt:lpstr>Wingdings</vt:lpstr>
      <vt:lpstr>FieldCore_2017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Stout, David (FieldCore)</dc:creator>
  <cp:lastModifiedBy>Talpig, Alexandru (GE Vernova)</cp:lastModifiedBy>
  <cp:revision>54</cp:revision>
  <cp:lastPrinted>2018-11-19T17:02:52Z</cp:lastPrinted>
  <dcterms:created xsi:type="dcterms:W3CDTF">2018-11-14T17:47:23Z</dcterms:created>
  <dcterms:modified xsi:type="dcterms:W3CDTF">2026-05-29T11:15:46Z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0x010100AABA2F64D6E2C740A2EFD32F6136F44B</vt:lpwstr>
  </property>
</Properties>
</file>