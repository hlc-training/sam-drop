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8" r:id="rId2"/>
  </p:sldIdLst>
  <p:sldSz cx="7772400" cy="10058400"/>
  <p:notesSz cx="68580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60"/>
    <a:srgbClr val="696969"/>
    <a:srgbClr val="484848"/>
    <a:srgbClr val="E3E3E3"/>
    <a:srgbClr val="FFFEFC"/>
    <a:srgbClr val="8D89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A0EABF-B6DB-4CB6-B20C-EF89C4AB03B7}" v="1" dt="2026-03-20T10:04:05.0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81" autoAdjust="0"/>
    <p:restoredTop sz="94712" autoAdjust="0"/>
  </p:normalViewPr>
  <p:slideViewPr>
    <p:cSldViewPr snapToGrid="0">
      <p:cViewPr>
        <p:scale>
          <a:sx n="200" d="100"/>
          <a:sy n="200" d="100"/>
        </p:scale>
        <p:origin x="144" y="-7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3.xml"/><Relationship Id="rId5" Type="http://schemas.openxmlformats.org/officeDocument/2006/relationships/viewProps" Target="viewProps.xml"/><Relationship Id="rId10" Type="http://schemas.openxmlformats.org/officeDocument/2006/relationships/customXml" Target="../customXml/item2.xml"/><Relationship Id="rId4" Type="http://schemas.openxmlformats.org/officeDocument/2006/relationships/presProps" Target="presProps.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3550"/>
          </a:xfrm>
          <a:prstGeom prst="rect">
            <a:avLst/>
          </a:prstGeom>
        </p:spPr>
        <p:txBody>
          <a:bodyPr vert="horz" lIns="91440" tIns="45720" rIns="91440" bIns="45720" rtlCol="0"/>
          <a:lstStyle>
            <a:lvl1pPr algn="r">
              <a:defRPr sz="1200"/>
            </a:lvl1pPr>
          </a:lstStyle>
          <a:p>
            <a:fld id="{77A12465-B93B-4C89-8962-65869DA8E1FC}" type="datetimeFigureOut">
              <a:rPr lang="en-US" smtClean="0"/>
              <a:t>6/1/2026</a:t>
            </a:fld>
            <a:endParaRPr lang="en-US"/>
          </a:p>
        </p:txBody>
      </p:sp>
      <p:sp>
        <p:nvSpPr>
          <p:cNvPr id="4" name="Slide Image Placeholder 3"/>
          <p:cNvSpPr>
            <a:spLocks noGrp="1" noRot="1" noChangeAspect="1"/>
          </p:cNvSpPr>
          <p:nvPr>
            <p:ph type="sldImg" idx="2"/>
          </p:nvPr>
        </p:nvSpPr>
        <p:spPr>
          <a:xfrm>
            <a:off x="2224088" y="1154113"/>
            <a:ext cx="2409825"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45000"/>
            <a:ext cx="5486400" cy="3636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2971800"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772525"/>
            <a:ext cx="2971800" cy="463550"/>
          </a:xfrm>
          <a:prstGeom prst="rect">
            <a:avLst/>
          </a:prstGeom>
        </p:spPr>
        <p:txBody>
          <a:bodyPr vert="horz" lIns="91440" tIns="45720" rIns="91440" bIns="45720" rtlCol="0" anchor="b"/>
          <a:lstStyle>
            <a:lvl1pPr algn="r">
              <a:defRPr sz="1200"/>
            </a:lvl1pPr>
          </a:lstStyle>
          <a:p>
            <a:fld id="{39E36773-3A60-4CD3-B810-B928EA53603D}" type="slidenum">
              <a:rPr lang="en-US" smtClean="0"/>
              <a:t>‹#›</a:t>
            </a:fld>
            <a:endParaRPr lang="en-US"/>
          </a:p>
        </p:txBody>
      </p:sp>
    </p:spTree>
    <p:extLst>
      <p:ext uri="{BB962C8B-B14F-4D97-AF65-F5344CB8AC3E}">
        <p14:creationId xmlns:p14="http://schemas.microsoft.com/office/powerpoint/2010/main" val="2618993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C41A86-5D21-4E83-800F-748C950C4662}"/>
              </a:ext>
            </a:extLst>
          </p:cNvPr>
          <p:cNvSpPr/>
          <p:nvPr userDrawn="1"/>
        </p:nvSpPr>
        <p:spPr>
          <a:xfrm>
            <a:off x="193040" y="3344544"/>
            <a:ext cx="7386320" cy="5615186"/>
          </a:xfrm>
          <a:prstGeom prst="rect">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C98C045-E9A4-457B-B00C-0C279905ADE3}"/>
              </a:ext>
            </a:extLst>
          </p:cNvPr>
          <p:cNvSpPr/>
          <p:nvPr userDrawn="1"/>
        </p:nvSpPr>
        <p:spPr>
          <a:xfrm>
            <a:off x="193040" y="2733040"/>
            <a:ext cx="7386320" cy="594360"/>
          </a:xfrm>
          <a:prstGeom prst="rect">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8245694-D800-4336-B687-EB2E002A4E76}"/>
              </a:ext>
            </a:extLst>
          </p:cNvPr>
          <p:cNvSpPr txBox="1"/>
          <p:nvPr userDrawn="1"/>
        </p:nvSpPr>
        <p:spPr>
          <a:xfrm>
            <a:off x="804259" y="9490383"/>
            <a:ext cx="1597024" cy="400110"/>
          </a:xfrm>
          <a:prstGeom prst="rect">
            <a:avLst/>
          </a:prstGeom>
          <a:noFill/>
        </p:spPr>
        <p:txBody>
          <a:bodyPr wrap="square" rtlCol="0">
            <a:spAutoFit/>
          </a:bodyPr>
          <a:lstStyle/>
          <a:p>
            <a:r>
              <a:rPr lang="en-US" sz="1000" kern="1200" dirty="0">
                <a:solidFill>
                  <a:srgbClr val="8D8988"/>
                </a:solidFill>
                <a:effectLst/>
                <a:latin typeface="Gotham Rounded Book" pitchFamily="50" charset="0"/>
                <a:ea typeface="+mn-ea"/>
                <a:cs typeface="+mn-cs"/>
              </a:rPr>
              <a:t>Jim Vono </a:t>
            </a:r>
          </a:p>
          <a:p>
            <a:r>
              <a:rPr lang="en-US" sz="1000" kern="1200" dirty="0">
                <a:solidFill>
                  <a:srgbClr val="8D8988"/>
                </a:solidFill>
                <a:effectLst/>
                <a:latin typeface="Gotham Rounded Book" pitchFamily="50" charset="0"/>
                <a:ea typeface="+mn-ea"/>
                <a:cs typeface="+mn-cs"/>
              </a:rPr>
              <a:t>One Field Services Leader</a:t>
            </a:r>
            <a:endParaRPr lang="en-US" sz="1000" dirty="0">
              <a:solidFill>
                <a:srgbClr val="8D8988"/>
              </a:solidFill>
              <a:latin typeface="Gotham Rounded Book" pitchFamily="50" charset="0"/>
            </a:endParaRPr>
          </a:p>
        </p:txBody>
      </p:sp>
      <p:sp>
        <p:nvSpPr>
          <p:cNvPr id="13" name="TextBox 12">
            <a:extLst>
              <a:ext uri="{FF2B5EF4-FFF2-40B4-BE49-F238E27FC236}">
                <a16:creationId xmlns:a16="http://schemas.microsoft.com/office/drawing/2014/main" id="{AB5DAB11-D89E-4579-A97D-FEA73BC6CC15}"/>
              </a:ext>
            </a:extLst>
          </p:cNvPr>
          <p:cNvSpPr txBox="1"/>
          <p:nvPr userDrawn="1"/>
        </p:nvSpPr>
        <p:spPr>
          <a:xfrm>
            <a:off x="2700942" y="9490383"/>
            <a:ext cx="2563019" cy="400110"/>
          </a:xfrm>
          <a:prstGeom prst="rect">
            <a:avLst/>
          </a:prstGeom>
          <a:noFill/>
        </p:spPr>
        <p:txBody>
          <a:bodyPr wrap="square" rtlCol="0">
            <a:spAutoFit/>
          </a:bodyPr>
          <a:lstStyle/>
          <a:p>
            <a:r>
              <a:rPr lang="en-US" sz="1000" kern="1200" dirty="0">
                <a:solidFill>
                  <a:srgbClr val="8D8988"/>
                </a:solidFill>
                <a:effectLst/>
                <a:latin typeface="Gotham Rounded Book" pitchFamily="50" charset="0"/>
                <a:ea typeface="+mn-ea"/>
                <a:cs typeface="+mn-cs"/>
              </a:rPr>
              <a:t>Jeff Gifford </a:t>
            </a:r>
          </a:p>
          <a:p>
            <a:r>
              <a:rPr lang="en-US" sz="1000" kern="1200" dirty="0">
                <a:solidFill>
                  <a:srgbClr val="8D8988"/>
                </a:solidFill>
                <a:effectLst/>
                <a:latin typeface="Gotham Rounded Book" pitchFamily="50" charset="0"/>
                <a:ea typeface="+mn-ea"/>
                <a:cs typeface="+mn-cs"/>
              </a:rPr>
              <a:t>EHS Leader</a:t>
            </a:r>
            <a:endParaRPr lang="en-US" sz="1000" dirty="0">
              <a:solidFill>
                <a:srgbClr val="8D8988"/>
              </a:solidFill>
              <a:latin typeface="Gotham Rounded Book" pitchFamily="50" charset="0"/>
            </a:endParaRPr>
          </a:p>
        </p:txBody>
      </p:sp>
      <p:cxnSp>
        <p:nvCxnSpPr>
          <p:cNvPr id="9" name="Straight Connector 8">
            <a:extLst>
              <a:ext uri="{FF2B5EF4-FFF2-40B4-BE49-F238E27FC236}">
                <a16:creationId xmlns:a16="http://schemas.microsoft.com/office/drawing/2014/main" id="{27BA8D22-8CE3-4517-B48D-E8F158A8004E}"/>
              </a:ext>
            </a:extLst>
          </p:cNvPr>
          <p:cNvCxnSpPr/>
          <p:nvPr userDrawn="1"/>
        </p:nvCxnSpPr>
        <p:spPr>
          <a:xfrm>
            <a:off x="4808220" y="9013542"/>
            <a:ext cx="0" cy="837317"/>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9D2BD6C-23CD-86C1-F7F1-6439335B5110}"/>
              </a:ext>
            </a:extLst>
          </p:cNvPr>
          <p:cNvPicPr>
            <a:picLocks noChangeAspect="1"/>
          </p:cNvPicPr>
          <p:nvPr userDrawn="1"/>
        </p:nvPicPr>
        <p:blipFill>
          <a:blip r:embed="rId2">
            <a:extLst>
              <a:ext uri="{28A0092B-C50C-407E-A947-70E740481C1C}">
                <a14:useLocalDpi xmlns:a14="http://schemas.microsoft.com/office/drawing/2010/main" val="0"/>
              </a:ext>
            </a:extLst>
          </a:blip>
          <a:srcRect t="18184"/>
          <a:stretch/>
        </p:blipFill>
        <p:spPr>
          <a:xfrm>
            <a:off x="4965067" y="9053508"/>
            <a:ext cx="2471238" cy="685056"/>
          </a:xfrm>
          <a:prstGeom prst="rect">
            <a:avLst/>
          </a:prstGeom>
        </p:spPr>
      </p:pic>
      <p:pic>
        <p:nvPicPr>
          <p:cNvPr id="10" name="Graphic 9">
            <a:extLst>
              <a:ext uri="{FF2B5EF4-FFF2-40B4-BE49-F238E27FC236}">
                <a16:creationId xmlns:a16="http://schemas.microsoft.com/office/drawing/2014/main" id="{61F57D87-A53A-9A66-3E99-9191689692E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71095" y="9118217"/>
            <a:ext cx="1487468" cy="511436"/>
          </a:xfrm>
          <a:prstGeom prst="rect">
            <a:avLst/>
          </a:prstGeom>
        </p:spPr>
      </p:pic>
      <p:pic>
        <p:nvPicPr>
          <p:cNvPr id="16" name="Graphic 15">
            <a:extLst>
              <a:ext uri="{FF2B5EF4-FFF2-40B4-BE49-F238E27FC236}">
                <a16:creationId xmlns:a16="http://schemas.microsoft.com/office/drawing/2014/main" id="{2C9FA114-0DFF-E4EC-8F9B-E248BDC7D9B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14742" y="9116983"/>
            <a:ext cx="1490472" cy="327748"/>
          </a:xfrm>
          <a:prstGeom prst="rect">
            <a:avLst/>
          </a:prstGeom>
        </p:spPr>
      </p:pic>
      <p:sp>
        <p:nvSpPr>
          <p:cNvPr id="5" name="TextBox 4">
            <a:extLst>
              <a:ext uri="{FF2B5EF4-FFF2-40B4-BE49-F238E27FC236}">
                <a16:creationId xmlns:a16="http://schemas.microsoft.com/office/drawing/2014/main" id="{A3C46678-2886-29F0-F905-A3D7AC56E20B}"/>
              </a:ext>
            </a:extLst>
          </p:cNvPr>
          <p:cNvSpPr txBox="1"/>
          <p:nvPr userDrawn="1"/>
        </p:nvSpPr>
        <p:spPr>
          <a:xfrm>
            <a:off x="5979160" y="9677400"/>
            <a:ext cx="1600200" cy="246221"/>
          </a:xfrm>
          <a:prstGeom prst="rect">
            <a:avLst/>
          </a:prstGeom>
          <a:noFill/>
        </p:spPr>
        <p:txBody>
          <a:bodyPr wrap="square" rtlCol="0">
            <a:spAutoFit/>
          </a:bodyPr>
          <a:lstStyle/>
          <a:p>
            <a:pPr algn="r"/>
            <a:r>
              <a:rPr lang="en-US" sz="1000" dirty="0">
                <a:solidFill>
                  <a:srgbClr val="8D8988"/>
                </a:solidFill>
                <a:latin typeface="Gotham Rounded Book" pitchFamily="50" charset="0"/>
              </a:rPr>
              <a:t> January 2026</a:t>
            </a:r>
          </a:p>
        </p:txBody>
      </p:sp>
      <p:pic>
        <p:nvPicPr>
          <p:cNvPr id="18" name="Picture 17">
            <a:extLst>
              <a:ext uri="{FF2B5EF4-FFF2-40B4-BE49-F238E27FC236}">
                <a16:creationId xmlns:a16="http://schemas.microsoft.com/office/drawing/2014/main" id="{4C88E628-1831-3141-773D-9A07A11E5021}"/>
              </a:ext>
            </a:extLst>
          </p:cNvPr>
          <p:cNvPicPr>
            <a:picLocks noChangeAspect="1"/>
          </p:cNvPicPr>
          <p:nvPr userDrawn="1"/>
        </p:nvPicPr>
        <p:blipFill>
          <a:blip r:embed="rId7">
            <a:extLst>
              <a:ext uri="{28A0092B-C50C-407E-A947-70E740481C1C}">
                <a14:useLocalDpi xmlns:a14="http://schemas.microsoft.com/office/drawing/2010/main" val="0"/>
              </a:ext>
            </a:extLst>
          </a:blip>
          <a:srcRect b="47895"/>
          <a:stretch/>
        </p:blipFill>
        <p:spPr>
          <a:xfrm>
            <a:off x="0" y="0"/>
            <a:ext cx="7772400" cy="2699861"/>
          </a:xfrm>
          <a:prstGeom prst="rect">
            <a:avLst/>
          </a:prstGeom>
        </p:spPr>
      </p:pic>
      <p:pic>
        <p:nvPicPr>
          <p:cNvPr id="15" name="Graphic 14">
            <a:extLst>
              <a:ext uri="{FF2B5EF4-FFF2-40B4-BE49-F238E27FC236}">
                <a16:creationId xmlns:a16="http://schemas.microsoft.com/office/drawing/2014/main" id="{255E72C8-6A29-C2CD-F104-C064BF288D5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822686" y="142433"/>
            <a:ext cx="2127028" cy="2127028"/>
          </a:xfrm>
          <a:prstGeom prst="rect">
            <a:avLst/>
          </a:prstGeom>
        </p:spPr>
      </p:pic>
      <p:sp>
        <p:nvSpPr>
          <p:cNvPr id="12" name="Rectangle 11">
            <a:extLst>
              <a:ext uri="{FF2B5EF4-FFF2-40B4-BE49-F238E27FC236}">
                <a16:creationId xmlns:a16="http://schemas.microsoft.com/office/drawing/2014/main" id="{0ECC4E44-2707-9ED3-8A3D-828F5679B1D6}"/>
              </a:ext>
            </a:extLst>
          </p:cNvPr>
          <p:cNvSpPr/>
          <p:nvPr userDrawn="1"/>
        </p:nvSpPr>
        <p:spPr>
          <a:xfrm>
            <a:off x="0" y="0"/>
            <a:ext cx="7772400" cy="2687388"/>
          </a:xfrm>
          <a:prstGeom prst="rect">
            <a:avLst/>
          </a:prstGeom>
          <a:solidFill>
            <a:srgbClr val="005E60">
              <a:alpha val="40000"/>
            </a:srgbClr>
          </a:solidFill>
        </p:spPr>
        <p:txBody>
          <a:bodyPr wrap="square" rtlCol="0" anchor="ctr">
            <a:noAutofit/>
          </a:bodyPr>
          <a:lstStyle/>
          <a:p>
            <a:pPr algn="ctr"/>
            <a:endParaRPr lang="en-US" dirty="0">
              <a:solidFill>
                <a:schemeClr val="bg1"/>
              </a:solidFill>
              <a:ea typeface="Arial" charset="0"/>
            </a:endParaRPr>
          </a:p>
        </p:txBody>
      </p:sp>
    </p:spTree>
    <p:extLst>
      <p:ext uri="{BB962C8B-B14F-4D97-AF65-F5344CB8AC3E}">
        <p14:creationId xmlns:p14="http://schemas.microsoft.com/office/powerpoint/2010/main" val="178875529"/>
      </p:ext>
    </p:extLst>
  </p:cSld>
  <p:clrMapOvr>
    <a:masterClrMapping/>
  </p:clrMapOvr>
  <p:extLst>
    <p:ext uri="{DCECCB84-F9BA-43D5-87BE-67443E8EF086}">
      <p15:sldGuideLst xmlns:p15="http://schemas.microsoft.com/office/powerpoint/2012/main">
        <p15:guide id="1" orient="horz" pos="3168" userDrawn="1">
          <p15:clr>
            <a:srgbClr val="FBAE40"/>
          </p15:clr>
        </p15:guide>
        <p15:guide id="2" pos="2448"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657653"/>
      </p:ext>
    </p:extLst>
  </p:cSld>
  <p:clrMap bg1="lt1" tx1="dk1" bg2="lt2" tx2="dk2" accent1="accent1" accent2="accent2" accent3="accent3" accent4="accent4" accent5="accent5" accent6="accent6" hlink="hlink" folHlink="folHlink"/>
  <p:sldLayoutIdLst>
    <p:sldLayoutId id="2147483694" r:id="rId1"/>
  </p:sldLayoutIdLst>
  <p:transition spd="slow">
    <p:push dir="u"/>
  </p:transition>
  <p:txStyles>
    <p:titleStyle>
      <a:lvl1pPr algn="l" defTabSz="582930" rtl="0" eaLnBrk="1" latinLnBrk="0" hangingPunct="1">
        <a:lnSpc>
          <a:spcPct val="100000"/>
        </a:lnSpc>
        <a:spcBef>
          <a:spcPct val="0"/>
        </a:spcBef>
        <a:buNone/>
        <a:defRPr sz="2040" kern="1200" spc="0">
          <a:solidFill>
            <a:schemeClr val="tx2"/>
          </a:solidFill>
          <a:latin typeface="Gotham Light" pitchFamily="50" charset="0"/>
          <a:ea typeface="Gotham Light" pitchFamily="50" charset="0"/>
          <a:cs typeface="Gotham Light" pitchFamily="50" charset="0"/>
        </a:defRPr>
      </a:lvl1pPr>
    </p:titleStyle>
    <p:bodyStyle>
      <a:lvl1pPr marL="99098" indent="-99098" algn="l" defTabSz="582930" rtl="0" eaLnBrk="1" latinLnBrk="0" hangingPunct="1">
        <a:lnSpc>
          <a:spcPct val="90000"/>
        </a:lnSpc>
        <a:spcBef>
          <a:spcPts val="510"/>
        </a:spcBef>
        <a:spcAft>
          <a:spcPts val="191"/>
        </a:spcAft>
        <a:buClrTx/>
        <a:buFont typeface="Arial" panose="020B0604020202020204" pitchFamily="34" charset="0"/>
        <a:buChar char="•"/>
        <a:defRPr sz="1275" b="0" i="0" kern="1200">
          <a:solidFill>
            <a:schemeClr val="tx1"/>
          </a:solidFill>
          <a:latin typeface="Gotham Light" pitchFamily="50" charset="0"/>
          <a:ea typeface="Gotham Light" pitchFamily="50" charset="0"/>
          <a:cs typeface="Gotham Light" pitchFamily="50" charset="0"/>
        </a:defRPr>
      </a:lvl1pPr>
      <a:lvl2pPr marL="99098" indent="0" algn="l" defTabSz="582930" rtl="0" eaLnBrk="1" latinLnBrk="0" hangingPunct="1">
        <a:lnSpc>
          <a:spcPct val="90000"/>
        </a:lnSpc>
        <a:spcBef>
          <a:spcPts val="0"/>
        </a:spcBef>
        <a:buClr>
          <a:schemeClr val="accent1"/>
        </a:buClr>
        <a:buFontTx/>
        <a:buNone/>
        <a:defRPr sz="1148" b="0" i="0" kern="1200">
          <a:solidFill>
            <a:schemeClr val="tx1"/>
          </a:solidFill>
          <a:latin typeface="Gotham Light" pitchFamily="50" charset="0"/>
          <a:ea typeface="Gotham Light" pitchFamily="50" charset="0"/>
          <a:cs typeface="Gotham Light" pitchFamily="50" charset="0"/>
        </a:defRPr>
      </a:lvl2pPr>
      <a:lvl3pPr marL="99098" indent="-99098" algn="l" defTabSz="582930" rtl="0" eaLnBrk="1" latinLnBrk="0" hangingPunct="1">
        <a:lnSpc>
          <a:spcPct val="90000"/>
        </a:lnSpc>
        <a:spcBef>
          <a:spcPts val="701"/>
        </a:spcBef>
        <a:spcAft>
          <a:spcPts val="191"/>
        </a:spcAft>
        <a:buClrTx/>
        <a:buSzPct val="91000"/>
        <a:buFont typeface="Arial" charset="0"/>
        <a:buChar char="•"/>
        <a:defRPr lang="en-US" sz="1020" b="0" i="0" kern="1200" dirty="0">
          <a:solidFill>
            <a:schemeClr val="tx1"/>
          </a:solidFill>
          <a:latin typeface="Gotham Light" pitchFamily="50" charset="0"/>
          <a:ea typeface="Gotham Light" pitchFamily="50" charset="0"/>
          <a:cs typeface="Gotham Light" pitchFamily="50" charset="0"/>
        </a:defRPr>
      </a:lvl3pPr>
      <a:lvl4pPr marL="99098" indent="0" algn="l" defTabSz="582930" rtl="0" eaLnBrk="1" latinLnBrk="0" hangingPunct="1">
        <a:lnSpc>
          <a:spcPct val="90000"/>
        </a:lnSpc>
        <a:spcBef>
          <a:spcPts val="0"/>
        </a:spcBef>
        <a:buClr>
          <a:schemeClr val="accent1"/>
        </a:buClr>
        <a:buFontTx/>
        <a:buNone/>
        <a:defRPr sz="893" b="0" i="0" kern="1200">
          <a:solidFill>
            <a:schemeClr val="tx1"/>
          </a:solidFill>
          <a:latin typeface="Gotham Light" pitchFamily="50" charset="0"/>
          <a:ea typeface="Gotham Light" pitchFamily="50" charset="0"/>
          <a:cs typeface="Gotham Light" pitchFamily="50" charset="0"/>
        </a:defRPr>
      </a:lvl4pPr>
      <a:lvl5pPr marL="99098" indent="-99098" algn="l" defTabSz="582930" rtl="0" eaLnBrk="1" latinLnBrk="0" hangingPunct="1">
        <a:lnSpc>
          <a:spcPct val="99000"/>
        </a:lnSpc>
        <a:spcBef>
          <a:spcPts val="574"/>
        </a:spcBef>
        <a:buClr>
          <a:schemeClr val="accent5"/>
        </a:buClr>
        <a:buSzPct val="91000"/>
        <a:buFont typeface="Arial" panose="020B0604020202020204" pitchFamily="34" charset="0"/>
        <a:buChar char="•"/>
        <a:defRPr sz="1148" kern="1200">
          <a:solidFill>
            <a:schemeClr val="accent2"/>
          </a:solidFill>
          <a:latin typeface="+mn-lt"/>
          <a:ea typeface="+mn-ea"/>
          <a:cs typeface="+mn-cs"/>
        </a:defRPr>
      </a:lvl5pPr>
      <a:lvl6pPr marL="122415" indent="0" algn="l" defTabSz="582930" rtl="0" eaLnBrk="1" latinLnBrk="0" hangingPunct="1">
        <a:lnSpc>
          <a:spcPct val="99000"/>
        </a:lnSpc>
        <a:spcBef>
          <a:spcPts val="0"/>
        </a:spcBef>
        <a:buSzPct val="91000"/>
        <a:buFontTx/>
        <a:buNone/>
        <a:defRPr sz="1148" kern="1200">
          <a:solidFill>
            <a:schemeClr val="accent2"/>
          </a:solidFill>
          <a:latin typeface="+mn-lt"/>
          <a:ea typeface="+mn-ea"/>
          <a:cs typeface="+mn-cs"/>
        </a:defRPr>
      </a:lvl6pPr>
      <a:lvl7pPr marL="0" indent="0" algn="l" defTabSz="582930" rtl="0" eaLnBrk="1" latinLnBrk="0" hangingPunct="1">
        <a:lnSpc>
          <a:spcPct val="99000"/>
        </a:lnSpc>
        <a:spcBef>
          <a:spcPts val="574"/>
        </a:spcBef>
        <a:buSzPct val="91000"/>
        <a:buFontTx/>
        <a:buNone/>
        <a:defRPr sz="1148" b="1" kern="1200">
          <a:solidFill>
            <a:schemeClr val="accent2"/>
          </a:solidFill>
          <a:latin typeface="+mn-lt"/>
          <a:ea typeface="+mn-ea"/>
          <a:cs typeface="+mn-cs"/>
        </a:defRPr>
      </a:lvl7pPr>
      <a:lvl8pPr marL="0" indent="0" algn="l" defTabSz="582930" rtl="0" eaLnBrk="1" latinLnBrk="0" hangingPunct="1">
        <a:lnSpc>
          <a:spcPct val="99000"/>
        </a:lnSpc>
        <a:spcBef>
          <a:spcPts val="0"/>
        </a:spcBef>
        <a:buSzPct val="91000"/>
        <a:buFontTx/>
        <a:buNone/>
        <a:defRPr sz="1148" kern="1200">
          <a:solidFill>
            <a:schemeClr val="accent2"/>
          </a:solidFill>
          <a:latin typeface="+mn-lt"/>
          <a:ea typeface="+mn-ea"/>
          <a:cs typeface="+mn-cs"/>
        </a:defRPr>
      </a:lvl8pPr>
      <a:lvl9pPr marL="0" indent="0" algn="l" defTabSz="582930" rtl="0" eaLnBrk="1" latinLnBrk="0" hangingPunct="1">
        <a:lnSpc>
          <a:spcPct val="99000"/>
        </a:lnSpc>
        <a:spcBef>
          <a:spcPts val="574"/>
        </a:spcBef>
        <a:buSzPct val="91000"/>
        <a:buFontTx/>
        <a:buNone/>
        <a:defRPr sz="1148" i="1" kern="1200">
          <a:solidFill>
            <a:schemeClr val="accent2"/>
          </a:solidFill>
          <a:latin typeface="+mn-lt"/>
          <a:ea typeface="+mn-ea"/>
          <a:cs typeface="+mn-cs"/>
        </a:defRPr>
      </a:lvl9pPr>
    </p:bodyStyle>
    <p:otherStyle>
      <a:defPPr>
        <a:defRPr lang="en-US"/>
      </a:defPPr>
      <a:lvl1pPr marL="0" algn="l" defTabSz="582930" rtl="0" eaLnBrk="1" latinLnBrk="0" hangingPunct="1">
        <a:lnSpc>
          <a:spcPct val="99000"/>
        </a:lnSpc>
        <a:defRPr sz="893" kern="1200">
          <a:solidFill>
            <a:schemeClr val="accent2"/>
          </a:solidFill>
          <a:latin typeface="+mn-lt"/>
          <a:ea typeface="+mn-ea"/>
          <a:cs typeface="+mn-cs"/>
        </a:defRPr>
      </a:lvl1pPr>
      <a:lvl2pPr marL="0" algn="l" defTabSz="582930" rtl="0" eaLnBrk="1" latinLnBrk="0" hangingPunct="1">
        <a:lnSpc>
          <a:spcPct val="99000"/>
        </a:lnSpc>
        <a:spcBef>
          <a:spcPts val="574"/>
        </a:spcBef>
        <a:defRPr sz="893" b="1" kern="1200">
          <a:solidFill>
            <a:schemeClr val="accent2"/>
          </a:solidFill>
          <a:latin typeface="+mn-lt"/>
          <a:ea typeface="+mn-ea"/>
          <a:cs typeface="+mn-cs"/>
        </a:defRPr>
      </a:lvl2pPr>
      <a:lvl3pPr marL="99098" indent="-99098" algn="l" defTabSz="582930" rtl="0" eaLnBrk="1" latinLnBrk="0" hangingPunct="1">
        <a:lnSpc>
          <a:spcPct val="99000"/>
        </a:lnSpc>
        <a:buSzPct val="91000"/>
        <a:buFont typeface="Arial" panose="020B0604020202020204" pitchFamily="34" charset="0"/>
        <a:buChar char="•"/>
        <a:defRPr sz="893" kern="1200">
          <a:solidFill>
            <a:schemeClr val="accent2"/>
          </a:solidFill>
          <a:latin typeface="+mn-lt"/>
          <a:ea typeface="+mn-ea"/>
          <a:cs typeface="+mn-cs"/>
        </a:defRPr>
      </a:lvl3pPr>
      <a:lvl4pPr marL="99098" indent="-99098" algn="l" defTabSz="582930" rtl="0" eaLnBrk="1" latinLnBrk="0" hangingPunct="1">
        <a:lnSpc>
          <a:spcPct val="99000"/>
        </a:lnSpc>
        <a:spcBef>
          <a:spcPts val="574"/>
        </a:spcBef>
        <a:buSzPct val="91000"/>
        <a:buFont typeface="Arial" panose="020B0604020202020204" pitchFamily="34" charset="0"/>
        <a:buChar char="•"/>
        <a:defRPr sz="893" b="1" kern="1200">
          <a:solidFill>
            <a:schemeClr val="accent2"/>
          </a:solidFill>
          <a:latin typeface="+mn-lt"/>
          <a:ea typeface="+mn-ea"/>
          <a:cs typeface="+mn-cs"/>
        </a:defRPr>
      </a:lvl4pPr>
      <a:lvl5pPr marL="99098" algn="l" defTabSz="582930" rtl="0" eaLnBrk="1" latinLnBrk="0" hangingPunct="1">
        <a:lnSpc>
          <a:spcPct val="99000"/>
        </a:lnSpc>
        <a:defRPr sz="893" kern="1200">
          <a:solidFill>
            <a:schemeClr val="accent2"/>
          </a:solidFill>
          <a:latin typeface="+mn-lt"/>
          <a:ea typeface="+mn-ea"/>
          <a:cs typeface="+mn-cs"/>
        </a:defRPr>
      </a:lvl5pPr>
      <a:lvl6pPr marL="0" algn="l" defTabSz="582930" rtl="0" eaLnBrk="1" latinLnBrk="0" hangingPunct="1">
        <a:lnSpc>
          <a:spcPct val="99000"/>
        </a:lnSpc>
        <a:defRPr sz="893" kern="1200">
          <a:solidFill>
            <a:schemeClr val="accent2"/>
          </a:solidFill>
          <a:latin typeface="+mn-lt"/>
          <a:ea typeface="+mn-ea"/>
          <a:cs typeface="+mn-cs"/>
        </a:defRPr>
      </a:lvl6pPr>
      <a:lvl7pPr marL="0" algn="l" defTabSz="582930" rtl="0" eaLnBrk="1" latinLnBrk="0" hangingPunct="1">
        <a:lnSpc>
          <a:spcPct val="99000"/>
        </a:lnSpc>
        <a:defRPr sz="893" kern="1200">
          <a:solidFill>
            <a:schemeClr val="accent2"/>
          </a:solidFill>
          <a:latin typeface="+mn-lt"/>
          <a:ea typeface="+mn-ea"/>
          <a:cs typeface="+mn-cs"/>
        </a:defRPr>
      </a:lvl7pPr>
      <a:lvl8pPr marL="0" algn="l" defTabSz="582930" rtl="0" eaLnBrk="1" latinLnBrk="0" hangingPunct="1">
        <a:lnSpc>
          <a:spcPct val="99000"/>
        </a:lnSpc>
        <a:defRPr sz="893" kern="1200">
          <a:solidFill>
            <a:schemeClr val="accent2"/>
          </a:solidFill>
          <a:latin typeface="+mn-lt"/>
          <a:ea typeface="+mn-ea"/>
          <a:cs typeface="+mn-cs"/>
        </a:defRPr>
      </a:lvl8pPr>
      <a:lvl9pPr marL="0" algn="l" defTabSz="582930" rtl="0" eaLnBrk="1" latinLnBrk="0" hangingPunct="1">
        <a:lnSpc>
          <a:spcPct val="99000"/>
        </a:lnSpc>
        <a:defRPr sz="893" kern="1200">
          <a:solidFill>
            <a:schemeClr val="accent2"/>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90CB834-096B-471A-825F-74C4B7E6E08D}"/>
              </a:ext>
            </a:extLst>
          </p:cNvPr>
          <p:cNvSpPr>
            <a:spLocks noGrp="1"/>
          </p:cNvSpPr>
          <p:nvPr>
            <p:ph type="subTitle" idx="4294967295"/>
          </p:nvPr>
        </p:nvSpPr>
        <p:spPr>
          <a:xfrm>
            <a:off x="360680" y="3352799"/>
            <a:ext cx="7157720" cy="5529943"/>
          </a:xfrm>
          <a:prstGeom prst="rect">
            <a:avLst/>
          </a:prstGeom>
        </p:spPr>
        <p:txBody>
          <a:bodyPr>
            <a:noAutofit/>
          </a:bodyPr>
          <a:lstStyle/>
          <a:p>
            <a:pPr marL="0" indent="0" algn="l">
              <a:lnSpc>
                <a:spcPct val="120000"/>
              </a:lnSpc>
              <a:spcBef>
                <a:spcPts val="0"/>
              </a:spcBef>
              <a:spcAft>
                <a:spcPts val="0"/>
              </a:spcAft>
              <a:buNone/>
            </a:pPr>
            <a:r>
              <a:rPr lang="en-US"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One Field Services (OFS) </a:t>
            </a: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компаниясы өз қызметкерлерін, тапсырыс берушілерін, мердігерлерін және қызметіміздің әсері тиетін барлық тұлғаларды қорғау мәселесінде айнымас адалдық танытады. Қауіпсіздік — бұл жай ғана басымдық емес, ол біздің іргетасымыз және негізгі құндылығымыз. Біз барлық нормативтік, тапсырыс беруші тарапынан қойылатын және басқа де қолданыстағы талаптарды орындау және олардан асып түсу үшін адалдық пен жауапкершілікпен әрекет етеміз. Біз ҚОҚ, ДС және ЕҚ (</a:t>
            </a:r>
            <a:r>
              <a:rPr lang="en-US"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EHS) </a:t>
            </a: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саласын үздіксіз жақсартуға мүмкіндік беретін нақты мақсаттар мен өлшенетін Түйінді тиімділік көрсеткіштерін (ТТК) белгілейміз. Біздің басты мақсатымыз қарапайым және талқыланбайды: нөлдік зиян.</a:t>
            </a:r>
          </a:p>
          <a:p>
            <a:pPr marL="0" indent="0" algn="l">
              <a:lnSpc>
                <a:spcPct val="120000"/>
              </a:lnSpc>
              <a:spcBef>
                <a:spcPts val="0"/>
              </a:spcBef>
              <a:spcAft>
                <a:spcPts val="0"/>
              </a:spcAft>
              <a:buNone/>
            </a:pPr>
            <a:r>
              <a:rPr lang="az-Cyrl-AZ" sz="10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Біздің мақсатымыз</a:t>
            </a:r>
            <a:r>
              <a:rPr lang="en-US" sz="10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344488" lvl="1" indent="-290513" algn="l">
              <a:lnSpc>
                <a:spcPct val="120000"/>
              </a:lnSpc>
              <a:buClrTx/>
              <a:buFont typeface="Wingdings" panose="05000000000000000000" pitchFamily="2" charset="2"/>
              <a:buChar char="Ø"/>
            </a:pPr>
            <a:r>
              <a:rPr lang="az-Cyrl-AZ" sz="10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Келесі шаралар арқылы қызметкерлерімізге зиян келтірмеу</a:t>
            </a:r>
            <a:r>
              <a:rPr lang="en-US" sz="10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Күнделікті операцияларымыздағы негізгі тәуекелдердің алдын алатын немесе азайтатын Өмірді сақтайтын ережелерді енгізу;</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Өндірістік жарақаттар мен денсаулықтың нашарлауын болдырмау үшін қауіпсіз және салауатты еңбек жағдайларын қамтамасыз ету;</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Жұмысқа тән тәуекелдерге сәйкес келетін проактивті, рөлдерге негізделген ҚОҚ, ДС және ЕҚ бойынша оқыту мен білім беруді қамтамасыз ету;</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Тәуекелдерге негізделген Өмірді сақтайтын ережелер арқылы қауіптерді анықтау, жою және азайту;</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Қызметкерлерді қауіпсіз жұмыс істеу үшін қажетті құралдармен, ресурстармен және қолдаумен қамтамасыз ету;</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Жұмыс жағдайлары қауіпті болған жағдайда, әрбір қызметкерге еш ойланбастан және ешқандай салдарсыз ЖҰМЫСТЫ ТОҚТАТУҒА өкілеттік беру және оған ынталандыру.</a:t>
            </a:r>
            <a:r>
              <a:rPr lang="en-US"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344488" lvl="1" indent="-290513" algn="l">
              <a:lnSpc>
                <a:spcPct val="100000"/>
              </a:lnSpc>
              <a:buClrTx/>
              <a:buFont typeface="Wingdings" panose="05000000000000000000" pitchFamily="2" charset="2"/>
              <a:buChar char="Ø"/>
            </a:pPr>
            <a:r>
              <a:rPr lang="az-Cyrl-AZ" sz="10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Келесі шаралар арқылы қоршаған ортаға зиян келтірмеу</a:t>
            </a:r>
            <a:r>
              <a:rPr lang="en-US" sz="1000" b="1"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Операцияларымыздың барлық деңгейінде ластанудың алдын алу;</a:t>
            </a:r>
          </a:p>
          <a:p>
            <a:pPr marL="569913" lvl="2" indent="-225425">
              <a:lnSpc>
                <a:spcPct val="100000"/>
              </a:lnSpc>
              <a:spcBef>
                <a:spcPts val="0"/>
              </a:spcBef>
              <a:spcAft>
                <a:spcPts val="0"/>
              </a:spcAft>
              <a:buFont typeface="Arial" panose="020B0604020202020204" pitchFamily="34" charset="0"/>
              <a:buChar char="•"/>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Стационарлық нысандарымыздың, қызметтеріміздің және жобалау учаскелеріміздің қоршаған ортаға тигізетін кері әсерін барынша азайту.</a:t>
            </a:r>
            <a:endParaRPr lang="en-US"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endParaRPr>
          </a:p>
          <a:p>
            <a:pPr marL="0" indent="0">
              <a:lnSpc>
                <a:spcPct val="120000"/>
              </a:lnSpc>
              <a:spcBef>
                <a:spcPts val="0"/>
              </a:spcBef>
              <a:spcAft>
                <a:spcPts val="0"/>
              </a:spcAft>
              <a:buNone/>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Біз ҚОҚ, ДС және ЕҚ саласындағы жоғары нәтижелер ашық қарым-қатынас пен ынтымақтастыққа байланысты деп сенеміз. Біз өз қызметкерлерімізбен, тапсырыс берушілермен, мердігерлермен және мүдделі тараптармен белсенді түрде өзара әрекеттесеміз, оларды Өмірді сақтайтын ережелерді нығайтуға және тәуекелдер мен қоршаған ортаға әсерді азайтуға қатысуға шақырамыз.</a:t>
            </a:r>
          </a:p>
          <a:p>
            <a:pPr marL="0" indent="0">
              <a:lnSpc>
                <a:spcPct val="120000"/>
              </a:lnSpc>
              <a:spcBef>
                <a:spcPts val="0"/>
              </a:spcBef>
              <a:spcAft>
                <a:spcPts val="0"/>
              </a:spcAft>
              <a:buNone/>
            </a:pPr>
            <a:endPar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endParaRPr>
          </a:p>
          <a:p>
            <a:pPr marL="0" indent="0">
              <a:lnSpc>
                <a:spcPct val="120000"/>
              </a:lnSpc>
              <a:spcBef>
                <a:spcPts val="0"/>
              </a:spcBef>
              <a:spcAft>
                <a:spcPts val="0"/>
              </a:spcAft>
              <a:buNone/>
            </a:pP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ҚОҚ, ДС және ЕҚ — </a:t>
            </a:r>
            <a:r>
              <a:rPr lang="en-US"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OFS-</a:t>
            </a:r>
            <a:r>
              <a:rPr lang="az-Cyrl-AZ"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тағы әрбір адамның ортақ жауапкершілігі. Әрқайсымыз өзімізді, әріптестерімізді, тапсырыс берушілерді, сайтқа келушілерді, біз жұмыс істейтін қауымдастықтарды және қоршаған ортаны қорғауға жауаптымыз. Біз бірлесе отырып, қауіпсіздік кез келген шешімнің негізі болатын және «нөлдік зиянға» қол жеткізуге болатын мәдениетті қалыптастырамыз</a:t>
            </a:r>
            <a:r>
              <a:rPr lang="en-US"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rPr>
              <a:t>.</a:t>
            </a:r>
          </a:p>
          <a:p>
            <a:pPr>
              <a:spcBef>
                <a:spcPts val="0"/>
              </a:spcBef>
              <a:spcAft>
                <a:spcPts val="0"/>
              </a:spcAft>
            </a:pPr>
            <a:endParaRPr lang="en-US" sz="1000" dirty="0">
              <a:solidFill>
                <a:schemeClr val="tx1">
                  <a:lumMod val="75000"/>
                </a:schemeClr>
              </a:solidFill>
              <a:latin typeface="Arial" panose="020B0604020202020204" pitchFamily="34" charset="0"/>
              <a:ea typeface="Inter" panose="020B0502030000000004" pitchFamily="34" charset="0"/>
              <a:cs typeface="Arial" panose="020B0604020202020204" pitchFamily="34" charset="0"/>
            </a:endParaRPr>
          </a:p>
        </p:txBody>
      </p:sp>
      <p:sp>
        <p:nvSpPr>
          <p:cNvPr id="2" name="TextBox 1">
            <a:extLst>
              <a:ext uri="{FF2B5EF4-FFF2-40B4-BE49-F238E27FC236}">
                <a16:creationId xmlns:a16="http://schemas.microsoft.com/office/drawing/2014/main" id="{86A8BFA6-A3B9-4236-91AD-6725937BC68C}"/>
              </a:ext>
            </a:extLst>
          </p:cNvPr>
          <p:cNvSpPr txBox="1"/>
          <p:nvPr/>
        </p:nvSpPr>
        <p:spPr>
          <a:xfrm>
            <a:off x="360680" y="2690143"/>
            <a:ext cx="7157720" cy="646331"/>
          </a:xfrm>
          <a:prstGeom prst="rect">
            <a:avLst/>
          </a:prstGeom>
          <a:noFill/>
        </p:spPr>
        <p:txBody>
          <a:bodyPr wrap="square" rtlCol="0">
            <a:spAutoFit/>
          </a:bodyPr>
          <a:lstStyle/>
          <a:p>
            <a:pPr algn="ctr"/>
            <a:r>
              <a:rPr lang="en-US" dirty="0">
                <a:solidFill>
                  <a:schemeClr val="bg1"/>
                </a:solidFill>
                <a:latin typeface="Sons Condensed Semibold" panose="02060706060206060203" pitchFamily="18" charset="0"/>
              </a:rPr>
              <a:t>«Gas Power One Field Services» </a:t>
            </a:r>
            <a:r>
              <a:rPr lang="az-Cyrl-AZ" dirty="0">
                <a:solidFill>
                  <a:schemeClr val="bg1"/>
                </a:solidFill>
                <a:latin typeface="Sons Condensed Semibold" panose="02060706060206060203" pitchFamily="18" charset="0"/>
              </a:rPr>
              <a:t>компаниясының қоршаған ортаны қорғау, денсаулық сақтау және еңбек қауіпсіздігі саласындағы саясаты</a:t>
            </a:r>
          </a:p>
        </p:txBody>
      </p:sp>
    </p:spTree>
    <p:extLst>
      <p:ext uri="{BB962C8B-B14F-4D97-AF65-F5344CB8AC3E}">
        <p14:creationId xmlns:p14="http://schemas.microsoft.com/office/powerpoint/2010/main" val="2114297706"/>
      </p:ext>
    </p:extLst>
  </p:cSld>
  <p:clrMapOvr>
    <a:masterClrMapping/>
  </p:clrMapOvr>
</p:sld>
</file>

<file path=ppt/theme/theme1.xml><?xml version="1.0" encoding="utf-8"?>
<a:theme xmlns:a="http://schemas.openxmlformats.org/drawingml/2006/main" name="FieldCore_2017">
  <a:themeElements>
    <a:clrScheme name="Custom 14">
      <a:dk1>
        <a:srgbClr val="63666A"/>
      </a:dk1>
      <a:lt1>
        <a:srgbClr val="FFFFFF"/>
      </a:lt1>
      <a:dk2>
        <a:srgbClr val="090936"/>
      </a:dk2>
      <a:lt2>
        <a:srgbClr val="FFFFFF"/>
      </a:lt2>
      <a:accent1>
        <a:srgbClr val="FE5000"/>
      </a:accent1>
      <a:accent2>
        <a:srgbClr val="005EB8"/>
      </a:accent2>
      <a:accent3>
        <a:srgbClr val="63666A"/>
      </a:accent3>
      <a:accent4>
        <a:srgbClr val="B1B3B3"/>
      </a:accent4>
      <a:accent5>
        <a:srgbClr val="00B5E2"/>
      </a:accent5>
      <a:accent6>
        <a:srgbClr val="3EAE2A"/>
      </a:accent6>
      <a:hlink>
        <a:srgbClr val="FE5000"/>
      </a:hlink>
      <a:folHlink>
        <a:srgbClr val="090936"/>
      </a:folHlink>
    </a:clrScheme>
    <a:fontScheme name="FieldCore - Gotham">
      <a:majorFont>
        <a:latin typeface="Gotham Light"/>
        <a:ea typeface=""/>
        <a:cs typeface=""/>
      </a:majorFont>
      <a:minorFont>
        <a:latin typeface="Gotham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CS18810-01 FC new font template_test1_R1" id="{9AA2E0B5-DA9B-4844-AFA8-7AD242CFC0F9}" vid="{25A4205F-3365-4494-A059-27D7887B49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astReviewDate xmlns="cc7fbaa3-8214-4644-99f1-d2e5a6ae9914">2026-06-01T04:00:00+00:00</LastReviewDate>
    <RevisionNumber xmlns="cc7fbaa3-8214-4644-99f1-d2e5a6ae9914">1</RevisionNumber>
    <Process_x0020_Owmer xmlns="25586fb6-ed09-4f2d-8ea7-eda1a9fd2320">
      <UserInfo>
        <DisplayName>Cahill, James (GE Vernova)</DisplayName>
        <AccountId>50409</AccountId>
        <AccountType/>
      </UserInfo>
    </Process_x0020_Owmer>
    <Functional_x0020_Owner xmlns="25586fb6-ed09-4f2d-8ea7-eda1a9fd2320">Management Processes - Leadership and Commitment</Functional_x0020_Owner>
    <Nomenclature xmlns="25586fb6-ed09-4f2d-8ea7-eda1a9fd2320" xsi:nil="true"/>
  </documentManagement>
</p:properties>
</file>

<file path=customXml/itemProps1.xml><?xml version="1.0" encoding="utf-8"?>
<ds:datastoreItem xmlns:ds="http://schemas.openxmlformats.org/officeDocument/2006/customXml" ds:itemID="{97664F4C-409B-41EA-8CB4-E5871B50040D}"/>
</file>

<file path=customXml/itemProps2.xml><?xml version="1.0" encoding="utf-8"?>
<ds:datastoreItem xmlns:ds="http://schemas.openxmlformats.org/officeDocument/2006/customXml" ds:itemID="{15AAF3ED-9649-4286-A778-BB9E86C66692}"/>
</file>

<file path=customXml/itemProps3.xml><?xml version="1.0" encoding="utf-8"?>
<ds:datastoreItem xmlns:ds="http://schemas.openxmlformats.org/officeDocument/2006/customXml" ds:itemID="{9E065783-BD6D-4B0E-A70B-2C3DAC1E6A9C}"/>
</file>

<file path=docMetadata/LabelInfo.xml><?xml version="1.0" encoding="utf-8"?>
<clbl:labelList xmlns:clbl="http://schemas.microsoft.com/office/2020/mipLabelMetadata">
  <clbl:label id="{15ccb6d1-d335-4996-b6f9-7b6925f08121}" enabled="0" method="" siteId="{15ccb6d1-d335-4996-b6f9-7b6925f08121}" removed="1"/>
</clbl:labelList>
</file>

<file path=docProps/app.xml><?xml version="1.0" encoding="utf-8"?>
<Properties xmlns="http://schemas.openxmlformats.org/officeDocument/2006/extended-properties" xmlns:vt="http://schemas.openxmlformats.org/officeDocument/2006/docPropsVTypes">
  <Template>CS18810-03 FieldCore Template_R3</Template>
  <TotalTime>1085</TotalTime>
  <Words>363</Words>
  <Application>Microsoft Office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Gotham Light</vt:lpstr>
      <vt:lpstr>Gotham Rounded Book</vt:lpstr>
      <vt:lpstr>Sons Condensed Semibold</vt:lpstr>
      <vt:lpstr>Wingdings</vt:lpstr>
      <vt:lpstr>FieldCore_2017</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Stout, David (FieldCore)</dc:creator>
  <cp:lastModifiedBy>Filiz, Cem (GE Vernova)</cp:lastModifiedBy>
  <cp:revision>53</cp:revision>
  <cp:lastPrinted>2018-11-19T17:02:52Z</cp:lastPrinted>
  <dcterms:created xsi:type="dcterms:W3CDTF">2018-11-14T17:47:23Z</dcterms:created>
  <dcterms:modified xsi:type="dcterms:W3CDTF">2026-06-01T08:48:23Z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