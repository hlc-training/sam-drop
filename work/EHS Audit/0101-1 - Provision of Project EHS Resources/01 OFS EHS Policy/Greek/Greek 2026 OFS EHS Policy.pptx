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8" r:id="rId2"/>
  </p:sldIdLst>
  <p:sldSz cx="7772400" cy="10058400"/>
  <p:notesSz cx="68580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60"/>
    <a:srgbClr val="696969"/>
    <a:srgbClr val="484848"/>
    <a:srgbClr val="E3E3E3"/>
    <a:srgbClr val="FFFEFC"/>
    <a:srgbClr val="8D89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81" autoAdjust="0"/>
    <p:restoredTop sz="94673" autoAdjust="0"/>
  </p:normalViewPr>
  <p:slideViewPr>
    <p:cSldViewPr snapToGrid="0">
      <p:cViewPr>
        <p:scale>
          <a:sx n="100" d="100"/>
          <a:sy n="100" d="100"/>
        </p:scale>
        <p:origin x="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3550"/>
          </a:xfrm>
          <a:prstGeom prst="rect">
            <a:avLst/>
          </a:prstGeom>
        </p:spPr>
        <p:txBody>
          <a:bodyPr vert="horz" lIns="91440" tIns="45720" rIns="91440" bIns="45720" rtlCol="0"/>
          <a:lstStyle>
            <a:lvl1pPr algn="r">
              <a:defRPr sz="1200"/>
            </a:lvl1pPr>
          </a:lstStyle>
          <a:p>
            <a:fld id="{77A12465-B93B-4C89-8962-65869DA8E1FC}" type="datetimeFigureOut">
              <a:rPr lang="en-US" smtClean="0"/>
              <a:t>5/27/2026</a:t>
            </a:fld>
            <a:endParaRPr lang="en-US"/>
          </a:p>
        </p:txBody>
      </p:sp>
      <p:sp>
        <p:nvSpPr>
          <p:cNvPr id="4" name="Slide Image Placeholder 3"/>
          <p:cNvSpPr>
            <a:spLocks noGrp="1" noRot="1" noChangeAspect="1"/>
          </p:cNvSpPr>
          <p:nvPr>
            <p:ph type="sldImg" idx="2"/>
          </p:nvPr>
        </p:nvSpPr>
        <p:spPr>
          <a:xfrm>
            <a:off x="2224088" y="1154113"/>
            <a:ext cx="2409825"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45000"/>
            <a:ext cx="5486400" cy="3636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2971800"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772525"/>
            <a:ext cx="2971800" cy="463550"/>
          </a:xfrm>
          <a:prstGeom prst="rect">
            <a:avLst/>
          </a:prstGeom>
        </p:spPr>
        <p:txBody>
          <a:bodyPr vert="horz" lIns="91440" tIns="45720" rIns="91440" bIns="45720" rtlCol="0" anchor="b"/>
          <a:lstStyle>
            <a:lvl1pPr algn="r">
              <a:defRPr sz="1200"/>
            </a:lvl1pPr>
          </a:lstStyle>
          <a:p>
            <a:fld id="{39E36773-3A60-4CD3-B810-B928EA53603D}" type="slidenum">
              <a:rPr lang="en-US" smtClean="0"/>
              <a:t>‹#›</a:t>
            </a:fld>
            <a:endParaRPr lang="en-US"/>
          </a:p>
        </p:txBody>
      </p:sp>
    </p:spTree>
    <p:extLst>
      <p:ext uri="{BB962C8B-B14F-4D97-AF65-F5344CB8AC3E}">
        <p14:creationId xmlns:p14="http://schemas.microsoft.com/office/powerpoint/2010/main" val="2618993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C41A86-5D21-4E83-800F-748C950C4662}"/>
              </a:ext>
            </a:extLst>
          </p:cNvPr>
          <p:cNvSpPr/>
          <p:nvPr userDrawn="1"/>
        </p:nvSpPr>
        <p:spPr>
          <a:xfrm>
            <a:off x="193040" y="3344544"/>
            <a:ext cx="7386320" cy="5615186"/>
          </a:xfrm>
          <a:prstGeom prst="rect">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C98C045-E9A4-457B-B00C-0C279905ADE3}"/>
              </a:ext>
            </a:extLst>
          </p:cNvPr>
          <p:cNvSpPr/>
          <p:nvPr userDrawn="1"/>
        </p:nvSpPr>
        <p:spPr>
          <a:xfrm>
            <a:off x="193040" y="2733040"/>
            <a:ext cx="7386320" cy="594360"/>
          </a:xfrm>
          <a:prstGeom prst="rect">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8245694-D800-4336-B687-EB2E002A4E76}"/>
              </a:ext>
            </a:extLst>
          </p:cNvPr>
          <p:cNvSpPr txBox="1"/>
          <p:nvPr userDrawn="1"/>
        </p:nvSpPr>
        <p:spPr>
          <a:xfrm>
            <a:off x="804259" y="9490383"/>
            <a:ext cx="1597024" cy="400110"/>
          </a:xfrm>
          <a:prstGeom prst="rect">
            <a:avLst/>
          </a:prstGeom>
          <a:noFill/>
        </p:spPr>
        <p:txBody>
          <a:bodyPr wrap="square" rtlCol="0">
            <a:spAutoFit/>
          </a:bodyPr>
          <a:lstStyle/>
          <a:p>
            <a:r>
              <a:rPr lang="en-US" sz="1000" kern="1200" dirty="0">
                <a:solidFill>
                  <a:srgbClr val="8D8988"/>
                </a:solidFill>
                <a:effectLst/>
                <a:latin typeface="Gotham Rounded Book" pitchFamily="50" charset="0"/>
                <a:ea typeface="+mn-ea"/>
                <a:cs typeface="+mn-cs"/>
              </a:rPr>
              <a:t>Jim Vono </a:t>
            </a:r>
          </a:p>
          <a:p>
            <a:r>
              <a:rPr lang="en-US" sz="1000" kern="1200" dirty="0">
                <a:solidFill>
                  <a:srgbClr val="8D8988"/>
                </a:solidFill>
                <a:effectLst/>
                <a:latin typeface="Gotham Rounded Book" pitchFamily="50" charset="0"/>
                <a:ea typeface="+mn-ea"/>
                <a:cs typeface="+mn-cs"/>
              </a:rPr>
              <a:t>One Field Services Leader</a:t>
            </a:r>
            <a:endParaRPr lang="en-US" sz="1000" dirty="0">
              <a:solidFill>
                <a:srgbClr val="8D8988"/>
              </a:solidFill>
              <a:latin typeface="Gotham Rounded Book" pitchFamily="50" charset="0"/>
            </a:endParaRPr>
          </a:p>
        </p:txBody>
      </p:sp>
      <p:sp>
        <p:nvSpPr>
          <p:cNvPr id="13" name="TextBox 12">
            <a:extLst>
              <a:ext uri="{FF2B5EF4-FFF2-40B4-BE49-F238E27FC236}">
                <a16:creationId xmlns:a16="http://schemas.microsoft.com/office/drawing/2014/main" id="{AB5DAB11-D89E-4579-A97D-FEA73BC6CC15}"/>
              </a:ext>
            </a:extLst>
          </p:cNvPr>
          <p:cNvSpPr txBox="1"/>
          <p:nvPr userDrawn="1"/>
        </p:nvSpPr>
        <p:spPr>
          <a:xfrm>
            <a:off x="2700942" y="9490383"/>
            <a:ext cx="2563019" cy="400110"/>
          </a:xfrm>
          <a:prstGeom prst="rect">
            <a:avLst/>
          </a:prstGeom>
          <a:noFill/>
        </p:spPr>
        <p:txBody>
          <a:bodyPr wrap="square" rtlCol="0">
            <a:spAutoFit/>
          </a:bodyPr>
          <a:lstStyle/>
          <a:p>
            <a:r>
              <a:rPr lang="en-US" sz="1000" kern="1200" dirty="0">
                <a:solidFill>
                  <a:srgbClr val="8D8988"/>
                </a:solidFill>
                <a:effectLst/>
                <a:latin typeface="Gotham Rounded Book" pitchFamily="50" charset="0"/>
                <a:ea typeface="+mn-ea"/>
                <a:cs typeface="+mn-cs"/>
              </a:rPr>
              <a:t>Jeff Gifford </a:t>
            </a:r>
          </a:p>
          <a:p>
            <a:r>
              <a:rPr lang="en-US" sz="1000" kern="1200" dirty="0">
                <a:solidFill>
                  <a:srgbClr val="8D8988"/>
                </a:solidFill>
                <a:effectLst/>
                <a:latin typeface="Gotham Rounded Book" pitchFamily="50" charset="0"/>
                <a:ea typeface="+mn-ea"/>
                <a:cs typeface="+mn-cs"/>
              </a:rPr>
              <a:t>EHS Leader</a:t>
            </a:r>
            <a:endParaRPr lang="en-US" sz="1000" dirty="0">
              <a:solidFill>
                <a:srgbClr val="8D8988"/>
              </a:solidFill>
              <a:latin typeface="Gotham Rounded Book" pitchFamily="50" charset="0"/>
            </a:endParaRPr>
          </a:p>
        </p:txBody>
      </p:sp>
      <p:cxnSp>
        <p:nvCxnSpPr>
          <p:cNvPr id="9" name="Straight Connector 8">
            <a:extLst>
              <a:ext uri="{FF2B5EF4-FFF2-40B4-BE49-F238E27FC236}">
                <a16:creationId xmlns:a16="http://schemas.microsoft.com/office/drawing/2014/main" id="{27BA8D22-8CE3-4517-B48D-E8F158A8004E}"/>
              </a:ext>
            </a:extLst>
          </p:cNvPr>
          <p:cNvCxnSpPr/>
          <p:nvPr userDrawn="1"/>
        </p:nvCxnSpPr>
        <p:spPr>
          <a:xfrm>
            <a:off x="4808220" y="9013542"/>
            <a:ext cx="0" cy="837317"/>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9D2BD6C-23CD-86C1-F7F1-6439335B5110}"/>
              </a:ext>
            </a:extLst>
          </p:cNvPr>
          <p:cNvPicPr>
            <a:picLocks noChangeAspect="1"/>
          </p:cNvPicPr>
          <p:nvPr userDrawn="1"/>
        </p:nvPicPr>
        <p:blipFill>
          <a:blip r:embed="rId2">
            <a:extLst>
              <a:ext uri="{28A0092B-C50C-407E-A947-70E740481C1C}">
                <a14:useLocalDpi xmlns:a14="http://schemas.microsoft.com/office/drawing/2010/main" val="0"/>
              </a:ext>
            </a:extLst>
          </a:blip>
          <a:srcRect t="18184"/>
          <a:stretch/>
        </p:blipFill>
        <p:spPr>
          <a:xfrm>
            <a:off x="4965067" y="9053508"/>
            <a:ext cx="2471238" cy="685056"/>
          </a:xfrm>
          <a:prstGeom prst="rect">
            <a:avLst/>
          </a:prstGeom>
        </p:spPr>
      </p:pic>
      <p:pic>
        <p:nvPicPr>
          <p:cNvPr id="10" name="Graphic 9">
            <a:extLst>
              <a:ext uri="{FF2B5EF4-FFF2-40B4-BE49-F238E27FC236}">
                <a16:creationId xmlns:a16="http://schemas.microsoft.com/office/drawing/2014/main" id="{61F57D87-A53A-9A66-3E99-9191689692E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1095" y="9118217"/>
            <a:ext cx="1487468" cy="511436"/>
          </a:xfrm>
          <a:prstGeom prst="rect">
            <a:avLst/>
          </a:prstGeom>
        </p:spPr>
      </p:pic>
      <p:pic>
        <p:nvPicPr>
          <p:cNvPr id="16" name="Graphic 15">
            <a:extLst>
              <a:ext uri="{FF2B5EF4-FFF2-40B4-BE49-F238E27FC236}">
                <a16:creationId xmlns:a16="http://schemas.microsoft.com/office/drawing/2014/main" id="{2C9FA114-0DFF-E4EC-8F9B-E248BDC7D9B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14742" y="9116983"/>
            <a:ext cx="1490472" cy="327748"/>
          </a:xfrm>
          <a:prstGeom prst="rect">
            <a:avLst/>
          </a:prstGeom>
        </p:spPr>
      </p:pic>
      <p:sp>
        <p:nvSpPr>
          <p:cNvPr id="5" name="TextBox 4">
            <a:extLst>
              <a:ext uri="{FF2B5EF4-FFF2-40B4-BE49-F238E27FC236}">
                <a16:creationId xmlns:a16="http://schemas.microsoft.com/office/drawing/2014/main" id="{A3C46678-2886-29F0-F905-A3D7AC56E20B}"/>
              </a:ext>
            </a:extLst>
          </p:cNvPr>
          <p:cNvSpPr txBox="1"/>
          <p:nvPr userDrawn="1"/>
        </p:nvSpPr>
        <p:spPr>
          <a:xfrm>
            <a:off x="5979160" y="9677400"/>
            <a:ext cx="1600200" cy="246221"/>
          </a:xfrm>
          <a:prstGeom prst="rect">
            <a:avLst/>
          </a:prstGeom>
          <a:noFill/>
        </p:spPr>
        <p:txBody>
          <a:bodyPr wrap="square" rtlCol="0">
            <a:spAutoFit/>
          </a:bodyPr>
          <a:lstStyle/>
          <a:p>
            <a:pPr algn="r"/>
            <a:r>
              <a:rPr lang="en-US" sz="1000" dirty="0">
                <a:solidFill>
                  <a:srgbClr val="8D8988"/>
                </a:solidFill>
                <a:latin typeface="Gotham Rounded Book" pitchFamily="50" charset="0"/>
              </a:rPr>
              <a:t> January 2026</a:t>
            </a:r>
          </a:p>
        </p:txBody>
      </p:sp>
      <p:pic>
        <p:nvPicPr>
          <p:cNvPr id="18" name="Picture 17">
            <a:extLst>
              <a:ext uri="{FF2B5EF4-FFF2-40B4-BE49-F238E27FC236}">
                <a16:creationId xmlns:a16="http://schemas.microsoft.com/office/drawing/2014/main" id="{4C88E628-1831-3141-773D-9A07A11E5021}"/>
              </a:ext>
            </a:extLst>
          </p:cNvPr>
          <p:cNvPicPr>
            <a:picLocks noChangeAspect="1"/>
          </p:cNvPicPr>
          <p:nvPr userDrawn="1"/>
        </p:nvPicPr>
        <p:blipFill>
          <a:blip r:embed="rId7">
            <a:extLst>
              <a:ext uri="{28A0092B-C50C-407E-A947-70E740481C1C}">
                <a14:useLocalDpi xmlns:a14="http://schemas.microsoft.com/office/drawing/2010/main" val="0"/>
              </a:ext>
            </a:extLst>
          </a:blip>
          <a:srcRect b="47895"/>
          <a:stretch/>
        </p:blipFill>
        <p:spPr>
          <a:xfrm>
            <a:off x="0" y="0"/>
            <a:ext cx="7772400" cy="2699861"/>
          </a:xfrm>
          <a:prstGeom prst="rect">
            <a:avLst/>
          </a:prstGeom>
        </p:spPr>
      </p:pic>
      <p:pic>
        <p:nvPicPr>
          <p:cNvPr id="15" name="Graphic 14">
            <a:extLst>
              <a:ext uri="{FF2B5EF4-FFF2-40B4-BE49-F238E27FC236}">
                <a16:creationId xmlns:a16="http://schemas.microsoft.com/office/drawing/2014/main" id="{255E72C8-6A29-C2CD-F104-C064BF288D5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822686" y="142433"/>
            <a:ext cx="2127028" cy="2127028"/>
          </a:xfrm>
          <a:prstGeom prst="rect">
            <a:avLst/>
          </a:prstGeom>
        </p:spPr>
      </p:pic>
      <p:sp>
        <p:nvSpPr>
          <p:cNvPr id="12" name="Rectangle 11">
            <a:extLst>
              <a:ext uri="{FF2B5EF4-FFF2-40B4-BE49-F238E27FC236}">
                <a16:creationId xmlns:a16="http://schemas.microsoft.com/office/drawing/2014/main" id="{0ECC4E44-2707-9ED3-8A3D-828F5679B1D6}"/>
              </a:ext>
            </a:extLst>
          </p:cNvPr>
          <p:cNvSpPr/>
          <p:nvPr userDrawn="1"/>
        </p:nvSpPr>
        <p:spPr>
          <a:xfrm>
            <a:off x="0" y="0"/>
            <a:ext cx="7772400" cy="2687388"/>
          </a:xfrm>
          <a:prstGeom prst="rect">
            <a:avLst/>
          </a:prstGeom>
          <a:solidFill>
            <a:srgbClr val="005E60">
              <a:alpha val="40000"/>
            </a:srgbClr>
          </a:solidFill>
        </p:spPr>
        <p:txBody>
          <a:bodyPr wrap="square" rtlCol="0" anchor="ctr">
            <a:noAutofit/>
          </a:bodyPr>
          <a:lstStyle/>
          <a:p>
            <a:pPr algn="ctr"/>
            <a:endParaRPr lang="en-US" dirty="0">
              <a:solidFill>
                <a:schemeClr val="bg1"/>
              </a:solidFill>
              <a:ea typeface="Arial" charset="0"/>
            </a:endParaRPr>
          </a:p>
        </p:txBody>
      </p:sp>
    </p:spTree>
    <p:extLst>
      <p:ext uri="{BB962C8B-B14F-4D97-AF65-F5344CB8AC3E}">
        <p14:creationId xmlns:p14="http://schemas.microsoft.com/office/powerpoint/2010/main" val="178875529"/>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657653"/>
      </p:ext>
    </p:extLst>
  </p:cSld>
  <p:clrMap bg1="lt1" tx1="dk1" bg2="lt2" tx2="dk2" accent1="accent1" accent2="accent2" accent3="accent3" accent4="accent4" accent5="accent5" accent6="accent6" hlink="hlink" folHlink="folHlink"/>
  <p:sldLayoutIdLst>
    <p:sldLayoutId id="2147483694" r:id="rId1"/>
  </p:sldLayoutIdLst>
  <p:transition spd="slow">
    <p:push dir="u"/>
  </p:transition>
  <p:txStyles>
    <p:titleStyle>
      <a:lvl1pPr algn="l" defTabSz="582930" rtl="0" eaLnBrk="1" latinLnBrk="0" hangingPunct="1">
        <a:lnSpc>
          <a:spcPct val="100000"/>
        </a:lnSpc>
        <a:spcBef>
          <a:spcPct val="0"/>
        </a:spcBef>
        <a:buNone/>
        <a:defRPr sz="2040" kern="1200" spc="0">
          <a:solidFill>
            <a:schemeClr val="tx2"/>
          </a:solidFill>
          <a:latin typeface="Gotham Light" pitchFamily="50" charset="0"/>
          <a:ea typeface="Gotham Light" pitchFamily="50" charset="0"/>
          <a:cs typeface="Gotham Light" pitchFamily="50" charset="0"/>
        </a:defRPr>
      </a:lvl1pPr>
    </p:titleStyle>
    <p:bodyStyle>
      <a:lvl1pPr marL="99098" indent="-99098" algn="l" defTabSz="582930" rtl="0" eaLnBrk="1" latinLnBrk="0" hangingPunct="1">
        <a:lnSpc>
          <a:spcPct val="90000"/>
        </a:lnSpc>
        <a:spcBef>
          <a:spcPts val="510"/>
        </a:spcBef>
        <a:spcAft>
          <a:spcPts val="191"/>
        </a:spcAft>
        <a:buClrTx/>
        <a:buFont typeface="Arial" panose="020B0604020202020204" pitchFamily="34" charset="0"/>
        <a:buChar char="•"/>
        <a:defRPr sz="1275" b="0" i="0" kern="1200">
          <a:solidFill>
            <a:schemeClr val="tx1"/>
          </a:solidFill>
          <a:latin typeface="Gotham Light" pitchFamily="50" charset="0"/>
          <a:ea typeface="Gotham Light" pitchFamily="50" charset="0"/>
          <a:cs typeface="Gotham Light" pitchFamily="50" charset="0"/>
        </a:defRPr>
      </a:lvl1pPr>
      <a:lvl2pPr marL="99098" indent="0" algn="l" defTabSz="582930" rtl="0" eaLnBrk="1" latinLnBrk="0" hangingPunct="1">
        <a:lnSpc>
          <a:spcPct val="90000"/>
        </a:lnSpc>
        <a:spcBef>
          <a:spcPts val="0"/>
        </a:spcBef>
        <a:buClr>
          <a:schemeClr val="accent1"/>
        </a:buClr>
        <a:buFontTx/>
        <a:buNone/>
        <a:defRPr sz="1148" b="0" i="0" kern="1200">
          <a:solidFill>
            <a:schemeClr val="tx1"/>
          </a:solidFill>
          <a:latin typeface="Gotham Light" pitchFamily="50" charset="0"/>
          <a:ea typeface="Gotham Light" pitchFamily="50" charset="0"/>
          <a:cs typeface="Gotham Light" pitchFamily="50" charset="0"/>
        </a:defRPr>
      </a:lvl2pPr>
      <a:lvl3pPr marL="99098" indent="-99098" algn="l" defTabSz="582930" rtl="0" eaLnBrk="1" latinLnBrk="0" hangingPunct="1">
        <a:lnSpc>
          <a:spcPct val="90000"/>
        </a:lnSpc>
        <a:spcBef>
          <a:spcPts val="701"/>
        </a:spcBef>
        <a:spcAft>
          <a:spcPts val="191"/>
        </a:spcAft>
        <a:buClrTx/>
        <a:buSzPct val="91000"/>
        <a:buFont typeface="Arial" charset="0"/>
        <a:buChar char="•"/>
        <a:defRPr lang="en-US" sz="1020" b="0" i="0" kern="1200" dirty="0">
          <a:solidFill>
            <a:schemeClr val="tx1"/>
          </a:solidFill>
          <a:latin typeface="Gotham Light" pitchFamily="50" charset="0"/>
          <a:ea typeface="Gotham Light" pitchFamily="50" charset="0"/>
          <a:cs typeface="Gotham Light" pitchFamily="50" charset="0"/>
        </a:defRPr>
      </a:lvl3pPr>
      <a:lvl4pPr marL="99098" indent="0" algn="l" defTabSz="582930" rtl="0" eaLnBrk="1" latinLnBrk="0" hangingPunct="1">
        <a:lnSpc>
          <a:spcPct val="90000"/>
        </a:lnSpc>
        <a:spcBef>
          <a:spcPts val="0"/>
        </a:spcBef>
        <a:buClr>
          <a:schemeClr val="accent1"/>
        </a:buClr>
        <a:buFontTx/>
        <a:buNone/>
        <a:defRPr sz="893" b="0" i="0" kern="1200">
          <a:solidFill>
            <a:schemeClr val="tx1"/>
          </a:solidFill>
          <a:latin typeface="Gotham Light" pitchFamily="50" charset="0"/>
          <a:ea typeface="Gotham Light" pitchFamily="50" charset="0"/>
          <a:cs typeface="Gotham Light" pitchFamily="50" charset="0"/>
        </a:defRPr>
      </a:lvl4pPr>
      <a:lvl5pPr marL="99098" indent="-99098" algn="l" defTabSz="582930" rtl="0" eaLnBrk="1" latinLnBrk="0" hangingPunct="1">
        <a:lnSpc>
          <a:spcPct val="99000"/>
        </a:lnSpc>
        <a:spcBef>
          <a:spcPts val="574"/>
        </a:spcBef>
        <a:buClr>
          <a:schemeClr val="accent5"/>
        </a:buClr>
        <a:buSzPct val="91000"/>
        <a:buFont typeface="Arial" panose="020B0604020202020204" pitchFamily="34" charset="0"/>
        <a:buChar char="•"/>
        <a:defRPr sz="1148" kern="1200">
          <a:solidFill>
            <a:schemeClr val="accent2"/>
          </a:solidFill>
          <a:latin typeface="+mn-lt"/>
          <a:ea typeface="+mn-ea"/>
          <a:cs typeface="+mn-cs"/>
        </a:defRPr>
      </a:lvl5pPr>
      <a:lvl6pPr marL="122415" indent="0" algn="l" defTabSz="582930" rtl="0" eaLnBrk="1" latinLnBrk="0" hangingPunct="1">
        <a:lnSpc>
          <a:spcPct val="99000"/>
        </a:lnSpc>
        <a:spcBef>
          <a:spcPts val="0"/>
        </a:spcBef>
        <a:buSzPct val="91000"/>
        <a:buFontTx/>
        <a:buNone/>
        <a:defRPr sz="1148" kern="1200">
          <a:solidFill>
            <a:schemeClr val="accent2"/>
          </a:solidFill>
          <a:latin typeface="+mn-lt"/>
          <a:ea typeface="+mn-ea"/>
          <a:cs typeface="+mn-cs"/>
        </a:defRPr>
      </a:lvl6pPr>
      <a:lvl7pPr marL="0" indent="0" algn="l" defTabSz="582930" rtl="0" eaLnBrk="1" latinLnBrk="0" hangingPunct="1">
        <a:lnSpc>
          <a:spcPct val="99000"/>
        </a:lnSpc>
        <a:spcBef>
          <a:spcPts val="574"/>
        </a:spcBef>
        <a:buSzPct val="91000"/>
        <a:buFontTx/>
        <a:buNone/>
        <a:defRPr sz="1148" b="1" kern="1200">
          <a:solidFill>
            <a:schemeClr val="accent2"/>
          </a:solidFill>
          <a:latin typeface="+mn-lt"/>
          <a:ea typeface="+mn-ea"/>
          <a:cs typeface="+mn-cs"/>
        </a:defRPr>
      </a:lvl7pPr>
      <a:lvl8pPr marL="0" indent="0" algn="l" defTabSz="582930" rtl="0" eaLnBrk="1" latinLnBrk="0" hangingPunct="1">
        <a:lnSpc>
          <a:spcPct val="99000"/>
        </a:lnSpc>
        <a:spcBef>
          <a:spcPts val="0"/>
        </a:spcBef>
        <a:buSzPct val="91000"/>
        <a:buFontTx/>
        <a:buNone/>
        <a:defRPr sz="1148" kern="1200">
          <a:solidFill>
            <a:schemeClr val="accent2"/>
          </a:solidFill>
          <a:latin typeface="+mn-lt"/>
          <a:ea typeface="+mn-ea"/>
          <a:cs typeface="+mn-cs"/>
        </a:defRPr>
      </a:lvl8pPr>
      <a:lvl9pPr marL="0" indent="0" algn="l" defTabSz="582930" rtl="0" eaLnBrk="1" latinLnBrk="0" hangingPunct="1">
        <a:lnSpc>
          <a:spcPct val="99000"/>
        </a:lnSpc>
        <a:spcBef>
          <a:spcPts val="574"/>
        </a:spcBef>
        <a:buSzPct val="91000"/>
        <a:buFontTx/>
        <a:buNone/>
        <a:defRPr sz="1148" i="1" kern="1200">
          <a:solidFill>
            <a:schemeClr val="accent2"/>
          </a:solidFill>
          <a:latin typeface="+mn-lt"/>
          <a:ea typeface="+mn-ea"/>
          <a:cs typeface="+mn-cs"/>
        </a:defRPr>
      </a:lvl9pPr>
    </p:bodyStyle>
    <p:otherStyle>
      <a:defPPr>
        <a:defRPr lang="en-US"/>
      </a:defPPr>
      <a:lvl1pPr marL="0" algn="l" defTabSz="582930" rtl="0" eaLnBrk="1" latinLnBrk="0" hangingPunct="1">
        <a:lnSpc>
          <a:spcPct val="99000"/>
        </a:lnSpc>
        <a:defRPr sz="893" kern="1200">
          <a:solidFill>
            <a:schemeClr val="accent2"/>
          </a:solidFill>
          <a:latin typeface="+mn-lt"/>
          <a:ea typeface="+mn-ea"/>
          <a:cs typeface="+mn-cs"/>
        </a:defRPr>
      </a:lvl1pPr>
      <a:lvl2pPr marL="0" algn="l" defTabSz="582930" rtl="0" eaLnBrk="1" latinLnBrk="0" hangingPunct="1">
        <a:lnSpc>
          <a:spcPct val="99000"/>
        </a:lnSpc>
        <a:spcBef>
          <a:spcPts val="574"/>
        </a:spcBef>
        <a:defRPr sz="893" b="1" kern="1200">
          <a:solidFill>
            <a:schemeClr val="accent2"/>
          </a:solidFill>
          <a:latin typeface="+mn-lt"/>
          <a:ea typeface="+mn-ea"/>
          <a:cs typeface="+mn-cs"/>
        </a:defRPr>
      </a:lvl2pPr>
      <a:lvl3pPr marL="99098" indent="-99098" algn="l" defTabSz="582930" rtl="0" eaLnBrk="1" latinLnBrk="0" hangingPunct="1">
        <a:lnSpc>
          <a:spcPct val="99000"/>
        </a:lnSpc>
        <a:buSzPct val="91000"/>
        <a:buFont typeface="Arial" panose="020B0604020202020204" pitchFamily="34" charset="0"/>
        <a:buChar char="•"/>
        <a:defRPr sz="893" kern="1200">
          <a:solidFill>
            <a:schemeClr val="accent2"/>
          </a:solidFill>
          <a:latin typeface="+mn-lt"/>
          <a:ea typeface="+mn-ea"/>
          <a:cs typeface="+mn-cs"/>
        </a:defRPr>
      </a:lvl3pPr>
      <a:lvl4pPr marL="99098" indent="-99098" algn="l" defTabSz="582930" rtl="0" eaLnBrk="1" latinLnBrk="0" hangingPunct="1">
        <a:lnSpc>
          <a:spcPct val="99000"/>
        </a:lnSpc>
        <a:spcBef>
          <a:spcPts val="574"/>
        </a:spcBef>
        <a:buSzPct val="91000"/>
        <a:buFont typeface="Arial" panose="020B0604020202020204" pitchFamily="34" charset="0"/>
        <a:buChar char="•"/>
        <a:defRPr sz="893" b="1" kern="1200">
          <a:solidFill>
            <a:schemeClr val="accent2"/>
          </a:solidFill>
          <a:latin typeface="+mn-lt"/>
          <a:ea typeface="+mn-ea"/>
          <a:cs typeface="+mn-cs"/>
        </a:defRPr>
      </a:lvl4pPr>
      <a:lvl5pPr marL="99098" algn="l" defTabSz="582930" rtl="0" eaLnBrk="1" latinLnBrk="0" hangingPunct="1">
        <a:lnSpc>
          <a:spcPct val="99000"/>
        </a:lnSpc>
        <a:defRPr sz="893" kern="1200">
          <a:solidFill>
            <a:schemeClr val="accent2"/>
          </a:solidFill>
          <a:latin typeface="+mn-lt"/>
          <a:ea typeface="+mn-ea"/>
          <a:cs typeface="+mn-cs"/>
        </a:defRPr>
      </a:lvl5pPr>
      <a:lvl6pPr marL="0" algn="l" defTabSz="582930" rtl="0" eaLnBrk="1" latinLnBrk="0" hangingPunct="1">
        <a:lnSpc>
          <a:spcPct val="99000"/>
        </a:lnSpc>
        <a:defRPr sz="893" kern="1200">
          <a:solidFill>
            <a:schemeClr val="accent2"/>
          </a:solidFill>
          <a:latin typeface="+mn-lt"/>
          <a:ea typeface="+mn-ea"/>
          <a:cs typeface="+mn-cs"/>
        </a:defRPr>
      </a:lvl6pPr>
      <a:lvl7pPr marL="0" algn="l" defTabSz="582930" rtl="0" eaLnBrk="1" latinLnBrk="0" hangingPunct="1">
        <a:lnSpc>
          <a:spcPct val="99000"/>
        </a:lnSpc>
        <a:defRPr sz="893" kern="1200">
          <a:solidFill>
            <a:schemeClr val="accent2"/>
          </a:solidFill>
          <a:latin typeface="+mn-lt"/>
          <a:ea typeface="+mn-ea"/>
          <a:cs typeface="+mn-cs"/>
        </a:defRPr>
      </a:lvl7pPr>
      <a:lvl8pPr marL="0" algn="l" defTabSz="582930" rtl="0" eaLnBrk="1" latinLnBrk="0" hangingPunct="1">
        <a:lnSpc>
          <a:spcPct val="99000"/>
        </a:lnSpc>
        <a:defRPr sz="893" kern="1200">
          <a:solidFill>
            <a:schemeClr val="accent2"/>
          </a:solidFill>
          <a:latin typeface="+mn-lt"/>
          <a:ea typeface="+mn-ea"/>
          <a:cs typeface="+mn-cs"/>
        </a:defRPr>
      </a:lvl8pPr>
      <a:lvl9pPr marL="0" algn="l" defTabSz="582930" rtl="0" eaLnBrk="1" latinLnBrk="0" hangingPunct="1">
        <a:lnSpc>
          <a:spcPct val="99000"/>
        </a:lnSpc>
        <a:defRPr sz="893" kern="1200">
          <a:solidFill>
            <a:schemeClr val="accent2"/>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90CB834-096B-471A-825F-74C4B7E6E08D}"/>
              </a:ext>
            </a:extLst>
          </p:cNvPr>
          <p:cNvSpPr>
            <a:spLocks noGrp="1"/>
          </p:cNvSpPr>
          <p:nvPr>
            <p:ph type="subTitle" idx="4294967295"/>
          </p:nvPr>
        </p:nvSpPr>
        <p:spPr>
          <a:xfrm>
            <a:off x="360680" y="3352799"/>
            <a:ext cx="7157720" cy="5529943"/>
          </a:xfrm>
          <a:prstGeom prst="rect">
            <a:avLst/>
          </a:prstGeom>
        </p:spPr>
        <p:txBody>
          <a:bodyPr>
            <a:noAutofit/>
          </a:bodyPr>
          <a:lstStyle/>
          <a:p>
            <a:pPr marL="0" indent="0" algn="l">
              <a:lnSpc>
                <a:spcPct val="120000"/>
              </a:lnSpc>
              <a:buNone/>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Η One Field Services (OFS) παραμένει ακλόνητη στη δέσμευσή της για την προστασία των εργαζομένων, των πελατών, των εργολάβων μας και όλων όσων επηρεάζονται από τις δραστηριότητές μας. Η ασφάλεια δεν είναι απλώς μια προτεραιότητα – είναι θεμελιώδης και αποτελεί βασική αξία. Ενεργούμε με ακεραιότητα και υπευθυνότητα για να ανταποκριθούμε και να υπερβούμε όλες τις κανονιστικές, πελατειακές και ισχύουσες απαιτήσεις, θέτοντας σαφείς στόχους και μετρήσιμους δείκτες KPI που μας επιτρέπουν να οδηγούμε σε συνεχή βελτίωση του EHS. Ο τελικός μας στόχος είναι απλός και αδιαπραγμάτευτος: μηδενική βλάβη</a:t>
            </a:r>
            <a:r>
              <a:rPr lang="hr-H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0" indent="0" algn="l">
              <a:lnSpc>
                <a:spcPct val="120000"/>
              </a:lnSpc>
              <a:buNone/>
            </a:pPr>
            <a:r>
              <a:rPr lang="el-G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Ο Στόχος μας</a:t>
            </a:r>
            <a:r>
              <a:rPr lang="hr-H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344488" lvl="1" indent="-290513" algn="l">
              <a:lnSpc>
                <a:spcPct val="120000"/>
              </a:lnSpc>
              <a:buClrTx/>
              <a:buFont typeface="Wingdings" panose="05000000000000000000" pitchFamily="2" charset="2"/>
              <a:buChar char="Ø"/>
            </a:pPr>
            <a:r>
              <a:rPr lang="el-G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Καμία βλάβη στους εργαζομένους μας μέσω</a:t>
            </a:r>
            <a:r>
              <a:rPr lang="hr-H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Θέσπισης Κανόνων που Σώζουν Ζωές (Life Saving Rules) που προλαμβάνουν ή μετριάζουν τους πρωταρχικούς κινδύνους στις καθημερινές μας δραστηριότητες</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Παροχής ασφαλών και υγιεινών συνθηκών εργασίας για την πρόληψη εργατικών ατυχημάτων και ασθενειών</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Παροχής προληπτικής εκπαίδευσης και επιμόρφωσης EHS βάσει ρόλων, ευθυγραμμισμένης με τους συγκεκριμένους κινδύνους της εργασίας</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Εντοπισμού, εξάλειψης και μείωσης των κινδύνων μέσω των Κανόνων που Σώζουν Ζωές που βασίζονται στην επικινδυνότητα</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Εφοδιασμού των εργαζομένων με τα κατάλληλα εργαλεία, πόρους και υποστήριξη για ασφαλή εργασία</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Ενδυνάμωσης και ενθάρρυνσης κάθε εργαζομένου να ΔΙΑΚΟΠΤΕΙ ΤΗΝ ΕΡΓΑΣΙΑ (STOP WORK) όταν οι συνθήκες είναι μη ασφαλείς – χωρίς δισταγμό ή συνέπειες</a:t>
            </a:r>
            <a:r>
              <a:rPr lang="hr-H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344488" lvl="1" indent="-290513" algn="l">
              <a:lnSpc>
                <a:spcPct val="100000"/>
              </a:lnSpc>
              <a:spcBef>
                <a:spcPts val="600"/>
              </a:spcBef>
              <a:buClrTx/>
              <a:buFont typeface="Wingdings" panose="05000000000000000000" pitchFamily="2" charset="2"/>
              <a:buChar char="Ø"/>
            </a:pPr>
            <a:r>
              <a:rPr lang="el-G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Καμία βλάβη στο περιβάλλον μέσω</a:t>
            </a:r>
            <a:r>
              <a:rPr lang="hr-H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Πρόληψης της ρύπανσης σε κάθε επίπεδο των δραστηριοτήτων μας</a:t>
            </a:r>
          </a:p>
          <a:p>
            <a:pPr marL="569913" lvl="2" indent="-225425">
              <a:lnSpc>
                <a:spcPct val="100000"/>
              </a:lnSpc>
              <a:spcBef>
                <a:spcPts val="600"/>
              </a:spcBef>
              <a:buFont typeface="Arial" panose="020B0604020202020204" pitchFamily="34" charset="0"/>
              <a:buChar char="•"/>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Ελαχιστοποίησης των δυσμενών περιβαλλοντικών επιπτώσεων των σταθερών εγκαταστάσεων, των υπηρεσιών και των εργοταξίων μας</a:t>
            </a:r>
            <a:r>
              <a:rPr lang="hr-H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0" indent="0">
              <a:lnSpc>
                <a:spcPct val="120000"/>
              </a:lnSpc>
              <a:buNone/>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Πιστεύουμε ότι η ισχυρή απόδοση EHS εξαρτάται από την ανοιχτή επικοινωνία και τη συνεργασία. Συμμετέχουμε ενεργά και συμβουλευόμαστε τους εργαζομένους, τους πελάτες, τους εργολάβους και τους ενδιαφερόμενους φορείς μας, ενθαρρύνοντας τη συμμετοχή στην ενίσχυση των </a:t>
            </a:r>
            <a:r>
              <a:rPr lang="el-G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Κανόνων που Σώζουν Ζωές (Life Saving Rules) </a:t>
            </a: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και στη μείωση των κινδύνων EHS και των περιβαλλοντικών επιπτώσεων.</a:t>
            </a:r>
          </a:p>
          <a:p>
            <a:pPr marL="0" indent="0">
              <a:lnSpc>
                <a:spcPct val="120000"/>
              </a:lnSpc>
              <a:buNone/>
            </a:pP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Το EHS αποτελεί κοινή ευθύνη </a:t>
            </a:r>
            <a:r>
              <a:rPr lang="el-G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κάθε ατόμου </a:t>
            </a: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στην OFS. Ο καθένας μας είναι υπεύθυνος για την προστασία του εαυτού του, των συναδέλφων του, των πελατών μας, των επισκεπτών των εγκαταστάσεων, των κοινοτήτων στις οποίες δραστηριοποιούμαστε και του περιβάλλοντος. Μαζί θα δημιουργήσουμε μια κουλτούρα όπου </a:t>
            </a:r>
            <a:r>
              <a:rPr lang="el-GR" sz="900" b="1"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η ασφάλεια καθοδηγεί κάθε απόφαση </a:t>
            </a:r>
            <a:r>
              <a:rPr lang="el-G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και η μηδενική βλάβη είναι επιτεύξιμη</a:t>
            </a:r>
            <a:r>
              <a:rPr lang="hr-HR" sz="90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endParaRPr lang="hr-HR" sz="1150" noProof="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endParaRPr>
          </a:p>
        </p:txBody>
      </p:sp>
      <p:sp>
        <p:nvSpPr>
          <p:cNvPr id="2" name="TextBox 1">
            <a:extLst>
              <a:ext uri="{FF2B5EF4-FFF2-40B4-BE49-F238E27FC236}">
                <a16:creationId xmlns:a16="http://schemas.microsoft.com/office/drawing/2014/main" id="{86A8BFA6-A3B9-4236-91AD-6725937BC68C}"/>
              </a:ext>
            </a:extLst>
          </p:cNvPr>
          <p:cNvSpPr txBox="1"/>
          <p:nvPr/>
        </p:nvSpPr>
        <p:spPr>
          <a:xfrm>
            <a:off x="360680" y="2690143"/>
            <a:ext cx="7157720" cy="707886"/>
          </a:xfrm>
          <a:prstGeom prst="rect">
            <a:avLst/>
          </a:prstGeom>
          <a:noFill/>
        </p:spPr>
        <p:txBody>
          <a:bodyPr wrap="square" rtlCol="0">
            <a:spAutoFit/>
          </a:bodyPr>
          <a:lstStyle/>
          <a:p>
            <a:pPr algn="ctr"/>
            <a:r>
              <a:rPr lang="el-GR" sz="2000" noProof="0" dirty="0">
                <a:solidFill>
                  <a:schemeClr val="bg1"/>
                </a:solidFill>
                <a:latin typeface="Sons Condensed Semibold" panose="02060706060206060203" pitchFamily="18" charset="0"/>
              </a:rPr>
              <a:t>Gas Power One Field Services </a:t>
            </a:r>
            <a:endParaRPr lang="hr-HR" sz="2000" noProof="0" dirty="0">
              <a:solidFill>
                <a:schemeClr val="bg1"/>
              </a:solidFill>
              <a:latin typeface="Sons Condensed Semibold" panose="02060706060206060203" pitchFamily="18" charset="0"/>
            </a:endParaRPr>
          </a:p>
          <a:p>
            <a:pPr algn="ctr"/>
            <a:r>
              <a:rPr lang="el-GR" sz="2000" noProof="0" dirty="0">
                <a:solidFill>
                  <a:schemeClr val="bg1"/>
                </a:solidFill>
                <a:latin typeface="Sons Condensed Semibold" panose="02060706060206060203" pitchFamily="18" charset="0"/>
              </a:rPr>
              <a:t>Πολιτική Περιβάλλοντος, Υγείας και Ασφάλειας (EHS)</a:t>
            </a:r>
            <a:endParaRPr lang="hr-HR" sz="2000" noProof="0" dirty="0">
              <a:solidFill>
                <a:schemeClr val="bg1"/>
              </a:solidFill>
              <a:latin typeface="Sons Condensed Semibold" panose="02060706060206060203" pitchFamily="18" charset="0"/>
            </a:endParaRPr>
          </a:p>
        </p:txBody>
      </p:sp>
    </p:spTree>
    <p:extLst>
      <p:ext uri="{BB962C8B-B14F-4D97-AF65-F5344CB8AC3E}">
        <p14:creationId xmlns:p14="http://schemas.microsoft.com/office/powerpoint/2010/main" val="2114297706"/>
      </p:ext>
    </p:extLst>
  </p:cSld>
  <p:clrMapOvr>
    <a:masterClrMapping/>
  </p:clrMapOvr>
</p:sld>
</file>

<file path=ppt/theme/theme1.xml><?xml version="1.0" encoding="utf-8"?>
<a:theme xmlns:a="http://schemas.openxmlformats.org/drawingml/2006/main" name="FieldCore_2017">
  <a:themeElements>
    <a:clrScheme name="Custom 14">
      <a:dk1>
        <a:srgbClr val="63666A"/>
      </a:dk1>
      <a:lt1>
        <a:srgbClr val="FFFFFF"/>
      </a:lt1>
      <a:dk2>
        <a:srgbClr val="090936"/>
      </a:dk2>
      <a:lt2>
        <a:srgbClr val="FFFFFF"/>
      </a:lt2>
      <a:accent1>
        <a:srgbClr val="FE5000"/>
      </a:accent1>
      <a:accent2>
        <a:srgbClr val="005EB8"/>
      </a:accent2>
      <a:accent3>
        <a:srgbClr val="63666A"/>
      </a:accent3>
      <a:accent4>
        <a:srgbClr val="B1B3B3"/>
      </a:accent4>
      <a:accent5>
        <a:srgbClr val="00B5E2"/>
      </a:accent5>
      <a:accent6>
        <a:srgbClr val="3EAE2A"/>
      </a:accent6>
      <a:hlink>
        <a:srgbClr val="FE5000"/>
      </a:hlink>
      <a:folHlink>
        <a:srgbClr val="090936"/>
      </a:folHlink>
    </a:clrScheme>
    <a:fontScheme name="FieldCore - Gotham">
      <a:majorFont>
        <a:latin typeface="Gotham Light"/>
        <a:ea typeface=""/>
        <a:cs typeface=""/>
      </a:majorFont>
      <a:minorFont>
        <a:latin typeface="Gotham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CS18810-01 FC new font template_test1_R1" id="{9AA2E0B5-DA9B-4844-AFA8-7AD242CFC0F9}" vid="{25A4205F-3365-4494-A059-27D7887B49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astReviewDate xmlns="cc7fbaa3-8214-4644-99f1-d2e5a6ae9914">2026-06-01T04:00:00+00:00</LastReviewDate>
    <RevisionNumber xmlns="cc7fbaa3-8214-4644-99f1-d2e5a6ae9914">1</RevisionNumber>
    <Process_x0020_Owmer xmlns="25586fb6-ed09-4f2d-8ea7-eda1a9fd2320">
      <UserInfo>
        <DisplayName>Cahill, James (GE Vernova)</DisplayName>
        <AccountId>50409</AccountId>
        <AccountType/>
      </UserInfo>
    </Process_x0020_Owmer>
    <Functional_x0020_Owner xmlns="25586fb6-ed09-4f2d-8ea7-eda1a9fd2320">Management Processes - Leadership and Commitment</Functional_x0020_Owner>
    <Nomenclature xmlns="25586fb6-ed09-4f2d-8ea7-eda1a9fd2320" xsi:nil="true"/>
  </documentManagement>
</p:properties>
</file>

<file path=customXml/itemProps1.xml><?xml version="1.0" encoding="utf-8"?>
<ds:datastoreItem xmlns:ds="http://schemas.openxmlformats.org/officeDocument/2006/customXml" ds:itemID="{6B849D4C-4C86-4214-854A-A806E7DA824F}"/>
</file>

<file path=customXml/itemProps2.xml><?xml version="1.0" encoding="utf-8"?>
<ds:datastoreItem xmlns:ds="http://schemas.openxmlformats.org/officeDocument/2006/customXml" ds:itemID="{03E95207-7B70-4CAC-BAD5-F9F7098D3201}"/>
</file>

<file path=customXml/itemProps3.xml><?xml version="1.0" encoding="utf-8"?>
<ds:datastoreItem xmlns:ds="http://schemas.openxmlformats.org/officeDocument/2006/customXml" ds:itemID="{0E86CB54-1C4A-444E-8C82-9EADCD36C885}"/>
</file>

<file path=docMetadata/LabelInfo.xml><?xml version="1.0" encoding="utf-8"?>
<clbl:labelList xmlns:clbl="http://schemas.microsoft.com/office/2020/mipLabelMetadata">
  <clbl:label id="{15ccb6d1-d335-4996-b6f9-7b6925f08121}" enabled="0" method="" siteId="{15ccb6d1-d335-4996-b6f9-7b6925f08121}" removed="1"/>
</clbl:labelList>
</file>

<file path=docProps/app.xml><?xml version="1.0" encoding="utf-8"?>
<Properties xmlns="http://schemas.openxmlformats.org/officeDocument/2006/extended-properties" xmlns:vt="http://schemas.openxmlformats.org/officeDocument/2006/docPropsVTypes">
  <Template>CS18810-03 FieldCore Template_R3</Template>
  <TotalTime>1079</TotalTime>
  <Words>381</Words>
  <Application>Microsoft Office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Gotham Light</vt:lpstr>
      <vt:lpstr>Gotham Rounded Book</vt:lpstr>
      <vt:lpstr>Sons Condensed Semibold</vt:lpstr>
      <vt:lpstr>Wingdings</vt:lpstr>
      <vt:lpstr>FieldCore_2017</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Stout, David (FieldCore)</dc:creator>
  <cp:lastModifiedBy>Kecerin, Filip (GE Vernova)</cp:lastModifiedBy>
  <cp:revision>56</cp:revision>
  <cp:lastPrinted>2018-11-19T17:02:52Z</cp:lastPrinted>
  <dcterms:created xsi:type="dcterms:W3CDTF">2018-11-14T17:47:23Z</dcterms:created>
  <dcterms:modified xsi:type="dcterms:W3CDTF">2026-05-27T06:52:46Z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