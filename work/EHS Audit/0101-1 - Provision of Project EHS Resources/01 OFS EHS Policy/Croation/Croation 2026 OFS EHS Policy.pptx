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8" r:id="rId2"/>
  </p:sldIdLst>
  <p:sldSz cx="7772400" cy="10058400"/>
  <p:notesSz cx="68580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E60"/>
    <a:srgbClr val="696969"/>
    <a:srgbClr val="484848"/>
    <a:srgbClr val="E3E3E3"/>
    <a:srgbClr val="FFFEFC"/>
    <a:srgbClr val="8D89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81" autoAdjust="0"/>
    <p:restoredTop sz="94673" autoAdjust="0"/>
  </p:normalViewPr>
  <p:slideViewPr>
    <p:cSldViewPr snapToGrid="0">
      <p:cViewPr>
        <p:scale>
          <a:sx n="100" d="100"/>
          <a:sy n="100" d="100"/>
        </p:scale>
        <p:origin x="25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12465-B93B-4C89-8962-65869DA8E1F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24088" y="1154113"/>
            <a:ext cx="240982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45000"/>
            <a:ext cx="5486400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2971800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772525"/>
            <a:ext cx="2971800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36773-3A60-4CD3-B810-B928EA536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993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C41A86-5D21-4E83-800F-748C950C4662}"/>
              </a:ext>
            </a:extLst>
          </p:cNvPr>
          <p:cNvSpPr/>
          <p:nvPr userDrawn="1"/>
        </p:nvSpPr>
        <p:spPr>
          <a:xfrm>
            <a:off x="193040" y="3344544"/>
            <a:ext cx="7386320" cy="5615186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98C045-E9A4-457B-B00C-0C279905ADE3}"/>
              </a:ext>
            </a:extLst>
          </p:cNvPr>
          <p:cNvSpPr/>
          <p:nvPr userDrawn="1"/>
        </p:nvSpPr>
        <p:spPr>
          <a:xfrm>
            <a:off x="193040" y="2733040"/>
            <a:ext cx="7386320" cy="594360"/>
          </a:xfrm>
          <a:prstGeom prst="rect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245694-D800-4336-B687-EB2E002A4E76}"/>
              </a:ext>
            </a:extLst>
          </p:cNvPr>
          <p:cNvSpPr txBox="1"/>
          <p:nvPr userDrawn="1"/>
        </p:nvSpPr>
        <p:spPr>
          <a:xfrm>
            <a:off x="804259" y="9490383"/>
            <a:ext cx="1597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kern="1200" dirty="0">
                <a:solidFill>
                  <a:srgbClr val="8D8988"/>
                </a:solidFill>
                <a:effectLst/>
                <a:latin typeface="Gotham Rounded Book" pitchFamily="50" charset="0"/>
                <a:ea typeface="+mn-ea"/>
                <a:cs typeface="+mn-cs"/>
              </a:rPr>
              <a:t>Jim Vono </a:t>
            </a:r>
          </a:p>
          <a:p>
            <a:r>
              <a:rPr lang="en-US" sz="1000" kern="1200" dirty="0">
                <a:solidFill>
                  <a:srgbClr val="8D8988"/>
                </a:solidFill>
                <a:effectLst/>
                <a:latin typeface="Gotham Rounded Book" pitchFamily="50" charset="0"/>
                <a:ea typeface="+mn-ea"/>
                <a:cs typeface="+mn-cs"/>
              </a:rPr>
              <a:t>One Field Services Leader</a:t>
            </a:r>
            <a:endParaRPr lang="en-US" sz="1000" dirty="0">
              <a:solidFill>
                <a:srgbClr val="8D8988"/>
              </a:solidFill>
              <a:latin typeface="Gotham Rounded Book" pitchFamily="50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5DAB11-D89E-4579-A97D-FEA73BC6CC15}"/>
              </a:ext>
            </a:extLst>
          </p:cNvPr>
          <p:cNvSpPr txBox="1"/>
          <p:nvPr userDrawn="1"/>
        </p:nvSpPr>
        <p:spPr>
          <a:xfrm>
            <a:off x="2700942" y="9490383"/>
            <a:ext cx="2563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kern="1200" dirty="0">
                <a:solidFill>
                  <a:srgbClr val="8D8988"/>
                </a:solidFill>
                <a:effectLst/>
                <a:latin typeface="Gotham Rounded Book" pitchFamily="50" charset="0"/>
                <a:ea typeface="+mn-ea"/>
                <a:cs typeface="+mn-cs"/>
              </a:rPr>
              <a:t>Jeff Gifford </a:t>
            </a:r>
          </a:p>
          <a:p>
            <a:r>
              <a:rPr lang="en-US" sz="1000" kern="1200" dirty="0">
                <a:solidFill>
                  <a:srgbClr val="8D8988"/>
                </a:solidFill>
                <a:effectLst/>
                <a:latin typeface="Gotham Rounded Book" pitchFamily="50" charset="0"/>
                <a:ea typeface="+mn-ea"/>
                <a:cs typeface="+mn-cs"/>
              </a:rPr>
              <a:t>EHS Leader</a:t>
            </a:r>
            <a:endParaRPr lang="en-US" sz="1000" dirty="0">
              <a:solidFill>
                <a:srgbClr val="8D8988"/>
              </a:solidFill>
              <a:latin typeface="Gotham Rounded Book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BA8D22-8CE3-4517-B48D-E8F158A8004E}"/>
              </a:ext>
            </a:extLst>
          </p:cNvPr>
          <p:cNvCxnSpPr/>
          <p:nvPr userDrawn="1"/>
        </p:nvCxnSpPr>
        <p:spPr>
          <a:xfrm>
            <a:off x="4808220" y="9013542"/>
            <a:ext cx="0" cy="837317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9D2BD6C-23CD-86C1-F7F1-6439335B51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84"/>
          <a:stretch/>
        </p:blipFill>
        <p:spPr>
          <a:xfrm>
            <a:off x="4965067" y="9053508"/>
            <a:ext cx="2471238" cy="68505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1F57D87-A53A-9A66-3E99-9191689692E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1095" y="9118217"/>
            <a:ext cx="1487468" cy="51143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2C9FA114-0DFF-E4EC-8F9B-E248BDC7D9B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14742" y="9116983"/>
            <a:ext cx="1490472" cy="3277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C46678-2886-29F0-F905-A3D7AC56E20B}"/>
              </a:ext>
            </a:extLst>
          </p:cNvPr>
          <p:cNvSpPr txBox="1"/>
          <p:nvPr userDrawn="1"/>
        </p:nvSpPr>
        <p:spPr>
          <a:xfrm>
            <a:off x="5979160" y="9677400"/>
            <a:ext cx="160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8D8988"/>
                </a:solidFill>
                <a:latin typeface="Gotham Rounded Book" pitchFamily="50" charset="0"/>
              </a:rPr>
              <a:t> January 2026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88E628-1831-3141-773D-9A07A11E502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895"/>
          <a:stretch/>
        </p:blipFill>
        <p:spPr>
          <a:xfrm>
            <a:off x="0" y="0"/>
            <a:ext cx="7772400" cy="2699861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55E72C8-6A29-C2CD-F104-C064BF288D5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2686" y="142433"/>
            <a:ext cx="2127028" cy="212702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CC4E44-2707-9ED3-8A3D-828F5679B1D6}"/>
              </a:ext>
            </a:extLst>
          </p:cNvPr>
          <p:cNvSpPr/>
          <p:nvPr userDrawn="1"/>
        </p:nvSpPr>
        <p:spPr>
          <a:xfrm>
            <a:off x="0" y="0"/>
            <a:ext cx="7772400" cy="2687388"/>
          </a:xfrm>
          <a:prstGeom prst="rect">
            <a:avLst/>
          </a:prstGeom>
          <a:solidFill>
            <a:srgbClr val="005E60">
              <a:alpha val="40000"/>
            </a:srgbClr>
          </a:solidFill>
        </p:spPr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  <a:ea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75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8" userDrawn="1">
          <p15:clr>
            <a:srgbClr val="FBAE40"/>
          </p15:clr>
        </p15:guide>
        <p15:guide id="2" pos="244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657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ransition spd="slow">
    <p:push dir="u"/>
  </p:transition>
  <p:txStyles>
    <p:titleStyle>
      <a:lvl1pPr algn="l" defTabSz="582930" rtl="0" eaLnBrk="1" latinLnBrk="0" hangingPunct="1">
        <a:lnSpc>
          <a:spcPct val="100000"/>
        </a:lnSpc>
        <a:spcBef>
          <a:spcPct val="0"/>
        </a:spcBef>
        <a:buNone/>
        <a:defRPr sz="2040" kern="1200" spc="0">
          <a:solidFill>
            <a:schemeClr val="tx2"/>
          </a:solidFill>
          <a:latin typeface="Gotham Light" pitchFamily="50" charset="0"/>
          <a:ea typeface="Gotham Light" pitchFamily="50" charset="0"/>
          <a:cs typeface="Gotham Light" pitchFamily="50" charset="0"/>
        </a:defRPr>
      </a:lvl1pPr>
    </p:titleStyle>
    <p:bodyStyle>
      <a:lvl1pPr marL="99098" indent="-99098" algn="l" defTabSz="582930" rtl="0" eaLnBrk="1" latinLnBrk="0" hangingPunct="1">
        <a:lnSpc>
          <a:spcPct val="90000"/>
        </a:lnSpc>
        <a:spcBef>
          <a:spcPts val="510"/>
        </a:spcBef>
        <a:spcAft>
          <a:spcPts val="191"/>
        </a:spcAft>
        <a:buClrTx/>
        <a:buFont typeface="Arial" panose="020B0604020202020204" pitchFamily="34" charset="0"/>
        <a:buChar char="•"/>
        <a:defRPr sz="1275" b="0" i="0" kern="1200">
          <a:solidFill>
            <a:schemeClr val="tx1"/>
          </a:solidFill>
          <a:latin typeface="Gotham Light" pitchFamily="50" charset="0"/>
          <a:ea typeface="Gotham Light" pitchFamily="50" charset="0"/>
          <a:cs typeface="Gotham Light" pitchFamily="50" charset="0"/>
        </a:defRPr>
      </a:lvl1pPr>
      <a:lvl2pPr marL="99098" indent="0" algn="l" defTabSz="58293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Tx/>
        <a:buNone/>
        <a:defRPr sz="1148" b="0" i="0" kern="1200">
          <a:solidFill>
            <a:schemeClr val="tx1"/>
          </a:solidFill>
          <a:latin typeface="Gotham Light" pitchFamily="50" charset="0"/>
          <a:ea typeface="Gotham Light" pitchFamily="50" charset="0"/>
          <a:cs typeface="Gotham Light" pitchFamily="50" charset="0"/>
        </a:defRPr>
      </a:lvl2pPr>
      <a:lvl3pPr marL="99098" indent="-99098" algn="l" defTabSz="582930" rtl="0" eaLnBrk="1" latinLnBrk="0" hangingPunct="1">
        <a:lnSpc>
          <a:spcPct val="90000"/>
        </a:lnSpc>
        <a:spcBef>
          <a:spcPts val="701"/>
        </a:spcBef>
        <a:spcAft>
          <a:spcPts val="191"/>
        </a:spcAft>
        <a:buClrTx/>
        <a:buSzPct val="91000"/>
        <a:buFont typeface="Arial" charset="0"/>
        <a:buChar char="•"/>
        <a:defRPr lang="en-US" sz="1020" b="0" i="0" kern="1200" dirty="0">
          <a:solidFill>
            <a:schemeClr val="tx1"/>
          </a:solidFill>
          <a:latin typeface="Gotham Light" pitchFamily="50" charset="0"/>
          <a:ea typeface="Gotham Light" pitchFamily="50" charset="0"/>
          <a:cs typeface="Gotham Light" pitchFamily="50" charset="0"/>
        </a:defRPr>
      </a:lvl3pPr>
      <a:lvl4pPr marL="99098" indent="0" algn="l" defTabSz="58293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Tx/>
        <a:buNone/>
        <a:defRPr sz="893" b="0" i="0" kern="1200">
          <a:solidFill>
            <a:schemeClr val="tx1"/>
          </a:solidFill>
          <a:latin typeface="Gotham Light" pitchFamily="50" charset="0"/>
          <a:ea typeface="Gotham Light" pitchFamily="50" charset="0"/>
          <a:cs typeface="Gotham Light" pitchFamily="50" charset="0"/>
        </a:defRPr>
      </a:lvl4pPr>
      <a:lvl5pPr marL="99098" indent="-99098" algn="l" defTabSz="582930" rtl="0" eaLnBrk="1" latinLnBrk="0" hangingPunct="1">
        <a:lnSpc>
          <a:spcPct val="99000"/>
        </a:lnSpc>
        <a:spcBef>
          <a:spcPts val="574"/>
        </a:spcBef>
        <a:buClr>
          <a:schemeClr val="accent5"/>
        </a:buClr>
        <a:buSzPct val="91000"/>
        <a:buFont typeface="Arial" panose="020B0604020202020204" pitchFamily="34" charset="0"/>
        <a:buChar char="•"/>
        <a:defRPr sz="1148" kern="1200">
          <a:solidFill>
            <a:schemeClr val="accent2"/>
          </a:solidFill>
          <a:latin typeface="+mn-lt"/>
          <a:ea typeface="+mn-ea"/>
          <a:cs typeface="+mn-cs"/>
        </a:defRPr>
      </a:lvl5pPr>
      <a:lvl6pPr marL="122415" indent="0" algn="l" defTabSz="582930" rtl="0" eaLnBrk="1" latinLnBrk="0" hangingPunct="1">
        <a:lnSpc>
          <a:spcPct val="99000"/>
        </a:lnSpc>
        <a:spcBef>
          <a:spcPts val="0"/>
        </a:spcBef>
        <a:buSzPct val="91000"/>
        <a:buFontTx/>
        <a:buNone/>
        <a:defRPr sz="1148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indent="0" algn="l" defTabSz="582930" rtl="0" eaLnBrk="1" latinLnBrk="0" hangingPunct="1">
        <a:lnSpc>
          <a:spcPct val="99000"/>
        </a:lnSpc>
        <a:spcBef>
          <a:spcPts val="574"/>
        </a:spcBef>
        <a:buSzPct val="91000"/>
        <a:buFontTx/>
        <a:buNone/>
        <a:defRPr sz="1148" b="1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indent="0" algn="l" defTabSz="582930" rtl="0" eaLnBrk="1" latinLnBrk="0" hangingPunct="1">
        <a:lnSpc>
          <a:spcPct val="99000"/>
        </a:lnSpc>
        <a:spcBef>
          <a:spcPts val="0"/>
        </a:spcBef>
        <a:buSzPct val="91000"/>
        <a:buFontTx/>
        <a:buNone/>
        <a:defRPr sz="1148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indent="0" algn="l" defTabSz="582930" rtl="0" eaLnBrk="1" latinLnBrk="0" hangingPunct="1">
        <a:lnSpc>
          <a:spcPct val="99000"/>
        </a:lnSpc>
        <a:spcBef>
          <a:spcPts val="574"/>
        </a:spcBef>
        <a:buSzPct val="91000"/>
        <a:buFontTx/>
        <a:buNone/>
        <a:defRPr sz="1148" i="1" kern="120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algn="l" defTabSz="582930" rtl="0" eaLnBrk="1" latinLnBrk="0" hangingPunct="1">
        <a:lnSpc>
          <a:spcPct val="99000"/>
        </a:lnSpc>
        <a:spcBef>
          <a:spcPts val="574"/>
        </a:spcBef>
        <a:defRPr sz="893"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99098" indent="-99098" algn="l" defTabSz="582930" rtl="0" eaLnBrk="1" latinLnBrk="0" hangingPunct="1">
        <a:lnSpc>
          <a:spcPct val="99000"/>
        </a:lnSpc>
        <a:buSzPct val="91000"/>
        <a:buFont typeface="Arial" panose="020B0604020202020204" pitchFamily="34" charset="0"/>
        <a:buChar char="•"/>
        <a:defRPr sz="893" kern="1200">
          <a:solidFill>
            <a:schemeClr val="accent2"/>
          </a:solidFill>
          <a:latin typeface="+mn-lt"/>
          <a:ea typeface="+mn-ea"/>
          <a:cs typeface="+mn-cs"/>
        </a:defRPr>
      </a:lvl3pPr>
      <a:lvl4pPr marL="99098" indent="-99098" algn="l" defTabSz="582930" rtl="0" eaLnBrk="1" latinLnBrk="0" hangingPunct="1">
        <a:lnSpc>
          <a:spcPct val="99000"/>
        </a:lnSpc>
        <a:spcBef>
          <a:spcPts val="574"/>
        </a:spcBef>
        <a:buSzPct val="91000"/>
        <a:buFont typeface="Arial" panose="020B0604020202020204" pitchFamily="34" charset="0"/>
        <a:buChar char="•"/>
        <a:defRPr sz="893" b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99098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90CB834-096B-471A-825F-74C4B7E6E08D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60680" y="3352799"/>
            <a:ext cx="7157720" cy="55299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hr-HR" sz="1050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One Field Services (OFS) nepokolebljiv je u svojoj predanosti zaštiti naših zaposlenika, kupaca, ugovaratelja i svih na koje utječu naše operacije. Sigurnost nije samo prioritet – ona je temelj i temeljna vrijednost. Postupamo s integritetom i odgovornošću kako bismo ispunili i premašili sve regulatorne zahtjeve, zahtjeve kupaca i ostale primjenjive zahtjeve, postavljajući jasne ciljeve i mjerljive KPI-ove koji nam omogućuju kontinuirano poboljšanje EHS-a. Naš krajnji cilj je jednostavan i o njemu se ne može pregovarati: nula štete.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hr-HR" sz="1050" b="1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Naš cilj:</a:t>
            </a:r>
          </a:p>
          <a:p>
            <a:pPr marL="344488" lvl="1" indent="-290513" algn="l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hr-HR" sz="1050" b="1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Bez štete za naše zaposlenike putem:</a:t>
            </a:r>
          </a:p>
          <a:p>
            <a:pPr marL="569913" lvl="2" indent="-225425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r-HR" sz="1050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Uspostavljanja Pravila koja spašavaju živote (Life </a:t>
            </a:r>
            <a:r>
              <a:rPr lang="hr-HR" sz="1050" noProof="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Saving</a:t>
            </a:r>
            <a:r>
              <a:rPr lang="hr-HR" sz="1050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hr-HR" sz="1050" noProof="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Rules</a:t>
            </a:r>
            <a:r>
              <a:rPr lang="hr-HR" sz="1050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) koja sprječavaju ili ublažavaju primarne rizike u našim svakodnevnim operacijama</a:t>
            </a:r>
          </a:p>
          <a:p>
            <a:pPr marL="569913" lvl="2" indent="-225425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r-HR" sz="1050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Osiguravanja sigurnih i zdravih radnih uvjeta za sprječavanje ozljeda na radu i narušavanja zdravlja</a:t>
            </a:r>
          </a:p>
          <a:p>
            <a:pPr marL="569913" lvl="2" indent="-225425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r-HR" sz="1050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Pružanja proaktivne EHS obuke i edukacije temeljene na ulogama, usklađene s rizicima specifičnim za posao</a:t>
            </a:r>
          </a:p>
          <a:p>
            <a:pPr marL="569913" lvl="2" indent="-225425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r-HR" sz="1050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Identificiranja, uklanjanja i smanjenja opasnosti kroz Pravila koja spašavaju živote temeljena na riziku</a:t>
            </a:r>
          </a:p>
          <a:p>
            <a:pPr marL="569913" lvl="2" indent="-225425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r-HR" sz="1050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Opskrbe zaposlenika odgovarajućim alatima, resursima i podrškom za siguran rad</a:t>
            </a:r>
          </a:p>
          <a:p>
            <a:pPr marL="569913" lvl="2" indent="-225425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r-HR" sz="1050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Osnaživanja i poticanja svakog zaposlenika da ZAUSTAVI RAD (STOP WORK) kada su uvjeti nesigurni – bez oklijevanja ili posljedica.</a:t>
            </a:r>
          </a:p>
          <a:p>
            <a:pPr marL="344488" lvl="1" indent="-290513" algn="l">
              <a:lnSpc>
                <a:spcPct val="10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hr-HR" sz="1050" b="1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Bez štete za okoliš putem:</a:t>
            </a:r>
          </a:p>
          <a:p>
            <a:pPr marL="569913" lvl="2" indent="-225425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r-HR" sz="1050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Sprječavanja onečišćenja na svim razinama naših operacija</a:t>
            </a:r>
          </a:p>
          <a:p>
            <a:pPr marL="569913" lvl="2" indent="-225425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r-HR" sz="1050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Minimiziranja negativnih utjecaja na okoliš naših fiksnih objekata, usluga i projektnih lokacija.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hr-HR" sz="1050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Vjerujemo da snažan EHS učinak ovisi o otvorenoj komunikaciji i suradnji. Aktivno se angažiramo i savjetujemo s našim zaposlenicima, kupcima, ugovarateljima i dionicima, potičući sudjelovanje u jačanju naših </a:t>
            </a:r>
            <a:r>
              <a:rPr lang="hr-HR" sz="1050" b="1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Pravila koja spašavaju živote (Life </a:t>
            </a:r>
            <a:r>
              <a:rPr lang="hr-HR" sz="1050" b="1" noProof="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Saving</a:t>
            </a:r>
            <a:r>
              <a:rPr lang="hr-HR" sz="1050" b="1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hr-HR" sz="1050" b="1" noProof="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Rules</a:t>
            </a:r>
            <a:r>
              <a:rPr lang="hr-HR" sz="1050" b="1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)</a:t>
            </a:r>
            <a:r>
              <a:rPr lang="hr-HR" sz="1050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te smanjenju EHS rizika i utjecaja na okoliš.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hr-HR" sz="1050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EHS je zajednička odgovornost </a:t>
            </a:r>
            <a:r>
              <a:rPr lang="hr-HR" sz="1050" b="1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svake pojedine osobe </a:t>
            </a:r>
            <a:r>
              <a:rPr lang="hr-HR" sz="1050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 OFS-u. Svatko od nas odgovoran je za zaštitu sebe, svojih kolega, naših kupaca, posjetitelja lokacija, zajednica u kojima djelujemo i okoliša. Zajedno ćemo stvoriti kulturu u kojoj </a:t>
            </a:r>
            <a:r>
              <a:rPr lang="hr-HR" sz="1050" b="1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sigurnost vodi svaku odluku </a:t>
            </a:r>
            <a:r>
              <a:rPr lang="hr-HR" sz="1050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 u kojoj je nula štete dostižna.</a:t>
            </a:r>
          </a:p>
          <a:p>
            <a:endParaRPr lang="hr-HR" sz="1150" noProof="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A8BFA6-A3B9-4236-91AD-6725937BC68C}"/>
              </a:ext>
            </a:extLst>
          </p:cNvPr>
          <p:cNvSpPr txBox="1"/>
          <p:nvPr/>
        </p:nvSpPr>
        <p:spPr>
          <a:xfrm>
            <a:off x="360680" y="2690143"/>
            <a:ext cx="7157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800" noProof="0" dirty="0">
                <a:solidFill>
                  <a:schemeClr val="bg1"/>
                </a:solidFill>
                <a:latin typeface="Sons Condensed Semibold" panose="02060706060206060203" pitchFamily="18" charset="0"/>
              </a:rPr>
              <a:t>Gas Power One Field Services Politika zaštite okoliša, zdravlja i sigurnosti (EHS)</a:t>
            </a:r>
          </a:p>
        </p:txBody>
      </p:sp>
    </p:spTree>
    <p:extLst>
      <p:ext uri="{BB962C8B-B14F-4D97-AF65-F5344CB8AC3E}">
        <p14:creationId xmlns:p14="http://schemas.microsoft.com/office/powerpoint/2010/main" val="2114297706"/>
      </p:ext>
    </p:extLst>
  </p:cSld>
  <p:clrMapOvr>
    <a:masterClrMapping/>
  </p:clrMapOvr>
</p:sld>
</file>

<file path=ppt/theme/theme1.xml><?xml version="1.0" encoding="utf-8"?>
<a:theme xmlns:a="http://schemas.openxmlformats.org/drawingml/2006/main" name="FieldCore_2017">
  <a:themeElements>
    <a:clrScheme name="Custom 14">
      <a:dk1>
        <a:srgbClr val="63666A"/>
      </a:dk1>
      <a:lt1>
        <a:srgbClr val="FFFFFF"/>
      </a:lt1>
      <a:dk2>
        <a:srgbClr val="090936"/>
      </a:dk2>
      <a:lt2>
        <a:srgbClr val="FFFFFF"/>
      </a:lt2>
      <a:accent1>
        <a:srgbClr val="FE5000"/>
      </a:accent1>
      <a:accent2>
        <a:srgbClr val="005EB8"/>
      </a:accent2>
      <a:accent3>
        <a:srgbClr val="63666A"/>
      </a:accent3>
      <a:accent4>
        <a:srgbClr val="B1B3B3"/>
      </a:accent4>
      <a:accent5>
        <a:srgbClr val="00B5E2"/>
      </a:accent5>
      <a:accent6>
        <a:srgbClr val="3EAE2A"/>
      </a:accent6>
      <a:hlink>
        <a:srgbClr val="FE5000"/>
      </a:hlink>
      <a:folHlink>
        <a:srgbClr val="090936"/>
      </a:folHlink>
    </a:clrScheme>
    <a:fontScheme name="FieldCore - Gotham">
      <a:majorFont>
        <a:latin typeface="Gotham Light"/>
        <a:ea typeface=""/>
        <a:cs typeface=""/>
      </a:majorFont>
      <a:minorFont>
        <a:latin typeface="Gotham 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66ED2"/>
        </a:solidFill>
      </a:spPr>
      <a:bodyPr wrap="square" rtlCol="0" anchor="ctr">
        <a:noAutofit/>
      </a:bodyPr>
      <a:lstStyle>
        <a:defPPr algn="ctr">
          <a:defRPr dirty="0" smtClean="0">
            <a:solidFill>
              <a:schemeClr val="bg1"/>
            </a:solidFill>
            <a:ea typeface="Arial" charset="0"/>
          </a:defRPr>
        </a:defPPr>
      </a:lstStyle>
    </a:spDef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S18810-01 FC new font template_test1_R1" id="{9AA2E0B5-DA9B-4844-AFA8-7AD242CFC0F9}" vid="{25A4205F-3365-4494-A059-27D7887B49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A2F64D6E2C740A2EFD32F6136F44B" ma:contentTypeVersion="31" ma:contentTypeDescription="Create a new document." ma:contentTypeScope="" ma:versionID="f6d5169442be2795745eeba6edf0f975">
  <xsd:schema xmlns:xsd="http://www.w3.org/2001/XMLSchema" xmlns:xs="http://www.w3.org/2001/XMLSchema" xmlns:p="http://schemas.microsoft.com/office/2006/metadata/properties" xmlns:ns2="25586fb6-ed09-4f2d-8ea7-eda1a9fd2320" xmlns:ns3="cc7fbaa3-8214-4644-99f1-d2e5a6ae9914" xmlns:ns4="f0c7a816-7a7e-42fb-b4dd-eafc20cb049d" targetNamespace="http://schemas.microsoft.com/office/2006/metadata/properties" ma:root="true" ma:fieldsID="1d6046f623722b44c576f527ef753e5d" ns2:_="" ns3:_="" ns4:_="">
    <xsd:import namespace="25586fb6-ed09-4f2d-8ea7-eda1a9fd2320"/>
    <xsd:import namespace="cc7fbaa3-8214-4644-99f1-d2e5a6ae9914"/>
    <xsd:import namespace="f0c7a816-7a7e-42fb-b4dd-eafc20cb049d"/>
    <xsd:element name="properties">
      <xsd:complexType>
        <xsd:sequence>
          <xsd:element name="documentManagement">
            <xsd:complexType>
              <xsd:all>
                <xsd:element ref="ns2:Process_x0020_Owmer"/>
                <xsd:element ref="ns2:Functional_x0020_Owner"/>
                <xsd:element ref="ns3:LastReviewDate" minOccurs="0"/>
                <xsd:element ref="ns2:Nomenclature" minOccurs="0"/>
                <xsd:element ref="ns3:RevisionNumber" minOccurs="0"/>
                <xsd:element ref="ns2:MediaServiceMetadata" minOccurs="0"/>
                <xsd:element ref="ns2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86fb6-ed09-4f2d-8ea7-eda1a9fd2320" elementFormDefault="qualified">
    <xsd:import namespace="http://schemas.microsoft.com/office/2006/documentManagement/types"/>
    <xsd:import namespace="http://schemas.microsoft.com/office/infopath/2007/PartnerControls"/>
    <xsd:element name="Process_x0020_Owmer" ma:index="1" ma:displayName="Have a question? Email the Process Owner" ma:description="Discuss Audit Findings and QWI Updates with the Responsible Person" ma:list="UserInfo" ma:SharePointGroup="0" ma:internalName="Process_x0020_Owmer" ma:readOnly="false" ma:showField="NameWithPictureAndDetail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unctional_x0020_Owner" ma:index="2" ma:displayName="Function" ma:default="Management Processes - Leadership and Commitment" ma:description="Management Processes - Leadership and Commitment" ma:format="Dropdown" ma:internalName="Functional_x0020_Owner" ma:readOnly="false">
      <xsd:simpleType>
        <xsd:restriction base="dms:Text">
          <xsd:maxLength value="255"/>
        </xsd:restriction>
      </xsd:simpleType>
    </xsd:element>
    <xsd:element name="Nomenclature" ma:index="4" nillable="true" ma:displayName="Document Number" ma:format="Dropdown" ma:internalName="Nomenclature" ma:readOnly="false">
      <xsd:simpleType>
        <xsd:restriction base="dms:Text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fbaa3-8214-4644-99f1-d2e5a6ae9914" elementFormDefault="qualified">
    <xsd:import namespace="http://schemas.microsoft.com/office/2006/documentManagement/types"/>
    <xsd:import namespace="http://schemas.microsoft.com/office/infopath/2007/PartnerControls"/>
    <xsd:element name="LastReviewDate" ma:index="3" nillable="true" ma:displayName="Last Review Date" ma:description="The date the procedure was last reviewed or revised" ma:format="DateOnly" ma:internalName="LastReviewDate" ma:readOnly="false">
      <xsd:simpleType>
        <xsd:restriction base="dms:DateTime"/>
      </xsd:simpleType>
    </xsd:element>
    <xsd:element name="RevisionNumber" ma:index="5" nillable="true" ma:displayName="Revision Number" ma:decimals="1" ma:description="The current revision published" ma:format="Dropdown" ma:internalName="RevisionNumber" ma:readOnly="false" ma:percentage="FALSE">
      <xsd:simpleType>
        <xsd:restriction base="dms:Number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hidden="true" ma:internalName="MediaServiceKeyPoint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c7a816-7a7e-42fb-b4dd-eafc20cb049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QMS Lev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astReviewDate xmlns="cc7fbaa3-8214-4644-99f1-d2e5a6ae9914">2026-06-01T04:00:00+00:00</LastReviewDate>
    <RevisionNumber xmlns="cc7fbaa3-8214-4644-99f1-d2e5a6ae9914">1</RevisionNumber>
    <Process_x0020_Owmer xmlns="25586fb6-ed09-4f2d-8ea7-eda1a9fd2320">
      <UserInfo>
        <DisplayName>Cahill, James (GE Vernova)</DisplayName>
        <AccountId>50409</AccountId>
        <AccountType/>
      </UserInfo>
    </Process_x0020_Owmer>
    <Functional_x0020_Owner xmlns="25586fb6-ed09-4f2d-8ea7-eda1a9fd2320">Management Processes - Leadership and Commitment</Functional_x0020_Owner>
    <Nomenclature xmlns="25586fb6-ed09-4f2d-8ea7-eda1a9fd2320" xsi:nil="true"/>
  </documentManagement>
</p:properties>
</file>

<file path=customXml/itemProps1.xml><?xml version="1.0" encoding="utf-8"?>
<ds:datastoreItem xmlns:ds="http://schemas.openxmlformats.org/officeDocument/2006/customXml" ds:itemID="{3C14C23B-BF6E-482E-A61E-400981C9A686}"/>
</file>

<file path=customXml/itemProps2.xml><?xml version="1.0" encoding="utf-8"?>
<ds:datastoreItem xmlns:ds="http://schemas.openxmlformats.org/officeDocument/2006/customXml" ds:itemID="{CBA04C20-9BD3-4A4A-B173-21BD477ADFDB}"/>
</file>

<file path=customXml/itemProps3.xml><?xml version="1.0" encoding="utf-8"?>
<ds:datastoreItem xmlns:ds="http://schemas.openxmlformats.org/officeDocument/2006/customXml" ds:itemID="{5B2D57EA-7B69-4272-A3F0-E6A7998C5949}"/>
</file>

<file path=docMetadata/LabelInfo.xml><?xml version="1.0" encoding="utf-8"?>
<clbl:labelList xmlns:clbl="http://schemas.microsoft.com/office/2020/mipLabelMetadata">
  <clbl:label id="{15ccb6d1-d335-4996-b6f9-7b6925f08121}" enabled="0" method="" siteId="{15ccb6d1-d335-4996-b6f9-7b6925f0812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CS18810-03 FieldCore Template_R3</Template>
  <TotalTime>1073</TotalTime>
  <Words>340</Words>
  <Application>Microsoft Office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Gotham Light</vt:lpstr>
      <vt:lpstr>Gotham Rounded Book</vt:lpstr>
      <vt:lpstr>Sons Condensed Semibold</vt:lpstr>
      <vt:lpstr>Wingdings</vt:lpstr>
      <vt:lpstr>FieldCore_2017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Stout, David (FieldCore)</dc:creator>
  <cp:lastModifiedBy>Kecerin, Filip (GE Vernova)</cp:lastModifiedBy>
  <cp:revision>55</cp:revision>
  <cp:lastPrinted>2018-11-19T17:02:52Z</cp:lastPrinted>
  <dcterms:created xsi:type="dcterms:W3CDTF">2018-11-14T17:47:23Z</dcterms:created>
  <dcterms:modified xsi:type="dcterms:W3CDTF">2026-05-27T06:50:08Z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0x010100AABA2F64D6E2C740A2EFD32F6136F44B</vt:lpwstr>
  </property>
</Properties>
</file>