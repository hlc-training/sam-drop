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0EABF-B6DB-4CB6-B20C-EF89C4AB03B7}" v="1" dt="2026-03-20T10:04:05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1" autoAdjust="0"/>
    <p:restoredTop sz="94712" autoAdjust="0"/>
  </p:normalViewPr>
  <p:slideViewPr>
    <p:cSldViewPr snapToGrid="0">
      <p:cViewPr varScale="1">
        <p:scale>
          <a:sx n="43" d="100"/>
          <a:sy n="43" d="100"/>
        </p:scale>
        <p:origin x="23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12465-B93B-4C89-8962-65869DA8E1F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24088" y="1154113"/>
            <a:ext cx="240982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45000"/>
            <a:ext cx="548640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759FA56-2CE5-02AC-412C-084230FADAF1}"/>
              </a:ext>
            </a:extLst>
          </p:cNvPr>
          <p:cNvSpPr txBox="1">
            <a:spLocks/>
          </p:cNvSpPr>
          <p:nvPr/>
        </p:nvSpPr>
        <p:spPr>
          <a:xfrm>
            <a:off x="143691" y="3356141"/>
            <a:ext cx="7485017" cy="5529943"/>
          </a:xfrm>
          <a:prstGeom prst="rect">
            <a:avLst/>
          </a:prstGeom>
        </p:spPr>
        <p:txBody>
          <a:bodyPr>
            <a:noAutofit/>
          </a:bodyPr>
          <a:lstStyle>
            <a:lvl1pPr marL="99098" indent="-99098" algn="l" defTabSz="582930" rtl="0" eaLnBrk="1" latinLnBrk="0" hangingPunct="1">
              <a:lnSpc>
                <a:spcPct val="90000"/>
              </a:lnSpc>
              <a:spcBef>
                <a:spcPts val="510"/>
              </a:spcBef>
              <a:spcAft>
                <a:spcPts val="191"/>
              </a:spcAft>
              <a:buClrTx/>
              <a:buFont typeface="Arial" panose="020B0604020202020204" pitchFamily="34" charset="0"/>
              <a:buChar char="•"/>
              <a:defRPr sz="1275" b="0" i="0" kern="1200">
                <a:solidFill>
                  <a:schemeClr val="tx1"/>
                </a:solidFill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marL="99098" indent="0" algn="l" defTabSz="58293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148" b="0" i="0" kern="1200">
                <a:solidFill>
                  <a:schemeClr val="tx1"/>
                </a:solidFill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2pPr>
            <a:lvl3pPr marL="99098" indent="-99098" algn="l" defTabSz="582930" rtl="0" eaLnBrk="1" latinLnBrk="0" hangingPunct="1">
              <a:lnSpc>
                <a:spcPct val="90000"/>
              </a:lnSpc>
              <a:spcBef>
                <a:spcPts val="701"/>
              </a:spcBef>
              <a:spcAft>
                <a:spcPts val="191"/>
              </a:spcAft>
              <a:buClrTx/>
              <a:buSzPct val="91000"/>
              <a:buFont typeface="Arial" charset="0"/>
              <a:buChar char="•"/>
              <a:defRPr lang="en-US" sz="1020" b="0" i="0" kern="1200" dirty="0">
                <a:solidFill>
                  <a:schemeClr val="tx1"/>
                </a:solidFill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3pPr>
            <a:lvl4pPr marL="99098" indent="0" algn="l" defTabSz="58293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893" b="0" i="0" kern="1200">
                <a:solidFill>
                  <a:schemeClr val="tx1"/>
                </a:solidFill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4pPr>
            <a:lvl5pPr marL="99098" indent="-99098" algn="l" defTabSz="582930" rtl="0" eaLnBrk="1" latinLnBrk="0" hangingPunct="1">
              <a:lnSpc>
                <a:spcPct val="99000"/>
              </a:lnSpc>
              <a:spcBef>
                <a:spcPts val="574"/>
              </a:spcBef>
              <a:buClr>
                <a:schemeClr val="accent5"/>
              </a:buClr>
              <a:buSzPct val="91000"/>
              <a:buFont typeface="Arial" panose="020B0604020202020204" pitchFamily="34" charset="0"/>
              <a:buChar char="•"/>
              <a:defRPr sz="1148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22415" indent="0" algn="l" defTabSz="582930" rtl="0" eaLnBrk="1" latinLnBrk="0" hangingPunct="1">
              <a:lnSpc>
                <a:spcPct val="99000"/>
              </a:lnSpc>
              <a:spcBef>
                <a:spcPts val="0"/>
              </a:spcBef>
              <a:buSzPct val="91000"/>
              <a:buFontTx/>
              <a:buNone/>
              <a:defRPr sz="1148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582930" rtl="0" eaLnBrk="1" latinLnBrk="0" hangingPunct="1">
              <a:lnSpc>
                <a:spcPct val="99000"/>
              </a:lnSpc>
              <a:spcBef>
                <a:spcPts val="574"/>
              </a:spcBef>
              <a:buSzPct val="91000"/>
              <a:buFontTx/>
              <a:buNone/>
              <a:defRPr sz="1148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582930" rtl="0" eaLnBrk="1" latinLnBrk="0" hangingPunct="1">
              <a:lnSpc>
                <a:spcPct val="99000"/>
              </a:lnSpc>
              <a:spcBef>
                <a:spcPts val="0"/>
              </a:spcBef>
              <a:buSzPct val="91000"/>
              <a:buFontTx/>
              <a:buNone/>
              <a:defRPr sz="1148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582930" rtl="0" eaLnBrk="1" latinLnBrk="0" hangingPunct="1">
              <a:lnSpc>
                <a:spcPct val="99000"/>
              </a:lnSpc>
              <a:spcBef>
                <a:spcPts val="574"/>
              </a:spcBef>
              <a:buSzPct val="91000"/>
              <a:buFontTx/>
              <a:buNone/>
              <a:defRPr sz="1148" i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One Field Services (OFS) mantiene un compromiso inquebrantable de proteger a nuestros empleados, clientes, contratistas y a todas las personas afectadas por nuestras operaciones. La seguridad no es solo una prioridad, es fundamental y un valor fundamental. Actuamos con integridad y responsabilidad para cumplir y superar todos los requisitos reglamentarios, de los clientes y aplicables, estableciendo objetivos claros e indicadores clave de rendimiento cuantificables que nos permiten impulsar mejoras continuas en materia de medio ambiente y seguridad. Nuestro objetivo final es simple e innegociable: no causar ningún daño.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  <a:defRPr sz="11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Nuestro objetivo:</a:t>
            </a:r>
          </a:p>
          <a:p>
            <a:pPr marL="344488" lvl="1" indent="-290513">
              <a:lnSpc>
                <a:spcPct val="120000"/>
              </a:lnSpc>
              <a:spcBef>
                <a:spcPts val="500"/>
              </a:spcBef>
              <a:buClrTx/>
              <a:buFont typeface="Wingdings" panose="05000000000000000000" pitchFamily="2" charset="2"/>
              <a:buChar char="Ø"/>
              <a:defRPr sz="11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 perjudicar a nuestros empleados si: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Establecer </a:t>
            </a: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reglas que salven vidas y que prevengan o mitiguen los </a:t>
            </a:r>
            <a:r>
              <a:rPr lang="es-ES" sz="1000" i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principales riesgos</a:t>
            </a: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en nuestras operaciones diarias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Proporcionar condiciones de trabajo seguras y saludables para la prevención de lesiones y problemas de salud relacionados con el trabajo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Ofrecer formación y educación en materia de EHS proactivas y basadas en funciones, alineadas con los riesgos específicos del trabajo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Identificar, eliminar y reducir los peligros mediante reglas que salvan vidas basadas en los riesgos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Proporcionar a los empleados las herramientas, los recursos y el apoyo adecuados para trabajar de forma segura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Capacitar y alentar a todos los empleados a DEJAR DE TRABAJAR cuando las condiciones no sean seguras, sin dudarlo ni tener consecuencias.</a:t>
            </a:r>
          </a:p>
          <a:p>
            <a:pPr marL="344488" lvl="1" indent="-290513">
              <a:lnSpc>
                <a:spcPct val="100000"/>
              </a:lnSpc>
              <a:spcBef>
                <a:spcPts val="500"/>
              </a:spcBef>
              <a:buClrTx/>
              <a:buFont typeface="Wingdings" panose="05000000000000000000" pitchFamily="2" charset="2"/>
              <a:buChar char="Ø"/>
              <a:defRPr sz="11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 dañar el medio ambiente al: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Prevenir la contaminación en todos los niveles de nuestras operaciones</a:t>
            </a:r>
          </a:p>
          <a:p>
            <a:pPr marL="569913" lvl="2" indent="-22542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Minimizar los impactos ambientales adversos de nuestras instalaciones fijas, servicios y sitios de proyectos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Creemos que un buen desempeño en materia de EHS depende de una comunicación y una colaboración abiertas. Participamos activamente y consultamos con nuestros empleados, clientes, contratistas y partes interesadas, a fin de fomentar la participación en el fortalecimiento de nuestras </a:t>
            </a:r>
            <a:r>
              <a:rPr lang="es-ES" sz="10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reglas que salvan vidas</a:t>
            </a: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y reducir los riesgos de EHS y los impactos ambientales.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  <a:defRPr sz="11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EHS es una responsabilidad compartida de </a:t>
            </a:r>
            <a:r>
              <a:rPr lang="es-ES" sz="10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todas las personas de OFS</a:t>
            </a: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Cada uno de nosotros es responsable de protegernos a nosotros mismos, a nuestros compañeros de trabajo, a nuestros clientes, a los visitantes del sitio, a las comunidades en las que operamos y al medio ambiente. Juntos crearemos una cultura en la que la </a:t>
            </a:r>
            <a:r>
              <a:rPr lang="es-ES" sz="1000" b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seguridad guíe todas las decisiones</a:t>
            </a:r>
            <a:r>
              <a:rPr lang="es-ES" sz="100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y se pueda lograr cero daños.</a:t>
            </a:r>
          </a:p>
          <a:p>
            <a:endParaRPr lang="es-ES" sz="10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3B8FF-7261-EB39-8E18-F685134406FD}"/>
              </a:ext>
            </a:extLst>
          </p:cNvPr>
          <p:cNvSpPr txBox="1"/>
          <p:nvPr/>
        </p:nvSpPr>
        <p:spPr>
          <a:xfrm>
            <a:off x="360680" y="2690143"/>
            <a:ext cx="7157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chemeClr val="bg1"/>
                </a:solidFill>
                <a:latin typeface="Sons Condensed Semibold" panose="02060706060206060203" pitchFamily="18" charset="0"/>
              </a:defRPr>
            </a:pPr>
            <a:r>
              <a:rPr sz="2800" dirty="0"/>
              <a:t>Política de medio ambiente, salud y seguridad de Gas Power One Field Services</a:t>
            </a: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1.0 2026</Nomenclature>
  </documentManagement>
</p:properties>
</file>

<file path=customXml/itemProps1.xml><?xml version="1.0" encoding="utf-8"?>
<ds:datastoreItem xmlns:ds="http://schemas.openxmlformats.org/officeDocument/2006/customXml" ds:itemID="{5E8627A0-4C0F-4A8E-9DB9-10823AFD6E8E}"/>
</file>

<file path=customXml/itemProps2.xml><?xml version="1.0" encoding="utf-8"?>
<ds:datastoreItem xmlns:ds="http://schemas.openxmlformats.org/officeDocument/2006/customXml" ds:itemID="{41D1F1CB-4644-4C07-A942-5AF1F1393CDA}"/>
</file>

<file path=customXml/itemProps3.xml><?xml version="1.0" encoding="utf-8"?>
<ds:datastoreItem xmlns:ds="http://schemas.openxmlformats.org/officeDocument/2006/customXml" ds:itemID="{8076A1B6-65BF-43CF-ADAA-CDD030F561E7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1066</TotalTime>
  <Words>403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Gotham Light</vt:lpstr>
      <vt:lpstr>Gotham Rounded Book</vt:lpstr>
      <vt:lpstr>Wingdings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Cahill, James (GE Vernova)</cp:lastModifiedBy>
  <cp:revision>52</cp:revision>
  <cp:lastPrinted>2018-11-19T17:02:52Z</cp:lastPrinted>
  <dcterms:created xsi:type="dcterms:W3CDTF">2018-11-14T17:47:23Z</dcterms:created>
  <dcterms:modified xsi:type="dcterms:W3CDTF">2026-06-01T10:54:39Z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