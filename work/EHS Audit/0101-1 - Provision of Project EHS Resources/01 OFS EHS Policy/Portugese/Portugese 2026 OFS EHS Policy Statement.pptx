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3"/>
  </p:notesMasterIdLst>
  <p:sldIdLst>
    <p:sldId id="258" r:id="rId2"/>
  </p:sldIdLst>
  <p:sldSz cx="7772400" cy="10058400"/>
  <p:notesSz cx="6858000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5E60"/>
    <a:srgbClr val="696969"/>
    <a:srgbClr val="484848"/>
    <a:srgbClr val="E3E3E3"/>
    <a:srgbClr val="FFFEFC"/>
    <a:srgbClr val="8D89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81" autoAdjust="0"/>
    <p:restoredTop sz="94712" autoAdjust="0"/>
  </p:normalViewPr>
  <p:slideViewPr>
    <p:cSldViewPr snapToGrid="0">
      <p:cViewPr varScale="1">
        <p:scale>
          <a:sx n="43" d="100"/>
          <a:sy n="43" d="100"/>
        </p:scale>
        <p:origin x="2300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10" Type="http://schemas.openxmlformats.org/officeDocument/2006/relationships/customXml" Target="../customXml/item3.xml"/><Relationship Id="rId4" Type="http://schemas.openxmlformats.org/officeDocument/2006/relationships/presProps" Target="presProps.xml"/><Relationship Id="rId9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35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A12465-B93B-4C89-8962-65869DA8E1FC}" type="datetimeFigureOut">
              <a:rPr lang="en-US" smtClean="0"/>
              <a:t>6/1/2026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24088" y="1154113"/>
            <a:ext cx="2409825" cy="31178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45000"/>
            <a:ext cx="5486400" cy="363696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525"/>
            <a:ext cx="2971800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772525"/>
            <a:ext cx="2971800" cy="4635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E36773-3A60-4CD3-B810-B928EA5360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89932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Relationship Id="rId9" Type="http://schemas.openxmlformats.org/officeDocument/2006/relationships/image" Target="../media/image8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9C41A86-5D21-4E83-800F-748C950C4662}"/>
              </a:ext>
            </a:extLst>
          </p:cNvPr>
          <p:cNvSpPr/>
          <p:nvPr userDrawn="1"/>
        </p:nvSpPr>
        <p:spPr>
          <a:xfrm>
            <a:off x="193040" y="3344544"/>
            <a:ext cx="7386320" cy="5615186"/>
          </a:xfrm>
          <a:prstGeom prst="rect">
            <a:avLst/>
          </a:prstGeom>
          <a:solidFill>
            <a:srgbClr val="E3E3E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C98C045-E9A4-457B-B00C-0C279905ADE3}"/>
              </a:ext>
            </a:extLst>
          </p:cNvPr>
          <p:cNvSpPr/>
          <p:nvPr userDrawn="1"/>
        </p:nvSpPr>
        <p:spPr>
          <a:xfrm>
            <a:off x="193040" y="2733040"/>
            <a:ext cx="7386320" cy="594360"/>
          </a:xfrm>
          <a:prstGeom prst="rect">
            <a:avLst/>
          </a:prstGeom>
          <a:solidFill>
            <a:srgbClr val="69696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245694-D800-4336-B687-EB2E002A4E76}"/>
              </a:ext>
            </a:extLst>
          </p:cNvPr>
          <p:cNvSpPr txBox="1"/>
          <p:nvPr userDrawn="1"/>
        </p:nvSpPr>
        <p:spPr>
          <a:xfrm>
            <a:off x="804259" y="9490383"/>
            <a:ext cx="15970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kern="1200" dirty="0">
                <a:solidFill>
                  <a:srgbClr val="8D8988"/>
                </a:solidFill>
                <a:effectLst/>
                <a:latin typeface="Gotham Rounded Book" pitchFamily="50" charset="0"/>
                <a:ea typeface="+mn-ea"/>
                <a:cs typeface="+mn-cs"/>
              </a:rPr>
              <a:t>Jim Vono </a:t>
            </a:r>
          </a:p>
          <a:p>
            <a:r>
              <a:rPr lang="en-US" sz="1000" kern="1200" dirty="0">
                <a:solidFill>
                  <a:srgbClr val="8D8988"/>
                </a:solidFill>
                <a:effectLst/>
                <a:latin typeface="Gotham Rounded Book" pitchFamily="50" charset="0"/>
                <a:ea typeface="+mn-ea"/>
                <a:cs typeface="+mn-cs"/>
              </a:rPr>
              <a:t>One Field Services Leader</a:t>
            </a:r>
            <a:endParaRPr lang="en-US" sz="1000" dirty="0">
              <a:solidFill>
                <a:srgbClr val="8D8988"/>
              </a:solidFill>
              <a:latin typeface="Gotham Rounded Book" pitchFamily="50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B5DAB11-D89E-4579-A97D-FEA73BC6CC15}"/>
              </a:ext>
            </a:extLst>
          </p:cNvPr>
          <p:cNvSpPr txBox="1"/>
          <p:nvPr userDrawn="1"/>
        </p:nvSpPr>
        <p:spPr>
          <a:xfrm>
            <a:off x="2700942" y="9490383"/>
            <a:ext cx="256301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kern="1200" dirty="0">
                <a:solidFill>
                  <a:srgbClr val="8D8988"/>
                </a:solidFill>
                <a:effectLst/>
                <a:latin typeface="Gotham Rounded Book" pitchFamily="50" charset="0"/>
                <a:ea typeface="+mn-ea"/>
                <a:cs typeface="+mn-cs"/>
              </a:rPr>
              <a:t>Jeff Gifford </a:t>
            </a:r>
          </a:p>
          <a:p>
            <a:r>
              <a:rPr lang="en-US" sz="1000" kern="1200" dirty="0">
                <a:solidFill>
                  <a:srgbClr val="8D8988"/>
                </a:solidFill>
                <a:effectLst/>
                <a:latin typeface="Gotham Rounded Book" pitchFamily="50" charset="0"/>
                <a:ea typeface="+mn-ea"/>
                <a:cs typeface="+mn-cs"/>
              </a:rPr>
              <a:t>EHS Leader</a:t>
            </a:r>
            <a:endParaRPr lang="en-US" sz="1000" dirty="0">
              <a:solidFill>
                <a:srgbClr val="8D8988"/>
              </a:solidFill>
              <a:latin typeface="Gotham Rounded Book" pitchFamily="50" charset="0"/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7BA8D22-8CE3-4517-B48D-E8F158A8004E}"/>
              </a:ext>
            </a:extLst>
          </p:cNvPr>
          <p:cNvCxnSpPr/>
          <p:nvPr userDrawn="1"/>
        </p:nvCxnSpPr>
        <p:spPr>
          <a:xfrm>
            <a:off x="4808220" y="9013542"/>
            <a:ext cx="0" cy="837317"/>
          </a:xfrm>
          <a:prstGeom prst="line">
            <a:avLst/>
          </a:prstGeom>
          <a:ln w="15875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C9D2BD6C-23CD-86C1-F7F1-6439335B51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184"/>
          <a:stretch/>
        </p:blipFill>
        <p:spPr>
          <a:xfrm>
            <a:off x="4965067" y="9053508"/>
            <a:ext cx="2471238" cy="685056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61F57D87-A53A-9A66-3E99-9191689692E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1095" y="9118217"/>
            <a:ext cx="1487468" cy="511436"/>
          </a:xfrm>
          <a:prstGeom prst="rect">
            <a:avLst/>
          </a:prstGeom>
        </p:spPr>
      </p:pic>
      <p:pic>
        <p:nvPicPr>
          <p:cNvPr id="16" name="Graphic 15">
            <a:extLst>
              <a:ext uri="{FF2B5EF4-FFF2-40B4-BE49-F238E27FC236}">
                <a16:creationId xmlns:a16="http://schemas.microsoft.com/office/drawing/2014/main" id="{2C9FA114-0DFF-E4EC-8F9B-E248BDC7D9B9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614742" y="9116983"/>
            <a:ext cx="1490472" cy="3277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3C46678-2886-29F0-F905-A3D7AC56E20B}"/>
              </a:ext>
            </a:extLst>
          </p:cNvPr>
          <p:cNvSpPr txBox="1"/>
          <p:nvPr userDrawn="1"/>
        </p:nvSpPr>
        <p:spPr>
          <a:xfrm>
            <a:off x="5979160" y="9677400"/>
            <a:ext cx="16002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solidFill>
                  <a:srgbClr val="8D8988"/>
                </a:solidFill>
                <a:latin typeface="Gotham Rounded Book" pitchFamily="50" charset="0"/>
              </a:rPr>
              <a:t> January 2026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4C88E628-1831-3141-773D-9A07A11E5021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895"/>
          <a:stretch/>
        </p:blipFill>
        <p:spPr>
          <a:xfrm>
            <a:off x="0" y="0"/>
            <a:ext cx="7772400" cy="2699861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255E72C8-6A29-C2CD-F104-C064BF288D5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2822686" y="142433"/>
            <a:ext cx="2127028" cy="2127028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ECC4E44-2707-9ED3-8A3D-828F5679B1D6}"/>
              </a:ext>
            </a:extLst>
          </p:cNvPr>
          <p:cNvSpPr/>
          <p:nvPr userDrawn="1"/>
        </p:nvSpPr>
        <p:spPr>
          <a:xfrm>
            <a:off x="0" y="0"/>
            <a:ext cx="7772400" cy="2687388"/>
          </a:xfrm>
          <a:prstGeom prst="rect">
            <a:avLst/>
          </a:prstGeom>
          <a:solidFill>
            <a:srgbClr val="005E60">
              <a:alpha val="40000"/>
            </a:srgbClr>
          </a:solidFill>
        </p:spPr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bg1"/>
              </a:solidFill>
              <a:ea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88755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68" userDrawn="1">
          <p15:clr>
            <a:srgbClr val="FBAE40"/>
          </p15:clr>
        </p15:guide>
        <p15:guide id="2" pos="2448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8657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</p:sldLayoutIdLst>
  <p:transition spd="slow">
    <p:push dir="u"/>
  </p:transition>
  <p:txStyles>
    <p:titleStyle>
      <a:lvl1pPr algn="l" defTabSz="582930" rtl="0" eaLnBrk="1" latinLnBrk="0" hangingPunct="1">
        <a:lnSpc>
          <a:spcPct val="100000"/>
        </a:lnSpc>
        <a:spcBef>
          <a:spcPct val="0"/>
        </a:spcBef>
        <a:buNone/>
        <a:defRPr sz="2040" kern="1200" spc="0">
          <a:solidFill>
            <a:schemeClr val="tx2"/>
          </a:solidFill>
          <a:latin typeface="Gotham Light" pitchFamily="50" charset="0"/>
          <a:ea typeface="Gotham Light" pitchFamily="50" charset="0"/>
          <a:cs typeface="Gotham Light" pitchFamily="50" charset="0"/>
        </a:defRPr>
      </a:lvl1pPr>
    </p:titleStyle>
    <p:bodyStyle>
      <a:lvl1pPr marL="99098" indent="-99098" algn="l" defTabSz="582930" rtl="0" eaLnBrk="1" latinLnBrk="0" hangingPunct="1">
        <a:lnSpc>
          <a:spcPct val="90000"/>
        </a:lnSpc>
        <a:spcBef>
          <a:spcPts val="510"/>
        </a:spcBef>
        <a:spcAft>
          <a:spcPts val="191"/>
        </a:spcAft>
        <a:buClrTx/>
        <a:buFont typeface="Arial" panose="020B0604020202020204" pitchFamily="34" charset="0"/>
        <a:buChar char="•"/>
        <a:defRPr sz="1275" b="0" i="0" kern="1200">
          <a:solidFill>
            <a:schemeClr val="tx1"/>
          </a:solidFill>
          <a:latin typeface="Gotham Light" pitchFamily="50" charset="0"/>
          <a:ea typeface="Gotham Light" pitchFamily="50" charset="0"/>
          <a:cs typeface="Gotham Light" pitchFamily="50" charset="0"/>
        </a:defRPr>
      </a:lvl1pPr>
      <a:lvl2pPr marL="99098" indent="0" algn="l" defTabSz="582930" rtl="0" eaLnBrk="1" latinLnBrk="0" hangingPunct="1">
        <a:lnSpc>
          <a:spcPct val="90000"/>
        </a:lnSpc>
        <a:spcBef>
          <a:spcPts val="0"/>
        </a:spcBef>
        <a:buClr>
          <a:schemeClr val="accent1"/>
        </a:buClr>
        <a:buFontTx/>
        <a:buNone/>
        <a:defRPr sz="1148" b="0" i="0" kern="1200">
          <a:solidFill>
            <a:schemeClr val="tx1"/>
          </a:solidFill>
          <a:latin typeface="Gotham Light" pitchFamily="50" charset="0"/>
          <a:ea typeface="Gotham Light" pitchFamily="50" charset="0"/>
          <a:cs typeface="Gotham Light" pitchFamily="50" charset="0"/>
        </a:defRPr>
      </a:lvl2pPr>
      <a:lvl3pPr marL="99098" indent="-99098" algn="l" defTabSz="582930" rtl="0" eaLnBrk="1" latinLnBrk="0" hangingPunct="1">
        <a:lnSpc>
          <a:spcPct val="90000"/>
        </a:lnSpc>
        <a:spcBef>
          <a:spcPts val="701"/>
        </a:spcBef>
        <a:spcAft>
          <a:spcPts val="191"/>
        </a:spcAft>
        <a:buClrTx/>
        <a:buSzPct val="91000"/>
        <a:buFont typeface="Arial" charset="0"/>
        <a:buChar char="•"/>
        <a:defRPr lang="en-US" sz="1020" b="0" i="0" kern="1200" dirty="0">
          <a:solidFill>
            <a:schemeClr val="tx1"/>
          </a:solidFill>
          <a:latin typeface="Gotham Light" pitchFamily="50" charset="0"/>
          <a:ea typeface="Gotham Light" pitchFamily="50" charset="0"/>
          <a:cs typeface="Gotham Light" pitchFamily="50" charset="0"/>
        </a:defRPr>
      </a:lvl3pPr>
      <a:lvl4pPr marL="99098" indent="0" algn="l" defTabSz="582930" rtl="0" eaLnBrk="1" latinLnBrk="0" hangingPunct="1">
        <a:lnSpc>
          <a:spcPct val="90000"/>
        </a:lnSpc>
        <a:spcBef>
          <a:spcPts val="0"/>
        </a:spcBef>
        <a:buClr>
          <a:schemeClr val="accent1"/>
        </a:buClr>
        <a:buFontTx/>
        <a:buNone/>
        <a:defRPr sz="893" b="0" i="0" kern="1200">
          <a:solidFill>
            <a:schemeClr val="tx1"/>
          </a:solidFill>
          <a:latin typeface="Gotham Light" pitchFamily="50" charset="0"/>
          <a:ea typeface="Gotham Light" pitchFamily="50" charset="0"/>
          <a:cs typeface="Gotham Light" pitchFamily="50" charset="0"/>
        </a:defRPr>
      </a:lvl4pPr>
      <a:lvl5pPr marL="99098" indent="-99098" algn="l" defTabSz="582930" rtl="0" eaLnBrk="1" latinLnBrk="0" hangingPunct="1">
        <a:lnSpc>
          <a:spcPct val="99000"/>
        </a:lnSpc>
        <a:spcBef>
          <a:spcPts val="574"/>
        </a:spcBef>
        <a:buClr>
          <a:schemeClr val="accent5"/>
        </a:buClr>
        <a:buSzPct val="91000"/>
        <a:buFont typeface="Arial" panose="020B0604020202020204" pitchFamily="34" charset="0"/>
        <a:buChar char="•"/>
        <a:defRPr sz="1148" kern="1200">
          <a:solidFill>
            <a:schemeClr val="accent2"/>
          </a:solidFill>
          <a:latin typeface="+mn-lt"/>
          <a:ea typeface="+mn-ea"/>
          <a:cs typeface="+mn-cs"/>
        </a:defRPr>
      </a:lvl5pPr>
      <a:lvl6pPr marL="122415" indent="0" algn="l" defTabSz="582930" rtl="0" eaLnBrk="1" latinLnBrk="0" hangingPunct="1">
        <a:lnSpc>
          <a:spcPct val="99000"/>
        </a:lnSpc>
        <a:spcBef>
          <a:spcPts val="0"/>
        </a:spcBef>
        <a:buSzPct val="91000"/>
        <a:buFontTx/>
        <a:buNone/>
        <a:defRPr sz="1148" kern="1200">
          <a:solidFill>
            <a:schemeClr val="accent2"/>
          </a:solidFill>
          <a:latin typeface="+mn-lt"/>
          <a:ea typeface="+mn-ea"/>
          <a:cs typeface="+mn-cs"/>
        </a:defRPr>
      </a:lvl6pPr>
      <a:lvl7pPr marL="0" indent="0" algn="l" defTabSz="582930" rtl="0" eaLnBrk="1" latinLnBrk="0" hangingPunct="1">
        <a:lnSpc>
          <a:spcPct val="99000"/>
        </a:lnSpc>
        <a:spcBef>
          <a:spcPts val="574"/>
        </a:spcBef>
        <a:buSzPct val="91000"/>
        <a:buFontTx/>
        <a:buNone/>
        <a:defRPr sz="1148" b="1" kern="1200">
          <a:solidFill>
            <a:schemeClr val="accent2"/>
          </a:solidFill>
          <a:latin typeface="+mn-lt"/>
          <a:ea typeface="+mn-ea"/>
          <a:cs typeface="+mn-cs"/>
        </a:defRPr>
      </a:lvl7pPr>
      <a:lvl8pPr marL="0" indent="0" algn="l" defTabSz="582930" rtl="0" eaLnBrk="1" latinLnBrk="0" hangingPunct="1">
        <a:lnSpc>
          <a:spcPct val="99000"/>
        </a:lnSpc>
        <a:spcBef>
          <a:spcPts val="0"/>
        </a:spcBef>
        <a:buSzPct val="91000"/>
        <a:buFontTx/>
        <a:buNone/>
        <a:defRPr sz="1148" kern="1200">
          <a:solidFill>
            <a:schemeClr val="accent2"/>
          </a:solidFill>
          <a:latin typeface="+mn-lt"/>
          <a:ea typeface="+mn-ea"/>
          <a:cs typeface="+mn-cs"/>
        </a:defRPr>
      </a:lvl8pPr>
      <a:lvl9pPr marL="0" indent="0" algn="l" defTabSz="582930" rtl="0" eaLnBrk="1" latinLnBrk="0" hangingPunct="1">
        <a:lnSpc>
          <a:spcPct val="99000"/>
        </a:lnSpc>
        <a:spcBef>
          <a:spcPts val="574"/>
        </a:spcBef>
        <a:buSzPct val="91000"/>
        <a:buFontTx/>
        <a:buNone/>
        <a:defRPr sz="1148" i="1" kern="1200">
          <a:solidFill>
            <a:schemeClr val="accent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82930" rtl="0" eaLnBrk="1" latinLnBrk="0" hangingPunct="1">
        <a:lnSpc>
          <a:spcPct val="99000"/>
        </a:lnSpc>
        <a:defRPr sz="893" kern="1200">
          <a:solidFill>
            <a:schemeClr val="accent2"/>
          </a:solidFill>
          <a:latin typeface="+mn-lt"/>
          <a:ea typeface="+mn-ea"/>
          <a:cs typeface="+mn-cs"/>
        </a:defRPr>
      </a:lvl1pPr>
      <a:lvl2pPr marL="0" algn="l" defTabSz="582930" rtl="0" eaLnBrk="1" latinLnBrk="0" hangingPunct="1">
        <a:lnSpc>
          <a:spcPct val="99000"/>
        </a:lnSpc>
        <a:spcBef>
          <a:spcPts val="574"/>
        </a:spcBef>
        <a:defRPr sz="893" b="1" kern="1200">
          <a:solidFill>
            <a:schemeClr val="accent2"/>
          </a:solidFill>
          <a:latin typeface="+mn-lt"/>
          <a:ea typeface="+mn-ea"/>
          <a:cs typeface="+mn-cs"/>
        </a:defRPr>
      </a:lvl2pPr>
      <a:lvl3pPr marL="99098" indent="-99098" algn="l" defTabSz="582930" rtl="0" eaLnBrk="1" latinLnBrk="0" hangingPunct="1">
        <a:lnSpc>
          <a:spcPct val="99000"/>
        </a:lnSpc>
        <a:buSzPct val="91000"/>
        <a:buFont typeface="Arial" panose="020B0604020202020204" pitchFamily="34" charset="0"/>
        <a:buChar char="•"/>
        <a:defRPr sz="893" kern="1200">
          <a:solidFill>
            <a:schemeClr val="accent2"/>
          </a:solidFill>
          <a:latin typeface="+mn-lt"/>
          <a:ea typeface="+mn-ea"/>
          <a:cs typeface="+mn-cs"/>
        </a:defRPr>
      </a:lvl3pPr>
      <a:lvl4pPr marL="99098" indent="-99098" algn="l" defTabSz="582930" rtl="0" eaLnBrk="1" latinLnBrk="0" hangingPunct="1">
        <a:lnSpc>
          <a:spcPct val="99000"/>
        </a:lnSpc>
        <a:spcBef>
          <a:spcPts val="574"/>
        </a:spcBef>
        <a:buSzPct val="91000"/>
        <a:buFont typeface="Arial" panose="020B0604020202020204" pitchFamily="34" charset="0"/>
        <a:buChar char="•"/>
        <a:defRPr sz="893" b="1" kern="1200">
          <a:solidFill>
            <a:schemeClr val="accent2"/>
          </a:solidFill>
          <a:latin typeface="+mn-lt"/>
          <a:ea typeface="+mn-ea"/>
          <a:cs typeface="+mn-cs"/>
        </a:defRPr>
      </a:lvl4pPr>
      <a:lvl5pPr marL="99098" algn="l" defTabSz="582930" rtl="0" eaLnBrk="1" latinLnBrk="0" hangingPunct="1">
        <a:lnSpc>
          <a:spcPct val="99000"/>
        </a:lnSpc>
        <a:defRPr sz="893" kern="1200">
          <a:solidFill>
            <a:schemeClr val="accent2"/>
          </a:solidFill>
          <a:latin typeface="+mn-lt"/>
          <a:ea typeface="+mn-ea"/>
          <a:cs typeface="+mn-cs"/>
        </a:defRPr>
      </a:lvl5pPr>
      <a:lvl6pPr marL="0" algn="l" defTabSz="582930" rtl="0" eaLnBrk="1" latinLnBrk="0" hangingPunct="1">
        <a:lnSpc>
          <a:spcPct val="99000"/>
        </a:lnSpc>
        <a:defRPr sz="893" kern="1200">
          <a:solidFill>
            <a:schemeClr val="accent2"/>
          </a:solidFill>
          <a:latin typeface="+mn-lt"/>
          <a:ea typeface="+mn-ea"/>
          <a:cs typeface="+mn-cs"/>
        </a:defRPr>
      </a:lvl6pPr>
      <a:lvl7pPr marL="0" algn="l" defTabSz="582930" rtl="0" eaLnBrk="1" latinLnBrk="0" hangingPunct="1">
        <a:lnSpc>
          <a:spcPct val="99000"/>
        </a:lnSpc>
        <a:defRPr sz="893" kern="1200">
          <a:solidFill>
            <a:schemeClr val="accent2"/>
          </a:solidFill>
          <a:latin typeface="+mn-lt"/>
          <a:ea typeface="+mn-ea"/>
          <a:cs typeface="+mn-cs"/>
        </a:defRPr>
      </a:lvl7pPr>
      <a:lvl8pPr marL="0" algn="l" defTabSz="582930" rtl="0" eaLnBrk="1" latinLnBrk="0" hangingPunct="1">
        <a:lnSpc>
          <a:spcPct val="99000"/>
        </a:lnSpc>
        <a:defRPr sz="893" kern="1200">
          <a:solidFill>
            <a:schemeClr val="accent2"/>
          </a:solidFill>
          <a:latin typeface="+mn-lt"/>
          <a:ea typeface="+mn-ea"/>
          <a:cs typeface="+mn-cs"/>
        </a:defRPr>
      </a:lvl8pPr>
      <a:lvl9pPr marL="0" algn="l" defTabSz="582930" rtl="0" eaLnBrk="1" latinLnBrk="0" hangingPunct="1">
        <a:lnSpc>
          <a:spcPct val="99000"/>
        </a:lnSpc>
        <a:defRPr sz="893" kern="1200">
          <a:solidFill>
            <a:schemeClr val="accent2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2F3B8FF-7261-EB39-8E18-F685134406FD}"/>
              </a:ext>
            </a:extLst>
          </p:cNvPr>
          <p:cNvSpPr txBox="1"/>
          <p:nvPr/>
        </p:nvSpPr>
        <p:spPr>
          <a:xfrm>
            <a:off x="360680" y="2690143"/>
            <a:ext cx="71577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>
                <a:solidFill>
                  <a:schemeClr val="bg1"/>
                </a:solidFill>
                <a:latin typeface="Sons Condensed Semibold" panose="02060706060206060203" pitchFamily="18" charset="0"/>
              </a:defRPr>
            </a:pPr>
            <a:r>
              <a:rPr sz="2800" dirty="0"/>
              <a:t>Pol</a:t>
            </a:r>
            <a:r>
              <a:rPr lang="en-US" sz="2800" dirty="0"/>
              <a:t>i</a:t>
            </a:r>
            <a:r>
              <a:rPr sz="2800" dirty="0"/>
              <a:t>tica de </a:t>
            </a:r>
            <a:r>
              <a:rPr lang="en-US" sz="2800" dirty="0"/>
              <a:t>M</a:t>
            </a:r>
            <a:r>
              <a:rPr sz="2800" dirty="0"/>
              <a:t>eio </a:t>
            </a:r>
            <a:r>
              <a:rPr lang="en-US" sz="2800" dirty="0" err="1"/>
              <a:t>A</a:t>
            </a:r>
            <a:r>
              <a:rPr sz="2800" dirty="0" err="1"/>
              <a:t>mbiente</a:t>
            </a:r>
            <a:r>
              <a:rPr sz="2800" dirty="0"/>
              <a:t>, </a:t>
            </a:r>
            <a:r>
              <a:rPr lang="en-US" sz="2800" dirty="0" err="1"/>
              <a:t>Saú</a:t>
            </a:r>
            <a:r>
              <a:rPr sz="2800" dirty="0" err="1"/>
              <a:t>d</a:t>
            </a:r>
            <a:r>
              <a:rPr lang="en-US" sz="2800" dirty="0" err="1"/>
              <a:t>e</a:t>
            </a:r>
            <a:r>
              <a:rPr lang="en-US" sz="2800" dirty="0"/>
              <a:t> e</a:t>
            </a:r>
            <a:r>
              <a:rPr sz="2800" dirty="0"/>
              <a:t> </a:t>
            </a:r>
            <a:r>
              <a:rPr lang="en-US" sz="2800" dirty="0" err="1"/>
              <a:t>S</a:t>
            </a:r>
            <a:r>
              <a:rPr sz="2800" dirty="0" err="1"/>
              <a:t>egura</a:t>
            </a:r>
            <a:r>
              <a:rPr lang="en-US" sz="2800" dirty="0" err="1"/>
              <a:t>nca</a:t>
            </a:r>
            <a:r>
              <a:rPr sz="2800" dirty="0"/>
              <a:t> d</a:t>
            </a:r>
            <a:r>
              <a:rPr lang="en-US" sz="2800" dirty="0"/>
              <a:t>a</a:t>
            </a:r>
            <a:r>
              <a:rPr sz="2800" dirty="0"/>
              <a:t> Gas Power One Field Services</a:t>
            </a:r>
          </a:p>
        </p:txBody>
      </p:sp>
      <p:sp>
        <p:nvSpPr>
          <p:cNvPr id="6" name="Subtítulo 2">
            <a:extLst>
              <a:ext uri="{FF2B5EF4-FFF2-40B4-BE49-F238E27FC236}">
                <a16:creationId xmlns:a16="http://schemas.microsoft.com/office/drawing/2014/main" id="{990CB834-096B-471A-825F-74C4B7E6E08D}"/>
              </a:ext>
            </a:extLst>
          </p:cNvPr>
          <p:cNvSpPr>
            <a:spLocks noGrp="1"/>
          </p:cNvSpPr>
          <p:nvPr/>
        </p:nvSpPr>
        <p:spPr>
          <a:xfrm>
            <a:off x="131716" y="3338376"/>
            <a:ext cx="7386683" cy="550517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marL="0" marR="0" algn="just">
              <a:lnSpc>
                <a:spcPct val="120000"/>
              </a:lnSpc>
              <a:spcBef>
                <a:spcPts val="510"/>
              </a:spcBef>
              <a:spcAft>
                <a:spcPts val="190"/>
              </a:spcAft>
              <a:buNone/>
            </a:pP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A One Field Services (OFS) é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inabalável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 em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nosso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compromisso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 de proteger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nossos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funcionários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, clientes, prestadores de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serviços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 e todos os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afetados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 por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nossas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operações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. A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segurança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não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 é apenas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uma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prioridade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 — é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um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 valor fundamental.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Agimos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com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integridade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 e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responsabilidade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 para atender e superar todos os requisitos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aplicáveis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 de clientes e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regulatórios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,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estabelecendo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 objetivos claros e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KPIs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mensuráveis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 que nos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permitem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impulsionar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melhorias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contínuas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 de EHS.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Nosso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 objetivo final é simples e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inegociável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: </a:t>
            </a:r>
            <a:r>
              <a:rPr lang="es-ES" sz="1000" dirty="0" err="1">
                <a:solidFill>
                  <a:srgbClr val="000000"/>
                </a:solidFill>
                <a:latin typeface="Arial" panose="020B0604020202020204" pitchFamily="34" charset="0"/>
                <a:ea typeface="Inter" panose="020B0502030000000004" pitchFamily="34" charset="0"/>
              </a:rPr>
              <a:t>zero</a:t>
            </a:r>
            <a:r>
              <a:rPr lang="es-ES" sz="1000" dirty="0">
                <a:solidFill>
                  <a:srgbClr val="000000"/>
                </a:solidFill>
                <a:latin typeface="Arial" panose="020B0604020202020204" pitchFamily="34" charset="0"/>
                <a:ea typeface="Inter" panose="020B0502030000000004" pitchFamily="34" charset="0"/>
              </a:rPr>
              <a:t> 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danos.</a:t>
            </a:r>
            <a:endParaRPr lang="en-US" sz="1100" kern="1200" dirty="0">
              <a:solidFill>
                <a:srgbClr val="000000"/>
              </a:solidFill>
              <a:effectLst/>
              <a:latin typeface="Arial" panose="020B0604020202020204" pitchFamily="34" charset="0"/>
              <a:ea typeface="Inter" panose="020B0502030000000004" pitchFamily="34" charset="0"/>
            </a:endParaRPr>
          </a:p>
          <a:p>
            <a:pPr marL="0" marR="0" algn="just">
              <a:lnSpc>
                <a:spcPct val="120000"/>
              </a:lnSpc>
              <a:spcBef>
                <a:spcPts val="510"/>
              </a:spcBef>
              <a:spcAft>
                <a:spcPts val="190"/>
              </a:spcAft>
              <a:buNone/>
            </a:pPr>
            <a:r>
              <a:rPr lang="en-US" sz="1000" b="1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Nosso</a:t>
            </a:r>
            <a:r>
              <a:rPr lang="en-US" sz="1000" b="1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 objetivo:</a:t>
            </a:r>
            <a:endParaRPr lang="en-US" sz="1100" b="1" kern="1200" dirty="0">
              <a:solidFill>
                <a:srgbClr val="000000"/>
              </a:solidFill>
              <a:effectLst/>
              <a:latin typeface="Arial" panose="020B0604020202020204" pitchFamily="34" charset="0"/>
              <a:ea typeface="Inter" panose="020B0502030000000004" pitchFamily="34" charset="0"/>
            </a:endParaRPr>
          </a:p>
          <a:p>
            <a:pPr marL="0" marR="0" algn="just">
              <a:lnSpc>
                <a:spcPct val="120000"/>
              </a:lnSpc>
              <a:spcAft>
                <a:spcPts val="800"/>
              </a:spcAft>
              <a:buNone/>
            </a:pPr>
            <a:r>
              <a:rPr lang="es-ES" sz="1000" b="1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Nenhum </a:t>
            </a:r>
            <a:r>
              <a:rPr lang="es-ES" sz="1000" b="1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dano</a:t>
            </a:r>
            <a:r>
              <a:rPr lang="es-ES" sz="1000" b="1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 </a:t>
            </a:r>
            <a:r>
              <a:rPr lang="es-ES" sz="1000" b="1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aos</a:t>
            </a:r>
            <a:r>
              <a:rPr lang="es-ES" sz="1000" b="1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 </a:t>
            </a:r>
            <a:r>
              <a:rPr lang="es-ES" sz="1000" b="1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nossos</a:t>
            </a:r>
            <a:r>
              <a:rPr lang="es-ES" sz="1000" b="1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 </a:t>
            </a:r>
            <a:r>
              <a:rPr lang="es-ES" sz="1000" b="1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funcionários</a:t>
            </a:r>
            <a:r>
              <a:rPr lang="es-ES" sz="1000" b="1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:</a:t>
            </a:r>
            <a:endParaRPr lang="en-US" sz="1100" b="1" kern="1200" dirty="0">
              <a:solidFill>
                <a:srgbClr val="000000"/>
              </a:solidFill>
              <a:effectLst/>
              <a:latin typeface="Arial" panose="020B0604020202020204" pitchFamily="34" charset="0"/>
              <a:ea typeface="Inter" panose="020B0502030000000004" pitchFamily="34" charset="0"/>
            </a:endParaRPr>
          </a:p>
          <a:p>
            <a:pPr marL="457200" marR="0" lvl="2" indent="-222250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Estabelecendo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s-ES" sz="1000" dirty="0" err="1">
                <a:solidFill>
                  <a:srgbClr val="000000"/>
                </a:solidFill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egras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que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Salvam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s-ES" sz="1000" dirty="0">
                <a:solidFill>
                  <a:srgbClr val="000000"/>
                </a:solidFill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V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idas que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previnam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ou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mitiguem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os </a:t>
            </a:r>
            <a:r>
              <a:rPr lang="es-ES" sz="1000" i="1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riscos </a:t>
            </a:r>
            <a:r>
              <a:rPr lang="es-ES" sz="1000" i="1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primários</a:t>
            </a:r>
            <a:r>
              <a:rPr lang="es-ES" sz="1000" i="1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em </a:t>
            </a:r>
            <a:r>
              <a:rPr lang="es-ES" sz="1000" i="1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nossas</a:t>
            </a:r>
            <a:r>
              <a:rPr lang="es-ES" sz="1000" i="1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s-ES" sz="1000" i="1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operações</a:t>
            </a:r>
            <a:r>
              <a:rPr lang="es-ES" sz="1000" i="1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lang="es-ES" sz="1000" i="1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diárias</a:t>
            </a:r>
            <a:endParaRPr lang="en-US" sz="1100" kern="1200" dirty="0">
              <a:solidFill>
                <a:srgbClr val="000000"/>
              </a:solidFill>
              <a:effectLst/>
              <a:latin typeface="Arial" panose="020B06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57200" marR="0" lvl="2" indent="-222250" algn="just">
              <a:lnSpc>
                <a:spcPct val="115000"/>
              </a:lnSpc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Proporcionando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condições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 de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trabalho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 seguras e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saudáveis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 para a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prevenção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 de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lesões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 e problemas de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saúde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 relacionados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ao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trabalho</a:t>
            </a:r>
            <a:endParaRPr lang="en-US" sz="1100" kern="1200" dirty="0">
              <a:solidFill>
                <a:srgbClr val="000000"/>
              </a:solidFill>
              <a:effectLst/>
              <a:latin typeface="Arial" panose="020B0604020202020204" pitchFamily="34" charset="0"/>
              <a:ea typeface="Inter" panose="020B0502030000000004" pitchFamily="34" charset="0"/>
              <a:cs typeface="Times New Roman" panose="02020603050405020304" pitchFamily="18" charset="0"/>
            </a:endParaRPr>
          </a:p>
          <a:p>
            <a:pPr marL="457200" marR="0" lvl="2" indent="-222250" algn="just">
              <a:lnSpc>
                <a:spcPct val="115000"/>
              </a:lnSpc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Oferece</a:t>
            </a:r>
            <a:r>
              <a:rPr lang="es-ES" sz="1000" dirty="0" err="1">
                <a:solidFill>
                  <a:srgbClr val="000000"/>
                </a:solidFill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ndo</a:t>
            </a:r>
            <a:r>
              <a:rPr lang="es-ES" sz="1000" dirty="0">
                <a:solidFill>
                  <a:srgbClr val="000000"/>
                </a:solidFill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 </a:t>
            </a:r>
            <a:r>
              <a:rPr lang="es-ES" sz="1000" dirty="0" err="1">
                <a:solidFill>
                  <a:srgbClr val="000000"/>
                </a:solidFill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educação</a:t>
            </a:r>
            <a:r>
              <a:rPr lang="es-ES" sz="1000" dirty="0">
                <a:solidFill>
                  <a:srgbClr val="000000"/>
                </a:solidFill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 e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treinamento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 em EHS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baseados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 em cada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função</a:t>
            </a:r>
            <a:r>
              <a:rPr lang="es-ES" sz="1000" dirty="0">
                <a:solidFill>
                  <a:srgbClr val="000000"/>
                </a:solidFill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 e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alinhados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aos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 riscos específicos do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trabalho</a:t>
            </a:r>
            <a:endParaRPr lang="en-US" sz="1100" kern="1200" dirty="0">
              <a:solidFill>
                <a:srgbClr val="000000"/>
              </a:solidFill>
              <a:effectLst/>
              <a:latin typeface="Arial" panose="020B0604020202020204" pitchFamily="34" charset="0"/>
              <a:ea typeface="Inter" panose="020B0502030000000004" pitchFamily="34" charset="0"/>
              <a:cs typeface="Times New Roman" panose="02020603050405020304" pitchFamily="18" charset="0"/>
            </a:endParaRPr>
          </a:p>
          <a:p>
            <a:pPr marL="457200" marR="0" lvl="2" indent="-222250" algn="just">
              <a:lnSpc>
                <a:spcPct val="115000"/>
              </a:lnSpc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Identificando, eliminando e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reduzindo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 riscos </a:t>
            </a:r>
            <a:r>
              <a:rPr lang="es-ES" sz="1000" dirty="0" err="1">
                <a:solidFill>
                  <a:srgbClr val="000000"/>
                </a:solidFill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através</a:t>
            </a:r>
            <a:r>
              <a:rPr lang="es-ES" sz="1000" dirty="0">
                <a:solidFill>
                  <a:srgbClr val="000000"/>
                </a:solidFill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 das </a:t>
            </a:r>
            <a:r>
              <a:rPr lang="es-ES" sz="1000" dirty="0" err="1">
                <a:solidFill>
                  <a:srgbClr val="000000"/>
                </a:solidFill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R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egras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 </a:t>
            </a:r>
            <a:r>
              <a:rPr lang="es-ES" sz="1000" dirty="0">
                <a:solidFill>
                  <a:srgbClr val="000000"/>
                </a:solidFill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que </a:t>
            </a:r>
            <a:r>
              <a:rPr lang="es-ES" sz="1000" dirty="0" err="1">
                <a:solidFill>
                  <a:srgbClr val="000000"/>
                </a:solidFill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Salvam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 Vidas</a:t>
            </a:r>
          </a:p>
          <a:p>
            <a:pPr marL="457200" marR="0" lvl="2" indent="-222250" algn="just">
              <a:lnSpc>
                <a:spcPct val="115000"/>
              </a:lnSpc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Fornecendo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aos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funcionários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 as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ferramentas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, os recursos e o suporte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corretos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 para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trabalhar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com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segurança</a:t>
            </a:r>
            <a:endParaRPr lang="en-US" sz="1100" kern="1200" dirty="0">
              <a:solidFill>
                <a:srgbClr val="000000"/>
              </a:solidFill>
              <a:effectLst/>
              <a:latin typeface="Arial" panose="020B0604020202020204" pitchFamily="34" charset="0"/>
              <a:ea typeface="Inter" panose="020B0502030000000004" pitchFamily="34" charset="0"/>
              <a:cs typeface="Times New Roman" panose="02020603050405020304" pitchFamily="18" charset="0"/>
            </a:endParaRPr>
          </a:p>
          <a:p>
            <a:pPr marL="457200" marR="0" lvl="2" indent="-222250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Capacitar e incentivar todos os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funcionários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 a PARAR DE TRABALHAR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quando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 as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condições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não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são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 seguras,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sem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hesitação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ou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consequências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.</a:t>
            </a:r>
            <a:endParaRPr lang="en-US" sz="1100" kern="1200" dirty="0">
              <a:solidFill>
                <a:srgbClr val="000000"/>
              </a:solidFill>
              <a:effectLst/>
              <a:latin typeface="Arial" panose="020B0604020202020204" pitchFamily="34" charset="0"/>
              <a:ea typeface="Inter" panose="020B05020300000000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15000"/>
              </a:lnSpc>
              <a:spcAft>
                <a:spcPts val="800"/>
              </a:spcAft>
              <a:buNone/>
            </a:pPr>
            <a:r>
              <a:rPr lang="es-ES" sz="1000" b="1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Não</a:t>
            </a:r>
            <a:r>
              <a:rPr lang="es-ES" sz="1000" b="1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 </a:t>
            </a:r>
            <a:r>
              <a:rPr lang="es-ES" sz="1000" b="1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prejudica</a:t>
            </a:r>
            <a:r>
              <a:rPr lang="es-ES" sz="1000" b="1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 o </a:t>
            </a:r>
            <a:r>
              <a:rPr lang="es-ES" sz="1000" b="1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meio</a:t>
            </a:r>
            <a:r>
              <a:rPr lang="es-ES" sz="1000" b="1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 ambiente por:</a:t>
            </a:r>
            <a:endParaRPr lang="en-US" sz="1100" b="1" kern="1200" dirty="0">
              <a:solidFill>
                <a:srgbClr val="000000"/>
              </a:solidFill>
              <a:effectLst/>
              <a:latin typeface="Arial" panose="020B0604020202020204" pitchFamily="34" charset="0"/>
              <a:ea typeface="Inter" panose="020B0502030000000004" pitchFamily="34" charset="0"/>
            </a:endParaRPr>
          </a:p>
          <a:p>
            <a:pPr marL="457200" marR="0" lvl="2" indent="-222250" algn="just">
              <a:lnSpc>
                <a:spcPct val="115000"/>
              </a:lnSpc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Prevenindo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 a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poluição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 em todos os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níveis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 de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nossas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operações</a:t>
            </a:r>
            <a:endParaRPr lang="en-US" sz="1100" kern="1200" dirty="0">
              <a:solidFill>
                <a:srgbClr val="000000"/>
              </a:solidFill>
              <a:effectLst/>
              <a:latin typeface="Arial" panose="020B0604020202020204" pitchFamily="34" charset="0"/>
              <a:ea typeface="Inter" panose="020B0502030000000004" pitchFamily="34" charset="0"/>
              <a:cs typeface="Times New Roman" panose="02020603050405020304" pitchFamily="18" charset="0"/>
            </a:endParaRPr>
          </a:p>
          <a:p>
            <a:pPr marL="457200" marR="0" lvl="2" indent="-222250" algn="just">
              <a:lnSpc>
                <a:spcPct val="115000"/>
              </a:lnSpc>
              <a:spcAft>
                <a:spcPts val="800"/>
              </a:spcAft>
              <a:buFont typeface="Arial" panose="020B0604020202020204" pitchFamily="34" charset="0"/>
              <a:buChar char="•"/>
              <a:tabLst>
                <a:tab pos="457200" algn="l"/>
              </a:tabLst>
            </a:pP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Minimizar os impactos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ambientais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 adversos de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nossas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instalações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fixas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,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serviços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 e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locais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 de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  <a:cs typeface="Times New Roman" panose="02020603050405020304" pitchFamily="18" charset="0"/>
              </a:rPr>
              <a:t>projetos</a:t>
            </a:r>
            <a:endParaRPr lang="en-US" sz="1100" kern="1200" dirty="0">
              <a:solidFill>
                <a:srgbClr val="000000"/>
              </a:solidFill>
              <a:effectLst/>
              <a:latin typeface="Arial" panose="020B0604020202020204" pitchFamily="34" charset="0"/>
              <a:ea typeface="Inter" panose="020B0502030000000004" pitchFamily="34" charset="0"/>
              <a:cs typeface="Times New Roman" panose="02020603050405020304" pitchFamily="18" charset="0"/>
            </a:endParaRPr>
          </a:p>
          <a:p>
            <a:pPr marL="0" marR="0" algn="just">
              <a:lnSpc>
                <a:spcPct val="120000"/>
              </a:lnSpc>
              <a:spcBef>
                <a:spcPts val="510"/>
              </a:spcBef>
              <a:spcAft>
                <a:spcPts val="190"/>
              </a:spcAft>
              <a:buNone/>
            </a:pP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Acreditamos que o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forte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desempenho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 de EHS depende de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comunicação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 e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colaboração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abertas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.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Nós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 nos envolvemos e consultamos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ativamente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nossos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funcionários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, clientes, contratados e partes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interessadas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, incentivando a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participação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 no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fortalecimento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 de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nossas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 </a:t>
            </a:r>
            <a:r>
              <a:rPr lang="es-ES" sz="1000" b="1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Regras</a:t>
            </a:r>
            <a:r>
              <a:rPr lang="es-ES" sz="1000" b="1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 </a:t>
            </a:r>
            <a:r>
              <a:rPr lang="es-ES" sz="1000" b="1" dirty="0">
                <a:solidFill>
                  <a:srgbClr val="000000"/>
                </a:solidFill>
                <a:latin typeface="Arial" panose="020B0604020202020204" pitchFamily="34" charset="0"/>
                <a:ea typeface="Inter" panose="020B0502030000000004" pitchFamily="34" charset="0"/>
              </a:rPr>
              <a:t>que</a:t>
            </a:r>
            <a:r>
              <a:rPr lang="es-ES" sz="1000" b="1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 </a:t>
            </a:r>
            <a:r>
              <a:rPr lang="es-ES" sz="1000" b="1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Salvam</a:t>
            </a:r>
            <a:r>
              <a:rPr lang="es-ES" sz="1000" b="1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 Vidas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 e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na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redução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 dos riscos de EHS e impactos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ambientais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.</a:t>
            </a:r>
            <a:endParaRPr lang="en-US" sz="1100" kern="1200" dirty="0">
              <a:solidFill>
                <a:srgbClr val="000000"/>
              </a:solidFill>
              <a:effectLst/>
              <a:latin typeface="Arial" panose="020B0604020202020204" pitchFamily="34" charset="0"/>
              <a:ea typeface="Inter" panose="020B0502030000000004" pitchFamily="34" charset="0"/>
            </a:endParaRPr>
          </a:p>
          <a:p>
            <a:pPr marL="0" marR="0" algn="just">
              <a:lnSpc>
                <a:spcPct val="120000"/>
              </a:lnSpc>
              <a:spcBef>
                <a:spcPts val="510"/>
              </a:spcBef>
              <a:spcAft>
                <a:spcPts val="190"/>
              </a:spcAft>
              <a:buNone/>
            </a:pP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EHS é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uma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responsabilidade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compartilhada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 de </a:t>
            </a:r>
            <a:r>
              <a:rPr lang="es-ES" sz="1000" b="1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cada </a:t>
            </a:r>
            <a:r>
              <a:rPr lang="es-ES" sz="1000" b="1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pessoa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na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 OFS. Cada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um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 de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nós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 é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responsável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 por proteger a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nós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 mesmos,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nossos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 colegas de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trabalho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,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nossos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 clientes</a:t>
            </a:r>
            <a:r>
              <a:rPr lang="es-ES" sz="1000" kern="120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, visitantes, 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as comunidades em que operamos e o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meio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 ambiente. Juntos, criaremos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uma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 cultura em que </a:t>
            </a:r>
            <a:r>
              <a:rPr lang="es-ES" sz="1000" b="1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a </a:t>
            </a:r>
            <a:r>
              <a:rPr lang="es-ES" sz="1000" b="1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segurança</a:t>
            </a:r>
            <a:r>
              <a:rPr lang="es-ES" sz="1000" b="1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 </a:t>
            </a:r>
            <a:r>
              <a:rPr lang="es-ES" sz="1000" b="1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conduz</a:t>
            </a:r>
            <a:r>
              <a:rPr lang="es-ES" sz="1000" b="1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 todas as </a:t>
            </a:r>
            <a:r>
              <a:rPr lang="es-ES" sz="1000" b="1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decisões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 e nenhum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dano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 é </a:t>
            </a:r>
            <a:r>
              <a:rPr lang="es-ES" sz="100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possível</a:t>
            </a:r>
            <a:r>
              <a:rPr lang="es-ES" sz="100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Inter" panose="020B0502030000000004" pitchFamily="34" charset="0"/>
              </a:rPr>
              <a:t>.</a:t>
            </a:r>
            <a:endParaRPr lang="en-US" sz="1100" kern="1200" dirty="0">
              <a:solidFill>
                <a:srgbClr val="000000"/>
              </a:solidFill>
              <a:effectLst/>
              <a:latin typeface="Arial" panose="020B0604020202020204" pitchFamily="34" charset="0"/>
              <a:ea typeface="Inter" panose="020B05020300000000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14297706"/>
      </p:ext>
    </p:extLst>
  </p:cSld>
  <p:clrMapOvr>
    <a:masterClrMapping/>
  </p:clrMapOvr>
</p:sld>
</file>

<file path=ppt/theme/theme1.xml><?xml version="1.0" encoding="utf-8"?>
<a:theme xmlns:a="http://schemas.openxmlformats.org/drawingml/2006/main" name="FieldCore_2017">
  <a:themeElements>
    <a:clrScheme name="Custom 14">
      <a:dk1>
        <a:srgbClr val="63666A"/>
      </a:dk1>
      <a:lt1>
        <a:srgbClr val="FFFFFF"/>
      </a:lt1>
      <a:dk2>
        <a:srgbClr val="090936"/>
      </a:dk2>
      <a:lt2>
        <a:srgbClr val="FFFFFF"/>
      </a:lt2>
      <a:accent1>
        <a:srgbClr val="FE5000"/>
      </a:accent1>
      <a:accent2>
        <a:srgbClr val="005EB8"/>
      </a:accent2>
      <a:accent3>
        <a:srgbClr val="63666A"/>
      </a:accent3>
      <a:accent4>
        <a:srgbClr val="B1B3B3"/>
      </a:accent4>
      <a:accent5>
        <a:srgbClr val="00B5E2"/>
      </a:accent5>
      <a:accent6>
        <a:srgbClr val="3EAE2A"/>
      </a:accent6>
      <a:hlink>
        <a:srgbClr val="FE5000"/>
      </a:hlink>
      <a:folHlink>
        <a:srgbClr val="090936"/>
      </a:folHlink>
    </a:clrScheme>
    <a:fontScheme name="FieldCore - Gotham">
      <a:majorFont>
        <a:latin typeface="Gotham Light"/>
        <a:ea typeface=""/>
        <a:cs typeface=""/>
      </a:majorFont>
      <a:minorFont>
        <a:latin typeface="Gotham Light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F66ED2"/>
        </a:solidFill>
      </a:spPr>
      <a:bodyPr wrap="square" rtlCol="0" anchor="ctr">
        <a:noAutofit/>
      </a:bodyPr>
      <a:lstStyle>
        <a:defPPr algn="ctr">
          <a:defRPr dirty="0" smtClean="0">
            <a:solidFill>
              <a:schemeClr val="bg1"/>
            </a:solidFill>
            <a:ea typeface="Arial" charset="0"/>
          </a:defRPr>
        </a:defPPr>
      </a:lstStyle>
    </a:spDef>
    <a:txDef>
      <a:spPr>
        <a:noFill/>
      </a:spPr>
      <a:bodyPr wrap="square" lIns="0" tIns="0" rIns="0" bIns="0" rtlCol="0">
        <a:spAutoFit/>
      </a:bodyPr>
      <a:lstStyle>
        <a:defPPr>
          <a:defRPr dirty="0" smtClean="0">
            <a:solidFill>
              <a:schemeClr val="accent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CS18810-01 FC new font template_test1_R1" id="{9AA2E0B5-DA9B-4844-AFA8-7AD242CFC0F9}" vid="{25A4205F-3365-4494-A059-27D7887B492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BA2F64D6E2C740A2EFD32F6136F44B" ma:contentTypeVersion="31" ma:contentTypeDescription="Create a new document." ma:contentTypeScope="" ma:versionID="f6d5169442be2795745eeba6edf0f975">
  <xsd:schema xmlns:xsd="http://www.w3.org/2001/XMLSchema" xmlns:xs="http://www.w3.org/2001/XMLSchema" xmlns:p="http://schemas.microsoft.com/office/2006/metadata/properties" xmlns:ns2="25586fb6-ed09-4f2d-8ea7-eda1a9fd2320" xmlns:ns3="cc7fbaa3-8214-4644-99f1-d2e5a6ae9914" xmlns:ns4="f0c7a816-7a7e-42fb-b4dd-eafc20cb049d" targetNamespace="http://schemas.microsoft.com/office/2006/metadata/properties" ma:root="true" ma:fieldsID="1d6046f623722b44c576f527ef753e5d" ns2:_="" ns3:_="" ns4:_="">
    <xsd:import namespace="25586fb6-ed09-4f2d-8ea7-eda1a9fd2320"/>
    <xsd:import namespace="cc7fbaa3-8214-4644-99f1-d2e5a6ae9914"/>
    <xsd:import namespace="f0c7a816-7a7e-42fb-b4dd-eafc20cb049d"/>
    <xsd:element name="properties">
      <xsd:complexType>
        <xsd:sequence>
          <xsd:element name="documentManagement">
            <xsd:complexType>
              <xsd:all>
                <xsd:element ref="ns2:Process_x0020_Owmer"/>
                <xsd:element ref="ns2:Functional_x0020_Owner"/>
                <xsd:element ref="ns3:LastReviewDate" minOccurs="0"/>
                <xsd:element ref="ns2:Nomenclature" minOccurs="0"/>
                <xsd:element ref="ns3:RevisionNumber" minOccurs="0"/>
                <xsd:element ref="ns2:MediaServiceMetadata" minOccurs="0"/>
                <xsd:element ref="ns2:MediaServiceFastMetadata" minOccurs="0"/>
                <xsd:element ref="ns3:MediaServiceAutoKeyPoints" minOccurs="0"/>
                <xsd:element ref="ns3:MediaServiceKeyPoints" minOccurs="0"/>
                <xsd:element ref="ns4:SharedWithUsers" minOccurs="0"/>
                <xsd:element ref="ns4:SharedWithDetails" minOccurs="0"/>
                <xsd:element ref="ns3:MediaServiceDateTaken" minOccurs="0"/>
                <xsd:element ref="ns3:MediaLengthInSeconds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5586fb6-ed09-4f2d-8ea7-eda1a9fd2320" elementFormDefault="qualified">
    <xsd:import namespace="http://schemas.microsoft.com/office/2006/documentManagement/types"/>
    <xsd:import namespace="http://schemas.microsoft.com/office/infopath/2007/PartnerControls"/>
    <xsd:element name="Process_x0020_Owmer" ma:index="1" ma:displayName="Have a question? Email the Process Owner" ma:description="Discuss Audit Findings and QWI Updates with the Responsible Person" ma:list="UserInfo" ma:SharePointGroup="0" ma:internalName="Process_x0020_Owmer" ma:readOnly="false" ma:showField="NameWithPictureAndDetails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Functional_x0020_Owner" ma:index="2" ma:displayName="Function" ma:default="Management Processes - Leadership and Commitment" ma:description="Management Processes - Leadership and Commitment" ma:format="Dropdown" ma:internalName="Functional_x0020_Owner" ma:readOnly="false">
      <xsd:simpleType>
        <xsd:restriction base="dms:Text">
          <xsd:maxLength value="255"/>
        </xsd:restriction>
      </xsd:simpleType>
    </xsd:element>
    <xsd:element name="Nomenclature" ma:index="4" nillable="true" ma:displayName="Document Number" ma:format="Dropdown" ma:internalName="Nomenclature" ma:readOnly="false">
      <xsd:simpleType>
        <xsd:restriction base="dms:Text">
          <xsd:maxLength value="255"/>
        </xsd:restriction>
      </xsd:simpleType>
    </xsd:element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7fbaa3-8214-4644-99f1-d2e5a6ae9914" elementFormDefault="qualified">
    <xsd:import namespace="http://schemas.microsoft.com/office/2006/documentManagement/types"/>
    <xsd:import namespace="http://schemas.microsoft.com/office/infopath/2007/PartnerControls"/>
    <xsd:element name="LastReviewDate" ma:index="3" nillable="true" ma:displayName="Last Review Date" ma:description="The date the procedure was last reviewed or revised" ma:format="DateOnly" ma:internalName="LastReviewDate" ma:readOnly="false">
      <xsd:simpleType>
        <xsd:restriction base="dms:DateTime"/>
      </xsd:simpleType>
    </xsd:element>
    <xsd:element name="RevisionNumber" ma:index="5" nillable="true" ma:displayName="Revision Number" ma:decimals="1" ma:description="The current revision published" ma:format="Dropdown" ma:internalName="RevisionNumber" ma:readOnly="false" ma:percentage="FALSE">
      <xsd:simpleType>
        <xsd:restriction base="dms:Number"/>
      </xsd:simpleType>
    </xsd:element>
    <xsd:element name="MediaServiceAutoKeyPoints" ma:index="13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4" nillable="true" ma:displayName="KeyPoints" ma:hidden="true" ma:internalName="MediaServiceKeyPoints" ma:readOnly="true">
      <xsd:simpleType>
        <xsd:restriction base="dms:Note"/>
      </xsd:simpleType>
    </xsd:element>
    <xsd:element name="MediaServiceDateTaken" ma:index="17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0c7a816-7a7e-42fb-b4dd-eafc20cb049d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hidden="true" ma:internalName="SharedWithDetail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displayName="QMS Lev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astReviewDate xmlns="cc7fbaa3-8214-4644-99f1-d2e5a6ae9914">2026-06-01T04:00:00+00:00</LastReviewDate>
    <RevisionNumber xmlns="cc7fbaa3-8214-4644-99f1-d2e5a6ae9914">1</RevisionNumber>
    <Process_x0020_Owmer xmlns="25586fb6-ed09-4f2d-8ea7-eda1a9fd2320">
      <UserInfo>
        <DisplayName>Cahill, James (GE Vernova)</DisplayName>
        <AccountId>50409</AccountId>
        <AccountType/>
      </UserInfo>
    </Process_x0020_Owmer>
    <Functional_x0020_Owner xmlns="25586fb6-ed09-4f2d-8ea7-eda1a9fd2320">Management Processes - Leadership and Commitment</Functional_x0020_Owner>
    <Nomenclature xmlns="25586fb6-ed09-4f2d-8ea7-eda1a9fd2320">1.0</Nomenclature>
  </documentManagement>
</p:properties>
</file>

<file path=customXml/itemProps1.xml><?xml version="1.0" encoding="utf-8"?>
<ds:datastoreItem xmlns:ds="http://schemas.openxmlformats.org/officeDocument/2006/customXml" ds:itemID="{DBD50A62-2D01-48C9-86C0-740EFCFD64C1}"/>
</file>

<file path=customXml/itemProps2.xml><?xml version="1.0" encoding="utf-8"?>
<ds:datastoreItem xmlns:ds="http://schemas.openxmlformats.org/officeDocument/2006/customXml" ds:itemID="{3B316825-5A24-4517-8BC3-6C952948E32D}"/>
</file>

<file path=customXml/itemProps3.xml><?xml version="1.0" encoding="utf-8"?>
<ds:datastoreItem xmlns:ds="http://schemas.openxmlformats.org/officeDocument/2006/customXml" ds:itemID="{BA4147B9-AA58-4FB7-B2C4-0193A66F6525}"/>
</file>

<file path=docMetadata/LabelInfo.xml><?xml version="1.0" encoding="utf-8"?>
<clbl:labelList xmlns:clbl="http://schemas.microsoft.com/office/2020/mipLabelMetadata">
  <clbl:label id="{15ccb6d1-d335-4996-b6f9-7b6925f08121}" enabled="0" method="" siteId="{15ccb6d1-d335-4996-b6f9-7b6925f08121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CS18810-03 FieldCore Template_R3</Template>
  <TotalTime>1097</TotalTime>
  <Words>367</Words>
  <Application>Microsoft Office PowerPoint</Application>
  <PresentationFormat>Custom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Gotham Light</vt:lpstr>
      <vt:lpstr>Gotham Rounded Book</vt:lpstr>
      <vt:lpstr>FieldCore_2017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Stout, David (FieldCore)</dc:creator>
  <cp:lastModifiedBy>Cahill, James (GE Vernova)</cp:lastModifiedBy>
  <cp:revision>54</cp:revision>
  <cp:lastPrinted>2018-11-19T17:02:52Z</cp:lastPrinted>
  <dcterms:created xsi:type="dcterms:W3CDTF">2018-11-14T17:47:23Z</dcterms:created>
  <dcterms:modified xsi:type="dcterms:W3CDTF">2026-06-01T10:53:26Z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0x010100AABA2F64D6E2C740A2EFD32F6136F44B</vt:lpwstr>
  </property>
</Properties>
</file>