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6"/>
  </p:notesMasterIdLst>
  <p:sldIdLst>
    <p:sldId id="258" r:id="rId5"/>
  </p:sldIdLst>
  <p:sldSz cx="7772400" cy="10058400"/>
  <p:notesSz cx="6858000"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E60"/>
    <a:srgbClr val="696969"/>
    <a:srgbClr val="484848"/>
    <a:srgbClr val="E3E3E3"/>
    <a:srgbClr val="FFFEFC"/>
    <a:srgbClr val="8D898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2" dt="2026-08-25T09:48:12.3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481" autoAdjust="0"/>
    <p:restoredTop sz="94712" autoAdjust="0"/>
  </p:normalViewPr>
  <p:slideViewPr>
    <p:cSldViewPr snapToGrid="0">
      <p:cViewPr>
        <p:scale>
          <a:sx n="99" d="100"/>
          <a:sy n="99" d="100"/>
        </p:scale>
        <p:origin x="924" y="-27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hill, James (GE Vernova)" userId="S::605044582@ge.com::eede20a1-ac63-4a00-9247-850300c20ccf" providerId="AD" clId="Web-{00000000-0000-0000-0000-000000000000}"/>
    <pc:docChg chg="modSld">
      <pc:chgData name="Cahill, James (GE Vernova)" userId="S::605044582@ge.com::eede20a1-ac63-4a00-9247-850300c20ccf" providerId="AD" clId="Web-{00000000-0000-0000-0000-000000000000}" dt="2026-08-25T09:48:12.335" v="1" actId="14100"/>
      <pc:docMkLst>
        <pc:docMk/>
      </pc:docMkLst>
      <pc:sldChg chg="modSp">
        <pc:chgData name="Cahill, James (GE Vernova)" userId="S::605044582@ge.com::eede20a1-ac63-4a00-9247-850300c20ccf" providerId="AD" clId="Web-{00000000-0000-0000-0000-000000000000}" dt="2026-08-25T09:48:12.335" v="1" actId="14100"/>
        <pc:sldMkLst>
          <pc:docMk/>
          <pc:sldMk cId="2114297706" sldId="258"/>
        </pc:sldMkLst>
        <pc:spChg chg="mod">
          <ac:chgData name="Cahill, James (GE Vernova)" userId="S::605044582@ge.com::eede20a1-ac63-4a00-9247-850300c20ccf" providerId="AD" clId="Web-{00000000-0000-0000-0000-000000000000}" dt="2026-08-25T09:48:12.335" v="1" actId="14100"/>
          <ac:spMkLst>
            <pc:docMk/>
            <pc:sldMk cId="2114297706" sldId="258"/>
            <ac:spMk id="3" creationId="{990CB834-096B-471A-825F-74C4B7E6E08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355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63550"/>
          </a:xfrm>
          <a:prstGeom prst="rect">
            <a:avLst/>
          </a:prstGeom>
        </p:spPr>
        <p:txBody>
          <a:bodyPr vert="horz" lIns="91440" tIns="45720" rIns="91440" bIns="45720" rtlCol="0"/>
          <a:lstStyle>
            <a:lvl1pPr algn="r">
              <a:defRPr sz="1200"/>
            </a:lvl1pPr>
          </a:lstStyle>
          <a:p>
            <a:fld id="{77A12465-B93B-4C89-8962-65869DA8E1FC}" type="datetimeFigureOut">
              <a:rPr lang="en-US" smtClean="0"/>
              <a:t>8/25/2026</a:t>
            </a:fld>
            <a:endParaRPr lang="en-US"/>
          </a:p>
        </p:txBody>
      </p:sp>
      <p:sp>
        <p:nvSpPr>
          <p:cNvPr id="4" name="Slide Image Placeholder 3"/>
          <p:cNvSpPr>
            <a:spLocks noGrp="1" noRot="1" noChangeAspect="1"/>
          </p:cNvSpPr>
          <p:nvPr>
            <p:ph type="sldImg" idx="2"/>
          </p:nvPr>
        </p:nvSpPr>
        <p:spPr>
          <a:xfrm>
            <a:off x="2224088" y="1154113"/>
            <a:ext cx="2409825" cy="31178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45000"/>
            <a:ext cx="5486400" cy="363696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525"/>
            <a:ext cx="2971800" cy="46355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772525"/>
            <a:ext cx="2971800" cy="463550"/>
          </a:xfrm>
          <a:prstGeom prst="rect">
            <a:avLst/>
          </a:prstGeom>
        </p:spPr>
        <p:txBody>
          <a:bodyPr vert="horz" lIns="91440" tIns="45720" rIns="91440" bIns="45720" rtlCol="0" anchor="b"/>
          <a:lstStyle>
            <a:lvl1pPr algn="r">
              <a:defRPr sz="1200"/>
            </a:lvl1pPr>
          </a:lstStyle>
          <a:p>
            <a:fld id="{39E36773-3A60-4CD3-B810-B928EA53603D}" type="slidenum">
              <a:rPr lang="en-US" smtClean="0"/>
              <a:t>‹#›</a:t>
            </a:fld>
            <a:endParaRPr lang="en-US"/>
          </a:p>
        </p:txBody>
      </p:sp>
    </p:spTree>
    <p:extLst>
      <p:ext uri="{BB962C8B-B14F-4D97-AF65-F5344CB8AC3E}">
        <p14:creationId xmlns:p14="http://schemas.microsoft.com/office/powerpoint/2010/main" val="26189932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jpeg"/><Relationship Id="rId4" Type="http://schemas.openxmlformats.org/officeDocument/2006/relationships/image" Target="../media/image3.sv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9C41A86-5D21-4E83-800F-748C950C4662}"/>
              </a:ext>
            </a:extLst>
          </p:cNvPr>
          <p:cNvSpPr/>
          <p:nvPr userDrawn="1"/>
        </p:nvSpPr>
        <p:spPr>
          <a:xfrm>
            <a:off x="193040" y="3344544"/>
            <a:ext cx="7386320" cy="5615186"/>
          </a:xfrm>
          <a:prstGeom prst="rect">
            <a:avLst/>
          </a:prstGeom>
          <a:solidFill>
            <a:srgbClr val="E3E3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DC98C045-E9A4-457B-B00C-0C279905ADE3}"/>
              </a:ext>
            </a:extLst>
          </p:cNvPr>
          <p:cNvSpPr/>
          <p:nvPr userDrawn="1"/>
        </p:nvSpPr>
        <p:spPr>
          <a:xfrm>
            <a:off x="193040" y="2733040"/>
            <a:ext cx="7386320" cy="594360"/>
          </a:xfrm>
          <a:prstGeom prst="rect">
            <a:avLst/>
          </a:prstGeom>
          <a:solidFill>
            <a:srgbClr val="696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B8245694-D800-4336-B687-EB2E002A4E76}"/>
              </a:ext>
            </a:extLst>
          </p:cNvPr>
          <p:cNvSpPr txBox="1"/>
          <p:nvPr userDrawn="1"/>
        </p:nvSpPr>
        <p:spPr>
          <a:xfrm>
            <a:off x="804259" y="9490383"/>
            <a:ext cx="1597024" cy="400110"/>
          </a:xfrm>
          <a:prstGeom prst="rect">
            <a:avLst/>
          </a:prstGeom>
          <a:noFill/>
        </p:spPr>
        <p:txBody>
          <a:bodyPr wrap="square" rtlCol="0">
            <a:spAutoFit/>
          </a:bodyPr>
          <a:lstStyle/>
          <a:p>
            <a:r>
              <a:rPr lang="en-US" sz="1000" kern="1200" dirty="0">
                <a:solidFill>
                  <a:srgbClr val="8D8988"/>
                </a:solidFill>
                <a:effectLst/>
                <a:latin typeface="Gotham Rounded Book" pitchFamily="50" charset="0"/>
                <a:ea typeface="+mn-ea"/>
                <a:cs typeface="+mn-cs"/>
              </a:rPr>
              <a:t>Jim Vono </a:t>
            </a:r>
          </a:p>
          <a:p>
            <a:r>
              <a:rPr lang="en-US" sz="1000" kern="1200" dirty="0">
                <a:solidFill>
                  <a:srgbClr val="8D8988"/>
                </a:solidFill>
                <a:effectLst/>
                <a:latin typeface="Gotham Rounded Book" pitchFamily="50" charset="0"/>
                <a:ea typeface="+mn-ea"/>
                <a:cs typeface="+mn-cs"/>
              </a:rPr>
              <a:t>One Field Services Leader</a:t>
            </a:r>
            <a:endParaRPr lang="en-US" sz="1000" dirty="0">
              <a:solidFill>
                <a:srgbClr val="8D8988"/>
              </a:solidFill>
              <a:latin typeface="Gotham Rounded Book" pitchFamily="50" charset="0"/>
            </a:endParaRPr>
          </a:p>
        </p:txBody>
      </p:sp>
      <p:sp>
        <p:nvSpPr>
          <p:cNvPr id="13" name="TextBox 12">
            <a:extLst>
              <a:ext uri="{FF2B5EF4-FFF2-40B4-BE49-F238E27FC236}">
                <a16:creationId xmlns:a16="http://schemas.microsoft.com/office/drawing/2014/main" id="{AB5DAB11-D89E-4579-A97D-FEA73BC6CC15}"/>
              </a:ext>
            </a:extLst>
          </p:cNvPr>
          <p:cNvSpPr txBox="1"/>
          <p:nvPr userDrawn="1"/>
        </p:nvSpPr>
        <p:spPr>
          <a:xfrm>
            <a:off x="2700942" y="9490383"/>
            <a:ext cx="2563019" cy="400110"/>
          </a:xfrm>
          <a:prstGeom prst="rect">
            <a:avLst/>
          </a:prstGeom>
          <a:noFill/>
        </p:spPr>
        <p:txBody>
          <a:bodyPr wrap="square" rtlCol="0">
            <a:spAutoFit/>
          </a:bodyPr>
          <a:lstStyle/>
          <a:p>
            <a:r>
              <a:rPr lang="en-US" sz="1000" kern="1200" dirty="0">
                <a:solidFill>
                  <a:srgbClr val="8D8988"/>
                </a:solidFill>
                <a:effectLst/>
                <a:latin typeface="Gotham Rounded Book" pitchFamily="50" charset="0"/>
                <a:ea typeface="+mn-ea"/>
                <a:cs typeface="+mn-cs"/>
              </a:rPr>
              <a:t>Jeff Gifford </a:t>
            </a:r>
          </a:p>
          <a:p>
            <a:r>
              <a:rPr lang="en-US" sz="1000" kern="1200" dirty="0">
                <a:solidFill>
                  <a:srgbClr val="8D8988"/>
                </a:solidFill>
                <a:effectLst/>
                <a:latin typeface="Gotham Rounded Book" pitchFamily="50" charset="0"/>
                <a:ea typeface="+mn-ea"/>
                <a:cs typeface="+mn-cs"/>
              </a:rPr>
              <a:t>EHS Leader</a:t>
            </a:r>
            <a:endParaRPr lang="en-US" sz="1000" dirty="0">
              <a:solidFill>
                <a:srgbClr val="8D8988"/>
              </a:solidFill>
              <a:latin typeface="Gotham Rounded Book" pitchFamily="50" charset="0"/>
            </a:endParaRPr>
          </a:p>
        </p:txBody>
      </p:sp>
      <p:cxnSp>
        <p:nvCxnSpPr>
          <p:cNvPr id="9" name="Straight Connector 8">
            <a:extLst>
              <a:ext uri="{FF2B5EF4-FFF2-40B4-BE49-F238E27FC236}">
                <a16:creationId xmlns:a16="http://schemas.microsoft.com/office/drawing/2014/main" id="{27BA8D22-8CE3-4517-B48D-E8F158A8004E}"/>
              </a:ext>
            </a:extLst>
          </p:cNvPr>
          <p:cNvCxnSpPr/>
          <p:nvPr userDrawn="1"/>
        </p:nvCxnSpPr>
        <p:spPr>
          <a:xfrm>
            <a:off x="4808220" y="9013542"/>
            <a:ext cx="0" cy="837317"/>
          </a:xfrm>
          <a:prstGeom prst="line">
            <a:avLst/>
          </a:prstGeom>
          <a:ln w="15875">
            <a:solidFill>
              <a:schemeClr val="accent4"/>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C9D2BD6C-23CD-86C1-F7F1-6439335B5110}"/>
              </a:ext>
            </a:extLst>
          </p:cNvPr>
          <p:cNvPicPr>
            <a:picLocks noChangeAspect="1"/>
          </p:cNvPicPr>
          <p:nvPr userDrawn="1"/>
        </p:nvPicPr>
        <p:blipFill>
          <a:blip r:embed="rId2">
            <a:extLst>
              <a:ext uri="{28A0092B-C50C-407E-A947-70E740481C1C}">
                <a14:useLocalDpi xmlns:a14="http://schemas.microsoft.com/office/drawing/2010/main" val="0"/>
              </a:ext>
            </a:extLst>
          </a:blip>
          <a:srcRect t="18184"/>
          <a:stretch/>
        </p:blipFill>
        <p:spPr>
          <a:xfrm>
            <a:off x="4965067" y="9053508"/>
            <a:ext cx="2471238" cy="685056"/>
          </a:xfrm>
          <a:prstGeom prst="rect">
            <a:avLst/>
          </a:prstGeom>
        </p:spPr>
      </p:pic>
      <p:pic>
        <p:nvPicPr>
          <p:cNvPr id="10" name="Graphic 9">
            <a:extLst>
              <a:ext uri="{FF2B5EF4-FFF2-40B4-BE49-F238E27FC236}">
                <a16:creationId xmlns:a16="http://schemas.microsoft.com/office/drawing/2014/main" id="{61F57D87-A53A-9A66-3E99-9191689692E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71095" y="9118217"/>
            <a:ext cx="1487468" cy="511436"/>
          </a:xfrm>
          <a:prstGeom prst="rect">
            <a:avLst/>
          </a:prstGeom>
        </p:spPr>
      </p:pic>
      <p:pic>
        <p:nvPicPr>
          <p:cNvPr id="16" name="Graphic 15">
            <a:extLst>
              <a:ext uri="{FF2B5EF4-FFF2-40B4-BE49-F238E27FC236}">
                <a16:creationId xmlns:a16="http://schemas.microsoft.com/office/drawing/2014/main" id="{2C9FA114-0DFF-E4EC-8F9B-E248BDC7D9B9}"/>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2614742" y="9116983"/>
            <a:ext cx="1490472" cy="327748"/>
          </a:xfrm>
          <a:prstGeom prst="rect">
            <a:avLst/>
          </a:prstGeom>
        </p:spPr>
      </p:pic>
      <p:sp>
        <p:nvSpPr>
          <p:cNvPr id="5" name="TextBox 4">
            <a:extLst>
              <a:ext uri="{FF2B5EF4-FFF2-40B4-BE49-F238E27FC236}">
                <a16:creationId xmlns:a16="http://schemas.microsoft.com/office/drawing/2014/main" id="{A3C46678-2886-29F0-F905-A3D7AC56E20B}"/>
              </a:ext>
            </a:extLst>
          </p:cNvPr>
          <p:cNvSpPr txBox="1"/>
          <p:nvPr userDrawn="1"/>
        </p:nvSpPr>
        <p:spPr>
          <a:xfrm>
            <a:off x="5979160" y="9677400"/>
            <a:ext cx="1600200" cy="246221"/>
          </a:xfrm>
          <a:prstGeom prst="rect">
            <a:avLst/>
          </a:prstGeom>
          <a:noFill/>
        </p:spPr>
        <p:txBody>
          <a:bodyPr wrap="square" rtlCol="0">
            <a:spAutoFit/>
          </a:bodyPr>
          <a:lstStyle/>
          <a:p>
            <a:pPr algn="r"/>
            <a:r>
              <a:rPr lang="en-US" sz="1000" dirty="0">
                <a:solidFill>
                  <a:srgbClr val="8D8988"/>
                </a:solidFill>
                <a:latin typeface="Gotham Rounded Book" pitchFamily="50" charset="0"/>
              </a:rPr>
              <a:t> January 2026</a:t>
            </a:r>
          </a:p>
        </p:txBody>
      </p:sp>
      <p:pic>
        <p:nvPicPr>
          <p:cNvPr id="18" name="Picture 17">
            <a:extLst>
              <a:ext uri="{FF2B5EF4-FFF2-40B4-BE49-F238E27FC236}">
                <a16:creationId xmlns:a16="http://schemas.microsoft.com/office/drawing/2014/main" id="{4C88E628-1831-3141-773D-9A07A11E5021}"/>
              </a:ext>
            </a:extLst>
          </p:cNvPr>
          <p:cNvPicPr>
            <a:picLocks noChangeAspect="1"/>
          </p:cNvPicPr>
          <p:nvPr userDrawn="1"/>
        </p:nvPicPr>
        <p:blipFill>
          <a:blip r:embed="rId5">
            <a:extLst>
              <a:ext uri="{28A0092B-C50C-407E-A947-70E740481C1C}">
                <a14:useLocalDpi xmlns:a14="http://schemas.microsoft.com/office/drawing/2010/main" val="0"/>
              </a:ext>
            </a:extLst>
          </a:blip>
          <a:srcRect b="47895"/>
          <a:stretch/>
        </p:blipFill>
        <p:spPr>
          <a:xfrm>
            <a:off x="0" y="0"/>
            <a:ext cx="7772400" cy="2699861"/>
          </a:xfrm>
          <a:prstGeom prst="rect">
            <a:avLst/>
          </a:prstGeom>
        </p:spPr>
      </p:pic>
      <p:pic>
        <p:nvPicPr>
          <p:cNvPr id="15" name="Graphic 14">
            <a:extLst>
              <a:ext uri="{FF2B5EF4-FFF2-40B4-BE49-F238E27FC236}">
                <a16:creationId xmlns:a16="http://schemas.microsoft.com/office/drawing/2014/main" id="{255E72C8-6A29-C2CD-F104-C064BF288D55}"/>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2822686" y="142433"/>
            <a:ext cx="2127028" cy="2127028"/>
          </a:xfrm>
          <a:prstGeom prst="rect">
            <a:avLst/>
          </a:prstGeom>
        </p:spPr>
      </p:pic>
      <p:sp>
        <p:nvSpPr>
          <p:cNvPr id="12" name="Rectangle 11">
            <a:extLst>
              <a:ext uri="{FF2B5EF4-FFF2-40B4-BE49-F238E27FC236}">
                <a16:creationId xmlns:a16="http://schemas.microsoft.com/office/drawing/2014/main" id="{0ECC4E44-2707-9ED3-8A3D-828F5679B1D6}"/>
              </a:ext>
            </a:extLst>
          </p:cNvPr>
          <p:cNvSpPr/>
          <p:nvPr userDrawn="1"/>
        </p:nvSpPr>
        <p:spPr>
          <a:xfrm>
            <a:off x="0" y="0"/>
            <a:ext cx="7772400" cy="2687388"/>
          </a:xfrm>
          <a:prstGeom prst="rect">
            <a:avLst/>
          </a:prstGeom>
          <a:solidFill>
            <a:srgbClr val="005E60">
              <a:alpha val="40000"/>
            </a:srgbClr>
          </a:solidFill>
        </p:spPr>
        <p:txBody>
          <a:bodyPr wrap="square" rtlCol="0" anchor="ctr">
            <a:noAutofit/>
          </a:bodyPr>
          <a:lstStyle/>
          <a:p>
            <a:pPr algn="ctr"/>
            <a:endParaRPr lang="en-US" dirty="0">
              <a:solidFill>
                <a:schemeClr val="bg1"/>
              </a:solidFill>
              <a:ea typeface="Arial" charset="0"/>
            </a:endParaRPr>
          </a:p>
        </p:txBody>
      </p:sp>
    </p:spTree>
    <p:extLst>
      <p:ext uri="{BB962C8B-B14F-4D97-AF65-F5344CB8AC3E}">
        <p14:creationId xmlns:p14="http://schemas.microsoft.com/office/powerpoint/2010/main" val="178875529"/>
      </p:ext>
    </p:extLst>
  </p:cSld>
  <p:clrMapOvr>
    <a:masterClrMapping/>
  </p:clrMapOvr>
  <p:extLst>
    <p:ext uri="{DCECCB84-F9BA-43D5-87BE-67443E8EF086}">
      <p15:sldGuideLst xmlns:p15="http://schemas.microsoft.com/office/powerpoint/2012/main">
        <p15:guide id="1" orient="horz" pos="3168" userDrawn="1">
          <p15:clr>
            <a:srgbClr val="FBAE40"/>
          </p15:clr>
        </p15:guide>
        <p15:guide id="2" pos="2448" userDrawn="1">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8657653"/>
      </p:ext>
    </p:extLst>
  </p:cSld>
  <p:clrMap bg1="lt1" tx1="dk1" bg2="lt2" tx2="dk2" accent1="accent1" accent2="accent2" accent3="accent3" accent4="accent4" accent5="accent5" accent6="accent6" hlink="hlink" folHlink="folHlink"/>
  <p:sldLayoutIdLst>
    <p:sldLayoutId id="2147483694" r:id="rId1"/>
  </p:sldLayoutIdLst>
  <p:transition spd="slow">
    <p:push dir="u"/>
  </p:transition>
  <p:txStyles>
    <p:titleStyle>
      <a:lvl1pPr algn="l" defTabSz="582930" rtl="0" eaLnBrk="1" latinLnBrk="0" hangingPunct="1">
        <a:lnSpc>
          <a:spcPct val="100000"/>
        </a:lnSpc>
        <a:spcBef>
          <a:spcPct val="0"/>
        </a:spcBef>
        <a:buNone/>
        <a:defRPr sz="2040" kern="1200" spc="0">
          <a:solidFill>
            <a:schemeClr val="tx2"/>
          </a:solidFill>
          <a:latin typeface="Gotham Light" pitchFamily="50" charset="0"/>
          <a:ea typeface="Gotham Light" pitchFamily="50" charset="0"/>
          <a:cs typeface="Gotham Light" pitchFamily="50" charset="0"/>
        </a:defRPr>
      </a:lvl1pPr>
    </p:titleStyle>
    <p:bodyStyle>
      <a:lvl1pPr marL="99098" indent="-99098" algn="l" defTabSz="582930" rtl="0" eaLnBrk="1" latinLnBrk="0" hangingPunct="1">
        <a:lnSpc>
          <a:spcPct val="90000"/>
        </a:lnSpc>
        <a:spcBef>
          <a:spcPts val="510"/>
        </a:spcBef>
        <a:spcAft>
          <a:spcPts val="191"/>
        </a:spcAft>
        <a:buClrTx/>
        <a:buFont typeface="Arial" panose="020B0604020202020204" pitchFamily="34" charset="0"/>
        <a:buChar char="•"/>
        <a:defRPr sz="1275" b="0" i="0" kern="1200">
          <a:solidFill>
            <a:schemeClr val="tx1"/>
          </a:solidFill>
          <a:latin typeface="Gotham Light" pitchFamily="50" charset="0"/>
          <a:ea typeface="Gotham Light" pitchFamily="50" charset="0"/>
          <a:cs typeface="Gotham Light" pitchFamily="50" charset="0"/>
        </a:defRPr>
      </a:lvl1pPr>
      <a:lvl2pPr marL="99098" indent="0" algn="l" defTabSz="582930" rtl="0" eaLnBrk="1" latinLnBrk="0" hangingPunct="1">
        <a:lnSpc>
          <a:spcPct val="90000"/>
        </a:lnSpc>
        <a:spcBef>
          <a:spcPts val="0"/>
        </a:spcBef>
        <a:buClr>
          <a:schemeClr val="accent1"/>
        </a:buClr>
        <a:buFontTx/>
        <a:buNone/>
        <a:defRPr sz="1148" b="0" i="0" kern="1200">
          <a:solidFill>
            <a:schemeClr val="tx1"/>
          </a:solidFill>
          <a:latin typeface="Gotham Light" pitchFamily="50" charset="0"/>
          <a:ea typeface="Gotham Light" pitchFamily="50" charset="0"/>
          <a:cs typeface="Gotham Light" pitchFamily="50" charset="0"/>
        </a:defRPr>
      </a:lvl2pPr>
      <a:lvl3pPr marL="99098" indent="-99098" algn="l" defTabSz="582930" rtl="0" eaLnBrk="1" latinLnBrk="0" hangingPunct="1">
        <a:lnSpc>
          <a:spcPct val="90000"/>
        </a:lnSpc>
        <a:spcBef>
          <a:spcPts val="701"/>
        </a:spcBef>
        <a:spcAft>
          <a:spcPts val="191"/>
        </a:spcAft>
        <a:buClrTx/>
        <a:buSzPct val="91000"/>
        <a:buFont typeface="Arial" charset="0"/>
        <a:buChar char="•"/>
        <a:defRPr lang="en-US" sz="1020" b="0" i="0" kern="1200" dirty="0">
          <a:solidFill>
            <a:schemeClr val="tx1"/>
          </a:solidFill>
          <a:latin typeface="Gotham Light" pitchFamily="50" charset="0"/>
          <a:ea typeface="Gotham Light" pitchFamily="50" charset="0"/>
          <a:cs typeface="Gotham Light" pitchFamily="50" charset="0"/>
        </a:defRPr>
      </a:lvl3pPr>
      <a:lvl4pPr marL="99098" indent="0" algn="l" defTabSz="582930" rtl="0" eaLnBrk="1" latinLnBrk="0" hangingPunct="1">
        <a:lnSpc>
          <a:spcPct val="90000"/>
        </a:lnSpc>
        <a:spcBef>
          <a:spcPts val="0"/>
        </a:spcBef>
        <a:buClr>
          <a:schemeClr val="accent1"/>
        </a:buClr>
        <a:buFontTx/>
        <a:buNone/>
        <a:defRPr sz="893" b="0" i="0" kern="1200">
          <a:solidFill>
            <a:schemeClr val="tx1"/>
          </a:solidFill>
          <a:latin typeface="Gotham Light" pitchFamily="50" charset="0"/>
          <a:ea typeface="Gotham Light" pitchFamily="50" charset="0"/>
          <a:cs typeface="Gotham Light" pitchFamily="50" charset="0"/>
        </a:defRPr>
      </a:lvl4pPr>
      <a:lvl5pPr marL="99098" indent="-99098" algn="l" defTabSz="582930" rtl="0" eaLnBrk="1" latinLnBrk="0" hangingPunct="1">
        <a:lnSpc>
          <a:spcPct val="99000"/>
        </a:lnSpc>
        <a:spcBef>
          <a:spcPts val="574"/>
        </a:spcBef>
        <a:buClr>
          <a:schemeClr val="accent5"/>
        </a:buClr>
        <a:buSzPct val="91000"/>
        <a:buFont typeface="Arial" panose="020B0604020202020204" pitchFamily="34" charset="0"/>
        <a:buChar char="•"/>
        <a:defRPr sz="1148" kern="1200">
          <a:solidFill>
            <a:schemeClr val="accent2"/>
          </a:solidFill>
          <a:latin typeface="+mn-lt"/>
          <a:ea typeface="+mn-ea"/>
          <a:cs typeface="+mn-cs"/>
        </a:defRPr>
      </a:lvl5pPr>
      <a:lvl6pPr marL="122415" indent="0" algn="l" defTabSz="582930" rtl="0" eaLnBrk="1" latinLnBrk="0" hangingPunct="1">
        <a:lnSpc>
          <a:spcPct val="99000"/>
        </a:lnSpc>
        <a:spcBef>
          <a:spcPts val="0"/>
        </a:spcBef>
        <a:buSzPct val="91000"/>
        <a:buFontTx/>
        <a:buNone/>
        <a:defRPr sz="1148" kern="1200">
          <a:solidFill>
            <a:schemeClr val="accent2"/>
          </a:solidFill>
          <a:latin typeface="+mn-lt"/>
          <a:ea typeface="+mn-ea"/>
          <a:cs typeface="+mn-cs"/>
        </a:defRPr>
      </a:lvl6pPr>
      <a:lvl7pPr marL="0" indent="0" algn="l" defTabSz="582930" rtl="0" eaLnBrk="1" latinLnBrk="0" hangingPunct="1">
        <a:lnSpc>
          <a:spcPct val="99000"/>
        </a:lnSpc>
        <a:spcBef>
          <a:spcPts val="574"/>
        </a:spcBef>
        <a:buSzPct val="91000"/>
        <a:buFontTx/>
        <a:buNone/>
        <a:defRPr sz="1148" b="1" kern="1200">
          <a:solidFill>
            <a:schemeClr val="accent2"/>
          </a:solidFill>
          <a:latin typeface="+mn-lt"/>
          <a:ea typeface="+mn-ea"/>
          <a:cs typeface="+mn-cs"/>
        </a:defRPr>
      </a:lvl7pPr>
      <a:lvl8pPr marL="0" indent="0" algn="l" defTabSz="582930" rtl="0" eaLnBrk="1" latinLnBrk="0" hangingPunct="1">
        <a:lnSpc>
          <a:spcPct val="99000"/>
        </a:lnSpc>
        <a:spcBef>
          <a:spcPts val="0"/>
        </a:spcBef>
        <a:buSzPct val="91000"/>
        <a:buFontTx/>
        <a:buNone/>
        <a:defRPr sz="1148" kern="1200">
          <a:solidFill>
            <a:schemeClr val="accent2"/>
          </a:solidFill>
          <a:latin typeface="+mn-lt"/>
          <a:ea typeface="+mn-ea"/>
          <a:cs typeface="+mn-cs"/>
        </a:defRPr>
      </a:lvl8pPr>
      <a:lvl9pPr marL="0" indent="0" algn="l" defTabSz="582930" rtl="0" eaLnBrk="1" latinLnBrk="0" hangingPunct="1">
        <a:lnSpc>
          <a:spcPct val="99000"/>
        </a:lnSpc>
        <a:spcBef>
          <a:spcPts val="574"/>
        </a:spcBef>
        <a:buSzPct val="91000"/>
        <a:buFontTx/>
        <a:buNone/>
        <a:defRPr sz="1148" i="1" kern="1200">
          <a:solidFill>
            <a:schemeClr val="accent2"/>
          </a:solidFill>
          <a:latin typeface="+mn-lt"/>
          <a:ea typeface="+mn-ea"/>
          <a:cs typeface="+mn-cs"/>
        </a:defRPr>
      </a:lvl9pPr>
    </p:bodyStyle>
    <p:otherStyle>
      <a:defPPr>
        <a:defRPr lang="en-US"/>
      </a:defPPr>
      <a:lvl1pPr marL="0" algn="l" defTabSz="582930" rtl="0" eaLnBrk="1" latinLnBrk="0" hangingPunct="1">
        <a:lnSpc>
          <a:spcPct val="99000"/>
        </a:lnSpc>
        <a:defRPr sz="893" kern="1200">
          <a:solidFill>
            <a:schemeClr val="accent2"/>
          </a:solidFill>
          <a:latin typeface="+mn-lt"/>
          <a:ea typeface="+mn-ea"/>
          <a:cs typeface="+mn-cs"/>
        </a:defRPr>
      </a:lvl1pPr>
      <a:lvl2pPr marL="0" algn="l" defTabSz="582930" rtl="0" eaLnBrk="1" latinLnBrk="0" hangingPunct="1">
        <a:lnSpc>
          <a:spcPct val="99000"/>
        </a:lnSpc>
        <a:spcBef>
          <a:spcPts val="574"/>
        </a:spcBef>
        <a:defRPr sz="893" b="1" kern="1200">
          <a:solidFill>
            <a:schemeClr val="accent2"/>
          </a:solidFill>
          <a:latin typeface="+mn-lt"/>
          <a:ea typeface="+mn-ea"/>
          <a:cs typeface="+mn-cs"/>
        </a:defRPr>
      </a:lvl2pPr>
      <a:lvl3pPr marL="99098" indent="-99098" algn="l" defTabSz="582930" rtl="0" eaLnBrk="1" latinLnBrk="0" hangingPunct="1">
        <a:lnSpc>
          <a:spcPct val="99000"/>
        </a:lnSpc>
        <a:buSzPct val="91000"/>
        <a:buFont typeface="Arial" panose="020B0604020202020204" pitchFamily="34" charset="0"/>
        <a:buChar char="•"/>
        <a:defRPr sz="893" kern="1200">
          <a:solidFill>
            <a:schemeClr val="accent2"/>
          </a:solidFill>
          <a:latin typeface="+mn-lt"/>
          <a:ea typeface="+mn-ea"/>
          <a:cs typeface="+mn-cs"/>
        </a:defRPr>
      </a:lvl3pPr>
      <a:lvl4pPr marL="99098" indent="-99098" algn="l" defTabSz="582930" rtl="0" eaLnBrk="1" latinLnBrk="0" hangingPunct="1">
        <a:lnSpc>
          <a:spcPct val="99000"/>
        </a:lnSpc>
        <a:spcBef>
          <a:spcPts val="574"/>
        </a:spcBef>
        <a:buSzPct val="91000"/>
        <a:buFont typeface="Arial" panose="020B0604020202020204" pitchFamily="34" charset="0"/>
        <a:buChar char="•"/>
        <a:defRPr sz="893" b="1" kern="1200">
          <a:solidFill>
            <a:schemeClr val="accent2"/>
          </a:solidFill>
          <a:latin typeface="+mn-lt"/>
          <a:ea typeface="+mn-ea"/>
          <a:cs typeface="+mn-cs"/>
        </a:defRPr>
      </a:lvl4pPr>
      <a:lvl5pPr marL="99098" algn="l" defTabSz="582930" rtl="0" eaLnBrk="1" latinLnBrk="0" hangingPunct="1">
        <a:lnSpc>
          <a:spcPct val="99000"/>
        </a:lnSpc>
        <a:defRPr sz="893" kern="1200">
          <a:solidFill>
            <a:schemeClr val="accent2"/>
          </a:solidFill>
          <a:latin typeface="+mn-lt"/>
          <a:ea typeface="+mn-ea"/>
          <a:cs typeface="+mn-cs"/>
        </a:defRPr>
      </a:lvl5pPr>
      <a:lvl6pPr marL="0" algn="l" defTabSz="582930" rtl="0" eaLnBrk="1" latinLnBrk="0" hangingPunct="1">
        <a:lnSpc>
          <a:spcPct val="99000"/>
        </a:lnSpc>
        <a:defRPr sz="893" kern="1200">
          <a:solidFill>
            <a:schemeClr val="accent2"/>
          </a:solidFill>
          <a:latin typeface="+mn-lt"/>
          <a:ea typeface="+mn-ea"/>
          <a:cs typeface="+mn-cs"/>
        </a:defRPr>
      </a:lvl6pPr>
      <a:lvl7pPr marL="0" algn="l" defTabSz="582930" rtl="0" eaLnBrk="1" latinLnBrk="0" hangingPunct="1">
        <a:lnSpc>
          <a:spcPct val="99000"/>
        </a:lnSpc>
        <a:defRPr sz="893" kern="1200">
          <a:solidFill>
            <a:schemeClr val="accent2"/>
          </a:solidFill>
          <a:latin typeface="+mn-lt"/>
          <a:ea typeface="+mn-ea"/>
          <a:cs typeface="+mn-cs"/>
        </a:defRPr>
      </a:lvl7pPr>
      <a:lvl8pPr marL="0" algn="l" defTabSz="582930" rtl="0" eaLnBrk="1" latinLnBrk="0" hangingPunct="1">
        <a:lnSpc>
          <a:spcPct val="99000"/>
        </a:lnSpc>
        <a:defRPr sz="893" kern="1200">
          <a:solidFill>
            <a:schemeClr val="accent2"/>
          </a:solidFill>
          <a:latin typeface="+mn-lt"/>
          <a:ea typeface="+mn-ea"/>
          <a:cs typeface="+mn-cs"/>
        </a:defRPr>
      </a:lvl8pPr>
      <a:lvl9pPr marL="0" algn="l" defTabSz="582930" rtl="0" eaLnBrk="1" latinLnBrk="0" hangingPunct="1">
        <a:lnSpc>
          <a:spcPct val="99000"/>
        </a:lnSpc>
        <a:defRPr sz="893" kern="1200">
          <a:solidFill>
            <a:schemeClr val="accent2"/>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90CB834-096B-471A-825F-74C4B7E6E08D}"/>
              </a:ext>
            </a:extLst>
          </p:cNvPr>
          <p:cNvSpPr>
            <a:spLocks noGrp="1"/>
          </p:cNvSpPr>
          <p:nvPr>
            <p:ph type="subTitle" idx="4294967295"/>
          </p:nvPr>
        </p:nvSpPr>
        <p:spPr>
          <a:xfrm>
            <a:off x="360680" y="3278293"/>
            <a:ext cx="6979044" cy="5604449"/>
          </a:xfrm>
          <a:prstGeom prst="rect">
            <a:avLst/>
          </a:prstGeom>
        </p:spPr>
        <p:txBody>
          <a:bodyPr>
            <a:noAutofit/>
          </a:bodyPr>
          <a:lstStyle/>
          <a:p>
            <a:pPr marL="0" indent="0" algn="l">
              <a:lnSpc>
                <a:spcPct val="120000"/>
              </a:lnSpc>
              <a:buNone/>
            </a:pPr>
            <a:r>
              <a:rPr lang="en-US" sz="110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One Field Services (OFS) is </a:t>
            </a:r>
            <a:r>
              <a:rPr lang="en-US" sz="1100" b="1"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unwavering</a:t>
            </a:r>
            <a:r>
              <a:rPr lang="en-US" sz="110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 in our commitment to protecting our employees, customers, contractors and everyone impacted by our operations.  Safety is not just a priority – it is </a:t>
            </a:r>
            <a:r>
              <a:rPr lang="en-US" sz="1100" b="1"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foundational, </a:t>
            </a:r>
            <a:r>
              <a:rPr lang="en-US" sz="110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and a </a:t>
            </a:r>
            <a:r>
              <a:rPr lang="en-US" sz="1100" b="1"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core value</a:t>
            </a:r>
            <a:r>
              <a:rPr lang="en-US" sz="110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  We act with integrity and accountability to meet and exceed all regulatory, customer, and applicable requirements, setting clear objectives and measurable KPIs that enable us to drive continuous EHS improvements.  Our ultimate goal is simple and non-negotiable: </a:t>
            </a:r>
            <a:r>
              <a:rPr lang="en-US" sz="1100" b="1"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do zero harm</a:t>
            </a:r>
            <a:r>
              <a:rPr lang="en-US" sz="110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a:t>
            </a:r>
          </a:p>
          <a:p>
            <a:pPr marL="0" indent="0" algn="l">
              <a:lnSpc>
                <a:spcPct val="120000"/>
              </a:lnSpc>
              <a:buNone/>
            </a:pPr>
            <a:r>
              <a:rPr lang="en-US" sz="1100" b="1"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Our Goal:</a:t>
            </a:r>
          </a:p>
          <a:p>
            <a:pPr marL="344488" lvl="1" indent="-290513" algn="l">
              <a:lnSpc>
                <a:spcPct val="120000"/>
              </a:lnSpc>
              <a:buClrTx/>
              <a:buFont typeface="Wingdings" panose="05000000000000000000" pitchFamily="2" charset="2"/>
              <a:buChar char="Ø"/>
            </a:pPr>
            <a:r>
              <a:rPr lang="en-US" sz="1100" b="1"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No harm to our employees by:</a:t>
            </a:r>
          </a:p>
          <a:p>
            <a:pPr marL="569913" lvl="2" indent="-225425">
              <a:lnSpc>
                <a:spcPct val="100000"/>
              </a:lnSpc>
              <a:spcBef>
                <a:spcPts val="600"/>
              </a:spcBef>
              <a:buFont typeface="Arial" panose="020B0604020202020204" pitchFamily="34" charset="0"/>
              <a:buChar char="•"/>
            </a:pPr>
            <a:r>
              <a:rPr lang="en-US" sz="110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Establishing </a:t>
            </a:r>
            <a:r>
              <a:rPr lang="en-US" sz="1100" b="1"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Life Saving </a:t>
            </a:r>
            <a:r>
              <a:rPr kumimoji="0" lang="en-US" sz="1100" b="1" i="0" u="none" strike="noStrike" kern="1200" cap="none" spc="0" normalizeH="0" baseline="0" noProof="0" dirty="0">
                <a:ln>
                  <a:noFill/>
                </a:ln>
                <a:solidFill>
                  <a:schemeClr val="tx1">
                    <a:lumMod val="75000"/>
                  </a:schemeClr>
                </a:solidFill>
                <a:effectLst/>
                <a:uLnTx/>
                <a:uFillTx/>
                <a:latin typeface="Arial" panose="020B0604020202020204" pitchFamily="34" charset="0"/>
                <a:ea typeface="+mn-ea"/>
                <a:cs typeface="Arial" panose="020B0604020202020204" pitchFamily="34" charset="0"/>
              </a:rPr>
              <a:t>Rules </a:t>
            </a:r>
            <a:r>
              <a:rPr kumimoji="0" lang="en-US" sz="1100" b="0" i="0" u="none" strike="noStrike" kern="1200" cap="none" spc="0" normalizeH="0" baseline="0" noProof="0" dirty="0">
                <a:ln>
                  <a:noFill/>
                </a:ln>
                <a:solidFill>
                  <a:schemeClr val="tx1">
                    <a:lumMod val="75000"/>
                  </a:schemeClr>
                </a:solidFill>
                <a:effectLst/>
                <a:uLnTx/>
                <a:uFillTx/>
                <a:latin typeface="Arial" panose="020B0604020202020204" pitchFamily="34" charset="0"/>
                <a:ea typeface="+mn-ea"/>
                <a:cs typeface="Arial" panose="020B0604020202020204" pitchFamily="34" charset="0"/>
              </a:rPr>
              <a:t>that prevent or mitigate the </a:t>
            </a:r>
            <a:r>
              <a:rPr kumimoji="0" lang="en-US" sz="1100" b="1" i="1" u="none" strike="noStrike" kern="1200" cap="none" spc="0" normalizeH="0" baseline="0" noProof="0" dirty="0">
                <a:ln>
                  <a:noFill/>
                </a:ln>
                <a:solidFill>
                  <a:schemeClr val="tx1">
                    <a:lumMod val="75000"/>
                  </a:schemeClr>
                </a:solidFill>
                <a:effectLst/>
                <a:uLnTx/>
                <a:uFillTx/>
                <a:latin typeface="Arial" panose="020B0604020202020204" pitchFamily="34" charset="0"/>
                <a:ea typeface="+mn-ea"/>
                <a:cs typeface="Arial" panose="020B0604020202020204" pitchFamily="34" charset="0"/>
              </a:rPr>
              <a:t>primary risks </a:t>
            </a:r>
            <a:r>
              <a:rPr kumimoji="0" lang="en-US" sz="1100" b="0" i="0" u="none" strike="noStrike" kern="1200" cap="none" spc="0" normalizeH="0" baseline="0" noProof="0" dirty="0">
                <a:ln>
                  <a:noFill/>
                </a:ln>
                <a:solidFill>
                  <a:schemeClr val="tx1">
                    <a:lumMod val="75000"/>
                  </a:schemeClr>
                </a:solidFill>
                <a:effectLst/>
                <a:uLnTx/>
                <a:uFillTx/>
                <a:latin typeface="Arial" panose="020B0604020202020204" pitchFamily="34" charset="0"/>
                <a:ea typeface="+mn-ea"/>
                <a:cs typeface="Arial" panose="020B0604020202020204" pitchFamily="34" charset="0"/>
              </a:rPr>
              <a:t>in our day-to-day operations </a:t>
            </a:r>
          </a:p>
          <a:p>
            <a:pPr marL="569913" lvl="2" indent="-225425" algn="l">
              <a:lnSpc>
                <a:spcPct val="100000"/>
              </a:lnSpc>
              <a:spcBef>
                <a:spcPts val="600"/>
              </a:spcBef>
              <a:buFont typeface="Arial" panose="020B0604020202020204" pitchFamily="34" charset="0"/>
              <a:buChar char="•"/>
            </a:pPr>
            <a:r>
              <a:rPr lang="en-US" sz="110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Providing </a:t>
            </a:r>
            <a:r>
              <a:rPr lang="en-US" sz="1100" b="1"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safe and healthy working conditions </a:t>
            </a:r>
            <a:r>
              <a:rPr lang="en-US" sz="110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for the prevention of work-related injury and ill-health</a:t>
            </a:r>
          </a:p>
          <a:p>
            <a:pPr marL="569913" lvl="2" indent="-225425" algn="l">
              <a:lnSpc>
                <a:spcPct val="100000"/>
              </a:lnSpc>
              <a:spcBef>
                <a:spcPts val="600"/>
              </a:spcBef>
              <a:buFont typeface="Arial" panose="020B0604020202020204" pitchFamily="34" charset="0"/>
              <a:buChar char="•"/>
            </a:pPr>
            <a:r>
              <a:rPr lang="en-US" sz="110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Delivering </a:t>
            </a:r>
            <a:r>
              <a:rPr lang="en-US" sz="1100" b="1"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proactive, role based EHS training and education</a:t>
            </a:r>
            <a:r>
              <a:rPr lang="en-US" sz="110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 aligned to job specific risks</a:t>
            </a:r>
          </a:p>
          <a:p>
            <a:pPr marL="569913" lvl="2" indent="-225425" algn="l">
              <a:lnSpc>
                <a:spcPct val="100000"/>
              </a:lnSpc>
              <a:spcBef>
                <a:spcPts val="600"/>
              </a:spcBef>
              <a:buFont typeface="Arial" panose="020B0604020202020204" pitchFamily="34" charset="0"/>
              <a:buChar char="•"/>
            </a:pPr>
            <a:r>
              <a:rPr lang="en-US" sz="110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Identifying, eliminating and reducing hazards through risk-based </a:t>
            </a:r>
            <a:r>
              <a:rPr lang="en-US" sz="1100" b="1"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Life Saving Rules </a:t>
            </a:r>
          </a:p>
          <a:p>
            <a:pPr marL="569913" lvl="2" indent="-225425" algn="l">
              <a:lnSpc>
                <a:spcPct val="100000"/>
              </a:lnSpc>
              <a:spcBef>
                <a:spcPts val="600"/>
              </a:spcBef>
              <a:buFont typeface="Arial" panose="020B0604020202020204" pitchFamily="34" charset="0"/>
              <a:buChar char="•"/>
            </a:pPr>
            <a:r>
              <a:rPr lang="en-US" sz="110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Supplying employees with the </a:t>
            </a:r>
            <a:r>
              <a:rPr lang="en-US" sz="1100" b="1"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right tools, resources, and support </a:t>
            </a:r>
            <a:r>
              <a:rPr lang="en-US" sz="110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to work safely</a:t>
            </a:r>
          </a:p>
          <a:p>
            <a:pPr marL="569913" lvl="2" indent="-225425" algn="l">
              <a:lnSpc>
                <a:spcPct val="100000"/>
              </a:lnSpc>
              <a:spcBef>
                <a:spcPts val="600"/>
              </a:spcBef>
              <a:buFont typeface="Arial" panose="020B0604020202020204" pitchFamily="34" charset="0"/>
              <a:buChar char="•"/>
            </a:pPr>
            <a:r>
              <a:rPr lang="en-US" sz="1100" b="1"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Empowering and encourage every employee to STOP WORK </a:t>
            </a:r>
            <a:r>
              <a:rPr lang="en-US" sz="110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when conditions are unsafe – without hesitation or consequence.</a:t>
            </a:r>
          </a:p>
          <a:p>
            <a:pPr marL="344488" lvl="1" indent="-290513" algn="l">
              <a:lnSpc>
                <a:spcPct val="100000"/>
              </a:lnSpc>
              <a:spcBef>
                <a:spcPts val="600"/>
              </a:spcBef>
              <a:buClrTx/>
              <a:buFont typeface="Wingdings" panose="05000000000000000000" pitchFamily="2" charset="2"/>
              <a:buChar char="Ø"/>
            </a:pPr>
            <a:r>
              <a:rPr lang="en-US" sz="1100" b="1"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No harm to the environment by:</a:t>
            </a:r>
          </a:p>
          <a:p>
            <a:pPr marL="569913" lvl="2" indent="-225425">
              <a:lnSpc>
                <a:spcPct val="100000"/>
              </a:lnSpc>
              <a:spcBef>
                <a:spcPts val="600"/>
              </a:spcBef>
              <a:buFont typeface="Arial" panose="020B0604020202020204" pitchFamily="34" charset="0"/>
              <a:buChar char="•"/>
            </a:pPr>
            <a:r>
              <a:rPr lang="en-US" sz="110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Preventing pollution at every level of our operations</a:t>
            </a:r>
          </a:p>
          <a:p>
            <a:pPr marL="569913" lvl="2" indent="-225425">
              <a:lnSpc>
                <a:spcPct val="100000"/>
              </a:lnSpc>
              <a:spcBef>
                <a:spcPts val="600"/>
              </a:spcBef>
              <a:buFont typeface="Arial" panose="020B0604020202020204" pitchFamily="34" charset="0"/>
              <a:buChar char="•"/>
            </a:pPr>
            <a:r>
              <a:rPr lang="en-US" sz="110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Minimizing adverse environmental impacts of our fixed facilities, services and project sites</a:t>
            </a:r>
          </a:p>
          <a:p>
            <a:pPr marL="0" indent="0">
              <a:lnSpc>
                <a:spcPct val="120000"/>
              </a:lnSpc>
              <a:buNone/>
            </a:pPr>
            <a:r>
              <a:rPr lang="en-US" sz="110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We believe strong EHS performance depends on open communication and collaboration. We actively engage and consult with our </a:t>
            </a:r>
            <a:r>
              <a:rPr lang="en-US" sz="110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employees, </a:t>
            </a:r>
            <a:r>
              <a:rPr lang="en-US" sz="110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customers</a:t>
            </a:r>
            <a:r>
              <a:rPr lang="en-US" sz="110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 contractors, and </a:t>
            </a:r>
            <a:r>
              <a:rPr lang="en-US" sz="110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stakeholders, encouraging participation in strengthening our </a:t>
            </a:r>
            <a:r>
              <a:rPr lang="en-US" sz="1100" b="1"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Life Saving Rules </a:t>
            </a:r>
            <a:r>
              <a:rPr lang="en-US" sz="110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and reducing EHS risks and environmental impacts.</a:t>
            </a:r>
          </a:p>
          <a:p>
            <a:pPr marL="0" indent="0" algn="l">
              <a:lnSpc>
                <a:spcPct val="120000"/>
              </a:lnSpc>
              <a:buNone/>
            </a:pPr>
            <a:r>
              <a:rPr lang="en-US" sz="110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EHS is a shared responsibility of </a:t>
            </a:r>
            <a:r>
              <a:rPr lang="en-US" sz="1100" b="1"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every single person </a:t>
            </a:r>
            <a:r>
              <a:rPr lang="en-US" sz="110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at OFS.  Each of us is accountable for protecting ourselves, our co-workers, our customers, site visitors, the communities in which we operate, and the environment. Together we will create a culture where </a:t>
            </a:r>
            <a:r>
              <a:rPr lang="en-US" sz="1100" b="1"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safety leads every decision </a:t>
            </a:r>
            <a:r>
              <a:rPr lang="en-US" sz="110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and zero harm is achievable.</a:t>
            </a:r>
          </a:p>
          <a:p>
            <a:endParaRPr lang="en-US" sz="115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endParaRPr>
          </a:p>
        </p:txBody>
      </p:sp>
      <p:sp>
        <p:nvSpPr>
          <p:cNvPr id="2" name="TextBox 1">
            <a:extLst>
              <a:ext uri="{FF2B5EF4-FFF2-40B4-BE49-F238E27FC236}">
                <a16:creationId xmlns:a16="http://schemas.microsoft.com/office/drawing/2014/main" id="{86A8BFA6-A3B9-4236-91AD-6725937BC68C}"/>
              </a:ext>
            </a:extLst>
          </p:cNvPr>
          <p:cNvSpPr txBox="1"/>
          <p:nvPr/>
        </p:nvSpPr>
        <p:spPr>
          <a:xfrm>
            <a:off x="360680" y="2690143"/>
            <a:ext cx="7157720" cy="584775"/>
          </a:xfrm>
          <a:prstGeom prst="rect">
            <a:avLst/>
          </a:prstGeom>
          <a:noFill/>
        </p:spPr>
        <p:txBody>
          <a:bodyPr wrap="square" rtlCol="0">
            <a:spAutoFit/>
          </a:bodyPr>
          <a:lstStyle/>
          <a:p>
            <a:pPr algn="ctr"/>
            <a:r>
              <a:rPr lang="en-US" sz="3200" dirty="0">
                <a:solidFill>
                  <a:schemeClr val="bg1"/>
                </a:solidFill>
                <a:latin typeface="Sons Condensed Semibold" panose="02060706060206060203" pitchFamily="18" charset="0"/>
              </a:rPr>
              <a:t>Gas Power One Field Services Environment, Health and Safety Policy</a:t>
            </a:r>
          </a:p>
        </p:txBody>
      </p:sp>
    </p:spTree>
    <p:extLst>
      <p:ext uri="{BB962C8B-B14F-4D97-AF65-F5344CB8AC3E}">
        <p14:creationId xmlns:p14="http://schemas.microsoft.com/office/powerpoint/2010/main" val="2114297706"/>
      </p:ext>
    </p:extLst>
  </p:cSld>
  <p:clrMapOvr>
    <a:masterClrMapping/>
  </p:clrMapOvr>
</p:sld>
</file>

<file path=ppt/theme/theme1.xml><?xml version="1.0" encoding="utf-8"?>
<a:theme xmlns:a="http://schemas.openxmlformats.org/drawingml/2006/main" name="FieldCore_2017">
  <a:themeElements>
    <a:clrScheme name="Custom 14">
      <a:dk1>
        <a:srgbClr val="63666A"/>
      </a:dk1>
      <a:lt1>
        <a:srgbClr val="FFFFFF"/>
      </a:lt1>
      <a:dk2>
        <a:srgbClr val="090936"/>
      </a:dk2>
      <a:lt2>
        <a:srgbClr val="FFFFFF"/>
      </a:lt2>
      <a:accent1>
        <a:srgbClr val="FE5000"/>
      </a:accent1>
      <a:accent2>
        <a:srgbClr val="005EB8"/>
      </a:accent2>
      <a:accent3>
        <a:srgbClr val="63666A"/>
      </a:accent3>
      <a:accent4>
        <a:srgbClr val="B1B3B3"/>
      </a:accent4>
      <a:accent5>
        <a:srgbClr val="00B5E2"/>
      </a:accent5>
      <a:accent6>
        <a:srgbClr val="3EAE2A"/>
      </a:accent6>
      <a:hlink>
        <a:srgbClr val="FE5000"/>
      </a:hlink>
      <a:folHlink>
        <a:srgbClr val="090936"/>
      </a:folHlink>
    </a:clrScheme>
    <a:fontScheme name="FieldCore - Gotham">
      <a:majorFont>
        <a:latin typeface="Gotham Light"/>
        <a:ea typeface=""/>
        <a:cs typeface=""/>
      </a:majorFont>
      <a:minorFont>
        <a:latin typeface="Gotham Ligh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66ED2"/>
        </a:solidFill>
      </a:spPr>
      <a:bodyPr wrap="square" rtlCol="0" anchor="ctr">
        <a:noAutofit/>
      </a:bodyPr>
      <a:lstStyle>
        <a:defPPr algn="ctr">
          <a:defRPr dirty="0" smtClean="0">
            <a:solidFill>
              <a:schemeClr val="bg1"/>
            </a:solidFill>
            <a:ea typeface="Arial" charset="0"/>
          </a:defRPr>
        </a:defPPr>
      </a:lstStyle>
    </a:spDef>
    <a:txDef>
      <a:spPr>
        <a:noFill/>
      </a:spPr>
      <a:bodyPr wrap="square" lIns="0" tIns="0" rIns="0" bIns="0" rtlCol="0">
        <a:spAutoFit/>
      </a:bodyPr>
      <a:lstStyle>
        <a:defPPr>
          <a:defRPr dirty="0" smtClean="0">
            <a:solidFill>
              <a:schemeClr val="accent2"/>
            </a:solidFill>
          </a:defRPr>
        </a:defPPr>
      </a:lstStyle>
    </a:txDef>
  </a:objectDefaults>
  <a:extraClrSchemeLst/>
  <a:extLst>
    <a:ext uri="{05A4C25C-085E-4340-85A3-A5531E510DB2}">
      <thm15:themeFamily xmlns:thm15="http://schemas.microsoft.com/office/thememl/2012/main" name="CS18810-01 FC new font template_test1_R1" id="{9AA2E0B5-DA9B-4844-AFA8-7AD242CFC0F9}" vid="{25A4205F-3365-4494-A059-27D7887B492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astReviewDate xmlns="cc7fbaa3-8214-4644-99f1-d2e5a6ae9914">2026-06-01T04:00:00+00:00</LastReviewDate>
    <RevisionNumber xmlns="cc7fbaa3-8214-4644-99f1-d2e5a6ae9914" xsi:nil="true"/>
    <Process_x0020_Owmer xmlns="25586fb6-ed09-4f2d-8ea7-eda1a9fd2320">
      <UserInfo>
        <DisplayName>Cahill, James (GE Vernova)</DisplayName>
        <AccountId>50409</AccountId>
        <AccountType/>
      </UserInfo>
    </Process_x0020_Owmer>
    <Functional_x0020_Owner xmlns="25586fb6-ed09-4f2d-8ea7-eda1a9fd2320">Management Processes - Leadership and Commitment</Functional_x0020_Owner>
    <Nomenclature xmlns="25586fb6-ed09-4f2d-8ea7-eda1a9fd2320">1.0</Nomenclatur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ABA2F64D6E2C740A2EFD32F6136F44B" ma:contentTypeVersion="31" ma:contentTypeDescription="Create a new document." ma:contentTypeScope="" ma:versionID="f6d5169442be2795745eeba6edf0f975">
  <xsd:schema xmlns:xsd="http://www.w3.org/2001/XMLSchema" xmlns:xs="http://www.w3.org/2001/XMLSchema" xmlns:p="http://schemas.microsoft.com/office/2006/metadata/properties" xmlns:ns2="25586fb6-ed09-4f2d-8ea7-eda1a9fd2320" xmlns:ns3="cc7fbaa3-8214-4644-99f1-d2e5a6ae9914" xmlns:ns4="f0c7a816-7a7e-42fb-b4dd-eafc20cb049d" targetNamespace="http://schemas.microsoft.com/office/2006/metadata/properties" ma:root="true" ma:fieldsID="1d6046f623722b44c576f527ef753e5d" ns2:_="" ns3:_="" ns4:_="">
    <xsd:import namespace="25586fb6-ed09-4f2d-8ea7-eda1a9fd2320"/>
    <xsd:import namespace="cc7fbaa3-8214-4644-99f1-d2e5a6ae9914"/>
    <xsd:import namespace="f0c7a816-7a7e-42fb-b4dd-eafc20cb049d"/>
    <xsd:element name="properties">
      <xsd:complexType>
        <xsd:sequence>
          <xsd:element name="documentManagement">
            <xsd:complexType>
              <xsd:all>
                <xsd:element ref="ns2:Process_x0020_Owmer"/>
                <xsd:element ref="ns2:Functional_x0020_Owner"/>
                <xsd:element ref="ns3:LastReviewDate" minOccurs="0"/>
                <xsd:element ref="ns2:Nomenclature" minOccurs="0"/>
                <xsd:element ref="ns3:RevisionNumber" minOccurs="0"/>
                <xsd:element ref="ns2:MediaServiceMetadata" minOccurs="0"/>
                <xsd:element ref="ns2:MediaServiceFastMetadata" minOccurs="0"/>
                <xsd:element ref="ns3:MediaServiceAutoKeyPoints" minOccurs="0"/>
                <xsd:element ref="ns3:MediaServiceKeyPoints" minOccurs="0"/>
                <xsd:element ref="ns4:SharedWithUsers" minOccurs="0"/>
                <xsd:element ref="ns4:SharedWithDetails" minOccurs="0"/>
                <xsd:element ref="ns3:MediaServiceDateTaken" minOccurs="0"/>
                <xsd:element ref="ns3:MediaLengthInSeconds"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5586fb6-ed09-4f2d-8ea7-eda1a9fd2320" elementFormDefault="qualified">
    <xsd:import namespace="http://schemas.microsoft.com/office/2006/documentManagement/types"/>
    <xsd:import namespace="http://schemas.microsoft.com/office/infopath/2007/PartnerControls"/>
    <xsd:element name="Process_x0020_Owmer" ma:index="1" ma:displayName="Have a question? Email the Process Owner" ma:description="Discuss Audit Findings and QWI Updates with the Responsible Person" ma:list="UserInfo" ma:SharePointGroup="0" ma:internalName="Process_x0020_Owmer" ma:readOnly="false" ma:showField="NameWithPictureAndDetails">
      <xsd:complexType>
        <xsd:complexContent>
          <xsd:extension base="dms:User">
            <xsd:sequence>
              <xsd:element name="UserInfo" minOccurs="0" maxOccurs="unbounded">
                <xsd:complexType>
                  <xsd:sequence>
                    <xsd:element name="DisplayName" type="xsd:string" minOccurs="0"/>
                    <xsd:element name="AccountId" type="dms:UserId" minOccurs="0"/>
                    <xsd:element name="AccountType" type="xsd:string" minOccurs="0"/>
                  </xsd:sequence>
                </xsd:complexType>
              </xsd:element>
            </xsd:sequence>
          </xsd:extension>
        </xsd:complexContent>
      </xsd:complexType>
    </xsd:element>
    <xsd:element name="Functional_x0020_Owner" ma:index="2" ma:displayName="Function" ma:default="Management Processes - Leadership and Commitment" ma:description="Management Processes - Leadership and Commitment" ma:format="Dropdown" ma:internalName="Functional_x0020_Owner" ma:readOnly="false">
      <xsd:simpleType>
        <xsd:restriction base="dms:Text">
          <xsd:maxLength value="255"/>
        </xsd:restriction>
      </xsd:simpleType>
    </xsd:element>
    <xsd:element name="Nomenclature" ma:index="4" nillable="true" ma:displayName="Document Number" ma:format="Dropdown" ma:internalName="Nomenclature" ma:readOnly="false">
      <xsd:simpleType>
        <xsd:restriction base="dms:Text">
          <xsd:maxLength value="255"/>
        </xsd:restriction>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c7fbaa3-8214-4644-99f1-d2e5a6ae9914" elementFormDefault="qualified">
    <xsd:import namespace="http://schemas.microsoft.com/office/2006/documentManagement/types"/>
    <xsd:import namespace="http://schemas.microsoft.com/office/infopath/2007/PartnerControls"/>
    <xsd:element name="LastReviewDate" ma:index="3" nillable="true" ma:displayName="Last Review Date" ma:description="The date the procedure was last reviewed or revised" ma:format="DateOnly" ma:internalName="LastReviewDate" ma:readOnly="false">
      <xsd:simpleType>
        <xsd:restriction base="dms:DateTime"/>
      </xsd:simpleType>
    </xsd:element>
    <xsd:element name="RevisionNumber" ma:index="5" nillable="true" ma:displayName="Revision Number" ma:decimals="1" ma:description="The current revision published" ma:format="Dropdown" ma:internalName="RevisionNumber" ma:readOnly="false" ma:percentage="FALSE">
      <xsd:simpleType>
        <xsd:restriction base="dms:Number"/>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hidden="true" ma:internalName="MediaServiceKeyPoints" ma:readOnly="true">
      <xsd:simpleType>
        <xsd:restriction base="dms:Note"/>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0c7a816-7a7e-42fb-b4dd-eafc20cb049d" elementFormDefault="qualified">
    <xsd:import namespace="http://schemas.microsoft.com/office/2006/documentManagement/types"/>
    <xsd:import namespace="http://schemas.microsoft.com/office/infopath/2007/PartnerControls"/>
    <xsd:element name="SharedWithUsers" ma:index="15"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hidden="true" ma:internalName="SharedWithDetail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displayName="QMS Lev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A22B27F-FCF8-4E3D-A0F7-DCE16CE878B0}">
  <ds:schemaRefs>
    <ds:schemaRef ds:uri="http://schemas.microsoft.com/office/2006/metadata/properties"/>
    <ds:schemaRef ds:uri="http://schemas.microsoft.com/office/infopath/2007/PartnerControls"/>
    <ds:schemaRef ds:uri="cc7fbaa3-8214-4644-99f1-d2e5a6ae9914"/>
    <ds:schemaRef ds:uri="25586fb6-ed09-4f2d-8ea7-eda1a9fd2320"/>
  </ds:schemaRefs>
</ds:datastoreItem>
</file>

<file path=customXml/itemProps2.xml><?xml version="1.0" encoding="utf-8"?>
<ds:datastoreItem xmlns:ds="http://schemas.openxmlformats.org/officeDocument/2006/customXml" ds:itemID="{5B41FFAE-10C9-4BEF-8BA7-6629C9BE9868}">
  <ds:schemaRefs>
    <ds:schemaRef ds:uri="http://schemas.microsoft.com/sharepoint/v3/contenttype/forms"/>
  </ds:schemaRefs>
</ds:datastoreItem>
</file>

<file path=customXml/itemProps3.xml><?xml version="1.0" encoding="utf-8"?>
<ds:datastoreItem xmlns:ds="http://schemas.openxmlformats.org/officeDocument/2006/customXml" ds:itemID="{5181E07D-68D4-4C3F-9229-37D7FFE21FD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5586fb6-ed09-4f2d-8ea7-eda1a9fd2320"/>
    <ds:schemaRef ds:uri="cc7fbaa3-8214-4644-99f1-d2e5a6ae9914"/>
    <ds:schemaRef ds:uri="f0c7a816-7a7e-42fb-b4dd-eafc20cb049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15ccb6d1-d335-4996-b6f9-7b6925f08121}" enabled="0" method="" siteId="{15ccb6d1-d335-4996-b6f9-7b6925f08121}" removed="1"/>
</clbl:labelList>
</file>

<file path=docProps/app.xml><?xml version="1.0" encoding="utf-8"?>
<Properties xmlns="http://schemas.openxmlformats.org/officeDocument/2006/extended-properties" xmlns:vt="http://schemas.openxmlformats.org/officeDocument/2006/docPropsVTypes">
  <Template>CS18810-03 FieldCore Template_R3</Template>
  <TotalTime>1060</TotalTime>
  <Words>325</Words>
  <Application>Microsoft Office PowerPoint</Application>
  <PresentationFormat>Custom</PresentationFormat>
  <Paragraphs>15</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FieldCore_2017</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Stout, David (FieldCore)</dc:creator>
  <cp:lastModifiedBy>Cahill, James (GE Vernova)</cp:lastModifiedBy>
  <cp:revision>53</cp:revision>
  <cp:lastPrinted>2018-11-19T17:02:52Z</cp:lastPrinted>
  <dcterms:created xsi:type="dcterms:W3CDTF">2018-11-14T17:47:23Z</dcterms:created>
  <dcterms:modified xsi:type="dcterms:W3CDTF">2026-08-25T09:48:12Z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0x010100AABA2F64D6E2C740A2EFD32F6136F44B</vt:lpwstr>
  </property>
</Properties>
</file>