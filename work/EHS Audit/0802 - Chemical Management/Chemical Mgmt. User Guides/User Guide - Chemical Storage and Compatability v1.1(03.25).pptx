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11"/>
  </p:notesMasterIdLst>
  <p:handoutMasterIdLst>
    <p:handoutMasterId r:id="rId12"/>
  </p:handoutMasterIdLst>
  <p:sldIdLst>
    <p:sldId id="323" r:id="rId5"/>
    <p:sldId id="321" r:id="rId6"/>
    <p:sldId id="311" r:id="rId7"/>
    <p:sldId id="2147472054" r:id="rId8"/>
    <p:sldId id="269" r:id="rId9"/>
    <p:sldId id="370" r:id="rId10"/>
  </p:sldIdLst>
  <p:sldSz cx="12192000" cy="6858000"/>
  <p:notesSz cx="6858000" cy="9144000"/>
  <p:embeddedFontLst>
    <p:embeddedFont>
      <p:font typeface="Inter" panose="020B0502030000000004" pitchFamily="34" charset="0"/>
      <p:regular r:id="rId13"/>
      <p:bold r:id="rId14"/>
      <p:italic r:id="rId15"/>
      <p:boldItalic r:id="rId16"/>
    </p:embeddedFont>
    <p:embeddedFont>
      <p:font typeface="Sons Condensed Extrabold" panose="02060906060206060203" pitchFamily="18" charset="0"/>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9297"/>
    <a:srgbClr val="C7DBDB"/>
    <a:srgbClr val="96BDBD"/>
    <a:srgbClr val="458A8A"/>
    <a:srgbClr val="212121"/>
    <a:srgbClr val="58984B"/>
    <a:srgbClr val="BFA682"/>
    <a:srgbClr val="8F7D62"/>
    <a:srgbClr val="438989"/>
    <a:srgbClr val="97BCB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859" autoAdjust="0"/>
  </p:normalViewPr>
  <p:slideViewPr>
    <p:cSldViewPr snapToGrid="0" snapToObjects="1" showGuides="1">
      <p:cViewPr varScale="1">
        <p:scale>
          <a:sx n="102" d="100"/>
          <a:sy n="102" d="100"/>
        </p:scale>
        <p:origin x="126" y="318"/>
      </p:cViewPr>
      <p:guideLst>
        <p:guide orient="horz" pos="2256"/>
        <p:guide pos="3696"/>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13682"/>
    </p:cViewPr>
  </p:sorterViewPr>
  <p:notesViewPr>
    <p:cSldViewPr snapToGrid="0" snapToObjects="1" showGuides="1">
      <p:cViewPr varScale="1">
        <p:scale>
          <a:sx n="76" d="100"/>
          <a:sy n="76" d="100"/>
        </p:scale>
        <p:origin x="3312" y="19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3/10/2025</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3/10/2025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xfrm>
            <a:off x="4143587" y="9119474"/>
            <a:ext cx="3169920" cy="480060"/>
          </a:xfrm>
          <a:prstGeom prst="rect">
            <a:avLst/>
          </a:prstGeom>
          <a:noFill/>
        </p:spPr>
        <p:txBody>
          <a:bodyPr lIns="96661" tIns="48331" rIns="96661" bIns="48331"/>
          <a:lstStyle>
            <a:lvl1pPr>
              <a:defRPr sz="3400">
                <a:solidFill>
                  <a:schemeClr val="tx1"/>
                </a:solidFill>
                <a:latin typeface="GE Inspira Pitch" pitchFamily="34" charset="0"/>
              </a:defRPr>
            </a:lvl1pPr>
            <a:lvl2pPr marL="785372" indent="-302066">
              <a:defRPr sz="3400">
                <a:solidFill>
                  <a:schemeClr val="tx1"/>
                </a:solidFill>
                <a:latin typeface="GE Inspira Pitch" pitchFamily="34" charset="0"/>
              </a:defRPr>
            </a:lvl2pPr>
            <a:lvl3pPr marL="1208265" indent="-241653">
              <a:defRPr sz="3400">
                <a:solidFill>
                  <a:schemeClr val="tx1"/>
                </a:solidFill>
                <a:latin typeface="GE Inspira Pitch" pitchFamily="34" charset="0"/>
              </a:defRPr>
            </a:lvl3pPr>
            <a:lvl4pPr marL="1691571" indent="-241653">
              <a:defRPr sz="3400">
                <a:solidFill>
                  <a:schemeClr val="tx1"/>
                </a:solidFill>
                <a:latin typeface="GE Inspira Pitch" pitchFamily="34" charset="0"/>
              </a:defRPr>
            </a:lvl4pPr>
            <a:lvl5pPr marL="2174878" indent="-241653">
              <a:defRPr sz="3400">
                <a:solidFill>
                  <a:schemeClr val="tx1"/>
                </a:solidFill>
                <a:latin typeface="GE Inspira Pitch" pitchFamily="34" charset="0"/>
              </a:defRPr>
            </a:lvl5pPr>
            <a:lvl6pPr marL="2658184" indent="-241653" eaLnBrk="0" fontAlgn="base" hangingPunct="0">
              <a:spcBef>
                <a:spcPct val="0"/>
              </a:spcBef>
              <a:spcAft>
                <a:spcPct val="0"/>
              </a:spcAft>
              <a:defRPr sz="3400">
                <a:solidFill>
                  <a:schemeClr val="tx1"/>
                </a:solidFill>
                <a:latin typeface="GE Inspira Pitch" pitchFamily="34" charset="0"/>
              </a:defRPr>
            </a:lvl6pPr>
            <a:lvl7pPr marL="3141490" indent="-241653" eaLnBrk="0" fontAlgn="base" hangingPunct="0">
              <a:spcBef>
                <a:spcPct val="0"/>
              </a:spcBef>
              <a:spcAft>
                <a:spcPct val="0"/>
              </a:spcAft>
              <a:defRPr sz="3400">
                <a:solidFill>
                  <a:schemeClr val="tx1"/>
                </a:solidFill>
                <a:latin typeface="GE Inspira Pitch" pitchFamily="34" charset="0"/>
              </a:defRPr>
            </a:lvl7pPr>
            <a:lvl8pPr marL="3624796" indent="-241653" eaLnBrk="0" fontAlgn="base" hangingPunct="0">
              <a:spcBef>
                <a:spcPct val="0"/>
              </a:spcBef>
              <a:spcAft>
                <a:spcPct val="0"/>
              </a:spcAft>
              <a:defRPr sz="3400">
                <a:solidFill>
                  <a:schemeClr val="tx1"/>
                </a:solidFill>
                <a:latin typeface="GE Inspira Pitch" pitchFamily="34" charset="0"/>
              </a:defRPr>
            </a:lvl8pPr>
            <a:lvl9pPr marL="4108102" indent="-241653" eaLnBrk="0" fontAlgn="base" hangingPunct="0">
              <a:spcBef>
                <a:spcPct val="0"/>
              </a:spcBef>
              <a:spcAft>
                <a:spcPct val="0"/>
              </a:spcAft>
              <a:defRPr sz="3400">
                <a:solidFill>
                  <a:schemeClr val="tx1"/>
                </a:solidFill>
                <a:latin typeface="GE Inspira Pitch" pitchFamily="34" charset="0"/>
              </a:defRPr>
            </a:lvl9pPr>
          </a:lstStyle>
          <a:p>
            <a:fld id="{901FFD66-DFDE-4F93-881F-10CF7DD72981}" type="slidenum">
              <a:rPr lang="en-US" sz="1300"/>
              <a:pPr/>
              <a:t>2</a:t>
            </a:fld>
            <a:endParaRPr lang="en-US" sz="1300"/>
          </a:p>
        </p:txBody>
      </p:sp>
      <p:sp>
        <p:nvSpPr>
          <p:cNvPr id="5123" name="Rectangle 2"/>
          <p:cNvSpPr>
            <a:spLocks noGrp="1" noRot="1" noChangeAspect="1" noChangeArrowheads="1" noTextEdit="1"/>
          </p:cNvSpPr>
          <p:nvPr>
            <p:ph type="sldImg"/>
          </p:nvPr>
        </p:nvSpPr>
        <p:spPr>
          <a:xfrm>
            <a:off x="-41275" y="228600"/>
            <a:ext cx="7642225" cy="4298950"/>
          </a:xfrm>
          <a:ln/>
        </p:spPr>
      </p:sp>
      <p:sp>
        <p:nvSpPr>
          <p:cNvPr id="512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xfrm>
            <a:off x="4143587" y="9119474"/>
            <a:ext cx="3169920" cy="480060"/>
          </a:xfrm>
          <a:prstGeom prst="rect">
            <a:avLst/>
          </a:prstGeom>
          <a:noFill/>
        </p:spPr>
        <p:txBody>
          <a:bodyPr lIns="96661" tIns="48331" rIns="96661" bIns="48331"/>
          <a:lstStyle>
            <a:lvl1pPr>
              <a:defRPr sz="3400">
                <a:solidFill>
                  <a:schemeClr val="tx1"/>
                </a:solidFill>
                <a:latin typeface="GE Inspira Pitch" pitchFamily="34" charset="0"/>
              </a:defRPr>
            </a:lvl1pPr>
            <a:lvl2pPr marL="785372" indent="-302066">
              <a:defRPr sz="3400">
                <a:solidFill>
                  <a:schemeClr val="tx1"/>
                </a:solidFill>
                <a:latin typeface="GE Inspira Pitch" pitchFamily="34" charset="0"/>
              </a:defRPr>
            </a:lvl2pPr>
            <a:lvl3pPr marL="1208265" indent="-241653">
              <a:defRPr sz="3400">
                <a:solidFill>
                  <a:schemeClr val="tx1"/>
                </a:solidFill>
                <a:latin typeface="GE Inspira Pitch" pitchFamily="34" charset="0"/>
              </a:defRPr>
            </a:lvl3pPr>
            <a:lvl4pPr marL="1691571" indent="-241653">
              <a:defRPr sz="3400">
                <a:solidFill>
                  <a:schemeClr val="tx1"/>
                </a:solidFill>
                <a:latin typeface="GE Inspira Pitch" pitchFamily="34" charset="0"/>
              </a:defRPr>
            </a:lvl4pPr>
            <a:lvl5pPr marL="2174878" indent="-241653">
              <a:defRPr sz="3400">
                <a:solidFill>
                  <a:schemeClr val="tx1"/>
                </a:solidFill>
                <a:latin typeface="GE Inspira Pitch" pitchFamily="34" charset="0"/>
              </a:defRPr>
            </a:lvl5pPr>
            <a:lvl6pPr marL="2658184" indent="-241653" eaLnBrk="0" fontAlgn="base" hangingPunct="0">
              <a:spcBef>
                <a:spcPct val="0"/>
              </a:spcBef>
              <a:spcAft>
                <a:spcPct val="0"/>
              </a:spcAft>
              <a:defRPr sz="3400">
                <a:solidFill>
                  <a:schemeClr val="tx1"/>
                </a:solidFill>
                <a:latin typeface="GE Inspira Pitch" pitchFamily="34" charset="0"/>
              </a:defRPr>
            </a:lvl6pPr>
            <a:lvl7pPr marL="3141490" indent="-241653" eaLnBrk="0" fontAlgn="base" hangingPunct="0">
              <a:spcBef>
                <a:spcPct val="0"/>
              </a:spcBef>
              <a:spcAft>
                <a:spcPct val="0"/>
              </a:spcAft>
              <a:defRPr sz="3400">
                <a:solidFill>
                  <a:schemeClr val="tx1"/>
                </a:solidFill>
                <a:latin typeface="GE Inspira Pitch" pitchFamily="34" charset="0"/>
              </a:defRPr>
            </a:lvl7pPr>
            <a:lvl8pPr marL="3624796" indent="-241653" eaLnBrk="0" fontAlgn="base" hangingPunct="0">
              <a:spcBef>
                <a:spcPct val="0"/>
              </a:spcBef>
              <a:spcAft>
                <a:spcPct val="0"/>
              </a:spcAft>
              <a:defRPr sz="3400">
                <a:solidFill>
                  <a:schemeClr val="tx1"/>
                </a:solidFill>
                <a:latin typeface="GE Inspira Pitch" pitchFamily="34" charset="0"/>
              </a:defRPr>
            </a:lvl8pPr>
            <a:lvl9pPr marL="4108102" indent="-241653" eaLnBrk="0" fontAlgn="base" hangingPunct="0">
              <a:spcBef>
                <a:spcPct val="0"/>
              </a:spcBef>
              <a:spcAft>
                <a:spcPct val="0"/>
              </a:spcAft>
              <a:defRPr sz="3400">
                <a:solidFill>
                  <a:schemeClr val="tx1"/>
                </a:solidFill>
                <a:latin typeface="GE Inspira Pitch" pitchFamily="34" charset="0"/>
              </a:defRPr>
            </a:lvl9pPr>
          </a:lstStyle>
          <a:p>
            <a:fld id="{901FFD66-DFDE-4F93-881F-10CF7DD72981}" type="slidenum">
              <a:rPr lang="en-US" sz="1300"/>
              <a:pPr/>
              <a:t>3</a:t>
            </a:fld>
            <a:endParaRPr lang="en-US" sz="1300"/>
          </a:p>
        </p:txBody>
      </p:sp>
      <p:sp>
        <p:nvSpPr>
          <p:cNvPr id="5123" name="Rectangle 2"/>
          <p:cNvSpPr>
            <a:spLocks noGrp="1" noRot="1" noChangeAspect="1" noChangeArrowheads="1" noTextEdit="1"/>
          </p:cNvSpPr>
          <p:nvPr>
            <p:ph type="sldImg"/>
          </p:nvPr>
        </p:nvSpPr>
        <p:spPr>
          <a:xfrm>
            <a:off x="-41275" y="228600"/>
            <a:ext cx="7642225" cy="4298950"/>
          </a:xfrm>
          <a:ln/>
        </p:spPr>
      </p:sp>
      <p:sp>
        <p:nvSpPr>
          <p:cNvPr id="512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2"/>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a:solidFill>
                  <a:schemeClr val="tx1"/>
                </a:solidFill>
              </a:defRPr>
            </a:lvl1pPr>
          </a:lstStyle>
          <a:p>
            <a:r>
              <a:rPr lang="en-US"/>
              <a:t>© 2023 GE Vernova and/or its affiliates. All rights reserved.</a:t>
            </a:r>
            <a:endParaRPr lang="en-US" dirty="0"/>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a:solidFill>
                  <a:srgbClr val="FAFAFA"/>
                </a:solidFill>
              </a:defRPr>
            </a:lvl1pPr>
          </a:lstStyle>
          <a:p>
            <a:r>
              <a:rPr lang="en-US"/>
              <a:t>© 2023 GE Vernova and/or its affiliates. All rights reserved.</a:t>
            </a:r>
            <a:endParaRPr lang="en-US" dirty="0"/>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2"/>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190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3" orient="horz" pos="27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2"/>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a:solidFill>
                  <a:srgbClr val="212121"/>
                </a:solidFill>
              </a:defRPr>
            </a:lvl1pPr>
          </a:lstStyle>
          <a:p>
            <a:r>
              <a:rPr lang="en-US"/>
              <a:t>© 2023 GE Vernova and/or its affiliates. All rights reserved.</a:t>
            </a:r>
            <a:endParaRPr lang="en-US" dirty="0"/>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210496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4 Dark Photo Background">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a:solidFill>
                  <a:schemeClr val="tx1"/>
                </a:solidFill>
              </a:defRPr>
            </a:lvl1pPr>
          </a:lstStyle>
          <a:p>
            <a:r>
              <a:rPr lang="en-US"/>
              <a:t>© 2023 GE Vernova and/or its affiliates. All rights reserved.</a:t>
            </a:r>
            <a:endParaRPr lang="en-US" dirty="0"/>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2"/>
          <a:stretch>
            <a:fillRect/>
          </a:stretch>
        </p:blipFill>
        <p:spPr>
          <a:xfrm>
            <a:off x="259641" y="272267"/>
            <a:ext cx="2606040" cy="814067"/>
          </a:xfrm>
          <a:prstGeom prst="rect">
            <a:avLst/>
          </a:prstGeom>
        </p:spPr>
      </p:pic>
    </p:spTree>
    <p:extLst>
      <p:ext uri="{BB962C8B-B14F-4D97-AF65-F5344CB8AC3E}">
        <p14:creationId xmlns:p14="http://schemas.microsoft.com/office/powerpoint/2010/main" val="370146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D981922-7652-D74D-9BCA-4EBCFEFB0217}"/>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4176268"/>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886635505"/>
      </p:ext>
    </p:extLst>
  </p:cSld>
  <p:clrMapOvr>
    <a:masterClrMapping/>
  </p:clrMapOvr>
  <p:extLst>
    <p:ext uri="{DCECCB84-F9BA-43D5-87BE-67443E8EF086}">
      <p15:sldGuideLst xmlns:p15="http://schemas.microsoft.com/office/powerpoint/2012/main">
        <p15:guide id="1" orient="horz" pos="8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04126460"/>
      </p:ext>
    </p:extLst>
  </p:cSld>
  <p:clrMapOvr>
    <a:masterClrMapping/>
  </p:clrMapOvr>
  <p:extLst>
    <p:ext uri="{DCECCB84-F9BA-43D5-87BE-67443E8EF086}">
      <p15:sldGuideLst xmlns:p15="http://schemas.microsoft.com/office/powerpoint/2012/main">
        <p15:guide id="1" orient="horz" pos="1320" userDrawn="1">
          <p15:clr>
            <a:srgbClr val="FBAE40"/>
          </p15:clr>
        </p15:guide>
        <p15:guide id="2" orient="horz" pos="69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7214207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14"/>
          </p:nvPr>
        </p:nvSpPr>
        <p:spPr>
          <a:xfrm>
            <a:off x="419099"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15"/>
          </p:nvPr>
        </p:nvSpPr>
        <p:spPr>
          <a:xfrm>
            <a:off x="6096000"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562102217"/>
      </p:ext>
    </p:extLst>
  </p:cSld>
  <p:clrMapOvr>
    <a:masterClrMapping/>
  </p:clrMapOvr>
  <p:extLst>
    <p:ext uri="{DCECCB84-F9BA-43D5-87BE-67443E8EF086}">
      <p15:sldGuideLst xmlns:p15="http://schemas.microsoft.com/office/powerpoint/2012/main">
        <p15:guide id="1" orient="horz" pos="1320" userDrawn="1">
          <p15:clr>
            <a:srgbClr val="FBAE40"/>
          </p15:clr>
        </p15:guide>
        <p15:guide id="2" pos="3840" userDrawn="1">
          <p15:clr>
            <a:srgbClr val="FBAE40"/>
          </p15:clr>
        </p15:guide>
        <p15:guide id="3" orient="horz" pos="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 Asy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36994692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 Asymetrical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18048575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Asymmetrical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290989164"/>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 Asymmetrical 2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743160294"/>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3-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3-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821405647"/>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62642070"/>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4 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10;&#10;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66450991"/>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3 and 1/3-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13"/>
          </p:nvPr>
        </p:nvSpPr>
        <p:spPr>
          <a:xfrm>
            <a:off x="419099" y="1403350"/>
            <a:ext cx="7296912"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15"/>
          </p:nvPr>
        </p:nvSpPr>
        <p:spPr>
          <a:xfrm>
            <a:off x="8000999" y="1403350"/>
            <a:ext cx="3787133"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06879767"/>
      </p:ext>
    </p:extLst>
  </p:cSld>
  <p:clrMapOvr>
    <a:masterClrMapping/>
  </p:clrMapOvr>
  <p:extLst>
    <p:ext uri="{DCECCB84-F9BA-43D5-87BE-67443E8EF086}">
      <p15:sldGuideLst xmlns:p15="http://schemas.microsoft.com/office/powerpoint/2012/main">
        <p15:guide id="2" pos="504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Column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20866178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25720672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1_2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73984719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3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4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58873889"/>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oxed Asym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085943709"/>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3"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pPr lvl="0"/>
            <a:r>
              <a:rPr lang="en-US" dirty="0"/>
              <a:t>[Optional section ##]</a:t>
            </a:r>
          </a:p>
        </p:txBody>
      </p:sp>
    </p:spTree>
    <p:extLst>
      <p:ext uri="{BB962C8B-B14F-4D97-AF65-F5344CB8AC3E}">
        <p14:creationId xmlns:p14="http://schemas.microsoft.com/office/powerpoint/2010/main" val="1263291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4" orient="horz" pos="273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pPr lvl="0"/>
            <a:r>
              <a:rPr lang="en-US" dirty="0"/>
              <a:t>[Optional section ##]</a:t>
            </a:r>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chemeClr val="tx1"/>
                </a:solidFill>
                <a:latin typeface="Sons Condensed Extrabold" panose="02060906060206060203" pitchFamily="18" charset="0"/>
              </a:defRPr>
            </a:lvl1pPr>
          </a:lstStyle>
          <a:p>
            <a:r>
              <a:rPr lang="en-US" dirty="0"/>
              <a:t>CLICK TO EDIT MASTER TITLE STYLE</a:t>
            </a:r>
          </a:p>
        </p:txBody>
      </p:sp>
    </p:spTree>
    <p:extLst>
      <p:ext uri="{BB962C8B-B14F-4D97-AF65-F5344CB8AC3E}">
        <p14:creationId xmlns:p14="http://schemas.microsoft.com/office/powerpoint/2010/main" val="42288924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4"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pPr marL="0" lvl="0" indent="0" algn="l" defTabSz="914400" rtl="0" eaLnBrk="1" latinLnBrk="0" hangingPunct="1">
              <a:lnSpc>
                <a:spcPct val="100000"/>
              </a:lnSpc>
              <a:spcBef>
                <a:spcPts val="0"/>
              </a:spcBef>
              <a:spcAft>
                <a:spcPts val="0"/>
              </a:spcAft>
              <a:buClr>
                <a:schemeClr val="tx1"/>
              </a:buClr>
              <a:buFont typeface="Arial" panose="020B0604020202020204" pitchFamily="34" charset="0"/>
              <a:buNone/>
            </a:pPr>
            <a:r>
              <a:rPr lang="en-US" dirty="0"/>
              <a:t>[Optional section ##]</a:t>
            </a:r>
          </a:p>
        </p:txBody>
      </p:sp>
    </p:spTree>
    <p:extLst>
      <p:ext uri="{BB962C8B-B14F-4D97-AF65-F5344CB8AC3E}">
        <p14:creationId xmlns:p14="http://schemas.microsoft.com/office/powerpoint/2010/main" val="1971472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4">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484835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fographics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10;&#10;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26311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userDrawn="1">
          <p15:clr>
            <a:srgbClr val="FBAE40"/>
          </p15:clr>
        </p15:guide>
        <p15:guide id="3" pos="4128" userDrawn="1">
          <p15:clr>
            <a:srgbClr val="FBAE40"/>
          </p15:clr>
        </p15:guide>
        <p15:guide id="4" pos="4824" userDrawn="1">
          <p15:clr>
            <a:srgbClr val="FBAE40"/>
          </p15:clr>
        </p15:guide>
        <p15:guide id="5" orient="horz" pos="884" userDrawn="1">
          <p15:clr>
            <a:srgbClr val="FBAE40"/>
          </p15:clr>
        </p15:guide>
        <p15:guide id="6" orient="horz" pos="1498" userDrawn="1">
          <p15:clr>
            <a:srgbClr val="FBAE40"/>
          </p15:clr>
        </p15:guide>
        <p15:guide id="7" orient="horz" pos="2116" userDrawn="1">
          <p15:clr>
            <a:srgbClr val="FBAE40"/>
          </p15:clr>
        </p15:guide>
        <p15:guide id="8" orient="horz" pos="2736" userDrawn="1">
          <p15:clr>
            <a:srgbClr val="FBAE40"/>
          </p15:clr>
        </p15:guide>
        <p15:guide id="9" orient="horz" pos="3350" userDrawn="1">
          <p15:clr>
            <a:srgbClr val="FBAE40"/>
          </p15:clr>
        </p15:guide>
        <p15:guide id="10" pos="55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s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10;&#10;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184104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userDrawn="1">
          <p15:clr>
            <a:srgbClr val="FBAE40"/>
          </p15:clr>
        </p15:guide>
        <p15:guide id="8" orient="horz" pos="2736">
          <p15:clr>
            <a:srgbClr val="FBAE40"/>
          </p15:clr>
        </p15:guide>
        <p15:guide id="9" orient="horz" pos="335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esente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8"/>
          </p:nvPr>
        </p:nvSpPr>
        <p:spPr>
          <a:xfrm>
            <a:off x="17145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0"/>
          </p:nvPr>
        </p:nvSpPr>
        <p:spPr>
          <a:xfrm>
            <a:off x="5500689"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22"/>
          </p:nvPr>
        </p:nvSpPr>
        <p:spPr>
          <a:xfrm>
            <a:off x="92964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24"/>
          </p:nvPr>
        </p:nvSpPr>
        <p:spPr>
          <a:xfrm>
            <a:off x="17145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26"/>
          </p:nvPr>
        </p:nvSpPr>
        <p:spPr>
          <a:xfrm>
            <a:off x="5500689"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28"/>
          </p:nvPr>
        </p:nvSpPr>
        <p:spPr>
          <a:xfrm>
            <a:off x="92964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10;&#10;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367970595"/>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2400" userDrawn="1">
          <p15:clr>
            <a:srgbClr val="FBAE40"/>
          </p15:clr>
        </p15:guide>
        <p15:guide id="4" pos="1080" userDrawn="1">
          <p15:clr>
            <a:srgbClr val="FBAE40"/>
          </p15:clr>
        </p15:guide>
        <p15:guide id="5" pos="3465" userDrawn="1">
          <p15:clr>
            <a:srgbClr val="FBAE40"/>
          </p15:clr>
        </p15:guide>
        <p15:guide id="6" pos="5856" userDrawn="1">
          <p15:clr>
            <a:srgbClr val="FBAE40"/>
          </p15:clr>
        </p15:guide>
        <p15:guide id="7" orient="horz" pos="88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284725704"/>
      </p:ext>
    </p:extLst>
  </p:cSld>
  <p:clrMapOvr>
    <a:masterClrMapping/>
  </p:clrMapOvr>
  <p:extLst>
    <p:ext uri="{DCECCB84-F9BA-43D5-87BE-67443E8EF086}">
      <p15:sldGuideLst xmlns:p15="http://schemas.microsoft.com/office/powerpoint/2012/main">
        <p15:guide id="2" orient="horz" pos="15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667974532"/>
      </p:ext>
    </p:extLst>
  </p:cSld>
  <p:clrMapOvr>
    <a:masterClrMapping/>
  </p:clrMapOvr>
  <p:extLst>
    <p:ext uri="{DCECCB84-F9BA-43D5-87BE-67443E8EF086}">
      <p15:sldGuideLst xmlns:p15="http://schemas.microsoft.com/office/powerpoint/2012/main">
        <p15:guide id="2" pos="4008" userDrawn="1">
          <p15:clr>
            <a:srgbClr val="FBAE40"/>
          </p15:clr>
        </p15:guide>
        <p15:guide id="4" orient="horz" pos="15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Lar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09379626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Side-by-S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Side-by-S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2"/>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579359531"/>
      </p:ext>
    </p:extLst>
  </p:cSld>
  <p:clrMapOvr>
    <a:masterClrMapping/>
  </p:clrMapOvr>
  <p:extLst>
    <p:ext uri="{DCECCB84-F9BA-43D5-87BE-67443E8EF086}">
      <p15:sldGuideLst xmlns:p15="http://schemas.microsoft.com/office/powerpoint/2012/main">
        <p15:guide id="2" orient="horz" userDrawn="1">
          <p15:clr>
            <a:srgbClr val="FBAE40"/>
          </p15:clr>
        </p15:guide>
        <p15:guide id="4" orient="horz" pos="456"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Statement 1">
    <p:bg>
      <p:bgPr>
        <a:solidFill>
          <a:srgbClr val="005E6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chemeClr val="tx1"/>
                </a:solidFill>
              </a:defRPr>
            </a:lvl1pPr>
          </a:lstStyle>
          <a:p>
            <a:r>
              <a:rPr lang="en-US"/>
              <a:t>© 2023 GE Vernova and/or its affiliates. All rights reserved.</a:t>
            </a:r>
            <a:endParaRPr lang="en-US" dirty="0"/>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1" y="615950"/>
            <a:ext cx="5494420" cy="5486400"/>
          </a:xfrm>
        </p:spPr>
        <p:txBody>
          <a:bodyPr anchor="t" anchorCtr="0"/>
          <a:lstStyle>
            <a:lvl1pPr marL="0" indent="0">
              <a:lnSpc>
                <a:spcPct val="85000"/>
              </a:lnSpc>
              <a:spcAft>
                <a:spcPts val="1000"/>
              </a:spcAft>
              <a:defRPr sz="5000" cap="all"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pPr lvl="0"/>
            <a:r>
              <a:rPr lang="en-US" dirty="0"/>
              <a:t>CLICK TO EDIT MASTER TEXT STYLES</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405188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tatement 3">
    <p:bg>
      <p:bgPr>
        <a:solidFill>
          <a:schemeClr val="tx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0" y="615950"/>
            <a:ext cx="5313947" cy="5486400"/>
          </a:xfrm>
        </p:spPr>
        <p:txBody>
          <a:bodyPr anchor="t" anchorCtr="0"/>
          <a:lstStyle>
            <a:lvl1pPr marL="0" indent="0">
              <a:lnSpc>
                <a:spcPct val="85000"/>
              </a:lnSpc>
              <a:spcAft>
                <a:spcPts val="0"/>
              </a:spcAft>
              <a:defRPr sz="5000" cap="all"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pPr lvl="0"/>
            <a:r>
              <a:rPr lang="en-US" dirty="0"/>
              <a:t>CLICK TO EDIT MASTER TEXT STYLES</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10;&#10;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471583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Statistics">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4148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Statistics -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249074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edium Stat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chemeClr val="bg1"/>
                </a:solidFill>
              </a:defRPr>
            </a:lvl1pPr>
          </a:lstStyle>
          <a:p>
            <a:pPr lvl="0"/>
            <a:r>
              <a:rPr lang="en-US"/>
              <a:t>Click to edit Master text styles</a:t>
            </a:r>
          </a:p>
        </p:txBody>
      </p:sp>
      <p:pic>
        <p:nvPicPr>
          <p:cNvPr id="4" name="Picture 3" descr="Text&#10;&#10;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Tree>
    <p:extLst>
      <p:ext uri="{BB962C8B-B14F-4D97-AF65-F5344CB8AC3E}">
        <p14:creationId xmlns:p14="http://schemas.microsoft.com/office/powerpoint/2010/main" val="14162257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edium Stat 3">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rgbClr val="212121"/>
                </a:solidFill>
              </a:defRPr>
            </a:lvl1pPr>
          </a:lstStyle>
          <a:p>
            <a:pPr lvl="0"/>
            <a:r>
              <a:rPr lang="en-US"/>
              <a:t>Click to edit Master text styles</a:t>
            </a:r>
          </a:p>
        </p:txBody>
      </p:sp>
      <p:pic>
        <p:nvPicPr>
          <p:cNvPr id="7" name="Picture 6" descr="Text&#10;&#10;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Tree>
    <p:extLst>
      <p:ext uri="{BB962C8B-B14F-4D97-AF65-F5344CB8AC3E}">
        <p14:creationId xmlns:p14="http://schemas.microsoft.com/office/powerpoint/2010/main" val="22607089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Stat 1">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10;&#10;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420006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rge Stat 2">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10;&#10;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Tree>
    <p:extLst>
      <p:ext uri="{BB962C8B-B14F-4D97-AF65-F5344CB8AC3E}">
        <p14:creationId xmlns:p14="http://schemas.microsoft.com/office/powerpoint/2010/main" val="22762467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2"/>
          <a:stretch>
            <a:fillRect/>
          </a:stretch>
        </p:blipFill>
        <p:spPr>
          <a:xfrm>
            <a:off x="2598420" y="2336437"/>
            <a:ext cx="6995160" cy="2185127"/>
          </a:xfrm>
          <a:prstGeom prst="rect">
            <a:avLst/>
          </a:prstGeom>
        </p:spPr>
      </p:pic>
    </p:spTree>
    <p:extLst>
      <p:ext uri="{BB962C8B-B14F-4D97-AF65-F5344CB8AC3E}">
        <p14:creationId xmlns:p14="http://schemas.microsoft.com/office/powerpoint/2010/main" val="184882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32575949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nd Content">
    <p:bg>
      <p:bgRef idx="1001">
        <a:schemeClr val="bg1"/>
      </p:bgRef>
    </p:bg>
    <p:spTree>
      <p:nvGrpSpPr>
        <p:cNvPr id="1" name=""/>
        <p:cNvGrpSpPr/>
        <p:nvPr/>
      </p:nvGrpSpPr>
      <p:grpSpPr>
        <a:xfrm>
          <a:off x="0" y="0"/>
          <a:ext cx="0" cy="0"/>
          <a:chOff x="0" y="0"/>
          <a:chExt cx="0" cy="0"/>
        </a:xfrm>
      </p:grpSpPr>
      <p:sp>
        <p:nvSpPr>
          <p:cNvPr id="2" name="Holder 2"/>
          <p:cNvSpPr>
            <a:spLocks noGrp="1"/>
          </p:cNvSpPr>
          <p:nvPr>
            <p:ph type="title"/>
          </p:nvPr>
        </p:nvSpPr>
        <p:spPr>
          <a:xfrm>
            <a:off x="496076" y="454890"/>
            <a:ext cx="2429928" cy="242502"/>
          </a:xfrm>
          <a:prstGeom prst="rect">
            <a:avLst/>
          </a:prstGeom>
        </p:spPr>
        <p:txBody>
          <a:bodyPr lIns="0" tIns="0" rIns="0" bIns="0"/>
          <a:lstStyle>
            <a:lvl1pPr>
              <a:defRPr sz="1576" b="0" i="0">
                <a:solidFill>
                  <a:srgbClr val="000000"/>
                </a:solidFill>
                <a:latin typeface="Inter" panose="02000503000000020004" pitchFamily="2" charset="0"/>
                <a:cs typeface="Arial" panose="020B0604020202020204" pitchFamily="34" charset="0"/>
              </a:defRPr>
            </a:lvl1pPr>
          </a:lstStyle>
          <a:p>
            <a:r>
              <a:rPr lang="en-US"/>
              <a:t>Click to edit Master title style</a:t>
            </a:r>
            <a:endParaRPr/>
          </a:p>
        </p:txBody>
      </p:sp>
      <p:sp>
        <p:nvSpPr>
          <p:cNvPr id="3" name="Holder 3"/>
          <p:cNvSpPr>
            <a:spLocks noGrp="1"/>
          </p:cNvSpPr>
          <p:nvPr>
            <p:ph type="body" idx="1"/>
          </p:nvPr>
        </p:nvSpPr>
        <p:spPr>
          <a:xfrm>
            <a:off x="496076" y="1219201"/>
            <a:ext cx="2622936" cy="149309"/>
          </a:xfrm>
          <a:prstGeom prst="rect">
            <a:avLst/>
          </a:prstGeom>
        </p:spPr>
        <p:txBody>
          <a:bodyPr lIns="0" tIns="0" rIns="0" bIns="0" anchor="t"/>
          <a:lstStyle>
            <a:lvl1pPr algn="l">
              <a:lnSpc>
                <a:spcPct val="100000"/>
              </a:lnSpc>
              <a:spcBef>
                <a:spcPts val="728"/>
              </a:spcBef>
              <a:defRPr lang="en-US" sz="970" b="0">
                <a:solidFill>
                  <a:srgbClr val="212121"/>
                </a:solidFill>
                <a:latin typeface="Inter" panose="02000503000000020004" pitchFamily="2" charset="0"/>
                <a:cs typeface="Arial" panose="020B0604020202020204" pitchFamily="34" charset="0"/>
              </a:defRPr>
            </a:lvl1pPr>
          </a:lstStyle>
          <a:p>
            <a:pPr lvl="0"/>
            <a:r>
              <a:rPr lang="en-US"/>
              <a:t>Click to edit Master text styles</a:t>
            </a:r>
          </a:p>
        </p:txBody>
      </p:sp>
      <p:sp>
        <p:nvSpPr>
          <p:cNvPr id="11" name="object 4">
            <a:extLst>
              <a:ext uri="{FF2B5EF4-FFF2-40B4-BE49-F238E27FC236}">
                <a16:creationId xmlns:a16="http://schemas.microsoft.com/office/drawing/2014/main" id="{2147EC7E-B00F-0BDE-CC52-275162BBFB8A}"/>
              </a:ext>
            </a:extLst>
          </p:cNvPr>
          <p:cNvSpPr/>
          <p:nvPr userDrawn="1"/>
        </p:nvSpPr>
        <p:spPr>
          <a:xfrm>
            <a:off x="3314701" y="0"/>
            <a:ext cx="8877517" cy="6410170"/>
          </a:xfrm>
          <a:custGeom>
            <a:avLst/>
            <a:gdLst/>
            <a:ahLst/>
            <a:cxnLst/>
            <a:rect l="l" t="t" r="r" b="b"/>
            <a:pathLst>
              <a:path w="14638655" h="10554970">
                <a:moveTo>
                  <a:pt x="14638297" y="0"/>
                </a:moveTo>
                <a:lnTo>
                  <a:pt x="0" y="0"/>
                </a:lnTo>
                <a:lnTo>
                  <a:pt x="0" y="10554652"/>
                </a:lnTo>
                <a:lnTo>
                  <a:pt x="14638297" y="10554652"/>
                </a:lnTo>
                <a:lnTo>
                  <a:pt x="14638297" y="0"/>
                </a:lnTo>
                <a:close/>
              </a:path>
            </a:pathLst>
          </a:custGeom>
          <a:solidFill>
            <a:srgbClr val="E3E3E3"/>
          </a:solidFill>
          <a:ln>
            <a:noFill/>
          </a:ln>
        </p:spPr>
        <p:txBody>
          <a:bodyPr wrap="square" lIns="0" tIns="0" rIns="0" bIns="0" rtlCol="0"/>
          <a:lstStyle/>
          <a:p>
            <a:endParaRPr sz="1800" dirty="0"/>
          </a:p>
        </p:txBody>
      </p:sp>
      <p:sp>
        <p:nvSpPr>
          <p:cNvPr id="18" name="Slide Number Placeholder 5">
            <a:extLst>
              <a:ext uri="{FF2B5EF4-FFF2-40B4-BE49-F238E27FC236}">
                <a16:creationId xmlns:a16="http://schemas.microsoft.com/office/drawing/2014/main" id="{CA64F7AF-68F6-BA14-1B39-9AC8CD6A735F}"/>
              </a:ext>
            </a:extLst>
          </p:cNvPr>
          <p:cNvSpPr>
            <a:spLocks noGrp="1"/>
          </p:cNvSpPr>
          <p:nvPr>
            <p:ph type="sldNum" sz="quarter" idx="4"/>
          </p:nvPr>
        </p:nvSpPr>
        <p:spPr>
          <a:xfrm>
            <a:off x="11031539" y="6513067"/>
            <a:ext cx="666621" cy="107722"/>
          </a:xfrm>
          <a:prstGeom prst="rect">
            <a:avLst/>
          </a:prstGeom>
        </p:spPr>
        <p:txBody>
          <a:bodyPr vert="horz" wrap="square" lIns="0" tIns="0" rIns="0" bIns="0" rtlCol="0" anchor="b">
            <a:spAutoFit/>
          </a:bodyPr>
          <a:lstStyle>
            <a:lvl1pPr algn="r">
              <a:defRPr sz="700" b="0">
                <a:solidFill>
                  <a:srgbClr val="000000"/>
                </a:solidFill>
                <a:latin typeface="Inter" panose="02000503000000020004" pitchFamily="2" charset="0"/>
                <a:cs typeface="Arial" panose="020B0604020202020204" pitchFamily="34" charset="0"/>
              </a:defRPr>
            </a:lvl1pPr>
          </a:lstStyle>
          <a:p>
            <a:fld id="{14719505-AD43-774F-936C-A3AE71DD4EEA}" type="slidenum">
              <a:rPr lang="en-GB" smtClean="0"/>
              <a:pPr/>
              <a:t>‹#›</a:t>
            </a:fld>
            <a:endParaRPr lang="en-GB" dirty="0"/>
          </a:p>
        </p:txBody>
      </p:sp>
    </p:spTree>
    <p:extLst>
      <p:ext uri="{BB962C8B-B14F-4D97-AF65-F5344CB8AC3E}">
        <p14:creationId xmlns:p14="http://schemas.microsoft.com/office/powerpoint/2010/main" val="326124855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alphaModFix amt="25000"/>
            <a:extLst>
              <a:ext uri="{28A0092B-C50C-407E-A947-70E740481C1C}">
                <a14:useLocalDpi xmlns:a14="http://schemas.microsoft.com/office/drawing/2010/main" val="0"/>
              </a:ext>
            </a:extLst>
          </a:blip>
          <a:srcRect r="44166"/>
          <a:stretch/>
        </p:blipFill>
        <p:spPr>
          <a:xfrm>
            <a:off x="0" y="123372"/>
            <a:ext cx="6618514" cy="6669314"/>
          </a:xfrm>
          <a:prstGeom prst="rect">
            <a:avLst/>
          </a:prstGeom>
        </p:spPr>
      </p:pic>
      <p:sp>
        <p:nvSpPr>
          <p:cNvPr id="2" name="Title 1"/>
          <p:cNvSpPr>
            <a:spLocks noGrp="1"/>
          </p:cNvSpPr>
          <p:nvPr>
            <p:ph type="ctrTitle"/>
          </p:nvPr>
        </p:nvSpPr>
        <p:spPr>
          <a:xfrm>
            <a:off x="6444741" y="1120958"/>
            <a:ext cx="5137659" cy="1683608"/>
          </a:xfrm>
        </p:spPr>
        <p:txBody>
          <a:bodyPr anchor="b" anchorCtr="0">
            <a:noAutofit/>
          </a:bodyPr>
          <a:lstStyle>
            <a:lvl1pPr algn="l">
              <a:lnSpc>
                <a:spcPct val="90000"/>
              </a:lnSpc>
              <a:defRPr sz="4800">
                <a:solidFill>
                  <a:schemeClr val="accent2"/>
                </a:solidFill>
              </a:defRPr>
            </a:lvl1pPr>
          </a:lstStyle>
          <a:p>
            <a:r>
              <a:rPr lang="en-US"/>
              <a:t>Click to edit Master title style</a:t>
            </a:r>
            <a:endParaRPr lang="en-CA" dirty="0"/>
          </a:p>
        </p:txBody>
      </p:sp>
      <p:sp>
        <p:nvSpPr>
          <p:cNvPr id="4" name="Date Placeholder 3"/>
          <p:cNvSpPr>
            <a:spLocks noGrp="1"/>
          </p:cNvSpPr>
          <p:nvPr>
            <p:ph type="dt" sz="half" idx="10"/>
          </p:nvPr>
        </p:nvSpPr>
        <p:spPr>
          <a:xfrm>
            <a:off x="6541477" y="5612946"/>
            <a:ext cx="4382426" cy="254013"/>
          </a:xfrm>
          <a:prstGeom prst="rect">
            <a:avLst/>
          </a:prstGeom>
        </p:spPr>
        <p:txBody>
          <a:bodyPr lIns="0"/>
          <a:lstStyle>
            <a:lvl1pPr algn="l">
              <a:defRPr sz="1400" b="1" i="0">
                <a:solidFill>
                  <a:schemeClr val="accent1"/>
                </a:solidFill>
                <a:latin typeface="Gotham Rounded" charset="0"/>
                <a:ea typeface="Gotham Rounded" charset="0"/>
                <a:cs typeface="Gotham Rounded" charset="0"/>
              </a:defRPr>
            </a:lvl1pPr>
          </a:lstStyle>
          <a:p>
            <a:fld id="{6050E0BC-091B-4F46-A64B-EF4A39477016}" type="datetime4">
              <a:rPr lang="en-US" smtClean="0"/>
              <a:pPr/>
              <a:t>March 10, 2025</a:t>
            </a:fld>
            <a:endParaRPr lang="en-CA" dirty="0"/>
          </a:p>
        </p:txBody>
      </p:sp>
      <p:sp>
        <p:nvSpPr>
          <p:cNvPr id="3" name="TextBox 2"/>
          <p:cNvSpPr txBox="1"/>
          <p:nvPr/>
        </p:nvSpPr>
        <p:spPr>
          <a:xfrm>
            <a:off x="6541477" y="5954582"/>
            <a:ext cx="5138738" cy="153888"/>
          </a:xfrm>
          <a:prstGeom prst="rect">
            <a:avLst/>
          </a:prstGeom>
          <a:noFill/>
        </p:spPr>
        <p:txBody>
          <a:bodyPr wrap="square" lIns="0" tIns="0" rIns="0" bIns="0" rtlCol="0">
            <a:spAutoFit/>
          </a:bodyPr>
          <a:lstStyle/>
          <a:p>
            <a:r>
              <a:rPr lang="en-CA" sz="1000" b="0" i="0" dirty="0">
                <a:solidFill>
                  <a:schemeClr val="tx2"/>
                </a:solidFill>
                <a:latin typeface="Gotham Rounded Book" charset="0"/>
                <a:ea typeface="Gotham Rounded Book" charset="0"/>
                <a:cs typeface="Gotham Rounded Book" charset="0"/>
              </a:rPr>
              <a:t>Confidential. Not to be copied, distributed, or reproduced without prior approval. </a:t>
            </a:r>
          </a:p>
        </p:txBody>
      </p:sp>
      <p:sp>
        <p:nvSpPr>
          <p:cNvPr id="10" name="AutoShape 3"/>
          <p:cNvSpPr>
            <a:spLocks noChangeAspect="1" noChangeArrowheads="1" noTextEdit="1"/>
          </p:cNvSpPr>
          <p:nvPr userDrawn="1"/>
        </p:nvSpPr>
        <p:spPr bwMode="auto">
          <a:xfrm>
            <a:off x="365125" y="365125"/>
            <a:ext cx="901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9" name="Text Placeholder 19"/>
          <p:cNvSpPr>
            <a:spLocks noGrp="1"/>
          </p:cNvSpPr>
          <p:nvPr>
            <p:ph type="body" sz="quarter" idx="13" hasCustomPrompt="1"/>
          </p:nvPr>
        </p:nvSpPr>
        <p:spPr>
          <a:xfrm>
            <a:off x="6443663" y="2861449"/>
            <a:ext cx="5138738" cy="508944"/>
          </a:xfrm>
          <a:prstGeom prst="rect">
            <a:avLst/>
          </a:prstGeom>
        </p:spPr>
        <p:txBody>
          <a:bodyPr>
            <a:normAutofit/>
          </a:bodyPr>
          <a:lstStyle>
            <a:lvl1pPr marL="0" indent="0">
              <a:buFontTx/>
              <a:buNone/>
              <a:defRPr sz="2000" cap="all" baseline="0">
                <a:solidFill>
                  <a:schemeClr val="accent1"/>
                </a:solidFill>
              </a:defRPr>
            </a:lvl1pPr>
          </a:lstStyle>
          <a:p>
            <a:pPr lvl="0"/>
            <a:r>
              <a:rPr lang="en-US" dirty="0"/>
              <a:t>CLICK TO EDIT MASTER TEXT STYLES</a:t>
            </a:r>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138274" y="2869208"/>
            <a:ext cx="2583401" cy="1002370"/>
          </a:xfrm>
          <a:prstGeom prst="rect">
            <a:avLst/>
          </a:prstGeom>
        </p:spPr>
      </p:pic>
    </p:spTree>
    <p:extLst>
      <p:ext uri="{BB962C8B-B14F-4D97-AF65-F5344CB8AC3E}">
        <p14:creationId xmlns:p14="http://schemas.microsoft.com/office/powerpoint/2010/main" val="15879631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27200"/>
            <a:ext cx="5537200" cy="4237038"/>
          </a:xfrm>
        </p:spPr>
        <p:txBody>
          <a:bodyPr/>
          <a:lstStyle>
            <a:lvl1pPr>
              <a:defRPr sz="2400"/>
            </a:lvl1pPr>
            <a:lvl2pPr>
              <a:defRPr sz="2000">
                <a:latin typeface="GE Inspira" pitchFamily="34" charset="0"/>
              </a:defRPr>
            </a:lvl2pPr>
            <a:lvl3pPr>
              <a:defRPr sz="1800">
                <a:latin typeface="GE Inspira" pitchFamily="34" charset="0"/>
              </a:defRPr>
            </a:lvl3pPr>
            <a:lvl4pPr>
              <a:defRPr sz="1600">
                <a:latin typeface="GE Inspira" pitchFamily="34" charset="0"/>
              </a:defRPr>
            </a:lvl4pPr>
            <a:lvl5pPr>
              <a:defRPr sz="1600">
                <a:latin typeface="GE Inspira" pitchFamily="34" charset="0"/>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727200"/>
            <a:ext cx="5539317" cy="4237038"/>
          </a:xfrm>
        </p:spPr>
        <p:txBody>
          <a:bodyPr/>
          <a:lstStyle>
            <a:lvl1pPr>
              <a:defRPr sz="2400"/>
            </a:lvl1pPr>
            <a:lvl2pPr>
              <a:defRPr sz="2000">
                <a:latin typeface="GE Inspira" pitchFamily="34" charset="0"/>
              </a:defRPr>
            </a:lvl2pPr>
            <a:lvl3pPr>
              <a:defRPr sz="1800">
                <a:latin typeface="GE Inspira" pitchFamily="34" charset="0"/>
              </a:defRPr>
            </a:lvl3pPr>
            <a:lvl4pPr>
              <a:defRPr sz="1600">
                <a:latin typeface="GE Inspira" pitchFamily="34" charset="0"/>
              </a:defRPr>
            </a:lvl4pPr>
            <a:lvl5pPr>
              <a:defRPr sz="1600">
                <a:latin typeface="GE Inspira" pitchFamily="34" charset="0"/>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ustDataLst>
      <p:tags r:id="rId1"/>
    </p:custDataLst>
    <p:extLst>
      <p:ext uri="{BB962C8B-B14F-4D97-AF65-F5344CB8AC3E}">
        <p14:creationId xmlns:p14="http://schemas.microsoft.com/office/powerpoint/2010/main" val="61403493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Title and Content - No Ru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2480" y="448056"/>
            <a:ext cx="10607040" cy="914400"/>
          </a:xfrm>
        </p:spPr>
        <p:txBody>
          <a:bodyPr/>
          <a:lstStyle>
            <a:lvl1pPr>
              <a:defRPr>
                <a:solidFill>
                  <a:schemeClr val="accent2"/>
                </a:solidFill>
              </a:defRPr>
            </a:lvl1pPr>
          </a:lstStyle>
          <a:p>
            <a:r>
              <a:rPr lang="en-US" dirty="0"/>
              <a:t>Title and Content – No Rule Layout</a:t>
            </a:r>
            <a:endParaRPr lang="en-CA" dirty="0"/>
          </a:p>
        </p:txBody>
      </p:sp>
    </p:spTree>
    <p:extLst>
      <p:ext uri="{BB962C8B-B14F-4D97-AF65-F5344CB8AC3E}">
        <p14:creationId xmlns:p14="http://schemas.microsoft.com/office/powerpoint/2010/main" val="234841297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5397866"/>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705" r:id="rId3"/>
    <p:sldLayoutId id="2147483706" r:id="rId4"/>
    <p:sldLayoutId id="2147483654" r:id="rId5"/>
    <p:sldLayoutId id="2147483650" r:id="rId6"/>
    <p:sldLayoutId id="2147483668" r:id="rId7"/>
    <p:sldLayoutId id="2147483664" r:id="rId8"/>
    <p:sldLayoutId id="2147483669" r:id="rId9"/>
    <p:sldLayoutId id="2147483739" r:id="rId10"/>
    <p:sldLayoutId id="2147483731" r:id="rId11"/>
    <p:sldLayoutId id="2147483740" r:id="rId12"/>
    <p:sldLayoutId id="2147483667" r:id="rId13"/>
    <p:sldLayoutId id="2147483738" r:id="rId14"/>
    <p:sldLayoutId id="2147483665" r:id="rId15"/>
    <p:sldLayoutId id="2147483741" r:id="rId16"/>
    <p:sldLayoutId id="2147483666" r:id="rId17"/>
    <p:sldLayoutId id="2147483672" r:id="rId18"/>
    <p:sldLayoutId id="2147483673" r:id="rId19"/>
    <p:sldLayoutId id="2147483674" r:id="rId20"/>
    <p:sldLayoutId id="2147483743" r:id="rId21"/>
    <p:sldLayoutId id="2147483675" r:id="rId22"/>
    <p:sldLayoutId id="2147483676" r:id="rId23"/>
    <p:sldLayoutId id="2147483677" r:id="rId24"/>
    <p:sldLayoutId id="2147483651" r:id="rId25"/>
    <p:sldLayoutId id="2147483715" r:id="rId26"/>
    <p:sldLayoutId id="2147483719" r:id="rId27"/>
    <p:sldLayoutId id="2147483742" r:id="rId28"/>
    <p:sldLayoutId id="2147483701" r:id="rId29"/>
    <p:sldLayoutId id="2147483720" r:id="rId30"/>
    <p:sldLayoutId id="2147483684" r:id="rId31"/>
    <p:sldLayoutId id="2147483685" r:id="rId32"/>
    <p:sldLayoutId id="2147483686" r:id="rId33"/>
    <p:sldLayoutId id="2147483689" r:id="rId34"/>
    <p:sldLayoutId id="2147483687" r:id="rId35"/>
    <p:sldLayoutId id="2147483732" r:id="rId36"/>
    <p:sldLayoutId id="2147483692" r:id="rId37"/>
    <p:sldLayoutId id="2147483726" r:id="rId38"/>
    <p:sldLayoutId id="2147483695" r:id="rId39"/>
    <p:sldLayoutId id="2147483723" r:id="rId40"/>
    <p:sldLayoutId id="2147483697" r:id="rId41"/>
    <p:sldLayoutId id="2147483724" r:id="rId42"/>
    <p:sldLayoutId id="2147483733" r:id="rId43"/>
    <p:sldLayoutId id="2147483734" r:id="rId44"/>
    <p:sldLayoutId id="2147483699" r:id="rId45"/>
    <p:sldLayoutId id="2147483725" r:id="rId46"/>
    <p:sldLayoutId id="2147483744" r:id="rId47"/>
    <p:sldLayoutId id="2147483745" r:id="rId48"/>
    <p:sldLayoutId id="2147483746" r:id="rId49"/>
    <p:sldLayoutId id="2147483747" r:id="rId50"/>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264" userDrawn="1">
          <p15:clr>
            <a:srgbClr val="F26B43"/>
          </p15:clr>
        </p15:guide>
        <p15:guide id="3" pos="74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notesSlide" Target="../notesSlides/notesSlide1.xml"/><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slideLayout" Target="../slideLayouts/slideLayout5.xml"/><Relationship Id="rId1" Type="http://schemas.openxmlformats.org/officeDocument/2006/relationships/tags" Target="../tags/tag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jpe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2.xml"/><Relationship Id="rId7" Type="http://schemas.openxmlformats.org/officeDocument/2006/relationships/image" Target="../media/image18.png"/><Relationship Id="rId2" Type="http://schemas.openxmlformats.org/officeDocument/2006/relationships/slideLayout" Target="../slideLayouts/slideLayout5.xml"/><Relationship Id="rId1" Type="http://schemas.openxmlformats.org/officeDocument/2006/relationships/tags" Target="../tags/tag3.xml"/><Relationship Id="rId6" Type="http://schemas.openxmlformats.org/officeDocument/2006/relationships/image" Target="../media/image17.png"/><Relationship Id="rId5" Type="http://schemas.openxmlformats.org/officeDocument/2006/relationships/image" Target="../media/image7.jpeg"/><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dirty="0"/>
              <a:t>Chemical</a:t>
            </a:r>
            <a:r>
              <a:rPr lang="en-US" sz="3200" dirty="0">
                <a:latin typeface="GE Inspira Pitch" pitchFamily="34" charset="0"/>
              </a:rPr>
              <a:t> </a:t>
            </a:r>
            <a:r>
              <a:rPr lang="en-US" dirty="0"/>
              <a:t>Management </a:t>
            </a:r>
            <a:br>
              <a:rPr lang="en-US" dirty="0"/>
            </a:br>
            <a:r>
              <a:rPr lang="en-US" dirty="0"/>
              <a:t>User Guides</a:t>
            </a:r>
            <a:r>
              <a:rPr lang="en-US" sz="3200" dirty="0">
                <a:latin typeface="GE Inspira Pitch" pitchFamily="34" charset="0"/>
              </a:rPr>
              <a:t>:</a:t>
            </a:r>
          </a:p>
        </p:txBody>
      </p:sp>
      <p:sp>
        <p:nvSpPr>
          <p:cNvPr id="3" name="Text Placeholder 2">
            <a:extLst>
              <a:ext uri="{FF2B5EF4-FFF2-40B4-BE49-F238E27FC236}">
                <a16:creationId xmlns:a16="http://schemas.microsoft.com/office/drawing/2014/main" id="{192B90AF-D168-4861-8E15-BC7EAD66CA03}"/>
              </a:ext>
            </a:extLst>
          </p:cNvPr>
          <p:cNvSpPr>
            <a:spLocks noGrp="1"/>
          </p:cNvSpPr>
          <p:nvPr>
            <p:ph type="subTitle" idx="1"/>
          </p:nvPr>
        </p:nvSpPr>
        <p:spPr/>
        <p:txBody>
          <a:bodyPr>
            <a:normAutofit/>
          </a:bodyPr>
          <a:lstStyle/>
          <a:p>
            <a:r>
              <a:rPr lang="en-US" sz="2400" b="1" dirty="0">
                <a:solidFill>
                  <a:schemeClr val="accent1"/>
                </a:solidFill>
              </a:rPr>
              <a:t>CHEMICAL STORAGE AND COMPATABILITY</a:t>
            </a:r>
          </a:p>
        </p:txBody>
      </p:sp>
      <p:sp>
        <p:nvSpPr>
          <p:cNvPr id="2" name="TextBox 1">
            <a:extLst>
              <a:ext uri="{FF2B5EF4-FFF2-40B4-BE49-F238E27FC236}">
                <a16:creationId xmlns:a16="http://schemas.microsoft.com/office/drawing/2014/main" id="{9C3D1615-9A26-4344-B763-67484A3694F8}"/>
              </a:ext>
            </a:extLst>
          </p:cNvPr>
          <p:cNvSpPr txBox="1"/>
          <p:nvPr/>
        </p:nvSpPr>
        <p:spPr>
          <a:xfrm>
            <a:off x="9271487" y="6518358"/>
            <a:ext cx="2820218" cy="246221"/>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chemeClr val="tx2"/>
                </a:solidFill>
                <a:effectLst/>
                <a:uLnTx/>
                <a:uFillTx/>
                <a:latin typeface="Gotham Rounded Book" pitchFamily="50" charset="0"/>
                <a:ea typeface="+mn-ea"/>
                <a:cs typeface="+mn-cs"/>
              </a:rPr>
              <a:t>Issue 1.1: March 2025</a:t>
            </a:r>
          </a:p>
        </p:txBody>
      </p:sp>
      <p:pic>
        <p:nvPicPr>
          <p:cNvPr id="5" name="Picture 4">
            <a:extLst>
              <a:ext uri="{FF2B5EF4-FFF2-40B4-BE49-F238E27FC236}">
                <a16:creationId xmlns:a16="http://schemas.microsoft.com/office/drawing/2014/main" id="{9364A819-E93A-4F17-9942-C2C7AD963FEF}"/>
              </a:ext>
            </a:extLst>
          </p:cNvPr>
          <p:cNvPicPr>
            <a:picLocks noChangeAspect="1"/>
          </p:cNvPicPr>
          <p:nvPr/>
        </p:nvPicPr>
        <p:blipFill>
          <a:blip r:embed="rId2"/>
          <a:stretch>
            <a:fillRect/>
          </a:stretch>
        </p:blipFill>
        <p:spPr>
          <a:xfrm>
            <a:off x="8129315" y="1526301"/>
            <a:ext cx="3466631" cy="3758900"/>
          </a:xfrm>
          <a:prstGeom prst="rect">
            <a:avLst/>
          </a:prstGeom>
          <a:effectLst>
            <a:glow rad="749300">
              <a:schemeClr val="tx2">
                <a:alpha val="40000"/>
              </a:schemeClr>
            </a:glo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oil drums icon&quot;">
            <a:extLst>
              <a:ext uri="{FF2B5EF4-FFF2-40B4-BE49-F238E27FC236}">
                <a16:creationId xmlns:a16="http://schemas.microsoft.com/office/drawing/2014/main" id="{0CD9637B-10CB-4B9F-80DA-50686D0F181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85931" y="2649285"/>
            <a:ext cx="1630261" cy="163026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A94C75B-D85D-4777-9271-75CEBB1BF6E7}"/>
              </a:ext>
            </a:extLst>
          </p:cNvPr>
          <p:cNvSpPr txBox="1"/>
          <p:nvPr/>
        </p:nvSpPr>
        <p:spPr>
          <a:xfrm>
            <a:off x="275508" y="860664"/>
            <a:ext cx="4102609" cy="5663089"/>
          </a:xfrm>
          <a:prstGeom prst="rect">
            <a:avLst/>
          </a:prstGeom>
          <a:noFill/>
        </p:spPr>
        <p:txBody>
          <a:bodyPr wrap="square" rtlCol="0">
            <a:spAutoFit/>
          </a:bodyPr>
          <a:lstStyle/>
          <a:p>
            <a:pPr marL="180975" lvl="0" indent="-180975">
              <a:spcBef>
                <a:spcPts val="1200"/>
              </a:spcBef>
              <a:buFont typeface="Arial" charset="0"/>
              <a:buChar char="•"/>
            </a:pPr>
            <a:r>
              <a:rPr lang="en-US" sz="1400" b="1" dirty="0">
                <a:solidFill>
                  <a:schemeClr val="tx2"/>
                </a:solidFill>
                <a:latin typeface="Gotham Rounded Book" pitchFamily="50" charset="0"/>
              </a:rPr>
              <a:t>Bulk quantities </a:t>
            </a:r>
            <a:r>
              <a:rPr lang="en-US" sz="1400" dirty="0">
                <a:solidFill>
                  <a:schemeClr val="tx2"/>
                </a:solidFill>
                <a:latin typeface="Gotham Rounded Book" pitchFamily="50" charset="0"/>
              </a:rPr>
              <a:t>of chemicals must be stored in areas separate from the work area.</a:t>
            </a:r>
          </a:p>
          <a:p>
            <a:pPr marL="180975" lvl="0" indent="-180975">
              <a:spcBef>
                <a:spcPts val="1200"/>
              </a:spcBef>
              <a:buFont typeface="Arial" charset="0"/>
              <a:buChar char="•"/>
            </a:pPr>
            <a:r>
              <a:rPr lang="en-US" sz="1400" b="1" dirty="0">
                <a:solidFill>
                  <a:schemeClr val="tx2"/>
                </a:solidFill>
                <a:latin typeface="Gotham Rounded Book" pitchFamily="50" charset="0"/>
              </a:rPr>
              <a:t>Small quantities </a:t>
            </a:r>
            <a:r>
              <a:rPr lang="en-US" sz="1400" dirty="0">
                <a:solidFill>
                  <a:schemeClr val="tx2"/>
                </a:solidFill>
                <a:latin typeface="Gotham Rounded Book" pitchFamily="50" charset="0"/>
              </a:rPr>
              <a:t>(aerosols, safety cans, secondary containers, etc.) may be stored in, or in proximity to the work area, so long as they are stored in proper containment devices, such as properly designed cabinets.  </a:t>
            </a:r>
            <a:r>
              <a:rPr lang="en-US" sz="1400" b="1" dirty="0">
                <a:solidFill>
                  <a:schemeClr val="tx2"/>
                </a:solidFill>
                <a:latin typeface="Gotham Rounded Book" pitchFamily="50" charset="0"/>
              </a:rPr>
              <a:t>WITH SECONDARY CONTAINMENT / BUNDING</a:t>
            </a:r>
          </a:p>
          <a:p>
            <a:pPr marL="180975" lvl="0" indent="-180975">
              <a:spcBef>
                <a:spcPts val="1200"/>
              </a:spcBef>
              <a:buFont typeface="Arial" charset="0"/>
              <a:buChar char="•"/>
            </a:pPr>
            <a:r>
              <a:rPr lang="en-US" sz="1400" dirty="0">
                <a:solidFill>
                  <a:schemeClr val="tx2"/>
                </a:solidFill>
                <a:latin typeface="Gotham Rounded Book" pitchFamily="50" charset="0"/>
              </a:rPr>
              <a:t>Chemicals must be </a:t>
            </a:r>
            <a:r>
              <a:rPr lang="en-US" sz="1400" b="1" dirty="0">
                <a:solidFill>
                  <a:schemeClr val="tx2"/>
                </a:solidFill>
                <a:latin typeface="Gotham Rounded Book" pitchFamily="50" charset="0"/>
              </a:rPr>
              <a:t>stored at the appropriate temperature </a:t>
            </a:r>
            <a:r>
              <a:rPr lang="en-US" sz="1400" dirty="0">
                <a:solidFill>
                  <a:schemeClr val="tx2"/>
                </a:solidFill>
                <a:latin typeface="Gotham Rounded Book" pitchFamily="50" charset="0"/>
              </a:rPr>
              <a:t>(and humidity).  As a rule, chemicals should not be stored near heat sources, such as steam pipes or heaters.   Chemicals SHOULD NEVER be stored in direct sunlight, even for short periods.</a:t>
            </a:r>
          </a:p>
          <a:p>
            <a:pPr marL="180975" lvl="0" indent="-180975">
              <a:spcBef>
                <a:spcPts val="1200"/>
              </a:spcBef>
              <a:buFont typeface="Arial" charset="0"/>
              <a:buChar char="•"/>
            </a:pPr>
            <a:r>
              <a:rPr lang="en-US" sz="1400" dirty="0">
                <a:solidFill>
                  <a:schemeClr val="tx2"/>
                </a:solidFill>
                <a:latin typeface="Gotham Rounded Book" pitchFamily="50" charset="0"/>
              </a:rPr>
              <a:t>Chemicals in storage should be </a:t>
            </a:r>
            <a:r>
              <a:rPr lang="en-US" sz="1400" b="1" dirty="0">
                <a:solidFill>
                  <a:schemeClr val="tx2"/>
                </a:solidFill>
                <a:latin typeface="Gotham Rounded Book" pitchFamily="50" charset="0"/>
              </a:rPr>
              <a:t>labeled properly </a:t>
            </a:r>
            <a:r>
              <a:rPr lang="en-US" sz="1400" dirty="0">
                <a:solidFill>
                  <a:schemeClr val="tx2"/>
                </a:solidFill>
                <a:latin typeface="Gotham Rounded Book" pitchFamily="50" charset="0"/>
              </a:rPr>
              <a:t>in accordance with Local regulation and  manufacturers requirements.</a:t>
            </a:r>
          </a:p>
          <a:p>
            <a:pPr marL="180975" lvl="0" indent="-180975">
              <a:spcBef>
                <a:spcPts val="1200"/>
              </a:spcBef>
              <a:buFont typeface="Arial" charset="0"/>
              <a:buChar char="•"/>
            </a:pPr>
            <a:r>
              <a:rPr lang="en-US" sz="1400" dirty="0">
                <a:solidFill>
                  <a:schemeClr val="tx2"/>
                </a:solidFill>
                <a:latin typeface="Gotham Rounded Book" pitchFamily="50" charset="0"/>
              </a:rPr>
              <a:t>Storage Areas should always undergo </a:t>
            </a:r>
            <a:r>
              <a:rPr lang="en-US" sz="1400" b="1" dirty="0">
                <a:solidFill>
                  <a:schemeClr val="tx2"/>
                </a:solidFill>
                <a:latin typeface="Gotham Rounded Book" pitchFamily="50" charset="0"/>
              </a:rPr>
              <a:t>periodic visual inspections</a:t>
            </a:r>
            <a:r>
              <a:rPr lang="en-US" sz="1400" dirty="0">
                <a:solidFill>
                  <a:schemeClr val="tx2"/>
                </a:solidFill>
                <a:latin typeface="Gotham Rounded Book" pitchFamily="50" charset="0"/>
              </a:rPr>
              <a:t>.  Conditions to look for would include  leaks, spills, seepage, bulging drums, labeling deficiencies, container deterioration, strong odors, AND incompatible material storage (see FieldCore compatibility matrix on page 3 &amp; 4 of this guide)</a:t>
            </a:r>
          </a:p>
        </p:txBody>
      </p:sp>
      <p:sp>
        <p:nvSpPr>
          <p:cNvPr id="8" name="TextBox 7">
            <a:extLst>
              <a:ext uri="{FF2B5EF4-FFF2-40B4-BE49-F238E27FC236}">
                <a16:creationId xmlns:a16="http://schemas.microsoft.com/office/drawing/2014/main" id="{2A1C19D7-B5B0-4A9D-BA60-F5AA5941E878}"/>
              </a:ext>
            </a:extLst>
          </p:cNvPr>
          <p:cNvSpPr txBox="1"/>
          <p:nvPr/>
        </p:nvSpPr>
        <p:spPr>
          <a:xfrm>
            <a:off x="7509621" y="987001"/>
            <a:ext cx="4173647" cy="4862870"/>
          </a:xfrm>
          <a:prstGeom prst="rect">
            <a:avLst/>
          </a:prstGeom>
          <a:noFill/>
        </p:spPr>
        <p:txBody>
          <a:bodyPr wrap="square" rtlCol="0">
            <a:spAutoFit/>
          </a:bodyPr>
          <a:lstStyle/>
          <a:p>
            <a:pPr marL="180975" indent="-180975">
              <a:spcBef>
                <a:spcPts val="1200"/>
              </a:spcBef>
              <a:buFont typeface="Arial" charset="0"/>
              <a:buChar char="•"/>
            </a:pPr>
            <a:r>
              <a:rPr lang="en-US" sz="1400" b="1" dirty="0">
                <a:solidFill>
                  <a:schemeClr val="tx2"/>
                </a:solidFill>
              </a:rPr>
              <a:t>Gas cylinders </a:t>
            </a:r>
            <a:r>
              <a:rPr lang="en-US" sz="1400" dirty="0">
                <a:solidFill>
                  <a:schemeClr val="tx2"/>
                </a:solidFill>
              </a:rPr>
              <a:t>must be securely strapped to a permanent structure (wall, storage area, etc.). When they are not in use, they should be capped off to mitigate leakage and “rocket risk”.  Compressed gas compatibility segregation usually is driven by separation of oxygen from other flammable gases such as acetylene, propane etc . </a:t>
            </a:r>
          </a:p>
          <a:p>
            <a:pPr marL="180975" lvl="0" indent="-180975">
              <a:spcBef>
                <a:spcPts val="1200"/>
              </a:spcBef>
              <a:buFont typeface="Arial" charset="0"/>
              <a:buChar char="•"/>
            </a:pPr>
            <a:r>
              <a:rPr lang="en-US" sz="1400" dirty="0">
                <a:solidFill>
                  <a:schemeClr val="tx2"/>
                </a:solidFill>
              </a:rPr>
              <a:t>Chemicals should </a:t>
            </a:r>
            <a:r>
              <a:rPr lang="en-US" sz="1400" b="1" dirty="0">
                <a:solidFill>
                  <a:schemeClr val="tx2"/>
                </a:solidFill>
              </a:rPr>
              <a:t>not be routinely “stored” in a work area. </a:t>
            </a:r>
            <a:r>
              <a:rPr lang="en-US" sz="1400" dirty="0">
                <a:solidFill>
                  <a:schemeClr val="tx2"/>
                </a:solidFill>
              </a:rPr>
              <a:t> Only the amounts needed should be kept in the work area, and the remainder of materials kept in an approved storage locations for the site. </a:t>
            </a:r>
          </a:p>
          <a:p>
            <a:pPr marL="180975" lvl="0" indent="-180975">
              <a:spcBef>
                <a:spcPts val="1200"/>
              </a:spcBef>
              <a:buFont typeface="Arial" charset="0"/>
              <a:buChar char="•"/>
            </a:pPr>
            <a:r>
              <a:rPr lang="en-US" sz="1400" b="1" dirty="0">
                <a:solidFill>
                  <a:schemeClr val="tx2"/>
                </a:solidFill>
              </a:rPr>
              <a:t>NEVER</a:t>
            </a:r>
            <a:r>
              <a:rPr lang="en-US" sz="1400" dirty="0">
                <a:solidFill>
                  <a:schemeClr val="tx2"/>
                </a:solidFill>
              </a:rPr>
              <a:t> use water bottles to store chemicals, as this a potential accidental poisoning RISK!</a:t>
            </a:r>
          </a:p>
          <a:p>
            <a:pPr marL="180975" lvl="0" indent="-180975">
              <a:spcBef>
                <a:spcPts val="1200"/>
              </a:spcBef>
              <a:buFont typeface="Arial" charset="0"/>
              <a:buChar char="•"/>
            </a:pPr>
            <a:r>
              <a:rPr lang="en-US" sz="1400" dirty="0">
                <a:solidFill>
                  <a:schemeClr val="tx2"/>
                </a:solidFill>
              </a:rPr>
              <a:t>Chemicals that are no longer used </a:t>
            </a:r>
            <a:r>
              <a:rPr lang="en-US" sz="1400" b="1" dirty="0">
                <a:solidFill>
                  <a:schemeClr val="tx2"/>
                </a:solidFill>
              </a:rPr>
              <a:t>should be periodically purged</a:t>
            </a:r>
            <a:r>
              <a:rPr lang="en-US" sz="1400" dirty="0">
                <a:solidFill>
                  <a:schemeClr val="tx2"/>
                </a:solidFill>
              </a:rPr>
              <a:t> (eg through ‘chemical’ sweep at fixed sites) from the site so as to minimize risks associated with such storage and in-plant inventory management.</a:t>
            </a:r>
          </a:p>
        </p:txBody>
      </p:sp>
      <p:pic>
        <p:nvPicPr>
          <p:cNvPr id="12" name="Picture 1">
            <a:extLst>
              <a:ext uri="{FF2B5EF4-FFF2-40B4-BE49-F238E27FC236}">
                <a16:creationId xmlns:a16="http://schemas.microsoft.com/office/drawing/2014/main" id="{40FEF97A-DA71-48A0-979D-E81F47C7437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50946" y="1905448"/>
            <a:ext cx="943076" cy="867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Image result for gas cyclingers icon">
            <a:extLst>
              <a:ext uri="{FF2B5EF4-FFF2-40B4-BE49-F238E27FC236}">
                <a16:creationId xmlns:a16="http://schemas.microsoft.com/office/drawing/2014/main" id="{9A9A7E14-2D2F-42AC-BB9C-90F5660AAE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61859" y="1584636"/>
            <a:ext cx="1147762" cy="11477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poison icon free">
            <a:extLst>
              <a:ext uri="{FF2B5EF4-FFF2-40B4-BE49-F238E27FC236}">
                <a16:creationId xmlns:a16="http://schemas.microsoft.com/office/drawing/2014/main" id="{066C1EF6-D4C3-46A1-97B7-20B8FAD5C91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40833" y="3920156"/>
            <a:ext cx="798369" cy="79836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disposal icon png">
            <a:extLst>
              <a:ext uri="{FF2B5EF4-FFF2-40B4-BE49-F238E27FC236}">
                <a16:creationId xmlns:a16="http://schemas.microsoft.com/office/drawing/2014/main" id="{6CFB0B04-86F4-4A0B-8A8C-274579FBF4F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84009" y="4892210"/>
            <a:ext cx="900653" cy="90065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7CFF75CB-290E-4035-839C-9EC2D92C0A67}"/>
              </a:ext>
            </a:extLst>
          </p:cNvPr>
          <p:cNvPicPr>
            <a:picLocks noChangeAspect="1"/>
          </p:cNvPicPr>
          <p:nvPr/>
        </p:nvPicPr>
        <p:blipFill>
          <a:blip r:embed="rId9"/>
          <a:stretch>
            <a:fillRect/>
          </a:stretch>
        </p:blipFill>
        <p:spPr>
          <a:xfrm>
            <a:off x="4379487" y="5127880"/>
            <a:ext cx="1264636" cy="752935"/>
          </a:xfrm>
          <a:prstGeom prst="rect">
            <a:avLst/>
          </a:prstGeom>
        </p:spPr>
      </p:pic>
      <p:pic>
        <p:nvPicPr>
          <p:cNvPr id="2" name="Picture 1">
            <a:extLst>
              <a:ext uri="{FF2B5EF4-FFF2-40B4-BE49-F238E27FC236}">
                <a16:creationId xmlns:a16="http://schemas.microsoft.com/office/drawing/2014/main" id="{99C7BC49-E724-447E-803B-477A4D4345D3}"/>
              </a:ext>
            </a:extLst>
          </p:cNvPr>
          <p:cNvPicPr>
            <a:picLocks noChangeAspect="1"/>
          </p:cNvPicPr>
          <p:nvPr/>
        </p:nvPicPr>
        <p:blipFill>
          <a:blip r:embed="rId10"/>
          <a:stretch>
            <a:fillRect/>
          </a:stretch>
        </p:blipFill>
        <p:spPr>
          <a:xfrm>
            <a:off x="4628069" y="4037060"/>
            <a:ext cx="820893" cy="798369"/>
          </a:xfrm>
          <a:prstGeom prst="rect">
            <a:avLst/>
          </a:prstGeom>
        </p:spPr>
      </p:pic>
      <p:pic>
        <p:nvPicPr>
          <p:cNvPr id="1036" name="Picture 12" descr="Image result for chemical house keeping lable icon png&quot;">
            <a:extLst>
              <a:ext uri="{FF2B5EF4-FFF2-40B4-BE49-F238E27FC236}">
                <a16:creationId xmlns:a16="http://schemas.microsoft.com/office/drawing/2014/main" id="{3876DE1E-B4D2-482A-8C9F-08538CE9D01B}"/>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450747" y="3079728"/>
            <a:ext cx="698544" cy="69854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Storage Icon - Free Icons and PNG Backgrounds">
            <a:extLst>
              <a:ext uri="{FF2B5EF4-FFF2-40B4-BE49-F238E27FC236}">
                <a16:creationId xmlns:a16="http://schemas.microsoft.com/office/drawing/2014/main" id="{A155F8F0-2F7C-4A1C-8D6C-BA333787D914}"/>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595737" y="964504"/>
            <a:ext cx="774344" cy="77434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165D2496-8109-493D-821F-57EACDAC446D}"/>
              </a:ext>
            </a:extLst>
          </p:cNvPr>
          <p:cNvCxnSpPr>
            <a:cxnSpLocks/>
          </p:cNvCxnSpPr>
          <p:nvPr/>
        </p:nvCxnSpPr>
        <p:spPr>
          <a:xfrm>
            <a:off x="5999638" y="1421554"/>
            <a:ext cx="0" cy="392098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3" name="Picture 2" descr="Image result for flammable icon">
            <a:extLst>
              <a:ext uri="{FF2B5EF4-FFF2-40B4-BE49-F238E27FC236}">
                <a16:creationId xmlns:a16="http://schemas.microsoft.com/office/drawing/2014/main" id="{AC09E5E5-9396-4F53-A3D0-4A0D751D020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716990" y="2301592"/>
            <a:ext cx="211803" cy="211803"/>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3">
            <a:extLst>
              <a:ext uri="{FF2B5EF4-FFF2-40B4-BE49-F238E27FC236}">
                <a16:creationId xmlns:a16="http://schemas.microsoft.com/office/drawing/2014/main" id="{5C525473-CD24-6DCE-5B4B-C872F5774126}"/>
              </a:ext>
            </a:extLst>
          </p:cNvPr>
          <p:cNvSpPr>
            <a:spLocks noGrp="1"/>
          </p:cNvSpPr>
          <p:nvPr>
            <p:ph type="title"/>
          </p:nvPr>
        </p:nvSpPr>
        <p:spPr>
          <a:xfrm>
            <a:off x="580623" y="339364"/>
            <a:ext cx="9578915" cy="457020"/>
          </a:xfrm>
        </p:spPr>
        <p:txBody>
          <a:bodyPr/>
          <a:lstStyle/>
          <a:p>
            <a:r>
              <a:rPr lang="it-IT" altLang="en-US" sz="2800" b="1" dirty="0">
                <a:latin typeface="Gotham Rounded Book" pitchFamily="50" charset="0"/>
              </a:rPr>
              <a:t>User Guide - Chemical Storage &amp; Chemical Compatability </a:t>
            </a:r>
            <a:br>
              <a:rPr lang="it-IT" altLang="en-US" sz="2800" b="1" dirty="0">
                <a:solidFill>
                  <a:srgbClr val="000000"/>
                </a:solidFill>
                <a:latin typeface="Gotham Rounded Book" pitchFamily="50" charset="0"/>
              </a:rPr>
            </a:br>
            <a:endParaRPr lang="en-GB" dirty="0"/>
          </a:p>
        </p:txBody>
      </p:sp>
    </p:spTree>
    <p:custDataLst>
      <p:tags r:id="rId1"/>
    </p:custDataLst>
    <p:extLst>
      <p:ext uri="{BB962C8B-B14F-4D97-AF65-F5344CB8AC3E}">
        <p14:creationId xmlns:p14="http://schemas.microsoft.com/office/powerpoint/2010/main" val="1996413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25817" y="-71777"/>
            <a:ext cx="6874432" cy="584775"/>
          </a:xfrm>
          <a:prstGeom prst="rect">
            <a:avLst/>
          </a:prstGeom>
          <a:noFill/>
        </p:spPr>
        <p:txBody>
          <a:bodyPr wrap="square" rtlCol="0">
            <a:spAutoFit/>
          </a:bodyPr>
          <a:lstStyle/>
          <a:p>
            <a:r>
              <a:rPr lang="en-US" sz="3200" b="1" dirty="0">
                <a:latin typeface="+mj-lt"/>
              </a:rPr>
              <a:t>Flammable Storage Cabinets</a:t>
            </a:r>
          </a:p>
        </p:txBody>
      </p:sp>
      <p:sp>
        <p:nvSpPr>
          <p:cNvPr id="11" name="TextBox 10"/>
          <p:cNvSpPr txBox="1"/>
          <p:nvPr/>
        </p:nvSpPr>
        <p:spPr>
          <a:xfrm>
            <a:off x="1652631" y="534398"/>
            <a:ext cx="8617673" cy="707886"/>
          </a:xfrm>
          <a:prstGeom prst="rect">
            <a:avLst/>
          </a:prstGeom>
          <a:noFill/>
        </p:spPr>
        <p:txBody>
          <a:bodyPr wrap="square" rtlCol="0">
            <a:spAutoFit/>
          </a:bodyPr>
          <a:lstStyle/>
          <a:p>
            <a:pPr algn="ctr"/>
            <a:r>
              <a:rPr lang="en-US" altLang="en-US" sz="2000" dirty="0">
                <a:solidFill>
                  <a:srgbClr val="000000"/>
                </a:solidFill>
                <a:latin typeface="Gotham Rounded Book" pitchFamily="50" charset="0"/>
              </a:rPr>
              <a:t>Storing flammable liquids in </a:t>
            </a:r>
            <a:r>
              <a:rPr lang="en-US" altLang="en-US" sz="2000" dirty="0">
                <a:latin typeface="Gotham Rounded Book" pitchFamily="50" charset="0"/>
              </a:rPr>
              <a:t>fire resistant safety cabinets </a:t>
            </a:r>
            <a:r>
              <a:rPr lang="en-US" altLang="en-US" sz="2000" dirty="0">
                <a:solidFill>
                  <a:srgbClr val="000000"/>
                </a:solidFill>
                <a:latin typeface="Gotham Rounded Book" pitchFamily="50" charset="0"/>
              </a:rPr>
              <a:t>is a </a:t>
            </a:r>
          </a:p>
          <a:p>
            <a:pPr algn="ctr"/>
            <a:r>
              <a:rPr lang="en-US" altLang="en-US" sz="2000" dirty="0">
                <a:solidFill>
                  <a:srgbClr val="000000"/>
                </a:solidFill>
                <a:latin typeface="Gotham Rounded Book" pitchFamily="50" charset="0"/>
              </a:rPr>
              <a:t>simple way to reduce the risk of a damaging fire in the workplace</a:t>
            </a:r>
            <a:endParaRPr lang="en-US" altLang="en-US" sz="1600" dirty="0"/>
          </a:p>
        </p:txBody>
      </p:sp>
      <p:sp>
        <p:nvSpPr>
          <p:cNvPr id="7" name="TextBox 6">
            <a:extLst>
              <a:ext uri="{FF2B5EF4-FFF2-40B4-BE49-F238E27FC236}">
                <a16:creationId xmlns:a16="http://schemas.microsoft.com/office/drawing/2014/main" id="{AA94C75B-D85D-4777-9271-75CEBB1BF6E7}"/>
              </a:ext>
            </a:extLst>
          </p:cNvPr>
          <p:cNvSpPr txBox="1"/>
          <p:nvPr/>
        </p:nvSpPr>
        <p:spPr>
          <a:xfrm>
            <a:off x="2486189" y="2074319"/>
            <a:ext cx="4436692" cy="4647426"/>
          </a:xfrm>
          <a:prstGeom prst="rect">
            <a:avLst/>
          </a:prstGeom>
          <a:noFill/>
        </p:spPr>
        <p:txBody>
          <a:bodyPr wrap="square" rtlCol="0">
            <a:spAutoFit/>
          </a:bodyPr>
          <a:lstStyle/>
          <a:p>
            <a:pPr marL="180975" indent="-180975">
              <a:spcBef>
                <a:spcPts val="1200"/>
              </a:spcBef>
              <a:buFont typeface="Arial" charset="0"/>
              <a:buChar char="•"/>
            </a:pPr>
            <a:r>
              <a:rPr lang="en-US" sz="1400" dirty="0"/>
              <a:t>Cabinet must be labelled </a:t>
            </a:r>
            <a:r>
              <a:rPr lang="en-US" sz="1400" dirty="0">
                <a:solidFill>
                  <a:srgbClr val="000000"/>
                </a:solidFill>
              </a:rPr>
              <a:t>"FLAMMABLE—KEEP FIRE AWAY" legend or have the flammable “flame” icon.</a:t>
            </a:r>
          </a:p>
          <a:p>
            <a:pPr marL="180975" lvl="0" indent="-180975">
              <a:spcBef>
                <a:spcPts val="1200"/>
              </a:spcBef>
              <a:buFont typeface="Arial" charset="0"/>
              <a:buChar char="•"/>
            </a:pPr>
            <a:r>
              <a:rPr lang="en-US" sz="1400" dirty="0"/>
              <a:t>Doors</a:t>
            </a:r>
            <a:r>
              <a:rPr lang="en-US" sz="1400" dirty="0">
                <a:solidFill>
                  <a:srgbClr val="000000"/>
                </a:solidFill>
              </a:rPr>
              <a:t> must have a 2 or 3 point latch and the door sill must be raised at least 2“/5cm above the cabinet bottom to retain spilled liquid within the cabinet.</a:t>
            </a:r>
          </a:p>
          <a:p>
            <a:pPr marL="180975" indent="-180975">
              <a:spcBef>
                <a:spcPts val="1200"/>
              </a:spcBef>
              <a:buFont typeface="Arial" charset="0"/>
              <a:buChar char="•"/>
            </a:pPr>
            <a:r>
              <a:rPr lang="en-US" sz="1400" dirty="0"/>
              <a:t>Grounding and bonding is </a:t>
            </a:r>
            <a:r>
              <a:rPr lang="en-US" sz="1400" dirty="0">
                <a:solidFill>
                  <a:srgbClr val="000000"/>
                </a:solidFill>
              </a:rPr>
              <a:t>required for flammable cabinets containing chemical product being dispensed (or waste drums).</a:t>
            </a:r>
          </a:p>
          <a:p>
            <a:pPr marL="180975" indent="-180975">
              <a:spcBef>
                <a:spcPts val="1200"/>
              </a:spcBef>
              <a:buFont typeface="Arial" charset="0"/>
              <a:buChar char="•"/>
            </a:pPr>
            <a:r>
              <a:rPr lang="en-GB" sz="1400" dirty="0">
                <a:solidFill>
                  <a:srgbClr val="000000"/>
                </a:solidFill>
              </a:rPr>
              <a:t>It is recommended that the </a:t>
            </a:r>
            <a:r>
              <a:rPr lang="en-GB" sz="1400" dirty="0"/>
              <a:t>maximum quantities that </a:t>
            </a:r>
            <a:r>
              <a:rPr lang="en-GB" sz="1400" dirty="0">
                <a:solidFill>
                  <a:srgbClr val="000000"/>
                </a:solidFill>
              </a:rPr>
              <a:t>may be stored in cabinets and bins are no more than 50 litres / 11 gallons for extremely, highly flammable and those flammable liquids with a flashpoint below the maximum ambient temperature of the workroom/working area; and no more than 250 litres/55 gallons for other flammable liquids with a higher flashpoint of up to 55°C / 130°F.</a:t>
            </a:r>
            <a:endParaRPr lang="en-US" sz="1400" dirty="0">
              <a:solidFill>
                <a:srgbClr val="000000"/>
              </a:solidFill>
            </a:endParaRPr>
          </a:p>
        </p:txBody>
      </p:sp>
      <p:sp>
        <p:nvSpPr>
          <p:cNvPr id="8" name="TextBox 7">
            <a:extLst>
              <a:ext uri="{FF2B5EF4-FFF2-40B4-BE49-F238E27FC236}">
                <a16:creationId xmlns:a16="http://schemas.microsoft.com/office/drawing/2014/main" id="{51B70128-B861-4D28-BA25-1B4E920EDA0B}"/>
              </a:ext>
            </a:extLst>
          </p:cNvPr>
          <p:cNvSpPr txBox="1"/>
          <p:nvPr/>
        </p:nvSpPr>
        <p:spPr>
          <a:xfrm>
            <a:off x="7402555" y="1435852"/>
            <a:ext cx="4492010" cy="3893374"/>
          </a:xfrm>
          <a:prstGeom prst="rect">
            <a:avLst/>
          </a:prstGeom>
          <a:noFill/>
        </p:spPr>
        <p:txBody>
          <a:bodyPr wrap="square" rtlCol="0">
            <a:spAutoFit/>
          </a:bodyPr>
          <a:lstStyle/>
          <a:p>
            <a:pPr marL="171450" indent="-171450">
              <a:buFont typeface="Arial" panose="020B0604020202020204" pitchFamily="34" charset="0"/>
              <a:buChar char="•"/>
              <a:defRPr/>
            </a:pPr>
            <a:r>
              <a:rPr lang="en-US" sz="1400" dirty="0"/>
              <a:t>Do not store </a:t>
            </a:r>
            <a:r>
              <a:rPr lang="en-US" sz="1400" dirty="0">
                <a:solidFill>
                  <a:srgbClr val="000000"/>
                </a:solidFill>
              </a:rPr>
              <a:t>brushes, rags, cardboard, or other combustible materials in cabinets</a:t>
            </a:r>
          </a:p>
          <a:p>
            <a:pPr marL="171450" indent="-171450">
              <a:buFont typeface="Arial" panose="020B0604020202020204" pitchFamily="34" charset="0"/>
              <a:buChar char="•"/>
              <a:defRPr/>
            </a:pPr>
            <a:endParaRPr lang="en-US" sz="1400" dirty="0">
              <a:solidFill>
                <a:srgbClr val="000000"/>
              </a:solidFill>
            </a:endParaRPr>
          </a:p>
          <a:p>
            <a:pPr marL="171450" indent="-171450">
              <a:buFont typeface="Arial" panose="020B0604020202020204" pitchFamily="34" charset="0"/>
              <a:buChar char="•"/>
              <a:defRPr/>
            </a:pPr>
            <a:r>
              <a:rPr lang="en-US" sz="1400" dirty="0"/>
              <a:t>Do not </a:t>
            </a:r>
            <a:r>
              <a:rPr lang="en-US" sz="1400" dirty="0">
                <a:solidFill>
                  <a:srgbClr val="000000"/>
                </a:solidFill>
              </a:rPr>
              <a:t>store any materials on top of a flammable storage cabinet</a:t>
            </a:r>
          </a:p>
          <a:p>
            <a:pPr marL="171450" indent="-171450">
              <a:buFont typeface="Arial" panose="020B0604020202020204" pitchFamily="34" charset="0"/>
              <a:buChar char="•"/>
              <a:defRPr/>
            </a:pPr>
            <a:endParaRPr lang="en-US" sz="1400" dirty="0">
              <a:solidFill>
                <a:srgbClr val="000000"/>
              </a:solidFill>
            </a:endParaRPr>
          </a:p>
          <a:p>
            <a:pPr marL="171450" indent="-171450">
              <a:buFont typeface="Arial" panose="020B0604020202020204" pitchFamily="34" charset="0"/>
              <a:buChar char="•"/>
              <a:defRPr/>
            </a:pPr>
            <a:r>
              <a:rPr lang="en-US" sz="1400" dirty="0">
                <a:solidFill>
                  <a:srgbClr val="000000"/>
                </a:solidFill>
              </a:rPr>
              <a:t>Chemical Storage cabinets should not be place in direct sunlight or near head sources or high traffic areas</a:t>
            </a:r>
          </a:p>
          <a:p>
            <a:pPr>
              <a:defRPr/>
            </a:pPr>
            <a:endParaRPr lang="en-US" sz="1400" dirty="0">
              <a:solidFill>
                <a:srgbClr val="000000"/>
              </a:solidFill>
            </a:endParaRPr>
          </a:p>
          <a:p>
            <a:pPr marL="171450" indent="-171450">
              <a:spcAft>
                <a:spcPts val="600"/>
              </a:spcAft>
              <a:buFont typeface="Arial" panose="020B0604020202020204" pitchFamily="34" charset="0"/>
              <a:buChar char="•"/>
              <a:defRPr/>
            </a:pPr>
            <a:r>
              <a:rPr lang="en-US" sz="1400" dirty="0">
                <a:solidFill>
                  <a:srgbClr val="000000"/>
                </a:solidFill>
              </a:rPr>
              <a:t>Immediately clean up any chemical spill in a cabinet so that it doesn’t evaporate/volatilize and possibly cause or add to a fire</a:t>
            </a:r>
            <a:endParaRPr lang="en-GB" sz="2000" dirty="0"/>
          </a:p>
          <a:p>
            <a:pPr algn="ctr"/>
            <a:r>
              <a:rPr lang="en-GB" sz="2000" b="1" dirty="0"/>
              <a:t>DO NOT </a:t>
            </a:r>
            <a:r>
              <a:rPr lang="en-GB" sz="2000" dirty="0"/>
              <a:t>Store chemicals on the floor of chemical storage or flammable cabinets</a:t>
            </a:r>
            <a:endParaRPr lang="en-US" sz="1400" dirty="0">
              <a:cs typeface="Arial" charset="0"/>
            </a:endParaRPr>
          </a:p>
        </p:txBody>
      </p:sp>
      <p:sp>
        <p:nvSpPr>
          <p:cNvPr id="9" name="Text Box 251">
            <a:extLst>
              <a:ext uri="{FF2B5EF4-FFF2-40B4-BE49-F238E27FC236}">
                <a16:creationId xmlns:a16="http://schemas.microsoft.com/office/drawing/2014/main" id="{57415B01-37EC-496C-81FB-7EA1CA6649FE}"/>
              </a:ext>
            </a:extLst>
          </p:cNvPr>
          <p:cNvSpPr txBox="1">
            <a:spLocks noChangeArrowheads="1"/>
          </p:cNvSpPr>
          <p:nvPr/>
        </p:nvSpPr>
        <p:spPr bwMode="auto">
          <a:xfrm>
            <a:off x="2696474" y="1381000"/>
            <a:ext cx="3175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spcBef>
                <a:spcPct val="50000"/>
              </a:spcBef>
              <a:buFont typeface="Wingdings" panose="05000000000000000000" pitchFamily="2" charset="2"/>
              <a:buNone/>
            </a:pPr>
            <a:r>
              <a:rPr lang="en-US" altLang="en-US" sz="2000" dirty="0">
                <a:solidFill>
                  <a:srgbClr val="000000"/>
                </a:solidFill>
                <a:latin typeface="Gotham Rounded Book" pitchFamily="50" charset="0"/>
              </a:rPr>
              <a:t>Some Best Practices</a:t>
            </a:r>
            <a:r>
              <a:rPr lang="en-US" altLang="en-US" sz="1700" b="1" dirty="0">
                <a:solidFill>
                  <a:schemeClr val="accent1"/>
                </a:solidFill>
                <a:latin typeface="Gotham Rounded Book" pitchFamily="50" charset="0"/>
              </a:rPr>
              <a:t>^</a:t>
            </a:r>
          </a:p>
        </p:txBody>
      </p:sp>
      <p:pic>
        <p:nvPicPr>
          <p:cNvPr id="10" name="Picture 7" descr="C:\Documents and Settings\204038809\Desktop\Flammable Cabinets 003.jpg">
            <a:extLst>
              <a:ext uri="{FF2B5EF4-FFF2-40B4-BE49-F238E27FC236}">
                <a16:creationId xmlns:a16="http://schemas.microsoft.com/office/drawing/2014/main" id="{13017237-DDC0-4FF4-A0D8-17D3D970E4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664" y="3444958"/>
            <a:ext cx="1639136" cy="240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
            <a:extLst>
              <a:ext uri="{FF2B5EF4-FFF2-40B4-BE49-F238E27FC236}">
                <a16:creationId xmlns:a16="http://schemas.microsoft.com/office/drawing/2014/main" id="{DEBE921C-75EA-49B2-A7FE-8E85A86D70D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7647" y="1705833"/>
            <a:ext cx="1649153" cy="1518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11">
            <a:extLst>
              <a:ext uri="{FF2B5EF4-FFF2-40B4-BE49-F238E27FC236}">
                <a16:creationId xmlns:a16="http://schemas.microsoft.com/office/drawing/2014/main" id="{96B0AD42-B2BC-4D8E-BE35-1483392B2F9C}"/>
              </a:ext>
            </a:extLst>
          </p:cNvPr>
          <p:cNvGrpSpPr/>
          <p:nvPr/>
        </p:nvGrpSpPr>
        <p:grpSpPr>
          <a:xfrm>
            <a:off x="8025818" y="4999573"/>
            <a:ext cx="3233496" cy="1381297"/>
            <a:chOff x="7707089" y="4654514"/>
            <a:chExt cx="3233496" cy="1381297"/>
          </a:xfrm>
        </p:grpSpPr>
        <p:pic>
          <p:nvPicPr>
            <p:cNvPr id="2" name="Picture 1">
              <a:extLst>
                <a:ext uri="{FF2B5EF4-FFF2-40B4-BE49-F238E27FC236}">
                  <a16:creationId xmlns:a16="http://schemas.microsoft.com/office/drawing/2014/main" id="{EE0DC97B-A875-4669-AAC6-FD9D58143374}"/>
                </a:ext>
              </a:extLst>
            </p:cNvPr>
            <p:cNvPicPr>
              <a:picLocks noChangeAspect="1"/>
            </p:cNvPicPr>
            <p:nvPr/>
          </p:nvPicPr>
          <p:blipFill>
            <a:blip r:embed="rId6"/>
            <a:stretch>
              <a:fillRect/>
            </a:stretch>
          </p:blipFill>
          <p:spPr>
            <a:xfrm>
              <a:off x="7707089" y="4654514"/>
              <a:ext cx="1201784" cy="1381297"/>
            </a:xfrm>
            <a:prstGeom prst="rect">
              <a:avLst/>
            </a:prstGeom>
            <a:ln w="25400">
              <a:solidFill>
                <a:srgbClr val="FF0000"/>
              </a:solidFill>
            </a:ln>
          </p:spPr>
        </p:pic>
        <p:pic>
          <p:nvPicPr>
            <p:cNvPr id="4" name="Picture 3">
              <a:extLst>
                <a:ext uri="{FF2B5EF4-FFF2-40B4-BE49-F238E27FC236}">
                  <a16:creationId xmlns:a16="http://schemas.microsoft.com/office/drawing/2014/main" id="{9677E41B-A119-45AA-B5E9-E78A9CFF6244}"/>
                </a:ext>
              </a:extLst>
            </p:cNvPr>
            <p:cNvPicPr>
              <a:picLocks noChangeAspect="1"/>
            </p:cNvPicPr>
            <p:nvPr/>
          </p:nvPicPr>
          <p:blipFill>
            <a:blip r:embed="rId7"/>
            <a:stretch>
              <a:fillRect/>
            </a:stretch>
          </p:blipFill>
          <p:spPr>
            <a:xfrm>
              <a:off x="9881520" y="4659697"/>
              <a:ext cx="1059065" cy="1373210"/>
            </a:xfrm>
            <a:prstGeom prst="rect">
              <a:avLst/>
            </a:prstGeom>
          </p:spPr>
        </p:pic>
        <p:sp>
          <p:nvSpPr>
            <p:cNvPr id="5" name="Arrow: Striped Right 4">
              <a:extLst>
                <a:ext uri="{FF2B5EF4-FFF2-40B4-BE49-F238E27FC236}">
                  <a16:creationId xmlns:a16="http://schemas.microsoft.com/office/drawing/2014/main" id="{367CDA02-78CA-4B87-9FFA-7030A60CB166}"/>
                </a:ext>
              </a:extLst>
            </p:cNvPr>
            <p:cNvSpPr/>
            <p:nvPr/>
          </p:nvSpPr>
          <p:spPr>
            <a:xfrm>
              <a:off x="9056713" y="5027911"/>
              <a:ext cx="676966" cy="604008"/>
            </a:xfrm>
            <a:prstGeom prst="stripedRightArrow">
              <a:avLst/>
            </a:prstGeom>
            <a:solidFill>
              <a:schemeClr val="accent3"/>
            </a:solidFill>
            <a:ln>
              <a:solidFill>
                <a:schemeClr val="bg2"/>
              </a:solidFill>
            </a:ln>
          </p:spPr>
          <p:txBody>
            <a:bodyPr wrap="square" rtlCol="0" anchor="ctr">
              <a:noAutofit/>
            </a:bodyPr>
            <a:lstStyle/>
            <a:p>
              <a:pPr algn="ctr"/>
              <a:endParaRPr lang="en-GB" dirty="0">
                <a:ea typeface="Arial" charset="0"/>
              </a:endParaRPr>
            </a:p>
          </p:txBody>
        </p:sp>
      </p:grpSp>
      <p:pic>
        <p:nvPicPr>
          <p:cNvPr id="2050" name="Picture 2" descr="Image result for flammable icon">
            <a:extLst>
              <a:ext uri="{FF2B5EF4-FFF2-40B4-BE49-F238E27FC236}">
                <a16:creationId xmlns:a16="http://schemas.microsoft.com/office/drawing/2014/main" id="{A5E8A334-1794-4FAF-880E-D46362CFA4E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03179" y="2405513"/>
            <a:ext cx="339765" cy="339765"/>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DB7E1CE5-6F44-4A7F-91C8-0E1ED9418761}"/>
              </a:ext>
            </a:extLst>
          </p:cNvPr>
          <p:cNvCxnSpPr>
            <a:cxnSpLocks/>
          </p:cNvCxnSpPr>
          <p:nvPr/>
        </p:nvCxnSpPr>
        <p:spPr>
          <a:xfrm>
            <a:off x="6974725" y="1678768"/>
            <a:ext cx="0" cy="39209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095992B-CCC5-4EDB-8C29-04D1B640956C}"/>
              </a:ext>
            </a:extLst>
          </p:cNvPr>
          <p:cNvSpPr txBox="1"/>
          <p:nvPr/>
        </p:nvSpPr>
        <p:spPr>
          <a:xfrm>
            <a:off x="3653040" y="1721568"/>
            <a:ext cx="4186836" cy="184666"/>
          </a:xfrm>
          <a:prstGeom prst="rect">
            <a:avLst/>
          </a:prstGeom>
          <a:noFill/>
        </p:spPr>
        <p:txBody>
          <a:bodyPr wrap="square" lIns="0" tIns="0" rIns="0" bIns="0" rtlCol="0">
            <a:spAutoFit/>
          </a:bodyPr>
          <a:lstStyle/>
          <a:p>
            <a:r>
              <a:rPr lang="en-GB" sz="1200" b="1" i="1" dirty="0">
                <a:latin typeface="Gotham Rounded"/>
              </a:rPr>
              <a:t>^</a:t>
            </a:r>
            <a:r>
              <a:rPr lang="en-GB" sz="1200" i="1" dirty="0">
                <a:latin typeface="Gotham Rounded"/>
              </a:rPr>
              <a:t> Local regulation may differ or be more stringent  </a:t>
            </a:r>
          </a:p>
        </p:txBody>
      </p:sp>
    </p:spTree>
    <p:custDataLst>
      <p:tags r:id="rId1"/>
    </p:custDataLst>
    <p:extLst>
      <p:ext uri="{BB962C8B-B14F-4D97-AF65-F5344CB8AC3E}">
        <p14:creationId xmlns:p14="http://schemas.microsoft.com/office/powerpoint/2010/main" val="1371735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D28CFA-5C19-4430-B655-A5BF349A2B70}"/>
              </a:ext>
            </a:extLst>
          </p:cNvPr>
          <p:cNvSpPr/>
          <p:nvPr/>
        </p:nvSpPr>
        <p:spPr>
          <a:xfrm>
            <a:off x="209725" y="5603846"/>
            <a:ext cx="11836866" cy="1163989"/>
          </a:xfrm>
          <a:prstGeom prst="rect">
            <a:avLst/>
          </a:prstGeom>
          <a:solidFill>
            <a:schemeClr val="bg1"/>
          </a:solidFill>
          <a:ln>
            <a:solidFill>
              <a:schemeClr val="bg1"/>
            </a:solidFill>
          </a:ln>
        </p:spPr>
        <p:txBody>
          <a:bodyPr wrap="square" rtlCol="0" anchor="ctr">
            <a:noAutofit/>
          </a:bodyPr>
          <a:lstStyle/>
          <a:p>
            <a:pPr algn="ctr"/>
            <a:endParaRPr lang="en-GB" dirty="0">
              <a:solidFill>
                <a:schemeClr val="bg1"/>
              </a:solidFill>
              <a:ea typeface="Arial" charset="0"/>
            </a:endParaRPr>
          </a:p>
        </p:txBody>
      </p:sp>
      <p:sp>
        <p:nvSpPr>
          <p:cNvPr id="2" name="Title 1"/>
          <p:cNvSpPr>
            <a:spLocks noGrp="1"/>
          </p:cNvSpPr>
          <p:nvPr>
            <p:ph type="title"/>
          </p:nvPr>
        </p:nvSpPr>
        <p:spPr>
          <a:xfrm>
            <a:off x="1338700" y="402508"/>
            <a:ext cx="9578915" cy="457020"/>
          </a:xfrm>
        </p:spPr>
        <p:txBody>
          <a:bodyPr/>
          <a:lstStyle/>
          <a:p>
            <a:r>
              <a:rPr lang="en-GB" dirty="0">
                <a:solidFill>
                  <a:schemeClr val="tx1"/>
                </a:solidFill>
              </a:rPr>
              <a:t>Chemical Compatibility Matrix – Key </a:t>
            </a:r>
            <a:br>
              <a:rPr lang="en-GB" dirty="0"/>
            </a:br>
            <a:endParaRPr lang="en-US" dirty="0"/>
          </a:p>
        </p:txBody>
      </p:sp>
      <p:pic>
        <p:nvPicPr>
          <p:cNvPr id="10" name="Picture 9">
            <a:extLst>
              <a:ext uri="{FF2B5EF4-FFF2-40B4-BE49-F238E27FC236}">
                <a16:creationId xmlns:a16="http://schemas.microsoft.com/office/drawing/2014/main" id="{392578EE-84FD-48CB-A443-1FD343BC82CD}"/>
              </a:ext>
            </a:extLst>
          </p:cNvPr>
          <p:cNvPicPr/>
          <p:nvPr/>
        </p:nvPicPr>
        <p:blipFill>
          <a:blip r:embed="rId2"/>
          <a:srcRect/>
          <a:stretch>
            <a:fillRect/>
          </a:stretch>
        </p:blipFill>
        <p:spPr bwMode="auto">
          <a:xfrm>
            <a:off x="145409" y="1156317"/>
            <a:ext cx="619125" cy="590550"/>
          </a:xfrm>
          <a:prstGeom prst="rect">
            <a:avLst/>
          </a:prstGeom>
          <a:noFill/>
        </p:spPr>
      </p:pic>
      <p:pic>
        <p:nvPicPr>
          <p:cNvPr id="11" name="Picture 10">
            <a:extLst>
              <a:ext uri="{FF2B5EF4-FFF2-40B4-BE49-F238E27FC236}">
                <a16:creationId xmlns:a16="http://schemas.microsoft.com/office/drawing/2014/main" id="{B859AFEF-E248-4208-B9C7-05F128CBF990}"/>
              </a:ext>
            </a:extLst>
          </p:cNvPr>
          <p:cNvPicPr/>
          <p:nvPr/>
        </p:nvPicPr>
        <p:blipFill>
          <a:blip r:embed="rId3"/>
          <a:srcRect/>
          <a:stretch>
            <a:fillRect/>
          </a:stretch>
        </p:blipFill>
        <p:spPr bwMode="auto">
          <a:xfrm>
            <a:off x="140329" y="2108182"/>
            <a:ext cx="609600" cy="581025"/>
          </a:xfrm>
          <a:prstGeom prst="rect">
            <a:avLst/>
          </a:prstGeom>
          <a:noFill/>
        </p:spPr>
      </p:pic>
      <p:pic>
        <p:nvPicPr>
          <p:cNvPr id="12" name="Picture 11">
            <a:extLst>
              <a:ext uri="{FF2B5EF4-FFF2-40B4-BE49-F238E27FC236}">
                <a16:creationId xmlns:a16="http://schemas.microsoft.com/office/drawing/2014/main" id="{18839035-D37C-47C4-9DEE-10A174466B97}"/>
              </a:ext>
            </a:extLst>
          </p:cNvPr>
          <p:cNvPicPr/>
          <p:nvPr/>
        </p:nvPicPr>
        <p:blipFill>
          <a:blip r:embed="rId4"/>
          <a:srcRect/>
          <a:stretch>
            <a:fillRect/>
          </a:stretch>
        </p:blipFill>
        <p:spPr bwMode="auto">
          <a:xfrm>
            <a:off x="140329" y="2950192"/>
            <a:ext cx="609600" cy="581025"/>
          </a:xfrm>
          <a:prstGeom prst="rect">
            <a:avLst/>
          </a:prstGeom>
          <a:noFill/>
        </p:spPr>
      </p:pic>
      <p:pic>
        <p:nvPicPr>
          <p:cNvPr id="13" name="Picture 12">
            <a:extLst>
              <a:ext uri="{FF2B5EF4-FFF2-40B4-BE49-F238E27FC236}">
                <a16:creationId xmlns:a16="http://schemas.microsoft.com/office/drawing/2014/main" id="{FF181236-07D2-4139-A912-AA2E5053BB8D}"/>
              </a:ext>
            </a:extLst>
          </p:cNvPr>
          <p:cNvPicPr/>
          <p:nvPr/>
        </p:nvPicPr>
        <p:blipFill>
          <a:blip r:embed="rId5"/>
          <a:srcRect/>
          <a:stretch>
            <a:fillRect/>
          </a:stretch>
        </p:blipFill>
        <p:spPr bwMode="auto">
          <a:xfrm>
            <a:off x="140329" y="3745212"/>
            <a:ext cx="609600" cy="581025"/>
          </a:xfrm>
          <a:prstGeom prst="rect">
            <a:avLst/>
          </a:prstGeom>
          <a:noFill/>
        </p:spPr>
      </p:pic>
      <p:pic>
        <p:nvPicPr>
          <p:cNvPr id="14" name="Picture 13">
            <a:extLst>
              <a:ext uri="{FF2B5EF4-FFF2-40B4-BE49-F238E27FC236}">
                <a16:creationId xmlns:a16="http://schemas.microsoft.com/office/drawing/2014/main" id="{8FEF0F5E-6FFF-43F5-87E0-93C0990EB5FA}"/>
              </a:ext>
            </a:extLst>
          </p:cNvPr>
          <p:cNvPicPr/>
          <p:nvPr/>
        </p:nvPicPr>
        <p:blipFill>
          <a:blip r:embed="rId6"/>
          <a:srcRect/>
          <a:stretch>
            <a:fillRect/>
          </a:stretch>
        </p:blipFill>
        <p:spPr bwMode="auto">
          <a:xfrm>
            <a:off x="140329" y="4566267"/>
            <a:ext cx="609600" cy="581025"/>
          </a:xfrm>
          <a:prstGeom prst="rect">
            <a:avLst/>
          </a:prstGeom>
          <a:noFill/>
        </p:spPr>
      </p:pic>
      <p:pic>
        <p:nvPicPr>
          <p:cNvPr id="15" name="Picture 14">
            <a:extLst>
              <a:ext uri="{FF2B5EF4-FFF2-40B4-BE49-F238E27FC236}">
                <a16:creationId xmlns:a16="http://schemas.microsoft.com/office/drawing/2014/main" id="{6DFD697F-B77B-4B35-8795-0494F4ACA8CE}"/>
              </a:ext>
            </a:extLst>
          </p:cNvPr>
          <p:cNvPicPr/>
          <p:nvPr/>
        </p:nvPicPr>
        <p:blipFill>
          <a:blip r:embed="rId7"/>
          <a:srcRect/>
          <a:stretch>
            <a:fillRect/>
          </a:stretch>
        </p:blipFill>
        <p:spPr bwMode="auto">
          <a:xfrm>
            <a:off x="140329" y="5413992"/>
            <a:ext cx="609600" cy="581025"/>
          </a:xfrm>
          <a:prstGeom prst="rect">
            <a:avLst/>
          </a:prstGeom>
          <a:noFill/>
        </p:spPr>
      </p:pic>
      <p:pic>
        <p:nvPicPr>
          <p:cNvPr id="16" name="Picture 15">
            <a:extLst>
              <a:ext uri="{FF2B5EF4-FFF2-40B4-BE49-F238E27FC236}">
                <a16:creationId xmlns:a16="http://schemas.microsoft.com/office/drawing/2014/main" id="{12BC0A19-428A-416A-84B7-CB6B007B6354}"/>
              </a:ext>
            </a:extLst>
          </p:cNvPr>
          <p:cNvPicPr>
            <a:picLocks noChangeAspect="1"/>
          </p:cNvPicPr>
          <p:nvPr/>
        </p:nvPicPr>
        <p:blipFill>
          <a:blip r:embed="rId8"/>
          <a:stretch>
            <a:fillRect/>
          </a:stretch>
        </p:blipFill>
        <p:spPr>
          <a:xfrm>
            <a:off x="190458" y="2205565"/>
            <a:ext cx="503243" cy="416748"/>
          </a:xfrm>
          <a:prstGeom prst="rect">
            <a:avLst/>
          </a:prstGeom>
        </p:spPr>
      </p:pic>
      <p:pic>
        <p:nvPicPr>
          <p:cNvPr id="17" name="Picture 16">
            <a:extLst>
              <a:ext uri="{FF2B5EF4-FFF2-40B4-BE49-F238E27FC236}">
                <a16:creationId xmlns:a16="http://schemas.microsoft.com/office/drawing/2014/main" id="{5B067466-1CC5-4C58-90E8-80160571258D}"/>
              </a:ext>
            </a:extLst>
          </p:cNvPr>
          <p:cNvPicPr>
            <a:picLocks noChangeAspect="1"/>
          </p:cNvPicPr>
          <p:nvPr/>
        </p:nvPicPr>
        <p:blipFill>
          <a:blip r:embed="rId9"/>
          <a:stretch>
            <a:fillRect/>
          </a:stretch>
        </p:blipFill>
        <p:spPr>
          <a:xfrm>
            <a:off x="187561" y="3199637"/>
            <a:ext cx="506139" cy="95630"/>
          </a:xfrm>
          <a:prstGeom prst="rect">
            <a:avLst/>
          </a:prstGeom>
        </p:spPr>
      </p:pic>
      <p:pic>
        <p:nvPicPr>
          <p:cNvPr id="18" name="Picture 17">
            <a:extLst>
              <a:ext uri="{FF2B5EF4-FFF2-40B4-BE49-F238E27FC236}">
                <a16:creationId xmlns:a16="http://schemas.microsoft.com/office/drawing/2014/main" id="{10427A0B-9CF1-420D-A1E1-68B93661B2D0}"/>
              </a:ext>
            </a:extLst>
          </p:cNvPr>
          <p:cNvPicPr>
            <a:picLocks noChangeAspect="1"/>
          </p:cNvPicPr>
          <p:nvPr/>
        </p:nvPicPr>
        <p:blipFill>
          <a:blip r:embed="rId10"/>
          <a:stretch>
            <a:fillRect/>
          </a:stretch>
        </p:blipFill>
        <p:spPr>
          <a:xfrm>
            <a:off x="166195" y="3904487"/>
            <a:ext cx="548870" cy="273194"/>
          </a:xfrm>
          <a:prstGeom prst="rect">
            <a:avLst/>
          </a:prstGeom>
        </p:spPr>
      </p:pic>
      <p:pic>
        <p:nvPicPr>
          <p:cNvPr id="19" name="Picture 18">
            <a:extLst>
              <a:ext uri="{FF2B5EF4-FFF2-40B4-BE49-F238E27FC236}">
                <a16:creationId xmlns:a16="http://schemas.microsoft.com/office/drawing/2014/main" id="{5D815D83-FD58-43D7-824C-D12037CEA966}"/>
              </a:ext>
            </a:extLst>
          </p:cNvPr>
          <p:cNvPicPr>
            <a:picLocks noChangeAspect="1"/>
          </p:cNvPicPr>
          <p:nvPr/>
        </p:nvPicPr>
        <p:blipFill>
          <a:blip r:embed="rId11"/>
          <a:stretch>
            <a:fillRect/>
          </a:stretch>
        </p:blipFill>
        <p:spPr>
          <a:xfrm>
            <a:off x="169954" y="4788397"/>
            <a:ext cx="541352" cy="136763"/>
          </a:xfrm>
          <a:prstGeom prst="rect">
            <a:avLst/>
          </a:prstGeom>
        </p:spPr>
      </p:pic>
      <p:pic>
        <p:nvPicPr>
          <p:cNvPr id="20" name="Picture 19">
            <a:extLst>
              <a:ext uri="{FF2B5EF4-FFF2-40B4-BE49-F238E27FC236}">
                <a16:creationId xmlns:a16="http://schemas.microsoft.com/office/drawing/2014/main" id="{3356E9D2-A0A3-47F5-8AE5-BB9B5B3A67E9}"/>
              </a:ext>
            </a:extLst>
          </p:cNvPr>
          <p:cNvPicPr>
            <a:picLocks noChangeAspect="1"/>
          </p:cNvPicPr>
          <p:nvPr/>
        </p:nvPicPr>
        <p:blipFill>
          <a:blip r:embed="rId12"/>
          <a:stretch>
            <a:fillRect/>
          </a:stretch>
        </p:blipFill>
        <p:spPr>
          <a:xfrm>
            <a:off x="178181" y="5460553"/>
            <a:ext cx="549903" cy="506433"/>
          </a:xfrm>
          <a:prstGeom prst="rect">
            <a:avLst/>
          </a:prstGeom>
        </p:spPr>
      </p:pic>
      <p:sp>
        <p:nvSpPr>
          <p:cNvPr id="21" name="Rectangle 20">
            <a:extLst>
              <a:ext uri="{FF2B5EF4-FFF2-40B4-BE49-F238E27FC236}">
                <a16:creationId xmlns:a16="http://schemas.microsoft.com/office/drawing/2014/main" id="{2BC720ED-7881-453B-B7B2-8D71AA3FB106}"/>
              </a:ext>
            </a:extLst>
          </p:cNvPr>
          <p:cNvSpPr/>
          <p:nvPr/>
        </p:nvSpPr>
        <p:spPr>
          <a:xfrm>
            <a:off x="835082" y="1281958"/>
            <a:ext cx="1457450" cy="369332"/>
          </a:xfrm>
          <a:prstGeom prst="rect">
            <a:avLst/>
          </a:prstGeom>
        </p:spPr>
        <p:txBody>
          <a:bodyPr wrap="none">
            <a:spAutoFit/>
          </a:bodyPr>
          <a:lstStyle/>
          <a:p>
            <a:pPr>
              <a:spcAft>
                <a:spcPts val="0"/>
              </a:spcAft>
            </a:pPr>
            <a:r>
              <a:rPr lang="en-GB" b="1" dirty="0">
                <a:solidFill>
                  <a:srgbClr val="454545"/>
                </a:solidFill>
                <a:ea typeface="Arial" panose="020B0604020202020204" pitchFamily="34" charset="0"/>
              </a:rPr>
              <a:t>Compatible</a:t>
            </a:r>
            <a:endParaRPr lang="en-GB" sz="1200" dirty="0">
              <a:effectLst/>
              <a:ea typeface="Times New Roman" panose="02020603050405020304" pitchFamily="18" charset="0"/>
            </a:endParaRPr>
          </a:p>
        </p:txBody>
      </p:sp>
      <p:sp>
        <p:nvSpPr>
          <p:cNvPr id="22" name="Rectangle 21">
            <a:extLst>
              <a:ext uri="{FF2B5EF4-FFF2-40B4-BE49-F238E27FC236}">
                <a16:creationId xmlns:a16="http://schemas.microsoft.com/office/drawing/2014/main" id="{FC83EE0B-B40E-4E36-A653-E88C16D1ABB0}"/>
              </a:ext>
            </a:extLst>
          </p:cNvPr>
          <p:cNvSpPr/>
          <p:nvPr/>
        </p:nvSpPr>
        <p:spPr>
          <a:xfrm>
            <a:off x="800057" y="2078653"/>
            <a:ext cx="11391943" cy="640816"/>
          </a:xfrm>
          <a:prstGeom prst="rect">
            <a:avLst/>
          </a:prstGeom>
        </p:spPr>
        <p:txBody>
          <a:bodyPr wrap="square">
            <a:spAutoFit/>
          </a:bodyPr>
          <a:lstStyle/>
          <a:p>
            <a:pPr marR="381000">
              <a:lnSpc>
                <a:spcPct val="99000"/>
              </a:lnSpc>
            </a:pPr>
            <a:r>
              <a:rPr lang="en-GB" b="1" dirty="0">
                <a:solidFill>
                  <a:srgbClr val="454545"/>
                </a:solidFill>
              </a:rPr>
              <a:t>Refer to SDS and/or consult chemical suppliers – chemicals within same class e.g. Acids  Corrosives (Class  8) may react violently, generate heat if mixed and or evolve toxic fumes.</a:t>
            </a:r>
          </a:p>
        </p:txBody>
      </p:sp>
      <p:sp>
        <p:nvSpPr>
          <p:cNvPr id="23" name="Rectangle 22">
            <a:extLst>
              <a:ext uri="{FF2B5EF4-FFF2-40B4-BE49-F238E27FC236}">
                <a16:creationId xmlns:a16="http://schemas.microsoft.com/office/drawing/2014/main" id="{8ADF3B28-C4F1-46DC-A404-8A1814156092}"/>
              </a:ext>
            </a:extLst>
          </p:cNvPr>
          <p:cNvSpPr/>
          <p:nvPr/>
        </p:nvSpPr>
        <p:spPr>
          <a:xfrm>
            <a:off x="797162" y="3052320"/>
            <a:ext cx="3380556" cy="369332"/>
          </a:xfrm>
          <a:prstGeom prst="rect">
            <a:avLst/>
          </a:prstGeom>
        </p:spPr>
        <p:txBody>
          <a:bodyPr wrap="square">
            <a:spAutoFit/>
          </a:bodyPr>
          <a:lstStyle/>
          <a:p>
            <a:pPr>
              <a:spcAft>
                <a:spcPts val="0"/>
              </a:spcAft>
            </a:pPr>
            <a:r>
              <a:rPr lang="en-GB" b="1" dirty="0">
                <a:solidFill>
                  <a:srgbClr val="454545"/>
                </a:solidFill>
              </a:rPr>
              <a:t>Minimum 3 metres 10 Feet. </a:t>
            </a:r>
          </a:p>
        </p:txBody>
      </p:sp>
      <p:sp>
        <p:nvSpPr>
          <p:cNvPr id="24" name="Rectangle 23">
            <a:extLst>
              <a:ext uri="{FF2B5EF4-FFF2-40B4-BE49-F238E27FC236}">
                <a16:creationId xmlns:a16="http://schemas.microsoft.com/office/drawing/2014/main" id="{BA3231BA-6F83-4C1A-87D2-DF5402C382EE}"/>
              </a:ext>
            </a:extLst>
          </p:cNvPr>
          <p:cNvSpPr/>
          <p:nvPr/>
        </p:nvSpPr>
        <p:spPr>
          <a:xfrm>
            <a:off x="797162" y="3723919"/>
            <a:ext cx="11394838" cy="646331"/>
          </a:xfrm>
          <a:prstGeom prst="rect">
            <a:avLst/>
          </a:prstGeom>
        </p:spPr>
        <p:txBody>
          <a:bodyPr wrap="square">
            <a:spAutoFit/>
          </a:bodyPr>
          <a:lstStyle/>
          <a:p>
            <a:r>
              <a:rPr lang="en-GB" b="1" dirty="0">
                <a:solidFill>
                  <a:srgbClr val="454545"/>
                </a:solidFill>
                <a:latin typeface="Gotham Rounded Book" pitchFamily="50" charset="0"/>
              </a:rPr>
              <a:t>Not kept in the same building, compartment or outdoor storage compound.  </a:t>
            </a:r>
          </a:p>
          <a:p>
            <a:r>
              <a:rPr lang="en-GB" b="1" dirty="0">
                <a:solidFill>
                  <a:srgbClr val="454545"/>
                </a:solidFill>
                <a:latin typeface="Gotham Rounded Book" pitchFamily="50" charset="0"/>
              </a:rPr>
              <a:t>Fire walls that are 30 minutes fire resistance of Brick or concrete construction recommended.</a:t>
            </a:r>
          </a:p>
        </p:txBody>
      </p:sp>
      <p:sp>
        <p:nvSpPr>
          <p:cNvPr id="25" name="Rectangle 24">
            <a:extLst>
              <a:ext uri="{FF2B5EF4-FFF2-40B4-BE49-F238E27FC236}">
                <a16:creationId xmlns:a16="http://schemas.microsoft.com/office/drawing/2014/main" id="{FFB77359-6CB5-4542-8B85-CEF553BDB4B3}"/>
              </a:ext>
            </a:extLst>
          </p:cNvPr>
          <p:cNvSpPr/>
          <p:nvPr/>
        </p:nvSpPr>
        <p:spPr>
          <a:xfrm>
            <a:off x="749929" y="4642138"/>
            <a:ext cx="9023758" cy="369332"/>
          </a:xfrm>
          <a:prstGeom prst="rect">
            <a:avLst/>
          </a:prstGeom>
        </p:spPr>
        <p:txBody>
          <a:bodyPr wrap="square">
            <a:spAutoFit/>
          </a:bodyPr>
          <a:lstStyle/>
          <a:p>
            <a:pPr>
              <a:spcAft>
                <a:spcPts val="0"/>
              </a:spcAft>
            </a:pPr>
            <a:r>
              <a:rPr lang="en-GB" b="1" dirty="0">
                <a:solidFill>
                  <a:srgbClr val="454545"/>
                </a:solidFill>
              </a:rPr>
              <a:t>Organic peroxides – dedicated buildings are recommended.</a:t>
            </a:r>
          </a:p>
        </p:txBody>
      </p:sp>
      <p:sp>
        <p:nvSpPr>
          <p:cNvPr id="26" name="Rectangle 25">
            <a:extLst>
              <a:ext uri="{FF2B5EF4-FFF2-40B4-BE49-F238E27FC236}">
                <a16:creationId xmlns:a16="http://schemas.microsoft.com/office/drawing/2014/main" id="{1F92A107-B54F-4115-BB57-8C2FA9B83C88}"/>
              </a:ext>
            </a:extLst>
          </p:cNvPr>
          <p:cNvSpPr/>
          <p:nvPr/>
        </p:nvSpPr>
        <p:spPr>
          <a:xfrm>
            <a:off x="782828" y="5362296"/>
            <a:ext cx="11280905" cy="700385"/>
          </a:xfrm>
          <a:prstGeom prst="rect">
            <a:avLst/>
          </a:prstGeom>
        </p:spPr>
        <p:txBody>
          <a:bodyPr wrap="square">
            <a:spAutoFit/>
          </a:bodyPr>
          <a:lstStyle/>
          <a:p>
            <a:pPr marR="431800">
              <a:lnSpc>
                <a:spcPct val="114000"/>
              </a:lnSpc>
              <a:spcAft>
                <a:spcPts val="0"/>
              </a:spcAft>
            </a:pPr>
            <a:r>
              <a:rPr lang="en-GB" b="1" dirty="0">
                <a:solidFill>
                  <a:srgbClr val="454545"/>
                </a:solidFill>
              </a:rPr>
              <a:t>Refers to outside storage of gas cylinders. Where non-liquefied flammable gases are concerned the 3 metres / 10 feet  separation distance may be reduced to 1 metre / 3 feet. </a:t>
            </a:r>
          </a:p>
        </p:txBody>
      </p:sp>
    </p:spTree>
    <p:extLst>
      <p:ext uri="{BB962C8B-B14F-4D97-AF65-F5344CB8AC3E}">
        <p14:creationId xmlns:p14="http://schemas.microsoft.com/office/powerpoint/2010/main" val="2539149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A9A2B9C-853F-4EFB-87E2-26C675C8DE66}"/>
              </a:ext>
            </a:extLst>
          </p:cNvPr>
          <p:cNvSpPr/>
          <p:nvPr/>
        </p:nvSpPr>
        <p:spPr>
          <a:xfrm>
            <a:off x="209725" y="5603846"/>
            <a:ext cx="11836866" cy="1163989"/>
          </a:xfrm>
          <a:prstGeom prst="rect">
            <a:avLst/>
          </a:prstGeom>
          <a:solidFill>
            <a:schemeClr val="bg1"/>
          </a:solidFill>
          <a:ln>
            <a:solidFill>
              <a:schemeClr val="bg1"/>
            </a:solidFill>
          </a:ln>
        </p:spPr>
        <p:txBody>
          <a:bodyPr wrap="square" rtlCol="0" anchor="ctr">
            <a:noAutofit/>
          </a:bodyPr>
          <a:lstStyle/>
          <a:p>
            <a:pPr algn="ctr"/>
            <a:endParaRPr lang="en-GB" dirty="0">
              <a:solidFill>
                <a:schemeClr val="bg1"/>
              </a:solidFill>
              <a:ea typeface="Arial" charset="0"/>
            </a:endParaRPr>
          </a:p>
        </p:txBody>
      </p:sp>
      <p:sp>
        <p:nvSpPr>
          <p:cNvPr id="2" name="Title 1"/>
          <p:cNvSpPr>
            <a:spLocks noGrp="1"/>
          </p:cNvSpPr>
          <p:nvPr>
            <p:ph type="title"/>
          </p:nvPr>
        </p:nvSpPr>
        <p:spPr>
          <a:xfrm>
            <a:off x="209725" y="180305"/>
            <a:ext cx="9578915" cy="457020"/>
          </a:xfrm>
        </p:spPr>
        <p:txBody>
          <a:bodyPr/>
          <a:lstStyle/>
          <a:p>
            <a:r>
              <a:rPr lang="en-GB" dirty="0"/>
              <a:t>Chemical Storage – Compatibility Matrix</a:t>
            </a:r>
            <a:endParaRPr lang="en-US" dirty="0"/>
          </a:p>
        </p:txBody>
      </p:sp>
      <p:pic>
        <p:nvPicPr>
          <p:cNvPr id="5" name="Picture 4">
            <a:extLst>
              <a:ext uri="{FF2B5EF4-FFF2-40B4-BE49-F238E27FC236}">
                <a16:creationId xmlns:a16="http://schemas.microsoft.com/office/drawing/2014/main" id="{A0A68233-9E6D-407B-89C7-32C9529637DA}"/>
              </a:ext>
            </a:extLst>
          </p:cNvPr>
          <p:cNvPicPr>
            <a:picLocks noChangeAspect="1"/>
          </p:cNvPicPr>
          <p:nvPr/>
        </p:nvPicPr>
        <p:blipFill>
          <a:blip r:embed="rId2"/>
          <a:stretch>
            <a:fillRect/>
          </a:stretch>
        </p:blipFill>
        <p:spPr>
          <a:xfrm>
            <a:off x="908196" y="669153"/>
            <a:ext cx="10439923" cy="6179645"/>
          </a:xfrm>
          <a:prstGeom prst="rect">
            <a:avLst/>
          </a:prstGeom>
          <a:effectLst>
            <a:glow rad="292100">
              <a:schemeClr val="bg2">
                <a:alpha val="40000"/>
              </a:schemeClr>
            </a:glow>
          </a:effectLst>
        </p:spPr>
      </p:pic>
      <p:cxnSp>
        <p:nvCxnSpPr>
          <p:cNvPr id="11" name="Straight Connector 10">
            <a:extLst>
              <a:ext uri="{FF2B5EF4-FFF2-40B4-BE49-F238E27FC236}">
                <a16:creationId xmlns:a16="http://schemas.microsoft.com/office/drawing/2014/main" id="{05075AF0-0135-4C42-8C94-546B240D92A4}"/>
              </a:ext>
            </a:extLst>
          </p:cNvPr>
          <p:cNvCxnSpPr/>
          <p:nvPr/>
        </p:nvCxnSpPr>
        <p:spPr>
          <a:xfrm>
            <a:off x="3442448" y="5540188"/>
            <a:ext cx="555812" cy="0"/>
          </a:xfrm>
          <a:prstGeom prst="line">
            <a:avLst/>
          </a:prstGeom>
          <a:ln w="19050"/>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EF7E8C38-7258-E1E2-9B67-BADD77BF2338}"/>
              </a:ext>
            </a:extLst>
          </p:cNvPr>
          <p:cNvPicPr>
            <a:picLocks noChangeAspect="1"/>
          </p:cNvPicPr>
          <p:nvPr/>
        </p:nvPicPr>
        <p:blipFill>
          <a:blip r:embed="rId3"/>
          <a:stretch>
            <a:fillRect/>
          </a:stretch>
        </p:blipFill>
        <p:spPr>
          <a:xfrm>
            <a:off x="9922516" y="118733"/>
            <a:ext cx="2124075" cy="638175"/>
          </a:xfrm>
          <a:prstGeom prst="rect">
            <a:avLst/>
          </a:prstGeom>
        </p:spPr>
      </p:pic>
    </p:spTree>
    <p:extLst>
      <p:ext uri="{BB962C8B-B14F-4D97-AF65-F5344CB8AC3E}">
        <p14:creationId xmlns:p14="http://schemas.microsoft.com/office/powerpoint/2010/main" val="611398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8825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GE Vernova">
  <a:themeElements>
    <a:clrScheme name="GE Vernova Palette">
      <a:dk1>
        <a:srgbClr val="005E60"/>
      </a:dk1>
      <a:lt1>
        <a:srgbClr val="FFFFFF"/>
      </a:lt1>
      <a:dk2>
        <a:srgbClr val="212121"/>
      </a:dk2>
      <a:lt2>
        <a:srgbClr val="C8FF08"/>
      </a:lt2>
      <a:accent1>
        <a:srgbClr val="FAFAFA"/>
      </a:accent1>
      <a:accent2>
        <a:srgbClr val="E3E3E3"/>
      </a:accent2>
      <a:accent3>
        <a:srgbClr val="CCCCCC"/>
      </a:accent3>
      <a:accent4>
        <a:srgbClr val="696969"/>
      </a:accent4>
      <a:accent5>
        <a:srgbClr val="484848"/>
      </a:accent5>
      <a:accent6>
        <a:srgbClr val="59C3C9"/>
      </a:accent6>
      <a:hlink>
        <a:srgbClr val="75CA64"/>
      </a:hlink>
      <a:folHlink>
        <a:srgbClr val="BFA682"/>
      </a:folHlink>
    </a:clrScheme>
    <a:fontScheme name="GE Vernova">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Stainless Steel">
      <a:srgbClr val="D2D2D2"/>
    </a:custClr>
    <a:custClr name="Aluminum">
      <a:srgbClr val="AEAEAE"/>
    </a:custClr>
    <a:custClr name="Titanium">
      <a:srgbClr val="969696"/>
    </a:custClr>
    <a:custClr name="Yellow">
      <a:srgbClr val="FFD400"/>
    </a:custClr>
    <a:custClr name="Orange">
      <a:srgbClr val="FF8400"/>
    </a:custClr>
    <a:custClr name="Red">
      <a:srgbClr val="FF1900"/>
    </a:custClr>
    <a:custClr name="Purple">
      <a:srgbClr val="8F00FF"/>
    </a:custClr>
    <a:custClr name="Fuschia">
      <a:srgbClr val="DE00F7"/>
    </a:custClr>
    <a:custClr name="Blue">
      <a:srgbClr val="3900F8"/>
    </a:custClr>
    <a:custClr name="Teal">
      <a:srgbClr val="00D0E1"/>
    </a:custClr>
  </a:custClrLst>
  <a:extLst>
    <a:ext uri="{05A4C25C-085E-4340-85A3-A5531E510DB2}">
      <thm15:themeFamily xmlns:thm15="http://schemas.microsoft.com/office/thememl/2012/main" name="GE Vernova_PPT_Template_7.25.23.pptx" id="{516FEC3C-F444-46DB-9625-154F7F727864}" vid="{D2D9C980-E8ED-4E5D-97D7-10B54BD9CC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astReviewDate xmlns="cc7fbaa3-8214-4644-99f1-d2e5a6ae9914" xsi:nil="true"/>
    <RevisionNumber xmlns="cc7fbaa3-8214-4644-99f1-d2e5a6ae9914" xsi:nil="true"/>
    <Process_x0020_Owmer xmlns="25586fb6-ed09-4f2d-8ea7-eda1a9fd2320">
      <UserInfo>
        <DisplayName>Conway, Ross (GE Vernova)</DisplayName>
        <AccountId>471</AccountId>
        <AccountType/>
      </UserInfo>
    </Process_x0020_Owmer>
    <Functional_x0020_Owner xmlns="25586fb6-ed09-4f2d-8ea7-eda1a9fd2320">Management Processes - Leadership and Commitment</Functional_x0020_Owner>
    <Nomenclature xmlns="25586fb6-ed09-4f2d-8ea7-eda1a9fd2320" xsi:nil="true"/>
  </documentManagement>
</p:properties>
</file>

<file path=customXml/itemProps1.xml><?xml version="1.0" encoding="utf-8"?>
<ds:datastoreItem xmlns:ds="http://schemas.openxmlformats.org/officeDocument/2006/customXml" ds:itemID="{328EA5BA-76C8-4532-8BB1-9595AC9D82FF}"/>
</file>

<file path=customXml/itemProps2.xml><?xml version="1.0" encoding="utf-8"?>
<ds:datastoreItem xmlns:ds="http://schemas.openxmlformats.org/officeDocument/2006/customXml" ds:itemID="{BDE64E55-0318-435E-9885-1C7A491FCFD5}">
  <ds:schemaRefs>
    <ds:schemaRef ds:uri="http://schemas.microsoft.com/sharepoint/v3/contenttype/forms"/>
  </ds:schemaRefs>
</ds:datastoreItem>
</file>

<file path=customXml/itemProps3.xml><?xml version="1.0" encoding="utf-8"?>
<ds:datastoreItem xmlns:ds="http://schemas.openxmlformats.org/officeDocument/2006/customXml" ds:itemID="{C6A31001-A973-48D3-BF92-E4BBE4C78C38}">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02d12187-754c-41a9-9e93-c3e1cfacc155"/>
    <ds:schemaRef ds:uri="http://www.w3.org/XML/1998/namespace"/>
    <ds:schemaRef ds:uri="b402df0d-8178-4802-b8b9-ef402e68d744"/>
    <ds:schemaRef ds:uri="660f4d75-da08-481c-93a0-a5d59f6ee71c"/>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blank</Template>
  <TotalTime>16</TotalTime>
  <Words>749</Words>
  <Application>Microsoft Office PowerPoint</Application>
  <PresentationFormat>Widescreen</PresentationFormat>
  <Paragraphs>41</Paragraphs>
  <Slides>6</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Gotham Rounded Book</vt:lpstr>
      <vt:lpstr>Inter</vt:lpstr>
      <vt:lpstr>GE Inspira Pitch</vt:lpstr>
      <vt:lpstr>Times New Roman</vt:lpstr>
      <vt:lpstr>Gotham Rounded</vt:lpstr>
      <vt:lpstr>Sons Condensed Extrabold</vt:lpstr>
      <vt:lpstr>Wingdings</vt:lpstr>
      <vt:lpstr>Arial</vt:lpstr>
      <vt:lpstr>GE Inspira</vt:lpstr>
      <vt:lpstr>GE Vernova</vt:lpstr>
      <vt:lpstr>Chemical Management  User Guides:</vt:lpstr>
      <vt:lpstr>User Guide - Chemical Storage &amp; Chemical Compatability  </vt:lpstr>
      <vt:lpstr>PowerPoint Presentation</vt:lpstr>
      <vt:lpstr>Chemical Compatibility Matrix – Key  </vt:lpstr>
      <vt:lpstr>Chemical Storage – Compatibility Matrix</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Conway, Ross (GE Vernova)</dc:creator>
  <cp:keywords/>
  <dc:description/>
  <cp:lastModifiedBy>Conway, Ross (GE Vernova)</cp:lastModifiedBy>
  <cp:revision>1</cp:revision>
  <dcterms:created xsi:type="dcterms:W3CDTF">2025-03-10T17:27:06Z</dcterms:created>
  <dcterms:modified xsi:type="dcterms:W3CDTF">2025-03-10T17:43:59Z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