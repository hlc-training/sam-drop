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Lst>
  <p:notesMasterIdLst>
    <p:notesMasterId r:id="rId15"/>
  </p:notesMasterIdLst>
  <p:handoutMasterIdLst>
    <p:handoutMasterId r:id="rId16"/>
  </p:handoutMasterIdLst>
  <p:sldIdLst>
    <p:sldId id="321" r:id="rId5"/>
    <p:sldId id="322" r:id="rId6"/>
    <p:sldId id="323" r:id="rId7"/>
    <p:sldId id="324" r:id="rId8"/>
    <p:sldId id="325" r:id="rId9"/>
    <p:sldId id="326" r:id="rId10"/>
    <p:sldId id="327" r:id="rId11"/>
    <p:sldId id="328" r:id="rId12"/>
    <p:sldId id="329" r:id="rId13"/>
    <p:sldId id="31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1032" userDrawn="1">
          <p15:clr>
            <a:srgbClr val="A4A3A4"/>
          </p15:clr>
        </p15:guide>
        <p15:guide id="4" orient="horz" pos="494" userDrawn="1">
          <p15:clr>
            <a:srgbClr val="A4A3A4"/>
          </p15:clr>
        </p15:guide>
        <p15:guide id="5" orient="horz" pos="1152" userDrawn="1">
          <p15:clr>
            <a:srgbClr val="A4A3A4"/>
          </p15:clr>
        </p15:guide>
        <p15:guide id="7" pos="7152" userDrawn="1">
          <p15:clr>
            <a:srgbClr val="A4A3A4"/>
          </p15:clr>
        </p15:guide>
        <p15:guide id="8" pos="50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9AAA"/>
    <a:srgbClr val="3FAE2A"/>
    <a:srgbClr val="B7E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7752061-5463-48E6-A297-43E0E91C0267}">
  <a:tblStyle styleId="{0817EA92-75D0-4044-A80A-286907CE0DDB}" styleName="GE Ruled Table">
    <a:wholeTbl>
      <a:tcTxStyle>
        <a:fontRef idx="minor">
          <a:prstClr val="black"/>
        </a:fontRef>
        <a:schemeClr val="accent2"/>
      </a:tcTxStyle>
      <a:tcStyle>
        <a:tcBdr>
          <a:left>
            <a:ln w="0" cmpd="sng">
              <a:solidFill>
                <a:schemeClr val="bg1"/>
              </a:solidFill>
            </a:ln>
          </a:left>
          <a:right>
            <a:ln w="0" cmpd="sng">
              <a:solidFill>
                <a:schemeClr val="bg1"/>
              </a:solidFill>
            </a:ln>
          </a:right>
          <a:top>
            <a:ln w="19050" cmpd="sng">
              <a:gradFill>
                <a:gsLst>
                  <a:gs pos="0">
                    <a:schemeClr val="bg1"/>
                  </a:gs>
                  <a:gs pos="25000">
                    <a:srgbClr val="B7E6FF"/>
                  </a:gs>
                  <a:gs pos="100000">
                    <a:schemeClr val="accent3"/>
                  </a:gs>
                </a:gsLst>
                <a:lin ang="0" scaled="0"/>
              </a:gradFill>
            </a:ln>
          </a:top>
          <a:bottom>
            <a:ln w="0" cmpd="sng">
              <a:solidFill>
                <a:schemeClr val="bg1"/>
              </a:solidFill>
            </a:ln>
          </a:bottom>
          <a:insideH>
            <a:ln w="19050" cmpd="sng">
              <a:gradFill>
                <a:gsLst>
                  <a:gs pos="0">
                    <a:schemeClr val="bg1"/>
                  </a:gs>
                  <a:gs pos="25000">
                    <a:srgbClr val="B7E6FF"/>
                  </a:gs>
                  <a:gs pos="100000">
                    <a:schemeClr val="accent3"/>
                  </a:gs>
                </a:gsLst>
                <a:lin ang="0" scaled="0"/>
              </a:gradFill>
            </a:ln>
          </a:insideH>
          <a:insideV>
            <a:ln w="0" cmpd="sng">
              <a:solidFill>
                <a:schemeClr val="bg1"/>
              </a:solidFill>
            </a:ln>
          </a:insideV>
        </a:tcBdr>
      </a:tcStyle>
    </a:wholeTbl>
    <a:band1H>
      <a:tcStyle>
        <a:tcBdr/>
      </a:tcStyle>
    </a:band1H>
    <a:band2H>
      <a:tcStyle>
        <a:tcBdr/>
      </a:tcStyle>
    </a:band2H>
    <a:band1V>
      <a:tcStyle>
        <a:tcBdr/>
      </a:tcStyle>
    </a:band1V>
    <a:band2V>
      <a:tcStyle>
        <a:tcBdr/>
      </a:tcStyle>
    </a:band2V>
    <a:lastCol>
      <a:tcStyle>
        <a:tcBdr/>
      </a:tcStyle>
    </a:lastCol>
    <a:firstCol>
      <a:tcTxStyle b="on">
        <a:fontRef idx="minor">
          <a:prstClr val="black"/>
        </a:fontRef>
        <a:schemeClr val="accent2"/>
      </a:tcTxStyle>
      <a:tcStyle>
        <a:tcBdr>
          <a:top>
            <a:ln w="0" cmpd="sng">
              <a:solidFill>
                <a:schemeClr val="lt1"/>
              </a:solidFill>
            </a:ln>
          </a:top>
          <a:insideH>
            <a:ln w="0" cmpd="sng">
              <a:solidFill>
                <a:schemeClr val="lt1"/>
              </a:solidFill>
            </a:ln>
          </a:insideH>
        </a:tcBdr>
      </a:tcStyle>
    </a:firstCol>
    <a:lastRow>
      <a:tcStyle>
        <a:tcBdr/>
      </a:tcStyle>
    </a:lastRow>
    <a:firstRow>
      <a:tcStyle>
        <a:tcBdr/>
      </a:tcStyle>
    </a:firstRow>
  </a:tblStyle>
  <a:tblStyle styleId="{B7752061-5463-48E6-A297-43E0E91C0267}" styleName="GE Solid Table">
    <a:wholeTbl>
      <a:tcTxStyle>
        <a:fontRef idx="minor">
          <a:prstClr val="black"/>
        </a:fontRef>
        <a:schemeClr val="accent2"/>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showGuides="1">
      <p:cViewPr varScale="1">
        <p:scale>
          <a:sx n="110" d="100"/>
          <a:sy n="110" d="100"/>
        </p:scale>
        <p:origin x="264" y="108"/>
      </p:cViewPr>
      <p:guideLst>
        <p:guide orient="horz" pos="2160"/>
        <p:guide pos="3840"/>
        <p:guide orient="horz" pos="1032"/>
        <p:guide orient="horz" pos="494"/>
        <p:guide orient="horz" pos="1152"/>
        <p:guide pos="7152"/>
        <p:guide pos="504"/>
      </p:guideLst>
    </p:cSldViewPr>
  </p:slideViewPr>
  <p:notesTextViewPr>
    <p:cViewPr>
      <p:scale>
        <a:sx n="1" d="1"/>
        <a:sy n="1" d="1"/>
      </p:scale>
      <p:origin x="0" y="0"/>
    </p:cViewPr>
  </p:notesTextViewPr>
  <p:sorterViewPr>
    <p:cViewPr>
      <p:scale>
        <a:sx n="80" d="100"/>
        <a:sy n="80" d="100"/>
      </p:scale>
      <p:origin x="0" y="8056"/>
    </p:cViewPr>
  </p:sorterViewPr>
  <p:notesViewPr>
    <p:cSldViewPr snapToGrid="0" showGuides="1">
      <p:cViewPr varScale="1">
        <p:scale>
          <a:sx n="171" d="100"/>
          <a:sy n="171" d="100"/>
        </p:scale>
        <p:origin x="5304" y="16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BF77B6-06AB-43A3-89A4-8CD1677993D0}" type="datetimeFigureOut">
              <a:rPr lang="en-CA" smtClean="0"/>
              <a:t>2020-06-25</a:t>
            </a:fld>
            <a:endParaRPr lang="en-CA"/>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2762B2D-468D-4837-8CAA-70AF425658B8}" type="slidenum">
              <a:rPr lang="en-CA" smtClean="0"/>
              <a:t>‹#›</a:t>
            </a:fld>
            <a:endParaRPr lang="en-CA"/>
          </a:p>
        </p:txBody>
      </p:sp>
      <p:pic>
        <p:nvPicPr>
          <p:cNvPr id="1026" name="Picture 2" descr="I:\Dockets\1421 SmallStuff GE PPT\Graphics\GE Grey.emf"/>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3139312" y="65216"/>
            <a:ext cx="579375" cy="5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0291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6804B0-AD37-4623-8498-3C9AE39E25E5}" type="datetimeFigureOut">
              <a:rPr lang="en-CA" smtClean="0"/>
              <a:t>2020-06-25</a:t>
            </a:fld>
            <a:endParaRPr lang="en-CA"/>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377687" y="4343400"/>
            <a:ext cx="6102626" cy="41148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CDABC8-FD09-47BC-822A-A981D494E0D7}" type="slidenum">
              <a:rPr lang="en-CA" smtClean="0"/>
              <a:t>‹#›</a:t>
            </a:fld>
            <a:endParaRPr lang="en-CA"/>
          </a:p>
        </p:txBody>
      </p:sp>
      <p:pic>
        <p:nvPicPr>
          <p:cNvPr id="8" name="Picture 2" descr="I:\Dockets\1421 SmallStuff GE PPT\Graphics\GE Grey.em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312" y="65216"/>
            <a:ext cx="579375" cy="5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4857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28600" indent="0" algn="l" defTabSz="914400" rtl="0" eaLnBrk="1" latinLnBrk="0" hangingPunct="1">
      <a:defRPr sz="1200" kern="1200">
        <a:solidFill>
          <a:schemeClr val="tx1"/>
        </a:solidFill>
        <a:latin typeface="+mn-lt"/>
        <a:ea typeface="+mn-ea"/>
        <a:cs typeface="+mn-cs"/>
      </a:defRPr>
    </a:lvl2pPr>
    <a:lvl3pPr marL="457200" indent="0" algn="l" defTabSz="914400" rtl="0" eaLnBrk="1" latinLnBrk="0" hangingPunct="1">
      <a:defRPr sz="1200" kern="1200">
        <a:solidFill>
          <a:schemeClr val="tx1"/>
        </a:solidFill>
        <a:latin typeface="+mn-lt"/>
        <a:ea typeface="+mn-ea"/>
        <a:cs typeface="+mn-cs"/>
      </a:defRPr>
    </a:lvl3pPr>
    <a:lvl4pPr marL="685800" indent="0" algn="l" defTabSz="914400" rtl="0" eaLnBrk="1" latinLnBrk="0" hangingPunct="1">
      <a:defRPr sz="1200" kern="1200">
        <a:solidFill>
          <a:schemeClr val="tx1"/>
        </a:solidFill>
        <a:latin typeface="+mn-lt"/>
        <a:ea typeface="+mn-ea"/>
        <a:cs typeface="+mn-cs"/>
      </a:defRPr>
    </a:lvl4pPr>
    <a:lvl5pPr marL="914400" indent="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print">
            <a:alphaModFix amt="25000"/>
            <a:extLst>
              <a:ext uri="{28A0092B-C50C-407E-A947-70E740481C1C}">
                <a14:useLocalDpi xmlns:a14="http://schemas.microsoft.com/office/drawing/2010/main" val="0"/>
              </a:ext>
            </a:extLst>
          </a:blip>
          <a:srcRect r="44166"/>
          <a:stretch/>
        </p:blipFill>
        <p:spPr>
          <a:xfrm>
            <a:off x="0" y="123372"/>
            <a:ext cx="6618514" cy="6669314"/>
          </a:xfrm>
          <a:prstGeom prst="rect">
            <a:avLst/>
          </a:prstGeom>
        </p:spPr>
      </p:pic>
      <p:sp>
        <p:nvSpPr>
          <p:cNvPr id="2" name="Title 1"/>
          <p:cNvSpPr>
            <a:spLocks noGrp="1"/>
          </p:cNvSpPr>
          <p:nvPr>
            <p:ph type="ctrTitle"/>
          </p:nvPr>
        </p:nvSpPr>
        <p:spPr>
          <a:xfrm>
            <a:off x="6444741" y="1120958"/>
            <a:ext cx="5137659" cy="1683608"/>
          </a:xfrm>
        </p:spPr>
        <p:txBody>
          <a:bodyPr anchor="b" anchorCtr="0">
            <a:noAutofit/>
          </a:bodyPr>
          <a:lstStyle>
            <a:lvl1pPr algn="l">
              <a:lnSpc>
                <a:spcPct val="90000"/>
              </a:lnSpc>
              <a:defRPr sz="4800">
                <a:solidFill>
                  <a:schemeClr val="accent2"/>
                </a:solidFill>
              </a:defRPr>
            </a:lvl1pPr>
          </a:lstStyle>
          <a:p>
            <a:r>
              <a:rPr lang="en-US"/>
              <a:t>Click to edit Master title style</a:t>
            </a:r>
            <a:endParaRPr lang="en-CA" dirty="0"/>
          </a:p>
        </p:txBody>
      </p:sp>
      <p:sp>
        <p:nvSpPr>
          <p:cNvPr id="4" name="Date Placeholder 3"/>
          <p:cNvSpPr>
            <a:spLocks noGrp="1"/>
          </p:cNvSpPr>
          <p:nvPr>
            <p:ph type="dt" sz="half" idx="10"/>
          </p:nvPr>
        </p:nvSpPr>
        <p:spPr>
          <a:xfrm>
            <a:off x="6541477" y="5612946"/>
            <a:ext cx="4382426" cy="254013"/>
          </a:xfrm>
          <a:prstGeom prst="rect">
            <a:avLst/>
          </a:prstGeom>
        </p:spPr>
        <p:txBody>
          <a:bodyPr lIns="0"/>
          <a:lstStyle>
            <a:lvl1pPr algn="l">
              <a:defRPr sz="1400" b="1" i="0">
                <a:solidFill>
                  <a:schemeClr val="accent1"/>
                </a:solidFill>
                <a:latin typeface="Gotham Rounded" charset="0"/>
                <a:ea typeface="Gotham Rounded" charset="0"/>
                <a:cs typeface="Gotham Rounded" charset="0"/>
              </a:defRPr>
            </a:lvl1pPr>
          </a:lstStyle>
          <a:p>
            <a:fld id="{6050E0BC-091B-4F46-A64B-EF4A39477016}" type="datetime4">
              <a:rPr lang="en-US" smtClean="0"/>
              <a:pPr/>
              <a:t>June 25, 2020</a:t>
            </a:fld>
            <a:endParaRPr lang="en-CA" dirty="0"/>
          </a:p>
        </p:txBody>
      </p:sp>
      <p:sp>
        <p:nvSpPr>
          <p:cNvPr id="3" name="TextBox 2"/>
          <p:cNvSpPr txBox="1"/>
          <p:nvPr/>
        </p:nvSpPr>
        <p:spPr>
          <a:xfrm>
            <a:off x="6541477" y="5954582"/>
            <a:ext cx="5138738" cy="153888"/>
          </a:xfrm>
          <a:prstGeom prst="rect">
            <a:avLst/>
          </a:prstGeom>
          <a:noFill/>
        </p:spPr>
        <p:txBody>
          <a:bodyPr wrap="square" lIns="0" tIns="0" rIns="0" bIns="0" rtlCol="0">
            <a:spAutoFit/>
          </a:bodyPr>
          <a:lstStyle/>
          <a:p>
            <a:r>
              <a:rPr lang="en-CA" sz="10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10" name="AutoShape 3"/>
          <p:cNvSpPr>
            <a:spLocks noChangeAspect="1" noChangeArrowheads="1" noTextEdit="1"/>
          </p:cNvSpPr>
          <p:nvPr userDrawn="1"/>
        </p:nvSpPr>
        <p:spPr bwMode="auto">
          <a:xfrm>
            <a:off x="365125" y="365125"/>
            <a:ext cx="90170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a:p>
        </p:txBody>
      </p:sp>
      <p:sp>
        <p:nvSpPr>
          <p:cNvPr id="9" name="Text Placeholder 19"/>
          <p:cNvSpPr>
            <a:spLocks noGrp="1"/>
          </p:cNvSpPr>
          <p:nvPr>
            <p:ph type="body" sz="quarter" idx="13" hasCustomPrompt="1"/>
          </p:nvPr>
        </p:nvSpPr>
        <p:spPr>
          <a:xfrm>
            <a:off x="6443663" y="2861449"/>
            <a:ext cx="5138738" cy="508944"/>
          </a:xfrm>
          <a:prstGeom prst="rect">
            <a:avLst/>
          </a:prstGeom>
        </p:spPr>
        <p:txBody>
          <a:bodyPr>
            <a:normAutofit/>
          </a:bodyPr>
          <a:lstStyle>
            <a:lvl1pPr marL="0" indent="0">
              <a:buFontTx/>
              <a:buNone/>
              <a:defRPr sz="2000" cap="all" baseline="0">
                <a:solidFill>
                  <a:schemeClr val="accent1"/>
                </a:solidFill>
              </a:defRPr>
            </a:lvl1pPr>
          </a:lstStyle>
          <a:p>
            <a:pPr lvl="0"/>
            <a:r>
              <a:rPr lang="en-US" dirty="0"/>
              <a:t>CLICK TO EDIT MASTER TEXT STYLES</a:t>
            </a:r>
          </a:p>
        </p:txBody>
      </p:sp>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138274" y="2869208"/>
            <a:ext cx="2583401" cy="100237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 Ru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97152" y="448056"/>
            <a:ext cx="8997696" cy="914400"/>
          </a:xfrm>
        </p:spPr>
        <p:txBody>
          <a:bodyPr/>
          <a:lstStyle>
            <a:lvl1pPr>
              <a:defRPr baseline="0"/>
            </a:lvl1pPr>
          </a:lstStyle>
          <a:p>
            <a:r>
              <a:rPr lang="en-US" dirty="0"/>
              <a:t>Title and Content – Rule Layout</a:t>
            </a:r>
            <a:endParaRPr lang="en-CA" dirty="0"/>
          </a:p>
        </p:txBody>
      </p:sp>
      <p:sp>
        <p:nvSpPr>
          <p:cNvPr id="6" name="Text Placeholder 8"/>
          <p:cNvSpPr>
            <a:spLocks noGrp="1"/>
          </p:cNvSpPr>
          <p:nvPr>
            <p:ph type="body" sz="quarter" idx="13" hasCustomPrompt="1"/>
          </p:nvPr>
        </p:nvSpPr>
        <p:spPr>
          <a:xfrm>
            <a:off x="1550270" y="1354836"/>
            <a:ext cx="9088120" cy="338328"/>
          </a:xfrm>
          <a:prstGeom prst="rect">
            <a:avLst/>
          </a:prstGeom>
        </p:spPr>
        <p:txBody>
          <a:bodyPr anchor="b" anchorCtr="0"/>
          <a:lstStyle>
            <a:lvl1pPr marL="0" indent="0">
              <a:lnSpc>
                <a:spcPct val="90000"/>
              </a:lnSpc>
              <a:spcBef>
                <a:spcPts val="0"/>
              </a:spcBef>
              <a:buFontTx/>
              <a:buNone/>
              <a:defRPr sz="1400" b="1" i="0" cap="all" baseline="0">
                <a:solidFill>
                  <a:schemeClr val="accent1"/>
                </a:solidFill>
                <a:latin typeface="Gotham Rounded" charset="0"/>
                <a:ea typeface="Gotham Rounded" charset="0"/>
                <a:cs typeface="Gotham Rounded" charset="0"/>
              </a:defRPr>
            </a:lvl1pPr>
          </a:lstStyle>
          <a:p>
            <a:pPr lvl="0"/>
            <a:r>
              <a:rPr lang="en-US" dirty="0"/>
              <a:t>SUBTITLE</a:t>
            </a:r>
          </a:p>
        </p:txBody>
      </p:sp>
      <p:cxnSp>
        <p:nvCxnSpPr>
          <p:cNvPr id="9" name="Straight Connector 8"/>
          <p:cNvCxnSpPr/>
          <p:nvPr userDrawn="1"/>
        </p:nvCxnSpPr>
        <p:spPr>
          <a:xfrm>
            <a:off x="1550270" y="1693164"/>
            <a:ext cx="9146759" cy="0"/>
          </a:xfrm>
          <a:prstGeom prst="line">
            <a:avLst/>
          </a:prstGeom>
          <a:ln w="19050">
            <a:gradFill flip="none" rotWithShape="1">
              <a:gsLst>
                <a:gs pos="52000">
                  <a:srgbClr val="FFAF8A"/>
                </a:gs>
                <a:gs pos="0">
                  <a:schemeClr val="bg1"/>
                </a:gs>
                <a:gs pos="100000">
                  <a:schemeClr val="accent1"/>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8" name="Content Placeholder 11"/>
          <p:cNvSpPr>
            <a:spLocks noGrp="1"/>
          </p:cNvSpPr>
          <p:nvPr>
            <p:ph sz="quarter" idx="15"/>
          </p:nvPr>
        </p:nvSpPr>
        <p:spPr>
          <a:xfrm>
            <a:off x="1550270" y="1852893"/>
            <a:ext cx="8997696" cy="3761232"/>
          </a:xfrm>
          <a:prstGeom prst="rect">
            <a:avLst/>
          </a:prstGeom>
        </p:spPr>
        <p:txBody>
          <a:bodyPr/>
          <a:lstStyle>
            <a:lvl1pPr>
              <a:buClr>
                <a:schemeClr val="accent1"/>
              </a:buClr>
              <a:defRPr sz="2000">
                <a:solidFill>
                  <a:schemeClr val="tx1"/>
                </a:solidFill>
              </a:defRPr>
            </a:lvl1pPr>
            <a:lvl2pPr>
              <a:buClr>
                <a:schemeClr val="accent1"/>
              </a:buClr>
              <a:defRPr sz="1800">
                <a:solidFill>
                  <a:schemeClr val="tx1"/>
                </a:solidFill>
              </a:defRPr>
            </a:lvl2pPr>
            <a:lvl3pPr>
              <a:spcBef>
                <a:spcPts val="1700"/>
              </a:spcBef>
              <a:buClr>
                <a:schemeClr val="accent1"/>
              </a:buClr>
              <a:defRPr sz="1800">
                <a:solidFill>
                  <a:schemeClr val="tx1"/>
                </a:solidFill>
              </a:defRPr>
            </a:lvl3pPr>
            <a:lvl4pPr>
              <a:buClr>
                <a:schemeClr val="accent1"/>
              </a:buClr>
              <a:defRPr sz="1600">
                <a:solidFill>
                  <a:schemeClr val="tx1"/>
                </a:solidFill>
              </a:defRPr>
            </a:lvl4pPr>
            <a:lvl5pPr>
              <a:spcBef>
                <a:spcPts val="1200"/>
              </a:spcBef>
              <a:buClr>
                <a:schemeClr val="accent1"/>
              </a:buClr>
              <a:defRPr sz="1400" b="0" i="0">
                <a:solidFill>
                  <a:schemeClr val="tx1"/>
                </a:solidFill>
                <a:latin typeface="Gotham Rounded Book" charset="0"/>
                <a:ea typeface="Gotham Rounded Book" charset="0"/>
                <a:cs typeface="Gotham Rounded Book"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FieldCore_Final">
    <p:bg>
      <p:bgPr>
        <a:solidFill>
          <a:schemeClr val="bg1"/>
        </a:solidFill>
        <a:effectLst/>
      </p:bgPr>
    </p:bg>
    <p:spTree>
      <p:nvGrpSpPr>
        <p:cNvPr id="1" name=""/>
        <p:cNvGrpSpPr/>
        <p:nvPr/>
      </p:nvGrpSpPr>
      <p:grpSpPr>
        <a:xfrm>
          <a:off x="0" y="0"/>
          <a:ext cx="0" cy="0"/>
          <a:chOff x="0" y="0"/>
          <a:chExt cx="0" cy="0"/>
        </a:xfrm>
      </p:grpSpPr>
      <p:sp>
        <p:nvSpPr>
          <p:cNvPr id="4" name="Rectangle 3"/>
          <p:cNvSpPr/>
          <p:nvPr userDrawn="1"/>
        </p:nvSpPr>
        <p:spPr>
          <a:xfrm>
            <a:off x="0" y="6620256"/>
            <a:ext cx="12188952" cy="2377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t="36325"/>
          <a:stretch/>
        </p:blipFill>
        <p:spPr>
          <a:xfrm>
            <a:off x="0" y="6649516"/>
            <a:ext cx="12195047" cy="227073"/>
          </a:xfrm>
          <a:prstGeom prst="rect">
            <a:avLst/>
          </a:prstGeom>
          <a:noFill/>
        </p:spPr>
      </p:pic>
      <p:pic>
        <p:nvPicPr>
          <p:cNvPr id="5" name="Picture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47088" y="2003973"/>
            <a:ext cx="8497824" cy="2225040"/>
          </a:xfrm>
          <a:prstGeom prst="rect">
            <a:avLst/>
          </a:prstGeom>
        </p:spPr>
      </p:pic>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92480" y="441960"/>
            <a:ext cx="10607040" cy="914400"/>
          </a:xfrm>
          <a:prstGeom prst="rect">
            <a:avLst/>
          </a:prstGeom>
        </p:spPr>
        <p:txBody>
          <a:bodyPr vert="horz" lIns="0" tIns="0" rIns="0" bIns="0" rtlCol="0" anchor="ctr" anchorCtr="0">
            <a:noAutofit/>
          </a:bodyPr>
          <a:lstStyle/>
          <a:p>
            <a:r>
              <a:rPr lang="en-US"/>
              <a:t>Click to edit Master title style</a:t>
            </a:r>
            <a:endParaRPr lang="en-CA" dirty="0"/>
          </a:p>
        </p:txBody>
      </p:sp>
      <p:sp>
        <p:nvSpPr>
          <p:cNvPr id="18" name="Slide Number Placeholder 5"/>
          <p:cNvSpPr txBox="1">
            <a:spLocks/>
          </p:cNvSpPr>
          <p:nvPr userDrawn="1"/>
        </p:nvSpPr>
        <p:spPr>
          <a:xfrm>
            <a:off x="579120" y="6289008"/>
            <a:ext cx="329636" cy="182880"/>
          </a:xfrm>
          <a:prstGeom prst="rect">
            <a:avLst/>
          </a:prstGeom>
          <a:noFill/>
        </p:spPr>
        <p:txBody>
          <a:bodyPr lIns="0" anchor="ctr" anchorCtr="0"/>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00E6A5BD-C011-4A45-AA3A-201790FB7F2B}" type="slidenum">
              <a:rPr lang="en-CA" sz="800" b="0" i="0" smtClean="0">
                <a:solidFill>
                  <a:schemeClr val="accent2"/>
                </a:solidFill>
                <a:latin typeface="Gotham Rounded Book" charset="0"/>
                <a:ea typeface="Gotham Rounded Book" charset="0"/>
                <a:cs typeface="Gotham Rounded Book" charset="0"/>
              </a:rPr>
              <a:pPr algn="l"/>
              <a:t>‹#›</a:t>
            </a:fld>
            <a:endParaRPr lang="en-CA" sz="800" b="0" i="0" dirty="0">
              <a:solidFill>
                <a:schemeClr val="accent2"/>
              </a:solidFill>
              <a:latin typeface="Gotham Rounded Book" charset="0"/>
              <a:ea typeface="Gotham Rounded Book" charset="0"/>
              <a:cs typeface="Gotham Rounded Book" charset="0"/>
            </a:endParaRPr>
          </a:p>
        </p:txBody>
      </p:sp>
      <p:cxnSp>
        <p:nvCxnSpPr>
          <p:cNvPr id="22" name="Straight Connector 21"/>
          <p:cNvCxnSpPr/>
          <p:nvPr userDrawn="1"/>
        </p:nvCxnSpPr>
        <p:spPr>
          <a:xfrm>
            <a:off x="594360" y="6123432"/>
            <a:ext cx="11003280" cy="0"/>
          </a:xfrm>
          <a:prstGeom prst="line">
            <a:avLst/>
          </a:prstGeom>
          <a:ln w="28575"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3517392" y="6318433"/>
            <a:ext cx="5157216" cy="123111"/>
          </a:xfrm>
          <a:prstGeom prst="rect">
            <a:avLst/>
          </a:prstGeom>
          <a:noFill/>
        </p:spPr>
        <p:txBody>
          <a:bodyPr wrap="square" lIns="0" tIns="0" rIns="0" bIns="0" rtlCol="0">
            <a:spAutoFit/>
          </a:bodyPr>
          <a:lstStyle/>
          <a:p>
            <a:pPr algn="ctr"/>
            <a:r>
              <a:rPr lang="en-CA" sz="800" b="0" i="0" dirty="0">
                <a:solidFill>
                  <a:schemeClr val="tx2"/>
                </a:solidFill>
                <a:latin typeface="Gotham Rounded Book" charset="0"/>
                <a:ea typeface="Gotham Rounded Book" charset="0"/>
                <a:cs typeface="Gotham Rounded Book" charset="0"/>
              </a:rPr>
              <a:t>Confidential. Not to be copied, distributed, or reproduced without prior approval. </a:t>
            </a:r>
          </a:p>
        </p:txBody>
      </p:sp>
      <p:sp>
        <p:nvSpPr>
          <p:cNvPr id="3" name="Text Placeholder 2"/>
          <p:cNvSpPr>
            <a:spLocks noGrp="1"/>
          </p:cNvSpPr>
          <p:nvPr>
            <p:ph type="body" idx="1"/>
          </p:nvPr>
        </p:nvSpPr>
        <p:spPr>
          <a:xfrm>
            <a:off x="1798864" y="1436716"/>
            <a:ext cx="859427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530928" y="6231328"/>
            <a:ext cx="1074663" cy="291723"/>
          </a:xfrm>
          <a:prstGeom prst="rect">
            <a:avLst/>
          </a:prstGeom>
        </p:spPr>
      </p:pic>
    </p:spTree>
    <p:extLst>
      <p:ext uri="{BB962C8B-B14F-4D97-AF65-F5344CB8AC3E}">
        <p14:creationId xmlns:p14="http://schemas.microsoft.com/office/powerpoint/2010/main" val="1176769782"/>
      </p:ext>
    </p:extLst>
  </p:cSld>
  <p:clrMap bg1="lt1" tx1="dk1" bg2="lt2" tx2="dk2" accent1="accent1" accent2="accent2" accent3="accent3" accent4="accent4" accent5="accent5" accent6="accent6" hlink="hlink" folHlink="folHlink"/>
  <p:sldLayoutIdLst>
    <p:sldLayoutId id="2147483724" r:id="rId1"/>
    <p:sldLayoutId id="2147483756" r:id="rId2"/>
    <p:sldLayoutId id="2147483772" r:id="rId3"/>
  </p:sldLayoutIdLst>
  <p:transition spd="slow">
    <p:push dir="u"/>
  </p:transition>
  <p:hf hdr="0"/>
  <p:txStyles>
    <p:titleStyle>
      <a:lvl1pPr algn="ctr" defTabSz="914400" rtl="0" eaLnBrk="1" latinLnBrk="0" hangingPunct="1">
        <a:lnSpc>
          <a:spcPct val="90000"/>
        </a:lnSpc>
        <a:spcBef>
          <a:spcPct val="0"/>
        </a:spcBef>
        <a:buNone/>
        <a:defRPr sz="3600" kern="1200" spc="0">
          <a:solidFill>
            <a:schemeClr val="accent2"/>
          </a:solidFill>
          <a:latin typeface="Gotham Rounded Book" charset="0"/>
          <a:ea typeface="Gotham Rounded Book" charset="0"/>
          <a:cs typeface="Gotham Rounded Book" charset="0"/>
        </a:defRPr>
      </a:lvl1pPr>
    </p:titleStyle>
    <p:bodyStyle>
      <a:lvl1pPr marL="155448" indent="-155448" algn="l" defTabSz="914400" rtl="0" eaLnBrk="1" latinLnBrk="0" hangingPunct="1">
        <a:lnSpc>
          <a:spcPct val="90000"/>
        </a:lnSpc>
        <a:spcBef>
          <a:spcPts val="800"/>
        </a:spcBef>
        <a:spcAft>
          <a:spcPts val="300"/>
        </a:spcAft>
        <a:buClr>
          <a:schemeClr val="accent1"/>
        </a:buClr>
        <a:buFont typeface="Arial" panose="020B0604020202020204" pitchFamily="34" charset="0"/>
        <a:buChar char="•"/>
        <a:defRPr sz="2000" b="0" i="0" kern="1200">
          <a:solidFill>
            <a:schemeClr val="tx1"/>
          </a:solidFill>
          <a:latin typeface="Gotham Rounded Book" charset="0"/>
          <a:ea typeface="Gotham Rounded Book" charset="0"/>
          <a:cs typeface="Gotham Rounded Book" charset="0"/>
        </a:defRPr>
      </a:lvl1pPr>
      <a:lvl2pPr marL="155448" indent="0" algn="l" defTabSz="914400" rtl="0" eaLnBrk="1" latinLnBrk="0" hangingPunct="1">
        <a:lnSpc>
          <a:spcPct val="90000"/>
        </a:lnSpc>
        <a:spcBef>
          <a:spcPts val="0"/>
        </a:spcBef>
        <a:buClr>
          <a:schemeClr val="accent1"/>
        </a:buClr>
        <a:buFontTx/>
        <a:buNone/>
        <a:defRPr sz="1800" b="0" i="0" kern="1200">
          <a:solidFill>
            <a:schemeClr val="tx1"/>
          </a:solidFill>
          <a:latin typeface="Gotham Rounded Book" charset="0"/>
          <a:ea typeface="Gotham Rounded Book" charset="0"/>
          <a:cs typeface="Gotham Rounded Book" charset="0"/>
        </a:defRPr>
      </a:lvl2pPr>
      <a:lvl3pPr marL="155448" indent="-155448" algn="l" defTabSz="914400" rtl="0" eaLnBrk="1" latinLnBrk="0" hangingPunct="1">
        <a:lnSpc>
          <a:spcPct val="90000"/>
        </a:lnSpc>
        <a:spcBef>
          <a:spcPts val="1100"/>
        </a:spcBef>
        <a:spcAft>
          <a:spcPts val="300"/>
        </a:spcAft>
        <a:buClr>
          <a:schemeClr val="accent1"/>
        </a:buClr>
        <a:buSzPct val="91000"/>
        <a:buFont typeface="Arial" charset="0"/>
        <a:buChar char="•"/>
        <a:defRPr lang="en-US" sz="1600" b="0" i="0" kern="1200" dirty="0">
          <a:solidFill>
            <a:schemeClr val="tx1"/>
          </a:solidFill>
          <a:latin typeface="Gotham Rounded Book" charset="0"/>
          <a:ea typeface="Gotham Rounded Book" charset="0"/>
          <a:cs typeface="Gotham Rounded Book" charset="0"/>
        </a:defRPr>
      </a:lvl3pPr>
      <a:lvl4pPr marL="155448" indent="0" algn="l" defTabSz="914400" rtl="0" eaLnBrk="1" latinLnBrk="0" hangingPunct="1">
        <a:lnSpc>
          <a:spcPct val="90000"/>
        </a:lnSpc>
        <a:spcBef>
          <a:spcPts val="0"/>
        </a:spcBef>
        <a:buClr>
          <a:schemeClr val="accent1"/>
        </a:buClr>
        <a:buFontTx/>
        <a:buNone/>
        <a:defRPr sz="1400" b="0" i="0" kern="1200">
          <a:solidFill>
            <a:schemeClr val="tx1"/>
          </a:solidFill>
          <a:latin typeface="Gotham Rounded Book" charset="0"/>
          <a:ea typeface="Gotham Rounded Book" charset="0"/>
          <a:cs typeface="Gotham Rounded Book" charset="0"/>
        </a:defRPr>
      </a:lvl4pPr>
      <a:lvl5pPr marL="155448" indent="-155448" algn="l" defTabSz="914400" rtl="0" eaLnBrk="1" latinLnBrk="0" hangingPunct="1">
        <a:lnSpc>
          <a:spcPct val="99000"/>
        </a:lnSpc>
        <a:spcBef>
          <a:spcPts val="900"/>
        </a:spcBef>
        <a:buClr>
          <a:schemeClr val="accent5"/>
        </a:buClr>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p:bodyStyle>
    <p:otherStyle>
      <a:defPPr>
        <a:defRPr lang="en-US"/>
      </a:defPPr>
      <a:lvl1pPr marL="0" algn="l" defTabSz="914400" rtl="0" eaLnBrk="1" latinLnBrk="0" hangingPunct="1">
        <a:lnSpc>
          <a:spcPct val="99000"/>
        </a:lnSpc>
        <a:defRPr sz="1400" kern="1200">
          <a:solidFill>
            <a:schemeClr val="accent2"/>
          </a:solidFill>
          <a:latin typeface="+mn-lt"/>
          <a:ea typeface="+mn-ea"/>
          <a:cs typeface="+mn-cs"/>
        </a:defRPr>
      </a:lvl1pPr>
      <a:lvl2pPr marL="0" algn="l" defTabSz="914400" rtl="0" eaLnBrk="1" latinLnBrk="0" hangingPunct="1">
        <a:lnSpc>
          <a:spcPct val="99000"/>
        </a:lnSpc>
        <a:spcBef>
          <a:spcPts val="900"/>
        </a:spcBef>
        <a:defRPr sz="1400" b="1" kern="1200">
          <a:solidFill>
            <a:schemeClr val="accent2"/>
          </a:solidFill>
          <a:latin typeface="+mn-lt"/>
          <a:ea typeface="+mn-ea"/>
          <a:cs typeface="+mn-cs"/>
        </a:defRPr>
      </a:lvl2pPr>
      <a:lvl3pPr marL="155448" indent="-155448" algn="l" defTabSz="914400" rtl="0" eaLnBrk="1" latinLnBrk="0" hangingPunct="1">
        <a:lnSpc>
          <a:spcPct val="99000"/>
        </a:lnSpc>
        <a:buSzPct val="91000"/>
        <a:buFont typeface="Arial" panose="020B0604020202020204" pitchFamily="34" charset="0"/>
        <a:buChar char="•"/>
        <a:defRPr sz="1400" kern="1200">
          <a:solidFill>
            <a:schemeClr val="accent2"/>
          </a:solidFill>
          <a:latin typeface="+mn-lt"/>
          <a:ea typeface="+mn-ea"/>
          <a:cs typeface="+mn-cs"/>
        </a:defRPr>
      </a:lvl3pPr>
      <a:lvl4pPr marL="155448" indent="-155448" algn="l" defTabSz="914400" rtl="0" eaLnBrk="1" latinLnBrk="0" hangingPunct="1">
        <a:lnSpc>
          <a:spcPct val="99000"/>
        </a:lnSpc>
        <a:spcBef>
          <a:spcPts val="900"/>
        </a:spcBef>
        <a:buSzPct val="91000"/>
        <a:buFont typeface="Arial" panose="020B0604020202020204" pitchFamily="34" charset="0"/>
        <a:buChar char="•"/>
        <a:defRPr sz="1400" b="1" kern="1200">
          <a:solidFill>
            <a:schemeClr val="accent2"/>
          </a:solidFill>
          <a:latin typeface="+mn-lt"/>
          <a:ea typeface="+mn-ea"/>
          <a:cs typeface="+mn-cs"/>
        </a:defRPr>
      </a:lvl4pPr>
      <a:lvl5pPr marL="155448" algn="l" defTabSz="914400" rtl="0" eaLnBrk="1" latinLnBrk="0" hangingPunct="1">
        <a:lnSpc>
          <a:spcPct val="99000"/>
        </a:lnSpc>
        <a:defRPr sz="1400" kern="1200">
          <a:solidFill>
            <a:schemeClr val="accent2"/>
          </a:solidFill>
          <a:latin typeface="+mn-lt"/>
          <a:ea typeface="+mn-ea"/>
          <a:cs typeface="+mn-cs"/>
        </a:defRPr>
      </a:lvl5pPr>
      <a:lvl6pPr marL="0" algn="l" defTabSz="914400" rtl="0" eaLnBrk="1" latinLnBrk="0" hangingPunct="1">
        <a:lnSpc>
          <a:spcPct val="99000"/>
        </a:lnSpc>
        <a:defRPr sz="1400" kern="1200">
          <a:solidFill>
            <a:schemeClr val="accent2"/>
          </a:solidFill>
          <a:latin typeface="+mn-lt"/>
          <a:ea typeface="+mn-ea"/>
          <a:cs typeface="+mn-cs"/>
        </a:defRPr>
      </a:lvl6pPr>
      <a:lvl7pPr marL="0" algn="l" defTabSz="914400" rtl="0" eaLnBrk="1" latinLnBrk="0" hangingPunct="1">
        <a:lnSpc>
          <a:spcPct val="99000"/>
        </a:lnSpc>
        <a:defRPr sz="1400" kern="1200">
          <a:solidFill>
            <a:schemeClr val="accent2"/>
          </a:solidFill>
          <a:latin typeface="+mn-lt"/>
          <a:ea typeface="+mn-ea"/>
          <a:cs typeface="+mn-cs"/>
        </a:defRPr>
      </a:lvl7pPr>
      <a:lvl8pPr marL="0" algn="l" defTabSz="914400" rtl="0" eaLnBrk="1" latinLnBrk="0" hangingPunct="1">
        <a:lnSpc>
          <a:spcPct val="99000"/>
        </a:lnSpc>
        <a:defRPr sz="1400" kern="1200">
          <a:solidFill>
            <a:schemeClr val="accent2"/>
          </a:solidFill>
          <a:latin typeface="+mn-lt"/>
          <a:ea typeface="+mn-ea"/>
          <a:cs typeface="+mn-cs"/>
        </a:defRPr>
      </a:lvl8pPr>
      <a:lvl9pPr marL="0" algn="l" defTabSz="914400" rtl="0" eaLnBrk="1" latinLnBrk="0" hangingPunct="1">
        <a:lnSpc>
          <a:spcPct val="99000"/>
        </a:lnSpc>
        <a:defRPr sz="1400" kern="1200">
          <a:solidFill>
            <a:schemeClr val="accent2"/>
          </a:solidFill>
          <a:latin typeface="+mn-lt"/>
          <a:ea typeface="+mn-ea"/>
          <a:cs typeface="+mn-cs"/>
        </a:defRPr>
      </a:lvl9pPr>
    </p:otherStyle>
  </p:txStyles>
  <p:extLst>
    <p:ext uri="{27BBF7A9-308A-43DC-89C8-2F10F3537804}">
      <p15:sldGuideLst xmlns:p15="http://schemas.microsoft.com/office/powerpoint/2012/main">
        <p15:guide id="1" orient="horz" pos="4042">
          <p15:clr>
            <a:srgbClr val="F26B43"/>
          </p15:clr>
        </p15:guide>
        <p15:guide id="2" pos="3840">
          <p15:clr>
            <a:srgbClr val="F26B43"/>
          </p15:clr>
        </p15:guide>
        <p15:guide id="3" pos="360">
          <p15:clr>
            <a:srgbClr val="F26B43"/>
          </p15:clr>
        </p15:guide>
        <p15:guide id="4" pos="7296">
          <p15:clr>
            <a:srgbClr val="F26B43"/>
          </p15:clr>
        </p15:guide>
        <p15:guide id="5" pos="984">
          <p15:clr>
            <a:srgbClr val="F26B43"/>
          </p15:clr>
        </p15:guide>
        <p15:guide id="6" orient="horz" pos="410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81897" y="60960"/>
            <a:ext cx="6312355" cy="757646"/>
          </a:xfrm>
        </p:spPr>
        <p:txBody>
          <a:bodyPr/>
          <a:lstStyle/>
          <a:p>
            <a:pPr eaLnBrk="1" hangingPunct="1"/>
            <a:r>
              <a:rPr lang="en-US" sz="3200" dirty="0">
                <a:latin typeface="GE Inspira Pitch" pitchFamily="34" charset="0"/>
              </a:rPr>
              <a:t>Chemical Management User Guides:</a:t>
            </a:r>
          </a:p>
        </p:txBody>
      </p:sp>
      <p:sp>
        <p:nvSpPr>
          <p:cNvPr id="3" name="Text Placeholder 2">
            <a:extLst>
              <a:ext uri="{FF2B5EF4-FFF2-40B4-BE49-F238E27FC236}">
                <a16:creationId xmlns:a16="http://schemas.microsoft.com/office/drawing/2014/main" id="{192B90AF-D168-4861-8E15-BC7EAD66CA03}"/>
              </a:ext>
            </a:extLst>
          </p:cNvPr>
          <p:cNvSpPr>
            <a:spLocks noGrp="1"/>
          </p:cNvSpPr>
          <p:nvPr>
            <p:ph type="body" sz="quarter" idx="13"/>
          </p:nvPr>
        </p:nvSpPr>
        <p:spPr>
          <a:xfrm>
            <a:off x="5293371" y="890936"/>
            <a:ext cx="6078583" cy="486292"/>
          </a:xfrm>
        </p:spPr>
        <p:txBody>
          <a:bodyPr>
            <a:normAutofit/>
          </a:bodyPr>
          <a:lstStyle/>
          <a:p>
            <a:r>
              <a:rPr lang="en-US" b="1" dirty="0"/>
              <a:t>How to conduct a Chemical sweep</a:t>
            </a:r>
          </a:p>
        </p:txBody>
      </p:sp>
      <p:pic>
        <p:nvPicPr>
          <p:cNvPr id="4" name="Graphic 3" descr="Mop and bucket">
            <a:extLst>
              <a:ext uri="{FF2B5EF4-FFF2-40B4-BE49-F238E27FC236}">
                <a16:creationId xmlns:a16="http://schemas.microsoft.com/office/drawing/2014/main" id="{06C77D68-5C86-4E2D-8983-28CB5D8895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930183" y="1449558"/>
            <a:ext cx="3859864" cy="3859864"/>
          </a:xfrm>
          <a:prstGeom prst="rect">
            <a:avLst/>
          </a:prstGeom>
        </p:spPr>
      </p:pic>
      <p:sp>
        <p:nvSpPr>
          <p:cNvPr id="2" name="TextBox 1">
            <a:extLst>
              <a:ext uri="{FF2B5EF4-FFF2-40B4-BE49-F238E27FC236}">
                <a16:creationId xmlns:a16="http://schemas.microsoft.com/office/drawing/2014/main" id="{9C3D1615-9A26-4344-B763-67484A3694F8}"/>
              </a:ext>
            </a:extLst>
          </p:cNvPr>
          <p:cNvSpPr txBox="1"/>
          <p:nvPr/>
        </p:nvSpPr>
        <p:spPr>
          <a:xfrm>
            <a:off x="8969829" y="5434275"/>
            <a:ext cx="2820218" cy="246221"/>
          </a:xfrm>
          <a:prstGeom prst="rect">
            <a:avLst/>
          </a:prstGeom>
          <a:noFill/>
        </p:spPr>
        <p:txBody>
          <a:bodyPr wrap="square" lIns="0" tIns="0" rIns="0" bIns="0" rtlCol="0">
            <a:spAutoFit/>
          </a:bodyPr>
          <a:lstStyle/>
          <a:p>
            <a:pPr algn="r"/>
            <a:r>
              <a:rPr lang="en-GB" sz="1600" dirty="0">
                <a:solidFill>
                  <a:schemeClr val="accent2"/>
                </a:solidFill>
                <a:latin typeface="Gotham Rounded Book" pitchFamily="50" charset="0"/>
              </a:rPr>
              <a:t>Issue 1: March 2020</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1B2A8-ACD1-4CA0-AD0E-4487E472AB67}"/>
              </a:ext>
            </a:extLst>
          </p:cNvPr>
          <p:cNvSpPr>
            <a:spLocks noGrp="1"/>
          </p:cNvSpPr>
          <p:nvPr>
            <p:ph type="title"/>
          </p:nvPr>
        </p:nvSpPr>
        <p:spPr/>
        <p:txBody>
          <a:bodyPr/>
          <a:lstStyle/>
          <a:p>
            <a:r>
              <a:rPr lang="en-US" dirty="0"/>
              <a:t>What is a Chemical Sweep</a:t>
            </a:r>
          </a:p>
        </p:txBody>
      </p:sp>
      <p:sp>
        <p:nvSpPr>
          <p:cNvPr id="3" name="Text Placeholder 2">
            <a:extLst>
              <a:ext uri="{FF2B5EF4-FFF2-40B4-BE49-F238E27FC236}">
                <a16:creationId xmlns:a16="http://schemas.microsoft.com/office/drawing/2014/main" id="{D82F5C84-1A88-4886-9F45-771C4B44864E}"/>
              </a:ext>
            </a:extLst>
          </p:cNvPr>
          <p:cNvSpPr>
            <a:spLocks noGrp="1"/>
          </p:cNvSpPr>
          <p:nvPr>
            <p:ph type="body" sz="quarter" idx="13"/>
          </p:nvPr>
        </p:nvSpPr>
        <p:spPr>
          <a:xfrm>
            <a:off x="636557" y="1314247"/>
            <a:ext cx="9088120" cy="338328"/>
          </a:xfrm>
        </p:spPr>
        <p:txBody>
          <a:bodyPr>
            <a:normAutofit fontScale="85000" lnSpcReduction="10000"/>
          </a:bodyPr>
          <a:lstStyle/>
          <a:p>
            <a:r>
              <a:rPr lang="en-US" sz="2000" dirty="0"/>
              <a:t>Chemical sweep is meant to “clean-up” a site’s chemical management (program)</a:t>
            </a:r>
          </a:p>
        </p:txBody>
      </p:sp>
      <p:sp>
        <p:nvSpPr>
          <p:cNvPr id="5" name="Content Placeholder 4">
            <a:extLst>
              <a:ext uri="{FF2B5EF4-FFF2-40B4-BE49-F238E27FC236}">
                <a16:creationId xmlns:a16="http://schemas.microsoft.com/office/drawing/2014/main" id="{C2CDDE90-8589-4B7F-84DA-9B28E6CB7126}"/>
              </a:ext>
            </a:extLst>
          </p:cNvPr>
          <p:cNvSpPr>
            <a:spLocks noGrp="1"/>
          </p:cNvSpPr>
          <p:nvPr>
            <p:ph sz="quarter" idx="15"/>
          </p:nvPr>
        </p:nvSpPr>
        <p:spPr>
          <a:xfrm>
            <a:off x="578841" y="1852892"/>
            <a:ext cx="11216080" cy="4217708"/>
          </a:xfrm>
        </p:spPr>
        <p:txBody>
          <a:bodyPr>
            <a:normAutofit fontScale="70000" lnSpcReduction="20000"/>
          </a:bodyPr>
          <a:lstStyle/>
          <a:p>
            <a:pPr marL="0" indent="0">
              <a:lnSpc>
                <a:spcPct val="110000"/>
              </a:lnSpc>
              <a:buNone/>
              <a:defRPr/>
            </a:pPr>
            <a:r>
              <a:rPr lang="en-US" sz="2400" b="1" dirty="0">
                <a:latin typeface="Gotham Rounded Book"/>
              </a:rPr>
              <a:t>Physical inventory or audit that validates the approved chemical list.  </a:t>
            </a:r>
          </a:p>
          <a:p>
            <a:pPr marL="0" indent="0">
              <a:lnSpc>
                <a:spcPct val="110000"/>
              </a:lnSpc>
              <a:buNone/>
              <a:defRPr/>
            </a:pPr>
            <a:r>
              <a:rPr lang="en-US" sz="2400" dirty="0">
                <a:latin typeface="Gotham Rounded Book"/>
              </a:rPr>
              <a:t>It comprises of activity that </a:t>
            </a:r>
            <a:r>
              <a:rPr lang="en-US" sz="2400" b="1" dirty="0">
                <a:latin typeface="Gotham Rounded Book"/>
              </a:rPr>
              <a:t>removes</a:t>
            </a:r>
            <a:r>
              <a:rPr lang="en-US" sz="2400" dirty="0">
                <a:latin typeface="Gotham Rounded Book"/>
              </a:rPr>
              <a:t> old and unused chemicals from the work environment.  </a:t>
            </a:r>
          </a:p>
          <a:p>
            <a:pPr marL="0" indent="0">
              <a:lnSpc>
                <a:spcPct val="110000"/>
              </a:lnSpc>
              <a:buNone/>
              <a:defRPr/>
            </a:pPr>
            <a:r>
              <a:rPr lang="en-US" sz="2400" dirty="0">
                <a:latin typeface="Gotham Rounded Book"/>
              </a:rPr>
              <a:t>This is accomplished by a methodical search of the site for all chemicals:</a:t>
            </a:r>
          </a:p>
          <a:p>
            <a:pPr lvl="4">
              <a:lnSpc>
                <a:spcPct val="110000"/>
              </a:lnSpc>
              <a:spcBef>
                <a:spcPts val="800"/>
              </a:spcBef>
              <a:spcAft>
                <a:spcPts val="300"/>
              </a:spcAft>
              <a:defRPr/>
            </a:pPr>
            <a:r>
              <a:rPr lang="en-US" sz="2000" dirty="0">
                <a:latin typeface="Gotham Rounded Book"/>
              </a:rPr>
              <a:t>NOT on the site’s approved chemical list (ACL) </a:t>
            </a:r>
          </a:p>
          <a:p>
            <a:pPr lvl="4">
              <a:lnSpc>
                <a:spcPct val="110000"/>
              </a:lnSpc>
              <a:spcBef>
                <a:spcPts val="800"/>
              </a:spcBef>
              <a:spcAft>
                <a:spcPts val="300"/>
              </a:spcAft>
              <a:defRPr/>
            </a:pPr>
            <a:r>
              <a:rPr lang="en-US" sz="2000" dirty="0">
                <a:latin typeface="Gotham Rounded Book"/>
              </a:rPr>
              <a:t>WITHOUT an SDS available on site</a:t>
            </a:r>
          </a:p>
          <a:p>
            <a:pPr lvl="4">
              <a:lnSpc>
                <a:spcPct val="110000"/>
              </a:lnSpc>
              <a:spcBef>
                <a:spcPts val="800"/>
              </a:spcBef>
              <a:spcAft>
                <a:spcPts val="300"/>
              </a:spcAft>
              <a:defRPr/>
            </a:pPr>
            <a:r>
              <a:rPr lang="en-US" sz="2000" dirty="0">
                <a:latin typeface="Gotham Rounded Book"/>
              </a:rPr>
              <a:t>IN unlabeled containers (ie the contents are unknown) </a:t>
            </a:r>
          </a:p>
          <a:p>
            <a:pPr lvl="4">
              <a:lnSpc>
                <a:spcPct val="110000"/>
              </a:lnSpc>
              <a:spcBef>
                <a:spcPts val="800"/>
              </a:spcBef>
              <a:spcAft>
                <a:spcPts val="300"/>
              </a:spcAft>
              <a:defRPr/>
            </a:pPr>
            <a:r>
              <a:rPr lang="en-US" sz="2000" dirty="0">
                <a:latin typeface="Gotham Rounded Book"/>
              </a:rPr>
              <a:t>that are </a:t>
            </a:r>
            <a:r>
              <a:rPr lang="en-US" sz="2000" b="1" dirty="0">
                <a:latin typeface="Gotham Rounded Book"/>
              </a:rPr>
              <a:t>EXPIRED</a:t>
            </a:r>
          </a:p>
          <a:p>
            <a:pPr lvl="4">
              <a:lnSpc>
                <a:spcPct val="110000"/>
              </a:lnSpc>
              <a:spcBef>
                <a:spcPts val="800"/>
              </a:spcBef>
              <a:spcAft>
                <a:spcPts val="300"/>
              </a:spcAft>
              <a:defRPr/>
            </a:pPr>
            <a:r>
              <a:rPr lang="en-US" sz="2000" dirty="0">
                <a:latin typeface="Gotham Rounded Book"/>
              </a:rPr>
              <a:t>that are IMPROPERLY STORED</a:t>
            </a:r>
          </a:p>
          <a:p>
            <a:pPr lvl="4">
              <a:lnSpc>
                <a:spcPct val="110000"/>
              </a:lnSpc>
              <a:spcBef>
                <a:spcPts val="800"/>
              </a:spcBef>
              <a:spcAft>
                <a:spcPts val="300"/>
              </a:spcAft>
              <a:defRPr/>
            </a:pPr>
            <a:r>
              <a:rPr lang="en-US" sz="2000" dirty="0">
                <a:latin typeface="Gotham Rounded Book"/>
              </a:rPr>
              <a:t>that are </a:t>
            </a:r>
            <a:r>
              <a:rPr lang="en-US" sz="2000" b="1" dirty="0">
                <a:latin typeface="Gotham Rounded Book"/>
              </a:rPr>
              <a:t>OVERSTOCKED</a:t>
            </a:r>
          </a:p>
          <a:p>
            <a:pPr marL="0" indent="0">
              <a:lnSpc>
                <a:spcPct val="110000"/>
              </a:lnSpc>
              <a:buNone/>
              <a:defRPr/>
            </a:pPr>
            <a:r>
              <a:rPr lang="en-US" sz="2400" dirty="0">
                <a:solidFill>
                  <a:schemeClr val="accent1"/>
                </a:solidFill>
                <a:latin typeface="Gotham Rounded Book"/>
              </a:rPr>
              <a:t>When the Chemical Sweep is finished…….</a:t>
            </a:r>
          </a:p>
          <a:p>
            <a:pPr marL="0" indent="0">
              <a:lnSpc>
                <a:spcPct val="110000"/>
              </a:lnSpc>
              <a:buNone/>
              <a:defRPr/>
            </a:pPr>
            <a:r>
              <a:rPr lang="en-US" sz="2400" dirty="0">
                <a:latin typeface="Gotham Rounded Book"/>
              </a:rPr>
              <a:t>the site’s Chemical Management Program should be cleaner (and more compliant) then it was before the sweep.  A present a reduce EHS risk to all.</a:t>
            </a:r>
          </a:p>
        </p:txBody>
      </p:sp>
      <p:pic>
        <p:nvPicPr>
          <p:cNvPr id="6" name="Graphic 5" descr="Flask">
            <a:extLst>
              <a:ext uri="{FF2B5EF4-FFF2-40B4-BE49-F238E27FC236}">
                <a16:creationId xmlns:a16="http://schemas.microsoft.com/office/drawing/2014/main" id="{9FA0871A-47E6-4B86-B3DF-B99C2AB7E5C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89380" y="327101"/>
            <a:ext cx="1366063" cy="1366063"/>
          </a:xfrm>
          <a:prstGeom prst="rect">
            <a:avLst/>
          </a:prstGeom>
        </p:spPr>
      </p:pic>
    </p:spTree>
    <p:extLst>
      <p:ext uri="{BB962C8B-B14F-4D97-AF65-F5344CB8AC3E}">
        <p14:creationId xmlns:p14="http://schemas.microsoft.com/office/powerpoint/2010/main" val="360476578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F7FD1-6CAB-468A-A966-C1CD5FF4EDC7}"/>
              </a:ext>
            </a:extLst>
          </p:cNvPr>
          <p:cNvSpPr>
            <a:spLocks noGrp="1"/>
          </p:cNvSpPr>
          <p:nvPr>
            <p:ph type="title"/>
          </p:nvPr>
        </p:nvSpPr>
        <p:spPr/>
        <p:txBody>
          <a:bodyPr/>
          <a:lstStyle/>
          <a:p>
            <a:r>
              <a:rPr lang="en-US" dirty="0"/>
              <a:t>What is a Chemical?</a:t>
            </a:r>
          </a:p>
        </p:txBody>
      </p:sp>
      <p:sp>
        <p:nvSpPr>
          <p:cNvPr id="3" name="Text Placeholder 2">
            <a:extLst>
              <a:ext uri="{FF2B5EF4-FFF2-40B4-BE49-F238E27FC236}">
                <a16:creationId xmlns:a16="http://schemas.microsoft.com/office/drawing/2014/main" id="{44C49FD2-458F-4418-B25B-3AE2378A7B36}"/>
              </a:ext>
            </a:extLst>
          </p:cNvPr>
          <p:cNvSpPr>
            <a:spLocks noGrp="1"/>
          </p:cNvSpPr>
          <p:nvPr>
            <p:ph type="body" sz="quarter" idx="13"/>
          </p:nvPr>
        </p:nvSpPr>
        <p:spPr>
          <a:xfrm>
            <a:off x="1506728" y="1158385"/>
            <a:ext cx="9088120" cy="449289"/>
          </a:xfrm>
        </p:spPr>
        <p:txBody>
          <a:bodyPr>
            <a:normAutofit/>
          </a:bodyPr>
          <a:lstStyle/>
          <a:p>
            <a:r>
              <a:rPr lang="en-US" sz="1600" dirty="0"/>
              <a:t>A material that has chemical composition with characteristic properties</a:t>
            </a:r>
          </a:p>
        </p:txBody>
      </p:sp>
      <p:sp>
        <p:nvSpPr>
          <p:cNvPr id="4" name="Content Placeholder 3">
            <a:extLst>
              <a:ext uri="{FF2B5EF4-FFF2-40B4-BE49-F238E27FC236}">
                <a16:creationId xmlns:a16="http://schemas.microsoft.com/office/drawing/2014/main" id="{31F27D56-9ECC-43E5-8630-85650D8337F5}"/>
              </a:ext>
            </a:extLst>
          </p:cNvPr>
          <p:cNvSpPr>
            <a:spLocks noGrp="1"/>
          </p:cNvSpPr>
          <p:nvPr>
            <p:ph sz="quarter" idx="15"/>
          </p:nvPr>
        </p:nvSpPr>
        <p:spPr>
          <a:xfrm>
            <a:off x="411061" y="1852893"/>
            <a:ext cx="11484527" cy="3761232"/>
          </a:xfrm>
        </p:spPr>
        <p:txBody>
          <a:bodyPr/>
          <a:lstStyle/>
          <a:p>
            <a:r>
              <a:rPr lang="en-US" dirty="0"/>
              <a:t>Chemical substances exist as </a:t>
            </a:r>
          </a:p>
          <a:p>
            <a:r>
              <a:rPr lang="en-US" dirty="0"/>
              <a:t>Solids,(inc dust, powder, pellets etc) </a:t>
            </a:r>
          </a:p>
          <a:p>
            <a:r>
              <a:rPr lang="en-US" dirty="0"/>
              <a:t>Chemical reactions convert one chemical substance into another.</a:t>
            </a:r>
          </a:p>
          <a:p>
            <a:r>
              <a:rPr lang="en-US" dirty="0"/>
              <a:t>It can be a pure material or a mixture (a substance made from many chemical mixed together).</a:t>
            </a:r>
          </a:p>
          <a:p>
            <a:r>
              <a:rPr lang="en-US" dirty="0"/>
              <a:t>Materials (excluding devices) that exhibit biological activity (not applicable to FieldCore (yeast and enzymes)  or emit ionizing radiation are also considered chemical substances. (radioactive sources)</a:t>
            </a:r>
          </a:p>
          <a:p>
            <a:endParaRPr lang="en-US" dirty="0"/>
          </a:p>
          <a:p>
            <a:pPr>
              <a:buFont typeface="Wingdings" panose="05000000000000000000" pitchFamily="2" charset="2"/>
              <a:buChar char="v"/>
            </a:pPr>
            <a:r>
              <a:rPr lang="en-US" dirty="0"/>
              <a:t> Country-specific regulatory definitions may be slightly different</a:t>
            </a:r>
          </a:p>
        </p:txBody>
      </p:sp>
      <p:pic>
        <p:nvPicPr>
          <p:cNvPr id="5" name="Graphic 4" descr="Flask">
            <a:extLst>
              <a:ext uri="{FF2B5EF4-FFF2-40B4-BE49-F238E27FC236}">
                <a16:creationId xmlns:a16="http://schemas.microsoft.com/office/drawing/2014/main" id="{7DE1186A-C568-4217-A7B0-C81B0CE8F5A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89380" y="327101"/>
            <a:ext cx="1366063" cy="1366063"/>
          </a:xfrm>
          <a:prstGeom prst="rect">
            <a:avLst/>
          </a:prstGeom>
        </p:spPr>
      </p:pic>
    </p:spTree>
    <p:extLst>
      <p:ext uri="{BB962C8B-B14F-4D97-AF65-F5344CB8AC3E}">
        <p14:creationId xmlns:p14="http://schemas.microsoft.com/office/powerpoint/2010/main" val="311320215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636B1-7D35-4D55-B741-DB70026D72C8}"/>
              </a:ext>
            </a:extLst>
          </p:cNvPr>
          <p:cNvSpPr>
            <a:spLocks noGrp="1"/>
          </p:cNvSpPr>
          <p:nvPr>
            <p:ph type="title"/>
          </p:nvPr>
        </p:nvSpPr>
        <p:spPr/>
        <p:txBody>
          <a:bodyPr/>
          <a:lstStyle/>
          <a:p>
            <a:r>
              <a:rPr lang="en-US" dirty="0"/>
              <a:t>Common Chemicals</a:t>
            </a:r>
          </a:p>
        </p:txBody>
      </p:sp>
      <p:sp>
        <p:nvSpPr>
          <p:cNvPr id="3" name="Text Placeholder 2">
            <a:extLst>
              <a:ext uri="{FF2B5EF4-FFF2-40B4-BE49-F238E27FC236}">
                <a16:creationId xmlns:a16="http://schemas.microsoft.com/office/drawing/2014/main" id="{192F952F-7754-40DD-A8EE-6ACAEC15849B}"/>
              </a:ext>
            </a:extLst>
          </p:cNvPr>
          <p:cNvSpPr>
            <a:spLocks noGrp="1"/>
          </p:cNvSpPr>
          <p:nvPr>
            <p:ph type="body" sz="quarter" idx="13"/>
          </p:nvPr>
        </p:nvSpPr>
        <p:spPr>
          <a:xfrm>
            <a:off x="1550270" y="1243875"/>
            <a:ext cx="9204416" cy="449289"/>
          </a:xfrm>
        </p:spPr>
        <p:txBody>
          <a:bodyPr>
            <a:normAutofit fontScale="92500"/>
          </a:bodyPr>
          <a:lstStyle/>
          <a:p>
            <a:r>
              <a:rPr lang="en-US" sz="1600" dirty="0"/>
              <a:t>Materials commonly found in fieldcore sites that are considered chemicals and require an </a:t>
            </a:r>
            <a:r>
              <a:rPr lang="en-US" sz="1600" dirty="0" err="1"/>
              <a:t>sds</a:t>
            </a:r>
            <a:endParaRPr lang="en-US" sz="1600" dirty="0"/>
          </a:p>
        </p:txBody>
      </p:sp>
      <p:sp>
        <p:nvSpPr>
          <p:cNvPr id="4" name="Content Placeholder 3">
            <a:extLst>
              <a:ext uri="{FF2B5EF4-FFF2-40B4-BE49-F238E27FC236}">
                <a16:creationId xmlns:a16="http://schemas.microsoft.com/office/drawing/2014/main" id="{54D1D2E3-E40D-43BC-A60D-CFC39FA5CB48}"/>
              </a:ext>
            </a:extLst>
          </p:cNvPr>
          <p:cNvSpPr>
            <a:spLocks noGrp="1"/>
          </p:cNvSpPr>
          <p:nvPr>
            <p:ph sz="quarter" idx="15"/>
          </p:nvPr>
        </p:nvSpPr>
        <p:spPr>
          <a:xfrm>
            <a:off x="234891" y="1852893"/>
            <a:ext cx="11492918" cy="3761232"/>
          </a:xfrm>
        </p:spPr>
        <p:txBody>
          <a:bodyPr>
            <a:normAutofit/>
          </a:bodyPr>
          <a:lstStyle/>
          <a:p>
            <a:pPr>
              <a:lnSpc>
                <a:spcPct val="80000"/>
              </a:lnSpc>
              <a:defRPr/>
            </a:pPr>
            <a:r>
              <a:rPr lang="en-US" dirty="0">
                <a:latin typeface="Gotham Rounded Book"/>
              </a:rPr>
              <a:t>Substances used in machinery such as: </a:t>
            </a:r>
            <a:r>
              <a:rPr lang="en-US" b="1" dirty="0">
                <a:latin typeface="Gotham Rounded Book"/>
              </a:rPr>
              <a:t>Oils, coolants, greases,  lubricants, fuels, gasoline, diesel</a:t>
            </a:r>
            <a:r>
              <a:rPr lang="en-US" dirty="0">
                <a:latin typeface="Gotham Rounded Book"/>
              </a:rPr>
              <a:t> etc.</a:t>
            </a:r>
          </a:p>
          <a:p>
            <a:pPr>
              <a:lnSpc>
                <a:spcPct val="80000"/>
              </a:lnSpc>
              <a:defRPr/>
            </a:pPr>
            <a:r>
              <a:rPr lang="en-US" dirty="0">
                <a:latin typeface="Gotham Rounded Book"/>
              </a:rPr>
              <a:t>Substances used in the processes such as: </a:t>
            </a:r>
            <a:r>
              <a:rPr lang="en-US" b="1" dirty="0">
                <a:latin typeface="Gotham Rounded Book"/>
              </a:rPr>
              <a:t>composite materials, solvents, mold releases, paints, varnishes, acids, gases, WD40, acetone, Welding consumables, wire (weld, EDM, etc.), glues/epoxy, metal &amp; ceramic powders, solder, insulation fibers</a:t>
            </a:r>
            <a:r>
              <a:rPr lang="en-US" dirty="0">
                <a:latin typeface="Gotham Rounded Book"/>
              </a:rPr>
              <a:t>, etc.</a:t>
            </a:r>
          </a:p>
          <a:p>
            <a:pPr>
              <a:lnSpc>
                <a:spcPct val="80000"/>
              </a:lnSpc>
              <a:defRPr/>
            </a:pPr>
            <a:r>
              <a:rPr lang="en-US" dirty="0">
                <a:latin typeface="Gotham Rounded Book"/>
              </a:rPr>
              <a:t>Raw materials such as </a:t>
            </a:r>
            <a:r>
              <a:rPr lang="en-US" b="1" dirty="0">
                <a:latin typeface="Gotham Rounded Book"/>
              </a:rPr>
              <a:t>steel, raw stock, metals</a:t>
            </a:r>
            <a:r>
              <a:rPr lang="en-US" dirty="0">
                <a:latin typeface="Gotham Rounded Book"/>
              </a:rPr>
              <a:t>, etc. that are machined or  used in such a way that a waste product is generated, </a:t>
            </a:r>
            <a:r>
              <a:rPr lang="en-US" b="1" dirty="0">
                <a:latin typeface="Gotham Rounded Book"/>
              </a:rPr>
              <a:t>swarf, grinding dust</a:t>
            </a:r>
            <a:r>
              <a:rPr lang="en-US" dirty="0">
                <a:latin typeface="Gotham Rounded Book"/>
              </a:rPr>
              <a:t>, etc.</a:t>
            </a:r>
          </a:p>
          <a:p>
            <a:pPr>
              <a:lnSpc>
                <a:spcPct val="80000"/>
              </a:lnSpc>
              <a:defRPr/>
            </a:pPr>
            <a:r>
              <a:rPr lang="en-US" dirty="0">
                <a:latin typeface="Gotham Rounded Book"/>
              </a:rPr>
              <a:t>Substances used for plant clean-up, facilities maintenance, equipment maintenance and janitorial purposes such as </a:t>
            </a:r>
            <a:r>
              <a:rPr lang="en-US" b="1" dirty="0">
                <a:latin typeface="Gotham Rounded Book"/>
              </a:rPr>
              <a:t>paints, floor dry, parts cleaners, bleach</a:t>
            </a:r>
            <a:r>
              <a:rPr lang="en-US" dirty="0">
                <a:latin typeface="Gotham Rounded Book"/>
              </a:rPr>
              <a:t>, etc.</a:t>
            </a:r>
          </a:p>
          <a:p>
            <a:pPr>
              <a:lnSpc>
                <a:spcPct val="80000"/>
              </a:lnSpc>
              <a:defRPr/>
            </a:pPr>
            <a:r>
              <a:rPr lang="en-US" dirty="0">
                <a:latin typeface="Gotham Rounded Book"/>
              </a:rPr>
              <a:t>Surface preparation materials such as </a:t>
            </a:r>
            <a:r>
              <a:rPr lang="en-US" b="1" dirty="0">
                <a:latin typeface="Gotham Rounded Book"/>
              </a:rPr>
              <a:t>CO2, pellets, grit blast media, etc</a:t>
            </a:r>
            <a:r>
              <a:rPr lang="en-US" dirty="0">
                <a:latin typeface="Gotham Rounded Book"/>
              </a:rPr>
              <a:t>.</a:t>
            </a:r>
          </a:p>
          <a:p>
            <a:pPr>
              <a:lnSpc>
                <a:spcPct val="80000"/>
              </a:lnSpc>
              <a:defRPr/>
            </a:pPr>
            <a:r>
              <a:rPr lang="en-US" dirty="0">
                <a:latin typeface="Gotham Rounded Book"/>
              </a:rPr>
              <a:t>Office-use materials such as </a:t>
            </a:r>
            <a:r>
              <a:rPr lang="en-US" b="1" dirty="0">
                <a:latin typeface="Gotham Rounded Book"/>
              </a:rPr>
              <a:t>white-out, copier toner, liquid paper, surface cleaner </a:t>
            </a:r>
            <a:r>
              <a:rPr lang="en-US" dirty="0">
                <a:latin typeface="Gotham Rounded Book"/>
              </a:rPr>
              <a:t>etc.</a:t>
            </a:r>
          </a:p>
        </p:txBody>
      </p:sp>
      <p:pic>
        <p:nvPicPr>
          <p:cNvPr id="5" name="Graphic 4" descr="Flask">
            <a:extLst>
              <a:ext uri="{FF2B5EF4-FFF2-40B4-BE49-F238E27FC236}">
                <a16:creationId xmlns:a16="http://schemas.microsoft.com/office/drawing/2014/main" id="{09E0D5DD-EA4A-4765-BE91-8B8FF560D6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89380" y="327101"/>
            <a:ext cx="1366063" cy="1366063"/>
          </a:xfrm>
          <a:prstGeom prst="rect">
            <a:avLst/>
          </a:prstGeom>
        </p:spPr>
      </p:pic>
    </p:spTree>
    <p:extLst>
      <p:ext uri="{BB962C8B-B14F-4D97-AF65-F5344CB8AC3E}">
        <p14:creationId xmlns:p14="http://schemas.microsoft.com/office/powerpoint/2010/main" val="130045078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5C40-BC8A-4828-9870-18F866A99160}"/>
              </a:ext>
            </a:extLst>
          </p:cNvPr>
          <p:cNvSpPr>
            <a:spLocks noGrp="1"/>
          </p:cNvSpPr>
          <p:nvPr>
            <p:ph type="title"/>
          </p:nvPr>
        </p:nvSpPr>
        <p:spPr>
          <a:xfrm>
            <a:off x="481415" y="360572"/>
            <a:ext cx="9887377" cy="914400"/>
          </a:xfrm>
        </p:spPr>
        <p:txBody>
          <a:bodyPr/>
          <a:lstStyle/>
          <a:p>
            <a:r>
              <a:rPr lang="en-US" dirty="0"/>
              <a:t>Objective of the (Annual) Chemical Sweep</a:t>
            </a:r>
          </a:p>
        </p:txBody>
      </p:sp>
      <p:sp>
        <p:nvSpPr>
          <p:cNvPr id="3" name="Text Placeholder 2">
            <a:extLst>
              <a:ext uri="{FF2B5EF4-FFF2-40B4-BE49-F238E27FC236}">
                <a16:creationId xmlns:a16="http://schemas.microsoft.com/office/drawing/2014/main" id="{CAA73900-5759-4B8F-80DB-E77356BC3E97}"/>
              </a:ext>
            </a:extLst>
          </p:cNvPr>
          <p:cNvSpPr>
            <a:spLocks noGrp="1"/>
          </p:cNvSpPr>
          <p:nvPr>
            <p:ph type="body" sz="quarter" idx="13"/>
          </p:nvPr>
        </p:nvSpPr>
        <p:spPr/>
        <p:txBody>
          <a:bodyPr/>
          <a:lstStyle/>
          <a:p>
            <a:r>
              <a:rPr lang="en-US" dirty="0"/>
              <a:t>Good practice and part of our chemical management program</a:t>
            </a:r>
          </a:p>
        </p:txBody>
      </p:sp>
      <p:sp>
        <p:nvSpPr>
          <p:cNvPr id="4" name="Content Placeholder 3">
            <a:extLst>
              <a:ext uri="{FF2B5EF4-FFF2-40B4-BE49-F238E27FC236}">
                <a16:creationId xmlns:a16="http://schemas.microsoft.com/office/drawing/2014/main" id="{4E7D8A90-444F-4C5A-B197-F6FB8DD800EC}"/>
              </a:ext>
            </a:extLst>
          </p:cNvPr>
          <p:cNvSpPr>
            <a:spLocks noGrp="1"/>
          </p:cNvSpPr>
          <p:nvPr>
            <p:ph sz="quarter" idx="15"/>
          </p:nvPr>
        </p:nvSpPr>
        <p:spPr>
          <a:xfrm>
            <a:off x="545283" y="1852891"/>
            <a:ext cx="10947633" cy="4417279"/>
          </a:xfrm>
        </p:spPr>
        <p:txBody>
          <a:bodyPr>
            <a:normAutofit fontScale="77500" lnSpcReduction="20000"/>
          </a:bodyPr>
          <a:lstStyle/>
          <a:p>
            <a:pPr marL="0" indent="0">
              <a:lnSpc>
                <a:spcPct val="80000"/>
              </a:lnSpc>
              <a:buNone/>
              <a:defRPr/>
            </a:pPr>
            <a:r>
              <a:rPr lang="en-US" dirty="0">
                <a:latin typeface="Gotham Rounded Book"/>
              </a:rPr>
              <a:t>Key compliance objectives achieved by completing a Chemical Sweep include:</a:t>
            </a:r>
          </a:p>
          <a:p>
            <a:pPr marL="0" indent="0">
              <a:lnSpc>
                <a:spcPct val="80000"/>
              </a:lnSpc>
              <a:buNone/>
              <a:defRPr/>
            </a:pPr>
            <a:endParaRPr lang="en-US" dirty="0">
              <a:latin typeface="Gotham Rounded Book"/>
            </a:endParaRPr>
          </a:p>
          <a:p>
            <a:pPr marL="285750" indent="-285750">
              <a:lnSpc>
                <a:spcPct val="80000"/>
              </a:lnSpc>
              <a:defRPr/>
            </a:pPr>
            <a:r>
              <a:rPr lang="en-US" dirty="0">
                <a:latin typeface="Gotham Rounded Book"/>
              </a:rPr>
              <a:t>Identification of  chemicals/hazmats on site that </a:t>
            </a:r>
            <a:r>
              <a:rPr lang="en-US" b="1" dirty="0">
                <a:latin typeface="Gotham Rounded Book"/>
              </a:rPr>
              <a:t>do not have an SDS</a:t>
            </a:r>
          </a:p>
          <a:p>
            <a:pPr marL="285750" indent="-285750">
              <a:lnSpc>
                <a:spcPct val="80000"/>
              </a:lnSpc>
              <a:defRPr/>
            </a:pPr>
            <a:r>
              <a:rPr lang="en-US" dirty="0">
                <a:latin typeface="Gotham Rounded Book"/>
              </a:rPr>
              <a:t>Identification of </a:t>
            </a:r>
            <a:r>
              <a:rPr lang="en-US" b="1" dirty="0">
                <a:latin typeface="Gotham Rounded Book"/>
              </a:rPr>
              <a:t>duplicative, undesirable, overstocked, or expired chemicals/hazmats</a:t>
            </a:r>
          </a:p>
          <a:p>
            <a:pPr marL="285750" indent="-285750">
              <a:lnSpc>
                <a:spcPct val="80000"/>
              </a:lnSpc>
              <a:defRPr/>
            </a:pPr>
            <a:r>
              <a:rPr lang="en-US" dirty="0">
                <a:latin typeface="Gotham Rounded Book"/>
              </a:rPr>
              <a:t>Identification and elimination of unapproved FieldCore/GE chemicals</a:t>
            </a:r>
          </a:p>
          <a:p>
            <a:pPr marL="285750" indent="-285750">
              <a:lnSpc>
                <a:spcPct val="80000"/>
              </a:lnSpc>
              <a:defRPr/>
            </a:pPr>
            <a:r>
              <a:rPr lang="en-US" b="1" dirty="0">
                <a:latin typeface="Gotham Rounded Book"/>
              </a:rPr>
              <a:t>Verification/update </a:t>
            </a:r>
            <a:r>
              <a:rPr lang="en-US" dirty="0">
                <a:latin typeface="Gotham Rounded Book"/>
              </a:rPr>
              <a:t>of site approved chemical </a:t>
            </a:r>
            <a:r>
              <a:rPr lang="en-US" b="1" dirty="0">
                <a:latin typeface="Gotham Rounded Book"/>
              </a:rPr>
              <a:t>list/inventory</a:t>
            </a:r>
          </a:p>
          <a:p>
            <a:pPr marL="285750" indent="-285750">
              <a:lnSpc>
                <a:spcPct val="80000"/>
              </a:lnSpc>
              <a:defRPr/>
            </a:pPr>
            <a:r>
              <a:rPr lang="en-US" b="1" dirty="0">
                <a:latin typeface="Gotham Rounded Book"/>
              </a:rPr>
              <a:t>Identification and removal</a:t>
            </a:r>
            <a:r>
              <a:rPr lang="en-US" dirty="0">
                <a:latin typeface="Gotham Rounded Book"/>
              </a:rPr>
              <a:t> of unlabeled containers</a:t>
            </a:r>
          </a:p>
          <a:p>
            <a:pPr marL="285750" indent="-285750">
              <a:lnSpc>
                <a:spcPct val="80000"/>
              </a:lnSpc>
              <a:defRPr/>
            </a:pPr>
            <a:r>
              <a:rPr lang="en-US" dirty="0">
                <a:latin typeface="Gotham Rounded Book"/>
              </a:rPr>
              <a:t>Ensuring compliance with regulations (</a:t>
            </a:r>
            <a:r>
              <a:rPr lang="en-US" dirty="0" err="1">
                <a:latin typeface="Gotham Rounded Book"/>
              </a:rPr>
              <a:t>HazCom</a:t>
            </a:r>
            <a:r>
              <a:rPr lang="en-US" dirty="0">
                <a:latin typeface="Gotham Rounded Book"/>
              </a:rPr>
              <a:t> etc) </a:t>
            </a:r>
          </a:p>
          <a:p>
            <a:pPr marL="285750" indent="-285750">
              <a:lnSpc>
                <a:spcPct val="80000"/>
              </a:lnSpc>
              <a:defRPr/>
            </a:pPr>
            <a:r>
              <a:rPr lang="en-US" dirty="0">
                <a:latin typeface="Gotham Rounded Book"/>
              </a:rPr>
              <a:t>Evaluation of the effectiveness of  site “gate keeping methods” for hazardous material ordering.</a:t>
            </a:r>
          </a:p>
          <a:p>
            <a:pPr marL="0" indent="0">
              <a:lnSpc>
                <a:spcPct val="80000"/>
              </a:lnSpc>
              <a:buNone/>
              <a:defRPr/>
            </a:pPr>
            <a:r>
              <a:rPr lang="en-US" dirty="0">
                <a:latin typeface="Gotham Rounded Book"/>
              </a:rPr>
              <a:t> </a:t>
            </a:r>
          </a:p>
          <a:p>
            <a:pPr marL="0" lvl="2" indent="0">
              <a:lnSpc>
                <a:spcPct val="80000"/>
              </a:lnSpc>
              <a:spcBef>
                <a:spcPts val="800"/>
              </a:spcBef>
              <a:buNone/>
              <a:defRPr/>
            </a:pPr>
            <a:r>
              <a:rPr lang="en-US" sz="2100" dirty="0">
                <a:latin typeface="Gotham Rounded Book"/>
              </a:rPr>
              <a:t>If chemicals are found </a:t>
            </a:r>
          </a:p>
          <a:p>
            <a:pPr marL="285750" lvl="2" indent="-285750">
              <a:lnSpc>
                <a:spcPct val="120000"/>
              </a:lnSpc>
              <a:spcBef>
                <a:spcPts val="800"/>
              </a:spcBef>
              <a:defRPr/>
            </a:pPr>
            <a:r>
              <a:rPr lang="en-US" sz="2100" dirty="0">
                <a:latin typeface="Gotham Rounded Book"/>
              </a:rPr>
              <a:t>Not on current site inventory or chemicals are found without an SDS, this indicates that gaps exist in the site’s chemical management program and should be investigated to avoid unapproved chemical getting onsite.  </a:t>
            </a:r>
          </a:p>
          <a:p>
            <a:pPr marL="0" lvl="2" indent="0">
              <a:lnSpc>
                <a:spcPct val="80000"/>
              </a:lnSpc>
              <a:spcBef>
                <a:spcPts val="800"/>
              </a:spcBef>
              <a:buNone/>
              <a:defRPr/>
            </a:pPr>
            <a:r>
              <a:rPr lang="en-US" sz="2100" dirty="0">
                <a:latin typeface="Gotham Rounded Book"/>
              </a:rPr>
              <a:t>    </a:t>
            </a:r>
            <a:r>
              <a:rPr lang="en-US" sz="2100" b="1" dirty="0">
                <a:latin typeface="Gotham Rounded Book"/>
              </a:rPr>
              <a:t>As they may present an unacceptable Hazard  </a:t>
            </a:r>
          </a:p>
          <a:p>
            <a:pPr marL="0" indent="0">
              <a:buNone/>
            </a:pPr>
            <a:endParaRPr lang="en-US" dirty="0">
              <a:latin typeface="Gotham Rounded Book"/>
            </a:endParaRPr>
          </a:p>
        </p:txBody>
      </p:sp>
      <p:pic>
        <p:nvPicPr>
          <p:cNvPr id="5" name="Graphic 4" descr="Flask">
            <a:extLst>
              <a:ext uri="{FF2B5EF4-FFF2-40B4-BE49-F238E27FC236}">
                <a16:creationId xmlns:a16="http://schemas.microsoft.com/office/drawing/2014/main" id="{65797998-620F-4C07-B82E-896BC16F7E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89380" y="327101"/>
            <a:ext cx="1366063" cy="1366063"/>
          </a:xfrm>
          <a:prstGeom prst="rect">
            <a:avLst/>
          </a:prstGeom>
        </p:spPr>
      </p:pic>
    </p:spTree>
    <p:extLst>
      <p:ext uri="{BB962C8B-B14F-4D97-AF65-F5344CB8AC3E}">
        <p14:creationId xmlns:p14="http://schemas.microsoft.com/office/powerpoint/2010/main" val="117974832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F0162-6C0B-44CD-B6C1-FA00C26E8B3E}"/>
              </a:ext>
            </a:extLst>
          </p:cNvPr>
          <p:cNvSpPr>
            <a:spLocks noGrp="1"/>
          </p:cNvSpPr>
          <p:nvPr>
            <p:ph type="title"/>
          </p:nvPr>
        </p:nvSpPr>
        <p:spPr>
          <a:xfrm>
            <a:off x="979595" y="165101"/>
            <a:ext cx="10139046" cy="914400"/>
          </a:xfrm>
        </p:spPr>
        <p:txBody>
          <a:bodyPr/>
          <a:lstStyle/>
          <a:p>
            <a:r>
              <a:rPr lang="en-US" dirty="0"/>
              <a:t>Conducting a Successful Chemical Sweep</a:t>
            </a:r>
          </a:p>
        </p:txBody>
      </p:sp>
      <p:sp>
        <p:nvSpPr>
          <p:cNvPr id="3" name="Text Placeholder 2">
            <a:extLst>
              <a:ext uri="{FF2B5EF4-FFF2-40B4-BE49-F238E27FC236}">
                <a16:creationId xmlns:a16="http://schemas.microsoft.com/office/drawing/2014/main" id="{59FE716D-4FFE-4B4C-BAFC-AD0C9354359B}"/>
              </a:ext>
            </a:extLst>
          </p:cNvPr>
          <p:cNvSpPr>
            <a:spLocks noGrp="1"/>
          </p:cNvSpPr>
          <p:nvPr>
            <p:ph type="body" sz="quarter" idx="13"/>
          </p:nvPr>
        </p:nvSpPr>
        <p:spPr/>
        <p:txBody>
          <a:bodyPr/>
          <a:lstStyle/>
          <a:p>
            <a:r>
              <a:rPr lang="en-US" dirty="0"/>
              <a:t>Planning ahead will help ensure that a successful chemical sweep is completed at your site</a:t>
            </a:r>
          </a:p>
        </p:txBody>
      </p:sp>
      <p:sp>
        <p:nvSpPr>
          <p:cNvPr id="4" name="Content Placeholder 3">
            <a:extLst>
              <a:ext uri="{FF2B5EF4-FFF2-40B4-BE49-F238E27FC236}">
                <a16:creationId xmlns:a16="http://schemas.microsoft.com/office/drawing/2014/main" id="{33CB00D1-0198-4624-80D6-58704782627D}"/>
              </a:ext>
            </a:extLst>
          </p:cNvPr>
          <p:cNvSpPr>
            <a:spLocks noGrp="1"/>
          </p:cNvSpPr>
          <p:nvPr>
            <p:ph sz="quarter" idx="15"/>
          </p:nvPr>
        </p:nvSpPr>
        <p:spPr>
          <a:xfrm>
            <a:off x="411061" y="1802558"/>
            <a:ext cx="10461072" cy="4346572"/>
          </a:xfrm>
        </p:spPr>
        <p:txBody>
          <a:bodyPr>
            <a:normAutofit fontScale="85000" lnSpcReduction="20000"/>
          </a:bodyPr>
          <a:lstStyle/>
          <a:p>
            <a:pPr marL="0" indent="0">
              <a:lnSpc>
                <a:spcPct val="80000"/>
              </a:lnSpc>
              <a:buNone/>
              <a:defRPr/>
            </a:pPr>
            <a:r>
              <a:rPr lang="en-US" b="1" dirty="0">
                <a:latin typeface="Gotham Rounded Book"/>
              </a:rPr>
              <a:t>When planning your “sweep”, include these steps:</a:t>
            </a:r>
          </a:p>
          <a:p>
            <a:pPr marL="0" indent="0">
              <a:lnSpc>
                <a:spcPct val="80000"/>
              </a:lnSpc>
              <a:buNone/>
              <a:defRPr/>
            </a:pPr>
            <a:endParaRPr lang="en-US" b="1" dirty="0">
              <a:latin typeface="Gotham Rounded Book"/>
            </a:endParaRPr>
          </a:p>
          <a:p>
            <a:pPr marL="234950" indent="-234950">
              <a:lnSpc>
                <a:spcPct val="80000"/>
              </a:lnSpc>
              <a:buFontTx/>
              <a:buChar char="•"/>
              <a:defRPr/>
            </a:pPr>
            <a:r>
              <a:rPr lang="en-US" dirty="0">
                <a:latin typeface="Gotham Rounded Book"/>
              </a:rPr>
              <a:t>Appoint a dedicated team to participate in the sweep</a:t>
            </a:r>
          </a:p>
          <a:p>
            <a:pPr marL="234950" indent="-234950">
              <a:lnSpc>
                <a:spcPct val="80000"/>
              </a:lnSpc>
              <a:buFontTx/>
              <a:buChar char="•"/>
              <a:defRPr/>
            </a:pPr>
            <a:r>
              <a:rPr lang="en-US" dirty="0">
                <a:latin typeface="Gotham Rounded Book"/>
              </a:rPr>
              <a:t>Conduct a planning meeting, with agreed time line and deliverables </a:t>
            </a:r>
          </a:p>
          <a:p>
            <a:pPr marL="234950" indent="-234950">
              <a:lnSpc>
                <a:spcPct val="80000"/>
              </a:lnSpc>
              <a:buFontTx/>
              <a:buChar char="•"/>
              <a:defRPr/>
            </a:pPr>
            <a:r>
              <a:rPr lang="en-US" dirty="0">
                <a:latin typeface="Gotham Rounded Book"/>
              </a:rPr>
              <a:t>Designate a specific day or days to complete the sweep</a:t>
            </a:r>
          </a:p>
          <a:p>
            <a:pPr marL="234950" indent="-234950">
              <a:lnSpc>
                <a:spcPct val="80000"/>
              </a:lnSpc>
              <a:buFontTx/>
              <a:buChar char="•"/>
              <a:defRPr/>
            </a:pPr>
            <a:r>
              <a:rPr lang="en-US" dirty="0">
                <a:latin typeface="Gotham Rounded Book"/>
              </a:rPr>
              <a:t>Ensure all employees on the team understand the objective of the sweep</a:t>
            </a:r>
          </a:p>
          <a:p>
            <a:pPr marL="234950" indent="-234950">
              <a:lnSpc>
                <a:spcPct val="80000"/>
              </a:lnSpc>
              <a:buFontTx/>
              <a:buChar char="•"/>
              <a:defRPr/>
            </a:pPr>
            <a:r>
              <a:rPr lang="en-US" dirty="0">
                <a:latin typeface="Gotham Rounded Book"/>
              </a:rPr>
              <a:t>Assign employees on the team to a specific area on your site (ie different buildings, yards) </a:t>
            </a:r>
          </a:p>
          <a:p>
            <a:pPr marL="234950" indent="-234950">
              <a:lnSpc>
                <a:spcPct val="80000"/>
              </a:lnSpc>
              <a:buFontTx/>
              <a:buChar char="•"/>
              <a:defRPr/>
            </a:pPr>
            <a:r>
              <a:rPr lang="en-US" dirty="0">
                <a:latin typeface="Gotham Rounded Book"/>
              </a:rPr>
              <a:t>Hold a post sweep team meeting to review and collect the information gathered. </a:t>
            </a:r>
          </a:p>
          <a:p>
            <a:pPr marL="0" lvl="2" indent="0">
              <a:lnSpc>
                <a:spcPct val="80000"/>
              </a:lnSpc>
              <a:buNone/>
              <a:defRPr/>
            </a:pPr>
            <a:r>
              <a:rPr lang="en-US" dirty="0">
                <a:latin typeface="Gotham Rounded Book"/>
              </a:rPr>
              <a:t>Plan your follow-up actions </a:t>
            </a:r>
          </a:p>
          <a:p>
            <a:pPr lvl="2">
              <a:lnSpc>
                <a:spcPct val="80000"/>
              </a:lnSpc>
              <a:defRPr/>
            </a:pPr>
            <a:r>
              <a:rPr lang="en-US" dirty="0">
                <a:latin typeface="Gotham Rounded Book"/>
              </a:rPr>
              <a:t>Management of chemicals discovered without an SDS, Expired chemicals, </a:t>
            </a:r>
          </a:p>
          <a:p>
            <a:pPr lvl="2">
              <a:lnSpc>
                <a:spcPct val="80000"/>
              </a:lnSpc>
              <a:defRPr/>
            </a:pPr>
            <a:r>
              <a:rPr lang="en-US" dirty="0">
                <a:latin typeface="Gotham Rounded Book"/>
              </a:rPr>
              <a:t>Finding of unapproved Chemicals, investigate how they got on site, and close gaps (if found)</a:t>
            </a:r>
          </a:p>
          <a:p>
            <a:pPr lvl="2">
              <a:lnSpc>
                <a:spcPct val="80000"/>
              </a:lnSpc>
              <a:defRPr/>
            </a:pPr>
            <a:r>
              <a:rPr lang="en-US" dirty="0">
                <a:latin typeface="Gotham Rounded Book"/>
              </a:rPr>
              <a:t>Updating out of date SDS, (generally SDS should be less than 5 years old at most etc.)</a:t>
            </a:r>
          </a:p>
          <a:p>
            <a:pPr lvl="2">
              <a:lnSpc>
                <a:spcPct val="80000"/>
              </a:lnSpc>
              <a:defRPr/>
            </a:pPr>
            <a:r>
              <a:rPr lang="en-US" dirty="0">
                <a:latin typeface="Gotham Rounded Book"/>
              </a:rPr>
              <a:t>Have an action tracker and close out to completion </a:t>
            </a:r>
          </a:p>
          <a:p>
            <a:pPr lvl="2">
              <a:lnSpc>
                <a:spcPct val="80000"/>
              </a:lnSpc>
              <a:defRPr/>
            </a:pPr>
            <a:endParaRPr lang="en-US" dirty="0">
              <a:latin typeface="Gotham Rounded Book"/>
            </a:endParaRPr>
          </a:p>
          <a:p>
            <a:pPr lvl="2">
              <a:lnSpc>
                <a:spcPct val="80000"/>
              </a:lnSpc>
              <a:defRPr/>
            </a:pPr>
            <a:endParaRPr lang="en-US" dirty="0">
              <a:latin typeface="Gotham Rounded Book"/>
            </a:endParaRPr>
          </a:p>
          <a:p>
            <a:pPr lvl="2">
              <a:lnSpc>
                <a:spcPct val="80000"/>
              </a:lnSpc>
              <a:defRPr/>
            </a:pPr>
            <a:endParaRPr lang="en-US" dirty="0">
              <a:latin typeface="Gotham Rounded Book"/>
            </a:endParaRPr>
          </a:p>
        </p:txBody>
      </p:sp>
      <p:pic>
        <p:nvPicPr>
          <p:cNvPr id="5" name="Graphic 4" descr="Flask">
            <a:extLst>
              <a:ext uri="{FF2B5EF4-FFF2-40B4-BE49-F238E27FC236}">
                <a16:creationId xmlns:a16="http://schemas.microsoft.com/office/drawing/2014/main" id="{B9F620DB-A83D-449E-862C-B80A55C0ACF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26276" y="327101"/>
            <a:ext cx="1366063" cy="1366063"/>
          </a:xfrm>
          <a:prstGeom prst="rect">
            <a:avLst/>
          </a:prstGeom>
        </p:spPr>
      </p:pic>
    </p:spTree>
    <p:extLst>
      <p:ext uri="{BB962C8B-B14F-4D97-AF65-F5344CB8AC3E}">
        <p14:creationId xmlns:p14="http://schemas.microsoft.com/office/powerpoint/2010/main" val="3019985892"/>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02FDA-09FC-446E-8A4B-42B77AE259AB}"/>
              </a:ext>
            </a:extLst>
          </p:cNvPr>
          <p:cNvSpPr>
            <a:spLocks noGrp="1"/>
          </p:cNvSpPr>
          <p:nvPr>
            <p:ph type="title"/>
          </p:nvPr>
        </p:nvSpPr>
        <p:spPr/>
        <p:txBody>
          <a:bodyPr/>
          <a:lstStyle/>
          <a:p>
            <a:r>
              <a:rPr lang="en-US" dirty="0"/>
              <a:t>Resources</a:t>
            </a:r>
          </a:p>
        </p:txBody>
      </p:sp>
      <p:sp>
        <p:nvSpPr>
          <p:cNvPr id="3" name="Text Placeholder 2">
            <a:extLst>
              <a:ext uri="{FF2B5EF4-FFF2-40B4-BE49-F238E27FC236}">
                <a16:creationId xmlns:a16="http://schemas.microsoft.com/office/drawing/2014/main" id="{05F3F1C2-7E9C-417E-9549-8286DCD96D4A}"/>
              </a:ext>
            </a:extLst>
          </p:cNvPr>
          <p:cNvSpPr>
            <a:spLocks noGrp="1"/>
          </p:cNvSpPr>
          <p:nvPr>
            <p:ph type="body" sz="quarter" idx="13"/>
          </p:nvPr>
        </p:nvSpPr>
        <p:spPr/>
        <p:txBody>
          <a:bodyPr/>
          <a:lstStyle/>
          <a:p>
            <a:r>
              <a:rPr lang="en-US" dirty="0"/>
              <a:t>Items needed to complete a chemical sweep</a:t>
            </a:r>
          </a:p>
        </p:txBody>
      </p:sp>
      <p:sp>
        <p:nvSpPr>
          <p:cNvPr id="4" name="Content Placeholder 3">
            <a:extLst>
              <a:ext uri="{FF2B5EF4-FFF2-40B4-BE49-F238E27FC236}">
                <a16:creationId xmlns:a16="http://schemas.microsoft.com/office/drawing/2014/main" id="{5DDB7EA8-66D7-4058-BFBD-343995E28631}"/>
              </a:ext>
            </a:extLst>
          </p:cNvPr>
          <p:cNvSpPr>
            <a:spLocks noGrp="1"/>
          </p:cNvSpPr>
          <p:nvPr>
            <p:ph sz="quarter" idx="15"/>
          </p:nvPr>
        </p:nvSpPr>
        <p:spPr>
          <a:xfrm>
            <a:off x="1466380" y="2020672"/>
            <a:ext cx="8997696" cy="4039907"/>
          </a:xfrm>
        </p:spPr>
        <p:txBody>
          <a:bodyPr>
            <a:normAutofit/>
          </a:bodyPr>
          <a:lstStyle/>
          <a:p>
            <a:pPr marL="234950" indent="-234950">
              <a:lnSpc>
                <a:spcPct val="80000"/>
              </a:lnSpc>
              <a:buFontTx/>
              <a:buChar char="•"/>
              <a:defRPr/>
            </a:pPr>
            <a:r>
              <a:rPr lang="en-US" sz="2400" dirty="0">
                <a:latin typeface="Gotham Rounded Book"/>
              </a:rPr>
              <a:t>Dedicated team members!</a:t>
            </a:r>
          </a:p>
          <a:p>
            <a:pPr marL="234950" indent="-234950">
              <a:lnSpc>
                <a:spcPct val="80000"/>
              </a:lnSpc>
              <a:buFontTx/>
              <a:buChar char="•"/>
              <a:defRPr/>
            </a:pPr>
            <a:r>
              <a:rPr lang="en-US" sz="2400" dirty="0">
                <a:latin typeface="Gotham Rounded Book"/>
              </a:rPr>
              <a:t>Current version of the site’s approved chemical list (ACL)</a:t>
            </a:r>
          </a:p>
          <a:p>
            <a:pPr marL="234950" indent="-234950">
              <a:lnSpc>
                <a:spcPct val="80000"/>
              </a:lnSpc>
              <a:buFontTx/>
              <a:buChar char="•"/>
              <a:defRPr/>
            </a:pPr>
            <a:r>
              <a:rPr lang="en-US" sz="2400" dirty="0">
                <a:latin typeface="Gotham Rounded Book"/>
              </a:rPr>
              <a:t>Current version of the site’s chemical/hazmat inventory</a:t>
            </a:r>
          </a:p>
          <a:p>
            <a:pPr marL="234950" indent="-234950">
              <a:lnSpc>
                <a:spcPct val="80000"/>
              </a:lnSpc>
              <a:buFontTx/>
              <a:buChar char="•"/>
              <a:defRPr/>
            </a:pPr>
            <a:r>
              <a:rPr lang="en-US" sz="2400" dirty="0">
                <a:latin typeface="Gotham Rounded Book"/>
              </a:rPr>
              <a:t>Current version of site’s chemical location map/layout</a:t>
            </a:r>
          </a:p>
          <a:p>
            <a:pPr marL="234950" indent="-234950">
              <a:lnSpc>
                <a:spcPct val="80000"/>
              </a:lnSpc>
              <a:buFontTx/>
              <a:buChar char="•"/>
              <a:defRPr/>
            </a:pPr>
            <a:r>
              <a:rPr lang="en-US" sz="2400" dirty="0">
                <a:latin typeface="Gotham Rounded Book"/>
              </a:rPr>
              <a:t>Annual Compliance Calendar/or plan task to complete Chemical Sweep</a:t>
            </a:r>
          </a:p>
          <a:p>
            <a:pPr marL="0" indent="0">
              <a:lnSpc>
                <a:spcPct val="80000"/>
              </a:lnSpc>
              <a:buNone/>
              <a:defRPr/>
            </a:pPr>
            <a:endParaRPr lang="en-US" sz="1200" dirty="0">
              <a:latin typeface="Gotham Rounded Book"/>
            </a:endParaRPr>
          </a:p>
          <a:p>
            <a:endParaRPr lang="en-US" dirty="0">
              <a:latin typeface="Gotham Rounded Book"/>
            </a:endParaRPr>
          </a:p>
        </p:txBody>
      </p:sp>
      <p:pic>
        <p:nvPicPr>
          <p:cNvPr id="8" name="Graphic 7" descr="Head with gears">
            <a:extLst>
              <a:ext uri="{FF2B5EF4-FFF2-40B4-BE49-F238E27FC236}">
                <a16:creationId xmlns:a16="http://schemas.microsoft.com/office/drawing/2014/main" id="{ACD68CF3-979F-4476-8609-D496B97E0D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526207" y="387759"/>
            <a:ext cx="1227471" cy="1305405"/>
          </a:xfrm>
          <a:prstGeom prst="rect">
            <a:avLst/>
          </a:prstGeom>
        </p:spPr>
      </p:pic>
    </p:spTree>
    <p:extLst>
      <p:ext uri="{BB962C8B-B14F-4D97-AF65-F5344CB8AC3E}">
        <p14:creationId xmlns:p14="http://schemas.microsoft.com/office/powerpoint/2010/main" val="575839531"/>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FB995-B0FC-4255-8AD9-70B522AFBCC7}"/>
              </a:ext>
            </a:extLst>
          </p:cNvPr>
          <p:cNvSpPr>
            <a:spLocks noGrp="1"/>
          </p:cNvSpPr>
          <p:nvPr>
            <p:ph type="title"/>
          </p:nvPr>
        </p:nvSpPr>
        <p:spPr>
          <a:xfrm>
            <a:off x="1177702" y="280707"/>
            <a:ext cx="8997696" cy="914400"/>
          </a:xfrm>
        </p:spPr>
        <p:txBody>
          <a:bodyPr/>
          <a:lstStyle/>
          <a:p>
            <a:r>
              <a:rPr lang="en-US" dirty="0"/>
              <a:t>Chemical Sweep Steps</a:t>
            </a:r>
          </a:p>
        </p:txBody>
      </p:sp>
      <p:sp>
        <p:nvSpPr>
          <p:cNvPr id="3" name="Text Placeholder 2">
            <a:extLst>
              <a:ext uri="{FF2B5EF4-FFF2-40B4-BE49-F238E27FC236}">
                <a16:creationId xmlns:a16="http://schemas.microsoft.com/office/drawing/2014/main" id="{AD15DAC8-07C3-40A3-B06F-5B3B42C5D17A}"/>
              </a:ext>
            </a:extLst>
          </p:cNvPr>
          <p:cNvSpPr>
            <a:spLocks noGrp="1"/>
          </p:cNvSpPr>
          <p:nvPr>
            <p:ph type="body" sz="quarter" idx="13"/>
          </p:nvPr>
        </p:nvSpPr>
        <p:spPr/>
        <p:txBody>
          <a:bodyPr/>
          <a:lstStyle/>
          <a:p>
            <a:r>
              <a:rPr lang="en-US" dirty="0"/>
              <a:t>Things that should be typically completed</a:t>
            </a:r>
          </a:p>
        </p:txBody>
      </p:sp>
      <p:sp>
        <p:nvSpPr>
          <p:cNvPr id="4" name="Content Placeholder 3">
            <a:extLst>
              <a:ext uri="{FF2B5EF4-FFF2-40B4-BE49-F238E27FC236}">
                <a16:creationId xmlns:a16="http://schemas.microsoft.com/office/drawing/2014/main" id="{B4F46A33-F611-41F8-9A23-BD05BF26F0DB}"/>
              </a:ext>
            </a:extLst>
          </p:cNvPr>
          <p:cNvSpPr>
            <a:spLocks noGrp="1"/>
          </p:cNvSpPr>
          <p:nvPr>
            <p:ph sz="quarter" idx="15"/>
          </p:nvPr>
        </p:nvSpPr>
        <p:spPr>
          <a:xfrm>
            <a:off x="478172" y="1852893"/>
            <a:ext cx="11207692" cy="4286650"/>
          </a:xfrm>
        </p:spPr>
        <p:txBody>
          <a:bodyPr>
            <a:normAutofit fontScale="92500" lnSpcReduction="10000"/>
          </a:bodyPr>
          <a:lstStyle/>
          <a:p>
            <a:pPr marL="234950" indent="-234950">
              <a:buFontTx/>
              <a:buChar char="•"/>
              <a:defRPr/>
            </a:pPr>
            <a:r>
              <a:rPr lang="en-US" b="1" dirty="0">
                <a:latin typeface="Gotham Rounded Book"/>
              </a:rPr>
              <a:t>Apply labels to unlabeled chemical containers </a:t>
            </a:r>
            <a:r>
              <a:rPr lang="en-US" dirty="0">
                <a:latin typeface="Gotham Rounded Book"/>
              </a:rPr>
              <a:t>(if chemical within is 100% known, if not dispose of the container as waste!</a:t>
            </a:r>
          </a:p>
          <a:p>
            <a:pPr marL="234950" indent="-234950">
              <a:buFontTx/>
              <a:buChar char="•"/>
              <a:defRPr/>
            </a:pPr>
            <a:r>
              <a:rPr lang="en-US" b="1" dirty="0">
                <a:latin typeface="Gotham Rounded Book"/>
              </a:rPr>
              <a:t>Any chemicals identified not on ACL or without an SDS should be set aside or quarantined, </a:t>
            </a:r>
            <a:r>
              <a:rPr lang="en-US" dirty="0">
                <a:latin typeface="Gotham Rounded Book"/>
              </a:rPr>
              <a:t>for approval or disposal or actioned to obtain current manufacturer SDS</a:t>
            </a:r>
          </a:p>
          <a:p>
            <a:pPr marL="234950" indent="-234950">
              <a:buFontTx/>
              <a:buChar char="•"/>
              <a:defRPr/>
            </a:pPr>
            <a:r>
              <a:rPr lang="en-US" b="1" dirty="0">
                <a:latin typeface="Gotham Rounded Book"/>
              </a:rPr>
              <a:t>A site review of quarantined chemicals must be made </a:t>
            </a:r>
            <a:r>
              <a:rPr lang="en-US" dirty="0">
                <a:latin typeface="Gotham Rounded Book"/>
              </a:rPr>
              <a:t>to determine if site will continue to use chemicals (do they need approval)</a:t>
            </a:r>
          </a:p>
          <a:p>
            <a:pPr marL="234950" indent="-234950">
              <a:buFontTx/>
              <a:buChar char="•"/>
              <a:defRPr/>
            </a:pPr>
            <a:r>
              <a:rPr lang="en-US" b="1" dirty="0">
                <a:latin typeface="Gotham Rounded Book"/>
              </a:rPr>
              <a:t>If site is to retain the discovered chemicals, approval process for the chemical </a:t>
            </a:r>
            <a:r>
              <a:rPr lang="en-US" dirty="0">
                <a:latin typeface="Gotham Rounded Book"/>
              </a:rPr>
              <a:t>to evaluate chemical hazards and potential regulatory reporting requirements. SDS will be obtained as part of the site approval process.</a:t>
            </a:r>
          </a:p>
          <a:p>
            <a:pPr marL="234950" indent="-234950">
              <a:buFontTx/>
              <a:buChar char="•"/>
              <a:defRPr/>
            </a:pPr>
            <a:r>
              <a:rPr lang="en-US" b="1" dirty="0">
                <a:latin typeface="Gotham Rounded Book"/>
              </a:rPr>
              <a:t>If the site will not keep unapproved chemicals </a:t>
            </a:r>
            <a:r>
              <a:rPr lang="en-US" dirty="0">
                <a:latin typeface="Gotham Rounded Book"/>
              </a:rPr>
              <a:t>identified in the sweep, they must be profiled (eg acid, hydrocarbon etc) and disposed of according to country specific regulations</a:t>
            </a:r>
          </a:p>
          <a:p>
            <a:pPr marL="234950" indent="-234950">
              <a:buFontTx/>
              <a:buChar char="•"/>
              <a:defRPr/>
            </a:pPr>
            <a:r>
              <a:rPr lang="en-US" b="1" dirty="0">
                <a:latin typeface="Gotham Rounded Book"/>
              </a:rPr>
              <a:t>Expired chemicals must be profiled (eg acid, hydrocarbon etc) and disposed </a:t>
            </a:r>
            <a:r>
              <a:rPr lang="en-US" dirty="0">
                <a:latin typeface="Gotham Rounded Book"/>
              </a:rPr>
              <a:t>of according to country specific regulations</a:t>
            </a:r>
          </a:p>
          <a:p>
            <a:endParaRPr lang="en-US" dirty="0">
              <a:latin typeface="Gotham Rounded Book"/>
            </a:endParaRPr>
          </a:p>
        </p:txBody>
      </p:sp>
      <p:pic>
        <p:nvPicPr>
          <p:cNvPr id="5" name="Graphic 4" descr="Lightbulb">
            <a:extLst>
              <a:ext uri="{FF2B5EF4-FFF2-40B4-BE49-F238E27FC236}">
                <a16:creationId xmlns:a16="http://schemas.microsoft.com/office/drawing/2014/main" id="{7C7D2579-CF99-404F-98E2-4EBC48E70A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38390" y="201026"/>
            <a:ext cx="1153810" cy="1153810"/>
          </a:xfrm>
          <a:prstGeom prst="rect">
            <a:avLst/>
          </a:prstGeom>
        </p:spPr>
      </p:pic>
    </p:spTree>
    <p:extLst>
      <p:ext uri="{BB962C8B-B14F-4D97-AF65-F5344CB8AC3E}">
        <p14:creationId xmlns:p14="http://schemas.microsoft.com/office/powerpoint/2010/main" val="2457973080"/>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AD3D-32F4-46C6-B88A-87B3D16E906D}"/>
              </a:ext>
            </a:extLst>
          </p:cNvPr>
          <p:cNvSpPr>
            <a:spLocks noGrp="1"/>
          </p:cNvSpPr>
          <p:nvPr>
            <p:ph type="title"/>
          </p:nvPr>
        </p:nvSpPr>
        <p:spPr>
          <a:xfrm>
            <a:off x="1044381" y="280707"/>
            <a:ext cx="10099898" cy="914400"/>
          </a:xfrm>
        </p:spPr>
        <p:txBody>
          <a:bodyPr/>
          <a:lstStyle/>
          <a:p>
            <a:r>
              <a:rPr lang="en-US" dirty="0"/>
              <a:t>Final Steps to Complete Chemical Sweep</a:t>
            </a:r>
          </a:p>
        </p:txBody>
      </p:sp>
      <p:sp>
        <p:nvSpPr>
          <p:cNvPr id="3" name="Text Placeholder 2">
            <a:extLst>
              <a:ext uri="{FF2B5EF4-FFF2-40B4-BE49-F238E27FC236}">
                <a16:creationId xmlns:a16="http://schemas.microsoft.com/office/drawing/2014/main" id="{B38FCE76-5BFD-496E-819F-35CD563418F1}"/>
              </a:ext>
            </a:extLst>
          </p:cNvPr>
          <p:cNvSpPr>
            <a:spLocks noGrp="1"/>
          </p:cNvSpPr>
          <p:nvPr>
            <p:ph type="body" sz="quarter" idx="13"/>
          </p:nvPr>
        </p:nvSpPr>
        <p:spPr/>
        <p:txBody>
          <a:bodyPr/>
          <a:lstStyle/>
          <a:p>
            <a:r>
              <a:rPr lang="en-US" dirty="0">
                <a:solidFill>
                  <a:schemeClr val="accent2"/>
                </a:solidFill>
              </a:rPr>
              <a:t>Remember</a:t>
            </a:r>
            <a:r>
              <a:rPr lang="en-US" dirty="0"/>
              <a:t> that chemical management </a:t>
            </a:r>
            <a:r>
              <a:rPr lang="en-US" dirty="0">
                <a:solidFill>
                  <a:schemeClr val="accent2"/>
                </a:solidFill>
              </a:rPr>
              <a:t>is a year-round process!  </a:t>
            </a:r>
          </a:p>
        </p:txBody>
      </p:sp>
      <p:sp>
        <p:nvSpPr>
          <p:cNvPr id="4" name="Content Placeholder 3">
            <a:extLst>
              <a:ext uri="{FF2B5EF4-FFF2-40B4-BE49-F238E27FC236}">
                <a16:creationId xmlns:a16="http://schemas.microsoft.com/office/drawing/2014/main" id="{DB43BF37-1945-42A2-A0DD-EC0460C036D2}"/>
              </a:ext>
            </a:extLst>
          </p:cNvPr>
          <p:cNvSpPr>
            <a:spLocks noGrp="1"/>
          </p:cNvSpPr>
          <p:nvPr>
            <p:ph sz="quarter" idx="15"/>
          </p:nvPr>
        </p:nvSpPr>
        <p:spPr>
          <a:xfrm>
            <a:off x="243281" y="1852893"/>
            <a:ext cx="11476139" cy="3761232"/>
          </a:xfrm>
        </p:spPr>
        <p:txBody>
          <a:bodyPr>
            <a:normAutofit/>
          </a:bodyPr>
          <a:lstStyle/>
          <a:p>
            <a:pPr>
              <a:lnSpc>
                <a:spcPct val="80000"/>
              </a:lnSpc>
              <a:defRPr/>
            </a:pPr>
            <a:r>
              <a:rPr lang="en-US" dirty="0">
                <a:latin typeface="GE Inspira Pitch" pitchFamily="34" charset="0"/>
              </a:rPr>
              <a:t>Track findings in ATS should be entered to track closure of missing SDS findings, labeling of containers and final disposal of waste chemicals.</a:t>
            </a:r>
          </a:p>
          <a:p>
            <a:pPr>
              <a:lnSpc>
                <a:spcPct val="80000"/>
              </a:lnSpc>
              <a:defRPr/>
            </a:pPr>
            <a:r>
              <a:rPr lang="en-US" dirty="0">
                <a:latin typeface="GE Inspira Pitch" pitchFamily="34" charset="0"/>
              </a:rPr>
              <a:t>Determine if additional training is necessary to ensure employees fully understand the FieldCore Chemical Management and Chemical Procurement procedures.</a:t>
            </a:r>
          </a:p>
          <a:p>
            <a:pPr>
              <a:lnSpc>
                <a:spcPct val="80000"/>
              </a:lnSpc>
              <a:defRPr/>
            </a:pPr>
            <a:r>
              <a:rPr lang="en-US" dirty="0">
                <a:latin typeface="GE Inspira Pitch" pitchFamily="34" charset="0"/>
              </a:rPr>
              <a:t>Schedule a close-out meeting with Chemical Sweep team members. Discuss improvements that could be made to the site’s Chemical Management Program.</a:t>
            </a:r>
          </a:p>
          <a:p>
            <a:pPr marL="0" indent="0">
              <a:lnSpc>
                <a:spcPct val="80000"/>
              </a:lnSpc>
              <a:buNone/>
              <a:defRPr/>
            </a:pPr>
            <a:r>
              <a:rPr lang="en-US" dirty="0">
                <a:latin typeface="GE Inspira Pitch" pitchFamily="34" charset="0"/>
              </a:rPr>
              <a:t>   Determine if Best Practices have been identified that can be used throughout your site or at other sites. </a:t>
            </a:r>
          </a:p>
          <a:p>
            <a:pPr>
              <a:lnSpc>
                <a:spcPct val="80000"/>
              </a:lnSpc>
              <a:defRPr/>
            </a:pPr>
            <a:r>
              <a:rPr lang="en-US" dirty="0">
                <a:latin typeface="GE Inspira Pitch" pitchFamily="34" charset="0"/>
              </a:rPr>
              <a:t>Close the Chemical Sweep Compliance Calendar task indicating the total number of findings and best practices to be shared.</a:t>
            </a:r>
          </a:p>
          <a:p>
            <a:pPr marL="87313" indent="0" algn="just">
              <a:lnSpc>
                <a:spcPct val="80000"/>
              </a:lnSpc>
              <a:buNone/>
              <a:defRPr/>
            </a:pPr>
            <a:r>
              <a:rPr lang="en-US" sz="2350" b="1" dirty="0">
                <a:solidFill>
                  <a:schemeClr val="accent1"/>
                </a:solidFill>
                <a:latin typeface="GE Inspira Pitch" pitchFamily="34" charset="0"/>
              </a:rPr>
              <a:t>Pro-active review of chemical management and chemical procurement throughout the year helps ensures minimal misses discovered during the annual chemical sweep process  </a:t>
            </a:r>
          </a:p>
          <a:p>
            <a:endParaRPr lang="en-US" dirty="0"/>
          </a:p>
        </p:txBody>
      </p:sp>
      <p:pic>
        <p:nvPicPr>
          <p:cNvPr id="6" name="Graphic 5" descr="Playbook">
            <a:extLst>
              <a:ext uri="{FF2B5EF4-FFF2-40B4-BE49-F238E27FC236}">
                <a16:creationId xmlns:a16="http://schemas.microsoft.com/office/drawing/2014/main" id="{8BAEA30A-6B83-4F65-A52C-D89C593D13E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824594" y="54204"/>
            <a:ext cx="1367406" cy="1367406"/>
          </a:xfrm>
          <a:prstGeom prst="rect">
            <a:avLst/>
          </a:prstGeom>
        </p:spPr>
      </p:pic>
    </p:spTree>
    <p:extLst>
      <p:ext uri="{BB962C8B-B14F-4D97-AF65-F5344CB8AC3E}">
        <p14:creationId xmlns:p14="http://schemas.microsoft.com/office/powerpoint/2010/main" val="64063044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21567903"/>
      </p:ext>
    </p:extLst>
  </p:cSld>
  <p:clrMapOvr>
    <a:masterClrMapping/>
  </p:clrMapOvr>
  <p:transition spd="slow">
    <p:push dir="u"/>
  </p:transition>
</p:sld>
</file>

<file path=ppt/theme/theme1.xml><?xml version="1.0" encoding="utf-8"?>
<a:theme xmlns:a="http://schemas.openxmlformats.org/drawingml/2006/main" name="FieldCore_2017">
  <a:themeElements>
    <a:clrScheme name="GE_FieldCore_2017">
      <a:dk1>
        <a:srgbClr val="63666A"/>
      </a:dk1>
      <a:lt1>
        <a:srgbClr val="FFFFFF"/>
      </a:lt1>
      <a:dk2>
        <a:srgbClr val="B1B3B3"/>
      </a:dk2>
      <a:lt2>
        <a:srgbClr val="F0F0F0"/>
      </a:lt2>
      <a:accent1>
        <a:srgbClr val="FE5000"/>
      </a:accent1>
      <a:accent2>
        <a:srgbClr val="090936"/>
      </a:accent2>
      <a:accent3>
        <a:srgbClr val="3EAE2A"/>
      </a:accent3>
      <a:accent4>
        <a:srgbClr val="636669"/>
      </a:accent4>
      <a:accent5>
        <a:srgbClr val="00B5E2"/>
      </a:accent5>
      <a:accent6>
        <a:srgbClr val="005EB8"/>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66ED2"/>
        </a:solidFill>
      </a:spPr>
      <a:bodyPr wrap="square" rtlCol="0" anchor="ctr">
        <a:noAutofit/>
      </a:bodyPr>
      <a:lstStyle>
        <a:defPPr algn="ctr">
          <a:defRPr dirty="0" smtClean="0">
            <a:solidFill>
              <a:schemeClr val="bg1"/>
            </a:solidFill>
            <a:ea typeface="Arial" charset="0"/>
          </a:defRPr>
        </a:defPPr>
      </a:lstStyle>
    </a:spDef>
    <a:txDef>
      <a:spPr>
        <a:noFill/>
      </a:spPr>
      <a:bodyPr wrap="square" lIns="0" tIns="0" rIns="0" bIns="0" rtlCol="0">
        <a:spAutoFit/>
      </a:bodyPr>
      <a:lstStyle>
        <a:defPPr>
          <a:defRPr dirty="0" smtClean="0">
            <a:solidFill>
              <a:schemeClr val="accent2"/>
            </a:solidFill>
          </a:defRPr>
        </a:defPPr>
      </a:lstStyle>
    </a:txDef>
  </a:objectDefaults>
  <a:extraClrSchemeLst/>
  <a:extLst>
    <a:ext uri="{05A4C25C-085E-4340-85A3-A5531E510DB2}">
      <thm15:themeFamily xmlns:thm15="http://schemas.microsoft.com/office/thememl/2012/main" name="FieldCore_HD_TemplateMaster [Read-Only]" id="{7ACBE0FB-FC4B-47D0-96E1-4D0F287E5287}" vid="{EC12AD97-CDF4-4ACD-85D7-7DE3D77C62A3}"/>
    </a:ext>
  </a:extLst>
</a:theme>
</file>

<file path=ppt/theme/theme2.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E Colors">
      <a:dk1>
        <a:sysClr val="windowText" lastClr="000000"/>
      </a:dk1>
      <a:lt1>
        <a:sysClr val="window" lastClr="FFFFFF"/>
      </a:lt1>
      <a:dk2>
        <a:srgbClr val="B1B3B3"/>
      </a:dk2>
      <a:lt2>
        <a:srgbClr val="F0F0F0"/>
      </a:lt2>
      <a:accent1>
        <a:srgbClr val="005CB9"/>
      </a:accent1>
      <a:accent2>
        <a:srgbClr val="63666A"/>
      </a:accent2>
      <a:accent3>
        <a:srgbClr val="00B5E2"/>
      </a:accent3>
      <a:accent4>
        <a:srgbClr val="0A0A37"/>
      </a:accent4>
      <a:accent5>
        <a:srgbClr val="FE5000"/>
      </a:accent5>
      <a:accent6>
        <a:srgbClr val="00BF6F"/>
      </a:accent6>
      <a:hlink>
        <a:srgbClr val="005CB9"/>
      </a:hlink>
      <a:folHlink>
        <a:srgbClr val="00B5E2"/>
      </a:folHlink>
    </a:clrScheme>
    <a:fontScheme name="GE">
      <a:majorFont>
        <a:latin typeface="GE Inspira Sans"/>
        <a:ea typeface=""/>
        <a:cs typeface=""/>
      </a:majorFont>
      <a:minorFont>
        <a:latin typeface="GE Inspira Sans"/>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f0c7a816-7a7e-42fb-b4dd-eafc20cb049d">
      <UserInfo>
        <DisplayName>Carvajal, Jorge (FieldCore)</DisplayName>
        <AccountId>1905</AccountId>
        <AccountType/>
      </UserInfo>
    </SharedWithUsers>
    <Process_x0020_Owmer xmlns="25586fb6-ed09-4f2d-8ea7-eda1a9fd2320">
      <UserInfo>
        <DisplayName>Bluhm, Joyce (FieldCore)</DisplayName>
        <AccountId>72</AccountId>
        <AccountType/>
      </UserInfo>
    </Process_x0020_Owmer>
    <Functional_x0020_Owner xmlns="25586fb6-ed09-4f2d-8ea7-eda1a9fd2320">Management Processes - Leadership and Commitment</Functional_x0020_Owner>
    <Nomenclature xmlns="25586fb6-ed09-4f2d-8ea7-eda1a9fd2320">UserGuide</Nomenclature>
    <LastReviewDate xmlns="cc7fbaa3-8214-4644-99f1-d2e5a6ae9914" xsi:nil="true"/>
    <RevisionNumber xmlns="cc7fbaa3-8214-4644-99f1-d2e5a6ae991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ABA2F64D6E2C740A2EFD32F6136F44B" ma:contentTypeVersion="31" ma:contentTypeDescription="Create a new document." ma:contentTypeScope="" ma:versionID="f6d5169442be2795745eeba6edf0f975">
  <xsd:schema xmlns:xsd="http://www.w3.org/2001/XMLSchema" xmlns:xs="http://www.w3.org/2001/XMLSchema" xmlns:p="http://schemas.microsoft.com/office/2006/metadata/properties" xmlns:ns2="25586fb6-ed09-4f2d-8ea7-eda1a9fd2320" xmlns:ns3="cc7fbaa3-8214-4644-99f1-d2e5a6ae9914" xmlns:ns4="f0c7a816-7a7e-42fb-b4dd-eafc20cb049d" targetNamespace="http://schemas.microsoft.com/office/2006/metadata/properties" ma:root="true" ma:fieldsID="1d6046f623722b44c576f527ef753e5d" ns2:_="" ns3:_="" ns4:_="">
    <xsd:import namespace="25586fb6-ed09-4f2d-8ea7-eda1a9fd2320"/>
    <xsd:import namespace="cc7fbaa3-8214-4644-99f1-d2e5a6ae9914"/>
    <xsd:import namespace="f0c7a816-7a7e-42fb-b4dd-eafc20cb049d"/>
    <xsd:element name="properties">
      <xsd:complexType>
        <xsd:sequence>
          <xsd:element name="documentManagement">
            <xsd:complexType>
              <xsd:all>
                <xsd:element ref="ns2:Process_x0020_Owmer"/>
                <xsd:element ref="ns2:Functional_x0020_Owner"/>
                <xsd:element ref="ns3:LastReviewDate" minOccurs="0"/>
                <xsd:element ref="ns2:Nomenclature" minOccurs="0"/>
                <xsd:element ref="ns3:RevisionNumber" minOccurs="0"/>
                <xsd:element ref="ns2:MediaServiceMetadata" minOccurs="0"/>
                <xsd:element ref="ns2:MediaServiceFastMetadata" minOccurs="0"/>
                <xsd:element ref="ns3:MediaServiceAutoKeyPoints" minOccurs="0"/>
                <xsd:element ref="ns3:MediaServiceKeyPoints" minOccurs="0"/>
                <xsd:element ref="ns4:SharedWithUsers" minOccurs="0"/>
                <xsd:element ref="ns4:SharedWithDetails"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586fb6-ed09-4f2d-8ea7-eda1a9fd2320" elementFormDefault="qualified">
    <xsd:import namespace="http://schemas.microsoft.com/office/2006/documentManagement/types"/>
    <xsd:import namespace="http://schemas.microsoft.com/office/infopath/2007/PartnerControls"/>
    <xsd:element name="Process_x0020_Owmer" ma:index="1" ma:displayName="Have a question? Email the Process Owner" ma:description="Discuss Audit Findings and QWI Updates with the Responsible Person" ma:list="UserInfo" ma:SharePointGroup="0" ma:internalName="Process_x0020_Owmer" ma:readOnly="false" ma:showField="NameWithPictureAndDetails">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Functional_x0020_Owner" ma:index="2" ma:displayName="Function" ma:default="Management Processes - Leadership and Commitment" ma:description="Management Processes - Leadership and Commitment" ma:format="Dropdown" ma:internalName="Functional_x0020_Owner" ma:readOnly="false">
      <xsd:simpleType>
        <xsd:restriction base="dms:Text">
          <xsd:maxLength value="255"/>
        </xsd:restriction>
      </xsd:simpleType>
    </xsd:element>
    <xsd:element name="Nomenclature" ma:index="4" nillable="true" ma:displayName="Document Number" ma:format="Dropdown" ma:internalName="Nomenclature" ma:readOnly="false">
      <xsd:simpleType>
        <xsd:restriction base="dms:Text">
          <xsd:maxLength value="255"/>
        </xsd:restrictio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7fbaa3-8214-4644-99f1-d2e5a6ae9914" elementFormDefault="qualified">
    <xsd:import namespace="http://schemas.microsoft.com/office/2006/documentManagement/types"/>
    <xsd:import namespace="http://schemas.microsoft.com/office/infopath/2007/PartnerControls"/>
    <xsd:element name="LastReviewDate" ma:index="3" nillable="true" ma:displayName="Last Review Date" ma:description="The date the procedure was last reviewed or revised" ma:format="DateOnly" ma:internalName="LastReviewDate" ma:readOnly="false">
      <xsd:simpleType>
        <xsd:restriction base="dms:DateTime"/>
      </xsd:simpleType>
    </xsd:element>
    <xsd:element name="RevisionNumber" ma:index="5" nillable="true" ma:displayName="Revision Number" ma:decimals="1" ma:description="The current revision published" ma:format="Dropdown" ma:internalName="RevisionNumber" ma:readOnly="false" ma:percentage="FALSE">
      <xsd:simpleType>
        <xsd:restriction base="dms:Number"/>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hidden="true" ma:internalName="MediaServiceKeyPoints" ma:readOnly="true">
      <xsd:simpleType>
        <xsd:restriction base="dms:Note"/>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0c7a816-7a7e-42fb-b4dd-eafc20cb049d" elementFormDefault="qualified">
    <xsd:import namespace="http://schemas.microsoft.com/office/2006/documentManagement/types"/>
    <xsd:import namespace="http://schemas.microsoft.com/office/infopath/2007/PartnerControls"/>
    <xsd:element name="SharedWithUsers" ma:index="15"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QMS Lev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C63CA2A-5355-44A3-B798-49399A6B0D61}">
  <ds:schemaRefs>
    <ds:schemaRef ds:uri="http://schemas.microsoft.com/sharepoint/v3/contenttype/forms"/>
  </ds:schemaRefs>
</ds:datastoreItem>
</file>

<file path=customXml/itemProps2.xml><?xml version="1.0" encoding="utf-8"?>
<ds:datastoreItem xmlns:ds="http://schemas.openxmlformats.org/officeDocument/2006/customXml" ds:itemID="{2A1B3FB6-6D3C-4F08-873F-4D3A1672EE9A}">
  <ds:schemaRefs>
    <ds:schemaRef ds:uri="http://schemas.openxmlformats.org/package/2006/metadata/core-properties"/>
    <ds:schemaRef ds:uri="42054fea-1c7a-4775-a5bc-42c69eb541e4"/>
    <ds:schemaRef ds:uri="http://purl.org/dc/dcmitype/"/>
    <ds:schemaRef ds:uri="http://schemas.microsoft.com/office/infopath/2007/PartnerControls"/>
    <ds:schemaRef ds:uri="d6057043-4bab-4082-934f-7693f7fd0ead"/>
    <ds:schemaRef ds:uri="http://purl.org/dc/elements/1.1/"/>
    <ds:schemaRef ds:uri="http://schemas.microsoft.com/office/2006/metadata/properties"/>
    <ds:schemaRef ds:uri="http://schemas.microsoft.com/office/2006/documentManagement/types"/>
    <ds:schemaRef ds:uri="http://purl.org/dc/terms/"/>
    <ds:schemaRef ds:uri="http://www.w3.org/XML/1998/namespace"/>
  </ds:schemaRefs>
</ds:datastoreItem>
</file>

<file path=customXml/itemProps3.xml><?xml version="1.0" encoding="utf-8"?>
<ds:datastoreItem xmlns:ds="http://schemas.openxmlformats.org/officeDocument/2006/customXml" ds:itemID="{BD714458-E1F7-47DA-A994-DFA61308906B}"/>
</file>

<file path=docProps/app.xml><?xml version="1.0" encoding="utf-8"?>
<Properties xmlns="http://schemas.openxmlformats.org/officeDocument/2006/extended-properties" xmlns:vt="http://schemas.openxmlformats.org/officeDocument/2006/docPropsVTypes">
  <Template>FieldCore_HD_TemplateMaster</Template>
  <TotalTime>561</TotalTime>
  <Words>1122</Words>
  <Application>Microsoft Office PowerPoint</Application>
  <PresentationFormat>Widescreen</PresentationFormat>
  <Paragraphs>87</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GE Inspira Pitch</vt:lpstr>
      <vt:lpstr>GE Inspira Sans</vt:lpstr>
      <vt:lpstr>Gotham Rounded</vt:lpstr>
      <vt:lpstr>Gotham Rounded Book</vt:lpstr>
      <vt:lpstr>Wingdings</vt:lpstr>
      <vt:lpstr>FieldCore_2017</vt:lpstr>
      <vt:lpstr>Chemical Management User Guides:</vt:lpstr>
      <vt:lpstr>What is a Chemical Sweep</vt:lpstr>
      <vt:lpstr>What is a Chemical?</vt:lpstr>
      <vt:lpstr>Common Chemicals</vt:lpstr>
      <vt:lpstr>Objective of the (Annual) Chemical Sweep</vt:lpstr>
      <vt:lpstr>Conducting a Successful Chemical Sweep</vt:lpstr>
      <vt:lpstr>Resources</vt:lpstr>
      <vt:lpstr>Chemical Sweep Steps</vt:lpstr>
      <vt:lpstr>Final Steps to Complete Chemical Sweep</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Chemical Management Compliance</dc:title>
  <dc:creator>Schirra, Jennifer (Granite)</dc:creator>
  <dc:description>Version 1.08
Job 1437
August 25, 2016</dc:description>
  <cp:lastModifiedBy>Wright, Keith (FieldCore)</cp:lastModifiedBy>
  <cp:revision>28</cp:revision>
  <dcterms:created xsi:type="dcterms:W3CDTF">2019-07-11T14:05:51Z</dcterms:created>
  <dcterms:modified xsi:type="dcterms:W3CDTF">2020-06-25T11:18:23Z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0x010100AABA2F64D6E2C740A2EFD32F6136F44B</vt:lpwstr>
  </property>
</Properties>
</file>