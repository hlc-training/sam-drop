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20" r:id="rId4"/>
  </p:sldMasterIdLst>
  <p:notesMasterIdLst>
    <p:notesMasterId r:id="rId6"/>
  </p:notesMasterIdLst>
  <p:handoutMasterIdLst>
    <p:handoutMasterId r:id="rId7"/>
  </p:handoutMasterIdLst>
  <p:sldIdLst>
    <p:sldId id="288" r:id="rId5"/>
  </p:sldIdLst>
  <p:sldSz cx="12192000" cy="6858000"/>
  <p:notesSz cx="6858000" cy="9144000"/>
  <p:embeddedFontLst>
    <p:embeddedFont>
      <p:font typeface="Montserrat" panose="00000500000000000000" pitchFamily="2" charset="0"/>
      <p:regular r:id="rId8"/>
      <p:bold r:id="rId9"/>
      <p:italic r:id="rId10"/>
      <p:boldItalic r:id="rId11"/>
    </p:embeddedFont>
    <p:embeddedFont>
      <p:font typeface="Montserrat Light" panose="00000400000000000000" pitchFamily="2" charset="0"/>
      <p:regular r:id="rId12"/>
      <p:italic r:id="rId13"/>
    </p:embeddedFont>
    <p:embeddedFont>
      <p:font typeface="Montserrat SemiBold" panose="00000700000000000000" pitchFamily="2" charset="0"/>
      <p:bold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19B0068E-58D5-4B0F-BF59-D31288384082}">
          <p14:sldIdLst/>
        </p14:section>
        <p14:section name="Section Dividers" id="{FF4F9912-A49F-478F-A41C-068A93868F5B}">
          <p14:sldIdLst/>
        </p14:section>
        <p14:section name="Text and Content Slides" id="{C5CDFF87-AAB8-4760-89C3-E754182CDAAD}">
          <p14:sldIdLst>
            <p14:sldId id="288"/>
          </p14:sldIdLst>
        </p14:section>
        <p14:section name="Table Slides" id="{FD512581-63E3-4B33-BF60-C90C8ACADD91}">
          <p14:sldIdLst/>
        </p14:section>
        <p14:section name="Graphs" id="{B9D38125-E668-DC47-B7D2-EBE30D81008A}">
          <p14:sldIdLst/>
        </p14:section>
        <p14:section name="Image Slides" id="{C74422F3-E6CC-4188-83B6-5326EAA02976}">
          <p14:sldIdLst/>
        </p14:section>
        <p14:section name="Closing Slide" id="{D5690712-7C69-9945-AA3B-A9D78AC69BD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00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990099"/>
    <a:srgbClr val="FF7C80"/>
    <a:srgbClr val="FF3300"/>
    <a:srgbClr val="FFFF99"/>
    <a:srgbClr val="909AAA"/>
    <a:srgbClr val="3FAE2A"/>
    <a:srgbClr val="B7E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7752061-5463-48E6-A297-43E0E91C0267}">
  <a:tblStyle styleId="{0817EA92-75D0-4044-A80A-286907CE0DDB}" styleName="GE Ruled Table">
    <a:wholeTbl>
      <a:tcTxStyle>
        <a:fontRef idx="minor">
          <a:prstClr val="black"/>
        </a:fontRef>
        <a:schemeClr val="accent2"/>
      </a:tcTxStyle>
      <a:tcStyle>
        <a:tcBdr>
          <a:left>
            <a:ln w="0" cmpd="sng">
              <a:solidFill>
                <a:schemeClr val="bg1"/>
              </a:solidFill>
            </a:ln>
          </a:left>
          <a:right>
            <a:ln w="0" cmpd="sng">
              <a:solidFill>
                <a:schemeClr val="bg1"/>
              </a:solidFill>
            </a:ln>
          </a:right>
          <a:top>
            <a:ln w="19050" cmpd="sng">
              <a:gradFill>
                <a:gsLst>
                  <a:gs pos="0">
                    <a:schemeClr val="bg1"/>
                  </a:gs>
                  <a:gs pos="25000">
                    <a:srgbClr val="B7E6FF"/>
                  </a:gs>
                  <a:gs pos="100000">
                    <a:schemeClr val="accent3"/>
                  </a:gs>
                </a:gsLst>
                <a:lin ang="0" scaled="0"/>
              </a:gradFill>
            </a:ln>
          </a:top>
          <a:bottom>
            <a:ln w="0" cmpd="sng">
              <a:solidFill>
                <a:schemeClr val="bg1"/>
              </a:solidFill>
            </a:ln>
          </a:bottom>
          <a:insideH>
            <a:ln w="19050" cmpd="sng">
              <a:gradFill>
                <a:gsLst>
                  <a:gs pos="0">
                    <a:schemeClr val="bg1"/>
                  </a:gs>
                  <a:gs pos="25000">
                    <a:srgbClr val="B7E6FF"/>
                  </a:gs>
                  <a:gs pos="100000">
                    <a:schemeClr val="accent3"/>
                  </a:gs>
                </a:gsLst>
                <a:lin ang="0" scaled="0"/>
              </a:gradFill>
            </a:ln>
          </a:insideH>
          <a:insideV>
            <a:ln w="0" cmpd="sng">
              <a:solidFill>
                <a:schemeClr val="bg1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TxStyle b="on">
        <a:fontRef idx="minor">
          <a:prstClr val="black"/>
        </a:fontRef>
        <a:schemeClr val="accent2"/>
      </a:tcTxStyle>
      <a:tcStyle>
        <a:tcBdr>
          <a:top>
            <a:ln w="0" cmpd="sng">
              <a:solidFill>
                <a:schemeClr val="lt1"/>
              </a:solidFill>
            </a:ln>
          </a:top>
          <a:insideH>
            <a:ln w="0" cmpd="sng">
              <a:solidFill>
                <a:schemeClr val="lt1"/>
              </a:solidFill>
            </a:ln>
          </a:insideH>
        </a:tcBdr>
      </a:tcStyle>
    </a:firstCol>
    <a:lastRow>
      <a:tcStyle>
        <a:tcBdr/>
      </a:tcStyle>
    </a:lastRow>
    <a:firstRow>
      <a:tcStyle>
        <a:tcBdr/>
      </a:tcStyle>
    </a:firstRow>
  </a:tblStyle>
  <a:tblStyle styleId="{B7752061-5463-48E6-A297-43E0E91C0267}" styleName="GE Solid Table">
    <a:wholeTbl>
      <a:tcTxStyle>
        <a:fontRef idx="minor">
          <a:prstClr val="black"/>
        </a:fontRef>
        <a:schemeClr val="accent2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12" autoAdjust="0"/>
  </p:normalViewPr>
  <p:slideViewPr>
    <p:cSldViewPr snapToGrid="0" showGuides="1">
      <p:cViewPr varScale="1">
        <p:scale>
          <a:sx n="106" d="100"/>
          <a:sy n="106" d="100"/>
        </p:scale>
        <p:origin x="708" y="96"/>
      </p:cViewPr>
      <p:guideLst>
        <p:guide orient="horz" pos="100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8056"/>
    </p:cViewPr>
  </p:sorterViewPr>
  <p:notesViewPr>
    <p:cSldViewPr snapToGrid="0" showGuides="1">
      <p:cViewPr varScale="1">
        <p:scale>
          <a:sx n="84" d="100"/>
          <a:sy n="84" d="100"/>
        </p:scale>
        <p:origin x="382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1741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>
              <a:latin typeface="Montserrat Light" panose="00000400000000000000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366259" y="0"/>
            <a:ext cx="2490153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F77B6-06AB-43A3-89A4-8CD1677993D0}" type="datetimeFigureOut">
              <a:rPr lang="en-CA" smtClean="0">
                <a:latin typeface="Montserrat Light" panose="00000400000000000000" pitchFamily="2" charset="0"/>
              </a:rPr>
              <a:t>2021-03-04</a:t>
            </a:fld>
            <a:endParaRPr lang="en-CA" dirty="0">
              <a:latin typeface="Montserrat Light" panose="00000400000000000000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>
              <a:latin typeface="Montserrat Light" panose="00000400000000000000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762B2D-468D-4837-8CAA-70AF425658B8}" type="slidenum">
              <a:rPr lang="en-CA" smtClean="0">
                <a:latin typeface="Montserrat Light" panose="00000400000000000000" pitchFamily="2" charset="0"/>
              </a:rPr>
              <a:t>‹#›</a:t>
            </a:fld>
            <a:endParaRPr lang="en-CA" dirty="0">
              <a:latin typeface="Montserrat Light" panose="000004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0852D4-37A9-4D73-BE44-8725E8DF82A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1530" y="0"/>
            <a:ext cx="147494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0291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5146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 Light" panose="00000400000000000000" pitchFamily="2" charset="0"/>
              </a:defRPr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341811" y="0"/>
            <a:ext cx="2514601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 Light" panose="00000400000000000000" pitchFamily="2" charset="0"/>
              </a:defRPr>
            </a:lvl1pPr>
          </a:lstStyle>
          <a:p>
            <a:fld id="{9B6804B0-AD37-4623-8498-3C9AE39E25E5}" type="datetimeFigureOut">
              <a:rPr lang="en-CA" smtClean="0"/>
              <a:pPr/>
              <a:t>2021-03-04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77687" y="4343400"/>
            <a:ext cx="6102626" cy="41148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 Light" panose="00000400000000000000" pitchFamily="2" charset="0"/>
              </a:defRPr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 Light" panose="00000400000000000000" pitchFamily="2" charset="0"/>
              </a:defRPr>
            </a:lvl1pPr>
          </a:lstStyle>
          <a:p>
            <a:fld id="{80CDABC8-FD09-47BC-822A-A981D494E0D7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2B339A-0230-4555-B3E7-851136367E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530" y="0"/>
            <a:ext cx="147494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57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 Light" panose="00000400000000000000" pitchFamily="2" charset="0"/>
        <a:ea typeface="+mn-ea"/>
        <a:cs typeface="+mn-cs"/>
      </a:defRPr>
    </a:lvl1pPr>
    <a:lvl2pPr marL="228600" indent="0" algn="l" defTabSz="914400" rtl="0" eaLnBrk="1" latinLnBrk="0" hangingPunct="1">
      <a:defRPr sz="1200" kern="1200">
        <a:solidFill>
          <a:schemeClr val="tx1"/>
        </a:solidFill>
        <a:latin typeface="Montserrat Light" panose="00000400000000000000" pitchFamily="2" charset="0"/>
        <a:ea typeface="+mn-ea"/>
        <a:cs typeface="+mn-cs"/>
      </a:defRPr>
    </a:lvl2pPr>
    <a:lvl3pPr marL="457200" indent="0" algn="l" defTabSz="914400" rtl="0" eaLnBrk="1" latinLnBrk="0" hangingPunct="1">
      <a:defRPr sz="1200" kern="1200">
        <a:solidFill>
          <a:schemeClr val="tx1"/>
        </a:solidFill>
        <a:latin typeface="Montserrat Light" panose="00000400000000000000" pitchFamily="2" charset="0"/>
        <a:ea typeface="+mn-ea"/>
        <a:cs typeface="+mn-cs"/>
      </a:defRPr>
    </a:lvl3pPr>
    <a:lvl4pPr marL="685800" indent="0" algn="l" defTabSz="914400" rtl="0" eaLnBrk="1" latinLnBrk="0" hangingPunct="1">
      <a:defRPr sz="1200" kern="1200">
        <a:solidFill>
          <a:schemeClr val="tx1"/>
        </a:solidFill>
        <a:latin typeface="Montserrat Light" panose="00000400000000000000" pitchFamily="2" charset="0"/>
        <a:ea typeface="+mn-ea"/>
        <a:cs typeface="+mn-cs"/>
      </a:defRPr>
    </a:lvl4pPr>
    <a:lvl5pPr marL="914400" indent="0" algn="l" defTabSz="914400" rtl="0" eaLnBrk="1" latinLnBrk="0" hangingPunct="1">
      <a:defRPr sz="1200" kern="1200">
        <a:solidFill>
          <a:schemeClr val="tx1"/>
        </a:solidFill>
        <a:latin typeface="Montserrat Light" panose="000004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DABC8-FD09-47BC-822A-A981D494E0D7}" type="slidenum">
              <a:rPr lang="en-CA" smtClean="0"/>
              <a:pPr/>
              <a:t>1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53614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B1A55E8-7CD4-41D3-8CAA-B68CF83BFF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276" y="190318"/>
            <a:ext cx="4818573" cy="2323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1400"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FIELDCORE EHS MANAGEMENT SYSTEM</a:t>
            </a:r>
            <a:endParaRPr lang="en-CA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5158343C-E1EC-4F60-8894-D778F694222F}"/>
              </a:ext>
            </a:extLst>
          </p:cNvPr>
          <p:cNvSpPr txBox="1">
            <a:spLocks/>
          </p:cNvSpPr>
          <p:nvPr userDrawn="1"/>
        </p:nvSpPr>
        <p:spPr>
          <a:xfrm>
            <a:off x="331398" y="375248"/>
            <a:ext cx="4844452" cy="4226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600" kern="1200" spc="0">
                <a:solidFill>
                  <a:schemeClr val="tx2"/>
                </a:solidFill>
                <a:latin typeface="Montserrat SemiBold" panose="00000700000000000000" pitchFamily="2" charset="0"/>
                <a:ea typeface="Montserrat Light" panose="00000400000000000000" pitchFamily="2" charset="0"/>
                <a:cs typeface="Montserrat Light" panose="00000400000000000000" pitchFamily="2" charset="0"/>
              </a:defRPr>
            </a:lvl1pPr>
          </a:lstStyle>
          <a:p>
            <a:r>
              <a:rPr lang="en-US" sz="2600" dirty="0"/>
              <a:t>EHS Procedure QuickCard</a:t>
            </a:r>
            <a:endParaRPr lang="en-CA" sz="2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922DC8-F763-44D9-8412-32C88E32F0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555" y="97719"/>
            <a:ext cx="2349386" cy="91157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 txBox="1">
            <a:spLocks/>
          </p:cNvSpPr>
          <p:nvPr userDrawn="1"/>
        </p:nvSpPr>
        <p:spPr>
          <a:xfrm>
            <a:off x="495300" y="6378815"/>
            <a:ext cx="329636" cy="182880"/>
          </a:xfrm>
          <a:prstGeom prst="rect">
            <a:avLst/>
          </a:prstGeom>
          <a:noFill/>
        </p:spPr>
        <p:txBody>
          <a:bodyPr lIns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00E6A5BD-C011-4A45-AA3A-201790FB7F2B}" type="slidenum">
              <a:rPr lang="en-CA" sz="800" b="0" i="0" smtClean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pPr algn="l"/>
              <a:t>‹#›</a:t>
            </a:fld>
            <a:endParaRPr lang="en-CA" sz="800" b="0" i="0" dirty="0">
              <a:solidFill>
                <a:schemeClr val="bg1">
                  <a:lumMod val="50000"/>
                </a:schemeClr>
              </a:solidFill>
              <a:latin typeface="Montserrat Light" panose="00000400000000000000" pitchFamily="2" charset="0"/>
              <a:ea typeface="Gotham Rounded Book" charset="0"/>
              <a:cs typeface="Gotham Rounded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76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</p:sldLayoutIdLst>
  <p:transition spd="slow">
    <p:push dir="u"/>
  </p:transition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spc="0">
          <a:solidFill>
            <a:schemeClr val="tx2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1pPr>
    </p:titleStyle>
    <p:bodyStyle>
      <a:lvl1pPr marL="155448" indent="-155448" algn="l" defTabSz="914400" rtl="0" eaLnBrk="1" latinLnBrk="0" hangingPunct="1">
        <a:lnSpc>
          <a:spcPct val="90000"/>
        </a:lnSpc>
        <a:spcBef>
          <a:spcPts val="800"/>
        </a:spcBef>
        <a:spcAft>
          <a:spcPts val="300"/>
        </a:spcAft>
        <a:buClrTx/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1pPr>
      <a:lvl2pPr marL="155448" indent="0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1800" b="0" i="0" kern="1200">
          <a:solidFill>
            <a:schemeClr val="tx1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2pPr>
      <a:lvl3pPr marL="155448" indent="-155448" algn="l" defTabSz="914400" rtl="0" eaLnBrk="1" latinLnBrk="0" hangingPunct="1">
        <a:lnSpc>
          <a:spcPct val="90000"/>
        </a:lnSpc>
        <a:spcBef>
          <a:spcPts val="1100"/>
        </a:spcBef>
        <a:spcAft>
          <a:spcPts val="300"/>
        </a:spcAft>
        <a:buClrTx/>
        <a:buSzPct val="91000"/>
        <a:buFont typeface="Arial" charset="0"/>
        <a:buChar char="•"/>
        <a:defRPr lang="en-US" sz="1600" b="0" i="0" kern="1200" dirty="0">
          <a:solidFill>
            <a:schemeClr val="tx1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3pPr>
      <a:lvl4pPr marL="155448" indent="0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1400" b="0" i="0" kern="1200">
          <a:solidFill>
            <a:schemeClr val="tx1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4pPr>
      <a:lvl5pPr marL="155448" indent="-155448" algn="l" defTabSz="914400" rtl="0" eaLnBrk="1" latinLnBrk="0" hangingPunct="1">
        <a:lnSpc>
          <a:spcPct val="99000"/>
        </a:lnSpc>
        <a:spcBef>
          <a:spcPts val="900"/>
        </a:spcBef>
        <a:buClr>
          <a:schemeClr val="accent5"/>
        </a:buClr>
        <a:buSzPct val="91000"/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92024" indent="0" algn="l" defTabSz="91440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8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9000"/>
        </a:lnSpc>
        <a:spcBef>
          <a:spcPts val="900"/>
        </a:spcBef>
        <a:buSzPct val="91000"/>
        <a:buFontTx/>
        <a:buNone/>
        <a:defRPr sz="1800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8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9000"/>
        </a:lnSpc>
        <a:spcBef>
          <a:spcPts val="900"/>
        </a:spcBef>
        <a:buSzPct val="91000"/>
        <a:buFontTx/>
        <a:buNone/>
        <a:defRPr sz="1800" i="1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914400" rtl="0" eaLnBrk="1" latinLnBrk="0" hangingPunct="1">
        <a:lnSpc>
          <a:spcPct val="99000"/>
        </a:lnSpc>
        <a:spcBef>
          <a:spcPts val="900"/>
        </a:spcBef>
        <a:defRPr sz="1400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55448" indent="-155448" algn="l" defTabSz="914400" rtl="0" eaLnBrk="1" latinLnBrk="0" hangingPunct="1">
        <a:lnSpc>
          <a:spcPct val="99000"/>
        </a:lnSpc>
        <a:buSzPct val="91000"/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55448" indent="-155448" algn="l" defTabSz="914400" rtl="0" eaLnBrk="1" latinLnBrk="0" hangingPunct="1">
        <a:lnSpc>
          <a:spcPct val="99000"/>
        </a:lnSpc>
        <a:spcBef>
          <a:spcPts val="900"/>
        </a:spcBef>
        <a:buSzPct val="91000"/>
        <a:buFont typeface="Arial" panose="020B0604020202020204" pitchFamily="34" charset="0"/>
        <a:buChar char="•"/>
        <a:defRPr sz="1400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155448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40" userDrawn="1">
          <p15:clr>
            <a:srgbClr val="F26B43"/>
          </p15:clr>
        </p15:guide>
        <p15:guide id="3" pos="312" userDrawn="1">
          <p15:clr>
            <a:srgbClr val="F26B43"/>
          </p15:clr>
        </p15:guide>
        <p15:guide id="4" pos="7368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480" userDrawn="1">
          <p15:clr>
            <a:srgbClr val="F26B43"/>
          </p15:clr>
        </p15:guide>
        <p15:guide id="10" orient="horz" pos="41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758">
            <a:extLst>
              <a:ext uri="{FF2B5EF4-FFF2-40B4-BE49-F238E27FC236}">
                <a16:creationId xmlns:a16="http://schemas.microsoft.com/office/drawing/2014/main" id="{27BC24FF-2A77-4196-97CC-5B0CCF73B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256046"/>
              </p:ext>
            </p:extLst>
          </p:nvPr>
        </p:nvGraphicFramePr>
        <p:xfrm>
          <a:off x="7187197" y="1849893"/>
          <a:ext cx="4765944" cy="2115968"/>
        </p:xfrm>
        <a:graphic>
          <a:graphicData uri="http://schemas.openxmlformats.org/drawingml/2006/table">
            <a:tbl>
              <a:tblPr/>
              <a:tblGrid>
                <a:gridCol w="4765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96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9pPr>
                    </a:lstStyle>
                    <a:p>
                      <a:pPr marL="0" marR="0" lvl="0" indent="0" algn="l" defTabSz="6953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52425" algn="l"/>
                          <a:tab pos="722313" algn="l"/>
                          <a:tab pos="1074738" algn="l"/>
                          <a:tab pos="1427163" algn="l"/>
                          <a:tab pos="1700213" algn="l"/>
                        </a:tabLst>
                      </a:pPr>
                      <a:r>
                        <a:rPr lang="en-AU" sz="1600" b="0" kern="1200" dirty="0">
                          <a:solidFill>
                            <a:schemeClr val="bg1"/>
                          </a:solidFill>
                          <a:latin typeface="Montserrat SemiBold" panose="00000700000000000000" pitchFamily="2" charset="0"/>
                          <a:ea typeface="+mj-ea"/>
                          <a:cs typeface="Arial" pitchFamily="34" charset="0"/>
                        </a:rPr>
                        <a:t>Scope / Key Changes</a:t>
                      </a: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66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85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9pPr>
                    </a:lstStyle>
                    <a:p>
                      <a:pPr marL="190500" marR="0" lvl="0" indent="-190500" algn="l" defTabSz="6953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A1B5F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 Light" panose="00000400000000000000" pitchFamily="2" charset="0"/>
                          <a:ea typeface="+mn-ea"/>
                          <a:cs typeface="Calibri" pitchFamily="34" charset="0"/>
                        </a:rPr>
                        <a:t>First Issue</a:t>
                      </a:r>
                    </a:p>
                    <a:p>
                      <a:pPr marL="190500" marR="0" lvl="0" indent="-190500" algn="l" defTabSz="6953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A1B5F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 Light" panose="00000400000000000000" pitchFamily="2" charset="0"/>
                          <a:ea typeface="+mn-ea"/>
                          <a:cs typeface="Calibri" pitchFamily="34" charset="0"/>
                        </a:rPr>
                        <a:t>Replaces and supersedes: FC-GL-EHS-SAF-003A: Compressed Gas</a:t>
                      </a:r>
                    </a:p>
                    <a:p>
                      <a:pPr marL="190500" marR="0" lvl="0" indent="-190500" algn="l" defTabSz="6953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A1B5F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 Light" panose="00000400000000000000" pitchFamily="2" charset="0"/>
                          <a:ea typeface="+mn-ea"/>
                          <a:cs typeface="Calibri" pitchFamily="34" charset="0"/>
                        </a:rPr>
                        <a:t>Simpler more streamlined approach:</a:t>
                      </a:r>
                    </a:p>
                    <a:p>
                      <a:pPr marL="442913" marR="0" lvl="1" indent="-179388" algn="l" defTabSz="6953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A1B5F"/>
                        </a:buClr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kumimoji="0" lang="en-GB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 Light" panose="00000400000000000000" pitchFamily="2" charset="0"/>
                          <a:ea typeface="+mn-ea"/>
                          <a:cs typeface="Calibri" pitchFamily="34" charset="0"/>
                        </a:rPr>
                        <a:t>Guidance type content moved to Appendices</a:t>
                      </a:r>
                    </a:p>
                    <a:p>
                      <a:pPr marL="442913" marR="0" lvl="1" indent="-179388" algn="l" defTabSz="6953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A1B5F"/>
                        </a:buClr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kumimoji="0" lang="en-GB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 Light" panose="00000400000000000000" pitchFamily="2" charset="0"/>
                          <a:ea typeface="+mn-ea"/>
                          <a:cs typeface="Calibri" pitchFamily="34" charset="0"/>
                        </a:rPr>
                        <a:t>Improved Manual Handling guidance</a:t>
                      </a:r>
                    </a:p>
                    <a:p>
                      <a:pPr marL="442913" marR="0" lvl="1" indent="-179388" algn="l" defTabSz="6953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A1B5F"/>
                        </a:buClr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kumimoji="0" lang="en-GB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 Light" panose="00000400000000000000" pitchFamily="2" charset="0"/>
                          <a:ea typeface="+mn-ea"/>
                          <a:cs typeface="Calibri" pitchFamily="34" charset="0"/>
                        </a:rPr>
                        <a:t> More focus on International design standards</a:t>
                      </a: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758">
            <a:extLst>
              <a:ext uri="{FF2B5EF4-FFF2-40B4-BE49-F238E27FC236}">
                <a16:creationId xmlns:a16="http://schemas.microsoft.com/office/drawing/2014/main" id="{20A7C82A-C5EE-4371-9DC6-E5DB8A3F5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960600"/>
              </p:ext>
            </p:extLst>
          </p:nvPr>
        </p:nvGraphicFramePr>
        <p:xfrm>
          <a:off x="7187198" y="3644604"/>
          <a:ext cx="4765943" cy="1304136"/>
        </p:xfrm>
        <a:graphic>
          <a:graphicData uri="http://schemas.openxmlformats.org/drawingml/2006/table">
            <a:tbl>
              <a:tblPr/>
              <a:tblGrid>
                <a:gridCol w="4765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2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9pPr>
                    </a:lstStyle>
                    <a:p>
                      <a:pPr marL="0" marR="0" lvl="0" indent="0" algn="l" defTabSz="6953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52425" algn="l"/>
                          <a:tab pos="722313" algn="l"/>
                          <a:tab pos="1074738" algn="l"/>
                          <a:tab pos="1427163" algn="l"/>
                          <a:tab pos="1700213" algn="l"/>
                        </a:tabLst>
                      </a:pPr>
                      <a:r>
                        <a:rPr lang="en-AU" sz="1600" b="0" kern="1200" dirty="0">
                          <a:solidFill>
                            <a:schemeClr val="bg1"/>
                          </a:solidFill>
                          <a:latin typeface="Montserrat SemiBold" panose="00000700000000000000" pitchFamily="2" charset="0"/>
                          <a:ea typeface="+mj-ea"/>
                          <a:cs typeface="Arial" pitchFamily="34" charset="0"/>
                        </a:rPr>
                        <a:t>Key Tools</a:t>
                      </a: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66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9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9pPr>
                    </a:lstStyle>
                    <a:p>
                      <a:pPr marL="171450" marR="0" lvl="0" indent="-171450" algn="l" defTabSz="685728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Appendices:</a:t>
                      </a:r>
                    </a:p>
                    <a:p>
                      <a:pPr marL="442913" marR="0" lvl="1" indent="-179388" algn="l" defTabSz="685728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GB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A - </a:t>
                      </a:r>
                      <a:r>
                        <a:rPr kumimoji="0" 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International Standards for Compressed Gas Equipment</a:t>
                      </a:r>
                    </a:p>
                    <a:p>
                      <a:pPr marL="442913" marR="0" lvl="1" indent="-179388" algn="l" defTabSz="685728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B - Additional Design and Risk Assessment Considerations</a:t>
                      </a:r>
                    </a:p>
                    <a:p>
                      <a:pPr marL="442913" marR="0" lvl="1" indent="-179388" algn="l" defTabSz="685728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C – Manual Handling Guidance</a:t>
                      </a:r>
                      <a:endParaRPr kumimoji="0" lang="en-GB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Graphic 6" descr="Network">
            <a:extLst>
              <a:ext uri="{FF2B5EF4-FFF2-40B4-BE49-F238E27FC236}">
                <a16:creationId xmlns:a16="http://schemas.microsoft.com/office/drawing/2014/main" id="{91A0A40B-2B9D-4628-98CD-D5BB3B570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7040" y="4194486"/>
            <a:ext cx="453841" cy="453841"/>
          </a:xfrm>
          <a:prstGeom prst="rect">
            <a:avLst/>
          </a:prstGeom>
        </p:spPr>
      </p:pic>
      <p:pic>
        <p:nvPicPr>
          <p:cNvPr id="8" name="Graphic 7" descr="Repeat">
            <a:extLst>
              <a:ext uri="{FF2B5EF4-FFF2-40B4-BE49-F238E27FC236}">
                <a16:creationId xmlns:a16="http://schemas.microsoft.com/office/drawing/2014/main" id="{D123C117-411E-463D-A7E7-892AE18B76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5132" y="1787215"/>
            <a:ext cx="434033" cy="434033"/>
          </a:xfrm>
          <a:prstGeom prst="rect">
            <a:avLst/>
          </a:prstGeom>
        </p:spPr>
      </p:pic>
      <p:pic>
        <p:nvPicPr>
          <p:cNvPr id="9" name="Graphic 8" descr="Bullseye">
            <a:extLst>
              <a:ext uri="{FF2B5EF4-FFF2-40B4-BE49-F238E27FC236}">
                <a16:creationId xmlns:a16="http://schemas.microsoft.com/office/drawing/2014/main" id="{54B144A5-575E-4339-BCD5-2B9ED2433B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55132" y="4996748"/>
            <a:ext cx="457200" cy="457200"/>
          </a:xfrm>
          <a:prstGeom prst="rect">
            <a:avLst/>
          </a:prstGeom>
        </p:spPr>
      </p:pic>
      <p:graphicFrame>
        <p:nvGraphicFramePr>
          <p:cNvPr id="10" name="Group 758">
            <a:extLst>
              <a:ext uri="{FF2B5EF4-FFF2-40B4-BE49-F238E27FC236}">
                <a16:creationId xmlns:a16="http://schemas.microsoft.com/office/drawing/2014/main" id="{FA75BA2C-EF5A-4687-9FA0-2E0575EF7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20157"/>
              </p:ext>
            </p:extLst>
          </p:nvPr>
        </p:nvGraphicFramePr>
        <p:xfrm>
          <a:off x="7203615" y="5092373"/>
          <a:ext cx="4749526" cy="799446"/>
        </p:xfrm>
        <a:graphic>
          <a:graphicData uri="http://schemas.openxmlformats.org/drawingml/2006/table">
            <a:tbl>
              <a:tblPr/>
              <a:tblGrid>
                <a:gridCol w="4749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3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9pPr>
                    </a:lstStyle>
                    <a:p>
                      <a:pPr marL="0" marR="0" lvl="0" indent="0" algn="l" defTabSz="6953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52425" algn="l"/>
                          <a:tab pos="722313" algn="l"/>
                          <a:tab pos="1074738" algn="l"/>
                          <a:tab pos="1427163" algn="l"/>
                          <a:tab pos="1700213" algn="l"/>
                        </a:tabLst>
                      </a:pPr>
                      <a:r>
                        <a:rPr lang="en-AU" sz="1600" b="0" kern="1200" dirty="0">
                          <a:solidFill>
                            <a:schemeClr val="bg1"/>
                          </a:solidFill>
                          <a:latin typeface="Montserrat SemiBold" panose="00000700000000000000" pitchFamily="2" charset="0"/>
                          <a:ea typeface="+mj-ea"/>
                          <a:cs typeface="Arial" pitchFamily="34" charset="0"/>
                        </a:rPr>
                        <a:t>Further Work / Support</a:t>
                      </a: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66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1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E Inspira Sans"/>
                        </a:defRPr>
                      </a:lvl9pPr>
                    </a:lstStyle>
                    <a:p>
                      <a:pPr marL="190500" marR="0" lvl="0" indent="-190500" algn="l" defTabSz="6953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A1B5F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 Light" panose="00000400000000000000" pitchFamily="2" charset="0"/>
                          <a:ea typeface="+mn-ea"/>
                          <a:cs typeface="Calibri" pitchFamily="34" charset="0"/>
                        </a:rPr>
                        <a:t>No significant change in content</a:t>
                      </a:r>
                      <a:endParaRPr kumimoji="0" lang="en-GB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 Light" panose="00000400000000000000" pitchFamily="2" charset="0"/>
                        <a:ea typeface="+mn-ea"/>
                        <a:cs typeface="Calibri" pitchFamily="34" charset="0"/>
                      </a:endParaRP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53DAAFC-298D-47A5-940B-214CE9F016AB}"/>
              </a:ext>
            </a:extLst>
          </p:cNvPr>
          <p:cNvSpPr txBox="1"/>
          <p:nvPr/>
        </p:nvSpPr>
        <p:spPr>
          <a:xfrm>
            <a:off x="10324638" y="6540137"/>
            <a:ext cx="162850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900" dirty="0">
                <a:solidFill>
                  <a:schemeClr val="accent2"/>
                </a:solidFill>
                <a:latin typeface="Montserrat" panose="00000500000000000000" pitchFamily="2" charset="0"/>
              </a:rPr>
              <a:t>V1 / Mar 2021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00BDC15-303D-4B95-A3B7-90CD7FAE2080}"/>
              </a:ext>
            </a:extLst>
          </p:cNvPr>
          <p:cNvSpPr txBox="1">
            <a:spLocks/>
          </p:cNvSpPr>
          <p:nvPr/>
        </p:nvSpPr>
        <p:spPr>
          <a:xfrm>
            <a:off x="357276" y="833661"/>
            <a:ext cx="7355088" cy="3391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rgbClr val="FF3300"/>
                </a:solidFill>
                <a:latin typeface="Montserrat SemiBold" panose="00000700000000000000" pitchFamily="2" charset="0"/>
              </a:rPr>
              <a:t>FC-GL-EHS-SAF-0716: Compressed Gas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9210E1-9370-4CC5-91AB-5F1929BC4A4B}"/>
              </a:ext>
            </a:extLst>
          </p:cNvPr>
          <p:cNvPicPr/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34886" y="2205377"/>
            <a:ext cx="2464662" cy="311821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F99191-6E01-4CB1-94A3-9B33822E10DB}"/>
              </a:ext>
            </a:extLst>
          </p:cNvPr>
          <p:cNvSpPr/>
          <p:nvPr/>
        </p:nvSpPr>
        <p:spPr>
          <a:xfrm>
            <a:off x="1557393" y="1622316"/>
            <a:ext cx="2630822" cy="480114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GB" sz="1000" dirty="0">
                <a:solidFill>
                  <a:schemeClr val="tx1">
                    <a:lumMod val="50000"/>
                  </a:schemeClr>
                </a:solidFill>
                <a:latin typeface="Montserrat SemiBold" panose="00000700000000000000" pitchFamily="2" charset="0"/>
                <a:ea typeface="Arial" charset="0"/>
              </a:rPr>
              <a:t>Design &amp; Construction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3525D9-A3D4-4324-AF27-22A5E84A686A}"/>
              </a:ext>
            </a:extLst>
          </p:cNvPr>
          <p:cNvSpPr/>
          <p:nvPr/>
        </p:nvSpPr>
        <p:spPr>
          <a:xfrm>
            <a:off x="4039443" y="2443660"/>
            <a:ext cx="1418676" cy="59221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GB" sz="1000" dirty="0">
                <a:solidFill>
                  <a:schemeClr val="tx1">
                    <a:lumMod val="50000"/>
                  </a:schemeClr>
                </a:solidFill>
                <a:latin typeface="Montserrat SemiBold" panose="00000700000000000000" pitchFamily="2" charset="0"/>
                <a:ea typeface="Arial" charset="0"/>
              </a:rPr>
              <a:t>Ordering &amp; Receipt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A86335-2C96-4E37-AB01-257C0A69F315}"/>
              </a:ext>
            </a:extLst>
          </p:cNvPr>
          <p:cNvSpPr/>
          <p:nvPr/>
        </p:nvSpPr>
        <p:spPr>
          <a:xfrm>
            <a:off x="4024332" y="3463023"/>
            <a:ext cx="1418676" cy="592219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GB" sz="1000" dirty="0">
                <a:solidFill>
                  <a:schemeClr val="bg1"/>
                </a:solidFill>
                <a:latin typeface="Montserrat SemiBold" panose="00000700000000000000" pitchFamily="2" charset="0"/>
                <a:ea typeface="Arial" charset="0"/>
              </a:rPr>
              <a:t>Inspection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EB1EC3F-7466-473C-A80C-5958B8CC1F36}"/>
              </a:ext>
            </a:extLst>
          </p:cNvPr>
          <p:cNvSpPr/>
          <p:nvPr/>
        </p:nvSpPr>
        <p:spPr>
          <a:xfrm>
            <a:off x="4024332" y="4433240"/>
            <a:ext cx="1418677" cy="60733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GB" sz="1000" dirty="0">
                <a:solidFill>
                  <a:schemeClr val="tx1">
                    <a:lumMod val="50000"/>
                  </a:schemeClr>
                </a:solidFill>
                <a:latin typeface="Montserrat SemiBold" panose="00000700000000000000" pitchFamily="2" charset="0"/>
                <a:ea typeface="Arial" charset="0"/>
              </a:rPr>
              <a:t>Storage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A597C83-25EC-4728-BB4E-32FB95CB0A78}"/>
              </a:ext>
            </a:extLst>
          </p:cNvPr>
          <p:cNvSpPr/>
          <p:nvPr/>
        </p:nvSpPr>
        <p:spPr>
          <a:xfrm>
            <a:off x="357276" y="4430531"/>
            <a:ext cx="1418677" cy="61275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GB" sz="1000" dirty="0">
                <a:solidFill>
                  <a:schemeClr val="tx1">
                    <a:lumMod val="50000"/>
                  </a:schemeClr>
                </a:solidFill>
                <a:latin typeface="Montserrat SemiBold" panose="00000700000000000000" pitchFamily="2" charset="0"/>
                <a:ea typeface="Arial" charset="0"/>
              </a:rPr>
              <a:t>Transport &amp; Handling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B2F6B0F-455C-4F7C-AF85-25952E12D2E7}"/>
              </a:ext>
            </a:extLst>
          </p:cNvPr>
          <p:cNvSpPr/>
          <p:nvPr/>
        </p:nvSpPr>
        <p:spPr>
          <a:xfrm>
            <a:off x="368644" y="3446715"/>
            <a:ext cx="1418676" cy="592219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GB" sz="1000" dirty="0">
                <a:solidFill>
                  <a:schemeClr val="bg1"/>
                </a:solidFill>
                <a:latin typeface="Montserrat SemiBold" panose="00000700000000000000" pitchFamily="2" charset="0"/>
                <a:ea typeface="Arial" charset="0"/>
              </a:rPr>
              <a:t>Operation &amp; Use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C8D59D-8C8D-4B5F-ADC5-040DBD789AFB}"/>
              </a:ext>
            </a:extLst>
          </p:cNvPr>
          <p:cNvSpPr/>
          <p:nvPr/>
        </p:nvSpPr>
        <p:spPr>
          <a:xfrm>
            <a:off x="1609794" y="5502706"/>
            <a:ext cx="2630821" cy="4078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GB" sz="1000" dirty="0">
                <a:solidFill>
                  <a:schemeClr val="tx1">
                    <a:lumMod val="50000"/>
                  </a:schemeClr>
                </a:solidFill>
                <a:latin typeface="Montserrat SemiBold" panose="00000700000000000000" pitchFamily="2" charset="0"/>
                <a:ea typeface="Arial" charset="0"/>
              </a:rPr>
              <a:t>Training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3EC3A1F-200E-4A6E-87DD-7A60ED3EAFBD}"/>
              </a:ext>
            </a:extLst>
          </p:cNvPr>
          <p:cNvSpPr/>
          <p:nvPr/>
        </p:nvSpPr>
        <p:spPr>
          <a:xfrm>
            <a:off x="380010" y="2461227"/>
            <a:ext cx="1418676" cy="59221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GB" sz="1000" dirty="0">
                <a:solidFill>
                  <a:schemeClr val="tx1">
                    <a:lumMod val="50000"/>
                  </a:schemeClr>
                </a:solidFill>
                <a:latin typeface="Montserrat SemiBold" panose="00000700000000000000" pitchFamily="2" charset="0"/>
                <a:ea typeface="Arial" charset="0"/>
              </a:rPr>
              <a:t>Return to Supplier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FFC97-8132-4E0E-8975-B0EF0828F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77" y="190318"/>
            <a:ext cx="4015548" cy="232376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20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FieldCore_2017">
  <a:themeElements>
    <a:clrScheme name="Custom 1">
      <a:dk1>
        <a:srgbClr val="63666A"/>
      </a:dk1>
      <a:lt1>
        <a:srgbClr val="FFFFFF"/>
      </a:lt1>
      <a:dk2>
        <a:srgbClr val="13294B"/>
      </a:dk2>
      <a:lt2>
        <a:srgbClr val="FFFFFF"/>
      </a:lt2>
      <a:accent1>
        <a:srgbClr val="FE5000"/>
      </a:accent1>
      <a:accent2>
        <a:srgbClr val="005EB8"/>
      </a:accent2>
      <a:accent3>
        <a:srgbClr val="63666A"/>
      </a:accent3>
      <a:accent4>
        <a:srgbClr val="B1B3B3"/>
      </a:accent4>
      <a:accent5>
        <a:srgbClr val="00B5E2"/>
      </a:accent5>
      <a:accent6>
        <a:srgbClr val="3EAE2A"/>
      </a:accent6>
      <a:hlink>
        <a:srgbClr val="FE5000"/>
      </a:hlink>
      <a:folHlink>
        <a:srgbClr val="090936"/>
      </a:folHlink>
    </a:clrScheme>
    <a:fontScheme name="FieldCore - Gotham">
      <a:majorFont>
        <a:latin typeface="Gotham Light"/>
        <a:ea typeface=""/>
        <a:cs typeface=""/>
      </a:majorFont>
      <a:minorFont>
        <a:latin typeface="Gotham 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66ED2"/>
        </a:solidFill>
      </a:spPr>
      <a:bodyPr wrap="square" rtlCol="0" anchor="ctr">
        <a:noAutofit/>
      </a:bodyPr>
      <a:lstStyle>
        <a:defPPr algn="ctr">
          <a:defRPr dirty="0" smtClean="0">
            <a:solidFill>
              <a:schemeClr val="bg1"/>
            </a:solidFill>
            <a:ea typeface="Arial" charset="0"/>
          </a:defRPr>
        </a:defPPr>
      </a:lst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C-GL-EHS-MAN-0201 - Compliance Assurance (QC) v4" id="{979D7D89-E179-4650-B340-9B0317C3FEEF}" vid="{38AA9E95-E542-4BB4-82E6-46C52740A1C5}"/>
    </a:ext>
  </a:extLst>
</a:theme>
</file>

<file path=ppt/theme/theme2.xml><?xml version="1.0" encoding="utf-8"?>
<a:theme xmlns:a="http://schemas.openxmlformats.org/drawingml/2006/main" name="Office Theme">
  <a:themeElements>
    <a:clrScheme name="GE Colors">
      <a:dk1>
        <a:sysClr val="windowText" lastClr="000000"/>
      </a:dk1>
      <a:lt1>
        <a:sysClr val="window" lastClr="FFFFFF"/>
      </a:lt1>
      <a:dk2>
        <a:srgbClr val="B1B3B3"/>
      </a:dk2>
      <a:lt2>
        <a:srgbClr val="F0F0F0"/>
      </a:lt2>
      <a:accent1>
        <a:srgbClr val="005CB9"/>
      </a:accent1>
      <a:accent2>
        <a:srgbClr val="63666A"/>
      </a:accent2>
      <a:accent3>
        <a:srgbClr val="00B5E2"/>
      </a:accent3>
      <a:accent4>
        <a:srgbClr val="0A0A37"/>
      </a:accent4>
      <a:accent5>
        <a:srgbClr val="FE5000"/>
      </a:accent5>
      <a:accent6>
        <a:srgbClr val="00BF6F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GE Colors">
      <a:dk1>
        <a:sysClr val="windowText" lastClr="000000"/>
      </a:dk1>
      <a:lt1>
        <a:sysClr val="window" lastClr="FFFFFF"/>
      </a:lt1>
      <a:dk2>
        <a:srgbClr val="B1B3B3"/>
      </a:dk2>
      <a:lt2>
        <a:srgbClr val="F0F0F0"/>
      </a:lt2>
      <a:accent1>
        <a:srgbClr val="005CB9"/>
      </a:accent1>
      <a:accent2>
        <a:srgbClr val="63666A"/>
      </a:accent2>
      <a:accent3>
        <a:srgbClr val="00B5E2"/>
      </a:accent3>
      <a:accent4>
        <a:srgbClr val="0A0A37"/>
      </a:accent4>
      <a:accent5>
        <a:srgbClr val="FE5000"/>
      </a:accent5>
      <a:accent6>
        <a:srgbClr val="00BF6F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cess_x0020_Owmer xmlns="25586fb6-ed09-4f2d-8ea7-eda1a9fd2320">
      <UserInfo>
        <DisplayName>Bluhm, Joyce (FieldCore)</DisplayName>
        <AccountId>72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>FC-GL-EHS-SAF-0716 QC</Nomenclature>
    <LastReviewDate xmlns="cc7fbaa3-8214-4644-99f1-d2e5a6ae9914" xsi:nil="true"/>
    <RevisionNumber xmlns="cc7fbaa3-8214-4644-99f1-d2e5a6ae991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3437A54-72A5-4156-AB59-7F8081ED2DEA}">
  <ds:schemaRefs>
    <ds:schemaRef ds:uri="http://schemas.microsoft.com/office/2006/documentManagement/types"/>
    <ds:schemaRef ds:uri="http://schemas.microsoft.com/office/infopath/2007/PartnerControls"/>
    <ds:schemaRef ds:uri="d6057043-4bab-4082-934f-7693f7fd0ead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42054fea-1c7a-4775-a5bc-42c69eb541e4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E6D464C-3798-42C6-82F1-B4A4C4B5D5CF}"/>
</file>

<file path=customXml/itemProps3.xml><?xml version="1.0" encoding="utf-8"?>
<ds:datastoreItem xmlns:ds="http://schemas.openxmlformats.org/officeDocument/2006/customXml" ds:itemID="{0ACF6336-C6B1-438A-9EBF-E05F65D03D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FCQ Quick Card (v3)</Template>
  <TotalTime>53</TotalTime>
  <Words>97</Words>
  <Application>Microsoft Office PowerPoint</Application>
  <PresentationFormat>Widescreen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Montserrat SemiBold</vt:lpstr>
      <vt:lpstr>Courier New</vt:lpstr>
      <vt:lpstr>Montserrat Light</vt:lpstr>
      <vt:lpstr>Wingdings</vt:lpstr>
      <vt:lpstr>Montserrat</vt:lpstr>
      <vt:lpstr>Arial</vt:lpstr>
      <vt:lpstr>FieldCore_2017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EHS Global QuickCard</dc:title>
  <dc:creator>Wright, Keith (FieldCore)</dc:creator>
  <dc:description>Version 1.08
Job 1437
August 25, 2016</dc:description>
  <cp:lastModifiedBy>Wright, Keith (FieldCore)</cp:lastModifiedBy>
  <cp:revision>8</cp:revision>
  <dcterms:created xsi:type="dcterms:W3CDTF">2021-03-01T16:12:24Z</dcterms:created>
  <dcterms:modified xsi:type="dcterms:W3CDTF">2021-03-04T09:04:23Z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0x010100AABA2F64D6E2C740A2EFD32F6136F44B</vt:lpwstr>
  </property>
</Properties>
</file>