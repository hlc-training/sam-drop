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0"/>
  </p:notesMasterIdLst>
  <p:handoutMasterIdLst>
    <p:handoutMasterId r:id="rId31"/>
  </p:handoutMasterIdLst>
  <p:sldIdLst>
    <p:sldId id="389" r:id="rId5"/>
    <p:sldId id="2147472050" r:id="rId6"/>
    <p:sldId id="2147472095" r:id="rId7"/>
    <p:sldId id="2147472055" r:id="rId8"/>
    <p:sldId id="2147472107" r:id="rId9"/>
    <p:sldId id="2147472105" r:id="rId10"/>
    <p:sldId id="2147472108" r:id="rId11"/>
    <p:sldId id="2147472059" r:id="rId12"/>
    <p:sldId id="2147472062" r:id="rId13"/>
    <p:sldId id="2147472084" r:id="rId14"/>
    <p:sldId id="2147472065" r:id="rId15"/>
    <p:sldId id="2147472085" r:id="rId16"/>
    <p:sldId id="2147472063" r:id="rId17"/>
    <p:sldId id="2147472086" r:id="rId18"/>
    <p:sldId id="2147472087" r:id="rId19"/>
    <p:sldId id="2147472058" r:id="rId20"/>
    <p:sldId id="2147472060" r:id="rId21"/>
    <p:sldId id="2147472083" r:id="rId22"/>
    <p:sldId id="2147472099" r:id="rId23"/>
    <p:sldId id="2147472088" r:id="rId24"/>
    <p:sldId id="2147472091" r:id="rId25"/>
    <p:sldId id="2147472090" r:id="rId26"/>
    <p:sldId id="2147472100" r:id="rId27"/>
    <p:sldId id="2147472101" r:id="rId28"/>
    <p:sldId id="2147472102" r:id="rId29"/>
  </p:sldIdLst>
  <p:sldSz cx="12192000" cy="6858000"/>
  <p:notesSz cx="6858000" cy="9144000"/>
  <p:embeddedFontLst>
    <p:embeddedFont>
      <p:font typeface="Cambria" panose="02040503050406030204" pitchFamily="18" charset="0"/>
      <p:regular r:id="rId32"/>
      <p:bold r:id="rId33"/>
      <p:italic r:id="rId34"/>
      <p:boldItalic r:id="rId35"/>
    </p:embeddedFont>
    <p:embeddedFont>
      <p:font typeface="Inter" panose="020B0502030000000004" pitchFamily="34" charset="0"/>
      <p:regular r:id="rId36"/>
      <p:bold r:id="rId37"/>
      <p:italic r:id="rId38"/>
      <p:boldItalic r:id="rId39"/>
    </p:embeddedFont>
    <p:embeddedFont>
      <p:font typeface="Sons Condensed Extrabold" panose="02060906060206060203" pitchFamily="18" charset="0"/>
      <p:regular r:id="rId40"/>
      <p:bold r:id="rId41"/>
      <p:italic r:id="rId42"/>
      <p:bold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CC2F8DD9-86A2-D245-808A-F23696EC8744}">
          <p14:sldIdLst>
            <p14:sldId id="389"/>
            <p14:sldId id="2147472050"/>
            <p14:sldId id="2147472095"/>
            <p14:sldId id="2147472055"/>
            <p14:sldId id="2147472107"/>
            <p14:sldId id="2147472105"/>
            <p14:sldId id="2147472108"/>
            <p14:sldId id="2147472059"/>
            <p14:sldId id="2147472062"/>
            <p14:sldId id="2147472084"/>
            <p14:sldId id="2147472065"/>
            <p14:sldId id="2147472085"/>
            <p14:sldId id="2147472063"/>
            <p14:sldId id="2147472086"/>
            <p14:sldId id="2147472087"/>
            <p14:sldId id="2147472058"/>
            <p14:sldId id="2147472060"/>
            <p14:sldId id="2147472083"/>
            <p14:sldId id="2147472099"/>
            <p14:sldId id="2147472088"/>
            <p14:sldId id="2147472091"/>
            <p14:sldId id="2147472090"/>
            <p14:sldId id="2147472100"/>
            <p14:sldId id="2147472101"/>
            <p14:sldId id="2147472102"/>
          </p14:sldIdLst>
        </p14:section>
      </p14:sectionLst>
    </p:ex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1ADE"/>
    <a:srgbClr val="439297"/>
    <a:srgbClr val="C7DBDB"/>
    <a:srgbClr val="96BDBD"/>
    <a:srgbClr val="458A8A"/>
    <a:srgbClr val="212121"/>
    <a:srgbClr val="58984B"/>
    <a:srgbClr val="BFA682"/>
    <a:srgbClr val="8F7D62"/>
    <a:srgbClr val="43898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8221" autoAdjust="0"/>
  </p:normalViewPr>
  <p:slideViewPr>
    <p:cSldViewPr snapToGrid="0" snapToObjects="1" showGuides="1">
      <p:cViewPr varScale="1">
        <p:scale>
          <a:sx n="52" d="100"/>
          <a:sy n="52" d="100"/>
        </p:scale>
        <p:origin x="1192" y="56"/>
      </p:cViewPr>
      <p:guideLst>
        <p:guide orient="horz" pos="2256"/>
        <p:guide pos="3696"/>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snapToObjects="1" showGuides="1">
      <p:cViewPr varScale="1">
        <p:scale>
          <a:sx n="76" d="100"/>
          <a:sy n="76" d="100"/>
        </p:scale>
        <p:origin x="3312" y="19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font" Target="fonts/font1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4/9/2026</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4/9/2026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2</a:t>
            </a:fld>
            <a:endParaRPr lang="en-US" dirty="0"/>
          </a:p>
        </p:txBody>
      </p:sp>
    </p:spTree>
    <p:extLst>
      <p:ext uri="{BB962C8B-B14F-4D97-AF65-F5344CB8AC3E}">
        <p14:creationId xmlns:p14="http://schemas.microsoft.com/office/powerpoint/2010/main" val="1922754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endParaRPr lang="en-US" sz="1800" dirty="0">
              <a:effectLst/>
              <a:latin typeface="Calibri" panose="020F0502020204030204" pitchFamily="34"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4BFF387-9D57-4C4A-857D-AC6507407006}" type="slidenum">
              <a:rPr lang="en-US" smtClean="0"/>
              <a:pPr/>
              <a:t>4</a:t>
            </a:fld>
            <a:endParaRPr lang="en-US" dirty="0"/>
          </a:p>
        </p:txBody>
      </p:sp>
    </p:spTree>
    <p:extLst>
      <p:ext uri="{BB962C8B-B14F-4D97-AF65-F5344CB8AC3E}">
        <p14:creationId xmlns:p14="http://schemas.microsoft.com/office/powerpoint/2010/main" val="124277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5</a:t>
            </a:fld>
            <a:endParaRPr lang="en-US" dirty="0"/>
          </a:p>
        </p:txBody>
      </p:sp>
    </p:spTree>
    <p:extLst>
      <p:ext uri="{BB962C8B-B14F-4D97-AF65-F5344CB8AC3E}">
        <p14:creationId xmlns:p14="http://schemas.microsoft.com/office/powerpoint/2010/main" val="36604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6</a:t>
            </a:fld>
            <a:endParaRPr lang="en-US" dirty="0"/>
          </a:p>
        </p:txBody>
      </p:sp>
    </p:spTree>
    <p:extLst>
      <p:ext uri="{BB962C8B-B14F-4D97-AF65-F5344CB8AC3E}">
        <p14:creationId xmlns:p14="http://schemas.microsoft.com/office/powerpoint/2010/main" val="1437937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9</a:t>
            </a:fld>
            <a:endParaRPr lang="en-US" dirty="0"/>
          </a:p>
        </p:txBody>
      </p:sp>
    </p:spTree>
    <p:extLst>
      <p:ext uri="{BB962C8B-B14F-4D97-AF65-F5344CB8AC3E}">
        <p14:creationId xmlns:p14="http://schemas.microsoft.com/office/powerpoint/2010/main" val="1234004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13</a:t>
            </a:fld>
            <a:endParaRPr lang="en-US" dirty="0"/>
          </a:p>
        </p:txBody>
      </p:sp>
    </p:spTree>
    <p:extLst>
      <p:ext uri="{BB962C8B-B14F-4D97-AF65-F5344CB8AC3E}">
        <p14:creationId xmlns:p14="http://schemas.microsoft.com/office/powerpoint/2010/main" val="3337140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17</a:t>
            </a:fld>
            <a:endParaRPr lang="en-US" dirty="0"/>
          </a:p>
        </p:txBody>
      </p:sp>
    </p:spTree>
    <p:extLst>
      <p:ext uri="{BB962C8B-B14F-4D97-AF65-F5344CB8AC3E}">
        <p14:creationId xmlns:p14="http://schemas.microsoft.com/office/powerpoint/2010/main" val="1091689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18</a:t>
            </a:fld>
            <a:endParaRPr lang="en-US" dirty="0"/>
          </a:p>
        </p:txBody>
      </p:sp>
    </p:spTree>
    <p:extLst>
      <p:ext uri="{BB962C8B-B14F-4D97-AF65-F5344CB8AC3E}">
        <p14:creationId xmlns:p14="http://schemas.microsoft.com/office/powerpoint/2010/main" val="2290623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19</a:t>
            </a:fld>
            <a:endParaRPr lang="en-US" dirty="0"/>
          </a:p>
        </p:txBody>
      </p:sp>
    </p:spTree>
    <p:extLst>
      <p:ext uri="{BB962C8B-B14F-4D97-AF65-F5344CB8AC3E}">
        <p14:creationId xmlns:p14="http://schemas.microsoft.com/office/powerpoint/2010/main" val="21749967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23</a:t>
            </a:fld>
            <a:endParaRPr lang="en-US" dirty="0"/>
          </a:p>
        </p:txBody>
      </p:sp>
    </p:spTree>
    <p:extLst>
      <p:ext uri="{BB962C8B-B14F-4D97-AF65-F5344CB8AC3E}">
        <p14:creationId xmlns:p14="http://schemas.microsoft.com/office/powerpoint/2010/main" val="4147629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24</a:t>
            </a:fld>
            <a:endParaRPr lang="en-US" dirty="0"/>
          </a:p>
        </p:txBody>
      </p:sp>
    </p:spTree>
    <p:extLst>
      <p:ext uri="{BB962C8B-B14F-4D97-AF65-F5344CB8AC3E}">
        <p14:creationId xmlns:p14="http://schemas.microsoft.com/office/powerpoint/2010/main" val="910540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2"/>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a:solidFill>
                  <a:schemeClr val="tx1"/>
                </a:solidFill>
              </a:defRPr>
            </a:lvl1pPr>
          </a:lstStyle>
          <a:p>
            <a:r>
              <a:rPr lang="en-US" dirty="0"/>
              <a:t>© 2024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a:solidFill>
                  <a:srgbClr val="FAFAFA"/>
                </a:solidFill>
              </a:defRPr>
            </a:lvl1pPr>
          </a:lstStyle>
          <a:p>
            <a:r>
              <a:rPr lang="en-US" dirty="0"/>
              <a:t>© 2024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2"/>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190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3" orient="horz" pos="27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2"/>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a:solidFill>
                  <a:srgbClr val="212121"/>
                </a:solidFill>
              </a:defRPr>
            </a:lvl1pPr>
          </a:lstStyle>
          <a:p>
            <a:r>
              <a:rPr lang="en-US" dirty="0"/>
              <a:t>© 2024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210496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4 Dark Photo Background">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a:solidFill>
                  <a:schemeClr val="tx1"/>
                </a:solidFill>
              </a:defRPr>
            </a:lvl1pPr>
          </a:lstStyle>
          <a:p>
            <a:r>
              <a:rPr lang="en-US" dirty="0"/>
              <a:t>© 2024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2"/>
          <a:stretch>
            <a:fillRect/>
          </a:stretch>
        </p:blipFill>
        <p:spPr>
          <a:xfrm>
            <a:off x="259641" y="272267"/>
            <a:ext cx="2606040" cy="814067"/>
          </a:xfrm>
          <a:prstGeom prst="rect">
            <a:avLst/>
          </a:prstGeom>
        </p:spPr>
      </p:pic>
    </p:spTree>
    <p:extLst>
      <p:ext uri="{BB962C8B-B14F-4D97-AF65-F5344CB8AC3E}">
        <p14:creationId xmlns:p14="http://schemas.microsoft.com/office/powerpoint/2010/main" val="370146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D981922-7652-D74D-9BCA-4EBCFEFB0217}"/>
              </a:ext>
            </a:extLst>
          </p:cNvPr>
          <p:cNvSpPr>
            <a:spLocks noGrp="1"/>
          </p:cNvSpPr>
          <p:nvPr>
            <p:ph type="ftr" sz="quarter" idx="11"/>
          </p:nvPr>
        </p:nvSpPr>
        <p:spPr/>
        <p:txBody>
          <a:bodyPr/>
          <a:lstStyle/>
          <a:p>
            <a:r>
              <a:rPr lang="en-US" dirty="0"/>
              <a:t>© 2024 GE Vernova and/or its affiliates. All rights reserved.</a:t>
            </a:r>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4176268"/>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886635505"/>
      </p:ext>
    </p:extLst>
  </p:cSld>
  <p:clrMapOvr>
    <a:masterClrMapping/>
  </p:clrMapOvr>
  <p:extLst>
    <p:ext uri="{DCECCB84-F9BA-43D5-87BE-67443E8EF086}">
      <p15:sldGuideLst xmlns:p15="http://schemas.microsoft.com/office/powerpoint/2012/main">
        <p15:guide id="1" orient="horz" pos="8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04126460"/>
      </p:ext>
    </p:extLst>
  </p:cSld>
  <p:clrMapOvr>
    <a:masterClrMapping/>
  </p:clrMapOvr>
  <p:extLst>
    <p:ext uri="{DCECCB84-F9BA-43D5-87BE-67443E8EF086}">
      <p15:sldGuideLst xmlns:p15="http://schemas.microsoft.com/office/powerpoint/2012/main">
        <p15:guide id="1" orient="horz" pos="1320" userDrawn="1">
          <p15:clr>
            <a:srgbClr val="FBAE40"/>
          </p15:clr>
        </p15:guide>
        <p15:guide id="2" orient="horz" pos="69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7214207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14"/>
          </p:nvPr>
        </p:nvSpPr>
        <p:spPr>
          <a:xfrm>
            <a:off x="419099"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15"/>
          </p:nvPr>
        </p:nvSpPr>
        <p:spPr>
          <a:xfrm>
            <a:off x="6096000"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562102217"/>
      </p:ext>
    </p:extLst>
  </p:cSld>
  <p:clrMapOvr>
    <a:masterClrMapping/>
  </p:clrMapOvr>
  <p:extLst>
    <p:ext uri="{DCECCB84-F9BA-43D5-87BE-67443E8EF086}">
      <p15:sldGuideLst xmlns:p15="http://schemas.microsoft.com/office/powerpoint/2012/main">
        <p15:guide id="1" orient="horz" pos="1320" userDrawn="1">
          <p15:clr>
            <a:srgbClr val="FBAE40"/>
          </p15:clr>
        </p15:guide>
        <p15:guide id="2" pos="3840" userDrawn="1">
          <p15:clr>
            <a:srgbClr val="FBAE40"/>
          </p15:clr>
        </p15:guide>
        <p15:guide id="3" orient="horz" pos="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 Asy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36994692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 Asymetrical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18048575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Asymmetrical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290989164"/>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 Asymmetrical 2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743160294"/>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3-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3-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821405647"/>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62642070"/>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4 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10;&#10;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66450991"/>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3 and 1/3-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13"/>
          </p:nvPr>
        </p:nvSpPr>
        <p:spPr>
          <a:xfrm>
            <a:off x="419099" y="1403350"/>
            <a:ext cx="7296912"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15"/>
          </p:nvPr>
        </p:nvSpPr>
        <p:spPr>
          <a:xfrm>
            <a:off x="8000999" y="1403350"/>
            <a:ext cx="3787133"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06879767"/>
      </p:ext>
    </p:extLst>
  </p:cSld>
  <p:clrMapOvr>
    <a:masterClrMapping/>
  </p:clrMapOvr>
  <p:extLst>
    <p:ext uri="{DCECCB84-F9BA-43D5-87BE-67443E8EF086}">
      <p15:sldGuideLst xmlns:p15="http://schemas.microsoft.com/office/powerpoint/2012/main">
        <p15:guide id="2" pos="504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Column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20866178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25720672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1_2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73984719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3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4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58873889"/>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oxed Asym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085943709"/>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3"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pPr lvl="0"/>
            <a:r>
              <a:rPr lang="en-US" dirty="0"/>
              <a:t>[Optional section ##]</a:t>
            </a:r>
          </a:p>
        </p:txBody>
      </p:sp>
    </p:spTree>
    <p:extLst>
      <p:ext uri="{BB962C8B-B14F-4D97-AF65-F5344CB8AC3E}">
        <p14:creationId xmlns:p14="http://schemas.microsoft.com/office/powerpoint/2010/main" val="1263291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4" orient="horz" pos="273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pPr lvl="0"/>
            <a:r>
              <a:rPr lang="en-US" dirty="0"/>
              <a:t>[Optional section ##]</a:t>
            </a:r>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chemeClr val="tx1"/>
                </a:solidFill>
                <a:latin typeface="Sons Condensed Extrabold" panose="02060906060206060203" pitchFamily="18" charset="0"/>
              </a:defRPr>
            </a:lvl1pPr>
          </a:lstStyle>
          <a:p>
            <a:r>
              <a:rPr lang="en-US" dirty="0"/>
              <a:t>CLICK TO EDIT MASTER TITLE STYLE</a:t>
            </a:r>
          </a:p>
        </p:txBody>
      </p:sp>
    </p:spTree>
    <p:extLst>
      <p:ext uri="{BB962C8B-B14F-4D97-AF65-F5344CB8AC3E}">
        <p14:creationId xmlns:p14="http://schemas.microsoft.com/office/powerpoint/2010/main" val="42288924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4"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pPr marL="0" lvl="0" indent="0" algn="l" defTabSz="914400" rtl="0" eaLnBrk="1" latinLnBrk="0" hangingPunct="1">
              <a:lnSpc>
                <a:spcPct val="100000"/>
              </a:lnSpc>
              <a:spcBef>
                <a:spcPts val="0"/>
              </a:spcBef>
              <a:spcAft>
                <a:spcPts val="0"/>
              </a:spcAft>
              <a:buClr>
                <a:schemeClr val="tx1"/>
              </a:buClr>
              <a:buFont typeface="Arial" panose="020B0604020202020204" pitchFamily="34" charset="0"/>
              <a:buNone/>
            </a:pPr>
            <a:r>
              <a:rPr lang="en-US" dirty="0"/>
              <a:t>[Optional section ##]</a:t>
            </a:r>
          </a:p>
        </p:txBody>
      </p:sp>
    </p:spTree>
    <p:extLst>
      <p:ext uri="{BB962C8B-B14F-4D97-AF65-F5344CB8AC3E}">
        <p14:creationId xmlns:p14="http://schemas.microsoft.com/office/powerpoint/2010/main" val="1971472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4">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484835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fographics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10;&#10;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26311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userDrawn="1">
          <p15:clr>
            <a:srgbClr val="FBAE40"/>
          </p15:clr>
        </p15:guide>
        <p15:guide id="3" pos="4128" userDrawn="1">
          <p15:clr>
            <a:srgbClr val="FBAE40"/>
          </p15:clr>
        </p15:guide>
        <p15:guide id="4" pos="4824" userDrawn="1">
          <p15:clr>
            <a:srgbClr val="FBAE40"/>
          </p15:clr>
        </p15:guide>
        <p15:guide id="5" orient="horz" pos="884" userDrawn="1">
          <p15:clr>
            <a:srgbClr val="FBAE40"/>
          </p15:clr>
        </p15:guide>
        <p15:guide id="6" orient="horz" pos="1498" userDrawn="1">
          <p15:clr>
            <a:srgbClr val="FBAE40"/>
          </p15:clr>
        </p15:guide>
        <p15:guide id="7" orient="horz" pos="2116" userDrawn="1">
          <p15:clr>
            <a:srgbClr val="FBAE40"/>
          </p15:clr>
        </p15:guide>
        <p15:guide id="8" orient="horz" pos="2736" userDrawn="1">
          <p15:clr>
            <a:srgbClr val="FBAE40"/>
          </p15:clr>
        </p15:guide>
        <p15:guide id="9" orient="horz" pos="3350" userDrawn="1">
          <p15:clr>
            <a:srgbClr val="FBAE40"/>
          </p15:clr>
        </p15:guide>
        <p15:guide id="10" pos="55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s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10;&#10;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184104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userDrawn="1">
          <p15:clr>
            <a:srgbClr val="FBAE40"/>
          </p15:clr>
        </p15:guide>
        <p15:guide id="8" orient="horz" pos="2736">
          <p15:clr>
            <a:srgbClr val="FBAE40"/>
          </p15:clr>
        </p15:guide>
        <p15:guide id="9" orient="horz" pos="335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esente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8"/>
          </p:nvPr>
        </p:nvSpPr>
        <p:spPr>
          <a:xfrm>
            <a:off x="17145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0"/>
          </p:nvPr>
        </p:nvSpPr>
        <p:spPr>
          <a:xfrm>
            <a:off x="5500689"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22"/>
          </p:nvPr>
        </p:nvSpPr>
        <p:spPr>
          <a:xfrm>
            <a:off x="92964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24"/>
          </p:nvPr>
        </p:nvSpPr>
        <p:spPr>
          <a:xfrm>
            <a:off x="17145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26"/>
          </p:nvPr>
        </p:nvSpPr>
        <p:spPr>
          <a:xfrm>
            <a:off x="5500689"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28"/>
          </p:nvPr>
        </p:nvSpPr>
        <p:spPr>
          <a:xfrm>
            <a:off x="92964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10;&#10;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367970595"/>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2400" userDrawn="1">
          <p15:clr>
            <a:srgbClr val="FBAE40"/>
          </p15:clr>
        </p15:guide>
        <p15:guide id="4" pos="1080" userDrawn="1">
          <p15:clr>
            <a:srgbClr val="FBAE40"/>
          </p15:clr>
        </p15:guide>
        <p15:guide id="5" pos="3465" userDrawn="1">
          <p15:clr>
            <a:srgbClr val="FBAE40"/>
          </p15:clr>
        </p15:guide>
        <p15:guide id="6" pos="5856" userDrawn="1">
          <p15:clr>
            <a:srgbClr val="FBAE40"/>
          </p15:clr>
        </p15:guide>
        <p15:guide id="7" orient="horz" pos="88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284725704"/>
      </p:ext>
    </p:extLst>
  </p:cSld>
  <p:clrMapOvr>
    <a:masterClrMapping/>
  </p:clrMapOvr>
  <p:extLst>
    <p:ext uri="{DCECCB84-F9BA-43D5-87BE-67443E8EF086}">
      <p15:sldGuideLst xmlns:p15="http://schemas.microsoft.com/office/powerpoint/2012/main">
        <p15:guide id="2" orient="horz" pos="15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667974532"/>
      </p:ext>
    </p:extLst>
  </p:cSld>
  <p:clrMapOvr>
    <a:masterClrMapping/>
  </p:clrMapOvr>
  <p:extLst>
    <p:ext uri="{DCECCB84-F9BA-43D5-87BE-67443E8EF086}">
      <p15:sldGuideLst xmlns:p15="http://schemas.microsoft.com/office/powerpoint/2012/main">
        <p15:guide id="2" pos="4008" userDrawn="1">
          <p15:clr>
            <a:srgbClr val="FBAE40"/>
          </p15:clr>
        </p15:guide>
        <p15:guide id="4" orient="horz" pos="15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Lar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09379626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Side-by-S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Side-by-S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2"/>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579359531"/>
      </p:ext>
    </p:extLst>
  </p:cSld>
  <p:clrMapOvr>
    <a:masterClrMapping/>
  </p:clrMapOvr>
  <p:extLst>
    <p:ext uri="{DCECCB84-F9BA-43D5-87BE-67443E8EF086}">
      <p15:sldGuideLst xmlns:p15="http://schemas.microsoft.com/office/powerpoint/2012/main">
        <p15:guide id="2" orient="horz" userDrawn="1">
          <p15:clr>
            <a:srgbClr val="FBAE40"/>
          </p15:clr>
        </p15:guide>
        <p15:guide id="4" orient="horz" pos="456"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Statement 1">
    <p:bg>
      <p:bgPr>
        <a:solidFill>
          <a:srgbClr val="005E6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chemeClr val="tx1"/>
                </a:solidFill>
              </a:defRPr>
            </a:lvl1pPr>
          </a:lstStyle>
          <a:p>
            <a:r>
              <a:rPr lang="en-US" dirty="0"/>
              <a:t>© 2024 GE Vernova and/or its affiliates. All rights reserved.</a:t>
            </a:r>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1" y="615950"/>
            <a:ext cx="5494420" cy="5486400"/>
          </a:xfrm>
        </p:spPr>
        <p:txBody>
          <a:bodyPr anchor="t" anchorCtr="0"/>
          <a:lstStyle>
            <a:lvl1pPr marL="0" indent="0">
              <a:lnSpc>
                <a:spcPct val="85000"/>
              </a:lnSpc>
              <a:spcAft>
                <a:spcPts val="1000"/>
              </a:spcAft>
              <a:defRPr sz="5000" cap="all"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pPr lvl="0"/>
            <a:r>
              <a:rPr lang="en-US" dirty="0"/>
              <a:t>CLICK TO EDIT MASTER TEXT STYLES</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405188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tatement 3">
    <p:bg>
      <p:bgPr>
        <a:solidFill>
          <a:schemeClr val="tx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rgbClr val="212121"/>
                </a:solidFill>
              </a:defRPr>
            </a:lvl1pPr>
          </a:lstStyle>
          <a:p>
            <a:r>
              <a:rPr lang="en-US" dirty="0"/>
              <a:t>© 2024 GE Vernova and/or its affiliates. All rights reserved.</a:t>
            </a:r>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0" y="615950"/>
            <a:ext cx="5313947" cy="5486400"/>
          </a:xfrm>
        </p:spPr>
        <p:txBody>
          <a:bodyPr anchor="t" anchorCtr="0"/>
          <a:lstStyle>
            <a:lvl1pPr marL="0" indent="0">
              <a:lnSpc>
                <a:spcPct val="85000"/>
              </a:lnSpc>
              <a:spcAft>
                <a:spcPts val="0"/>
              </a:spcAft>
              <a:defRPr sz="5000" cap="all"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pPr lvl="0"/>
            <a:r>
              <a:rPr lang="en-US" dirty="0"/>
              <a:t>CLICK TO EDIT MASTER TEXT STYLES</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10;&#10;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471583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Statistics">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4148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Statistics -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249074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edium Stat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chemeClr val="bg1"/>
                </a:solidFill>
              </a:defRPr>
            </a:lvl1pPr>
          </a:lstStyle>
          <a:p>
            <a:pPr lvl="0"/>
            <a:r>
              <a:rPr lang="en-US"/>
              <a:t>Click to edit Master text styles</a:t>
            </a:r>
          </a:p>
        </p:txBody>
      </p:sp>
      <p:pic>
        <p:nvPicPr>
          <p:cNvPr id="4" name="Picture 3" descr="Text&#10;&#10;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Tree>
    <p:extLst>
      <p:ext uri="{BB962C8B-B14F-4D97-AF65-F5344CB8AC3E}">
        <p14:creationId xmlns:p14="http://schemas.microsoft.com/office/powerpoint/2010/main" val="14162257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edium Stat 3">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rgbClr val="212121"/>
                </a:solidFill>
              </a:defRPr>
            </a:lvl1pPr>
          </a:lstStyle>
          <a:p>
            <a:pPr lvl="0"/>
            <a:r>
              <a:rPr lang="en-US"/>
              <a:t>Click to edit Master text styles</a:t>
            </a:r>
          </a:p>
        </p:txBody>
      </p:sp>
      <p:pic>
        <p:nvPicPr>
          <p:cNvPr id="7" name="Picture 6" descr="Text&#10;&#10;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Tree>
    <p:extLst>
      <p:ext uri="{BB962C8B-B14F-4D97-AF65-F5344CB8AC3E}">
        <p14:creationId xmlns:p14="http://schemas.microsoft.com/office/powerpoint/2010/main" val="22607089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Stat 1">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10;&#10;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420006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rge Stat 2">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10;&#10;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Tree>
    <p:extLst>
      <p:ext uri="{BB962C8B-B14F-4D97-AF65-F5344CB8AC3E}">
        <p14:creationId xmlns:p14="http://schemas.microsoft.com/office/powerpoint/2010/main" val="22762467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2"/>
          <a:stretch>
            <a:fillRect/>
          </a:stretch>
        </p:blipFill>
        <p:spPr>
          <a:xfrm>
            <a:off x="2598420" y="2336437"/>
            <a:ext cx="6995160" cy="2185127"/>
          </a:xfrm>
          <a:prstGeom prst="rect">
            <a:avLst/>
          </a:prstGeom>
        </p:spPr>
      </p:pic>
    </p:spTree>
    <p:extLst>
      <p:ext uri="{BB962C8B-B14F-4D97-AF65-F5344CB8AC3E}">
        <p14:creationId xmlns:p14="http://schemas.microsoft.com/office/powerpoint/2010/main" val="184882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32575949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nd Content">
    <p:bg>
      <p:bgRef idx="1001">
        <a:schemeClr val="bg1"/>
      </p:bgRef>
    </p:bg>
    <p:spTree>
      <p:nvGrpSpPr>
        <p:cNvPr id="1" name=""/>
        <p:cNvGrpSpPr/>
        <p:nvPr/>
      </p:nvGrpSpPr>
      <p:grpSpPr>
        <a:xfrm>
          <a:off x="0" y="0"/>
          <a:ext cx="0" cy="0"/>
          <a:chOff x="0" y="0"/>
          <a:chExt cx="0" cy="0"/>
        </a:xfrm>
      </p:grpSpPr>
      <p:sp>
        <p:nvSpPr>
          <p:cNvPr id="2" name="Holder 2"/>
          <p:cNvSpPr>
            <a:spLocks noGrp="1"/>
          </p:cNvSpPr>
          <p:nvPr>
            <p:ph type="title"/>
          </p:nvPr>
        </p:nvSpPr>
        <p:spPr>
          <a:xfrm>
            <a:off x="496076" y="454890"/>
            <a:ext cx="2429928" cy="242502"/>
          </a:xfrm>
          <a:prstGeom prst="rect">
            <a:avLst/>
          </a:prstGeom>
        </p:spPr>
        <p:txBody>
          <a:bodyPr lIns="0" tIns="0" rIns="0" bIns="0"/>
          <a:lstStyle>
            <a:lvl1pPr>
              <a:defRPr sz="1576" b="0" i="0">
                <a:solidFill>
                  <a:srgbClr val="000000"/>
                </a:solidFill>
                <a:latin typeface="Inter" panose="02000503000000020004" pitchFamily="2" charset="0"/>
                <a:cs typeface="Arial" panose="020B0604020202020204" pitchFamily="34" charset="0"/>
              </a:defRPr>
            </a:lvl1pPr>
          </a:lstStyle>
          <a:p>
            <a:r>
              <a:rPr lang="en-US"/>
              <a:t>Click to edit Master title style</a:t>
            </a:r>
            <a:endParaRPr/>
          </a:p>
        </p:txBody>
      </p:sp>
      <p:sp>
        <p:nvSpPr>
          <p:cNvPr id="3" name="Holder 3"/>
          <p:cNvSpPr>
            <a:spLocks noGrp="1"/>
          </p:cNvSpPr>
          <p:nvPr>
            <p:ph type="body" idx="1"/>
          </p:nvPr>
        </p:nvSpPr>
        <p:spPr>
          <a:xfrm>
            <a:off x="496076" y="1219201"/>
            <a:ext cx="2622936" cy="149309"/>
          </a:xfrm>
          <a:prstGeom prst="rect">
            <a:avLst/>
          </a:prstGeom>
        </p:spPr>
        <p:txBody>
          <a:bodyPr lIns="0" tIns="0" rIns="0" bIns="0" anchor="t"/>
          <a:lstStyle>
            <a:lvl1pPr algn="l">
              <a:lnSpc>
                <a:spcPct val="100000"/>
              </a:lnSpc>
              <a:spcBef>
                <a:spcPts val="728"/>
              </a:spcBef>
              <a:defRPr lang="en-US" sz="970" b="0">
                <a:solidFill>
                  <a:srgbClr val="212121"/>
                </a:solidFill>
                <a:latin typeface="Inter" panose="02000503000000020004" pitchFamily="2" charset="0"/>
                <a:cs typeface="Arial" panose="020B0604020202020204" pitchFamily="34" charset="0"/>
              </a:defRPr>
            </a:lvl1pPr>
          </a:lstStyle>
          <a:p>
            <a:pPr lvl="0"/>
            <a:r>
              <a:rPr lang="en-US"/>
              <a:t>Click to edit Master text styles</a:t>
            </a:r>
          </a:p>
        </p:txBody>
      </p:sp>
      <p:sp>
        <p:nvSpPr>
          <p:cNvPr id="11" name="object 4">
            <a:extLst>
              <a:ext uri="{FF2B5EF4-FFF2-40B4-BE49-F238E27FC236}">
                <a16:creationId xmlns:a16="http://schemas.microsoft.com/office/drawing/2014/main" id="{2147EC7E-B00F-0BDE-CC52-275162BBFB8A}"/>
              </a:ext>
            </a:extLst>
          </p:cNvPr>
          <p:cNvSpPr/>
          <p:nvPr userDrawn="1"/>
        </p:nvSpPr>
        <p:spPr>
          <a:xfrm>
            <a:off x="3314701" y="0"/>
            <a:ext cx="8877517" cy="6410170"/>
          </a:xfrm>
          <a:custGeom>
            <a:avLst/>
            <a:gdLst/>
            <a:ahLst/>
            <a:cxnLst/>
            <a:rect l="l" t="t" r="r" b="b"/>
            <a:pathLst>
              <a:path w="14638655" h="10554970">
                <a:moveTo>
                  <a:pt x="14638297" y="0"/>
                </a:moveTo>
                <a:lnTo>
                  <a:pt x="0" y="0"/>
                </a:lnTo>
                <a:lnTo>
                  <a:pt x="0" y="10554652"/>
                </a:lnTo>
                <a:lnTo>
                  <a:pt x="14638297" y="10554652"/>
                </a:lnTo>
                <a:lnTo>
                  <a:pt x="14638297" y="0"/>
                </a:lnTo>
                <a:close/>
              </a:path>
            </a:pathLst>
          </a:custGeom>
          <a:solidFill>
            <a:srgbClr val="E3E3E3"/>
          </a:solidFill>
          <a:ln>
            <a:noFill/>
          </a:ln>
        </p:spPr>
        <p:txBody>
          <a:bodyPr wrap="square" lIns="0" tIns="0" rIns="0" bIns="0" rtlCol="0"/>
          <a:lstStyle/>
          <a:p>
            <a:endParaRPr sz="1800" dirty="0"/>
          </a:p>
        </p:txBody>
      </p:sp>
      <p:sp>
        <p:nvSpPr>
          <p:cNvPr id="18" name="Slide Number Placeholder 5">
            <a:extLst>
              <a:ext uri="{FF2B5EF4-FFF2-40B4-BE49-F238E27FC236}">
                <a16:creationId xmlns:a16="http://schemas.microsoft.com/office/drawing/2014/main" id="{CA64F7AF-68F6-BA14-1B39-9AC8CD6A735F}"/>
              </a:ext>
            </a:extLst>
          </p:cNvPr>
          <p:cNvSpPr>
            <a:spLocks noGrp="1"/>
          </p:cNvSpPr>
          <p:nvPr>
            <p:ph type="sldNum" sz="quarter" idx="4"/>
          </p:nvPr>
        </p:nvSpPr>
        <p:spPr>
          <a:xfrm>
            <a:off x="11031539" y="6513067"/>
            <a:ext cx="666621" cy="107722"/>
          </a:xfrm>
          <a:prstGeom prst="rect">
            <a:avLst/>
          </a:prstGeom>
        </p:spPr>
        <p:txBody>
          <a:bodyPr vert="horz" wrap="square" lIns="0" tIns="0" rIns="0" bIns="0" rtlCol="0" anchor="b">
            <a:spAutoFit/>
          </a:bodyPr>
          <a:lstStyle>
            <a:lvl1pPr algn="r">
              <a:defRPr sz="700" b="0">
                <a:solidFill>
                  <a:srgbClr val="000000"/>
                </a:solidFill>
                <a:latin typeface="Inter" panose="02000503000000020004" pitchFamily="2" charset="0"/>
                <a:cs typeface="Arial" panose="020B0604020202020204" pitchFamily="34" charset="0"/>
              </a:defRPr>
            </a:lvl1pPr>
          </a:lstStyle>
          <a:p>
            <a:fld id="{14719505-AD43-774F-936C-A3AE71DD4EEA}" type="slidenum">
              <a:rPr lang="en-GB" smtClean="0"/>
              <a:pPr/>
              <a:t>‹#›</a:t>
            </a:fld>
            <a:endParaRPr lang="en-GB" dirty="0"/>
          </a:p>
        </p:txBody>
      </p:sp>
    </p:spTree>
    <p:extLst>
      <p:ext uri="{BB962C8B-B14F-4D97-AF65-F5344CB8AC3E}">
        <p14:creationId xmlns:p14="http://schemas.microsoft.com/office/powerpoint/2010/main" val="326124855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5397866"/>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705" r:id="rId3"/>
    <p:sldLayoutId id="2147483706" r:id="rId4"/>
    <p:sldLayoutId id="2147483654" r:id="rId5"/>
    <p:sldLayoutId id="2147483650" r:id="rId6"/>
    <p:sldLayoutId id="2147483668" r:id="rId7"/>
    <p:sldLayoutId id="2147483664" r:id="rId8"/>
    <p:sldLayoutId id="2147483669" r:id="rId9"/>
    <p:sldLayoutId id="2147483739" r:id="rId10"/>
    <p:sldLayoutId id="2147483731" r:id="rId11"/>
    <p:sldLayoutId id="2147483740" r:id="rId12"/>
    <p:sldLayoutId id="2147483667" r:id="rId13"/>
    <p:sldLayoutId id="2147483738" r:id="rId14"/>
    <p:sldLayoutId id="2147483665" r:id="rId15"/>
    <p:sldLayoutId id="2147483741" r:id="rId16"/>
    <p:sldLayoutId id="2147483666" r:id="rId17"/>
    <p:sldLayoutId id="2147483672" r:id="rId18"/>
    <p:sldLayoutId id="2147483673" r:id="rId19"/>
    <p:sldLayoutId id="2147483674" r:id="rId20"/>
    <p:sldLayoutId id="2147483743" r:id="rId21"/>
    <p:sldLayoutId id="2147483675" r:id="rId22"/>
    <p:sldLayoutId id="2147483676" r:id="rId23"/>
    <p:sldLayoutId id="2147483677" r:id="rId24"/>
    <p:sldLayoutId id="2147483651" r:id="rId25"/>
    <p:sldLayoutId id="2147483715" r:id="rId26"/>
    <p:sldLayoutId id="2147483719" r:id="rId27"/>
    <p:sldLayoutId id="2147483742" r:id="rId28"/>
    <p:sldLayoutId id="2147483701" r:id="rId29"/>
    <p:sldLayoutId id="2147483720" r:id="rId30"/>
    <p:sldLayoutId id="2147483684" r:id="rId31"/>
    <p:sldLayoutId id="2147483685" r:id="rId32"/>
    <p:sldLayoutId id="2147483686" r:id="rId33"/>
    <p:sldLayoutId id="2147483689" r:id="rId34"/>
    <p:sldLayoutId id="2147483687" r:id="rId35"/>
    <p:sldLayoutId id="2147483732" r:id="rId36"/>
    <p:sldLayoutId id="2147483692" r:id="rId37"/>
    <p:sldLayoutId id="2147483726" r:id="rId38"/>
    <p:sldLayoutId id="2147483695" r:id="rId39"/>
    <p:sldLayoutId id="2147483723" r:id="rId40"/>
    <p:sldLayoutId id="2147483697" r:id="rId41"/>
    <p:sldLayoutId id="2147483724" r:id="rId42"/>
    <p:sldLayoutId id="2147483733" r:id="rId43"/>
    <p:sldLayoutId id="2147483734" r:id="rId44"/>
    <p:sldLayoutId id="2147483699" r:id="rId45"/>
    <p:sldLayoutId id="2147483725" r:id="rId46"/>
    <p:sldLayoutId id="2147483744" r:id="rId47"/>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264" userDrawn="1">
          <p15:clr>
            <a:srgbClr val="F26B43"/>
          </p15:clr>
        </p15:guide>
        <p15:guide id="3" pos="74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6.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dirty="0"/>
              <a:t>TITLE 1 SLIDE HEADLINES</a:t>
            </a:r>
            <a:br>
              <a:rPr lang="en-US" dirty="0"/>
            </a:br>
            <a:r>
              <a:rPr lang="en-US" dirty="0"/>
              <a:t>MAY BE 2 LINES</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a:lstStyle/>
          <a:p>
            <a:r>
              <a:rPr lang="en-US" dirty="0"/>
              <a:t>Optional subtitle </a:t>
            </a:r>
          </a:p>
          <a:p>
            <a:r>
              <a:rPr lang="en-US" dirty="0"/>
              <a:t>Optional presenter name</a:t>
            </a:r>
          </a:p>
          <a:p>
            <a:r>
              <a:rPr lang="en-US" dirty="0"/>
              <a:t>Date</a:t>
            </a:r>
          </a:p>
        </p:txBody>
      </p:sp>
      <p:pic>
        <p:nvPicPr>
          <p:cNvPr id="2" name="Picture 1" descr="Background pattern&#10;&#10;Description automatically generated">
            <a:extLst>
              <a:ext uri="{FF2B5EF4-FFF2-40B4-BE49-F238E27FC236}">
                <a16:creationId xmlns:a16="http://schemas.microsoft.com/office/drawing/2014/main" id="{3F0FE085-2F2C-A2F5-98E3-7A13E131B61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30144"/>
            <a:ext cx="12192000" cy="6858000"/>
          </a:xfrm>
          <a:prstGeom prst="rect">
            <a:avLst/>
          </a:prstGeom>
        </p:spPr>
      </p:pic>
      <p:sp>
        <p:nvSpPr>
          <p:cNvPr id="7" name="Title 1">
            <a:extLst>
              <a:ext uri="{FF2B5EF4-FFF2-40B4-BE49-F238E27FC236}">
                <a16:creationId xmlns:a16="http://schemas.microsoft.com/office/drawing/2014/main" id="{FB6C3F65-CD8A-D217-D185-DDCE657F11EC}"/>
              </a:ext>
            </a:extLst>
          </p:cNvPr>
          <p:cNvSpPr txBox="1">
            <a:spLocks/>
          </p:cNvSpPr>
          <p:nvPr/>
        </p:nvSpPr>
        <p:spPr>
          <a:xfrm>
            <a:off x="419100" y="2378075"/>
            <a:ext cx="10706100" cy="1965325"/>
          </a:xfrm>
          <a:prstGeom prst="rect">
            <a:avLst/>
          </a:prstGeom>
        </p:spPr>
        <p:txBody>
          <a:bodyPr vert="horz" lIns="0" tIns="0" rIns="0" bIns="0" rtlCol="0" anchor="t" anchorCtr="0">
            <a:noAutofit/>
          </a:bodyPr>
          <a:lstStyle>
            <a:lvl1pPr algn="l" defTabSz="914400" rtl="0" eaLnBrk="1" latinLnBrk="0" hangingPunct="1">
              <a:lnSpc>
                <a:spcPct val="85000"/>
              </a:lnSpc>
              <a:spcBef>
                <a:spcPct val="0"/>
              </a:spcBef>
              <a:buNone/>
              <a:defRPr sz="7200" kern="1200">
                <a:solidFill>
                  <a:schemeClr val="tx1"/>
                </a:solidFill>
                <a:latin typeface="Impact" panose="020B0806030902050204" pitchFamily="34" charset="0"/>
                <a:ea typeface="+mj-ea"/>
                <a:cs typeface="+mj-cs"/>
              </a:defRPr>
            </a:lvl1pPr>
          </a:lstStyle>
          <a:p>
            <a:pPr>
              <a:lnSpc>
                <a:spcPts val="6500"/>
              </a:lnSpc>
            </a:pPr>
            <a:r>
              <a:rPr lang="en-US" dirty="0">
                <a:latin typeface="Sons Condensed Extrabold" panose="02060906060206060203" pitchFamily="18" charset="0"/>
              </a:rPr>
              <a:t>Services Risk  Ranking </a:t>
            </a:r>
          </a:p>
          <a:p>
            <a:pPr>
              <a:lnSpc>
                <a:spcPts val="6500"/>
              </a:lnSpc>
            </a:pPr>
            <a:r>
              <a:rPr lang="en-US" sz="1800" dirty="0">
                <a:latin typeface="+mn-lt"/>
              </a:rPr>
              <a:t>Q1 2026 OFS Risk Ranking: Active &amp; Proactive Focus</a:t>
            </a:r>
            <a:endParaRPr lang="en-US" dirty="0">
              <a:latin typeface="Sons Condensed Extrabold" panose="02060906060206060203" pitchFamily="18" charset="0"/>
            </a:endParaRPr>
          </a:p>
        </p:txBody>
      </p:sp>
      <p:pic>
        <p:nvPicPr>
          <p:cNvPr id="9" name="Picture 8" descr="Text&#10;&#10;Description automatically generated">
            <a:extLst>
              <a:ext uri="{FF2B5EF4-FFF2-40B4-BE49-F238E27FC236}">
                <a16:creationId xmlns:a16="http://schemas.microsoft.com/office/drawing/2014/main" id="{F4C2C4FE-08CE-3FB5-80E0-846517BCFC73}"/>
              </a:ext>
            </a:extLst>
          </p:cNvPr>
          <p:cNvPicPr>
            <a:picLocks noChangeAspect="1"/>
          </p:cNvPicPr>
          <p:nvPr/>
        </p:nvPicPr>
        <p:blipFill>
          <a:blip r:embed="rId3"/>
          <a:stretch>
            <a:fillRect/>
          </a:stretch>
        </p:blipFill>
        <p:spPr>
          <a:xfrm>
            <a:off x="259641" y="272267"/>
            <a:ext cx="2606040" cy="814067"/>
          </a:xfrm>
          <a:prstGeom prst="rect">
            <a:avLst/>
          </a:prstGeom>
        </p:spPr>
      </p:pic>
      <p:sp>
        <p:nvSpPr>
          <p:cNvPr id="5" name="Footer Placeholder 1">
            <a:extLst>
              <a:ext uri="{FF2B5EF4-FFF2-40B4-BE49-F238E27FC236}">
                <a16:creationId xmlns:a16="http://schemas.microsoft.com/office/drawing/2014/main" id="{AE160300-E5DA-6D0F-65E2-18DA41C35C03}"/>
              </a:ext>
            </a:extLst>
          </p:cNvPr>
          <p:cNvSpPr>
            <a:spLocks noGrp="1"/>
          </p:cNvSpPr>
          <p:nvPr>
            <p:ph type="ftr" sz="quarter" idx="11"/>
          </p:nvPr>
        </p:nvSpPr>
        <p:spPr/>
        <p:txBody>
          <a:bodyPr/>
          <a:lstStyle/>
          <a:p>
            <a:r>
              <a:rPr lang="en-US" dirty="0"/>
              <a:t>© 2024 GE Vernova and/or its affiliates. All rights reserved.</a:t>
            </a:r>
          </a:p>
        </p:txBody>
      </p:sp>
    </p:spTree>
    <p:extLst>
      <p:ext uri="{BB962C8B-B14F-4D97-AF65-F5344CB8AC3E}">
        <p14:creationId xmlns:p14="http://schemas.microsoft.com/office/powerpoint/2010/main" val="1587612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15">
            <a:extLst>
              <a:ext uri="{FF2B5EF4-FFF2-40B4-BE49-F238E27FC236}">
                <a16:creationId xmlns:a16="http://schemas.microsoft.com/office/drawing/2014/main" id="{1DDC1C9A-2D5E-61CC-8D37-D3758746096E}"/>
              </a:ext>
            </a:extLst>
          </p:cNvPr>
          <p:cNvSpPr>
            <a:spLocks noGrp="1"/>
          </p:cNvSpPr>
          <p:nvPr>
            <p:ph type="ftr" sz="quarter" idx="11"/>
          </p:nvPr>
        </p:nvSpPr>
        <p:spPr>
          <a:xfrm>
            <a:off x="419100" y="6492875"/>
            <a:ext cx="10248900" cy="244653"/>
          </a:xfrm>
        </p:spPr>
        <p:txBody>
          <a:bodyPr anchor="t">
            <a:normAutofit/>
          </a:bodyPr>
          <a:lstStyle/>
          <a:p>
            <a:pPr>
              <a:spcAft>
                <a:spcPts val="600"/>
              </a:spcAft>
            </a:pPr>
            <a:r>
              <a:rPr lang="en-US" dirty="0"/>
              <a:t>© 2024 GE Vernova and/or its affiliates. All rights reserved.</a:t>
            </a:r>
          </a:p>
        </p:txBody>
      </p:sp>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a:xfrm>
            <a:off x="11222182" y="6492875"/>
            <a:ext cx="550718" cy="365125"/>
          </a:xfrm>
        </p:spPr>
        <p:txBody>
          <a:bodyPr anchor="t">
            <a:normAutofit/>
          </a:bodyPr>
          <a:lstStyle/>
          <a:p>
            <a:pPr>
              <a:spcAft>
                <a:spcPts val="600"/>
              </a:spcAft>
            </a:pPr>
            <a:fld id="{7A7A97EF-C944-4447-B862-B593E9B4A0FF}" type="slidenum">
              <a:rPr lang="en-US" smtClean="0"/>
              <a:pPr>
                <a:spcAft>
                  <a:spcPts val="600"/>
                </a:spcAft>
              </a:pPr>
              <a:t>2</a:t>
            </a:fld>
            <a:endParaRPr lang="en-US"/>
          </a:p>
        </p:txBody>
      </p:sp>
      <p:sp>
        <p:nvSpPr>
          <p:cNvPr id="5" name="object 5"/>
          <p:cNvSpPr txBox="1">
            <a:spLocks noGrp="1"/>
          </p:cNvSpPr>
          <p:nvPr>
            <p:ph type="title"/>
          </p:nvPr>
        </p:nvSpPr>
        <p:spPr>
          <a:xfrm>
            <a:off x="419100" y="419101"/>
            <a:ext cx="9777323" cy="457020"/>
          </a:xfrm>
        </p:spPr>
        <p:txBody>
          <a:bodyPr anchor="t">
            <a:normAutofit fontScale="90000"/>
          </a:bodyPr>
          <a:lstStyle/>
          <a:p>
            <a:r>
              <a:rPr lang="en-US" dirty="0"/>
              <a:t>Risk Ranking Process: Data Collection</a:t>
            </a:r>
            <a:br>
              <a:rPr kumimoji="0" lang="en-US" altLang="en-US" i="0" u="none" strike="noStrike" cap="none" normalizeH="0" baseline="0" dirty="0">
                <a:ln>
                  <a:noFill/>
                </a:ln>
                <a:effectLst/>
              </a:rPr>
            </a:br>
            <a:endParaRPr lang="en-US" dirty="0"/>
          </a:p>
        </p:txBody>
      </p:sp>
      <p:pic>
        <p:nvPicPr>
          <p:cNvPr id="23" name="Picture 22">
            <a:extLst>
              <a:ext uri="{FF2B5EF4-FFF2-40B4-BE49-F238E27FC236}">
                <a16:creationId xmlns:a16="http://schemas.microsoft.com/office/drawing/2014/main" id="{B3B25999-1B37-1DCA-3C69-F328878E3A86}"/>
              </a:ext>
            </a:extLst>
          </p:cNvPr>
          <p:cNvPicPr>
            <a:picLocks noChangeAspect="1"/>
          </p:cNvPicPr>
          <p:nvPr/>
        </p:nvPicPr>
        <p:blipFill rotWithShape="1">
          <a:blip r:embed="rId3"/>
          <a:srcRect t="6756" r="-3" b="4140"/>
          <a:stretch/>
        </p:blipFill>
        <p:spPr>
          <a:xfrm>
            <a:off x="7868050" y="897668"/>
            <a:ext cx="3639381" cy="3242716"/>
          </a:xfrm>
          <a:prstGeom prst="rect">
            <a:avLst/>
          </a:prstGeom>
          <a:noFill/>
        </p:spPr>
      </p:pic>
      <p:sp>
        <p:nvSpPr>
          <p:cNvPr id="6" name="TextBox 5">
            <a:extLst>
              <a:ext uri="{FF2B5EF4-FFF2-40B4-BE49-F238E27FC236}">
                <a16:creationId xmlns:a16="http://schemas.microsoft.com/office/drawing/2014/main" id="{8D0C9579-7A76-8AB3-E4C0-3693CC225AB5}"/>
              </a:ext>
            </a:extLst>
          </p:cNvPr>
          <p:cNvSpPr txBox="1"/>
          <p:nvPr/>
        </p:nvSpPr>
        <p:spPr>
          <a:xfrm>
            <a:off x="159313" y="1543917"/>
            <a:ext cx="5862135" cy="4001095"/>
          </a:xfrm>
          <a:prstGeom prst="rect">
            <a:avLst/>
          </a:prstGeom>
          <a:noFill/>
        </p:spPr>
        <p:txBody>
          <a:bodyPr wrap="square">
            <a:spAutoFit/>
          </a:bodyPr>
          <a:lstStyle/>
          <a:p>
            <a:pPr marL="285750" marR="0" lvl="0" indent="-28575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lang="en-US" altLang="en-US" sz="1800" dirty="0"/>
              <a:t>Review of Hazard Categories (Source: Gensuite )</a:t>
            </a:r>
          </a:p>
          <a:p>
            <a:pPr marL="285750" marR="0" lvl="0" indent="-28575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lang="en-US" altLang="en-US" sz="1800" dirty="0"/>
              <a:t>Specific Period (</a:t>
            </a:r>
            <a:r>
              <a:rPr lang="en-US" altLang="en-US" dirty="0"/>
              <a:t>Jan</a:t>
            </a:r>
            <a:r>
              <a:rPr lang="en-US" altLang="en-US" sz="1800" dirty="0"/>
              <a:t> 2026 to </a:t>
            </a:r>
            <a:r>
              <a:rPr lang="en-US" altLang="en-US" dirty="0"/>
              <a:t>Mar</a:t>
            </a:r>
            <a:r>
              <a:rPr lang="en-US" altLang="en-US" sz="1800" dirty="0"/>
              <a:t> 2026)</a:t>
            </a:r>
          </a:p>
          <a:p>
            <a:pPr marL="285750" marR="0" lvl="0" indent="-28575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lang="en-US" altLang="en-US" dirty="0"/>
              <a:t>Data include: </a:t>
            </a:r>
          </a:p>
          <a:p>
            <a:pPr marL="742950" lvl="1" indent="-285750" eaLnBrk="0" fontAlgn="base" hangingPunct="0">
              <a:spcBef>
                <a:spcPct val="0"/>
              </a:spcBef>
              <a:spcAft>
                <a:spcPts val="600"/>
              </a:spcAft>
              <a:buFont typeface="Wingdings" panose="05000000000000000000" pitchFamily="2" charset="2"/>
              <a:buChar char="q"/>
            </a:pPr>
            <a:r>
              <a:rPr lang="en-US" altLang="en-US" sz="1600" dirty="0"/>
              <a:t>I&amp;I including levels A,B,C and D</a:t>
            </a:r>
          </a:p>
          <a:p>
            <a:pPr marL="742950" lvl="1" indent="-285750" eaLnBrk="0" fontAlgn="base" hangingPunct="0">
              <a:spcBef>
                <a:spcPct val="0"/>
              </a:spcBef>
              <a:spcAft>
                <a:spcPts val="600"/>
              </a:spcAft>
              <a:buFont typeface="Wingdings" panose="05000000000000000000" pitchFamily="2" charset="2"/>
              <a:buChar char="q"/>
            </a:pPr>
            <a:r>
              <a:rPr lang="en-US" altLang="en-US" sz="1600" dirty="0"/>
              <a:t>PSE and Near Misses </a:t>
            </a:r>
            <a:endParaRPr lang="en-US" altLang="en-US" dirty="0"/>
          </a:p>
          <a:p>
            <a:pPr marL="742950" lvl="1" indent="-285750" eaLnBrk="0" fontAlgn="base" hangingPunct="0">
              <a:spcBef>
                <a:spcPct val="0"/>
              </a:spcBef>
              <a:spcAft>
                <a:spcPts val="600"/>
              </a:spcAft>
              <a:buFont typeface="Wingdings" panose="05000000000000000000" pitchFamily="2" charset="2"/>
              <a:buChar char="q"/>
            </a:pPr>
            <a:r>
              <a:rPr lang="en-US" altLang="en-US" sz="1600" dirty="0"/>
              <a:t>Concern Reports (Negative / Positive/ Stop Work/ Escalated to ATS)</a:t>
            </a:r>
          </a:p>
          <a:p>
            <a:pPr marL="742950" lvl="1" indent="-285750" eaLnBrk="0" fontAlgn="base" hangingPunct="0">
              <a:spcBef>
                <a:spcPct val="0"/>
              </a:spcBef>
              <a:spcAft>
                <a:spcPts val="600"/>
              </a:spcAft>
              <a:buFont typeface="Wingdings" panose="05000000000000000000" pitchFamily="2" charset="2"/>
              <a:buChar char="q"/>
            </a:pPr>
            <a:r>
              <a:rPr lang="en-US" altLang="en-US" sz="1600" dirty="0"/>
              <a:t>Action Tracking System</a:t>
            </a:r>
          </a:p>
          <a:p>
            <a:pPr marL="742950" lvl="1" indent="-285750" eaLnBrk="0" fontAlgn="base" hangingPunct="0">
              <a:spcBef>
                <a:spcPct val="0"/>
              </a:spcBef>
              <a:spcAft>
                <a:spcPts val="600"/>
              </a:spcAft>
              <a:buFont typeface="Wingdings" panose="05000000000000000000" pitchFamily="2" charset="2"/>
              <a:buChar char="q"/>
            </a:pPr>
            <a:r>
              <a:rPr lang="en-US" altLang="en-US" sz="1600" dirty="0"/>
              <a:t>Near Miss</a:t>
            </a:r>
          </a:p>
          <a:p>
            <a:pPr marL="742950" lvl="1" indent="-285750" eaLnBrk="0" fontAlgn="base" hangingPunct="0">
              <a:spcBef>
                <a:spcPct val="0"/>
              </a:spcBef>
              <a:spcAft>
                <a:spcPts val="600"/>
              </a:spcAft>
              <a:buFont typeface="Wingdings" panose="05000000000000000000" pitchFamily="2" charset="2"/>
              <a:buChar char="q"/>
            </a:pPr>
            <a:r>
              <a:rPr lang="en-US" altLang="en-US" sz="1600" dirty="0"/>
              <a:t>Potentially Sever Events   </a:t>
            </a:r>
          </a:p>
          <a:p>
            <a:pPr lvl="1" eaLnBrk="0" fontAlgn="base" hangingPunct="0">
              <a:spcBef>
                <a:spcPct val="0"/>
              </a:spcBef>
              <a:spcAft>
                <a:spcPts val="600"/>
              </a:spcAft>
            </a:pPr>
            <a:endParaRPr lang="en-US" altLang="en-US" sz="1600" dirty="0"/>
          </a:p>
        </p:txBody>
      </p:sp>
      <p:pic>
        <p:nvPicPr>
          <p:cNvPr id="2" name="Picture 1">
            <a:extLst>
              <a:ext uri="{FF2B5EF4-FFF2-40B4-BE49-F238E27FC236}">
                <a16:creationId xmlns:a16="http://schemas.microsoft.com/office/drawing/2014/main" id="{19CBDD98-6CD7-A3ED-E8A8-26BDF685F10D}"/>
              </a:ext>
            </a:extLst>
          </p:cNvPr>
          <p:cNvPicPr>
            <a:picLocks noChangeAspect="1"/>
          </p:cNvPicPr>
          <p:nvPr/>
        </p:nvPicPr>
        <p:blipFill>
          <a:blip r:embed="rId4"/>
          <a:stretch>
            <a:fillRect/>
          </a:stretch>
        </p:blipFill>
        <p:spPr>
          <a:xfrm>
            <a:off x="7868050" y="4272206"/>
            <a:ext cx="3693205" cy="2465322"/>
          </a:xfrm>
          <a:prstGeom prst="rect">
            <a:avLst/>
          </a:prstGeom>
        </p:spPr>
      </p:pic>
    </p:spTree>
    <p:extLst>
      <p:ext uri="{BB962C8B-B14F-4D97-AF65-F5344CB8AC3E}">
        <p14:creationId xmlns:p14="http://schemas.microsoft.com/office/powerpoint/2010/main" val="2252071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9013AC8-D145-87D9-74D0-81BEB2010616}"/>
              </a:ext>
            </a:extLst>
          </p:cNvPr>
          <p:cNvSpPr>
            <a:spLocks noGrp="1"/>
          </p:cNvSpPr>
          <p:nvPr>
            <p:ph type="ftr" sz="quarter" idx="11"/>
          </p:nvPr>
        </p:nvSpPr>
        <p:spPr/>
        <p:txBody>
          <a:bodyPr/>
          <a:lstStyle/>
          <a:p>
            <a:r>
              <a:rPr lang="en-US" dirty="0"/>
              <a:t>© 2024 GE Vernova and/or its affiliates. All rights reserved.</a:t>
            </a:r>
          </a:p>
        </p:txBody>
      </p:sp>
      <p:sp>
        <p:nvSpPr>
          <p:cNvPr id="3" name="Slide Number Placeholder 2">
            <a:extLst>
              <a:ext uri="{FF2B5EF4-FFF2-40B4-BE49-F238E27FC236}">
                <a16:creationId xmlns:a16="http://schemas.microsoft.com/office/drawing/2014/main" id="{68E8612E-5AFF-ADB1-8D31-18EAFD3EB4AF}"/>
              </a:ext>
            </a:extLst>
          </p:cNvPr>
          <p:cNvSpPr>
            <a:spLocks noGrp="1"/>
          </p:cNvSpPr>
          <p:nvPr>
            <p:ph type="sldNum" sz="quarter" idx="12"/>
          </p:nvPr>
        </p:nvSpPr>
        <p:spPr/>
        <p:txBody>
          <a:bodyPr/>
          <a:lstStyle/>
          <a:p>
            <a:fld id="{7A7A97EF-C944-4447-B862-B593E9B4A0FF}" type="slidenum">
              <a:rPr lang="en-US" smtClean="0"/>
              <a:t>3</a:t>
            </a:fld>
            <a:endParaRPr lang="en-US" dirty="0"/>
          </a:p>
        </p:txBody>
      </p:sp>
      <p:sp>
        <p:nvSpPr>
          <p:cNvPr id="4" name="Title 3">
            <a:extLst>
              <a:ext uri="{FF2B5EF4-FFF2-40B4-BE49-F238E27FC236}">
                <a16:creationId xmlns:a16="http://schemas.microsoft.com/office/drawing/2014/main" id="{92AAEF95-862A-56A4-B03A-B47AB01E66BD}"/>
              </a:ext>
            </a:extLst>
          </p:cNvPr>
          <p:cNvSpPr>
            <a:spLocks noGrp="1"/>
          </p:cNvSpPr>
          <p:nvPr>
            <p:ph type="title"/>
          </p:nvPr>
        </p:nvSpPr>
        <p:spPr/>
        <p:txBody>
          <a:bodyPr/>
          <a:lstStyle/>
          <a:p>
            <a:r>
              <a:rPr lang="en-US" dirty="0"/>
              <a:t>Risk Ranking and Strategy </a:t>
            </a:r>
          </a:p>
        </p:txBody>
      </p:sp>
      <p:sp>
        <p:nvSpPr>
          <p:cNvPr id="8" name="TextBox 7">
            <a:extLst>
              <a:ext uri="{FF2B5EF4-FFF2-40B4-BE49-F238E27FC236}">
                <a16:creationId xmlns:a16="http://schemas.microsoft.com/office/drawing/2014/main" id="{6FC44CE7-3F80-F6A4-A8E3-AB06A4CA0E6F}"/>
              </a:ext>
            </a:extLst>
          </p:cNvPr>
          <p:cNvSpPr txBox="1"/>
          <p:nvPr/>
        </p:nvSpPr>
        <p:spPr>
          <a:xfrm>
            <a:off x="419100" y="1413989"/>
            <a:ext cx="6094324" cy="352404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600"/>
              </a:spcAft>
              <a:buClrTx/>
              <a:buSzTx/>
              <a:buFontTx/>
              <a:buNone/>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Strategic action Refer to the Risk management procedure TRA Tab (Q)</a:t>
            </a:r>
          </a:p>
          <a:p>
            <a:pPr marL="0" marR="0" lvl="0" indent="0" algn="l" defTabSz="914400" rtl="0" eaLnBrk="0" fontAlgn="base" latinLnBrk="0" hangingPunct="0">
              <a:lnSpc>
                <a:spcPct val="100000"/>
              </a:lnSpc>
              <a:spcBef>
                <a:spcPct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Inter"/>
              <a:ea typeface="+mn-ea"/>
              <a:cs typeface="+mn-cs"/>
            </a:endParaRP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 If the risk ranking </a:t>
            </a:r>
            <a:r>
              <a:rPr kumimoji="0" lang="en-US" sz="1800" b="0" i="0" u="none" strike="noStrike" kern="1200" cap="none" spc="0" normalizeH="0" baseline="0" noProof="0" dirty="0">
                <a:ln>
                  <a:noFill/>
                </a:ln>
                <a:solidFill>
                  <a:srgbClr val="0070C0"/>
                </a:solidFill>
                <a:effectLst/>
                <a:uLnTx/>
                <a:uFillTx/>
                <a:latin typeface="Inter"/>
                <a:ea typeface="+mn-ea"/>
                <a:cs typeface="+mn-cs"/>
              </a:rPr>
              <a:t>&gt;5 </a:t>
            </a:r>
            <a:r>
              <a:rPr kumimoji="0" lang="en-US" sz="1800" b="0" i="0" u="none" strike="noStrike" kern="1200" cap="none" spc="0" normalizeH="0" baseline="0" noProof="0" dirty="0">
                <a:ln>
                  <a:noFill/>
                </a:ln>
                <a:solidFill>
                  <a:srgbClr val="005E60"/>
                </a:solidFill>
                <a:effectLst/>
                <a:uLnTx/>
                <a:uFillTx/>
                <a:latin typeface="Inter"/>
                <a:ea typeface="+mn-ea"/>
                <a:cs typeface="+mn-cs"/>
              </a:rPr>
              <a:t>an intervention strategy required Like:</a:t>
            </a:r>
          </a:p>
          <a:p>
            <a:pPr marL="0" marR="0" lvl="0" indent="0" algn="l" defTabSz="914400" rtl="0" eaLnBrk="0" fontAlgn="base" latinLnBrk="0" hangingPunct="0">
              <a:lnSpc>
                <a:spcPct val="100000"/>
              </a:lnSpc>
              <a:spcBef>
                <a:spcPct val="0"/>
              </a:spcBef>
              <a:spcAft>
                <a:spcPts val="600"/>
              </a:spcAft>
              <a:buClrTx/>
              <a:buSzTx/>
              <a:buFontTx/>
              <a:buNone/>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(Risk Reduction Project required and 3-month action plan developed to reduce risk level.  Input to Strategic Blueprint review)</a:t>
            </a:r>
          </a:p>
          <a:p>
            <a:pPr marL="0" marR="0" lvl="0" indent="0" algn="l" defTabSz="914400" rtl="0" eaLnBrk="0" fontAlgn="base" latinLnBrk="0" hangingPunct="0">
              <a:lnSpc>
                <a:spcPct val="100000"/>
              </a:lnSpc>
              <a:spcBef>
                <a:spcPct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Inter"/>
              <a:ea typeface="+mn-ea"/>
              <a:cs typeface="+mn-cs"/>
            </a:endParaRP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If the risk ranking is </a:t>
            </a:r>
            <a:r>
              <a:rPr kumimoji="0" lang="en-US" sz="1800" b="0" i="0" u="none" strike="noStrike" kern="1200" cap="none" spc="0" normalizeH="0" baseline="0" noProof="0" dirty="0">
                <a:ln>
                  <a:noFill/>
                </a:ln>
                <a:solidFill>
                  <a:srgbClr val="FF1900"/>
                </a:solidFill>
                <a:effectLst/>
                <a:uLnTx/>
                <a:uFillTx/>
                <a:latin typeface="Inter"/>
                <a:ea typeface="+mn-ea"/>
                <a:cs typeface="+mn-cs"/>
              </a:rPr>
              <a:t>4-5</a:t>
            </a:r>
            <a:r>
              <a:rPr kumimoji="0" lang="en-US" sz="1800" b="0" i="0" u="none" strike="noStrike" kern="1200" cap="none" spc="0" normalizeH="0" baseline="0" noProof="0" dirty="0">
                <a:ln>
                  <a:noFill/>
                </a:ln>
                <a:solidFill>
                  <a:srgbClr val="005E60"/>
                </a:solidFill>
                <a:effectLst/>
                <a:uLnTx/>
                <a:uFillTx/>
                <a:latin typeface="Inter"/>
                <a:ea typeface="+mn-ea"/>
                <a:cs typeface="+mn-cs"/>
              </a:rPr>
              <a:t> Control strategy required like (SMART actions developed to reduce risk level)</a:t>
            </a:r>
          </a:p>
        </p:txBody>
      </p:sp>
      <p:graphicFrame>
        <p:nvGraphicFramePr>
          <p:cNvPr id="10" name="Table 9">
            <a:extLst>
              <a:ext uri="{FF2B5EF4-FFF2-40B4-BE49-F238E27FC236}">
                <a16:creationId xmlns:a16="http://schemas.microsoft.com/office/drawing/2014/main" id="{4597E36E-9CFF-B0F7-DC5E-E3C8F58A6405}"/>
              </a:ext>
            </a:extLst>
          </p:cNvPr>
          <p:cNvGraphicFramePr>
            <a:graphicFrameLocks noGrp="1"/>
          </p:cNvGraphicFramePr>
          <p:nvPr>
            <p:extLst>
              <p:ext uri="{D42A27DB-BD31-4B8C-83A1-F6EECF244321}">
                <p14:modId xmlns:p14="http://schemas.microsoft.com/office/powerpoint/2010/main" val="358466703"/>
              </p:ext>
            </p:extLst>
          </p:nvPr>
        </p:nvGraphicFramePr>
        <p:xfrm>
          <a:off x="7358381" y="1940796"/>
          <a:ext cx="3863801" cy="191878"/>
        </p:xfrm>
        <a:graphic>
          <a:graphicData uri="http://schemas.openxmlformats.org/drawingml/2006/table">
            <a:tbl>
              <a:tblPr/>
              <a:tblGrid>
                <a:gridCol w="3863801">
                  <a:extLst>
                    <a:ext uri="{9D8B030D-6E8A-4147-A177-3AD203B41FA5}">
                      <a16:colId xmlns:a16="http://schemas.microsoft.com/office/drawing/2014/main" val="843544732"/>
                    </a:ext>
                  </a:extLst>
                </a:gridCol>
              </a:tblGrid>
              <a:tr h="191878">
                <a:tc>
                  <a:txBody>
                    <a:bodyPr/>
                    <a:lstStyle/>
                    <a:p>
                      <a:pPr algn="ctr" fontAlgn="ctr"/>
                      <a:r>
                        <a:rPr lang="en-US" sz="1200" b="1" i="0" u="none" strike="noStrike" dirty="0">
                          <a:solidFill>
                            <a:srgbClr val="000000"/>
                          </a:solidFill>
                          <a:effectLst/>
                          <a:latin typeface="Calibri" panose="020F0502020204030204" pitchFamily="34" charset="0"/>
                        </a:rPr>
                        <a:t>Risk Rating &amp; Strategy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247481177"/>
                  </a:ext>
                </a:extLst>
              </a:tr>
            </a:tbl>
          </a:graphicData>
        </a:graphic>
      </p:graphicFrame>
      <p:graphicFrame>
        <p:nvGraphicFramePr>
          <p:cNvPr id="11" name="Table 10">
            <a:extLst>
              <a:ext uri="{FF2B5EF4-FFF2-40B4-BE49-F238E27FC236}">
                <a16:creationId xmlns:a16="http://schemas.microsoft.com/office/drawing/2014/main" id="{C1A7B686-D4A8-958C-021D-E1E9286B7E10}"/>
              </a:ext>
            </a:extLst>
          </p:cNvPr>
          <p:cNvGraphicFramePr>
            <a:graphicFrameLocks noGrp="1"/>
          </p:cNvGraphicFramePr>
          <p:nvPr>
            <p:extLst>
              <p:ext uri="{D42A27DB-BD31-4B8C-83A1-F6EECF244321}">
                <p14:modId xmlns:p14="http://schemas.microsoft.com/office/powerpoint/2010/main" val="3104342059"/>
              </p:ext>
            </p:extLst>
          </p:nvPr>
        </p:nvGraphicFramePr>
        <p:xfrm>
          <a:off x="7358380" y="2136178"/>
          <a:ext cx="3863801" cy="789498"/>
        </p:xfrm>
        <a:graphic>
          <a:graphicData uri="http://schemas.openxmlformats.org/drawingml/2006/table">
            <a:tbl>
              <a:tblPr/>
              <a:tblGrid>
                <a:gridCol w="860748">
                  <a:extLst>
                    <a:ext uri="{9D8B030D-6E8A-4147-A177-3AD203B41FA5}">
                      <a16:colId xmlns:a16="http://schemas.microsoft.com/office/drawing/2014/main" val="2455890619"/>
                    </a:ext>
                  </a:extLst>
                </a:gridCol>
                <a:gridCol w="3003053">
                  <a:extLst>
                    <a:ext uri="{9D8B030D-6E8A-4147-A177-3AD203B41FA5}">
                      <a16:colId xmlns:a16="http://schemas.microsoft.com/office/drawing/2014/main" val="144701936"/>
                    </a:ext>
                  </a:extLst>
                </a:gridCol>
              </a:tblGrid>
              <a:tr h="789498">
                <a:tc>
                  <a:txBody>
                    <a:bodyPr/>
                    <a:lstStyle/>
                    <a:p>
                      <a:pPr algn="ctr" fontAlgn="ctr"/>
                      <a:r>
                        <a:rPr lang="en-US" sz="1200" b="1" i="0" u="none" strike="noStrike" dirty="0">
                          <a:solidFill>
                            <a:srgbClr val="FFFFFF"/>
                          </a:solidFill>
                          <a:effectLst/>
                          <a:latin typeface="Calibri" panose="020F0502020204030204" pitchFamily="34" charset="0"/>
                        </a:rPr>
                        <a:t>&gt;5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760"/>
                    </a:solidFill>
                  </a:tcPr>
                </a:tc>
                <a:tc>
                  <a:txBody>
                    <a:bodyPr/>
                    <a:lstStyle/>
                    <a:p>
                      <a:pPr algn="ctr" fontAlgn="ctr"/>
                      <a:r>
                        <a:rPr lang="en-US" sz="1200" b="1" i="0" u="none" strike="noStrike" dirty="0">
                          <a:solidFill>
                            <a:srgbClr val="FFFFFF"/>
                          </a:solidFill>
                          <a:effectLst/>
                          <a:latin typeface="Calibri" panose="020F0502020204030204" pitchFamily="34" charset="0"/>
                        </a:rPr>
                        <a:t>High</a:t>
                      </a:r>
                      <a:br>
                        <a:rPr lang="en-US" sz="1200" b="1" i="0" u="none" strike="noStrike" dirty="0">
                          <a:solidFill>
                            <a:srgbClr val="FFFFFF"/>
                          </a:solidFill>
                          <a:effectLst/>
                          <a:latin typeface="Calibri" panose="020F0502020204030204" pitchFamily="34" charset="0"/>
                        </a:rPr>
                      </a:br>
                      <a:r>
                        <a:rPr lang="en-US" sz="1200" b="1" i="0" u="none" strike="noStrike" dirty="0">
                          <a:solidFill>
                            <a:srgbClr val="FFFFFF"/>
                          </a:solidFill>
                          <a:effectLst/>
                          <a:latin typeface="Calibri" panose="020F0502020204030204" pitchFamily="34" charset="0"/>
                        </a:rPr>
                        <a:t>(Critical Step)*    </a:t>
                      </a:r>
                      <a:br>
                        <a:rPr lang="en-US" sz="1200" b="1" i="0" u="none" strike="noStrike" dirty="0">
                          <a:solidFill>
                            <a:srgbClr val="FFFFFF"/>
                          </a:solidFill>
                          <a:effectLst/>
                          <a:latin typeface="Calibri" panose="020F0502020204030204" pitchFamily="34" charset="0"/>
                        </a:rPr>
                      </a:br>
                      <a:r>
                        <a:rPr lang="en-US" sz="1200" b="1" i="0" u="none" strike="noStrike" dirty="0">
                          <a:solidFill>
                            <a:srgbClr val="FFFFFF"/>
                          </a:solidFill>
                          <a:effectLst/>
                          <a:latin typeface="Calibri" panose="020F0502020204030204" pitchFamily="34" charset="0"/>
                        </a:rPr>
                        <a:t>(Intervention Strategy)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3760"/>
                    </a:solidFill>
                  </a:tcPr>
                </a:tc>
                <a:extLst>
                  <a:ext uri="{0D108BD9-81ED-4DB2-BD59-A6C34878D82A}">
                    <a16:rowId xmlns:a16="http://schemas.microsoft.com/office/drawing/2014/main" val="3518031182"/>
                  </a:ext>
                </a:extLst>
              </a:tr>
            </a:tbl>
          </a:graphicData>
        </a:graphic>
      </p:graphicFrame>
      <p:graphicFrame>
        <p:nvGraphicFramePr>
          <p:cNvPr id="12" name="Table 11">
            <a:extLst>
              <a:ext uri="{FF2B5EF4-FFF2-40B4-BE49-F238E27FC236}">
                <a16:creationId xmlns:a16="http://schemas.microsoft.com/office/drawing/2014/main" id="{10CABE1F-F4EC-5AB6-089B-B00E18A166D8}"/>
              </a:ext>
            </a:extLst>
          </p:cNvPr>
          <p:cNvGraphicFramePr>
            <a:graphicFrameLocks noGrp="1"/>
          </p:cNvGraphicFramePr>
          <p:nvPr>
            <p:extLst>
              <p:ext uri="{D42A27DB-BD31-4B8C-83A1-F6EECF244321}">
                <p14:modId xmlns:p14="http://schemas.microsoft.com/office/powerpoint/2010/main" val="23922057"/>
              </p:ext>
            </p:extLst>
          </p:nvPr>
        </p:nvGraphicFramePr>
        <p:xfrm>
          <a:off x="7358379" y="3715174"/>
          <a:ext cx="3863801" cy="699555"/>
        </p:xfrm>
        <a:graphic>
          <a:graphicData uri="http://schemas.openxmlformats.org/drawingml/2006/table">
            <a:tbl>
              <a:tblPr/>
              <a:tblGrid>
                <a:gridCol w="860748">
                  <a:extLst>
                    <a:ext uri="{9D8B030D-6E8A-4147-A177-3AD203B41FA5}">
                      <a16:colId xmlns:a16="http://schemas.microsoft.com/office/drawing/2014/main" val="3593489780"/>
                    </a:ext>
                  </a:extLst>
                </a:gridCol>
                <a:gridCol w="3003053">
                  <a:extLst>
                    <a:ext uri="{9D8B030D-6E8A-4147-A177-3AD203B41FA5}">
                      <a16:colId xmlns:a16="http://schemas.microsoft.com/office/drawing/2014/main" val="2061101796"/>
                    </a:ext>
                  </a:extLst>
                </a:gridCol>
              </a:tblGrid>
              <a:tr h="699555">
                <a:tc>
                  <a:txBody>
                    <a:bodyPr/>
                    <a:lstStyle/>
                    <a:p>
                      <a:pPr algn="ctr" fontAlgn="ctr"/>
                      <a:r>
                        <a:rPr lang="en-US" sz="1200" b="1" i="0" u="none" strike="noStrike" dirty="0">
                          <a:solidFill>
                            <a:srgbClr val="FFFFFF"/>
                          </a:solidFill>
                          <a:effectLst/>
                          <a:latin typeface="Calibri" panose="020F050202020403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200" b="1" i="0" u="none" strike="noStrike" dirty="0">
                          <a:solidFill>
                            <a:srgbClr val="FFFFFF"/>
                          </a:solidFill>
                          <a:effectLst/>
                          <a:latin typeface="Calibri" panose="020F0502020204030204" pitchFamily="34" charset="0"/>
                        </a:rPr>
                        <a:t>Low                      </a:t>
                      </a:r>
                      <a:br>
                        <a:rPr lang="en-US" sz="1200" b="1" i="0" u="none" strike="noStrike" dirty="0">
                          <a:solidFill>
                            <a:srgbClr val="FFFFFF"/>
                          </a:solidFill>
                          <a:effectLst/>
                          <a:latin typeface="Calibri" panose="020F0502020204030204" pitchFamily="34" charset="0"/>
                        </a:rPr>
                      </a:br>
                      <a:r>
                        <a:rPr lang="en-US" sz="1200" b="1" i="0" u="none" strike="noStrike" dirty="0">
                          <a:solidFill>
                            <a:srgbClr val="FFFFFF"/>
                          </a:solidFill>
                          <a:effectLst/>
                          <a:latin typeface="Calibri" panose="020F0502020204030204" pitchFamily="34" charset="0"/>
                        </a:rPr>
                        <a:t>(Supervisory Strategy)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13691971"/>
                  </a:ext>
                </a:extLst>
              </a:tr>
            </a:tbl>
          </a:graphicData>
        </a:graphic>
      </p:graphicFrame>
      <p:graphicFrame>
        <p:nvGraphicFramePr>
          <p:cNvPr id="13" name="Table 12">
            <a:extLst>
              <a:ext uri="{FF2B5EF4-FFF2-40B4-BE49-F238E27FC236}">
                <a16:creationId xmlns:a16="http://schemas.microsoft.com/office/drawing/2014/main" id="{4510C2EB-3575-0C42-EB4F-7BE11472B97C}"/>
              </a:ext>
            </a:extLst>
          </p:cNvPr>
          <p:cNvGraphicFramePr>
            <a:graphicFrameLocks noGrp="1"/>
          </p:cNvGraphicFramePr>
          <p:nvPr>
            <p:extLst>
              <p:ext uri="{D42A27DB-BD31-4B8C-83A1-F6EECF244321}">
                <p14:modId xmlns:p14="http://schemas.microsoft.com/office/powerpoint/2010/main" val="795373972"/>
              </p:ext>
            </p:extLst>
          </p:nvPr>
        </p:nvGraphicFramePr>
        <p:xfrm>
          <a:off x="7358381" y="2925676"/>
          <a:ext cx="3863801" cy="789498"/>
        </p:xfrm>
        <a:graphic>
          <a:graphicData uri="http://schemas.openxmlformats.org/drawingml/2006/table">
            <a:tbl>
              <a:tblPr/>
              <a:tblGrid>
                <a:gridCol w="860748">
                  <a:extLst>
                    <a:ext uri="{9D8B030D-6E8A-4147-A177-3AD203B41FA5}">
                      <a16:colId xmlns:a16="http://schemas.microsoft.com/office/drawing/2014/main" val="284821357"/>
                    </a:ext>
                  </a:extLst>
                </a:gridCol>
                <a:gridCol w="3003053">
                  <a:extLst>
                    <a:ext uri="{9D8B030D-6E8A-4147-A177-3AD203B41FA5}">
                      <a16:colId xmlns:a16="http://schemas.microsoft.com/office/drawing/2014/main" val="3760111475"/>
                    </a:ext>
                  </a:extLst>
                </a:gridCol>
              </a:tblGrid>
              <a:tr h="789498">
                <a:tc>
                  <a:txBody>
                    <a:bodyPr/>
                    <a:lstStyle/>
                    <a:p>
                      <a:pPr algn="ctr" fontAlgn="ctr"/>
                      <a:r>
                        <a:rPr lang="en-US" sz="1200" b="1" i="0" u="none" strike="noStrike" dirty="0">
                          <a:solidFill>
                            <a:srgbClr val="FFFFFF"/>
                          </a:solidFill>
                          <a:effectLst/>
                          <a:latin typeface="Calibri" panose="020F0502020204030204" pitchFamily="34"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sz="1200" b="1" i="0" u="none" strike="noStrike" dirty="0">
                          <a:solidFill>
                            <a:srgbClr val="FFFFFF"/>
                          </a:solidFill>
                          <a:effectLst/>
                          <a:latin typeface="Calibri" panose="020F0502020204030204" pitchFamily="34" charset="0"/>
                        </a:rPr>
                        <a:t>Medium                </a:t>
                      </a:r>
                      <a:br>
                        <a:rPr lang="en-US" sz="1200" b="1" i="0" u="none" strike="noStrike" dirty="0">
                          <a:solidFill>
                            <a:srgbClr val="FFFFFF"/>
                          </a:solidFill>
                          <a:effectLst/>
                          <a:latin typeface="Calibri" panose="020F0502020204030204" pitchFamily="34" charset="0"/>
                        </a:rPr>
                      </a:br>
                      <a:r>
                        <a:rPr lang="en-US" sz="1200" b="1" i="0" u="none" strike="noStrike" dirty="0">
                          <a:solidFill>
                            <a:srgbClr val="FFFFFF"/>
                          </a:solidFill>
                          <a:effectLst/>
                          <a:latin typeface="Calibri" panose="020F0502020204030204" pitchFamily="34" charset="0"/>
                        </a:rPr>
                        <a:t>(Control Strategy)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104147111"/>
                  </a:ext>
                </a:extLst>
              </a:tr>
            </a:tbl>
          </a:graphicData>
        </a:graphic>
      </p:graphicFrame>
    </p:spTree>
    <p:extLst>
      <p:ext uri="{BB962C8B-B14F-4D97-AF65-F5344CB8AC3E}">
        <p14:creationId xmlns:p14="http://schemas.microsoft.com/office/powerpoint/2010/main" val="1886101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a:xfrm>
            <a:off x="11222182" y="6492875"/>
            <a:ext cx="550718" cy="365125"/>
          </a:xfrm>
        </p:spPr>
        <p:txBody>
          <a:bodyPr anchor="t">
            <a:normAutofit/>
          </a:bodyPr>
          <a:lstStyle/>
          <a:p>
            <a:pPr>
              <a:spcAft>
                <a:spcPts val="600"/>
              </a:spcAft>
            </a:pPr>
            <a:fld id="{7A7A97EF-C944-4447-B862-B593E9B4A0FF}" type="slidenum">
              <a:rPr lang="en-US" smtClean="0"/>
              <a:pPr>
                <a:spcAft>
                  <a:spcPts val="600"/>
                </a:spcAft>
              </a:pPr>
              <a:t>4</a:t>
            </a:fld>
            <a:endParaRPr lang="en-US"/>
          </a:p>
        </p:txBody>
      </p:sp>
      <p:sp>
        <p:nvSpPr>
          <p:cNvPr id="5" name="object 5"/>
          <p:cNvSpPr txBox="1">
            <a:spLocks noGrp="1"/>
          </p:cNvSpPr>
          <p:nvPr>
            <p:ph type="title"/>
          </p:nvPr>
        </p:nvSpPr>
        <p:spPr>
          <a:xfrm>
            <a:off x="404167" y="219943"/>
            <a:ext cx="9815007" cy="714553"/>
          </a:xfrm>
        </p:spPr>
        <p:txBody>
          <a:bodyPr anchor="t">
            <a:normAutofit/>
          </a:bodyPr>
          <a:lstStyle/>
          <a:p>
            <a:r>
              <a:rPr lang="en-US" dirty="0"/>
              <a:t>Risk Ranking Process: Global top High-Risk Activities</a:t>
            </a:r>
          </a:p>
        </p:txBody>
      </p:sp>
      <p:sp>
        <p:nvSpPr>
          <p:cNvPr id="6" name="Content Placeholder 5">
            <a:extLst>
              <a:ext uri="{FF2B5EF4-FFF2-40B4-BE49-F238E27FC236}">
                <a16:creationId xmlns:a16="http://schemas.microsoft.com/office/drawing/2014/main" id="{155D84D7-7628-DA0C-CE0E-8FEB29E52BC9}"/>
              </a:ext>
            </a:extLst>
          </p:cNvPr>
          <p:cNvSpPr txBox="1">
            <a:spLocks/>
          </p:cNvSpPr>
          <p:nvPr/>
        </p:nvSpPr>
        <p:spPr>
          <a:xfrm>
            <a:off x="7352271" y="934496"/>
            <a:ext cx="4641460" cy="5697017"/>
          </a:xfrm>
          <a:prstGeom prst="rect">
            <a:avLst/>
          </a:prstGeom>
          <a:solidFill>
            <a:srgbClr val="E3E3E3"/>
          </a:solidFill>
        </p:spPr>
        <p:txBody>
          <a:bodyPr vert="horz" lIns="182880" tIns="182880" rIns="182880" bIns="18288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4625" indent="-17462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sz="1200" dirty="0"/>
              <a:t>Active Risks (based on recordable events, including Level C/D and PSEs) and Proactive Risks (based on leading indicators such as Near Misses, Concern Reports, and ATS contributions).</a:t>
            </a:r>
          </a:p>
          <a:p>
            <a:r>
              <a:rPr lang="en-US" sz="1200" dirty="0"/>
              <a:t>The following active risks are primarily driven by Level C and Level D incidents:</a:t>
            </a:r>
          </a:p>
          <a:p>
            <a:r>
              <a:rPr lang="en-US" sz="1200" dirty="0"/>
              <a:t>Manual Handling</a:t>
            </a:r>
          </a:p>
          <a:p>
            <a:r>
              <a:rPr lang="en-US" sz="1200" dirty="0"/>
              <a:t>Live Electrical</a:t>
            </a:r>
          </a:p>
          <a:p>
            <a:r>
              <a:rPr lang="en-US" sz="1200" dirty="0"/>
              <a:t>Mechanical Lifting </a:t>
            </a:r>
          </a:p>
          <a:p>
            <a:r>
              <a:rPr lang="en-US" sz="1200" dirty="0"/>
              <a:t>Pinch Points / Sharp Objects</a:t>
            </a:r>
          </a:p>
          <a:p>
            <a:r>
              <a:rPr lang="en-US" sz="1200" dirty="0"/>
              <a:t>Line of Fire</a:t>
            </a:r>
          </a:p>
          <a:p>
            <a:r>
              <a:rPr lang="en-US" sz="1200" dirty="0"/>
              <a:t>Powered Hand Tools</a:t>
            </a:r>
          </a:p>
          <a:p>
            <a:r>
              <a:rPr lang="en-US" sz="1200" dirty="0"/>
              <a:t>The additional active risks listed below are associated with Level D incidents, supported by Near Misses (NMs), Concern Report contributions (CR/C), and ATS contributions (ATS/C):</a:t>
            </a:r>
          </a:p>
          <a:p>
            <a:r>
              <a:rPr lang="en-US" sz="1200" dirty="0"/>
              <a:t>Walking/Working Surfaces</a:t>
            </a:r>
          </a:p>
          <a:p>
            <a:r>
              <a:rPr lang="en-US" sz="1200" dirty="0"/>
              <a:t>Driving Safety</a:t>
            </a:r>
          </a:p>
          <a:p>
            <a:r>
              <a:rPr lang="en-US" sz="1200" dirty="0"/>
              <a:t>Hazardous Substances</a:t>
            </a:r>
          </a:p>
          <a:p>
            <a:r>
              <a:rPr lang="en-US" sz="1200" dirty="0"/>
              <a:t>Our recommendation is to maintain focus on these risks, alongside the proactive risks highlighted in the final table, to ensure early intervention and sustained risk reduction.</a:t>
            </a:r>
          </a:p>
        </p:txBody>
      </p:sp>
      <p:pic>
        <p:nvPicPr>
          <p:cNvPr id="3" name="Picture 2">
            <a:extLst>
              <a:ext uri="{FF2B5EF4-FFF2-40B4-BE49-F238E27FC236}">
                <a16:creationId xmlns:a16="http://schemas.microsoft.com/office/drawing/2014/main" id="{F87900A5-FDA6-DC5B-CFC1-F6FA71F94493}"/>
              </a:ext>
            </a:extLst>
          </p:cNvPr>
          <p:cNvPicPr>
            <a:picLocks noChangeAspect="1"/>
          </p:cNvPicPr>
          <p:nvPr/>
        </p:nvPicPr>
        <p:blipFill>
          <a:blip r:embed="rId3"/>
          <a:stretch>
            <a:fillRect/>
          </a:stretch>
        </p:blipFill>
        <p:spPr>
          <a:xfrm>
            <a:off x="530231" y="4721557"/>
            <a:ext cx="5718544" cy="1219306"/>
          </a:xfrm>
          <a:prstGeom prst="rect">
            <a:avLst/>
          </a:prstGeom>
        </p:spPr>
      </p:pic>
      <p:pic>
        <p:nvPicPr>
          <p:cNvPr id="2" name="Picture 1">
            <a:extLst>
              <a:ext uri="{FF2B5EF4-FFF2-40B4-BE49-F238E27FC236}">
                <a16:creationId xmlns:a16="http://schemas.microsoft.com/office/drawing/2014/main" id="{CD83065C-49AA-1363-A271-978BB5FBE234}"/>
              </a:ext>
            </a:extLst>
          </p:cNvPr>
          <p:cNvPicPr>
            <a:picLocks noChangeAspect="1"/>
          </p:cNvPicPr>
          <p:nvPr/>
        </p:nvPicPr>
        <p:blipFill>
          <a:blip r:embed="rId4"/>
          <a:stretch>
            <a:fillRect/>
          </a:stretch>
        </p:blipFill>
        <p:spPr>
          <a:xfrm>
            <a:off x="264172" y="1432354"/>
            <a:ext cx="6927460" cy="2634740"/>
          </a:xfrm>
          <a:prstGeom prst="rect">
            <a:avLst/>
          </a:prstGeom>
        </p:spPr>
      </p:pic>
    </p:spTree>
    <p:extLst>
      <p:ext uri="{BB962C8B-B14F-4D97-AF65-F5344CB8AC3E}">
        <p14:creationId xmlns:p14="http://schemas.microsoft.com/office/powerpoint/2010/main" val="2851112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506B6E-129B-23C4-DAD3-23D36F7CE277}"/>
              </a:ext>
            </a:extLst>
          </p:cNvPr>
          <p:cNvSpPr>
            <a:spLocks noGrp="1"/>
          </p:cNvSpPr>
          <p:nvPr>
            <p:ph type="sldNum" sz="quarter" idx="12"/>
          </p:nvPr>
        </p:nvSpPr>
        <p:spPr/>
        <p:txBody>
          <a:bodyPr/>
          <a:lstStyle/>
          <a:p>
            <a:fld id="{7A7A97EF-C944-4447-B862-B593E9B4A0FF}" type="slidenum">
              <a:rPr lang="en-US" smtClean="0"/>
              <a:t>5</a:t>
            </a:fld>
            <a:endParaRPr lang="en-US" dirty="0"/>
          </a:p>
        </p:txBody>
      </p:sp>
      <p:sp>
        <p:nvSpPr>
          <p:cNvPr id="4" name="Title 3">
            <a:extLst>
              <a:ext uri="{FF2B5EF4-FFF2-40B4-BE49-F238E27FC236}">
                <a16:creationId xmlns:a16="http://schemas.microsoft.com/office/drawing/2014/main" id="{2EF0C0AD-3645-90D7-AD86-440CAD41C562}"/>
              </a:ext>
            </a:extLst>
          </p:cNvPr>
          <p:cNvSpPr>
            <a:spLocks noGrp="1"/>
          </p:cNvSpPr>
          <p:nvPr>
            <p:ph type="title"/>
          </p:nvPr>
        </p:nvSpPr>
        <p:spPr>
          <a:xfrm>
            <a:off x="419100" y="419101"/>
            <a:ext cx="9777323" cy="796750"/>
          </a:xfrm>
        </p:spPr>
        <p:txBody>
          <a:bodyPr/>
          <a:lstStyle/>
          <a:p>
            <a:pPr algn="ctr"/>
            <a:r>
              <a:rPr lang="en-US" dirty="0"/>
              <a:t>Global LSR Risk Profile: </a:t>
            </a:r>
            <a:br>
              <a:rPr lang="en-US" dirty="0"/>
            </a:br>
            <a:r>
              <a:rPr lang="en-US" dirty="0"/>
              <a:t>Embedded Controls and Critical Focus</a:t>
            </a:r>
          </a:p>
        </p:txBody>
      </p:sp>
      <p:sp>
        <p:nvSpPr>
          <p:cNvPr id="6" name="Content Placeholder 5">
            <a:extLst>
              <a:ext uri="{FF2B5EF4-FFF2-40B4-BE49-F238E27FC236}">
                <a16:creationId xmlns:a16="http://schemas.microsoft.com/office/drawing/2014/main" id="{A768BF1E-90AC-9366-41B6-89A0971B07F5}"/>
              </a:ext>
            </a:extLst>
          </p:cNvPr>
          <p:cNvSpPr>
            <a:spLocks noGrp="1"/>
          </p:cNvSpPr>
          <p:nvPr>
            <p:ph idx="13"/>
          </p:nvPr>
        </p:nvSpPr>
        <p:spPr>
          <a:xfrm>
            <a:off x="419100" y="3781168"/>
            <a:ext cx="11353799" cy="2916194"/>
          </a:xfrm>
        </p:spPr>
        <p:txBody>
          <a:bodyPr/>
          <a:lstStyle/>
          <a:p>
            <a:r>
              <a:rPr lang="en-US" sz="1400" dirty="0"/>
              <a:t>The majority of Life-Saving Rules (LSRs) are currently categorized as Low Risk, based on the risk ranking results. This reflects strong control measures and effective performance management across regions.</a:t>
            </a:r>
          </a:p>
          <a:p>
            <a:r>
              <a:rPr lang="en-US" sz="1400" dirty="0"/>
              <a:t>The LSR risk ranking also serves as a performance measurement tool, indicating how well each region is managing and controlling critical risks.</a:t>
            </a:r>
          </a:p>
          <a:p>
            <a:r>
              <a:rPr lang="en-US" sz="1400" dirty="0"/>
              <a:t>EU: All LSRs are low risk (green), indicating strong and consistent control across all categories </a:t>
            </a:r>
          </a:p>
          <a:p>
            <a:r>
              <a:rPr lang="en-US" sz="1400" dirty="0"/>
              <a:t>MEA: Similar trend, with Mechanical Lifting at medium risk (red) while others remain well controlled.</a:t>
            </a:r>
          </a:p>
          <a:p>
            <a:r>
              <a:rPr lang="en-US" sz="1400" dirty="0"/>
              <a:t>ASIA: All LSRs are low risk (green), indicating strong and consistent control across all categories.</a:t>
            </a:r>
          </a:p>
          <a:p>
            <a:r>
              <a:rPr lang="en-US" sz="1400" dirty="0"/>
              <a:t>LATAM: Majority of LSRs are low risk (green), with only minor variations—overall good control.</a:t>
            </a:r>
          </a:p>
          <a:p>
            <a:r>
              <a:rPr lang="en-US" sz="1400" dirty="0"/>
              <a:t>NAM: Most LSRs are low risk (green), with a few medium risks (red) indicating areas to monitor and improve.</a:t>
            </a:r>
          </a:p>
        </p:txBody>
      </p:sp>
      <p:pic>
        <p:nvPicPr>
          <p:cNvPr id="5" name="Picture 4">
            <a:extLst>
              <a:ext uri="{FF2B5EF4-FFF2-40B4-BE49-F238E27FC236}">
                <a16:creationId xmlns:a16="http://schemas.microsoft.com/office/drawing/2014/main" id="{34B181EA-7B2B-83B9-CBDB-CE35BE90AA5A}"/>
              </a:ext>
            </a:extLst>
          </p:cNvPr>
          <p:cNvPicPr>
            <a:picLocks noChangeAspect="1"/>
          </p:cNvPicPr>
          <p:nvPr/>
        </p:nvPicPr>
        <p:blipFill>
          <a:blip r:embed="rId3"/>
          <a:stretch>
            <a:fillRect/>
          </a:stretch>
        </p:blipFill>
        <p:spPr>
          <a:xfrm>
            <a:off x="185349" y="1489522"/>
            <a:ext cx="11726565" cy="2087159"/>
          </a:xfrm>
          <a:prstGeom prst="rect">
            <a:avLst/>
          </a:prstGeom>
        </p:spPr>
      </p:pic>
    </p:spTree>
    <p:extLst>
      <p:ext uri="{BB962C8B-B14F-4D97-AF65-F5344CB8AC3E}">
        <p14:creationId xmlns:p14="http://schemas.microsoft.com/office/powerpoint/2010/main" val="2269707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9A14626-1F1F-0128-7AAE-3F65AE53B5D4}"/>
              </a:ext>
            </a:extLst>
          </p:cNvPr>
          <p:cNvSpPr>
            <a:spLocks noGrp="1"/>
          </p:cNvSpPr>
          <p:nvPr>
            <p:ph type="sldNum" sz="quarter" idx="12"/>
          </p:nvPr>
        </p:nvSpPr>
        <p:spPr/>
        <p:txBody>
          <a:bodyPr/>
          <a:lstStyle/>
          <a:p>
            <a:fld id="{7A7A97EF-C944-4447-B862-B593E9B4A0FF}" type="slidenum">
              <a:rPr lang="en-US" smtClean="0"/>
              <a:t>6</a:t>
            </a:fld>
            <a:endParaRPr lang="en-US" dirty="0"/>
          </a:p>
        </p:txBody>
      </p:sp>
      <p:sp>
        <p:nvSpPr>
          <p:cNvPr id="6" name="Content Placeholder 5">
            <a:extLst>
              <a:ext uri="{FF2B5EF4-FFF2-40B4-BE49-F238E27FC236}">
                <a16:creationId xmlns:a16="http://schemas.microsoft.com/office/drawing/2014/main" id="{AA897294-4213-6408-18A8-435706ACA6B0}"/>
              </a:ext>
            </a:extLst>
          </p:cNvPr>
          <p:cNvSpPr>
            <a:spLocks noGrp="1"/>
          </p:cNvSpPr>
          <p:nvPr>
            <p:ph idx="13"/>
          </p:nvPr>
        </p:nvSpPr>
        <p:spPr>
          <a:xfrm>
            <a:off x="7046825" y="1403350"/>
            <a:ext cx="4726075" cy="4251954"/>
          </a:xfrm>
        </p:spPr>
        <p:txBody>
          <a:bodyPr/>
          <a:lstStyle/>
          <a:p>
            <a:r>
              <a:rPr lang="en-US" sz="1200" dirty="0"/>
              <a:t>Global LSR Risk Ranking</a:t>
            </a:r>
          </a:p>
          <a:p>
            <a:r>
              <a:rPr lang="en-US" sz="1200" dirty="0"/>
              <a:t>Mechanical Lifting (LSR) is the only High Risk (blue) area, driven by higher severity and frequency → priority focus required.</a:t>
            </a:r>
          </a:p>
          <a:p>
            <a:r>
              <a:rPr lang="en-US" sz="1200" dirty="0"/>
              <a:t>Driving Safety and Live Electrical are Medium Risk (red) → monitor closely and strengthen controls.</a:t>
            </a:r>
          </a:p>
          <a:p>
            <a:r>
              <a:rPr lang="en-US" sz="1200" dirty="0"/>
              <a:t>The majority of LSRs are Low Risk (green), reflecting effective controls and good performance.</a:t>
            </a:r>
          </a:p>
          <a:p>
            <a:endParaRPr lang="en-US" sz="1200" dirty="0"/>
          </a:p>
          <a:p>
            <a:r>
              <a:rPr lang="en-US" sz="1200" dirty="0"/>
              <a:t>Overall Message:</a:t>
            </a:r>
          </a:p>
          <a:p>
            <a:r>
              <a:rPr lang="en-US" sz="1200" dirty="0"/>
              <a:t>The current profile shows strong control across most LSRs, with targeted attention needed on Mechanical Lifting, Driving Safety, and Live Electrical to further reduce risk exposure.</a:t>
            </a:r>
          </a:p>
        </p:txBody>
      </p:sp>
      <p:pic>
        <p:nvPicPr>
          <p:cNvPr id="2" name="Picture 1">
            <a:extLst>
              <a:ext uri="{FF2B5EF4-FFF2-40B4-BE49-F238E27FC236}">
                <a16:creationId xmlns:a16="http://schemas.microsoft.com/office/drawing/2014/main" id="{5AB31F43-8A7D-9F03-99A0-6A54A7E174C6}"/>
              </a:ext>
            </a:extLst>
          </p:cNvPr>
          <p:cNvPicPr>
            <a:picLocks noChangeAspect="1"/>
          </p:cNvPicPr>
          <p:nvPr/>
        </p:nvPicPr>
        <p:blipFill>
          <a:blip r:embed="rId3"/>
          <a:stretch>
            <a:fillRect/>
          </a:stretch>
        </p:blipFill>
        <p:spPr>
          <a:xfrm>
            <a:off x="1530982" y="1403350"/>
            <a:ext cx="4261473" cy="4371211"/>
          </a:xfrm>
          <a:prstGeom prst="rect">
            <a:avLst/>
          </a:prstGeom>
        </p:spPr>
      </p:pic>
      <p:sp>
        <p:nvSpPr>
          <p:cNvPr id="5" name="Title 3">
            <a:extLst>
              <a:ext uri="{FF2B5EF4-FFF2-40B4-BE49-F238E27FC236}">
                <a16:creationId xmlns:a16="http://schemas.microsoft.com/office/drawing/2014/main" id="{CCA8535D-3AFF-3F0A-4290-799F71215C0D}"/>
              </a:ext>
            </a:extLst>
          </p:cNvPr>
          <p:cNvSpPr txBox="1">
            <a:spLocks/>
          </p:cNvSpPr>
          <p:nvPr/>
        </p:nvSpPr>
        <p:spPr>
          <a:xfrm>
            <a:off x="903793" y="167404"/>
            <a:ext cx="9777323" cy="79675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a:lstStyle>
          <a:p>
            <a:pPr algn="ctr"/>
            <a:r>
              <a:rPr lang="en-US" dirty="0"/>
              <a:t>Global LSR Risk Profile: </a:t>
            </a:r>
            <a:br>
              <a:rPr lang="en-US" dirty="0"/>
            </a:br>
            <a:r>
              <a:rPr lang="en-US" dirty="0"/>
              <a:t>Embedded Controls and Critical Focus</a:t>
            </a:r>
          </a:p>
        </p:txBody>
      </p:sp>
    </p:spTree>
    <p:extLst>
      <p:ext uri="{BB962C8B-B14F-4D97-AF65-F5344CB8AC3E}">
        <p14:creationId xmlns:p14="http://schemas.microsoft.com/office/powerpoint/2010/main" val="4136619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189C14-A10D-9939-4210-A8A09CF7195C}"/>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3" name="Slide Number Placeholder 2">
            <a:extLst>
              <a:ext uri="{FF2B5EF4-FFF2-40B4-BE49-F238E27FC236}">
                <a16:creationId xmlns:a16="http://schemas.microsoft.com/office/drawing/2014/main" id="{7079DD31-DC4E-7003-9AE1-887CDA5EDA30}"/>
              </a:ext>
            </a:extLst>
          </p:cNvPr>
          <p:cNvSpPr>
            <a:spLocks noGrp="1"/>
          </p:cNvSpPr>
          <p:nvPr>
            <p:ph type="sldNum" sz="quarter" idx="12"/>
          </p:nvPr>
        </p:nvSpPr>
        <p:spPr/>
        <p:txBody>
          <a:bodyPr/>
          <a:lstStyle/>
          <a:p>
            <a:fld id="{7A7A97EF-C944-4447-B862-B593E9B4A0FF}" type="slidenum">
              <a:rPr lang="en-US" smtClean="0"/>
              <a:t>7</a:t>
            </a:fld>
            <a:endParaRPr lang="en-US" dirty="0"/>
          </a:p>
        </p:txBody>
      </p:sp>
      <p:sp>
        <p:nvSpPr>
          <p:cNvPr id="4" name="Title 3">
            <a:extLst>
              <a:ext uri="{FF2B5EF4-FFF2-40B4-BE49-F238E27FC236}">
                <a16:creationId xmlns:a16="http://schemas.microsoft.com/office/drawing/2014/main" id="{1DDD8085-EA6D-78B2-3132-E3BCBFDC6A3A}"/>
              </a:ext>
            </a:extLst>
          </p:cNvPr>
          <p:cNvSpPr>
            <a:spLocks noGrp="1"/>
          </p:cNvSpPr>
          <p:nvPr>
            <p:ph type="title"/>
          </p:nvPr>
        </p:nvSpPr>
        <p:spPr>
          <a:xfrm>
            <a:off x="2378528" y="384585"/>
            <a:ext cx="6524311" cy="736189"/>
          </a:xfrm>
        </p:spPr>
        <p:txBody>
          <a:bodyPr/>
          <a:lstStyle/>
          <a:p>
            <a:pPr algn="ctr"/>
            <a:r>
              <a:rPr lang="en-US" dirty="0"/>
              <a:t>AI Analysis: Strengths and Areas for Improvement</a:t>
            </a:r>
          </a:p>
        </p:txBody>
      </p:sp>
      <p:pic>
        <p:nvPicPr>
          <p:cNvPr id="12" name="Content Placeholder 11">
            <a:extLst>
              <a:ext uri="{FF2B5EF4-FFF2-40B4-BE49-F238E27FC236}">
                <a16:creationId xmlns:a16="http://schemas.microsoft.com/office/drawing/2014/main" id="{C8E70D72-DB70-3C42-2318-43A616E6FC79}"/>
              </a:ext>
            </a:extLst>
          </p:cNvPr>
          <p:cNvPicPr>
            <a:picLocks noGrp="1" noChangeAspect="1"/>
          </p:cNvPicPr>
          <p:nvPr>
            <p:ph idx="1"/>
          </p:nvPr>
        </p:nvPicPr>
        <p:blipFill>
          <a:blip r:embed="rId2"/>
          <a:stretch>
            <a:fillRect/>
          </a:stretch>
        </p:blipFill>
        <p:spPr>
          <a:xfrm>
            <a:off x="419100" y="1403349"/>
            <a:ext cx="5394325" cy="2767058"/>
          </a:xfrm>
          <a:prstGeom prst="rect">
            <a:avLst/>
          </a:prstGeom>
          <a:solidFill>
            <a:srgbClr val="E3E3E3"/>
          </a:solidFill>
        </p:spPr>
      </p:pic>
      <p:pic>
        <p:nvPicPr>
          <p:cNvPr id="18" name="Content Placeholder 17">
            <a:extLst>
              <a:ext uri="{FF2B5EF4-FFF2-40B4-BE49-F238E27FC236}">
                <a16:creationId xmlns:a16="http://schemas.microsoft.com/office/drawing/2014/main" id="{6103B253-6A9A-2AB1-3006-17869B71944C}"/>
              </a:ext>
            </a:extLst>
          </p:cNvPr>
          <p:cNvPicPr>
            <a:picLocks noGrp="1" noChangeAspect="1"/>
          </p:cNvPicPr>
          <p:nvPr>
            <p:ph idx="13"/>
          </p:nvPr>
        </p:nvPicPr>
        <p:blipFill>
          <a:blip r:embed="rId3"/>
          <a:stretch>
            <a:fillRect/>
          </a:stretch>
        </p:blipFill>
        <p:spPr>
          <a:xfrm>
            <a:off x="6103216" y="2228680"/>
            <a:ext cx="5394325" cy="2040549"/>
          </a:xfrm>
          <a:prstGeom prst="rect">
            <a:avLst/>
          </a:prstGeom>
          <a:solidFill>
            <a:srgbClr val="E3E3E3"/>
          </a:solidFill>
        </p:spPr>
      </p:pic>
      <p:pic>
        <p:nvPicPr>
          <p:cNvPr id="14" name="Picture 13">
            <a:extLst>
              <a:ext uri="{FF2B5EF4-FFF2-40B4-BE49-F238E27FC236}">
                <a16:creationId xmlns:a16="http://schemas.microsoft.com/office/drawing/2014/main" id="{9217E8DC-F6C6-8F8E-B20B-66E6C93EA9DE}"/>
              </a:ext>
            </a:extLst>
          </p:cNvPr>
          <p:cNvPicPr>
            <a:picLocks noChangeAspect="1"/>
          </p:cNvPicPr>
          <p:nvPr/>
        </p:nvPicPr>
        <p:blipFill>
          <a:blip r:embed="rId4"/>
          <a:stretch>
            <a:fillRect/>
          </a:stretch>
        </p:blipFill>
        <p:spPr>
          <a:xfrm>
            <a:off x="419100" y="4269229"/>
            <a:ext cx="3104784" cy="2406208"/>
          </a:xfrm>
          <a:prstGeom prst="rect">
            <a:avLst/>
          </a:prstGeom>
        </p:spPr>
      </p:pic>
      <p:pic>
        <p:nvPicPr>
          <p:cNvPr id="16" name="Picture 15">
            <a:extLst>
              <a:ext uri="{FF2B5EF4-FFF2-40B4-BE49-F238E27FC236}">
                <a16:creationId xmlns:a16="http://schemas.microsoft.com/office/drawing/2014/main" id="{0024F3AB-A393-7A5C-F74B-5BA71ACD7924}"/>
              </a:ext>
            </a:extLst>
          </p:cNvPr>
          <p:cNvPicPr>
            <a:picLocks noChangeAspect="1"/>
          </p:cNvPicPr>
          <p:nvPr/>
        </p:nvPicPr>
        <p:blipFill>
          <a:blip r:embed="rId5"/>
          <a:stretch>
            <a:fillRect/>
          </a:stretch>
        </p:blipFill>
        <p:spPr>
          <a:xfrm>
            <a:off x="419100" y="5539193"/>
            <a:ext cx="5873485" cy="1052504"/>
          </a:xfrm>
          <a:prstGeom prst="rect">
            <a:avLst/>
          </a:prstGeom>
        </p:spPr>
      </p:pic>
      <p:pic>
        <p:nvPicPr>
          <p:cNvPr id="20" name="Picture 19">
            <a:extLst>
              <a:ext uri="{FF2B5EF4-FFF2-40B4-BE49-F238E27FC236}">
                <a16:creationId xmlns:a16="http://schemas.microsoft.com/office/drawing/2014/main" id="{1E2647FE-E1BE-0603-E243-19A7DF484E85}"/>
              </a:ext>
            </a:extLst>
          </p:cNvPr>
          <p:cNvPicPr>
            <a:picLocks noChangeAspect="1"/>
          </p:cNvPicPr>
          <p:nvPr/>
        </p:nvPicPr>
        <p:blipFill>
          <a:blip r:embed="rId6"/>
          <a:stretch>
            <a:fillRect/>
          </a:stretch>
        </p:blipFill>
        <p:spPr>
          <a:xfrm>
            <a:off x="6096000" y="4391090"/>
            <a:ext cx="5561562" cy="1002272"/>
          </a:xfrm>
          <a:prstGeom prst="rect">
            <a:avLst/>
          </a:prstGeom>
        </p:spPr>
      </p:pic>
      <p:pic>
        <p:nvPicPr>
          <p:cNvPr id="22" name="Picture 21">
            <a:extLst>
              <a:ext uri="{FF2B5EF4-FFF2-40B4-BE49-F238E27FC236}">
                <a16:creationId xmlns:a16="http://schemas.microsoft.com/office/drawing/2014/main" id="{E434CF4E-4D6E-5DAC-6432-7B263DA4E042}"/>
              </a:ext>
            </a:extLst>
          </p:cNvPr>
          <p:cNvPicPr>
            <a:picLocks noChangeAspect="1"/>
          </p:cNvPicPr>
          <p:nvPr/>
        </p:nvPicPr>
        <p:blipFill>
          <a:blip r:embed="rId7"/>
          <a:stretch>
            <a:fillRect/>
          </a:stretch>
        </p:blipFill>
        <p:spPr>
          <a:xfrm>
            <a:off x="6103216" y="5543666"/>
            <a:ext cx="5554346" cy="1193862"/>
          </a:xfrm>
          <a:prstGeom prst="rect">
            <a:avLst/>
          </a:prstGeom>
        </p:spPr>
      </p:pic>
      <p:pic>
        <p:nvPicPr>
          <p:cNvPr id="24" name="Picture 23">
            <a:extLst>
              <a:ext uri="{FF2B5EF4-FFF2-40B4-BE49-F238E27FC236}">
                <a16:creationId xmlns:a16="http://schemas.microsoft.com/office/drawing/2014/main" id="{738AAB5A-E42D-6025-5D29-E9522700D657}"/>
              </a:ext>
            </a:extLst>
          </p:cNvPr>
          <p:cNvPicPr>
            <a:picLocks noChangeAspect="1"/>
          </p:cNvPicPr>
          <p:nvPr/>
        </p:nvPicPr>
        <p:blipFill>
          <a:blip r:embed="rId8"/>
          <a:stretch>
            <a:fillRect/>
          </a:stretch>
        </p:blipFill>
        <p:spPr>
          <a:xfrm>
            <a:off x="6203091" y="1226408"/>
            <a:ext cx="5294450" cy="993879"/>
          </a:xfrm>
          <a:prstGeom prst="rect">
            <a:avLst/>
          </a:prstGeom>
        </p:spPr>
      </p:pic>
    </p:spTree>
    <p:extLst>
      <p:ext uri="{BB962C8B-B14F-4D97-AF65-F5344CB8AC3E}">
        <p14:creationId xmlns:p14="http://schemas.microsoft.com/office/powerpoint/2010/main" val="3178278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A4DFAB7-C57F-735F-AFC0-FBC18C30A990}"/>
              </a:ext>
            </a:extLst>
          </p:cNvPr>
          <p:cNvSpPr>
            <a:spLocks noGrp="1"/>
          </p:cNvSpPr>
          <p:nvPr>
            <p:ph type="ftr" sz="quarter" idx="11"/>
          </p:nvPr>
        </p:nvSpPr>
        <p:spPr/>
        <p:txBody>
          <a:bodyPr/>
          <a:lstStyle/>
          <a:p>
            <a:r>
              <a:rPr lang="en-US" dirty="0"/>
              <a:t>© 2024 GE Vernova and/or its affiliates. All rights reserved.</a:t>
            </a:r>
          </a:p>
        </p:txBody>
      </p:sp>
      <p:sp>
        <p:nvSpPr>
          <p:cNvPr id="3" name="Slide Number Placeholder 2">
            <a:extLst>
              <a:ext uri="{FF2B5EF4-FFF2-40B4-BE49-F238E27FC236}">
                <a16:creationId xmlns:a16="http://schemas.microsoft.com/office/drawing/2014/main" id="{CC9A3451-B633-7911-8FEE-314429581A02}"/>
              </a:ext>
            </a:extLst>
          </p:cNvPr>
          <p:cNvSpPr>
            <a:spLocks noGrp="1"/>
          </p:cNvSpPr>
          <p:nvPr>
            <p:ph type="sldNum" sz="quarter" idx="12"/>
          </p:nvPr>
        </p:nvSpPr>
        <p:spPr/>
        <p:txBody>
          <a:bodyPr/>
          <a:lstStyle/>
          <a:p>
            <a:fld id="{7A7A97EF-C944-4447-B862-B593E9B4A0FF}" type="slidenum">
              <a:rPr lang="en-US" smtClean="0"/>
              <a:pPr/>
              <a:t>8</a:t>
            </a:fld>
            <a:endParaRPr lang="en-US" dirty="0"/>
          </a:p>
        </p:txBody>
      </p:sp>
      <p:sp>
        <p:nvSpPr>
          <p:cNvPr id="5" name="TextBox 4">
            <a:extLst>
              <a:ext uri="{FF2B5EF4-FFF2-40B4-BE49-F238E27FC236}">
                <a16:creationId xmlns:a16="http://schemas.microsoft.com/office/drawing/2014/main" id="{8A39A1AD-E7BE-5992-68F3-ED23B369679B}"/>
              </a:ext>
            </a:extLst>
          </p:cNvPr>
          <p:cNvSpPr txBox="1"/>
          <p:nvPr/>
        </p:nvSpPr>
        <p:spPr>
          <a:xfrm>
            <a:off x="3578468" y="2982581"/>
            <a:ext cx="4079631" cy="759653"/>
          </a:xfrm>
          <a:prstGeom prst="rect">
            <a:avLst/>
          </a:prstGeom>
          <a:noFill/>
        </p:spPr>
        <p:txBody>
          <a:bodyPr wrap="square" lIns="0" tIns="0" rIns="0" bIns="0" rtlCol="0">
            <a:noAutofit/>
          </a:bodyPr>
          <a:lstStyle/>
          <a:p>
            <a:pPr algn="l">
              <a:spcAft>
                <a:spcPts val="600"/>
              </a:spcAft>
            </a:pPr>
            <a:r>
              <a:rPr lang="en-US" sz="4000" dirty="0"/>
              <a:t>BACK UP Slides </a:t>
            </a:r>
          </a:p>
        </p:txBody>
      </p:sp>
    </p:spTree>
    <p:extLst>
      <p:ext uri="{BB962C8B-B14F-4D97-AF65-F5344CB8AC3E}">
        <p14:creationId xmlns:p14="http://schemas.microsoft.com/office/powerpoint/2010/main" val="44094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A287EDD-A739-7A3B-2CDA-76FD2767C953}"/>
              </a:ext>
            </a:extLst>
          </p:cNvPr>
          <p:cNvSpPr>
            <a:spLocks noGrp="1"/>
          </p:cNvSpPr>
          <p:nvPr>
            <p:ph type="ftr" sz="quarter" idx="11"/>
          </p:nvPr>
        </p:nvSpPr>
        <p:spPr/>
        <p:txBody>
          <a:bodyPr/>
          <a:lstStyle/>
          <a:p>
            <a:r>
              <a:rPr lang="en-US" dirty="0"/>
              <a:t>© 2024 GE Vernova and/or its affiliates. All rights reserved.</a:t>
            </a:r>
          </a:p>
        </p:txBody>
      </p:sp>
      <p:sp>
        <p:nvSpPr>
          <p:cNvPr id="3" name="Slide Number Placeholder 2">
            <a:extLst>
              <a:ext uri="{FF2B5EF4-FFF2-40B4-BE49-F238E27FC236}">
                <a16:creationId xmlns:a16="http://schemas.microsoft.com/office/drawing/2014/main" id="{F2292D6B-8DB9-BB5F-4D56-3C58794C0371}"/>
              </a:ext>
            </a:extLst>
          </p:cNvPr>
          <p:cNvSpPr>
            <a:spLocks noGrp="1"/>
          </p:cNvSpPr>
          <p:nvPr>
            <p:ph type="sldNum" sz="quarter" idx="12"/>
          </p:nvPr>
        </p:nvSpPr>
        <p:spPr/>
        <p:txBody>
          <a:bodyPr/>
          <a:lstStyle/>
          <a:p>
            <a:fld id="{7A7A97EF-C944-4447-B862-B593E9B4A0FF}" type="slidenum">
              <a:rPr lang="en-US" smtClean="0"/>
              <a:pPr/>
              <a:t>9</a:t>
            </a:fld>
            <a:endParaRPr lang="en-US" dirty="0"/>
          </a:p>
        </p:txBody>
      </p:sp>
      <p:sp>
        <p:nvSpPr>
          <p:cNvPr id="4" name="Title 3">
            <a:extLst>
              <a:ext uri="{FF2B5EF4-FFF2-40B4-BE49-F238E27FC236}">
                <a16:creationId xmlns:a16="http://schemas.microsoft.com/office/drawing/2014/main" id="{75156CDE-03DB-D2EF-3648-5A667C05B8BD}"/>
              </a:ext>
            </a:extLst>
          </p:cNvPr>
          <p:cNvSpPr>
            <a:spLocks noGrp="1"/>
          </p:cNvSpPr>
          <p:nvPr>
            <p:ph type="title"/>
          </p:nvPr>
        </p:nvSpPr>
        <p:spPr>
          <a:xfrm>
            <a:off x="700561" y="1630464"/>
            <a:ext cx="2417988" cy="225691"/>
          </a:xfrm>
        </p:spPr>
        <p:txBody>
          <a:bodyPr/>
          <a:lstStyle/>
          <a:p>
            <a:r>
              <a:rPr kumimoji="0" lang="en-US" altLang="en-US" sz="1600" b="0" i="0" u="none" strike="noStrike" cap="none" normalizeH="0" baseline="0" dirty="0">
                <a:ln>
                  <a:noFill/>
                </a:ln>
                <a:solidFill>
                  <a:schemeClr val="tx1"/>
                </a:solidFill>
                <a:effectLst/>
                <a:latin typeface="Arial" panose="020B0604020202020204" pitchFamily="34" charset="0"/>
              </a:rPr>
              <a:t>Explanation </a:t>
            </a:r>
            <a:r>
              <a:rPr lang="en-US" altLang="en-US" sz="1600" dirty="0">
                <a:solidFill>
                  <a:schemeClr val="tx1"/>
                </a:solidFill>
                <a:latin typeface="Arial" panose="020B0604020202020204" pitchFamily="34" charset="0"/>
              </a:rPr>
              <a:t>for</a:t>
            </a:r>
            <a:r>
              <a:rPr kumimoji="0" lang="en-US" altLang="en-US" sz="1600" b="0" i="0" u="none" strike="noStrike" cap="none" normalizeH="0" baseline="0" dirty="0">
                <a:ln>
                  <a:noFill/>
                </a:ln>
                <a:solidFill>
                  <a:schemeClr val="tx1"/>
                </a:solidFill>
                <a:effectLst/>
                <a:latin typeface="Arial" panose="020B0604020202020204" pitchFamily="34" charset="0"/>
              </a:rPr>
              <a:t> Level A</a:t>
            </a:r>
            <a:endParaRPr lang="en-US" sz="1600" dirty="0"/>
          </a:p>
        </p:txBody>
      </p:sp>
      <p:sp>
        <p:nvSpPr>
          <p:cNvPr id="5" name="Content Placeholder 4">
            <a:extLst>
              <a:ext uri="{FF2B5EF4-FFF2-40B4-BE49-F238E27FC236}">
                <a16:creationId xmlns:a16="http://schemas.microsoft.com/office/drawing/2014/main" id="{094AF73A-EC25-6597-5616-7BE640B12A7D}"/>
              </a:ext>
            </a:extLst>
          </p:cNvPr>
          <p:cNvSpPr>
            <a:spLocks noGrp="1"/>
          </p:cNvSpPr>
          <p:nvPr>
            <p:ph idx="1"/>
          </p:nvPr>
        </p:nvSpPr>
        <p:spPr>
          <a:xfrm>
            <a:off x="119269" y="2049390"/>
            <a:ext cx="3580573" cy="2681637"/>
          </a:xfrm>
          <a:ln/>
        </p:spPr>
        <p:style>
          <a:lnRef idx="0">
            <a:schemeClr val="accent3"/>
          </a:lnRef>
          <a:fillRef idx="3">
            <a:schemeClr val="accent3"/>
          </a:fillRef>
          <a:effectRef idx="3">
            <a:schemeClr val="accent3"/>
          </a:effectRef>
          <a:fontRef idx="minor">
            <a:schemeClr val="lt1"/>
          </a:fontRef>
        </p:style>
        <p:txBody>
          <a:bodyPr/>
          <a:lstStyle/>
          <a:p>
            <a:r>
              <a:rPr lang="en-US" dirty="0"/>
              <a:t>        Formula: </a:t>
            </a:r>
          </a:p>
          <a:p>
            <a:r>
              <a:rPr lang="en-US" dirty="0"/>
              <a:t>This formula determines a specific value based on the value in cell Z4 (Numbers of Level A).</a:t>
            </a:r>
          </a:p>
          <a:p>
            <a:r>
              <a:rPr lang="en-US" dirty="0"/>
              <a:t>Logic:</a:t>
            </a:r>
          </a:p>
          <a:p>
            <a:r>
              <a:rPr lang="en-US" dirty="0"/>
              <a:t>If Z4 is 0, the result is 0.</a:t>
            </a:r>
          </a:p>
          <a:p>
            <a:r>
              <a:rPr lang="en-US" dirty="0"/>
              <a:t>If Z4 is one or greater, the result is 5.</a:t>
            </a:r>
          </a:p>
          <a:p>
            <a:endParaRPr lang="en-US" dirty="0"/>
          </a:p>
          <a:p>
            <a:endParaRPr lang="en-US" dirty="0"/>
          </a:p>
        </p:txBody>
      </p:sp>
      <p:sp>
        <p:nvSpPr>
          <p:cNvPr id="6" name="Content Placeholder 5">
            <a:extLst>
              <a:ext uri="{FF2B5EF4-FFF2-40B4-BE49-F238E27FC236}">
                <a16:creationId xmlns:a16="http://schemas.microsoft.com/office/drawing/2014/main" id="{D6647232-FAB9-FC57-2ECC-54A5D7823B25}"/>
              </a:ext>
            </a:extLst>
          </p:cNvPr>
          <p:cNvSpPr>
            <a:spLocks noGrp="1"/>
          </p:cNvSpPr>
          <p:nvPr>
            <p:ph idx="13"/>
          </p:nvPr>
        </p:nvSpPr>
        <p:spPr>
          <a:xfrm>
            <a:off x="3824707" y="2031442"/>
            <a:ext cx="3580573" cy="2681636"/>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dirty="0"/>
              <a:t> Formula: </a:t>
            </a:r>
          </a:p>
          <a:p>
            <a:r>
              <a:rPr lang="en-US" dirty="0"/>
              <a:t>This formula determines a specific value based on the value in cell Z5 (Numbers of Level B).</a:t>
            </a:r>
          </a:p>
          <a:p>
            <a:r>
              <a:rPr lang="en-US" dirty="0"/>
              <a:t>Logic:</a:t>
            </a:r>
          </a:p>
          <a:p>
            <a:r>
              <a:rPr lang="en-US" dirty="0"/>
              <a:t>If Z5 is 0, the result is 0.</a:t>
            </a:r>
          </a:p>
          <a:p>
            <a:r>
              <a:rPr lang="en-US" dirty="0"/>
              <a:t>If Z5 is one or greater, the result is 4.</a:t>
            </a:r>
          </a:p>
          <a:p>
            <a:endParaRPr lang="en-US" dirty="0"/>
          </a:p>
        </p:txBody>
      </p:sp>
      <p:sp>
        <p:nvSpPr>
          <p:cNvPr id="9" name="Title 3">
            <a:extLst>
              <a:ext uri="{FF2B5EF4-FFF2-40B4-BE49-F238E27FC236}">
                <a16:creationId xmlns:a16="http://schemas.microsoft.com/office/drawing/2014/main" id="{C4E2AA62-5658-9A01-EF6C-5B355C55BCA5}"/>
              </a:ext>
            </a:extLst>
          </p:cNvPr>
          <p:cNvSpPr txBox="1">
            <a:spLocks/>
          </p:cNvSpPr>
          <p:nvPr/>
        </p:nvSpPr>
        <p:spPr>
          <a:xfrm>
            <a:off x="526819" y="245527"/>
            <a:ext cx="9986493" cy="24465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altLang="en-US" sz="2400" b="1" dirty="0">
                <a:solidFill>
                  <a:schemeClr val="bg1"/>
                </a:solidFill>
                <a:highlight>
                  <a:srgbClr val="0000FF"/>
                </a:highlight>
                <a:latin typeface="Arial" panose="020B0604020202020204" pitchFamily="34" charset="0"/>
              </a:rPr>
              <a:t>S (Severity) </a:t>
            </a:r>
            <a:r>
              <a:rPr lang="en-US" altLang="en-US" sz="2400" dirty="0">
                <a:solidFill>
                  <a:schemeClr val="tx1"/>
                </a:solidFill>
                <a:latin typeface="Arial" panose="020B0604020202020204" pitchFamily="34" charset="0"/>
              </a:rPr>
              <a:t>  Value for the Contributions for Levels A and B</a:t>
            </a:r>
            <a:endParaRPr lang="en-US" sz="2400" dirty="0"/>
          </a:p>
        </p:txBody>
      </p:sp>
      <p:sp>
        <p:nvSpPr>
          <p:cNvPr id="10" name="Title 3">
            <a:extLst>
              <a:ext uri="{FF2B5EF4-FFF2-40B4-BE49-F238E27FC236}">
                <a16:creationId xmlns:a16="http://schemas.microsoft.com/office/drawing/2014/main" id="{6ADE6687-1AED-D5D1-D042-DAF6DEFE4A01}"/>
              </a:ext>
            </a:extLst>
          </p:cNvPr>
          <p:cNvSpPr txBox="1">
            <a:spLocks/>
          </p:cNvSpPr>
          <p:nvPr/>
        </p:nvSpPr>
        <p:spPr>
          <a:xfrm>
            <a:off x="4405999" y="1661685"/>
            <a:ext cx="2417988"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dirty="0">
                <a:solidFill>
                  <a:schemeClr val="tx1"/>
                </a:solidFill>
                <a:latin typeface="Arial" panose="020B0604020202020204" pitchFamily="34" charset="0"/>
              </a:rPr>
              <a:t>Explanation for Level B</a:t>
            </a:r>
            <a:endParaRPr lang="en-US" sz="1600" dirty="0"/>
          </a:p>
        </p:txBody>
      </p:sp>
      <p:pic>
        <p:nvPicPr>
          <p:cNvPr id="29" name="Picture 28">
            <a:extLst>
              <a:ext uri="{FF2B5EF4-FFF2-40B4-BE49-F238E27FC236}">
                <a16:creationId xmlns:a16="http://schemas.microsoft.com/office/drawing/2014/main" id="{6F6F0C48-BF70-454F-AD24-32CA28783DAE}"/>
              </a:ext>
            </a:extLst>
          </p:cNvPr>
          <p:cNvPicPr>
            <a:picLocks noChangeAspect="1"/>
          </p:cNvPicPr>
          <p:nvPr/>
        </p:nvPicPr>
        <p:blipFill>
          <a:blip r:embed="rId3"/>
          <a:stretch>
            <a:fillRect/>
          </a:stretch>
        </p:blipFill>
        <p:spPr>
          <a:xfrm>
            <a:off x="6921140" y="1743310"/>
            <a:ext cx="5246064" cy="2987717"/>
          </a:xfrm>
          <a:prstGeom prst="rect">
            <a:avLst/>
          </a:prstGeom>
        </p:spPr>
      </p:pic>
      <p:sp>
        <p:nvSpPr>
          <p:cNvPr id="30" name="Title 3">
            <a:extLst>
              <a:ext uri="{FF2B5EF4-FFF2-40B4-BE49-F238E27FC236}">
                <a16:creationId xmlns:a16="http://schemas.microsoft.com/office/drawing/2014/main" id="{3A3A9B2D-0B89-D117-6D89-281DCAD99E5B}"/>
              </a:ext>
            </a:extLst>
          </p:cNvPr>
          <p:cNvSpPr txBox="1">
            <a:spLocks/>
          </p:cNvSpPr>
          <p:nvPr/>
        </p:nvSpPr>
        <p:spPr>
          <a:xfrm>
            <a:off x="3824707" y="905013"/>
            <a:ext cx="5398805"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u="sng" dirty="0">
                <a:solidFill>
                  <a:schemeClr val="tx1"/>
                </a:solidFill>
                <a:latin typeface="Arial" panose="020B0604020202020204" pitchFamily="34" charset="0"/>
              </a:rPr>
              <a:t>Calculating the severity for Level A (Z4) &amp; Level B (Z5)</a:t>
            </a:r>
            <a:endParaRPr lang="en-US" sz="1600" u="sng" dirty="0"/>
          </a:p>
        </p:txBody>
      </p:sp>
    </p:spTree>
    <p:extLst>
      <p:ext uri="{BB962C8B-B14F-4D97-AF65-F5344CB8AC3E}">
        <p14:creationId xmlns:p14="http://schemas.microsoft.com/office/powerpoint/2010/main" val="1906760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A287EDD-A739-7A3B-2CDA-76FD2767C953}"/>
              </a:ext>
            </a:extLst>
          </p:cNvPr>
          <p:cNvSpPr>
            <a:spLocks noGrp="1"/>
          </p:cNvSpPr>
          <p:nvPr>
            <p:ph type="ftr" sz="quarter" idx="11"/>
          </p:nvPr>
        </p:nvSpPr>
        <p:spPr/>
        <p:txBody>
          <a:bodyPr/>
          <a:lstStyle/>
          <a:p>
            <a:r>
              <a:rPr lang="en-US" dirty="0"/>
              <a:t>© 2024 GE Vernova and/or its affiliates. All rights reserved.</a:t>
            </a:r>
          </a:p>
        </p:txBody>
      </p:sp>
      <p:sp>
        <p:nvSpPr>
          <p:cNvPr id="3" name="Slide Number Placeholder 2">
            <a:extLst>
              <a:ext uri="{FF2B5EF4-FFF2-40B4-BE49-F238E27FC236}">
                <a16:creationId xmlns:a16="http://schemas.microsoft.com/office/drawing/2014/main" id="{F2292D6B-8DB9-BB5F-4D56-3C58794C0371}"/>
              </a:ext>
            </a:extLst>
          </p:cNvPr>
          <p:cNvSpPr>
            <a:spLocks noGrp="1"/>
          </p:cNvSpPr>
          <p:nvPr>
            <p:ph type="sldNum" sz="quarter" idx="12"/>
          </p:nvPr>
        </p:nvSpPr>
        <p:spPr/>
        <p:txBody>
          <a:bodyPr/>
          <a:lstStyle/>
          <a:p>
            <a:fld id="{7A7A97EF-C944-4447-B862-B593E9B4A0FF}" type="slidenum">
              <a:rPr lang="en-US" smtClean="0"/>
              <a:pPr/>
              <a:t>10</a:t>
            </a:fld>
            <a:endParaRPr lang="en-US" dirty="0"/>
          </a:p>
        </p:txBody>
      </p:sp>
      <p:sp>
        <p:nvSpPr>
          <p:cNvPr id="7" name="Content Placeholder 6">
            <a:extLst>
              <a:ext uri="{FF2B5EF4-FFF2-40B4-BE49-F238E27FC236}">
                <a16:creationId xmlns:a16="http://schemas.microsoft.com/office/drawing/2014/main" id="{7DB6ECFF-0DD1-664E-0CFA-C19D0AB82917}"/>
              </a:ext>
            </a:extLst>
          </p:cNvPr>
          <p:cNvSpPr>
            <a:spLocks noGrp="1"/>
          </p:cNvSpPr>
          <p:nvPr>
            <p:ph idx="14"/>
          </p:nvPr>
        </p:nvSpPr>
        <p:spPr>
          <a:xfrm>
            <a:off x="119270" y="2019575"/>
            <a:ext cx="3339547" cy="2681635"/>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dirty="0"/>
              <a:t>Formula:</a:t>
            </a:r>
          </a:p>
          <a:p>
            <a:r>
              <a:rPr lang="en-US" dirty="0"/>
              <a:t>This formula determines a specific value based on the value in cell Z6 (Numbers of Level C).</a:t>
            </a:r>
          </a:p>
          <a:p>
            <a:r>
              <a:rPr lang="en-US" dirty="0"/>
              <a:t>Logic:</a:t>
            </a:r>
          </a:p>
          <a:p>
            <a:r>
              <a:rPr lang="en-US" dirty="0"/>
              <a:t>If Z6 is 0, the result is 0.</a:t>
            </a:r>
          </a:p>
          <a:p>
            <a:r>
              <a:rPr lang="en-US" dirty="0"/>
              <a:t>If Z6 is 1 or 2, the result is 2.</a:t>
            </a:r>
          </a:p>
          <a:p>
            <a:r>
              <a:rPr lang="en-US" dirty="0"/>
              <a:t>If Z6 is 3 or Greater, the result is 3</a:t>
            </a:r>
          </a:p>
          <a:p>
            <a:endParaRPr lang="en-US" dirty="0"/>
          </a:p>
        </p:txBody>
      </p:sp>
      <p:sp>
        <p:nvSpPr>
          <p:cNvPr id="8" name="Content Placeholder 7">
            <a:extLst>
              <a:ext uri="{FF2B5EF4-FFF2-40B4-BE49-F238E27FC236}">
                <a16:creationId xmlns:a16="http://schemas.microsoft.com/office/drawing/2014/main" id="{E0D1CE9E-0D85-9C26-6621-F66800C0D544}"/>
              </a:ext>
            </a:extLst>
          </p:cNvPr>
          <p:cNvSpPr>
            <a:spLocks noGrp="1"/>
          </p:cNvSpPr>
          <p:nvPr>
            <p:ph idx="15"/>
          </p:nvPr>
        </p:nvSpPr>
        <p:spPr>
          <a:xfrm>
            <a:off x="3617031" y="2019576"/>
            <a:ext cx="3618656" cy="2681634"/>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dirty="0"/>
              <a:t>Formula:</a:t>
            </a:r>
          </a:p>
          <a:p>
            <a:r>
              <a:rPr lang="en-US" dirty="0"/>
              <a:t>This formula determines a specific value based on the value in cell Z7 (Numbers of Level D).</a:t>
            </a:r>
          </a:p>
          <a:p>
            <a:r>
              <a:rPr lang="en-US" dirty="0"/>
              <a:t>Logic:</a:t>
            </a:r>
          </a:p>
          <a:p>
            <a:r>
              <a:rPr lang="en-US" dirty="0"/>
              <a:t>If Z7 is 0, the result is 0.</a:t>
            </a:r>
          </a:p>
          <a:p>
            <a:r>
              <a:rPr lang="en-US" dirty="0"/>
              <a:t>If Z7 is 1 or 2, or 3 the result is 1.</a:t>
            </a:r>
          </a:p>
          <a:p>
            <a:r>
              <a:rPr lang="en-US" dirty="0"/>
              <a:t>If Z7 is Greater than 3, the result is 2</a:t>
            </a:r>
          </a:p>
          <a:p>
            <a:endParaRPr lang="en-US" dirty="0"/>
          </a:p>
        </p:txBody>
      </p:sp>
      <p:sp>
        <p:nvSpPr>
          <p:cNvPr id="9" name="Title 3">
            <a:extLst>
              <a:ext uri="{FF2B5EF4-FFF2-40B4-BE49-F238E27FC236}">
                <a16:creationId xmlns:a16="http://schemas.microsoft.com/office/drawing/2014/main" id="{C4E2AA62-5658-9A01-EF6C-5B355C55BCA5}"/>
              </a:ext>
            </a:extLst>
          </p:cNvPr>
          <p:cNvSpPr txBox="1">
            <a:spLocks/>
          </p:cNvSpPr>
          <p:nvPr/>
        </p:nvSpPr>
        <p:spPr>
          <a:xfrm>
            <a:off x="526819" y="245527"/>
            <a:ext cx="9986493" cy="24465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altLang="en-US" sz="2400" b="1" dirty="0">
                <a:solidFill>
                  <a:schemeClr val="bg1"/>
                </a:solidFill>
                <a:highlight>
                  <a:srgbClr val="0000FF"/>
                </a:highlight>
                <a:latin typeface="Arial" panose="020B0604020202020204" pitchFamily="34" charset="0"/>
              </a:rPr>
              <a:t>S (Severity) </a:t>
            </a:r>
            <a:r>
              <a:rPr lang="en-US" altLang="en-US" sz="2400" dirty="0">
                <a:solidFill>
                  <a:schemeClr val="tx1"/>
                </a:solidFill>
                <a:latin typeface="Arial" panose="020B0604020202020204" pitchFamily="34" charset="0"/>
              </a:rPr>
              <a:t>  Value for the Contributions for Levels C , and D</a:t>
            </a:r>
            <a:endParaRPr lang="en-US" sz="2400" dirty="0"/>
          </a:p>
        </p:txBody>
      </p:sp>
      <p:sp>
        <p:nvSpPr>
          <p:cNvPr id="11" name="Title 3">
            <a:extLst>
              <a:ext uri="{FF2B5EF4-FFF2-40B4-BE49-F238E27FC236}">
                <a16:creationId xmlns:a16="http://schemas.microsoft.com/office/drawing/2014/main" id="{60609507-DE23-2B0A-6449-8819AAC3EDDC}"/>
              </a:ext>
            </a:extLst>
          </p:cNvPr>
          <p:cNvSpPr txBox="1">
            <a:spLocks/>
          </p:cNvSpPr>
          <p:nvPr/>
        </p:nvSpPr>
        <p:spPr>
          <a:xfrm>
            <a:off x="701456" y="1648309"/>
            <a:ext cx="2417988"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dirty="0">
                <a:solidFill>
                  <a:schemeClr val="tx1"/>
                </a:solidFill>
                <a:latin typeface="Arial" panose="020B0604020202020204" pitchFamily="34" charset="0"/>
              </a:rPr>
              <a:t>Explanation for Level C</a:t>
            </a:r>
            <a:endParaRPr lang="en-US" sz="1600" dirty="0"/>
          </a:p>
        </p:txBody>
      </p:sp>
      <p:sp>
        <p:nvSpPr>
          <p:cNvPr id="12" name="Title 3">
            <a:extLst>
              <a:ext uri="{FF2B5EF4-FFF2-40B4-BE49-F238E27FC236}">
                <a16:creationId xmlns:a16="http://schemas.microsoft.com/office/drawing/2014/main" id="{83C3CF86-EE64-81B7-AF0F-CA0E39676C26}"/>
              </a:ext>
            </a:extLst>
          </p:cNvPr>
          <p:cNvSpPr txBox="1">
            <a:spLocks/>
          </p:cNvSpPr>
          <p:nvPr/>
        </p:nvSpPr>
        <p:spPr>
          <a:xfrm>
            <a:off x="3896928" y="1655774"/>
            <a:ext cx="2417988"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dirty="0">
                <a:solidFill>
                  <a:schemeClr val="tx1"/>
                </a:solidFill>
                <a:latin typeface="Arial" panose="020B0604020202020204" pitchFamily="34" charset="0"/>
              </a:rPr>
              <a:t>Explanation for Level D</a:t>
            </a:r>
            <a:endParaRPr lang="en-US" sz="1600" dirty="0"/>
          </a:p>
        </p:txBody>
      </p:sp>
      <p:pic>
        <p:nvPicPr>
          <p:cNvPr id="29" name="Picture 28">
            <a:extLst>
              <a:ext uri="{FF2B5EF4-FFF2-40B4-BE49-F238E27FC236}">
                <a16:creationId xmlns:a16="http://schemas.microsoft.com/office/drawing/2014/main" id="{A770C2F9-949B-82C4-50E9-D0F54063600E}"/>
              </a:ext>
            </a:extLst>
          </p:cNvPr>
          <p:cNvPicPr>
            <a:picLocks noChangeAspect="1"/>
          </p:cNvPicPr>
          <p:nvPr/>
        </p:nvPicPr>
        <p:blipFill>
          <a:blip r:embed="rId2"/>
          <a:stretch>
            <a:fillRect/>
          </a:stretch>
        </p:blipFill>
        <p:spPr>
          <a:xfrm>
            <a:off x="6753026" y="1743355"/>
            <a:ext cx="5560034" cy="3371380"/>
          </a:xfrm>
          <a:prstGeom prst="rect">
            <a:avLst/>
          </a:prstGeom>
        </p:spPr>
      </p:pic>
      <p:sp>
        <p:nvSpPr>
          <p:cNvPr id="30" name="Title 3">
            <a:extLst>
              <a:ext uri="{FF2B5EF4-FFF2-40B4-BE49-F238E27FC236}">
                <a16:creationId xmlns:a16="http://schemas.microsoft.com/office/drawing/2014/main" id="{F21C7DD7-3064-7B9E-DA4A-7F961F98171A}"/>
              </a:ext>
            </a:extLst>
          </p:cNvPr>
          <p:cNvSpPr txBox="1">
            <a:spLocks/>
          </p:cNvSpPr>
          <p:nvPr/>
        </p:nvSpPr>
        <p:spPr>
          <a:xfrm>
            <a:off x="3786809" y="1067526"/>
            <a:ext cx="5114412"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u="sng" dirty="0">
                <a:solidFill>
                  <a:schemeClr val="tx1"/>
                </a:solidFill>
                <a:latin typeface="Arial" panose="020B0604020202020204" pitchFamily="34" charset="0"/>
              </a:rPr>
              <a:t>Calculating the severity for Level C (Z6) &amp; Level D ( Z7)</a:t>
            </a:r>
            <a:endParaRPr lang="en-US" sz="1600" u="sng" dirty="0"/>
          </a:p>
        </p:txBody>
      </p:sp>
    </p:spTree>
    <p:extLst>
      <p:ext uri="{BB962C8B-B14F-4D97-AF65-F5344CB8AC3E}">
        <p14:creationId xmlns:p14="http://schemas.microsoft.com/office/powerpoint/2010/main" val="2863129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A287EDD-A739-7A3B-2CDA-76FD2767C953}"/>
              </a:ext>
            </a:extLst>
          </p:cNvPr>
          <p:cNvSpPr>
            <a:spLocks noGrp="1"/>
          </p:cNvSpPr>
          <p:nvPr>
            <p:ph type="ftr" sz="quarter" idx="11"/>
          </p:nvPr>
        </p:nvSpPr>
        <p:spPr/>
        <p:txBody>
          <a:bodyPr/>
          <a:lstStyle/>
          <a:p>
            <a:r>
              <a:rPr lang="en-US" dirty="0"/>
              <a:t>© 2024 GE Vernova and/or its affiliates. All rights reserved.</a:t>
            </a:r>
          </a:p>
        </p:txBody>
      </p:sp>
      <p:sp>
        <p:nvSpPr>
          <p:cNvPr id="3" name="Slide Number Placeholder 2">
            <a:extLst>
              <a:ext uri="{FF2B5EF4-FFF2-40B4-BE49-F238E27FC236}">
                <a16:creationId xmlns:a16="http://schemas.microsoft.com/office/drawing/2014/main" id="{F2292D6B-8DB9-BB5F-4D56-3C58794C0371}"/>
              </a:ext>
            </a:extLst>
          </p:cNvPr>
          <p:cNvSpPr>
            <a:spLocks noGrp="1"/>
          </p:cNvSpPr>
          <p:nvPr>
            <p:ph type="sldNum" sz="quarter" idx="12"/>
          </p:nvPr>
        </p:nvSpPr>
        <p:spPr/>
        <p:txBody>
          <a:bodyPr/>
          <a:lstStyle/>
          <a:p>
            <a:fld id="{7A7A97EF-C944-4447-B862-B593E9B4A0FF}" type="slidenum">
              <a:rPr lang="en-US" smtClean="0"/>
              <a:pPr/>
              <a:t>11</a:t>
            </a:fld>
            <a:endParaRPr lang="en-US" dirty="0"/>
          </a:p>
        </p:txBody>
      </p:sp>
      <p:sp>
        <p:nvSpPr>
          <p:cNvPr id="4" name="Title 3">
            <a:extLst>
              <a:ext uri="{FF2B5EF4-FFF2-40B4-BE49-F238E27FC236}">
                <a16:creationId xmlns:a16="http://schemas.microsoft.com/office/drawing/2014/main" id="{75156CDE-03DB-D2EF-3648-5A667C05B8BD}"/>
              </a:ext>
            </a:extLst>
          </p:cNvPr>
          <p:cNvSpPr>
            <a:spLocks noGrp="1"/>
          </p:cNvSpPr>
          <p:nvPr>
            <p:ph type="title"/>
          </p:nvPr>
        </p:nvSpPr>
        <p:spPr>
          <a:xfrm>
            <a:off x="809114" y="1429907"/>
            <a:ext cx="2417988" cy="225691"/>
          </a:xfrm>
        </p:spPr>
        <p:txBody>
          <a:bodyPr/>
          <a:lstStyle/>
          <a:p>
            <a:r>
              <a:rPr kumimoji="0" lang="en-US" altLang="en-US" sz="1600" b="0" i="0" u="none" strike="noStrike" cap="none" normalizeH="0" baseline="0" dirty="0">
                <a:ln>
                  <a:noFill/>
                </a:ln>
                <a:solidFill>
                  <a:schemeClr val="tx1"/>
                </a:solidFill>
                <a:effectLst/>
                <a:latin typeface="Arial" panose="020B0604020202020204" pitchFamily="34" charset="0"/>
              </a:rPr>
              <a:t>Explanation </a:t>
            </a:r>
            <a:r>
              <a:rPr lang="en-US" altLang="en-US" sz="1600" dirty="0">
                <a:solidFill>
                  <a:schemeClr val="tx1"/>
                </a:solidFill>
                <a:latin typeface="Arial" panose="020B0604020202020204" pitchFamily="34" charset="0"/>
              </a:rPr>
              <a:t>for</a:t>
            </a:r>
            <a:r>
              <a:rPr kumimoji="0" lang="en-US" altLang="en-US" sz="1600" b="0" i="0" u="none" strike="noStrike" cap="none" normalizeH="0" baseline="0" dirty="0">
                <a:ln>
                  <a:noFill/>
                </a:ln>
                <a:solidFill>
                  <a:schemeClr val="tx1"/>
                </a:solidFill>
                <a:effectLst/>
                <a:latin typeface="Arial" panose="020B0604020202020204" pitchFamily="34" charset="0"/>
              </a:rPr>
              <a:t>  PSE</a:t>
            </a:r>
            <a:endParaRPr lang="en-US" sz="1600" dirty="0"/>
          </a:p>
        </p:txBody>
      </p:sp>
      <p:sp>
        <p:nvSpPr>
          <p:cNvPr id="5" name="Content Placeholder 4">
            <a:extLst>
              <a:ext uri="{FF2B5EF4-FFF2-40B4-BE49-F238E27FC236}">
                <a16:creationId xmlns:a16="http://schemas.microsoft.com/office/drawing/2014/main" id="{094AF73A-EC25-6597-5616-7BE640B12A7D}"/>
              </a:ext>
            </a:extLst>
          </p:cNvPr>
          <p:cNvSpPr>
            <a:spLocks noGrp="1"/>
          </p:cNvSpPr>
          <p:nvPr>
            <p:ph idx="1"/>
          </p:nvPr>
        </p:nvSpPr>
        <p:spPr>
          <a:xfrm>
            <a:off x="139148" y="1759034"/>
            <a:ext cx="3607904" cy="2733453"/>
          </a:xfrm>
        </p:spPr>
        <p:style>
          <a:lnRef idx="3">
            <a:schemeClr val="lt1"/>
          </a:lnRef>
          <a:fillRef idx="1">
            <a:schemeClr val="accent3"/>
          </a:fillRef>
          <a:effectRef idx="1">
            <a:schemeClr val="accent3"/>
          </a:effectRef>
          <a:fontRef idx="minor">
            <a:schemeClr val="lt1"/>
          </a:fontRef>
        </p:style>
        <p:txBody>
          <a:bodyPr/>
          <a:lstStyle/>
          <a:p>
            <a:r>
              <a:rPr lang="en-US" dirty="0"/>
              <a:t>        Formula:</a:t>
            </a:r>
          </a:p>
          <a:p>
            <a:r>
              <a:rPr lang="en-US" dirty="0"/>
              <a:t>This formula determines a specific value based on the value in cell Z8 (Numbers of PSEs).</a:t>
            </a:r>
          </a:p>
          <a:p>
            <a:r>
              <a:rPr lang="en-US" dirty="0"/>
              <a:t>Logic:</a:t>
            </a:r>
          </a:p>
          <a:p>
            <a:r>
              <a:rPr lang="en-US" dirty="0"/>
              <a:t>If Z8 is 0, the result is 0.</a:t>
            </a:r>
          </a:p>
          <a:p>
            <a:r>
              <a:rPr lang="en-US" dirty="0"/>
              <a:t>If Z8 is one or greater, the result is 4.</a:t>
            </a:r>
          </a:p>
          <a:p>
            <a:endParaRPr lang="en-US" dirty="0"/>
          </a:p>
          <a:p>
            <a:endParaRPr lang="en-US" dirty="0"/>
          </a:p>
        </p:txBody>
      </p:sp>
      <p:sp>
        <p:nvSpPr>
          <p:cNvPr id="6" name="Content Placeholder 5">
            <a:extLst>
              <a:ext uri="{FF2B5EF4-FFF2-40B4-BE49-F238E27FC236}">
                <a16:creationId xmlns:a16="http://schemas.microsoft.com/office/drawing/2014/main" id="{D6647232-FAB9-FC57-2ECC-54A5D7823B25}"/>
              </a:ext>
            </a:extLst>
          </p:cNvPr>
          <p:cNvSpPr>
            <a:spLocks noGrp="1"/>
          </p:cNvSpPr>
          <p:nvPr>
            <p:ph idx="13"/>
          </p:nvPr>
        </p:nvSpPr>
        <p:spPr>
          <a:xfrm>
            <a:off x="4001034" y="1759034"/>
            <a:ext cx="3607904" cy="2733453"/>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dirty="0"/>
              <a:t> Formula:</a:t>
            </a:r>
          </a:p>
          <a:p>
            <a:r>
              <a:rPr lang="en-US" dirty="0"/>
              <a:t>This formula determines a specific value based on the value in cell Z9 (Numbers of NMs).</a:t>
            </a:r>
          </a:p>
          <a:p>
            <a:r>
              <a:rPr lang="en-US" dirty="0"/>
              <a:t>Logic:</a:t>
            </a:r>
          </a:p>
          <a:p>
            <a:r>
              <a:rPr lang="en-US" dirty="0"/>
              <a:t>If Z9 is 0, the result is 0.</a:t>
            </a:r>
          </a:p>
          <a:p>
            <a:r>
              <a:rPr lang="en-US" dirty="0"/>
              <a:t>If Z9 is 1, 2, or 3 the result is 1.</a:t>
            </a:r>
          </a:p>
          <a:p>
            <a:r>
              <a:rPr lang="en-US" dirty="0"/>
              <a:t>If Z9 is greater than 3, the result is 2.</a:t>
            </a:r>
          </a:p>
        </p:txBody>
      </p:sp>
      <p:sp>
        <p:nvSpPr>
          <p:cNvPr id="9" name="Title 3">
            <a:extLst>
              <a:ext uri="{FF2B5EF4-FFF2-40B4-BE49-F238E27FC236}">
                <a16:creationId xmlns:a16="http://schemas.microsoft.com/office/drawing/2014/main" id="{C4E2AA62-5658-9A01-EF6C-5B355C55BCA5}"/>
              </a:ext>
            </a:extLst>
          </p:cNvPr>
          <p:cNvSpPr txBox="1">
            <a:spLocks/>
          </p:cNvSpPr>
          <p:nvPr/>
        </p:nvSpPr>
        <p:spPr>
          <a:xfrm>
            <a:off x="526819" y="245527"/>
            <a:ext cx="9986493" cy="24465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altLang="en-US" sz="2400" b="1" dirty="0">
                <a:solidFill>
                  <a:schemeClr val="bg1"/>
                </a:solidFill>
                <a:highlight>
                  <a:srgbClr val="0000FF"/>
                </a:highlight>
                <a:latin typeface="Arial" panose="020B0604020202020204" pitchFamily="34" charset="0"/>
              </a:rPr>
              <a:t>S (Severity) </a:t>
            </a:r>
            <a:r>
              <a:rPr lang="en-US" altLang="en-US" sz="2400" dirty="0">
                <a:solidFill>
                  <a:schemeClr val="tx1"/>
                </a:solidFill>
                <a:latin typeface="Arial" panose="020B0604020202020204" pitchFamily="34" charset="0"/>
              </a:rPr>
              <a:t>  Value for the Contributions for PSE and NM </a:t>
            </a:r>
            <a:endParaRPr lang="en-US" sz="2400" dirty="0"/>
          </a:p>
        </p:txBody>
      </p:sp>
      <p:sp>
        <p:nvSpPr>
          <p:cNvPr id="10" name="Title 3">
            <a:extLst>
              <a:ext uri="{FF2B5EF4-FFF2-40B4-BE49-F238E27FC236}">
                <a16:creationId xmlns:a16="http://schemas.microsoft.com/office/drawing/2014/main" id="{6ADE6687-1AED-D5D1-D042-DAF6DEFE4A01}"/>
              </a:ext>
            </a:extLst>
          </p:cNvPr>
          <p:cNvSpPr txBox="1">
            <a:spLocks/>
          </p:cNvSpPr>
          <p:nvPr/>
        </p:nvSpPr>
        <p:spPr>
          <a:xfrm>
            <a:off x="4675167" y="1449043"/>
            <a:ext cx="2417988"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dirty="0">
                <a:solidFill>
                  <a:schemeClr val="tx1"/>
                </a:solidFill>
                <a:latin typeface="Arial" panose="020B0604020202020204" pitchFamily="34" charset="0"/>
              </a:rPr>
              <a:t>Explanation for NM</a:t>
            </a:r>
            <a:endParaRPr lang="en-US" sz="1600" dirty="0"/>
          </a:p>
        </p:txBody>
      </p:sp>
      <p:pic>
        <p:nvPicPr>
          <p:cNvPr id="22" name="Picture 21">
            <a:extLst>
              <a:ext uri="{FF2B5EF4-FFF2-40B4-BE49-F238E27FC236}">
                <a16:creationId xmlns:a16="http://schemas.microsoft.com/office/drawing/2014/main" id="{61A4D157-951D-9F61-2659-709696E194E1}"/>
              </a:ext>
            </a:extLst>
          </p:cNvPr>
          <p:cNvPicPr>
            <a:picLocks noChangeAspect="1"/>
          </p:cNvPicPr>
          <p:nvPr/>
        </p:nvPicPr>
        <p:blipFill>
          <a:blip r:embed="rId2"/>
          <a:stretch>
            <a:fillRect/>
          </a:stretch>
        </p:blipFill>
        <p:spPr>
          <a:xfrm>
            <a:off x="7188072" y="1579854"/>
            <a:ext cx="5003928" cy="3091812"/>
          </a:xfrm>
          <a:prstGeom prst="rect">
            <a:avLst/>
          </a:prstGeom>
        </p:spPr>
      </p:pic>
      <p:sp>
        <p:nvSpPr>
          <p:cNvPr id="23" name="Title 3">
            <a:extLst>
              <a:ext uri="{FF2B5EF4-FFF2-40B4-BE49-F238E27FC236}">
                <a16:creationId xmlns:a16="http://schemas.microsoft.com/office/drawing/2014/main" id="{617A37B9-7A63-E701-57B0-F3BDBB5E0476}"/>
              </a:ext>
            </a:extLst>
          </p:cNvPr>
          <p:cNvSpPr txBox="1">
            <a:spLocks/>
          </p:cNvSpPr>
          <p:nvPr/>
        </p:nvSpPr>
        <p:spPr>
          <a:xfrm>
            <a:off x="3842007" y="928636"/>
            <a:ext cx="4931666"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u="sng" dirty="0">
                <a:solidFill>
                  <a:schemeClr val="tx1"/>
                </a:solidFill>
                <a:latin typeface="Arial" panose="020B0604020202020204" pitchFamily="34" charset="0"/>
              </a:rPr>
              <a:t>Calculating the severity for PSE (Z8) &amp; NM (Z9)</a:t>
            </a:r>
            <a:endParaRPr lang="en-US" sz="1600" u="sng" dirty="0"/>
          </a:p>
        </p:txBody>
      </p:sp>
    </p:spTree>
    <p:extLst>
      <p:ext uri="{BB962C8B-B14F-4D97-AF65-F5344CB8AC3E}">
        <p14:creationId xmlns:p14="http://schemas.microsoft.com/office/powerpoint/2010/main" val="725612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A287EDD-A739-7A3B-2CDA-76FD2767C953}"/>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3" name="Slide Number Placeholder 2">
            <a:extLst>
              <a:ext uri="{FF2B5EF4-FFF2-40B4-BE49-F238E27FC236}">
                <a16:creationId xmlns:a16="http://schemas.microsoft.com/office/drawing/2014/main" id="{F2292D6B-8DB9-BB5F-4D56-3C58794C0371}"/>
              </a:ext>
            </a:extLst>
          </p:cNvPr>
          <p:cNvSpPr>
            <a:spLocks noGrp="1"/>
          </p:cNvSpPr>
          <p:nvPr>
            <p:ph type="sldNum" sz="quarter" idx="12"/>
          </p:nvPr>
        </p:nvSpPr>
        <p:spPr/>
        <p:txBody>
          <a:bodyPr/>
          <a:lstStyle/>
          <a:p>
            <a:fld id="{7A7A97EF-C944-4447-B862-B593E9B4A0FF}" type="slidenum">
              <a:rPr lang="en-US" smtClean="0"/>
              <a:pPr/>
              <a:t>12</a:t>
            </a:fld>
            <a:endParaRPr lang="en-US" dirty="0"/>
          </a:p>
        </p:txBody>
      </p:sp>
      <p:sp>
        <p:nvSpPr>
          <p:cNvPr id="8" name="Content Placeholder 7">
            <a:extLst>
              <a:ext uri="{FF2B5EF4-FFF2-40B4-BE49-F238E27FC236}">
                <a16:creationId xmlns:a16="http://schemas.microsoft.com/office/drawing/2014/main" id="{E0D1CE9E-0D85-9C26-6621-F66800C0D544}"/>
              </a:ext>
            </a:extLst>
          </p:cNvPr>
          <p:cNvSpPr>
            <a:spLocks noGrp="1"/>
          </p:cNvSpPr>
          <p:nvPr>
            <p:ph idx="15"/>
          </p:nvPr>
        </p:nvSpPr>
        <p:spPr>
          <a:xfrm>
            <a:off x="1472697" y="1926075"/>
            <a:ext cx="4234270" cy="3490751"/>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dirty="0"/>
              <a:t>Formula:</a:t>
            </a:r>
          </a:p>
          <a:p>
            <a:r>
              <a:rPr lang="en-US" dirty="0"/>
              <a:t>This formula determines a specific value based on the value in cell Z10 (ATS contribution) or Z11 (CR Contribution)</a:t>
            </a:r>
          </a:p>
          <a:p>
            <a:r>
              <a:rPr lang="en-US" dirty="0"/>
              <a:t>Logic:</a:t>
            </a:r>
          </a:p>
          <a:p>
            <a:r>
              <a:rPr lang="en-US" dirty="0"/>
              <a:t>If Z10 or Z11 is 0, the result is 0.</a:t>
            </a:r>
          </a:p>
          <a:p>
            <a:r>
              <a:rPr lang="en-US" dirty="0"/>
              <a:t>If Z10 or Z11 is 1 or 2, the result is 1.</a:t>
            </a:r>
          </a:p>
          <a:p>
            <a:r>
              <a:rPr lang="en-US" dirty="0"/>
              <a:t>If Z10 or Z11 is 3 to 9, the result is 2</a:t>
            </a:r>
          </a:p>
          <a:p>
            <a:r>
              <a:rPr lang="en-US" dirty="0"/>
              <a:t>If Z10 or Z11 is 10 to 19, the result is 3</a:t>
            </a:r>
          </a:p>
          <a:p>
            <a:r>
              <a:rPr lang="en-US" dirty="0"/>
              <a:t>If Z10 or Z11 is 20 or greater, the result is 4</a:t>
            </a:r>
          </a:p>
          <a:p>
            <a:endParaRPr lang="en-US" dirty="0"/>
          </a:p>
        </p:txBody>
      </p:sp>
      <p:sp>
        <p:nvSpPr>
          <p:cNvPr id="9" name="Title 3">
            <a:extLst>
              <a:ext uri="{FF2B5EF4-FFF2-40B4-BE49-F238E27FC236}">
                <a16:creationId xmlns:a16="http://schemas.microsoft.com/office/drawing/2014/main" id="{C4E2AA62-5658-9A01-EF6C-5B355C55BCA5}"/>
              </a:ext>
            </a:extLst>
          </p:cNvPr>
          <p:cNvSpPr txBox="1">
            <a:spLocks/>
          </p:cNvSpPr>
          <p:nvPr/>
        </p:nvSpPr>
        <p:spPr>
          <a:xfrm>
            <a:off x="526819" y="245527"/>
            <a:ext cx="9986493" cy="24465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altLang="en-US" sz="2400" b="1">
                <a:solidFill>
                  <a:schemeClr val="bg1"/>
                </a:solidFill>
                <a:highlight>
                  <a:srgbClr val="0000FF"/>
                </a:highlight>
                <a:latin typeface="Arial" panose="020B0604020202020204" pitchFamily="34" charset="0"/>
              </a:rPr>
              <a:t>S (Severity) </a:t>
            </a:r>
            <a:r>
              <a:rPr lang="en-US" altLang="en-US" sz="2400">
                <a:solidFill>
                  <a:schemeClr val="tx1"/>
                </a:solidFill>
                <a:latin typeface="Arial" panose="020B0604020202020204" pitchFamily="34" charset="0"/>
              </a:rPr>
              <a:t>  Value for the Contributions CR and ATS</a:t>
            </a:r>
            <a:endParaRPr lang="en-US" sz="2400" dirty="0"/>
          </a:p>
        </p:txBody>
      </p:sp>
      <p:sp>
        <p:nvSpPr>
          <p:cNvPr id="12" name="Title 3">
            <a:extLst>
              <a:ext uri="{FF2B5EF4-FFF2-40B4-BE49-F238E27FC236}">
                <a16:creationId xmlns:a16="http://schemas.microsoft.com/office/drawing/2014/main" id="{83C3CF86-EE64-81B7-AF0F-CA0E39676C26}"/>
              </a:ext>
            </a:extLst>
          </p:cNvPr>
          <p:cNvSpPr txBox="1">
            <a:spLocks/>
          </p:cNvSpPr>
          <p:nvPr/>
        </p:nvSpPr>
        <p:spPr>
          <a:xfrm>
            <a:off x="4073186" y="1149666"/>
            <a:ext cx="4931666"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dirty="0">
                <a:solidFill>
                  <a:schemeClr val="tx1"/>
                </a:solidFill>
                <a:latin typeface="Arial" panose="020B0604020202020204" pitchFamily="34" charset="0"/>
              </a:rPr>
              <a:t>Calculating the severity for CR (Z10) &amp; ATS (Z11)</a:t>
            </a:r>
            <a:endParaRPr lang="en-US" sz="1600" dirty="0"/>
          </a:p>
        </p:txBody>
      </p:sp>
      <p:pic>
        <p:nvPicPr>
          <p:cNvPr id="23" name="Picture 22">
            <a:extLst>
              <a:ext uri="{FF2B5EF4-FFF2-40B4-BE49-F238E27FC236}">
                <a16:creationId xmlns:a16="http://schemas.microsoft.com/office/drawing/2014/main" id="{7F540AB0-0711-C5CA-5D3D-B00E0A6E54B2}"/>
              </a:ext>
            </a:extLst>
          </p:cNvPr>
          <p:cNvPicPr>
            <a:picLocks noChangeAspect="1"/>
          </p:cNvPicPr>
          <p:nvPr/>
        </p:nvPicPr>
        <p:blipFill>
          <a:blip r:embed="rId2"/>
          <a:stretch>
            <a:fillRect/>
          </a:stretch>
        </p:blipFill>
        <p:spPr>
          <a:xfrm>
            <a:off x="5920680" y="1805837"/>
            <a:ext cx="5956308" cy="3371380"/>
          </a:xfrm>
          <a:prstGeom prst="rect">
            <a:avLst/>
          </a:prstGeom>
        </p:spPr>
      </p:pic>
      <p:sp>
        <p:nvSpPr>
          <p:cNvPr id="24" name="Title 3">
            <a:extLst>
              <a:ext uri="{FF2B5EF4-FFF2-40B4-BE49-F238E27FC236}">
                <a16:creationId xmlns:a16="http://schemas.microsoft.com/office/drawing/2014/main" id="{41F3ED76-44AE-AE6D-29AB-996BBE03AD31}"/>
              </a:ext>
            </a:extLst>
          </p:cNvPr>
          <p:cNvSpPr>
            <a:spLocks noGrp="1"/>
          </p:cNvSpPr>
          <p:nvPr>
            <p:ph type="title"/>
          </p:nvPr>
        </p:nvSpPr>
        <p:spPr>
          <a:xfrm>
            <a:off x="1862661" y="1580146"/>
            <a:ext cx="2417988" cy="225691"/>
          </a:xfrm>
        </p:spPr>
        <p:txBody>
          <a:bodyPr/>
          <a:lstStyle/>
          <a:p>
            <a:r>
              <a:rPr kumimoji="0" lang="en-US" altLang="en-US" sz="1600" b="0" i="0" u="none" strike="noStrike" cap="none" normalizeH="0" baseline="0" dirty="0">
                <a:ln>
                  <a:noFill/>
                </a:ln>
                <a:solidFill>
                  <a:schemeClr val="tx1"/>
                </a:solidFill>
                <a:effectLst/>
                <a:latin typeface="Arial" panose="020B0604020202020204" pitchFamily="34" charset="0"/>
              </a:rPr>
              <a:t>Explanation </a:t>
            </a:r>
            <a:r>
              <a:rPr lang="en-US" altLang="en-US" sz="1600" dirty="0">
                <a:solidFill>
                  <a:schemeClr val="tx1"/>
                </a:solidFill>
                <a:latin typeface="Arial" panose="020B0604020202020204" pitchFamily="34" charset="0"/>
              </a:rPr>
              <a:t>for CR &amp; ATS</a:t>
            </a:r>
            <a:endParaRPr lang="en-US" sz="1600" dirty="0"/>
          </a:p>
        </p:txBody>
      </p:sp>
    </p:spTree>
    <p:extLst>
      <p:ext uri="{BB962C8B-B14F-4D97-AF65-F5344CB8AC3E}">
        <p14:creationId xmlns:p14="http://schemas.microsoft.com/office/powerpoint/2010/main" val="682211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B609C9-F48E-222B-5238-3C072E71CD7E}"/>
              </a:ext>
            </a:extLst>
          </p:cNvPr>
          <p:cNvSpPr>
            <a:spLocks noGrp="1"/>
          </p:cNvSpPr>
          <p:nvPr>
            <p:ph type="ftr" sz="quarter" idx="11"/>
          </p:nvPr>
        </p:nvSpPr>
        <p:spPr/>
        <p:txBody>
          <a:bodyPr/>
          <a:lstStyle/>
          <a:p>
            <a:r>
              <a:rPr lang="en-US" dirty="0"/>
              <a:t>© 2024 GE Vernova and/or its affiliates. All rights reserved.</a:t>
            </a:r>
          </a:p>
        </p:txBody>
      </p:sp>
      <p:sp>
        <p:nvSpPr>
          <p:cNvPr id="3" name="Slide Number Placeholder 2">
            <a:extLst>
              <a:ext uri="{FF2B5EF4-FFF2-40B4-BE49-F238E27FC236}">
                <a16:creationId xmlns:a16="http://schemas.microsoft.com/office/drawing/2014/main" id="{0074698E-F643-41FF-31C1-9C0A5A633DF7}"/>
              </a:ext>
            </a:extLst>
          </p:cNvPr>
          <p:cNvSpPr>
            <a:spLocks noGrp="1"/>
          </p:cNvSpPr>
          <p:nvPr>
            <p:ph type="sldNum" sz="quarter" idx="12"/>
          </p:nvPr>
        </p:nvSpPr>
        <p:spPr/>
        <p:txBody>
          <a:bodyPr/>
          <a:lstStyle/>
          <a:p>
            <a:fld id="{7A7A97EF-C944-4447-B862-B593E9B4A0FF}" type="slidenum">
              <a:rPr lang="en-US" smtClean="0"/>
              <a:pPr/>
              <a:t>13</a:t>
            </a:fld>
            <a:endParaRPr lang="en-US" dirty="0"/>
          </a:p>
        </p:txBody>
      </p:sp>
      <p:sp>
        <p:nvSpPr>
          <p:cNvPr id="5" name="Content Placeholder 4">
            <a:extLst>
              <a:ext uri="{FF2B5EF4-FFF2-40B4-BE49-F238E27FC236}">
                <a16:creationId xmlns:a16="http://schemas.microsoft.com/office/drawing/2014/main" id="{CF7B4258-0638-621B-F789-9C439E1ABAE7}"/>
              </a:ext>
            </a:extLst>
          </p:cNvPr>
          <p:cNvSpPr>
            <a:spLocks noGrp="1"/>
          </p:cNvSpPr>
          <p:nvPr>
            <p:ph idx="1"/>
          </p:nvPr>
        </p:nvSpPr>
        <p:spPr>
          <a:xfrm>
            <a:off x="526819" y="2226532"/>
            <a:ext cx="4826669" cy="3158711"/>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dirty="0"/>
              <a:t> Formula: </a:t>
            </a:r>
          </a:p>
          <a:p>
            <a:r>
              <a:rPr lang="en-US" dirty="0"/>
              <a:t>This formula assigned a value to F based on the value in cell Z4,5,6,7 or Z8 (Numbers of Level A,B,C,D or PSE).</a:t>
            </a:r>
          </a:p>
          <a:p>
            <a:r>
              <a:rPr lang="en-US" dirty="0"/>
              <a:t>Logic:</a:t>
            </a:r>
          </a:p>
          <a:p>
            <a:r>
              <a:rPr lang="en-US" dirty="0"/>
              <a:t>If Z4,5,6,7 or Z8 is 0, the result is 0.</a:t>
            </a:r>
          </a:p>
          <a:p>
            <a:r>
              <a:rPr lang="en-US" dirty="0"/>
              <a:t>If Z4,5,6,7 or Z8 is 1,2, or 3 the result is 3</a:t>
            </a:r>
          </a:p>
          <a:p>
            <a:r>
              <a:rPr lang="en-US" dirty="0"/>
              <a:t>If Z4,5,6,7 or Z8 is 4 to 11, the result is 4</a:t>
            </a:r>
          </a:p>
          <a:p>
            <a:r>
              <a:rPr lang="en-US" dirty="0"/>
              <a:t>If Z4,5,6,7 or Z8 is 12 or greater, the result is 5</a:t>
            </a:r>
            <a:r>
              <a:rPr lang="en-US" sz="1200" dirty="0"/>
              <a:t>.</a:t>
            </a:r>
          </a:p>
        </p:txBody>
      </p:sp>
      <p:sp>
        <p:nvSpPr>
          <p:cNvPr id="9" name="Title 3">
            <a:extLst>
              <a:ext uri="{FF2B5EF4-FFF2-40B4-BE49-F238E27FC236}">
                <a16:creationId xmlns:a16="http://schemas.microsoft.com/office/drawing/2014/main" id="{84D31E8D-BA6C-3B83-D076-E13BAEEB6DD7}"/>
              </a:ext>
            </a:extLst>
          </p:cNvPr>
          <p:cNvSpPr txBox="1">
            <a:spLocks/>
          </p:cNvSpPr>
          <p:nvPr/>
        </p:nvSpPr>
        <p:spPr>
          <a:xfrm>
            <a:off x="526819" y="149431"/>
            <a:ext cx="9986493" cy="24465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altLang="en-US" sz="2400" b="1" dirty="0">
                <a:solidFill>
                  <a:schemeClr val="tx2"/>
                </a:solidFill>
                <a:highlight>
                  <a:srgbClr val="FFFF00"/>
                </a:highlight>
                <a:latin typeface="Arial" panose="020B0604020202020204" pitchFamily="34" charset="0"/>
              </a:rPr>
              <a:t>F (Frequency) </a:t>
            </a:r>
            <a:r>
              <a:rPr lang="en-US" altLang="en-US" sz="2400" dirty="0">
                <a:solidFill>
                  <a:schemeClr val="tx2"/>
                </a:solidFill>
                <a:highlight>
                  <a:srgbClr val="FFFF00"/>
                </a:highlight>
                <a:latin typeface="Arial" panose="020B0604020202020204" pitchFamily="34" charset="0"/>
              </a:rPr>
              <a:t> </a:t>
            </a:r>
            <a:r>
              <a:rPr lang="en-US" altLang="en-US" sz="2400" dirty="0">
                <a:solidFill>
                  <a:schemeClr val="tx2"/>
                </a:solidFill>
                <a:latin typeface="Arial" panose="020B0604020202020204" pitchFamily="34" charset="0"/>
              </a:rPr>
              <a:t> </a:t>
            </a:r>
            <a:r>
              <a:rPr lang="en-US" altLang="en-US" sz="1800" dirty="0">
                <a:solidFill>
                  <a:schemeClr val="tx1"/>
                </a:solidFill>
                <a:latin typeface="Arial" panose="020B0604020202020204" pitchFamily="34" charset="0"/>
              </a:rPr>
              <a:t>Value for the Contributions Levels A, B, C , D, PSE</a:t>
            </a:r>
            <a:endParaRPr lang="en-US" sz="1800" dirty="0"/>
          </a:p>
        </p:txBody>
      </p:sp>
      <p:sp>
        <p:nvSpPr>
          <p:cNvPr id="10" name="Title 3">
            <a:extLst>
              <a:ext uri="{FF2B5EF4-FFF2-40B4-BE49-F238E27FC236}">
                <a16:creationId xmlns:a16="http://schemas.microsoft.com/office/drawing/2014/main" id="{72F8B14E-22FE-1FCA-8CEE-42F32E91B459}"/>
              </a:ext>
            </a:extLst>
          </p:cNvPr>
          <p:cNvSpPr>
            <a:spLocks noGrp="1"/>
          </p:cNvSpPr>
          <p:nvPr>
            <p:ph type="title"/>
          </p:nvPr>
        </p:nvSpPr>
        <p:spPr>
          <a:xfrm>
            <a:off x="737464" y="1906782"/>
            <a:ext cx="4405377" cy="344170"/>
          </a:xfrm>
        </p:spPr>
        <p:txBody>
          <a:bodyPr/>
          <a:lstStyle/>
          <a:p>
            <a:r>
              <a:rPr kumimoji="0" lang="en-US" altLang="en-US" sz="1600" b="0" i="0" u="none" strike="noStrike" cap="none" normalizeH="0" baseline="0" dirty="0">
                <a:ln>
                  <a:noFill/>
                </a:ln>
                <a:solidFill>
                  <a:schemeClr val="tx1"/>
                </a:solidFill>
                <a:effectLst/>
                <a:latin typeface="Arial" panose="020B0604020202020204" pitchFamily="34" charset="0"/>
              </a:rPr>
              <a:t>Explanation </a:t>
            </a:r>
            <a:r>
              <a:rPr lang="en-US" altLang="en-US" sz="1600" dirty="0">
                <a:solidFill>
                  <a:schemeClr val="tx1"/>
                </a:solidFill>
                <a:latin typeface="Arial" panose="020B0604020202020204" pitchFamily="34" charset="0"/>
              </a:rPr>
              <a:t>for</a:t>
            </a:r>
            <a:r>
              <a:rPr kumimoji="0" lang="en-US" altLang="en-US" sz="1600" b="0" i="0" u="none" strike="noStrike" cap="none" normalizeH="0" baseline="0" dirty="0">
                <a:ln>
                  <a:noFill/>
                </a:ln>
                <a:solidFill>
                  <a:schemeClr val="tx1"/>
                </a:solidFill>
                <a:effectLst/>
                <a:latin typeface="Arial" panose="020B0604020202020204" pitchFamily="34" charset="0"/>
              </a:rPr>
              <a:t> Level A, B, C, D or PSE</a:t>
            </a:r>
            <a:endParaRPr lang="en-US" sz="1600" dirty="0"/>
          </a:p>
        </p:txBody>
      </p:sp>
      <p:pic>
        <p:nvPicPr>
          <p:cNvPr id="28" name="Picture 27">
            <a:extLst>
              <a:ext uri="{FF2B5EF4-FFF2-40B4-BE49-F238E27FC236}">
                <a16:creationId xmlns:a16="http://schemas.microsoft.com/office/drawing/2014/main" id="{DA27325B-2E06-9A6A-A38D-479868A0AAB6}"/>
              </a:ext>
            </a:extLst>
          </p:cNvPr>
          <p:cNvPicPr>
            <a:picLocks noChangeAspect="1"/>
          </p:cNvPicPr>
          <p:nvPr/>
        </p:nvPicPr>
        <p:blipFill>
          <a:blip r:embed="rId3"/>
          <a:stretch>
            <a:fillRect/>
          </a:stretch>
        </p:blipFill>
        <p:spPr>
          <a:xfrm>
            <a:off x="6096000" y="2013863"/>
            <a:ext cx="5919729" cy="3371380"/>
          </a:xfrm>
          <a:prstGeom prst="rect">
            <a:avLst/>
          </a:prstGeom>
        </p:spPr>
      </p:pic>
      <p:sp>
        <p:nvSpPr>
          <p:cNvPr id="29" name="Title 3">
            <a:extLst>
              <a:ext uri="{FF2B5EF4-FFF2-40B4-BE49-F238E27FC236}">
                <a16:creationId xmlns:a16="http://schemas.microsoft.com/office/drawing/2014/main" id="{7925F99E-3CA9-AD2C-F6D6-A86ECB2D0FCE}"/>
              </a:ext>
            </a:extLst>
          </p:cNvPr>
          <p:cNvSpPr txBox="1">
            <a:spLocks/>
          </p:cNvSpPr>
          <p:nvPr/>
        </p:nvSpPr>
        <p:spPr>
          <a:xfrm>
            <a:off x="2125115" y="959155"/>
            <a:ext cx="7595353"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u="sng" dirty="0">
                <a:solidFill>
                  <a:schemeClr val="tx1"/>
                </a:solidFill>
                <a:latin typeface="Arial" panose="020B0604020202020204" pitchFamily="34" charset="0"/>
              </a:rPr>
              <a:t>Calculating the Frequency for the levels A (Z4), B (Z5), C (Z6), D (Z7) and PSE (Z8)</a:t>
            </a:r>
            <a:endParaRPr lang="en-US" sz="1600" u="sng" dirty="0"/>
          </a:p>
        </p:txBody>
      </p:sp>
    </p:spTree>
    <p:extLst>
      <p:ext uri="{BB962C8B-B14F-4D97-AF65-F5344CB8AC3E}">
        <p14:creationId xmlns:p14="http://schemas.microsoft.com/office/powerpoint/2010/main" val="3955372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B609C9-F48E-222B-5238-3C072E71CD7E}"/>
              </a:ext>
            </a:extLst>
          </p:cNvPr>
          <p:cNvSpPr>
            <a:spLocks noGrp="1"/>
          </p:cNvSpPr>
          <p:nvPr>
            <p:ph type="ftr" sz="quarter" idx="11"/>
          </p:nvPr>
        </p:nvSpPr>
        <p:spPr/>
        <p:txBody>
          <a:bodyPr/>
          <a:lstStyle/>
          <a:p>
            <a:r>
              <a:rPr lang="en-US" dirty="0"/>
              <a:t>© 2024 GE Vernova and/or its affiliates. All rights reserved.</a:t>
            </a:r>
          </a:p>
        </p:txBody>
      </p:sp>
      <p:sp>
        <p:nvSpPr>
          <p:cNvPr id="3" name="Slide Number Placeholder 2">
            <a:extLst>
              <a:ext uri="{FF2B5EF4-FFF2-40B4-BE49-F238E27FC236}">
                <a16:creationId xmlns:a16="http://schemas.microsoft.com/office/drawing/2014/main" id="{0074698E-F643-41FF-31C1-9C0A5A633DF7}"/>
              </a:ext>
            </a:extLst>
          </p:cNvPr>
          <p:cNvSpPr>
            <a:spLocks noGrp="1"/>
          </p:cNvSpPr>
          <p:nvPr>
            <p:ph type="sldNum" sz="quarter" idx="12"/>
          </p:nvPr>
        </p:nvSpPr>
        <p:spPr/>
        <p:txBody>
          <a:bodyPr/>
          <a:lstStyle/>
          <a:p>
            <a:fld id="{7A7A97EF-C944-4447-B862-B593E9B4A0FF}" type="slidenum">
              <a:rPr lang="en-US" smtClean="0"/>
              <a:pPr/>
              <a:t>14</a:t>
            </a:fld>
            <a:endParaRPr lang="en-US" dirty="0"/>
          </a:p>
        </p:txBody>
      </p:sp>
      <p:sp>
        <p:nvSpPr>
          <p:cNvPr id="7" name="Content Placeholder 6">
            <a:extLst>
              <a:ext uri="{FF2B5EF4-FFF2-40B4-BE49-F238E27FC236}">
                <a16:creationId xmlns:a16="http://schemas.microsoft.com/office/drawing/2014/main" id="{C976836A-8666-5E77-009D-B18252D4AC2B}"/>
              </a:ext>
            </a:extLst>
          </p:cNvPr>
          <p:cNvSpPr>
            <a:spLocks noGrp="1"/>
          </p:cNvSpPr>
          <p:nvPr>
            <p:ph idx="14"/>
          </p:nvPr>
        </p:nvSpPr>
        <p:spPr>
          <a:xfrm>
            <a:off x="526820" y="2283715"/>
            <a:ext cx="6023068" cy="3369366"/>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dirty="0"/>
              <a:t> Formula: </a:t>
            </a:r>
          </a:p>
          <a:p>
            <a:r>
              <a:rPr lang="en-US" dirty="0"/>
              <a:t>This formula assigned a value to F based on a value of Z9 (Numbers of NMs).</a:t>
            </a:r>
          </a:p>
          <a:p>
            <a:r>
              <a:rPr lang="en-US" dirty="0"/>
              <a:t>Logic:</a:t>
            </a:r>
          </a:p>
          <a:p>
            <a:r>
              <a:rPr lang="en-US" sz="1300" dirty="0"/>
              <a:t>If Z9 is 0, the result is 0.</a:t>
            </a:r>
          </a:p>
          <a:p>
            <a:r>
              <a:rPr lang="en-US" sz="1300" dirty="0"/>
              <a:t>If Z9 is 1,2, or 3 the result is 2</a:t>
            </a:r>
          </a:p>
          <a:p>
            <a:r>
              <a:rPr lang="en-US" sz="1300" dirty="0"/>
              <a:t>If Z9 is 4 to 8, the result is 3</a:t>
            </a:r>
          </a:p>
          <a:p>
            <a:r>
              <a:rPr lang="en-US" sz="1300" dirty="0"/>
              <a:t>If Z9 is 9 to11, the result is 4</a:t>
            </a:r>
          </a:p>
          <a:p>
            <a:r>
              <a:rPr lang="en-US" sz="1300" dirty="0"/>
              <a:t>If Z9 is 12 or greater, the result is 5</a:t>
            </a:r>
            <a:r>
              <a:rPr lang="en-US" sz="1200" dirty="0"/>
              <a:t>.</a:t>
            </a:r>
          </a:p>
          <a:p>
            <a:endParaRPr lang="en-US" dirty="0"/>
          </a:p>
          <a:p>
            <a:endParaRPr lang="en-US" dirty="0"/>
          </a:p>
        </p:txBody>
      </p:sp>
      <p:sp>
        <p:nvSpPr>
          <p:cNvPr id="9" name="Title 3">
            <a:extLst>
              <a:ext uri="{FF2B5EF4-FFF2-40B4-BE49-F238E27FC236}">
                <a16:creationId xmlns:a16="http://schemas.microsoft.com/office/drawing/2014/main" id="{84D31E8D-BA6C-3B83-D076-E13BAEEB6DD7}"/>
              </a:ext>
            </a:extLst>
          </p:cNvPr>
          <p:cNvSpPr txBox="1">
            <a:spLocks/>
          </p:cNvSpPr>
          <p:nvPr/>
        </p:nvSpPr>
        <p:spPr>
          <a:xfrm>
            <a:off x="526819" y="149431"/>
            <a:ext cx="9986493" cy="24465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altLang="en-US" sz="2400" b="1" dirty="0">
                <a:solidFill>
                  <a:schemeClr val="tx2"/>
                </a:solidFill>
                <a:highlight>
                  <a:srgbClr val="FFFF00"/>
                </a:highlight>
                <a:latin typeface="Arial" panose="020B0604020202020204" pitchFamily="34" charset="0"/>
              </a:rPr>
              <a:t>F (Frequency) </a:t>
            </a:r>
            <a:r>
              <a:rPr lang="en-US" altLang="en-US" sz="2400" dirty="0">
                <a:solidFill>
                  <a:schemeClr val="tx2"/>
                </a:solidFill>
                <a:highlight>
                  <a:srgbClr val="FFFF00"/>
                </a:highlight>
                <a:latin typeface="Arial" panose="020B0604020202020204" pitchFamily="34" charset="0"/>
              </a:rPr>
              <a:t> </a:t>
            </a:r>
            <a:r>
              <a:rPr lang="en-US" altLang="en-US" sz="2400" dirty="0">
                <a:solidFill>
                  <a:schemeClr val="tx2"/>
                </a:solidFill>
                <a:latin typeface="Arial" panose="020B0604020202020204" pitchFamily="34" charset="0"/>
              </a:rPr>
              <a:t> </a:t>
            </a:r>
            <a:r>
              <a:rPr lang="en-US" altLang="en-US" sz="1800" dirty="0">
                <a:solidFill>
                  <a:schemeClr val="tx1"/>
                </a:solidFill>
                <a:latin typeface="Arial" panose="020B0604020202020204" pitchFamily="34" charset="0"/>
              </a:rPr>
              <a:t>Value for the Contributions of NMs </a:t>
            </a:r>
            <a:endParaRPr lang="en-US" sz="1800" dirty="0"/>
          </a:p>
        </p:txBody>
      </p:sp>
      <p:sp>
        <p:nvSpPr>
          <p:cNvPr id="14" name="Title 3">
            <a:extLst>
              <a:ext uri="{FF2B5EF4-FFF2-40B4-BE49-F238E27FC236}">
                <a16:creationId xmlns:a16="http://schemas.microsoft.com/office/drawing/2014/main" id="{AD7351A1-C142-AAB1-6AB4-E196FC44586B}"/>
              </a:ext>
            </a:extLst>
          </p:cNvPr>
          <p:cNvSpPr txBox="1">
            <a:spLocks/>
          </p:cNvSpPr>
          <p:nvPr/>
        </p:nvSpPr>
        <p:spPr>
          <a:xfrm>
            <a:off x="1719020" y="1911389"/>
            <a:ext cx="2417988"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dirty="0">
                <a:solidFill>
                  <a:schemeClr val="tx1"/>
                </a:solidFill>
                <a:latin typeface="Arial" panose="020B0604020202020204" pitchFamily="34" charset="0"/>
              </a:rPr>
              <a:t>Explanation for NMs</a:t>
            </a:r>
            <a:endParaRPr lang="en-US" sz="1600" dirty="0"/>
          </a:p>
        </p:txBody>
      </p:sp>
      <p:pic>
        <p:nvPicPr>
          <p:cNvPr id="22" name="Picture 21">
            <a:extLst>
              <a:ext uri="{FF2B5EF4-FFF2-40B4-BE49-F238E27FC236}">
                <a16:creationId xmlns:a16="http://schemas.microsoft.com/office/drawing/2014/main" id="{AA799FE1-FBC3-9BB0-5DD6-5169FF2AE47D}"/>
              </a:ext>
            </a:extLst>
          </p:cNvPr>
          <p:cNvPicPr>
            <a:picLocks noChangeAspect="1"/>
          </p:cNvPicPr>
          <p:nvPr/>
        </p:nvPicPr>
        <p:blipFill>
          <a:blip r:embed="rId2"/>
          <a:stretch>
            <a:fillRect/>
          </a:stretch>
        </p:blipFill>
        <p:spPr>
          <a:xfrm>
            <a:off x="6096000" y="2220965"/>
            <a:ext cx="5919729" cy="3371380"/>
          </a:xfrm>
          <a:prstGeom prst="rect">
            <a:avLst/>
          </a:prstGeom>
        </p:spPr>
      </p:pic>
      <p:sp>
        <p:nvSpPr>
          <p:cNvPr id="23" name="Title 3">
            <a:extLst>
              <a:ext uri="{FF2B5EF4-FFF2-40B4-BE49-F238E27FC236}">
                <a16:creationId xmlns:a16="http://schemas.microsoft.com/office/drawing/2014/main" id="{192312DB-71DC-B171-A5AA-ED0D0F8AD352}"/>
              </a:ext>
            </a:extLst>
          </p:cNvPr>
          <p:cNvSpPr txBox="1">
            <a:spLocks/>
          </p:cNvSpPr>
          <p:nvPr/>
        </p:nvSpPr>
        <p:spPr>
          <a:xfrm>
            <a:off x="2125115" y="959155"/>
            <a:ext cx="7595353"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altLang="en-US" sz="1600" u="sng" dirty="0">
                <a:solidFill>
                  <a:schemeClr val="tx1"/>
                </a:solidFill>
                <a:latin typeface="Arial" panose="020B0604020202020204" pitchFamily="34" charset="0"/>
              </a:rPr>
              <a:t>Calculating the Frequency for the NMs (Z9)</a:t>
            </a:r>
            <a:endParaRPr lang="en-US" sz="1600" u="sng" dirty="0"/>
          </a:p>
        </p:txBody>
      </p:sp>
    </p:spTree>
    <p:extLst>
      <p:ext uri="{BB962C8B-B14F-4D97-AF65-F5344CB8AC3E}">
        <p14:creationId xmlns:p14="http://schemas.microsoft.com/office/powerpoint/2010/main" val="141110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B609C9-F48E-222B-5238-3C072E71CD7E}"/>
              </a:ext>
            </a:extLst>
          </p:cNvPr>
          <p:cNvSpPr>
            <a:spLocks noGrp="1"/>
          </p:cNvSpPr>
          <p:nvPr>
            <p:ph type="ftr" sz="quarter" idx="11"/>
          </p:nvPr>
        </p:nvSpPr>
        <p:spPr/>
        <p:txBody>
          <a:bodyPr/>
          <a:lstStyle/>
          <a:p>
            <a:r>
              <a:rPr lang="en-US" dirty="0"/>
              <a:t>© 2024 GE Vernova and/or its affiliates. All rights reserved.</a:t>
            </a:r>
          </a:p>
        </p:txBody>
      </p:sp>
      <p:sp>
        <p:nvSpPr>
          <p:cNvPr id="3" name="Slide Number Placeholder 2">
            <a:extLst>
              <a:ext uri="{FF2B5EF4-FFF2-40B4-BE49-F238E27FC236}">
                <a16:creationId xmlns:a16="http://schemas.microsoft.com/office/drawing/2014/main" id="{0074698E-F643-41FF-31C1-9C0A5A633DF7}"/>
              </a:ext>
            </a:extLst>
          </p:cNvPr>
          <p:cNvSpPr>
            <a:spLocks noGrp="1"/>
          </p:cNvSpPr>
          <p:nvPr>
            <p:ph type="sldNum" sz="quarter" idx="12"/>
          </p:nvPr>
        </p:nvSpPr>
        <p:spPr/>
        <p:txBody>
          <a:bodyPr/>
          <a:lstStyle/>
          <a:p>
            <a:fld id="{7A7A97EF-C944-4447-B862-B593E9B4A0FF}" type="slidenum">
              <a:rPr lang="en-US" smtClean="0"/>
              <a:pPr/>
              <a:t>15</a:t>
            </a:fld>
            <a:endParaRPr lang="en-US" dirty="0"/>
          </a:p>
        </p:txBody>
      </p:sp>
      <p:sp>
        <p:nvSpPr>
          <p:cNvPr id="8" name="Content Placeholder 7">
            <a:extLst>
              <a:ext uri="{FF2B5EF4-FFF2-40B4-BE49-F238E27FC236}">
                <a16:creationId xmlns:a16="http://schemas.microsoft.com/office/drawing/2014/main" id="{98D8FFF4-6793-66A2-B47B-2255A8F21662}"/>
              </a:ext>
            </a:extLst>
          </p:cNvPr>
          <p:cNvSpPr>
            <a:spLocks noGrp="1"/>
          </p:cNvSpPr>
          <p:nvPr>
            <p:ph idx="15"/>
          </p:nvPr>
        </p:nvSpPr>
        <p:spPr>
          <a:xfrm>
            <a:off x="659019" y="2208420"/>
            <a:ext cx="4861046" cy="3476763"/>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dirty="0"/>
              <a:t> Formula: </a:t>
            </a:r>
          </a:p>
          <a:p>
            <a:r>
              <a:rPr lang="en-US" dirty="0"/>
              <a:t>This formula assigned a value to F based on the value in cell Z10 or Z11 (CR &amp; ATS Contribution).</a:t>
            </a:r>
          </a:p>
          <a:p>
            <a:endParaRPr lang="en-US" dirty="0"/>
          </a:p>
          <a:p>
            <a:r>
              <a:rPr lang="en-US" dirty="0"/>
              <a:t>Logic:</a:t>
            </a:r>
          </a:p>
          <a:p>
            <a:r>
              <a:rPr lang="en-US" sz="1300" dirty="0"/>
              <a:t>If Z10 or Z11 is 0, the result is 0.</a:t>
            </a:r>
          </a:p>
          <a:p>
            <a:r>
              <a:rPr lang="en-US" sz="1300" dirty="0"/>
              <a:t>If Z10 or Z11 is 1 to 6, the result is 1</a:t>
            </a:r>
          </a:p>
          <a:p>
            <a:r>
              <a:rPr lang="en-US" sz="1300" dirty="0"/>
              <a:t>If Z10 or Z11 is 7 to 9, the result is 2</a:t>
            </a:r>
          </a:p>
          <a:p>
            <a:r>
              <a:rPr lang="en-US" sz="1300" dirty="0"/>
              <a:t>If Z10 or Z11 is 10 to 19, the result is 3.</a:t>
            </a:r>
          </a:p>
          <a:p>
            <a:r>
              <a:rPr lang="en-US" sz="1300" dirty="0"/>
              <a:t>If Z10 or Z11 is 20 or greater, the result is 4.</a:t>
            </a:r>
          </a:p>
          <a:p>
            <a:endParaRPr lang="en-US" dirty="0"/>
          </a:p>
          <a:p>
            <a:endParaRPr lang="en-US" dirty="0"/>
          </a:p>
        </p:txBody>
      </p:sp>
      <p:sp>
        <p:nvSpPr>
          <p:cNvPr id="9" name="Title 3">
            <a:extLst>
              <a:ext uri="{FF2B5EF4-FFF2-40B4-BE49-F238E27FC236}">
                <a16:creationId xmlns:a16="http://schemas.microsoft.com/office/drawing/2014/main" id="{84D31E8D-BA6C-3B83-D076-E13BAEEB6DD7}"/>
              </a:ext>
            </a:extLst>
          </p:cNvPr>
          <p:cNvSpPr txBox="1">
            <a:spLocks/>
          </p:cNvSpPr>
          <p:nvPr/>
        </p:nvSpPr>
        <p:spPr>
          <a:xfrm>
            <a:off x="526819" y="149431"/>
            <a:ext cx="9986493" cy="24465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altLang="en-US" sz="2400" b="1" dirty="0">
                <a:solidFill>
                  <a:schemeClr val="tx2"/>
                </a:solidFill>
                <a:highlight>
                  <a:srgbClr val="FFFF00"/>
                </a:highlight>
                <a:latin typeface="Arial" panose="020B0604020202020204" pitchFamily="34" charset="0"/>
              </a:rPr>
              <a:t>F (Frequency) </a:t>
            </a:r>
            <a:r>
              <a:rPr lang="en-US" altLang="en-US" sz="2400" dirty="0">
                <a:solidFill>
                  <a:schemeClr val="tx2"/>
                </a:solidFill>
                <a:highlight>
                  <a:srgbClr val="FFFF00"/>
                </a:highlight>
                <a:latin typeface="Arial" panose="020B0604020202020204" pitchFamily="34" charset="0"/>
              </a:rPr>
              <a:t> </a:t>
            </a:r>
            <a:r>
              <a:rPr lang="en-US" altLang="en-US" sz="2400" dirty="0">
                <a:solidFill>
                  <a:schemeClr val="tx2"/>
                </a:solidFill>
                <a:latin typeface="Arial" panose="020B0604020202020204" pitchFamily="34" charset="0"/>
              </a:rPr>
              <a:t> </a:t>
            </a:r>
            <a:r>
              <a:rPr lang="en-US" altLang="en-US" sz="1800" dirty="0">
                <a:solidFill>
                  <a:schemeClr val="tx1"/>
                </a:solidFill>
                <a:latin typeface="Arial" panose="020B0604020202020204" pitchFamily="34" charset="0"/>
              </a:rPr>
              <a:t>Value for the CR and ATS Contributions</a:t>
            </a:r>
            <a:endParaRPr lang="en-US" sz="1800" dirty="0"/>
          </a:p>
        </p:txBody>
      </p:sp>
      <p:sp>
        <p:nvSpPr>
          <p:cNvPr id="11" name="Title 3">
            <a:extLst>
              <a:ext uri="{FF2B5EF4-FFF2-40B4-BE49-F238E27FC236}">
                <a16:creationId xmlns:a16="http://schemas.microsoft.com/office/drawing/2014/main" id="{1539FB70-9E35-BB4B-5753-E7940602D56B}"/>
              </a:ext>
            </a:extLst>
          </p:cNvPr>
          <p:cNvSpPr txBox="1">
            <a:spLocks/>
          </p:cNvSpPr>
          <p:nvPr/>
        </p:nvSpPr>
        <p:spPr>
          <a:xfrm>
            <a:off x="1331033" y="1873020"/>
            <a:ext cx="2417988"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altLang="en-US" sz="1600" dirty="0">
                <a:solidFill>
                  <a:schemeClr val="tx1"/>
                </a:solidFill>
                <a:latin typeface="Arial" panose="020B0604020202020204" pitchFamily="34" charset="0"/>
              </a:rPr>
              <a:t>Explanation for CR &amp; ATS</a:t>
            </a:r>
            <a:endParaRPr lang="en-US" sz="1600" dirty="0"/>
          </a:p>
        </p:txBody>
      </p:sp>
      <p:pic>
        <p:nvPicPr>
          <p:cNvPr id="16" name="Picture 15">
            <a:extLst>
              <a:ext uri="{FF2B5EF4-FFF2-40B4-BE49-F238E27FC236}">
                <a16:creationId xmlns:a16="http://schemas.microsoft.com/office/drawing/2014/main" id="{2ECA07ED-F1BB-1826-17FB-82FED3D75A91}"/>
              </a:ext>
            </a:extLst>
          </p:cNvPr>
          <p:cNvPicPr>
            <a:picLocks noChangeAspect="1"/>
          </p:cNvPicPr>
          <p:nvPr/>
        </p:nvPicPr>
        <p:blipFill>
          <a:blip r:embed="rId2"/>
          <a:stretch>
            <a:fillRect/>
          </a:stretch>
        </p:blipFill>
        <p:spPr>
          <a:xfrm>
            <a:off x="6096000" y="2098711"/>
            <a:ext cx="5956308" cy="3371380"/>
          </a:xfrm>
          <a:prstGeom prst="rect">
            <a:avLst/>
          </a:prstGeom>
        </p:spPr>
      </p:pic>
      <p:sp>
        <p:nvSpPr>
          <p:cNvPr id="17" name="Title 3">
            <a:extLst>
              <a:ext uri="{FF2B5EF4-FFF2-40B4-BE49-F238E27FC236}">
                <a16:creationId xmlns:a16="http://schemas.microsoft.com/office/drawing/2014/main" id="{FD19EB31-785B-891C-165E-F7D2CCB91218}"/>
              </a:ext>
            </a:extLst>
          </p:cNvPr>
          <p:cNvSpPr txBox="1">
            <a:spLocks/>
          </p:cNvSpPr>
          <p:nvPr/>
        </p:nvSpPr>
        <p:spPr>
          <a:xfrm>
            <a:off x="2125115" y="959155"/>
            <a:ext cx="7595353" cy="22569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altLang="en-US" sz="1600" u="sng" dirty="0">
                <a:solidFill>
                  <a:schemeClr val="tx1"/>
                </a:solidFill>
                <a:latin typeface="Arial" panose="020B0604020202020204" pitchFamily="34" charset="0"/>
              </a:rPr>
              <a:t>Calculating the Frequency for the CR (Z10) &amp; ATS (Z11)</a:t>
            </a:r>
            <a:endParaRPr lang="en-US" sz="1600" u="sng" dirty="0"/>
          </a:p>
        </p:txBody>
      </p:sp>
    </p:spTree>
    <p:extLst>
      <p:ext uri="{BB962C8B-B14F-4D97-AF65-F5344CB8AC3E}">
        <p14:creationId xmlns:p14="http://schemas.microsoft.com/office/powerpoint/2010/main" val="1533349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071CF5D-CDC8-53E7-F6E1-56110FB84CCE}"/>
              </a:ext>
            </a:extLst>
          </p:cNvPr>
          <p:cNvSpPr>
            <a:spLocks noGrp="1"/>
          </p:cNvSpPr>
          <p:nvPr>
            <p:ph type="ftr" sz="quarter" idx="11"/>
          </p:nvPr>
        </p:nvSpPr>
        <p:spPr/>
        <p:txBody>
          <a:bodyPr/>
          <a:lstStyle/>
          <a:p>
            <a:r>
              <a:rPr lang="en-US" dirty="0"/>
              <a:t>© 2024 GE Vernova and/or its affiliates. All rights reserved.</a:t>
            </a:r>
          </a:p>
        </p:txBody>
      </p:sp>
      <p:sp>
        <p:nvSpPr>
          <p:cNvPr id="7" name="TextBox 6">
            <a:extLst>
              <a:ext uri="{FF2B5EF4-FFF2-40B4-BE49-F238E27FC236}">
                <a16:creationId xmlns:a16="http://schemas.microsoft.com/office/drawing/2014/main" id="{09AEAF24-DB0F-C978-C32D-F02A4A19458C}"/>
              </a:ext>
            </a:extLst>
          </p:cNvPr>
          <p:cNvSpPr txBox="1"/>
          <p:nvPr/>
        </p:nvSpPr>
        <p:spPr>
          <a:xfrm>
            <a:off x="326781" y="1172128"/>
            <a:ext cx="6501402" cy="5632311"/>
          </a:xfrm>
          <a:prstGeom prst="rect">
            <a:avLst/>
          </a:prstGeom>
          <a:noFill/>
        </p:spPr>
        <p:txBody>
          <a:bodyPr wrap="square">
            <a:spAutoFit/>
          </a:bodyPr>
          <a:lstStyle/>
          <a:p>
            <a:r>
              <a:rPr lang="en-US" b="1" u="sng" dirty="0">
                <a:solidFill>
                  <a:schemeClr val="bg2"/>
                </a:solidFill>
              </a:rPr>
              <a:t>Overall Severity (S) Calculation</a:t>
            </a:r>
          </a:p>
          <a:p>
            <a:endParaRPr lang="en-US" dirty="0">
              <a:solidFill>
                <a:schemeClr val="bg2"/>
              </a:solidFill>
            </a:endParaRPr>
          </a:p>
          <a:p>
            <a:r>
              <a:rPr lang="en-US" dirty="0">
                <a:solidFill>
                  <a:schemeClr val="bg2"/>
                </a:solidFill>
              </a:rPr>
              <a:t>Formula: =AVERAGE(LARGE(W4:W11, {1,2,3}))</a:t>
            </a:r>
          </a:p>
          <a:p>
            <a:endParaRPr lang="en-US" dirty="0">
              <a:solidFill>
                <a:schemeClr val="bg2"/>
              </a:solidFill>
            </a:endParaRPr>
          </a:p>
          <a:p>
            <a:r>
              <a:rPr lang="en-US" dirty="0">
                <a:solidFill>
                  <a:schemeClr val="bg2"/>
                </a:solidFill>
              </a:rPr>
              <a:t>Explanation:</a:t>
            </a:r>
          </a:p>
          <a:p>
            <a:endParaRPr lang="en-US" dirty="0">
              <a:solidFill>
                <a:schemeClr val="bg2"/>
              </a:solidFill>
            </a:endParaRPr>
          </a:p>
          <a:p>
            <a:r>
              <a:rPr lang="en-US" dirty="0">
                <a:solidFill>
                  <a:schemeClr val="bg2"/>
                </a:solidFill>
              </a:rPr>
              <a:t>This formula calculates the average of the three largest values in the range W4:W11, representing the severity scores.</a:t>
            </a:r>
          </a:p>
          <a:p>
            <a:endParaRPr lang="en-US" dirty="0">
              <a:solidFill>
                <a:schemeClr val="bg2"/>
              </a:solidFill>
            </a:endParaRPr>
          </a:p>
          <a:p>
            <a:r>
              <a:rPr lang="en-US" dirty="0">
                <a:solidFill>
                  <a:schemeClr val="bg2"/>
                </a:solidFill>
              </a:rPr>
              <a:t>Steps:</a:t>
            </a:r>
          </a:p>
          <a:p>
            <a:r>
              <a:rPr lang="en-US" dirty="0">
                <a:solidFill>
                  <a:schemeClr val="bg2"/>
                </a:solidFill>
              </a:rPr>
              <a:t>Identify the three highest values within the range W4:W11.</a:t>
            </a:r>
          </a:p>
          <a:p>
            <a:r>
              <a:rPr lang="en-US" dirty="0">
                <a:solidFill>
                  <a:schemeClr val="bg2"/>
                </a:solidFill>
              </a:rPr>
              <a:t>Calculate the average of these three values.</a:t>
            </a:r>
          </a:p>
          <a:p>
            <a:endParaRPr lang="en-US" dirty="0">
              <a:solidFill>
                <a:schemeClr val="bg2"/>
              </a:solidFill>
            </a:endParaRPr>
          </a:p>
          <a:p>
            <a:r>
              <a:rPr lang="en-US" dirty="0">
                <a:solidFill>
                  <a:schemeClr val="bg2"/>
                </a:solidFill>
              </a:rPr>
              <a:t>Example Calculation:</a:t>
            </a:r>
          </a:p>
          <a:p>
            <a:pPr marL="285750" indent="-285750">
              <a:buFont typeface="Wingdings" panose="05000000000000000000" pitchFamily="2" charset="2"/>
              <a:buChar char="Ø"/>
            </a:pPr>
            <a:r>
              <a:rPr lang="en-US" dirty="0">
                <a:solidFill>
                  <a:schemeClr val="bg2"/>
                </a:solidFill>
              </a:rPr>
              <a:t>Severity Scores: {0, 0, 2, 1, 4, 0, 0, 0}</a:t>
            </a:r>
          </a:p>
          <a:p>
            <a:pPr marL="285750" indent="-285750">
              <a:buFont typeface="Wingdings" panose="05000000000000000000" pitchFamily="2" charset="2"/>
              <a:buChar char="Ø"/>
            </a:pPr>
            <a:r>
              <a:rPr lang="en-US" dirty="0">
                <a:solidFill>
                  <a:schemeClr val="bg2"/>
                </a:solidFill>
              </a:rPr>
              <a:t>Top 3 Severity Scores: {2, 1, 4}</a:t>
            </a:r>
          </a:p>
          <a:p>
            <a:pPr marL="285750" indent="-285750">
              <a:buFont typeface="Wingdings" panose="05000000000000000000" pitchFamily="2" charset="2"/>
              <a:buChar char="Ø"/>
            </a:pPr>
            <a:r>
              <a:rPr lang="en-US" dirty="0">
                <a:solidFill>
                  <a:schemeClr val="bg2"/>
                </a:solidFill>
              </a:rPr>
              <a:t>Average Severity (S): (2+1+4)/3=2.33=2</a:t>
            </a:r>
          </a:p>
          <a:p>
            <a:r>
              <a:rPr lang="en-US" dirty="0">
                <a:solidFill>
                  <a:schemeClr val="bg2"/>
                </a:solidFill>
              </a:rPr>
              <a:t>​</a:t>
            </a:r>
          </a:p>
          <a:p>
            <a:r>
              <a:rPr lang="en-US" dirty="0">
                <a:solidFill>
                  <a:schemeClr val="bg2"/>
                </a:solidFill>
              </a:rPr>
              <a:t> </a:t>
            </a:r>
          </a:p>
        </p:txBody>
      </p:sp>
      <p:pic>
        <p:nvPicPr>
          <p:cNvPr id="11" name="Picture 10">
            <a:extLst>
              <a:ext uri="{FF2B5EF4-FFF2-40B4-BE49-F238E27FC236}">
                <a16:creationId xmlns:a16="http://schemas.microsoft.com/office/drawing/2014/main" id="{1927FB07-3865-E706-2979-E0C4E4766536}"/>
              </a:ext>
            </a:extLst>
          </p:cNvPr>
          <p:cNvPicPr>
            <a:picLocks noChangeAspect="1"/>
          </p:cNvPicPr>
          <p:nvPr/>
        </p:nvPicPr>
        <p:blipFill>
          <a:blip r:embed="rId2"/>
          <a:stretch>
            <a:fillRect/>
          </a:stretch>
        </p:blipFill>
        <p:spPr>
          <a:xfrm>
            <a:off x="6828183" y="1920109"/>
            <a:ext cx="4889416" cy="3017782"/>
          </a:xfrm>
          <a:prstGeom prst="rect">
            <a:avLst/>
          </a:prstGeom>
        </p:spPr>
      </p:pic>
    </p:spTree>
    <p:extLst>
      <p:ext uri="{BB962C8B-B14F-4D97-AF65-F5344CB8AC3E}">
        <p14:creationId xmlns:p14="http://schemas.microsoft.com/office/powerpoint/2010/main" val="3582219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071CF5D-CDC8-53E7-F6E1-56110FB84CCE}"/>
              </a:ext>
            </a:extLst>
          </p:cNvPr>
          <p:cNvSpPr>
            <a:spLocks noGrp="1"/>
          </p:cNvSpPr>
          <p:nvPr>
            <p:ph type="ftr" sz="quarter" idx="11"/>
          </p:nvPr>
        </p:nvSpPr>
        <p:spPr/>
        <p:txBody>
          <a:bodyPr/>
          <a:lstStyle/>
          <a:p>
            <a:r>
              <a:rPr lang="en-US" dirty="0"/>
              <a:t>© 2024 GE Vernova and/or its affiliates. All rights reserved.</a:t>
            </a:r>
          </a:p>
        </p:txBody>
      </p:sp>
      <p:sp>
        <p:nvSpPr>
          <p:cNvPr id="7" name="TextBox 6">
            <a:extLst>
              <a:ext uri="{FF2B5EF4-FFF2-40B4-BE49-F238E27FC236}">
                <a16:creationId xmlns:a16="http://schemas.microsoft.com/office/drawing/2014/main" id="{09AEAF24-DB0F-C978-C32D-F02A4A19458C}"/>
              </a:ext>
            </a:extLst>
          </p:cNvPr>
          <p:cNvSpPr txBox="1"/>
          <p:nvPr/>
        </p:nvSpPr>
        <p:spPr>
          <a:xfrm>
            <a:off x="326781" y="1172128"/>
            <a:ext cx="6511341" cy="5632311"/>
          </a:xfrm>
          <a:prstGeom prst="rect">
            <a:avLst/>
          </a:prstGeom>
          <a:noFill/>
        </p:spPr>
        <p:txBody>
          <a:bodyPr wrap="square">
            <a:spAutoFit/>
          </a:bodyPr>
          <a:lstStyle/>
          <a:p>
            <a:r>
              <a:rPr lang="en-US" b="1" u="sng" dirty="0">
                <a:solidFill>
                  <a:schemeClr val="bg2"/>
                </a:solidFill>
              </a:rPr>
              <a:t>Overall Frequency (F) Calculation</a:t>
            </a:r>
          </a:p>
          <a:p>
            <a:endParaRPr lang="en-US" dirty="0">
              <a:solidFill>
                <a:schemeClr val="bg2"/>
              </a:solidFill>
            </a:endParaRPr>
          </a:p>
          <a:p>
            <a:r>
              <a:rPr lang="en-US" dirty="0">
                <a:solidFill>
                  <a:schemeClr val="bg2"/>
                </a:solidFill>
              </a:rPr>
              <a:t>Formula: =AVERAGE(LARGE(X4:X11, {1,2,3}))</a:t>
            </a:r>
          </a:p>
          <a:p>
            <a:endParaRPr lang="en-US" dirty="0">
              <a:solidFill>
                <a:schemeClr val="bg2"/>
              </a:solidFill>
            </a:endParaRPr>
          </a:p>
          <a:p>
            <a:r>
              <a:rPr lang="en-US" dirty="0">
                <a:solidFill>
                  <a:schemeClr val="bg2"/>
                </a:solidFill>
              </a:rPr>
              <a:t>Explanation:</a:t>
            </a:r>
          </a:p>
          <a:p>
            <a:endParaRPr lang="en-US" dirty="0">
              <a:solidFill>
                <a:schemeClr val="bg2"/>
              </a:solidFill>
            </a:endParaRPr>
          </a:p>
          <a:p>
            <a:r>
              <a:rPr lang="en-US" dirty="0">
                <a:solidFill>
                  <a:schemeClr val="bg2"/>
                </a:solidFill>
              </a:rPr>
              <a:t>This formula calculates the average of the three largest values in the range X4:X11, representing the severity scores.</a:t>
            </a:r>
          </a:p>
          <a:p>
            <a:endParaRPr lang="en-US" dirty="0">
              <a:solidFill>
                <a:schemeClr val="bg2"/>
              </a:solidFill>
            </a:endParaRPr>
          </a:p>
          <a:p>
            <a:r>
              <a:rPr lang="en-US" dirty="0">
                <a:solidFill>
                  <a:schemeClr val="bg2"/>
                </a:solidFill>
              </a:rPr>
              <a:t>Steps:</a:t>
            </a:r>
          </a:p>
          <a:p>
            <a:r>
              <a:rPr lang="en-US" dirty="0">
                <a:solidFill>
                  <a:schemeClr val="bg2"/>
                </a:solidFill>
              </a:rPr>
              <a:t>Identify the three highest values within the range X4:X11.</a:t>
            </a:r>
          </a:p>
          <a:p>
            <a:r>
              <a:rPr lang="en-US" dirty="0">
                <a:solidFill>
                  <a:schemeClr val="bg2"/>
                </a:solidFill>
              </a:rPr>
              <a:t>Calculate the average of these three values.</a:t>
            </a:r>
          </a:p>
          <a:p>
            <a:endParaRPr lang="en-US" dirty="0">
              <a:solidFill>
                <a:schemeClr val="bg2"/>
              </a:solidFill>
            </a:endParaRPr>
          </a:p>
          <a:p>
            <a:r>
              <a:rPr lang="en-US" dirty="0">
                <a:solidFill>
                  <a:schemeClr val="bg2"/>
                </a:solidFill>
              </a:rPr>
              <a:t>Example Calculation:</a:t>
            </a:r>
          </a:p>
          <a:p>
            <a:pPr marL="285750" indent="-285750">
              <a:buFont typeface="Wingdings" panose="05000000000000000000" pitchFamily="2" charset="2"/>
              <a:buChar char="Ø"/>
            </a:pPr>
            <a:r>
              <a:rPr lang="en-US" dirty="0">
                <a:solidFill>
                  <a:schemeClr val="bg2"/>
                </a:solidFill>
              </a:rPr>
              <a:t>Frequency Scores: {0, 0, 3, 3, 3, 0, 0, 0}</a:t>
            </a:r>
          </a:p>
          <a:p>
            <a:pPr marL="285750" indent="-285750">
              <a:buFont typeface="Wingdings" panose="05000000000000000000" pitchFamily="2" charset="2"/>
              <a:buChar char="Ø"/>
            </a:pPr>
            <a:r>
              <a:rPr lang="en-US" dirty="0">
                <a:solidFill>
                  <a:schemeClr val="bg2"/>
                </a:solidFill>
              </a:rPr>
              <a:t>Top 3 Frequency Scores: {3, 3, 3}</a:t>
            </a:r>
          </a:p>
          <a:p>
            <a:pPr marL="285750" indent="-285750">
              <a:buFont typeface="Wingdings" panose="05000000000000000000" pitchFamily="2" charset="2"/>
              <a:buChar char="Ø"/>
            </a:pPr>
            <a:r>
              <a:rPr lang="en-US" dirty="0">
                <a:solidFill>
                  <a:schemeClr val="bg2"/>
                </a:solidFill>
              </a:rPr>
              <a:t>Average Frequency (F): (3+3+3)3=3</a:t>
            </a:r>
          </a:p>
          <a:p>
            <a:r>
              <a:rPr lang="en-US" dirty="0">
                <a:solidFill>
                  <a:schemeClr val="bg2"/>
                </a:solidFill>
              </a:rPr>
              <a:t>​</a:t>
            </a:r>
          </a:p>
          <a:p>
            <a:r>
              <a:rPr lang="en-US" dirty="0">
                <a:solidFill>
                  <a:schemeClr val="bg2"/>
                </a:solidFill>
              </a:rPr>
              <a:t> </a:t>
            </a:r>
          </a:p>
        </p:txBody>
      </p:sp>
      <p:pic>
        <p:nvPicPr>
          <p:cNvPr id="22" name="Picture 21">
            <a:extLst>
              <a:ext uri="{FF2B5EF4-FFF2-40B4-BE49-F238E27FC236}">
                <a16:creationId xmlns:a16="http://schemas.microsoft.com/office/drawing/2014/main" id="{1AA63F2E-0968-2BBE-FF12-89F02C65A743}"/>
              </a:ext>
            </a:extLst>
          </p:cNvPr>
          <p:cNvPicPr>
            <a:picLocks noChangeAspect="1"/>
          </p:cNvPicPr>
          <p:nvPr/>
        </p:nvPicPr>
        <p:blipFill>
          <a:blip r:embed="rId3"/>
          <a:stretch>
            <a:fillRect/>
          </a:stretch>
        </p:blipFill>
        <p:spPr>
          <a:xfrm>
            <a:off x="7050475" y="1912691"/>
            <a:ext cx="4889416" cy="2987299"/>
          </a:xfrm>
          <a:prstGeom prst="rect">
            <a:avLst/>
          </a:prstGeom>
        </p:spPr>
      </p:pic>
    </p:spTree>
    <p:extLst>
      <p:ext uri="{BB962C8B-B14F-4D97-AF65-F5344CB8AC3E}">
        <p14:creationId xmlns:p14="http://schemas.microsoft.com/office/powerpoint/2010/main" val="1652888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FB4EC2A-DE0B-8947-6CEB-6F42ACFE4988}"/>
              </a:ext>
            </a:extLst>
          </p:cNvPr>
          <p:cNvSpPr>
            <a:spLocks noGrp="1"/>
          </p:cNvSpPr>
          <p:nvPr>
            <p:ph type="sldNum" sz="quarter" idx="12"/>
          </p:nvPr>
        </p:nvSpPr>
        <p:spPr/>
        <p:txBody>
          <a:bodyPr/>
          <a:lstStyle/>
          <a:p>
            <a:fld id="{7A7A97EF-C944-4447-B862-B593E9B4A0FF}" type="slidenum">
              <a:rPr lang="en-US" smtClean="0"/>
              <a:pPr/>
              <a:t>18</a:t>
            </a:fld>
            <a:endParaRPr lang="en-US" dirty="0"/>
          </a:p>
        </p:txBody>
      </p:sp>
      <p:sp>
        <p:nvSpPr>
          <p:cNvPr id="4" name="Title 3">
            <a:extLst>
              <a:ext uri="{FF2B5EF4-FFF2-40B4-BE49-F238E27FC236}">
                <a16:creationId xmlns:a16="http://schemas.microsoft.com/office/drawing/2014/main" id="{075C8B69-F6B5-C571-CD27-E6CAEB7A6187}"/>
              </a:ext>
            </a:extLst>
          </p:cNvPr>
          <p:cNvSpPr>
            <a:spLocks noGrp="1"/>
          </p:cNvSpPr>
          <p:nvPr>
            <p:ph type="title"/>
          </p:nvPr>
        </p:nvSpPr>
        <p:spPr/>
        <p:txBody>
          <a:bodyPr/>
          <a:lstStyle/>
          <a:p>
            <a:r>
              <a:rPr lang="en-US" dirty="0"/>
              <a:t>ATS Risk Contribution Formula </a:t>
            </a:r>
          </a:p>
        </p:txBody>
      </p:sp>
      <p:sp>
        <p:nvSpPr>
          <p:cNvPr id="7" name="Rectangle 1">
            <a:extLst>
              <a:ext uri="{FF2B5EF4-FFF2-40B4-BE49-F238E27FC236}">
                <a16:creationId xmlns:a16="http://schemas.microsoft.com/office/drawing/2014/main" id="{37F2F967-13E0-4D62-044B-0B1223572371}"/>
              </a:ext>
            </a:extLst>
          </p:cNvPr>
          <p:cNvSpPr>
            <a:spLocks noGrp="1" noChangeArrowheads="1"/>
          </p:cNvSpPr>
          <p:nvPr>
            <p:ph idx="1"/>
          </p:nvPr>
        </p:nvSpPr>
        <p:spPr bwMode="auto">
          <a:xfrm>
            <a:off x="419100" y="1220210"/>
            <a:ext cx="4692310" cy="461664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solidFill>
                <a:effectLst/>
                <a:latin typeface="Arial" panose="020B0604020202020204" pitchFamily="34" charset="0"/>
              </a:rPr>
              <a:t>=IF((AND(Y13&gt;4,Z19&lt;0.021)),Z16/Z17*600,Z16/Z17*50)</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solidFill>
                <a:effectLst/>
                <a:latin typeface="Arial" panose="020B0604020202020204" pitchFamily="34" charset="0"/>
              </a:rPr>
              <a:t>Y13 (is the Risk Level) 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solidFill>
                <a:effectLst/>
                <a:latin typeface="Arial" panose="020B0604020202020204" pitchFamily="34" charset="0"/>
              </a:rPr>
              <a:t>Z16 (The number of actions for the hazard)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solidFill>
                <a:effectLst/>
                <a:latin typeface="Arial" panose="020B0604020202020204" pitchFamily="34" charset="0"/>
              </a:rPr>
              <a:t>Z17 (The total number of all the ATS)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solidFill>
                <a:effectLst/>
                <a:latin typeface="Arial" panose="020B0604020202020204" pitchFamily="34" charset="0"/>
              </a:rPr>
              <a:t>Z19 (The percentage of the actions (Z16/Z17)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solidFill>
                <a:effectLst/>
                <a:latin typeface="Arial" panose="020B0604020202020204" pitchFamily="34" charset="0"/>
              </a:rPr>
              <a:t>How it Work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solidFill>
                <a:effectLst/>
                <a:latin typeface="Arial" panose="020B0604020202020204" pitchFamily="34" charset="0"/>
              </a:rPr>
              <a:t>The conditions check: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solidFill>
                <a:effectLst/>
                <a:latin typeface="Arial" panose="020B0604020202020204" pitchFamily="34" charset="0"/>
              </a:rPr>
              <a:t>Y13 &gt; 4</a:t>
            </a:r>
            <a:r>
              <a:rPr kumimoji="0" lang="en-US" altLang="en-US" sz="1400" b="0" i="0" u="none" strike="noStrike" cap="none" normalizeH="0" baseline="0" dirty="0">
                <a:ln>
                  <a:noFill/>
                </a:ln>
                <a:solidFill>
                  <a:schemeClr val="tx2"/>
                </a:solidFill>
                <a:effectLst/>
                <a:latin typeface="Arial" panose="020B0604020202020204" pitchFamily="34" charset="0"/>
              </a:rPr>
              <a:t>and </a:t>
            </a:r>
            <a:r>
              <a:rPr kumimoji="0" lang="en-US" altLang="en-US" sz="1400" b="1" i="0" u="none" strike="noStrike" cap="none" normalizeH="0" baseline="0" dirty="0">
                <a:ln>
                  <a:noFill/>
                </a:ln>
                <a:solidFill>
                  <a:schemeClr val="tx2"/>
                </a:solidFill>
                <a:effectLst/>
                <a:latin typeface="Arial" panose="020B0604020202020204" pitchFamily="34" charset="0"/>
              </a:rPr>
              <a:t>Z19 &lt; 0.021</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solidFill>
                <a:effectLst/>
                <a:latin typeface="Arial" panose="020B0604020202020204" pitchFamily="34" charset="0"/>
              </a:rPr>
              <a:t>Calculation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solidFill>
                <a:effectLst/>
                <a:latin typeface="Arial" panose="020B0604020202020204" pitchFamily="34" charset="0"/>
              </a:rPr>
              <a:t>•</a:t>
            </a:r>
            <a:r>
              <a:rPr kumimoji="0" lang="en-US" altLang="en-US" sz="1400" b="1" i="0" u="none" strike="noStrike" cap="none" normalizeH="0" baseline="0" dirty="0">
                <a:ln>
                  <a:noFill/>
                </a:ln>
                <a:solidFill>
                  <a:schemeClr val="tx2"/>
                </a:solidFill>
                <a:effectLst/>
                <a:latin typeface="Arial" panose="020B0604020202020204" pitchFamily="34" charset="0"/>
              </a:rPr>
              <a:t>If True:</a:t>
            </a:r>
            <a:r>
              <a:rPr kumimoji="0" lang="en-US" altLang="en-US" sz="1400" b="0" i="0" u="none" strike="noStrike" cap="none" normalizeH="0" baseline="0" dirty="0">
                <a:ln>
                  <a:noFill/>
                </a:ln>
                <a:solidFill>
                  <a:schemeClr val="tx2"/>
                </a:solidFill>
                <a:effectLst/>
                <a:latin typeface="Arial" panose="020B0604020202020204" pitchFamily="34" charset="0"/>
              </a:rPr>
              <a:t> </a:t>
            </a:r>
            <a:r>
              <a:rPr kumimoji="0" lang="en-US" altLang="en-US" sz="1400" b="1" i="0" u="none" strike="noStrike" cap="none" normalizeH="0" baseline="0" dirty="0">
                <a:ln>
                  <a:noFill/>
                </a:ln>
                <a:solidFill>
                  <a:schemeClr val="tx2"/>
                </a:solidFill>
                <a:effectLst/>
                <a:latin typeface="Arial" panose="020B0604020202020204" pitchFamily="34" charset="0"/>
              </a:rPr>
              <a:t>(Z16 / Z17) * 600</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solidFill>
                <a:effectLst/>
                <a:latin typeface="Arial" panose="020B0604020202020204" pitchFamily="34" charset="0"/>
              </a:rPr>
              <a:t>•</a:t>
            </a:r>
            <a:r>
              <a:rPr kumimoji="0" lang="en-US" altLang="en-US" sz="1400" b="1" i="0" u="none" strike="noStrike" cap="none" normalizeH="0" baseline="0" dirty="0">
                <a:ln>
                  <a:noFill/>
                </a:ln>
                <a:solidFill>
                  <a:schemeClr val="tx2"/>
                </a:solidFill>
                <a:effectLst/>
                <a:latin typeface="Arial" panose="020B0604020202020204" pitchFamily="34" charset="0"/>
              </a:rPr>
              <a:t>If False:</a:t>
            </a:r>
            <a:r>
              <a:rPr kumimoji="0" lang="en-US" altLang="en-US" sz="1400" b="0" i="0" u="none" strike="noStrike" cap="none" normalizeH="0" baseline="0" dirty="0">
                <a:ln>
                  <a:noFill/>
                </a:ln>
                <a:solidFill>
                  <a:schemeClr val="tx2"/>
                </a:solidFill>
                <a:effectLst/>
                <a:latin typeface="Arial" panose="020B0604020202020204" pitchFamily="34" charset="0"/>
              </a:rPr>
              <a:t> </a:t>
            </a:r>
            <a:r>
              <a:rPr kumimoji="0" lang="en-US" altLang="en-US" sz="1400" b="1" i="0" u="none" strike="noStrike" cap="none" normalizeH="0" baseline="0" dirty="0">
                <a:ln>
                  <a:noFill/>
                </a:ln>
                <a:solidFill>
                  <a:schemeClr val="tx2"/>
                </a:solidFill>
                <a:effectLst/>
                <a:latin typeface="Arial" panose="020B0604020202020204" pitchFamily="34" charset="0"/>
              </a:rPr>
              <a:t>(Z16 / Z17) * 50</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solidFill>
                <a:effectLst/>
                <a:latin typeface="Arial" panose="020B0604020202020204" pitchFamily="34" charset="0"/>
              </a:rPr>
              <a:t>Rationale Behind Multipliers:</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2"/>
                </a:solidFill>
                <a:effectLst/>
                <a:latin typeface="Arial" panose="020B0604020202020204" pitchFamily="34" charset="0"/>
              </a:rPr>
              <a:t>600 (True Condition):</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2"/>
                </a:solidFill>
                <a:effectLst/>
                <a:latin typeface="Arial" panose="020B0604020202020204" pitchFamily="34" charset="0"/>
              </a:rPr>
              <a:t>High-risk, low-hazard actions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2"/>
                </a:solidFill>
                <a:effectLst/>
                <a:latin typeface="Arial" panose="020B0604020202020204" pitchFamily="34" charset="0"/>
              </a:rPr>
              <a:t>Urgent intervention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2"/>
                </a:solidFill>
                <a:effectLst/>
                <a:latin typeface="Arial" panose="020B0604020202020204" pitchFamily="34" charset="0"/>
              </a:rPr>
              <a:t>50 (False Condition):</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2"/>
                </a:solidFill>
                <a:effectLst/>
                <a:latin typeface="Arial" panose="020B0604020202020204" pitchFamily="34" charset="0"/>
              </a:rPr>
              <a:t>Lower risk or adequate actions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2"/>
                </a:solidFill>
                <a:effectLst/>
                <a:latin typeface="Arial" panose="020B0604020202020204" pitchFamily="34" charset="0"/>
              </a:rPr>
              <a:t>Balanced response</a:t>
            </a:r>
          </a:p>
        </p:txBody>
      </p:sp>
      <p:sp>
        <p:nvSpPr>
          <p:cNvPr id="10" name="TextBox 9">
            <a:extLst>
              <a:ext uri="{FF2B5EF4-FFF2-40B4-BE49-F238E27FC236}">
                <a16:creationId xmlns:a16="http://schemas.microsoft.com/office/drawing/2014/main" id="{DC5264F0-350E-1428-3051-E3E29E731D56}"/>
              </a:ext>
            </a:extLst>
          </p:cNvPr>
          <p:cNvSpPr txBox="1"/>
          <p:nvPr/>
        </p:nvSpPr>
        <p:spPr>
          <a:xfrm>
            <a:off x="5555974" y="4209839"/>
            <a:ext cx="6023113" cy="160043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solidFill>
                <a:effectLst/>
                <a:latin typeface="Arial" panose="020B0604020202020204" pitchFamily="34" charset="0"/>
              </a:rPr>
              <a:t>Summary:</a:t>
            </a:r>
            <a:r>
              <a:rPr kumimoji="0" lang="en-US" altLang="en-US" sz="1400" b="0" i="0" u="none" strike="noStrike" cap="none" normalizeH="0" baseline="0" dirty="0">
                <a:ln>
                  <a:noFill/>
                </a:ln>
                <a:solidFill>
                  <a:schemeClr val="tx2"/>
                </a:solidFill>
                <a:effectLst/>
                <a:latin typeface="Arial" panose="020B0604020202020204" pitchFamily="34" charset="0"/>
              </a:rPr>
              <a:t> </a:t>
            </a:r>
          </a:p>
          <a:p>
            <a:pPr eaLnBrk="0" fontAlgn="base" hangingPunct="0">
              <a:spcBef>
                <a:spcPct val="0"/>
              </a:spcBef>
              <a:spcAft>
                <a:spcPct val="0"/>
              </a:spcAft>
            </a:pPr>
            <a:r>
              <a:rPr kumimoji="0" lang="en-US" altLang="en-US" sz="1400" b="0" i="0" u="none" strike="noStrike" cap="none" normalizeH="0" baseline="0" dirty="0">
                <a:ln>
                  <a:noFill/>
                </a:ln>
                <a:solidFill>
                  <a:schemeClr val="tx2"/>
                </a:solidFill>
                <a:effectLst/>
                <a:latin typeface="Arial" panose="020B0604020202020204" pitchFamily="34" charset="0"/>
              </a:rPr>
              <a:t>The process ranks resource allocation by assessing the level of risk and the adequacy of our response to potential hazards (ATS). High-risk situations with low-hazard actions (ATS) necessitate urgent intervention, while lower-risk or adequately addressed actions receive a balanced contribution.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2"/>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86F99269-A756-3E4D-08F0-80839D2FC1DD}"/>
              </a:ext>
            </a:extLst>
          </p:cNvPr>
          <p:cNvPicPr>
            <a:picLocks noChangeAspect="1"/>
          </p:cNvPicPr>
          <p:nvPr/>
        </p:nvPicPr>
        <p:blipFill>
          <a:blip r:embed="rId3"/>
          <a:stretch>
            <a:fillRect/>
          </a:stretch>
        </p:blipFill>
        <p:spPr>
          <a:xfrm>
            <a:off x="6728791" y="1200505"/>
            <a:ext cx="3766931" cy="3026423"/>
          </a:xfrm>
          <a:prstGeom prst="rect">
            <a:avLst/>
          </a:prstGeom>
        </p:spPr>
      </p:pic>
      <p:sp>
        <p:nvSpPr>
          <p:cNvPr id="23" name="TextBox 22">
            <a:extLst>
              <a:ext uri="{FF2B5EF4-FFF2-40B4-BE49-F238E27FC236}">
                <a16:creationId xmlns:a16="http://schemas.microsoft.com/office/drawing/2014/main" id="{313FDBB2-4174-CCFF-AF74-B9261333165C}"/>
              </a:ext>
            </a:extLst>
          </p:cNvPr>
          <p:cNvSpPr txBox="1"/>
          <p:nvPr/>
        </p:nvSpPr>
        <p:spPr>
          <a:xfrm>
            <a:off x="518490" y="6372077"/>
            <a:ext cx="10248900" cy="241596"/>
          </a:xfrm>
          <a:prstGeom prst="rect">
            <a:avLst/>
          </a:prstGeom>
          <a:noFill/>
        </p:spPr>
        <p:txBody>
          <a:bodyPr wrap="none" lIns="0" tIns="0" rIns="0" bIns="0" rtlCol="0">
            <a:noAutofit/>
          </a:bodyPr>
          <a:lstStyle/>
          <a:p>
            <a:pPr algn="l">
              <a:spcAft>
                <a:spcPts val="600"/>
              </a:spcAft>
            </a:pPr>
            <a:r>
              <a:rPr lang="en-US" sz="1000" b="1" dirty="0"/>
              <a:t>References is ISO 31000:2018 Risk Management – Guidelines &amp; IEC 31010:2019 Risk Management – Risk Assessment Techniques for more info links below</a:t>
            </a:r>
          </a:p>
          <a:p>
            <a:pPr algn="l">
              <a:spcAft>
                <a:spcPts val="600"/>
              </a:spcAft>
            </a:pPr>
            <a:r>
              <a:rPr lang="en-US" sz="1000" b="1" dirty="0"/>
              <a:t> </a:t>
            </a:r>
          </a:p>
          <a:p>
            <a:pPr algn="l">
              <a:spcAft>
                <a:spcPts val="600"/>
              </a:spcAft>
            </a:pPr>
            <a:endParaRPr lang="en-US" sz="1000" b="1" dirty="0"/>
          </a:p>
        </p:txBody>
      </p:sp>
    </p:spTree>
    <p:extLst>
      <p:ext uri="{BB962C8B-B14F-4D97-AF65-F5344CB8AC3E}">
        <p14:creationId xmlns:p14="http://schemas.microsoft.com/office/powerpoint/2010/main" val="731751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FB4EC2A-DE0B-8947-6CEB-6F42ACFE4988}"/>
              </a:ext>
            </a:extLst>
          </p:cNvPr>
          <p:cNvSpPr>
            <a:spLocks noGrp="1"/>
          </p:cNvSpPr>
          <p:nvPr>
            <p:ph type="sldNum" sz="quarter" idx="12"/>
          </p:nvPr>
        </p:nvSpPr>
        <p:spPr/>
        <p:txBody>
          <a:bodyPr/>
          <a:lstStyle/>
          <a:p>
            <a:fld id="{7A7A97EF-C944-4447-B862-B593E9B4A0FF}" type="slidenum">
              <a:rPr lang="en-US" smtClean="0"/>
              <a:pPr/>
              <a:t>19</a:t>
            </a:fld>
            <a:endParaRPr lang="en-US" dirty="0"/>
          </a:p>
        </p:txBody>
      </p:sp>
      <p:sp>
        <p:nvSpPr>
          <p:cNvPr id="4" name="Title 3">
            <a:extLst>
              <a:ext uri="{FF2B5EF4-FFF2-40B4-BE49-F238E27FC236}">
                <a16:creationId xmlns:a16="http://schemas.microsoft.com/office/drawing/2014/main" id="{075C8B69-F6B5-C571-CD27-E6CAEB7A6187}"/>
              </a:ext>
            </a:extLst>
          </p:cNvPr>
          <p:cNvSpPr>
            <a:spLocks noGrp="1"/>
          </p:cNvSpPr>
          <p:nvPr>
            <p:ph type="title"/>
          </p:nvPr>
        </p:nvSpPr>
        <p:spPr/>
        <p:txBody>
          <a:bodyPr/>
          <a:lstStyle/>
          <a:p>
            <a:r>
              <a:rPr lang="en-US" dirty="0"/>
              <a:t>ATS Contribution Changes – Before Vs After </a:t>
            </a:r>
          </a:p>
        </p:txBody>
      </p:sp>
      <p:sp>
        <p:nvSpPr>
          <p:cNvPr id="10" name="TextBox 9">
            <a:extLst>
              <a:ext uri="{FF2B5EF4-FFF2-40B4-BE49-F238E27FC236}">
                <a16:creationId xmlns:a16="http://schemas.microsoft.com/office/drawing/2014/main" id="{DC5264F0-350E-1428-3051-E3E29E731D56}"/>
              </a:ext>
            </a:extLst>
          </p:cNvPr>
          <p:cNvSpPr txBox="1"/>
          <p:nvPr/>
        </p:nvSpPr>
        <p:spPr>
          <a:xfrm>
            <a:off x="5691812" y="4121923"/>
            <a:ext cx="5916841" cy="2154436"/>
          </a:xfrm>
          <a:prstGeom prst="rect">
            <a:avLst/>
          </a:prstGeom>
          <a:solidFill>
            <a:schemeClr val="accent3"/>
          </a:solidFill>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solidFill>
                <a:effectLst/>
                <a:latin typeface="Arial" panose="020B0604020202020204" pitchFamily="34" charset="0"/>
              </a:rPr>
              <a:t>Summary:</a:t>
            </a:r>
          </a:p>
          <a:p>
            <a:pPr eaLnBrk="0" fontAlgn="base" hangingPunct="0">
              <a:spcBef>
                <a:spcPct val="0"/>
              </a:spcBef>
              <a:spcAft>
                <a:spcPct val="0"/>
              </a:spcAft>
            </a:pPr>
            <a:r>
              <a:rPr kumimoji="0" lang="en-US" altLang="en-US" sz="1200" b="0" i="0" u="none" strike="noStrike" cap="none" normalizeH="0" baseline="0" dirty="0">
                <a:ln>
                  <a:noFill/>
                </a:ln>
                <a:solidFill>
                  <a:schemeClr val="tx2"/>
                </a:solidFill>
                <a:effectLst/>
                <a:latin typeface="Arial" panose="020B0604020202020204" pitchFamily="34" charset="0"/>
              </a:rPr>
              <a:t> </a:t>
            </a:r>
            <a:r>
              <a:rPr lang="en-US" sz="12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The new method, which uses the Total Risk Score (Y13) rather than just the Frequency (X13), is more accurate and robust because it evaluates risk in a more holistic manner. By considering both the severity and frequency of events, the formula reflects the true risk level rather than being skewed by frequent low-severity occurrences. This ensures that ATS contribution weighting is applied only when there is a genuine mismatch between high risk and low corrective action ratios, enabling better prioritization of actions and resource allocation. This approach also enhances decision-making effectiveness in line with ISO 31000’s emphasis on risk-informed decisions and IEC 31010’s recommendation to use compound risk scoring methods for ranking and prioritizing risks.</a:t>
            </a:r>
            <a:endParaRPr kumimoji="0" lang="en-US" altLang="en-US" sz="1200" b="0" i="0" u="none" strike="noStrike" cap="none" normalizeH="0" baseline="0" dirty="0">
              <a:ln>
                <a:noFill/>
              </a:ln>
              <a:solidFill>
                <a:schemeClr val="tx2"/>
              </a:solidFill>
              <a:effectLst/>
              <a:latin typeface="Arial" panose="020B0604020202020204" pitchFamily="34" charset="0"/>
            </a:endParaRPr>
          </a:p>
        </p:txBody>
      </p:sp>
      <p:sp>
        <p:nvSpPr>
          <p:cNvPr id="23" name="TextBox 22">
            <a:extLst>
              <a:ext uri="{FF2B5EF4-FFF2-40B4-BE49-F238E27FC236}">
                <a16:creationId xmlns:a16="http://schemas.microsoft.com/office/drawing/2014/main" id="{313FDBB2-4174-CCFF-AF74-B9261333165C}"/>
              </a:ext>
            </a:extLst>
          </p:cNvPr>
          <p:cNvSpPr txBox="1"/>
          <p:nvPr/>
        </p:nvSpPr>
        <p:spPr>
          <a:xfrm>
            <a:off x="518490" y="6372077"/>
            <a:ext cx="10248900" cy="241596"/>
          </a:xfrm>
          <a:prstGeom prst="rect">
            <a:avLst/>
          </a:prstGeom>
          <a:noFill/>
        </p:spPr>
        <p:txBody>
          <a:bodyPr wrap="none" lIns="0" tIns="0" rIns="0" bIns="0" rtlCol="0">
            <a:noAutofit/>
          </a:bodyPr>
          <a:lstStyle/>
          <a:p>
            <a:pPr algn="l">
              <a:spcAft>
                <a:spcPts val="600"/>
              </a:spcAft>
            </a:pPr>
            <a:r>
              <a:rPr lang="en-US" sz="1000" b="1" dirty="0"/>
              <a:t>References is ISO 31000:2018 Risk Management – Guidelines &amp; IEC 31010:2019 Risk Management – Risk Assessment Techniques for more info links below</a:t>
            </a:r>
          </a:p>
          <a:p>
            <a:pPr algn="l">
              <a:spcAft>
                <a:spcPts val="600"/>
              </a:spcAft>
            </a:pPr>
            <a:r>
              <a:rPr lang="en-US" sz="1000" b="1" dirty="0"/>
              <a:t> </a:t>
            </a:r>
          </a:p>
          <a:p>
            <a:pPr algn="l">
              <a:spcAft>
                <a:spcPts val="600"/>
              </a:spcAft>
            </a:pPr>
            <a:endParaRPr lang="en-US" sz="1000" b="1" dirty="0"/>
          </a:p>
        </p:txBody>
      </p:sp>
      <p:graphicFrame>
        <p:nvGraphicFramePr>
          <p:cNvPr id="11" name="Content Placeholder 10">
            <a:extLst>
              <a:ext uri="{FF2B5EF4-FFF2-40B4-BE49-F238E27FC236}">
                <a16:creationId xmlns:a16="http://schemas.microsoft.com/office/drawing/2014/main" id="{A38C4976-3C8A-C8FF-B557-4BB6A63FCA7C}"/>
              </a:ext>
            </a:extLst>
          </p:cNvPr>
          <p:cNvGraphicFramePr>
            <a:graphicFrameLocks noGrp="1"/>
          </p:cNvGraphicFramePr>
          <p:nvPr>
            <p:ph idx="1"/>
          </p:nvPr>
        </p:nvGraphicFramePr>
        <p:xfrm>
          <a:off x="161650" y="1511053"/>
          <a:ext cx="5394324" cy="3442784"/>
        </p:xfrm>
        <a:graphic>
          <a:graphicData uri="http://schemas.openxmlformats.org/drawingml/2006/table">
            <a:tbl>
              <a:tblPr firstRow="1" firstCol="1" bandRow="1"/>
              <a:tblGrid>
                <a:gridCol w="1798108">
                  <a:extLst>
                    <a:ext uri="{9D8B030D-6E8A-4147-A177-3AD203B41FA5}">
                      <a16:colId xmlns:a16="http://schemas.microsoft.com/office/drawing/2014/main" val="3295788620"/>
                    </a:ext>
                  </a:extLst>
                </a:gridCol>
                <a:gridCol w="1798108">
                  <a:extLst>
                    <a:ext uri="{9D8B030D-6E8A-4147-A177-3AD203B41FA5}">
                      <a16:colId xmlns:a16="http://schemas.microsoft.com/office/drawing/2014/main" val="2561845420"/>
                    </a:ext>
                  </a:extLst>
                </a:gridCol>
                <a:gridCol w="1798108">
                  <a:extLst>
                    <a:ext uri="{9D8B030D-6E8A-4147-A177-3AD203B41FA5}">
                      <a16:colId xmlns:a16="http://schemas.microsoft.com/office/drawing/2014/main" val="1955622940"/>
                    </a:ext>
                  </a:extLst>
                </a:gridCol>
              </a:tblGrid>
              <a:tr h="427974">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Aspect</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Before (Old Method)</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After (Enhanced Method – Standards-Aligned)</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3749497455"/>
                  </a:ext>
                </a:extLst>
              </a:tr>
              <a:tr h="427974">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Trigger Condition Variable</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X13 (Total Average Frequency only)</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Y13 (Total Risk Score = Severity + Frequency)</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1637580240"/>
                  </a:ext>
                </a:extLst>
              </a:tr>
              <a:tr h="427974">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Trigger Logic</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IF(AND(X13 &gt; 4, Z19 &lt; 0.021))</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IF(AND(Y13 &gt; 4, Z19 &lt; 0.021))</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2682524841"/>
                  </a:ext>
                </a:extLst>
              </a:tr>
              <a:tr h="874940">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Trigger Justification</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Focused only on likelihood (frequency)</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Aligned with ISO 31000 Clause 6.4.3 and IEC 31010 – considers consequence + likelihood</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4144417569"/>
                  </a:ext>
                </a:extLst>
              </a:tr>
              <a:tr h="427974">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Compliance Level</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Partial compliance – only one risk dimension</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Full compliance – holistic risk evaluation approach</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882477783"/>
                  </a:ext>
                </a:extLst>
              </a:tr>
              <a:tr h="427974">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Decision-Making Value</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May overemphasize frequent low-impact risks</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Accurately identifies high-risk, low-response hazards</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3299388571"/>
                  </a:ext>
                </a:extLst>
              </a:tr>
              <a:tr h="427974">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Strategic Value</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Operational metric</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Strategic, standards-aligned performance index</a:t>
                      </a:r>
                    </a:p>
                  </a:txBody>
                  <a:tcPr marL="67429" marR="67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4157264414"/>
                  </a:ext>
                </a:extLst>
              </a:tr>
            </a:tbl>
          </a:graphicData>
        </a:graphic>
      </p:graphicFrame>
      <p:sp>
        <p:nvSpPr>
          <p:cNvPr id="13" name="TextBox 12">
            <a:extLst>
              <a:ext uri="{FF2B5EF4-FFF2-40B4-BE49-F238E27FC236}">
                <a16:creationId xmlns:a16="http://schemas.microsoft.com/office/drawing/2014/main" id="{71F43147-2E41-0C34-CC5A-7A60C8D47C83}"/>
              </a:ext>
            </a:extLst>
          </p:cNvPr>
          <p:cNvSpPr txBox="1"/>
          <p:nvPr/>
        </p:nvSpPr>
        <p:spPr>
          <a:xfrm>
            <a:off x="161650" y="867301"/>
            <a:ext cx="609432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2"/>
                </a:solidFill>
                <a:effectLst/>
                <a:latin typeface="Arial" panose="020B0604020202020204" pitchFamily="34" charset="0"/>
              </a:rPr>
              <a:t>=IF((AND(Y13&gt;4,Z19&lt;0.021)),Z16/Z17*600,Z16/Z17*50)</a:t>
            </a:r>
            <a:endParaRPr kumimoji="0" lang="en-US" altLang="en-US" sz="1800" b="0" i="0" u="none" strike="noStrike" cap="none" normalizeH="0" baseline="0" dirty="0">
              <a:ln>
                <a:noFill/>
              </a:ln>
              <a:solidFill>
                <a:schemeClr val="tx2"/>
              </a:solidFill>
              <a:effectLst/>
              <a:latin typeface="Arial" panose="020B0604020202020204" pitchFamily="34" charset="0"/>
            </a:endParaRPr>
          </a:p>
        </p:txBody>
      </p:sp>
      <p:pic>
        <p:nvPicPr>
          <p:cNvPr id="15" name="Picture 14">
            <a:extLst>
              <a:ext uri="{FF2B5EF4-FFF2-40B4-BE49-F238E27FC236}">
                <a16:creationId xmlns:a16="http://schemas.microsoft.com/office/drawing/2014/main" id="{DE1F0B1C-A489-0C39-D312-08E34CC6530B}"/>
              </a:ext>
            </a:extLst>
          </p:cNvPr>
          <p:cNvPicPr>
            <a:picLocks noChangeAspect="1"/>
          </p:cNvPicPr>
          <p:nvPr/>
        </p:nvPicPr>
        <p:blipFill>
          <a:blip r:embed="rId3"/>
          <a:stretch>
            <a:fillRect/>
          </a:stretch>
        </p:blipFill>
        <p:spPr>
          <a:xfrm>
            <a:off x="5935227" y="1051968"/>
            <a:ext cx="4648200" cy="3069956"/>
          </a:xfrm>
          <a:prstGeom prst="rect">
            <a:avLst/>
          </a:prstGeom>
        </p:spPr>
      </p:pic>
    </p:spTree>
    <p:extLst>
      <p:ext uri="{BB962C8B-B14F-4D97-AF65-F5344CB8AC3E}">
        <p14:creationId xmlns:p14="http://schemas.microsoft.com/office/powerpoint/2010/main" val="44241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2F4FE1-CA35-82DC-469A-9C5168081125}"/>
              </a:ext>
            </a:extLst>
          </p:cNvPr>
          <p:cNvSpPr>
            <a:spLocks noGrp="1"/>
          </p:cNvSpPr>
          <p:nvPr>
            <p:ph type="title"/>
          </p:nvPr>
        </p:nvSpPr>
        <p:spPr/>
        <p:txBody>
          <a:bodyPr/>
          <a:lstStyle/>
          <a:p>
            <a:r>
              <a:rPr lang="en-US" dirty="0"/>
              <a:t>Concern Reports Contributions Calculations </a:t>
            </a:r>
          </a:p>
        </p:txBody>
      </p:sp>
      <p:sp>
        <p:nvSpPr>
          <p:cNvPr id="5" name="Content Placeholder 4">
            <a:extLst>
              <a:ext uri="{FF2B5EF4-FFF2-40B4-BE49-F238E27FC236}">
                <a16:creationId xmlns:a16="http://schemas.microsoft.com/office/drawing/2014/main" id="{9D1B72D0-04E5-4D44-E117-84BF5E5194E0}"/>
              </a:ext>
            </a:extLst>
          </p:cNvPr>
          <p:cNvSpPr>
            <a:spLocks noGrp="1"/>
          </p:cNvSpPr>
          <p:nvPr>
            <p:ph idx="1"/>
          </p:nvPr>
        </p:nvSpPr>
        <p:spPr>
          <a:xfrm>
            <a:off x="419100" y="1355725"/>
            <a:ext cx="3377649" cy="4538180"/>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sz="1200" dirty="0"/>
              <a:t>Primary Calculation:</a:t>
            </a:r>
          </a:p>
          <a:p>
            <a:r>
              <a:rPr lang="en-US" sz="1200" dirty="0"/>
              <a:t>=IF((AND(Y13&gt;=3,Z28&lt;0.031)),Z22*36,Z22)</a:t>
            </a:r>
          </a:p>
          <a:p>
            <a:r>
              <a:rPr lang="en-US" sz="1200" dirty="0"/>
              <a:t>Y13 (Risk): The risk level.</a:t>
            </a:r>
          </a:p>
          <a:p>
            <a:r>
              <a:rPr lang="en-US" sz="1200" dirty="0"/>
              <a:t>Z28: Percentage of(adverse, positive, and stop work concerns relative to the total number of CRs) (Z22+Z23+Z24)/Z26</a:t>
            </a:r>
          </a:p>
          <a:p>
            <a:r>
              <a:rPr lang="en-US" sz="1200" dirty="0"/>
              <a:t>Z22: Number of adverse concerns.</a:t>
            </a:r>
          </a:p>
          <a:p>
            <a:r>
              <a:rPr lang="en-US" sz="1200" b="1" dirty="0"/>
              <a:t>Purpose: </a:t>
            </a:r>
            <a:r>
              <a:rPr lang="en-US" sz="1200" dirty="0"/>
              <a:t>To adjust the count of adverse concerns based on the risk level and the relative percentage of all concerns related to the hazard.</a:t>
            </a:r>
          </a:p>
          <a:p>
            <a:r>
              <a:rPr lang="en-US" sz="1200" b="1" dirty="0"/>
              <a:t>Logic:</a:t>
            </a:r>
          </a:p>
          <a:p>
            <a:r>
              <a:rPr lang="en-US" sz="1200" dirty="0"/>
              <a:t>If the risk level (Y13) is 3 or higher and the percentage of specific concerns (Z28) is less than 3.1%, then multiply the number of adverse concerns (Z22) by 36.</a:t>
            </a:r>
          </a:p>
          <a:p>
            <a:r>
              <a:rPr lang="en-US" sz="1200" dirty="0"/>
              <a:t>Otherwise, use the number of adverse concerns (Z22) as is.</a:t>
            </a:r>
          </a:p>
        </p:txBody>
      </p:sp>
      <p:sp>
        <p:nvSpPr>
          <p:cNvPr id="6" name="Content Placeholder 5">
            <a:extLst>
              <a:ext uri="{FF2B5EF4-FFF2-40B4-BE49-F238E27FC236}">
                <a16:creationId xmlns:a16="http://schemas.microsoft.com/office/drawing/2014/main" id="{6EC3FA4B-85B6-CCB0-23F5-1EF9956D981E}"/>
              </a:ext>
            </a:extLst>
          </p:cNvPr>
          <p:cNvSpPr>
            <a:spLocks noGrp="1"/>
          </p:cNvSpPr>
          <p:nvPr>
            <p:ph idx="13"/>
          </p:nvPr>
        </p:nvSpPr>
        <p:spPr>
          <a:xfrm>
            <a:off x="3996357" y="1355724"/>
            <a:ext cx="3501059" cy="4538180"/>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sz="1200" dirty="0"/>
              <a:t>Secondary Calculation:</a:t>
            </a:r>
          </a:p>
          <a:p>
            <a:r>
              <a:rPr lang="en-US" sz="1200" dirty="0"/>
              <a:t>((Z29-(Z22*0.5)-(Z23*0.1)+(Z24*3)+(Z25*15))/(Z26))*130</a:t>
            </a:r>
          </a:p>
          <a:p>
            <a:r>
              <a:rPr lang="en-US" sz="1200" dirty="0"/>
              <a:t>Z29: Result from the primary calculation.</a:t>
            </a:r>
          </a:p>
          <a:p>
            <a:r>
              <a:rPr lang="en-US" sz="1200" dirty="0"/>
              <a:t>Z22: Number of adverse concerns.</a:t>
            </a:r>
          </a:p>
          <a:p>
            <a:r>
              <a:rPr lang="en-US" sz="1200" dirty="0"/>
              <a:t>Z23: Number of positive concerns.</a:t>
            </a:r>
          </a:p>
          <a:p>
            <a:r>
              <a:rPr lang="en-US" sz="1200" dirty="0"/>
              <a:t>Z24: Number of stop works.</a:t>
            </a:r>
          </a:p>
          <a:p>
            <a:r>
              <a:rPr lang="en-US" sz="1200" dirty="0"/>
              <a:t>Z25: Number of escalated concerns.</a:t>
            </a:r>
          </a:p>
          <a:p>
            <a:r>
              <a:rPr lang="en-US" sz="1200" dirty="0"/>
              <a:t>Z26: Total number of concerns.</a:t>
            </a:r>
          </a:p>
          <a:p>
            <a:r>
              <a:rPr lang="en-US" sz="1200" b="1" dirty="0"/>
              <a:t>Purpose: </a:t>
            </a:r>
            <a:r>
              <a:rPr lang="en-US" sz="1200" dirty="0"/>
              <a:t>To develop the final concern report contributions.(Z27)</a:t>
            </a:r>
          </a:p>
          <a:p>
            <a:r>
              <a:rPr lang="en-US" sz="1200" b="1" dirty="0"/>
              <a:t>Components:</a:t>
            </a:r>
          </a:p>
          <a:p>
            <a:r>
              <a:rPr lang="en-US" sz="1200" dirty="0"/>
              <a:t>Adjust Z29 (from primary calculation) by subtracting a fraction of adverse and positive concerns and adding weighted values of stop work and escalated concerns.</a:t>
            </a:r>
          </a:p>
          <a:p>
            <a:r>
              <a:rPr lang="en-US" sz="1200" dirty="0"/>
              <a:t>Normalize by the total number of concerns (Z26) and scale the result.</a:t>
            </a:r>
          </a:p>
        </p:txBody>
      </p:sp>
      <p:sp>
        <p:nvSpPr>
          <p:cNvPr id="22" name="TextBox 21">
            <a:extLst>
              <a:ext uri="{FF2B5EF4-FFF2-40B4-BE49-F238E27FC236}">
                <a16:creationId xmlns:a16="http://schemas.microsoft.com/office/drawing/2014/main" id="{26B5252B-2613-53D9-D9FF-E38B8109C04F}"/>
              </a:ext>
            </a:extLst>
          </p:cNvPr>
          <p:cNvSpPr txBox="1"/>
          <p:nvPr/>
        </p:nvSpPr>
        <p:spPr>
          <a:xfrm>
            <a:off x="518490" y="931256"/>
            <a:ext cx="3501059" cy="369332"/>
          </a:xfrm>
          <a:prstGeom prst="rect">
            <a:avLst/>
          </a:prstGeom>
          <a:noFill/>
        </p:spPr>
        <p:txBody>
          <a:bodyPr wrap="square">
            <a:spAutoFit/>
          </a:bodyPr>
          <a:lstStyle/>
          <a:p>
            <a:r>
              <a:rPr lang="en-US" dirty="0"/>
              <a:t>Adverse Concern Multiplier</a:t>
            </a:r>
          </a:p>
        </p:txBody>
      </p:sp>
      <p:sp>
        <p:nvSpPr>
          <p:cNvPr id="24" name="TextBox 23">
            <a:extLst>
              <a:ext uri="{FF2B5EF4-FFF2-40B4-BE49-F238E27FC236}">
                <a16:creationId xmlns:a16="http://schemas.microsoft.com/office/drawing/2014/main" id="{E5E6F0E5-8986-BF28-781B-AC110B453752}"/>
              </a:ext>
            </a:extLst>
          </p:cNvPr>
          <p:cNvSpPr txBox="1"/>
          <p:nvPr/>
        </p:nvSpPr>
        <p:spPr>
          <a:xfrm>
            <a:off x="4119768" y="904167"/>
            <a:ext cx="2976772" cy="369332"/>
          </a:xfrm>
          <a:prstGeom prst="rect">
            <a:avLst/>
          </a:prstGeom>
          <a:noFill/>
        </p:spPr>
        <p:txBody>
          <a:bodyPr wrap="square">
            <a:spAutoFit/>
          </a:bodyPr>
          <a:lstStyle/>
          <a:p>
            <a:r>
              <a:rPr lang="en-US" dirty="0"/>
              <a:t>Weighted Concern Index</a:t>
            </a:r>
          </a:p>
        </p:txBody>
      </p:sp>
      <p:pic>
        <p:nvPicPr>
          <p:cNvPr id="17" name="Picture 16">
            <a:extLst>
              <a:ext uri="{FF2B5EF4-FFF2-40B4-BE49-F238E27FC236}">
                <a16:creationId xmlns:a16="http://schemas.microsoft.com/office/drawing/2014/main" id="{60158984-56D6-B220-CBF3-0FE6DA414963}"/>
              </a:ext>
            </a:extLst>
          </p:cNvPr>
          <p:cNvPicPr>
            <a:picLocks noChangeAspect="1"/>
          </p:cNvPicPr>
          <p:nvPr/>
        </p:nvPicPr>
        <p:blipFill>
          <a:blip r:embed="rId2"/>
          <a:stretch>
            <a:fillRect/>
          </a:stretch>
        </p:blipFill>
        <p:spPr>
          <a:xfrm>
            <a:off x="7291803" y="1251578"/>
            <a:ext cx="4724809" cy="5584420"/>
          </a:xfrm>
          <a:prstGeom prst="rect">
            <a:avLst/>
          </a:prstGeom>
        </p:spPr>
      </p:pic>
      <p:sp>
        <p:nvSpPr>
          <p:cNvPr id="2" name="TextBox 1">
            <a:extLst>
              <a:ext uri="{FF2B5EF4-FFF2-40B4-BE49-F238E27FC236}">
                <a16:creationId xmlns:a16="http://schemas.microsoft.com/office/drawing/2014/main" id="{8AC78D01-33FA-0B37-ECA5-A6D4B7669A57}"/>
              </a:ext>
            </a:extLst>
          </p:cNvPr>
          <p:cNvSpPr txBox="1"/>
          <p:nvPr/>
        </p:nvSpPr>
        <p:spPr>
          <a:xfrm>
            <a:off x="518490" y="6372077"/>
            <a:ext cx="10248900" cy="241596"/>
          </a:xfrm>
          <a:prstGeom prst="rect">
            <a:avLst/>
          </a:prstGeom>
          <a:noFill/>
        </p:spPr>
        <p:txBody>
          <a:bodyPr wrap="none" lIns="0" tIns="0" rIns="0" bIns="0" rtlCol="0">
            <a:noAutofit/>
          </a:bodyPr>
          <a:lstStyle/>
          <a:p>
            <a:pPr algn="l">
              <a:spcAft>
                <a:spcPts val="600"/>
              </a:spcAft>
            </a:pPr>
            <a:r>
              <a:rPr lang="en-US" sz="1000" b="1" dirty="0"/>
              <a:t>References is ISO 31000:2018 Risk Management – Guidelines &amp; IEC 31010:2019 Risk Management – Risk Assessment Techniques for more info links below</a:t>
            </a:r>
          </a:p>
          <a:p>
            <a:pPr algn="l">
              <a:spcAft>
                <a:spcPts val="600"/>
              </a:spcAft>
            </a:pPr>
            <a:r>
              <a:rPr lang="en-US" sz="1000" b="1" dirty="0"/>
              <a:t> </a:t>
            </a:r>
          </a:p>
          <a:p>
            <a:pPr algn="l">
              <a:spcAft>
                <a:spcPts val="600"/>
              </a:spcAft>
            </a:pPr>
            <a:endParaRPr lang="en-US" sz="1000" b="1" dirty="0"/>
          </a:p>
        </p:txBody>
      </p:sp>
    </p:spTree>
    <p:extLst>
      <p:ext uri="{BB962C8B-B14F-4D97-AF65-F5344CB8AC3E}">
        <p14:creationId xmlns:p14="http://schemas.microsoft.com/office/powerpoint/2010/main" val="3681208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DED368-4BB1-68E2-2C7D-EA393747FCDC}"/>
              </a:ext>
            </a:extLst>
          </p:cNvPr>
          <p:cNvSpPr>
            <a:spLocks noGrp="1"/>
          </p:cNvSpPr>
          <p:nvPr>
            <p:ph type="sldNum" sz="quarter" idx="12"/>
          </p:nvPr>
        </p:nvSpPr>
        <p:spPr/>
        <p:txBody>
          <a:bodyPr/>
          <a:lstStyle/>
          <a:p>
            <a:fld id="{7A7A97EF-C944-4447-B862-B593E9B4A0FF}" type="slidenum">
              <a:rPr lang="en-US" smtClean="0"/>
              <a:pPr/>
              <a:t>21</a:t>
            </a:fld>
            <a:endParaRPr lang="en-US" dirty="0"/>
          </a:p>
        </p:txBody>
      </p:sp>
      <p:sp>
        <p:nvSpPr>
          <p:cNvPr id="9" name="Content Placeholder 5">
            <a:extLst>
              <a:ext uri="{FF2B5EF4-FFF2-40B4-BE49-F238E27FC236}">
                <a16:creationId xmlns:a16="http://schemas.microsoft.com/office/drawing/2014/main" id="{0F27E7A9-4271-C82D-FACB-1A1E4E835674}"/>
              </a:ext>
            </a:extLst>
          </p:cNvPr>
          <p:cNvSpPr>
            <a:spLocks noGrp="1"/>
          </p:cNvSpPr>
          <p:nvPr>
            <p:ph idx="1"/>
          </p:nvPr>
        </p:nvSpPr>
        <p:spPr>
          <a:xfrm>
            <a:off x="419100" y="1737695"/>
            <a:ext cx="5394325" cy="4114800"/>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sz="1200" dirty="0"/>
              <a:t>36 for High Risk and Low Response:</a:t>
            </a:r>
          </a:p>
          <a:p>
            <a:r>
              <a:rPr lang="en-US" sz="1200" dirty="0"/>
              <a:t>The high multiplier (36)* emphasizes the urgency and significant impact of addressing adverse concerns when the risk is high, and the percentage of these concerns is relatively low. This multiplier effectively amplifies the weight of these concerns, making it clear that urgent attention and resources are needed to address the identified hazards adequately.</a:t>
            </a:r>
          </a:p>
          <a:p>
            <a:r>
              <a:rPr lang="en-US" sz="1200" dirty="0"/>
              <a:t>Concept of Scaling:</a:t>
            </a:r>
          </a:p>
          <a:p>
            <a:r>
              <a:rPr lang="en-US" sz="1200" dirty="0"/>
              <a:t>Scaling factors like 36 in risk management ensures that critical issues receive proportionate focus and resources. By amplifying the adverse concerns in high-risk scenarios, the organization can prioritize the most needed interventions.</a:t>
            </a:r>
          </a:p>
          <a:p>
            <a:endParaRPr lang="en-US" sz="1200" dirty="0"/>
          </a:p>
          <a:p>
            <a:endParaRPr lang="en-US" sz="1200" dirty="0"/>
          </a:p>
          <a:p>
            <a:endParaRPr lang="en-US" sz="1200" dirty="0"/>
          </a:p>
          <a:p>
            <a:endParaRPr lang="en-US" sz="1200" dirty="0"/>
          </a:p>
          <a:p>
            <a:endParaRPr lang="en-US" sz="800" dirty="0"/>
          </a:p>
          <a:p>
            <a:r>
              <a:rPr lang="en-US" sz="800" dirty="0"/>
              <a:t>*Values such as 0.5 and 0.1 and the multipliers are determined based on historical analysis and standard practices to ensure accuracy and effectiveness in risk assessment.</a:t>
            </a:r>
          </a:p>
        </p:txBody>
      </p:sp>
      <p:sp>
        <p:nvSpPr>
          <p:cNvPr id="10" name="Content Placeholder 4">
            <a:extLst>
              <a:ext uri="{FF2B5EF4-FFF2-40B4-BE49-F238E27FC236}">
                <a16:creationId xmlns:a16="http://schemas.microsoft.com/office/drawing/2014/main" id="{6FCFF3F8-C928-ABDB-54E8-4F08A8DBB609}"/>
              </a:ext>
            </a:extLst>
          </p:cNvPr>
          <p:cNvSpPr>
            <a:spLocks noGrp="1"/>
          </p:cNvSpPr>
          <p:nvPr>
            <p:ph idx="13"/>
          </p:nvPr>
        </p:nvSpPr>
        <p:spPr>
          <a:xfrm>
            <a:off x="6096000" y="1737695"/>
            <a:ext cx="5394325" cy="4114800"/>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sz="1200" dirty="0"/>
              <a:t>0.5* for Adverse Concerns (Z22): This number reflects the significant impact of adverse concerns but also accounts for other concerns in the overall calculation.</a:t>
            </a:r>
          </a:p>
          <a:p>
            <a:r>
              <a:rPr lang="en-US" sz="1200" dirty="0"/>
              <a:t>0.1* for Positive Concerns (Z23): While positive concerns have a smaller negative impact on the risk score, they are acknowledged for their contribution at a lower weight, ensuring a fair and balanced consideration of all concerns. </a:t>
            </a:r>
          </a:p>
          <a:p>
            <a:r>
              <a:rPr lang="en-US" sz="1200" dirty="0"/>
              <a:t>3 for Stop Work (Z24): Stop work orders are critical safety interventions, so they are assigned a higher positive weight to reflect their importance in mitigating risk.</a:t>
            </a:r>
          </a:p>
          <a:p>
            <a:r>
              <a:rPr lang="en-US" sz="1200" dirty="0"/>
              <a:t>15 for Escalated Concerns (Z25): Escalated concerns are highly significant as they indicate severe issues that require immediate and substantial intervention, thus giving the highest weight.</a:t>
            </a:r>
          </a:p>
          <a:p>
            <a:r>
              <a:rPr lang="en-US" sz="1200" dirty="0"/>
              <a:t>Scaling Factor 130: Normalizes the final score to ensure it is within a manageable and interpretable range for decision-making.</a:t>
            </a:r>
          </a:p>
        </p:txBody>
      </p:sp>
      <p:sp>
        <p:nvSpPr>
          <p:cNvPr id="12" name="TextBox 11">
            <a:extLst>
              <a:ext uri="{FF2B5EF4-FFF2-40B4-BE49-F238E27FC236}">
                <a16:creationId xmlns:a16="http://schemas.microsoft.com/office/drawing/2014/main" id="{D98A19D4-A24D-07F0-C409-064E07C8ACCE}"/>
              </a:ext>
            </a:extLst>
          </p:cNvPr>
          <p:cNvSpPr txBox="1"/>
          <p:nvPr/>
        </p:nvSpPr>
        <p:spPr>
          <a:xfrm>
            <a:off x="419100" y="1017409"/>
            <a:ext cx="6097656" cy="830997"/>
          </a:xfrm>
          <a:prstGeom prst="rect">
            <a:avLst/>
          </a:prstGeom>
          <a:noFill/>
        </p:spPr>
        <p:txBody>
          <a:bodyPr wrap="square">
            <a:spAutoFit/>
          </a:bodyPr>
          <a:lstStyle/>
          <a:p>
            <a:r>
              <a:rPr lang="en-US" sz="1600" dirty="0"/>
              <a:t>Rationale Behind the Multipliers in the First Calculations :</a:t>
            </a:r>
          </a:p>
          <a:p>
            <a:r>
              <a:rPr lang="en-US" sz="1600" dirty="0"/>
              <a:t>=IF((AND(Y13&gt;=3,Z28&lt;0.031)),Z22*36,Z22)</a:t>
            </a:r>
          </a:p>
          <a:p>
            <a:endParaRPr lang="en-US" sz="1600" dirty="0"/>
          </a:p>
        </p:txBody>
      </p:sp>
      <p:sp>
        <p:nvSpPr>
          <p:cNvPr id="16" name="TextBox 15">
            <a:extLst>
              <a:ext uri="{FF2B5EF4-FFF2-40B4-BE49-F238E27FC236}">
                <a16:creationId xmlns:a16="http://schemas.microsoft.com/office/drawing/2014/main" id="{B1A11249-81F5-4981-A545-859D44E90F18}"/>
              </a:ext>
            </a:extLst>
          </p:cNvPr>
          <p:cNvSpPr txBox="1"/>
          <p:nvPr/>
        </p:nvSpPr>
        <p:spPr>
          <a:xfrm>
            <a:off x="6094344" y="1017409"/>
            <a:ext cx="5852491" cy="830997"/>
          </a:xfrm>
          <a:prstGeom prst="rect">
            <a:avLst/>
          </a:prstGeom>
          <a:noFill/>
        </p:spPr>
        <p:txBody>
          <a:bodyPr wrap="square">
            <a:spAutoFit/>
          </a:bodyPr>
          <a:lstStyle/>
          <a:p>
            <a:r>
              <a:rPr lang="en-US" sz="1600" dirty="0"/>
              <a:t>Weighting Factors in Secondary Calculation:</a:t>
            </a:r>
          </a:p>
          <a:p>
            <a:r>
              <a:rPr lang="en-US" sz="1600" dirty="0"/>
              <a:t>((Z29-(Z22*0.5)-(Z23*0.1)+(Z24*3)+(Z25*15))/(Z26))*130</a:t>
            </a:r>
          </a:p>
          <a:p>
            <a:endParaRPr lang="en-US" sz="1600" dirty="0"/>
          </a:p>
        </p:txBody>
      </p:sp>
      <p:sp>
        <p:nvSpPr>
          <p:cNvPr id="18" name="Title 3">
            <a:extLst>
              <a:ext uri="{FF2B5EF4-FFF2-40B4-BE49-F238E27FC236}">
                <a16:creationId xmlns:a16="http://schemas.microsoft.com/office/drawing/2014/main" id="{1662E73D-F25F-5044-7742-429CCEB451E8}"/>
              </a:ext>
            </a:extLst>
          </p:cNvPr>
          <p:cNvSpPr>
            <a:spLocks noGrp="1"/>
          </p:cNvSpPr>
          <p:nvPr>
            <p:ph type="title"/>
          </p:nvPr>
        </p:nvSpPr>
        <p:spPr>
          <a:xfrm>
            <a:off x="419100" y="419101"/>
            <a:ext cx="9596168" cy="457020"/>
          </a:xfrm>
        </p:spPr>
        <p:txBody>
          <a:bodyPr/>
          <a:lstStyle/>
          <a:p>
            <a:r>
              <a:rPr lang="en-US" dirty="0"/>
              <a:t>Concern Reports Contributions Calculations </a:t>
            </a:r>
          </a:p>
        </p:txBody>
      </p:sp>
      <p:sp>
        <p:nvSpPr>
          <p:cNvPr id="2" name="TextBox 1">
            <a:extLst>
              <a:ext uri="{FF2B5EF4-FFF2-40B4-BE49-F238E27FC236}">
                <a16:creationId xmlns:a16="http://schemas.microsoft.com/office/drawing/2014/main" id="{54282512-2E29-F2C2-C8C0-EEB1824928C4}"/>
              </a:ext>
            </a:extLst>
          </p:cNvPr>
          <p:cNvSpPr txBox="1"/>
          <p:nvPr/>
        </p:nvSpPr>
        <p:spPr>
          <a:xfrm>
            <a:off x="518490" y="6372077"/>
            <a:ext cx="10248900" cy="241596"/>
          </a:xfrm>
          <a:prstGeom prst="rect">
            <a:avLst/>
          </a:prstGeom>
          <a:noFill/>
        </p:spPr>
        <p:txBody>
          <a:bodyPr wrap="none" lIns="0" tIns="0" rIns="0" bIns="0" rtlCol="0">
            <a:noAutofit/>
          </a:bodyPr>
          <a:lstStyle/>
          <a:p>
            <a:pPr algn="l">
              <a:spcAft>
                <a:spcPts val="600"/>
              </a:spcAft>
            </a:pPr>
            <a:r>
              <a:rPr lang="en-US" sz="1000" b="1" dirty="0"/>
              <a:t>References is ISO 31000:2018 Risk Management – Guidelines &amp; IEC 31010:2019 Risk Management – Risk Assessment Techniques for more info links below</a:t>
            </a:r>
          </a:p>
          <a:p>
            <a:pPr algn="l">
              <a:spcAft>
                <a:spcPts val="600"/>
              </a:spcAft>
            </a:pPr>
            <a:r>
              <a:rPr lang="en-US" sz="1000" b="1" dirty="0"/>
              <a:t> </a:t>
            </a:r>
          </a:p>
          <a:p>
            <a:pPr algn="l">
              <a:spcAft>
                <a:spcPts val="600"/>
              </a:spcAft>
            </a:pPr>
            <a:endParaRPr lang="en-US" sz="1000" b="1" dirty="0"/>
          </a:p>
        </p:txBody>
      </p:sp>
    </p:spTree>
    <p:extLst>
      <p:ext uri="{BB962C8B-B14F-4D97-AF65-F5344CB8AC3E}">
        <p14:creationId xmlns:p14="http://schemas.microsoft.com/office/powerpoint/2010/main" val="497414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A38B6B-AEA1-E193-4FBB-3EB93C7E0F6A}"/>
              </a:ext>
            </a:extLst>
          </p:cNvPr>
          <p:cNvSpPr>
            <a:spLocks noGrp="1"/>
          </p:cNvSpPr>
          <p:nvPr>
            <p:ph type="sldNum" sz="quarter" idx="12"/>
          </p:nvPr>
        </p:nvSpPr>
        <p:spPr/>
        <p:txBody>
          <a:bodyPr/>
          <a:lstStyle/>
          <a:p>
            <a:fld id="{7A7A97EF-C944-4447-B862-B593E9B4A0FF}" type="slidenum">
              <a:rPr lang="en-US" smtClean="0"/>
              <a:pPr/>
              <a:t>22</a:t>
            </a:fld>
            <a:endParaRPr lang="en-US" dirty="0"/>
          </a:p>
        </p:txBody>
      </p:sp>
      <p:sp>
        <p:nvSpPr>
          <p:cNvPr id="7" name="Content Placeholder 6">
            <a:extLst>
              <a:ext uri="{FF2B5EF4-FFF2-40B4-BE49-F238E27FC236}">
                <a16:creationId xmlns:a16="http://schemas.microsoft.com/office/drawing/2014/main" id="{E796492D-E134-FD8F-CAAE-DAEA0322A450}"/>
              </a:ext>
            </a:extLst>
          </p:cNvPr>
          <p:cNvSpPr>
            <a:spLocks noGrp="1"/>
          </p:cNvSpPr>
          <p:nvPr>
            <p:ph idx="1"/>
          </p:nvPr>
        </p:nvSpPr>
        <p:spPr>
          <a:xfrm>
            <a:off x="419099" y="1250872"/>
            <a:ext cx="10971143" cy="4654430"/>
          </a:xfrm>
        </p:spPr>
        <p:style>
          <a:lnRef idx="2">
            <a:schemeClr val="accent3">
              <a:shade val="15000"/>
            </a:schemeClr>
          </a:lnRef>
          <a:fillRef idx="1">
            <a:schemeClr val="accent3"/>
          </a:fillRef>
          <a:effectRef idx="0">
            <a:schemeClr val="accent3"/>
          </a:effectRef>
          <a:fontRef idx="minor">
            <a:schemeClr val="lt1"/>
          </a:fontRef>
        </p:style>
        <p:txBody>
          <a:bodyPr/>
          <a:lstStyle/>
          <a:p>
            <a:r>
              <a:rPr lang="en-US" sz="1200" b="1" dirty="0"/>
              <a:t>Input Values:</a:t>
            </a:r>
          </a:p>
          <a:p>
            <a:pPr marL="171450" indent="-171450">
              <a:buFont typeface="Arial" panose="020B0604020202020204" pitchFamily="34" charset="0"/>
              <a:buChar char="•"/>
            </a:pPr>
            <a:r>
              <a:rPr lang="en-US" sz="1200" dirty="0"/>
              <a:t>Risk (Y13)</a:t>
            </a:r>
          </a:p>
          <a:p>
            <a:pPr marL="171450" indent="-171450">
              <a:buFont typeface="Arial" panose="020B0604020202020204" pitchFamily="34" charset="0"/>
              <a:buChar char="•"/>
            </a:pPr>
            <a:r>
              <a:rPr lang="en-US" sz="1200" dirty="0"/>
              <a:t>Adverse Concerns (Z22)</a:t>
            </a:r>
          </a:p>
          <a:p>
            <a:pPr marL="171450" indent="-171450">
              <a:buFont typeface="Arial" panose="020B0604020202020204" pitchFamily="34" charset="0"/>
              <a:buChar char="•"/>
            </a:pPr>
            <a:r>
              <a:rPr lang="en-US" sz="1200" dirty="0"/>
              <a:t>Positive Concerns (Z23)</a:t>
            </a:r>
          </a:p>
          <a:p>
            <a:pPr marL="171450" indent="-171450">
              <a:buFont typeface="Arial" panose="020B0604020202020204" pitchFamily="34" charset="0"/>
              <a:buChar char="•"/>
            </a:pPr>
            <a:r>
              <a:rPr lang="en-US" sz="1200" dirty="0"/>
              <a:t>Stop Work (Z24)</a:t>
            </a:r>
          </a:p>
          <a:p>
            <a:pPr marL="171450" indent="-171450">
              <a:buFont typeface="Arial" panose="020B0604020202020204" pitchFamily="34" charset="0"/>
              <a:buChar char="•"/>
            </a:pPr>
            <a:r>
              <a:rPr lang="en-US" sz="1200" dirty="0"/>
              <a:t>Escalated Concerns (Z25)</a:t>
            </a:r>
          </a:p>
          <a:p>
            <a:pPr marL="171450" indent="-171450">
              <a:buFont typeface="Arial" panose="020B0604020202020204" pitchFamily="34" charset="0"/>
              <a:buChar char="•"/>
            </a:pPr>
            <a:r>
              <a:rPr lang="en-US" sz="1200" dirty="0"/>
              <a:t>Total Concerns (Z26)</a:t>
            </a:r>
          </a:p>
          <a:p>
            <a:r>
              <a:rPr lang="en-US" sz="1200" b="1" dirty="0"/>
              <a:t>Primary Calculation:</a:t>
            </a:r>
          </a:p>
          <a:p>
            <a:pPr marL="171450" indent="-171450">
              <a:buFont typeface="Wingdings" panose="05000000000000000000" pitchFamily="2" charset="2"/>
              <a:buChar char="Ø"/>
            </a:pPr>
            <a:r>
              <a:rPr lang="en-US" sz="1200" dirty="0"/>
              <a:t>Adjust Z22 based on risk and concern percentage.</a:t>
            </a:r>
          </a:p>
          <a:p>
            <a:r>
              <a:rPr lang="en-US" sz="1200" b="1" dirty="0"/>
              <a:t>Secondary Calculation:</a:t>
            </a:r>
          </a:p>
          <a:p>
            <a:pPr marL="171450" indent="-171450">
              <a:buFont typeface="Wingdings" panose="05000000000000000000" pitchFamily="2" charset="2"/>
              <a:buChar char="Ø"/>
            </a:pPr>
            <a:r>
              <a:rPr lang="en-US" sz="1200" dirty="0"/>
              <a:t>Combine adjusted Z22 with other concern metrics.</a:t>
            </a:r>
          </a:p>
          <a:p>
            <a:pPr marL="171450" indent="-171450">
              <a:buFont typeface="Wingdings" panose="05000000000000000000" pitchFamily="2" charset="2"/>
              <a:buChar char="Ø"/>
            </a:pPr>
            <a:r>
              <a:rPr lang="en-US" sz="1200" dirty="0"/>
              <a:t>Normalize and scale to get the final contribution.</a:t>
            </a:r>
          </a:p>
          <a:p>
            <a:r>
              <a:rPr lang="en-US" sz="1200" b="1" dirty="0"/>
              <a:t>Summary:</a:t>
            </a:r>
          </a:p>
          <a:p>
            <a:pPr marL="171450" indent="-171450">
              <a:buFont typeface="Wingdings" panose="05000000000000000000" pitchFamily="2" charset="2"/>
              <a:buChar char="Ø"/>
            </a:pPr>
            <a:r>
              <a:rPr lang="en-US" sz="1200" dirty="0"/>
              <a:t>This two-step calculation helps prioritize and quantify the contributions of different types of concerns, emphasizing higher risk and specific types of concerns (stop works, escalated concerns).</a:t>
            </a:r>
          </a:p>
          <a:p>
            <a:pPr marL="171450" indent="-171450">
              <a:buFont typeface="Wingdings" panose="05000000000000000000" pitchFamily="2" charset="2"/>
              <a:buChar char="Ø"/>
            </a:pPr>
            <a:r>
              <a:rPr lang="en-US" sz="1200" dirty="0"/>
              <a:t>Provides a structured and quantifiable approach to understand and manage risks based on detailed concern metrics.</a:t>
            </a:r>
          </a:p>
        </p:txBody>
      </p:sp>
      <p:sp>
        <p:nvSpPr>
          <p:cNvPr id="10" name="Title 3">
            <a:extLst>
              <a:ext uri="{FF2B5EF4-FFF2-40B4-BE49-F238E27FC236}">
                <a16:creationId xmlns:a16="http://schemas.microsoft.com/office/drawing/2014/main" id="{D32E48D7-CC59-AE4E-A1E9-B4E9B5068A65}"/>
              </a:ext>
            </a:extLst>
          </p:cNvPr>
          <p:cNvSpPr>
            <a:spLocks noGrp="1"/>
          </p:cNvSpPr>
          <p:nvPr>
            <p:ph type="title"/>
          </p:nvPr>
        </p:nvSpPr>
        <p:spPr>
          <a:xfrm>
            <a:off x="419100" y="419101"/>
            <a:ext cx="9596168" cy="457020"/>
          </a:xfrm>
        </p:spPr>
        <p:txBody>
          <a:bodyPr/>
          <a:lstStyle/>
          <a:p>
            <a:r>
              <a:rPr lang="en-US" dirty="0"/>
              <a:t>Concern Reports Contributions Calculations </a:t>
            </a:r>
          </a:p>
        </p:txBody>
      </p:sp>
      <p:sp>
        <p:nvSpPr>
          <p:cNvPr id="2" name="Title 3">
            <a:extLst>
              <a:ext uri="{FF2B5EF4-FFF2-40B4-BE49-F238E27FC236}">
                <a16:creationId xmlns:a16="http://schemas.microsoft.com/office/drawing/2014/main" id="{E645C6F1-C004-0211-8378-B0DA3AB0CA7C}"/>
              </a:ext>
            </a:extLst>
          </p:cNvPr>
          <p:cNvSpPr txBox="1">
            <a:spLocks/>
          </p:cNvSpPr>
          <p:nvPr/>
        </p:nvSpPr>
        <p:spPr>
          <a:xfrm>
            <a:off x="3882059" y="921619"/>
            <a:ext cx="3721376" cy="32925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sz="1600" dirty="0"/>
              <a:t>CRs contribution Calculation Process </a:t>
            </a:r>
          </a:p>
        </p:txBody>
      </p:sp>
      <p:sp>
        <p:nvSpPr>
          <p:cNvPr id="4" name="TextBox 3">
            <a:extLst>
              <a:ext uri="{FF2B5EF4-FFF2-40B4-BE49-F238E27FC236}">
                <a16:creationId xmlns:a16="http://schemas.microsoft.com/office/drawing/2014/main" id="{29C677D2-273F-E725-A4B4-FB15225DF061}"/>
              </a:ext>
            </a:extLst>
          </p:cNvPr>
          <p:cNvSpPr txBox="1"/>
          <p:nvPr/>
        </p:nvSpPr>
        <p:spPr>
          <a:xfrm>
            <a:off x="518490" y="6372077"/>
            <a:ext cx="10248900" cy="241596"/>
          </a:xfrm>
          <a:prstGeom prst="rect">
            <a:avLst/>
          </a:prstGeom>
          <a:noFill/>
        </p:spPr>
        <p:txBody>
          <a:bodyPr wrap="none" lIns="0" tIns="0" rIns="0" bIns="0" rtlCol="0">
            <a:noAutofit/>
          </a:bodyPr>
          <a:lstStyle/>
          <a:p>
            <a:pPr algn="l">
              <a:spcAft>
                <a:spcPts val="600"/>
              </a:spcAft>
            </a:pPr>
            <a:r>
              <a:rPr lang="en-US" sz="1000" b="1" dirty="0"/>
              <a:t>References is ISO 31000:2018 Risk Management – Guidelines &amp; IEC 31010:2019 Risk Management – Risk Assessment Techniques for more info links below</a:t>
            </a:r>
          </a:p>
          <a:p>
            <a:pPr algn="l">
              <a:spcAft>
                <a:spcPts val="600"/>
              </a:spcAft>
            </a:pPr>
            <a:r>
              <a:rPr lang="en-US" sz="1000" b="1" dirty="0"/>
              <a:t> </a:t>
            </a:r>
          </a:p>
          <a:p>
            <a:pPr algn="l">
              <a:spcAft>
                <a:spcPts val="600"/>
              </a:spcAft>
            </a:pPr>
            <a:endParaRPr lang="en-US" sz="1000" b="1" dirty="0"/>
          </a:p>
        </p:txBody>
      </p:sp>
    </p:spTree>
    <p:extLst>
      <p:ext uri="{BB962C8B-B14F-4D97-AF65-F5344CB8AC3E}">
        <p14:creationId xmlns:p14="http://schemas.microsoft.com/office/powerpoint/2010/main" val="2055063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2F4FE1-CA35-82DC-469A-9C5168081125}"/>
              </a:ext>
            </a:extLst>
          </p:cNvPr>
          <p:cNvSpPr>
            <a:spLocks noGrp="1"/>
          </p:cNvSpPr>
          <p:nvPr>
            <p:ph type="title"/>
          </p:nvPr>
        </p:nvSpPr>
        <p:spPr/>
        <p:txBody>
          <a:bodyPr/>
          <a:lstStyle/>
          <a:p>
            <a:r>
              <a:rPr lang="en-US" dirty="0"/>
              <a:t>Concern Reports Average Calculation – Before Vs After</a:t>
            </a:r>
          </a:p>
        </p:txBody>
      </p:sp>
      <p:sp>
        <p:nvSpPr>
          <p:cNvPr id="2" name="TextBox 1">
            <a:extLst>
              <a:ext uri="{FF2B5EF4-FFF2-40B4-BE49-F238E27FC236}">
                <a16:creationId xmlns:a16="http://schemas.microsoft.com/office/drawing/2014/main" id="{8AC78D01-33FA-0B37-ECA5-A6D4B7669A57}"/>
              </a:ext>
            </a:extLst>
          </p:cNvPr>
          <p:cNvSpPr txBox="1"/>
          <p:nvPr/>
        </p:nvSpPr>
        <p:spPr>
          <a:xfrm>
            <a:off x="518490" y="6372077"/>
            <a:ext cx="10248900" cy="241596"/>
          </a:xfrm>
          <a:prstGeom prst="rect">
            <a:avLst/>
          </a:prstGeom>
          <a:noFill/>
        </p:spPr>
        <p:txBody>
          <a:bodyPr wrap="none" lIns="0" tIns="0" rIns="0" bIns="0" rtlCol="0">
            <a:noAutofit/>
          </a:bodyPr>
          <a:lstStyle/>
          <a:p>
            <a:pPr algn="l">
              <a:spcAft>
                <a:spcPts val="600"/>
              </a:spcAft>
            </a:pPr>
            <a:r>
              <a:rPr lang="en-US" sz="1000" b="1" dirty="0"/>
              <a:t>References is ISO 31000:2018 Risk Management – Guidelines &amp; IEC 31010:2019 Risk Management – Risk Assessment Techniques for more info links below</a:t>
            </a:r>
          </a:p>
          <a:p>
            <a:pPr algn="l">
              <a:spcAft>
                <a:spcPts val="600"/>
              </a:spcAft>
            </a:pPr>
            <a:r>
              <a:rPr lang="en-US" sz="1000" b="1" dirty="0"/>
              <a:t> </a:t>
            </a:r>
          </a:p>
          <a:p>
            <a:pPr algn="l">
              <a:spcAft>
                <a:spcPts val="600"/>
              </a:spcAft>
            </a:pPr>
            <a:endParaRPr lang="en-US" sz="1000" b="1" dirty="0"/>
          </a:p>
        </p:txBody>
      </p:sp>
      <p:pic>
        <p:nvPicPr>
          <p:cNvPr id="14" name="Picture 13">
            <a:extLst>
              <a:ext uri="{FF2B5EF4-FFF2-40B4-BE49-F238E27FC236}">
                <a16:creationId xmlns:a16="http://schemas.microsoft.com/office/drawing/2014/main" id="{C26796F3-2AA9-8F23-5765-04F4F641D90A}"/>
              </a:ext>
            </a:extLst>
          </p:cNvPr>
          <p:cNvPicPr>
            <a:picLocks noChangeAspect="1"/>
          </p:cNvPicPr>
          <p:nvPr/>
        </p:nvPicPr>
        <p:blipFill>
          <a:blip r:embed="rId3"/>
          <a:stretch>
            <a:fillRect/>
          </a:stretch>
        </p:blipFill>
        <p:spPr>
          <a:xfrm>
            <a:off x="6893168" y="779562"/>
            <a:ext cx="4099729" cy="4284807"/>
          </a:xfrm>
          <a:prstGeom prst="rect">
            <a:avLst/>
          </a:prstGeom>
        </p:spPr>
      </p:pic>
      <p:graphicFrame>
        <p:nvGraphicFramePr>
          <p:cNvPr id="20" name="Table 19">
            <a:extLst>
              <a:ext uri="{FF2B5EF4-FFF2-40B4-BE49-F238E27FC236}">
                <a16:creationId xmlns:a16="http://schemas.microsoft.com/office/drawing/2014/main" id="{55925AF0-9A1D-F978-B130-E8C4BE74DA93}"/>
              </a:ext>
            </a:extLst>
          </p:cNvPr>
          <p:cNvGraphicFramePr>
            <a:graphicFrameLocks noGrp="1"/>
          </p:cNvGraphicFramePr>
          <p:nvPr>
            <p:extLst>
              <p:ext uri="{D42A27DB-BD31-4B8C-83A1-F6EECF244321}">
                <p14:modId xmlns:p14="http://schemas.microsoft.com/office/powerpoint/2010/main" val="1540503609"/>
              </p:ext>
            </p:extLst>
          </p:nvPr>
        </p:nvGraphicFramePr>
        <p:xfrm>
          <a:off x="255775" y="1256325"/>
          <a:ext cx="5486400" cy="4291203"/>
        </p:xfrm>
        <a:graphic>
          <a:graphicData uri="http://schemas.openxmlformats.org/drawingml/2006/table">
            <a:tbl>
              <a:tblPr firstRow="1" firstCol="1" bandRow="1"/>
              <a:tblGrid>
                <a:gridCol w="1828800">
                  <a:extLst>
                    <a:ext uri="{9D8B030D-6E8A-4147-A177-3AD203B41FA5}">
                      <a16:colId xmlns:a16="http://schemas.microsoft.com/office/drawing/2014/main" val="1617764310"/>
                    </a:ext>
                  </a:extLst>
                </a:gridCol>
                <a:gridCol w="1828800">
                  <a:extLst>
                    <a:ext uri="{9D8B030D-6E8A-4147-A177-3AD203B41FA5}">
                      <a16:colId xmlns:a16="http://schemas.microsoft.com/office/drawing/2014/main" val="1840660542"/>
                    </a:ext>
                  </a:extLst>
                </a:gridCol>
                <a:gridCol w="1828800">
                  <a:extLst>
                    <a:ext uri="{9D8B030D-6E8A-4147-A177-3AD203B41FA5}">
                      <a16:colId xmlns:a16="http://schemas.microsoft.com/office/drawing/2014/main" val="48575092"/>
                    </a:ext>
                  </a:extLst>
                </a:gridCol>
              </a:tblGrid>
              <a:tr h="0">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Aspect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Before (Old Method – Service Line Level)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After (Enhanced Method – Hazard Level)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1028568835"/>
                  </a:ext>
                </a:extLst>
              </a:tr>
              <a:tr h="0">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Calculation Formula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Concern Average = (Adverse + Positive + Stop Work) / Total Concerns Raised by Service 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Concern Average = (Adverse + Positive + Stop Work) / Total Concerns by Hazard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1795376276"/>
                  </a:ext>
                </a:extLst>
              </a:tr>
              <a:tr h="0">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Data Entry Level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Service Line Total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Hazard Specific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1720167393"/>
                  </a:ext>
                </a:extLst>
              </a:tr>
              <a:tr h="0">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Detail and Specificity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Low – Aggregated reporting across all hazards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High – Granular insights at hazard level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752109625"/>
                  </a:ext>
                </a:extLst>
              </a:tr>
              <a:tr h="0">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Cross-Hazard Comparability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Easier – Single benchmark across service lines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Moderate – Detailed but varies per hazard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323795602"/>
                  </a:ext>
                </a:extLst>
              </a:tr>
              <a:tr h="0">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Standards Alignment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Acceptable, but general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More substantial alignment with ISO 31000 Clause 6.3 and IEC 31010 indexing techniques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962437573"/>
                  </a:ext>
                </a:extLst>
              </a:tr>
              <a:tr h="0">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Strategic 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a:solidFill>
                            <a:schemeClr val="tx2"/>
                          </a:solidFill>
                          <a:effectLst/>
                          <a:latin typeface="Cambria" panose="02040503050406030204" pitchFamily="18" charset="0"/>
                          <a:ea typeface="MS Mincho" panose="02020609040205080304" pitchFamily="49" charset="-128"/>
                          <a:cs typeface="Arial" panose="020B0604020202020204" pitchFamily="34" charset="0"/>
                        </a:rPr>
                        <a:t>General organizational KPI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2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Supports specific hazard-focused risk control and cultural improvement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1717391921"/>
                  </a:ext>
                </a:extLst>
              </a:tr>
            </a:tbl>
          </a:graphicData>
        </a:graphic>
      </p:graphicFrame>
      <p:sp>
        <p:nvSpPr>
          <p:cNvPr id="21" name="TextBox 20">
            <a:extLst>
              <a:ext uri="{FF2B5EF4-FFF2-40B4-BE49-F238E27FC236}">
                <a16:creationId xmlns:a16="http://schemas.microsoft.com/office/drawing/2014/main" id="{3973B1AA-A46B-BACA-EE17-5EA59369E864}"/>
              </a:ext>
            </a:extLst>
          </p:cNvPr>
          <p:cNvSpPr txBox="1"/>
          <p:nvPr/>
        </p:nvSpPr>
        <p:spPr>
          <a:xfrm>
            <a:off x="5872683" y="4377552"/>
            <a:ext cx="5916841" cy="1785104"/>
          </a:xfrm>
          <a:prstGeom prst="rect">
            <a:avLst/>
          </a:prstGeom>
          <a:solidFill>
            <a:schemeClr val="accent3"/>
          </a:solidFill>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solidFill>
                <a:effectLst/>
                <a:latin typeface="Arial" panose="020B0604020202020204" pitchFamily="34" charset="0"/>
              </a:rPr>
              <a:t>Summary:</a:t>
            </a:r>
          </a:p>
          <a:p>
            <a:pPr eaLnBrk="0" fontAlgn="base" hangingPunct="0">
              <a:spcBef>
                <a:spcPct val="0"/>
              </a:spcBef>
              <a:spcAft>
                <a:spcPct val="0"/>
              </a:spcAft>
            </a:pPr>
            <a:r>
              <a:rPr kumimoji="0" lang="en-US" altLang="en-US" sz="1200" b="0" i="0" u="none" strike="noStrike" cap="none" normalizeH="0" baseline="0" dirty="0">
                <a:ln>
                  <a:noFill/>
                </a:ln>
                <a:solidFill>
                  <a:schemeClr val="tx2"/>
                </a:solidFill>
                <a:effectLst/>
                <a:latin typeface="Arial" panose="020B0604020202020204" pitchFamily="34" charset="0"/>
              </a:rPr>
              <a:t> </a:t>
            </a:r>
            <a:r>
              <a:rPr lang="en-US" sz="12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The transition from service line–level concern averaging to hazard-level averaging significantly improves the specificity and accuracy of behavioral safety metrics. By applying ISO 31000 Clause 6.3, the enhanced approach better reflects the specific risk context of each hazard rather than masking variations under broader service line totals. This also aligns with IEC 31010’s recommendation to utilize scoring/indexing methods to improve traceability, detect under-reporting, and refine decision-making. Consequently, this method enables a more proactive and effective risk management process by tying concern reporting trends directly to the specific hazard landscape.</a:t>
            </a:r>
          </a:p>
        </p:txBody>
      </p:sp>
    </p:spTree>
    <p:extLst>
      <p:ext uri="{BB962C8B-B14F-4D97-AF65-F5344CB8AC3E}">
        <p14:creationId xmlns:p14="http://schemas.microsoft.com/office/powerpoint/2010/main" val="3604282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2F4FE1-CA35-82DC-469A-9C5168081125}"/>
              </a:ext>
            </a:extLst>
          </p:cNvPr>
          <p:cNvSpPr>
            <a:spLocks noGrp="1"/>
          </p:cNvSpPr>
          <p:nvPr>
            <p:ph type="title"/>
          </p:nvPr>
        </p:nvSpPr>
        <p:spPr>
          <a:xfrm>
            <a:off x="921517" y="590081"/>
            <a:ext cx="8333014" cy="457020"/>
          </a:xfrm>
        </p:spPr>
        <p:txBody>
          <a:bodyPr/>
          <a:lstStyle/>
          <a:p>
            <a:r>
              <a:rPr lang="en-US" sz="2000" dirty="0">
                <a:latin typeface="Calibri" panose="020F0502020204030204" pitchFamily="34" charset="0"/>
                <a:cs typeface="Calibri" panose="020F0502020204030204" pitchFamily="34" charset="0"/>
              </a:rPr>
              <a:t>Concern Reports Average </a:t>
            </a:r>
            <a:r>
              <a:rPr lang="en-US" sz="2000" dirty="0">
                <a:effectLst/>
                <a:latin typeface="Calibri" panose="020F0502020204030204" pitchFamily="34" charset="0"/>
                <a:ea typeface="MS Mincho" panose="02020609040205080304" pitchFamily="49" charset="-128"/>
                <a:cs typeface="Calibri" panose="020F0502020204030204" pitchFamily="34" charset="0"/>
              </a:rPr>
              <a:t>Enhancement – Including Escalated ATS Concerns</a:t>
            </a:r>
            <a:endParaRPr lang="en-US" sz="20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AC78D01-33FA-0B37-ECA5-A6D4B7669A57}"/>
              </a:ext>
            </a:extLst>
          </p:cNvPr>
          <p:cNvSpPr txBox="1"/>
          <p:nvPr/>
        </p:nvSpPr>
        <p:spPr>
          <a:xfrm>
            <a:off x="518490" y="6372077"/>
            <a:ext cx="10248900" cy="241596"/>
          </a:xfrm>
          <a:prstGeom prst="rect">
            <a:avLst/>
          </a:prstGeom>
          <a:noFill/>
        </p:spPr>
        <p:txBody>
          <a:bodyPr wrap="none" lIns="0" tIns="0" rIns="0" bIns="0" rtlCol="0">
            <a:noAutofit/>
          </a:bodyPr>
          <a:lstStyle/>
          <a:p>
            <a:pPr algn="l">
              <a:spcAft>
                <a:spcPts val="600"/>
              </a:spcAft>
            </a:pPr>
            <a:r>
              <a:rPr lang="en-US" sz="1000" b="1" dirty="0"/>
              <a:t>References is ISO 31000:2018 Risk Management – Guidelines &amp; IEC 31010:2019 Risk Management – Risk Assessment Techniques for more info links below</a:t>
            </a:r>
          </a:p>
          <a:p>
            <a:pPr algn="l">
              <a:spcAft>
                <a:spcPts val="600"/>
              </a:spcAft>
            </a:pPr>
            <a:r>
              <a:rPr lang="en-US" sz="1000" b="1" dirty="0"/>
              <a:t> </a:t>
            </a:r>
          </a:p>
          <a:p>
            <a:pPr algn="l">
              <a:spcAft>
                <a:spcPts val="600"/>
              </a:spcAft>
            </a:pPr>
            <a:endParaRPr lang="en-US" sz="1000" b="1" dirty="0"/>
          </a:p>
        </p:txBody>
      </p:sp>
      <p:sp>
        <p:nvSpPr>
          <p:cNvPr id="21" name="TextBox 20">
            <a:extLst>
              <a:ext uri="{FF2B5EF4-FFF2-40B4-BE49-F238E27FC236}">
                <a16:creationId xmlns:a16="http://schemas.microsoft.com/office/drawing/2014/main" id="{3973B1AA-A46B-BACA-EE17-5EA59369E864}"/>
              </a:ext>
            </a:extLst>
          </p:cNvPr>
          <p:cNvSpPr txBox="1"/>
          <p:nvPr/>
        </p:nvSpPr>
        <p:spPr>
          <a:xfrm>
            <a:off x="5872683" y="4377552"/>
            <a:ext cx="5916841" cy="1600438"/>
          </a:xfrm>
          <a:prstGeom prst="rect">
            <a:avLst/>
          </a:prstGeom>
          <a:solidFill>
            <a:schemeClr val="accent3"/>
          </a:solidFill>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solidFill>
                <a:effectLst/>
                <a:latin typeface="Arial" panose="020B0604020202020204" pitchFamily="34" charset="0"/>
              </a:rPr>
              <a:t>Summary:</a:t>
            </a:r>
          </a:p>
          <a:p>
            <a:pPr eaLnBrk="0" fontAlgn="base" hangingPunct="0">
              <a:spcBef>
                <a:spcPct val="0"/>
              </a:spcBef>
              <a:spcAft>
                <a:spcPct val="0"/>
              </a:spcAft>
            </a:pPr>
            <a:r>
              <a:rPr kumimoji="0" lang="en-US" altLang="en-US" sz="1200" b="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 </a:t>
            </a:r>
            <a:r>
              <a:rPr lang="en-US" sz="1200" dirty="0">
                <a:solidFill>
                  <a:schemeClr val="tx2"/>
                </a:solidFill>
                <a:effectLst/>
                <a:latin typeface="Calibri" panose="020F0502020204030204" pitchFamily="34" charset="0"/>
                <a:ea typeface="MS Mincho" panose="02020609040205080304" pitchFamily="49" charset="-128"/>
                <a:cs typeface="Calibri" panose="020F0502020204030204" pitchFamily="34" charset="0"/>
              </a:rPr>
              <a:t>The inclusion of escalated ATS concerns in the Concern Report Average formula is methodologically justified and strategically important. While it is also utilized in ATS Contribution calculations, it represents different behavioral and performance dimensions in each context. This dual-role application aligns with ISO 31000:2018 and IEC 31010:2019 principles of integrated risk evaluation and ensures a more holistic view of safety culture maturity and escalation responsiveness, without redundancy or analytical overlap.</a:t>
            </a:r>
          </a:p>
          <a:p>
            <a:pPr eaLnBrk="0" fontAlgn="base" hangingPunct="0">
              <a:spcBef>
                <a:spcPct val="0"/>
              </a:spcBef>
              <a:spcAft>
                <a:spcPct val="0"/>
              </a:spcAft>
            </a:pPr>
            <a:endParaRPr lang="en-US" sz="1200" dirty="0">
              <a:solidFill>
                <a:schemeClr val="tx2"/>
              </a:solidFill>
              <a:effectLst/>
              <a:latin typeface="Cambria" panose="02040503050406030204" pitchFamily="18" charset="0"/>
              <a:ea typeface="MS Mincho" panose="02020609040205080304" pitchFamily="49" charset="-128"/>
              <a:cs typeface="Arial" panose="020B0604020202020204" pitchFamily="34" charset="0"/>
            </a:endParaRPr>
          </a:p>
        </p:txBody>
      </p:sp>
      <p:graphicFrame>
        <p:nvGraphicFramePr>
          <p:cNvPr id="3" name="Table 2">
            <a:extLst>
              <a:ext uri="{FF2B5EF4-FFF2-40B4-BE49-F238E27FC236}">
                <a16:creationId xmlns:a16="http://schemas.microsoft.com/office/drawing/2014/main" id="{8632402E-62C2-FE9B-674A-7B0A8D3901AB}"/>
              </a:ext>
            </a:extLst>
          </p:cNvPr>
          <p:cNvGraphicFramePr>
            <a:graphicFrameLocks noGrp="1"/>
          </p:cNvGraphicFramePr>
          <p:nvPr>
            <p:extLst>
              <p:ext uri="{D42A27DB-BD31-4B8C-83A1-F6EECF244321}">
                <p14:modId xmlns:p14="http://schemas.microsoft.com/office/powerpoint/2010/main" val="4239016142"/>
              </p:ext>
            </p:extLst>
          </p:nvPr>
        </p:nvGraphicFramePr>
        <p:xfrm>
          <a:off x="261083" y="1465215"/>
          <a:ext cx="5480050" cy="4142994"/>
        </p:xfrm>
        <a:graphic>
          <a:graphicData uri="http://schemas.openxmlformats.org/drawingml/2006/table">
            <a:tbl>
              <a:tblPr firstRow="1" firstCol="1" bandRow="1"/>
              <a:tblGrid>
                <a:gridCol w="1826260">
                  <a:extLst>
                    <a:ext uri="{9D8B030D-6E8A-4147-A177-3AD203B41FA5}">
                      <a16:colId xmlns:a16="http://schemas.microsoft.com/office/drawing/2014/main" val="647653421"/>
                    </a:ext>
                  </a:extLst>
                </a:gridCol>
                <a:gridCol w="1826895">
                  <a:extLst>
                    <a:ext uri="{9D8B030D-6E8A-4147-A177-3AD203B41FA5}">
                      <a16:colId xmlns:a16="http://schemas.microsoft.com/office/drawing/2014/main" val="3248100467"/>
                    </a:ext>
                  </a:extLst>
                </a:gridCol>
                <a:gridCol w="1826895">
                  <a:extLst>
                    <a:ext uri="{9D8B030D-6E8A-4147-A177-3AD203B41FA5}">
                      <a16:colId xmlns:a16="http://schemas.microsoft.com/office/drawing/2014/main" val="2464793097"/>
                    </a:ext>
                  </a:extLst>
                </a:gridCol>
              </a:tblGrid>
              <a:tr h="0">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Aspect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Previous Hazard-Level Calculation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Enhanced Hazard-Level Calculation (Including ATS Escalations)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1238224819"/>
                  </a:ext>
                </a:extLst>
              </a:tr>
              <a:tr h="0">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Calculation Formula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Concern Average = (Adverse + Positive + Stop Work) / Total Concerns by Hazard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Concern Average = (Adverse + Positive + Stop Work + Escalated to ATS) / Total Concerns by Hazard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895290669"/>
                  </a:ext>
                </a:extLst>
              </a:tr>
              <a:tr h="0">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Scope of Indicator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Measures general safety engagement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Expanded to include escalation behavior reflecting proactive risk reporting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538299395"/>
                  </a:ext>
                </a:extLst>
              </a:tr>
              <a:tr h="0">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Behavioral Insight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Focus on initial reporting behavior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Captures both reporting and follow-through into ATS escalation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1582309790"/>
                  </a:ext>
                </a:extLst>
              </a:tr>
              <a:tr h="0">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Standards Alignment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Aligned with ISO 31000 Clause 6.4.3 (risk behavior indicators)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More extensive alignment with IEC 31010 – integration of leading indicators and proactive risk culture metrics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3209345712"/>
                  </a:ext>
                </a:extLst>
              </a:tr>
              <a:tr h="0">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Strategic 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a:solidFill>
                            <a:schemeClr val="tx2"/>
                          </a:solidFill>
                          <a:effectLst/>
                          <a:latin typeface="Cambria" panose="02040503050406030204" pitchFamily="18" charset="0"/>
                          <a:ea typeface="MS Mincho" panose="02020609040205080304" pitchFamily="49" charset="-128"/>
                          <a:cs typeface="Arial" panose="020B0604020202020204" pitchFamily="34" charset="0"/>
                        </a:rPr>
                        <a:t>Hazard-level culture monitoring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marL="0" marR="0">
                        <a:lnSpc>
                          <a:spcPct val="115000"/>
                        </a:lnSpc>
                        <a:spcBef>
                          <a:spcPts val="0"/>
                        </a:spcBef>
                        <a:spcAft>
                          <a:spcPts val="0"/>
                        </a:spcAft>
                      </a:pPr>
                      <a:r>
                        <a:rPr lang="en-US" sz="1100" dirty="0">
                          <a:solidFill>
                            <a:schemeClr val="tx2"/>
                          </a:solidFill>
                          <a:effectLst/>
                          <a:latin typeface="Cambria" panose="02040503050406030204" pitchFamily="18" charset="0"/>
                          <a:ea typeface="MS Mincho" panose="02020609040205080304" pitchFamily="49" charset="-128"/>
                          <a:cs typeface="Arial" panose="020B0604020202020204" pitchFamily="34" charset="0"/>
                        </a:rPr>
                        <a:t>Enhanced tracking of risk responsiveness and escalation maturity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extLst>
                  <a:ext uri="{0D108BD9-81ED-4DB2-BD59-A6C34878D82A}">
                    <a16:rowId xmlns:a16="http://schemas.microsoft.com/office/drawing/2014/main" val="4271599992"/>
                  </a:ext>
                </a:extLst>
              </a:tr>
            </a:tbl>
          </a:graphicData>
        </a:graphic>
      </p:graphicFrame>
      <p:sp>
        <p:nvSpPr>
          <p:cNvPr id="5" name="Title 3">
            <a:extLst>
              <a:ext uri="{FF2B5EF4-FFF2-40B4-BE49-F238E27FC236}">
                <a16:creationId xmlns:a16="http://schemas.microsoft.com/office/drawing/2014/main" id="{B4FF1732-E046-6E1B-28D4-D0D07969300D}"/>
              </a:ext>
            </a:extLst>
          </p:cNvPr>
          <p:cNvSpPr txBox="1">
            <a:spLocks/>
          </p:cNvSpPr>
          <p:nvPr/>
        </p:nvSpPr>
        <p:spPr>
          <a:xfrm>
            <a:off x="419100" y="244327"/>
            <a:ext cx="9596168" cy="45702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pPr algn="ctr"/>
            <a:r>
              <a:rPr lang="en-US" sz="2000" dirty="0">
                <a:latin typeface="Calibri" panose="020F0502020204030204" pitchFamily="34" charset="0"/>
                <a:cs typeface="Calibri" panose="020F0502020204030204" pitchFamily="34" charset="0"/>
              </a:rPr>
              <a:t>New 2025</a:t>
            </a:r>
          </a:p>
        </p:txBody>
      </p:sp>
      <p:graphicFrame>
        <p:nvGraphicFramePr>
          <p:cNvPr id="8" name="Table 7">
            <a:extLst>
              <a:ext uri="{FF2B5EF4-FFF2-40B4-BE49-F238E27FC236}">
                <a16:creationId xmlns:a16="http://schemas.microsoft.com/office/drawing/2014/main" id="{6061745F-45D0-360F-D0D9-D12B68215D54}"/>
              </a:ext>
            </a:extLst>
          </p:cNvPr>
          <p:cNvGraphicFramePr>
            <a:graphicFrameLocks noGrp="1"/>
          </p:cNvGraphicFramePr>
          <p:nvPr>
            <p:extLst>
              <p:ext uri="{D42A27DB-BD31-4B8C-83A1-F6EECF244321}">
                <p14:modId xmlns:p14="http://schemas.microsoft.com/office/powerpoint/2010/main" val="1103244491"/>
              </p:ext>
            </p:extLst>
          </p:nvPr>
        </p:nvGraphicFramePr>
        <p:xfrm>
          <a:off x="6828131" y="2066500"/>
          <a:ext cx="4267200" cy="1972310"/>
        </p:xfrm>
        <a:graphic>
          <a:graphicData uri="http://schemas.openxmlformats.org/drawingml/2006/table">
            <a:tbl>
              <a:tblPr/>
              <a:tblGrid>
                <a:gridCol w="2844800">
                  <a:extLst>
                    <a:ext uri="{9D8B030D-6E8A-4147-A177-3AD203B41FA5}">
                      <a16:colId xmlns:a16="http://schemas.microsoft.com/office/drawing/2014/main" val="3874525580"/>
                    </a:ext>
                  </a:extLst>
                </a:gridCol>
                <a:gridCol w="568960">
                  <a:extLst>
                    <a:ext uri="{9D8B030D-6E8A-4147-A177-3AD203B41FA5}">
                      <a16:colId xmlns:a16="http://schemas.microsoft.com/office/drawing/2014/main" val="2973291926"/>
                    </a:ext>
                  </a:extLst>
                </a:gridCol>
                <a:gridCol w="853440">
                  <a:extLst>
                    <a:ext uri="{9D8B030D-6E8A-4147-A177-3AD203B41FA5}">
                      <a16:colId xmlns:a16="http://schemas.microsoft.com/office/drawing/2014/main" val="1417811819"/>
                    </a:ext>
                  </a:extLst>
                </a:gridCol>
              </a:tblGrid>
              <a:tr h="203200">
                <a:tc gridSpan="2">
                  <a:txBody>
                    <a:bodyPr/>
                    <a:lstStyle/>
                    <a:p>
                      <a:pPr algn="l" fontAlgn="b"/>
                      <a:r>
                        <a:rPr lang="en-US" sz="1200" b="0" i="0" u="none" strike="noStrike">
                          <a:solidFill>
                            <a:srgbClr val="000000"/>
                          </a:solidFill>
                          <a:effectLst/>
                          <a:latin typeface="Calibri" panose="020F0502020204030204" pitchFamily="34" charset="0"/>
                        </a:rPr>
                        <a:t>Concern Report Risk Calculator</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680465991"/>
                  </a:ext>
                </a:extLst>
              </a:tr>
              <a:tr h="196850">
                <a:tc>
                  <a:txBody>
                    <a:bodyPr/>
                    <a:lstStyle/>
                    <a:p>
                      <a:pPr algn="l" fontAlgn="b"/>
                      <a:r>
                        <a:rPr lang="en-US" sz="1200" b="0" i="0" u="none" strike="noStrike">
                          <a:solidFill>
                            <a:srgbClr val="000000"/>
                          </a:solidFill>
                          <a:effectLst/>
                          <a:latin typeface="Calibri" panose="020F0502020204030204" pitchFamily="34" charset="0"/>
                        </a:rPr>
                        <a:t>Number of Adverse Concerns for Hazard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200" b="0" i="0" u="none" strike="noStrike">
                          <a:solidFill>
                            <a:srgbClr val="000000"/>
                          </a:solidFill>
                          <a:effectLst/>
                          <a:latin typeface="Calibri" panose="020F0502020204030204" pitchFamily="34" charset="0"/>
                        </a:rPr>
                        <a:t>647</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b"/>
                      <a:r>
                        <a:rPr lang="en-US" sz="1100" b="0" i="0" u="none" strike="noStrike" dirty="0">
                          <a:solidFill>
                            <a:srgbClr val="000000"/>
                          </a:solidFill>
                          <a:effectLst/>
                          <a:latin typeface="Calibri" panose="020F0502020204030204" pitchFamily="34" charset="0"/>
                        </a:rPr>
                        <a:t>K26</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251747841"/>
                  </a:ext>
                </a:extLst>
              </a:tr>
              <a:tr h="196850">
                <a:tc>
                  <a:txBody>
                    <a:bodyPr/>
                    <a:lstStyle/>
                    <a:p>
                      <a:pPr algn="l" fontAlgn="b"/>
                      <a:r>
                        <a:rPr lang="en-US" sz="1200" b="0" i="0" u="none" strike="noStrike">
                          <a:solidFill>
                            <a:srgbClr val="000000"/>
                          </a:solidFill>
                          <a:effectLst/>
                          <a:latin typeface="Calibri" panose="020F0502020204030204" pitchFamily="34" charset="0"/>
                        </a:rPr>
                        <a:t>Number of Positive Concerns for Hazard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200" b="0" i="0" u="none" strike="noStrike">
                          <a:solidFill>
                            <a:srgbClr val="000000"/>
                          </a:solidFill>
                          <a:effectLst/>
                          <a:latin typeface="Calibri" panose="020F0502020204030204" pitchFamily="34" charset="0"/>
                        </a:rPr>
                        <a:t>178</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b"/>
                      <a:r>
                        <a:rPr lang="en-US" sz="1100" b="0" i="0" u="none" strike="noStrike" dirty="0">
                          <a:solidFill>
                            <a:srgbClr val="000000"/>
                          </a:solidFill>
                          <a:effectLst/>
                          <a:latin typeface="Calibri" panose="020F0502020204030204" pitchFamily="34" charset="0"/>
                        </a:rPr>
                        <a:t>K27</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974293548"/>
                  </a:ext>
                </a:extLst>
              </a:tr>
              <a:tr h="196850">
                <a:tc>
                  <a:txBody>
                    <a:bodyPr/>
                    <a:lstStyle/>
                    <a:p>
                      <a:pPr algn="l" fontAlgn="b"/>
                      <a:r>
                        <a:rPr lang="en-US" sz="1200" b="0" i="0" u="none" strike="noStrike">
                          <a:solidFill>
                            <a:srgbClr val="000000"/>
                          </a:solidFill>
                          <a:effectLst/>
                          <a:latin typeface="Calibri" panose="020F0502020204030204" pitchFamily="34" charset="0"/>
                        </a:rPr>
                        <a:t>Number of Stop Work Concerns</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200" b="0" i="0" u="none" strike="noStrike">
                          <a:solidFill>
                            <a:srgbClr val="000000"/>
                          </a:solidFill>
                          <a:effectLst/>
                          <a:latin typeface="Calibri" panose="020F0502020204030204" pitchFamily="34" charset="0"/>
                        </a:rPr>
                        <a:t>79</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b"/>
                      <a:r>
                        <a:rPr lang="en-US" sz="1100" b="0" i="0" u="none" strike="noStrike" dirty="0">
                          <a:solidFill>
                            <a:srgbClr val="000000"/>
                          </a:solidFill>
                          <a:effectLst/>
                          <a:latin typeface="Calibri" panose="020F0502020204030204" pitchFamily="34" charset="0"/>
                        </a:rPr>
                        <a:t>K28</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028530547"/>
                  </a:ext>
                </a:extLst>
              </a:tr>
              <a:tr h="196850">
                <a:tc>
                  <a:txBody>
                    <a:bodyPr/>
                    <a:lstStyle/>
                    <a:p>
                      <a:pPr algn="l" fontAlgn="b"/>
                      <a:r>
                        <a:rPr lang="en-US" sz="1200" b="0" i="0" u="none" strike="noStrike">
                          <a:solidFill>
                            <a:srgbClr val="000000"/>
                          </a:solidFill>
                          <a:effectLst/>
                          <a:latin typeface="Calibri" panose="020F0502020204030204" pitchFamily="34" charset="0"/>
                        </a:rPr>
                        <a:t>Total Number of Escalated to ATS Concerns for Hazard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200" b="0"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b"/>
                      <a:r>
                        <a:rPr lang="en-US" sz="1100" b="0" i="0" u="none" strike="noStrike" dirty="0">
                          <a:solidFill>
                            <a:srgbClr val="000000"/>
                          </a:solidFill>
                          <a:effectLst/>
                          <a:latin typeface="Calibri" panose="020F0502020204030204" pitchFamily="34" charset="0"/>
                        </a:rPr>
                        <a:t>K29</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100923252"/>
                  </a:ext>
                </a:extLst>
              </a:tr>
              <a:tr h="203200">
                <a:tc>
                  <a:txBody>
                    <a:bodyPr/>
                    <a:lstStyle/>
                    <a:p>
                      <a:pPr algn="l" fontAlgn="b"/>
                      <a:r>
                        <a:rPr lang="en-US" sz="1200" b="0" i="0" u="none" strike="noStrike">
                          <a:solidFill>
                            <a:srgbClr val="000000"/>
                          </a:solidFill>
                          <a:effectLst/>
                          <a:latin typeface="Calibri" panose="020F0502020204030204" pitchFamily="34" charset="0"/>
                        </a:rPr>
                        <a:t>Total Number of Concerns by Hazard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r>
                        <a:rPr lang="en-US" sz="1200" b="0" i="0" u="none" strike="noStrike">
                          <a:solidFill>
                            <a:srgbClr val="000000"/>
                          </a:solidFill>
                          <a:effectLst/>
                          <a:latin typeface="Calibri" panose="020F0502020204030204" pitchFamily="34" charset="0"/>
                        </a:rPr>
                        <a:t>825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tc>
                  <a:txBody>
                    <a:bodyPr/>
                    <a:lstStyle/>
                    <a:p>
                      <a:pPr algn="ctr" fontAlgn="b"/>
                      <a:r>
                        <a:rPr lang="en-US" sz="1100" b="0" i="0" u="none" strike="noStrike" dirty="0">
                          <a:solidFill>
                            <a:srgbClr val="000000"/>
                          </a:solidFill>
                          <a:effectLst/>
                          <a:latin typeface="Calibri" panose="020F0502020204030204" pitchFamily="34" charset="0"/>
                        </a:rPr>
                        <a:t>K30</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131619449"/>
                  </a:ext>
                </a:extLst>
              </a:tr>
              <a:tr h="203200">
                <a:tc>
                  <a:txBody>
                    <a:bodyPr/>
                    <a:lstStyle/>
                    <a:p>
                      <a:pPr algn="ctr" fontAlgn="b"/>
                      <a:r>
                        <a:rPr lang="en-US" sz="1200" b="0" i="0" u="none" strike="noStrike">
                          <a:solidFill>
                            <a:srgbClr val="000000"/>
                          </a:solidFill>
                          <a:effectLst/>
                          <a:latin typeface="Calibri" panose="020F0502020204030204" pitchFamily="34" charset="0"/>
                        </a:rPr>
                        <a:t>CR Contribution</a:t>
                      </a:r>
                    </a:p>
                  </a:txBody>
                  <a:tcPr marL="6350" marR="6350" marT="63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r" fontAlgn="b"/>
                      <a:r>
                        <a:rPr lang="en-US" sz="1200" b="0" i="0" u="none" strike="noStrike">
                          <a:solidFill>
                            <a:srgbClr val="000000"/>
                          </a:solidFill>
                          <a:effectLst/>
                          <a:latin typeface="Calibri" panose="020F0502020204030204" pitchFamily="34" charset="0"/>
                        </a:rPr>
                        <a:t>90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125500734"/>
                  </a:ext>
                </a:extLst>
              </a:tr>
              <a:tr h="203200">
                <a:tc>
                  <a:txBody>
                    <a:bodyPr/>
                    <a:lstStyle/>
                    <a:p>
                      <a:pPr algn="ctr" fontAlgn="b"/>
                      <a:r>
                        <a:rPr lang="en-US" sz="1200" b="0" i="0" u="none" strike="noStrike">
                          <a:solidFill>
                            <a:srgbClr val="000000"/>
                          </a:solidFill>
                          <a:effectLst/>
                          <a:latin typeface="Calibri" panose="020F0502020204030204" pitchFamily="34" charset="0"/>
                        </a:rPr>
                        <a:t>Avarage CR By Hazard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200" b="0" i="0" u="none" strike="noStrike">
                          <a:solidFill>
                            <a:srgbClr val="000000"/>
                          </a:solidFill>
                          <a:effectLst/>
                          <a:latin typeface="Calibri" panose="020F0502020204030204" pitchFamily="34" charset="0"/>
                        </a:rPr>
                        <a:t>110%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407978048"/>
                  </a:ext>
                </a:extLst>
              </a:tr>
              <a:tr h="196850">
                <a:tc>
                  <a:txBody>
                    <a:bodyPr/>
                    <a:lstStyle/>
                    <a:p>
                      <a:pPr algn="ctr" fontAlgn="b"/>
                      <a:r>
                        <a:rPr lang="en-US" sz="1200" b="0" i="0" u="none" strike="noStrike">
                          <a:solidFill>
                            <a:srgbClr val="000000"/>
                          </a:solidFill>
                          <a:effectLst/>
                          <a:latin typeface="Calibri" panose="020F0502020204030204" pitchFamily="34" charset="0"/>
                        </a:rPr>
                        <a:t>Adjusted Value</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200" b="0" i="0" u="none" strike="noStrike">
                          <a:solidFill>
                            <a:srgbClr val="000000"/>
                          </a:solidFill>
                          <a:effectLst/>
                          <a:latin typeface="Calibri" panose="020F0502020204030204" pitchFamily="34" charset="0"/>
                        </a:rPr>
                        <a:t>647</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51417959"/>
                  </a:ext>
                </a:extLst>
              </a:tr>
            </a:tbl>
          </a:graphicData>
        </a:graphic>
      </p:graphicFrame>
      <p:sp>
        <p:nvSpPr>
          <p:cNvPr id="9" name="Title 3">
            <a:extLst>
              <a:ext uri="{FF2B5EF4-FFF2-40B4-BE49-F238E27FC236}">
                <a16:creationId xmlns:a16="http://schemas.microsoft.com/office/drawing/2014/main" id="{5791E98E-C70A-C9FC-FD54-5E8AE1802174}"/>
              </a:ext>
            </a:extLst>
          </p:cNvPr>
          <p:cNvSpPr txBox="1">
            <a:spLocks/>
          </p:cNvSpPr>
          <p:nvPr/>
        </p:nvSpPr>
        <p:spPr>
          <a:xfrm>
            <a:off x="6828131" y="1121778"/>
            <a:ext cx="3476625" cy="37519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sz="2000" dirty="0">
                <a:latin typeface="Calibri" panose="020F0502020204030204" pitchFamily="34" charset="0"/>
                <a:cs typeface="Calibri" panose="020F0502020204030204" pitchFamily="34" charset="0"/>
              </a:rPr>
              <a:t>Before </a:t>
            </a:r>
            <a:r>
              <a:rPr lang="nn-NO" sz="2000" dirty="0">
                <a:latin typeface="Calibri" panose="020F0502020204030204" pitchFamily="34" charset="0"/>
                <a:cs typeface="Calibri" panose="020F0502020204030204" pitchFamily="34" charset="0"/>
              </a:rPr>
              <a:t>=(K26+K27+K28)/K30</a:t>
            </a:r>
            <a:endParaRPr lang="en-US" sz="2000" dirty="0">
              <a:latin typeface="Calibri" panose="020F0502020204030204" pitchFamily="34" charset="0"/>
              <a:cs typeface="Calibri" panose="020F0502020204030204" pitchFamily="34" charset="0"/>
            </a:endParaRPr>
          </a:p>
        </p:txBody>
      </p:sp>
      <p:sp>
        <p:nvSpPr>
          <p:cNvPr id="10" name="Title 3">
            <a:extLst>
              <a:ext uri="{FF2B5EF4-FFF2-40B4-BE49-F238E27FC236}">
                <a16:creationId xmlns:a16="http://schemas.microsoft.com/office/drawing/2014/main" id="{9E431461-4BF0-E864-A8B0-34150658A50E}"/>
              </a:ext>
            </a:extLst>
          </p:cNvPr>
          <p:cNvSpPr txBox="1">
            <a:spLocks/>
          </p:cNvSpPr>
          <p:nvPr/>
        </p:nvSpPr>
        <p:spPr>
          <a:xfrm>
            <a:off x="6828131" y="1553692"/>
            <a:ext cx="3742735" cy="37519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rgbClr val="005E60"/>
                </a:solidFill>
                <a:latin typeface="Inter" panose="02000503000000020004" pitchFamily="2" charset="0"/>
                <a:ea typeface="+mj-ea"/>
                <a:cs typeface="+mj-cs"/>
              </a:defRPr>
            </a:lvl1pPr>
          </a:lstStyle>
          <a:p>
            <a:r>
              <a:rPr lang="en-US" sz="2000" dirty="0">
                <a:latin typeface="Calibri" panose="020F0502020204030204" pitchFamily="34" charset="0"/>
                <a:cs typeface="Calibri" panose="020F0502020204030204" pitchFamily="34" charset="0"/>
              </a:rPr>
              <a:t>Proposed </a:t>
            </a:r>
            <a:r>
              <a:rPr lang="nn-NO" sz="2000" dirty="0">
                <a:latin typeface="Calibri" panose="020F0502020204030204" pitchFamily="34" charset="0"/>
                <a:cs typeface="Calibri" panose="020F0502020204030204" pitchFamily="34" charset="0"/>
              </a:rPr>
              <a:t>=(K26+K27+K28+K29)/K30</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8568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0245773-55CC-D0AF-8AB8-4BAE9581C601}"/>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3" name="Slide Number Placeholder 2">
            <a:extLst>
              <a:ext uri="{FF2B5EF4-FFF2-40B4-BE49-F238E27FC236}">
                <a16:creationId xmlns:a16="http://schemas.microsoft.com/office/drawing/2014/main" id="{B72A31D9-4586-211D-DEB8-AD141944D1DA}"/>
              </a:ext>
            </a:extLst>
          </p:cNvPr>
          <p:cNvSpPr>
            <a:spLocks noGrp="1"/>
          </p:cNvSpPr>
          <p:nvPr>
            <p:ph type="sldNum" sz="quarter" idx="12"/>
          </p:nvPr>
        </p:nvSpPr>
        <p:spPr/>
        <p:txBody>
          <a:bodyPr/>
          <a:lstStyle/>
          <a:p>
            <a:fld id="{7A7A97EF-C944-4447-B862-B593E9B4A0FF}" type="slidenum">
              <a:rPr lang="en-US" smtClean="0"/>
              <a:pPr/>
              <a:t>25</a:t>
            </a:fld>
            <a:endParaRPr lang="en-US" dirty="0"/>
          </a:p>
        </p:txBody>
      </p:sp>
      <p:sp>
        <p:nvSpPr>
          <p:cNvPr id="4" name="Title 3">
            <a:extLst>
              <a:ext uri="{FF2B5EF4-FFF2-40B4-BE49-F238E27FC236}">
                <a16:creationId xmlns:a16="http://schemas.microsoft.com/office/drawing/2014/main" id="{B8589362-B487-3163-9745-F4C91C59489B}"/>
              </a:ext>
            </a:extLst>
          </p:cNvPr>
          <p:cNvSpPr>
            <a:spLocks noGrp="1"/>
          </p:cNvSpPr>
          <p:nvPr>
            <p:ph type="title"/>
          </p:nvPr>
        </p:nvSpPr>
        <p:spPr>
          <a:xfrm>
            <a:off x="419100" y="217954"/>
            <a:ext cx="9596168" cy="457020"/>
          </a:xfrm>
        </p:spPr>
        <p:txBody>
          <a:bodyPr/>
          <a:lstStyle/>
          <a:p>
            <a:r>
              <a:rPr lang="en-US" dirty="0"/>
              <a:t>Area of improvement 2025</a:t>
            </a:r>
          </a:p>
        </p:txBody>
      </p:sp>
      <p:pic>
        <p:nvPicPr>
          <p:cNvPr id="10" name="Picture 9">
            <a:extLst>
              <a:ext uri="{FF2B5EF4-FFF2-40B4-BE49-F238E27FC236}">
                <a16:creationId xmlns:a16="http://schemas.microsoft.com/office/drawing/2014/main" id="{8D06CD12-E4C6-D732-BD55-9C3678EDEC5E}"/>
              </a:ext>
            </a:extLst>
          </p:cNvPr>
          <p:cNvPicPr>
            <a:picLocks noChangeAspect="1"/>
          </p:cNvPicPr>
          <p:nvPr/>
        </p:nvPicPr>
        <p:blipFill>
          <a:blip r:embed="rId2"/>
          <a:stretch>
            <a:fillRect/>
          </a:stretch>
        </p:blipFill>
        <p:spPr>
          <a:xfrm>
            <a:off x="2976562" y="1066800"/>
            <a:ext cx="6238875" cy="5791200"/>
          </a:xfrm>
          <a:prstGeom prst="rect">
            <a:avLst/>
          </a:prstGeom>
        </p:spPr>
      </p:pic>
      <p:pic>
        <p:nvPicPr>
          <p:cNvPr id="26" name="Picture 25">
            <a:extLst>
              <a:ext uri="{FF2B5EF4-FFF2-40B4-BE49-F238E27FC236}">
                <a16:creationId xmlns:a16="http://schemas.microsoft.com/office/drawing/2014/main" id="{42768890-4032-7F77-2B4C-DED6E0A4AC40}"/>
              </a:ext>
            </a:extLst>
          </p:cNvPr>
          <p:cNvPicPr>
            <a:picLocks noChangeAspect="1"/>
          </p:cNvPicPr>
          <p:nvPr/>
        </p:nvPicPr>
        <p:blipFill>
          <a:blip r:embed="rId3"/>
          <a:stretch>
            <a:fillRect/>
          </a:stretch>
        </p:blipFill>
        <p:spPr>
          <a:xfrm>
            <a:off x="304800" y="854110"/>
            <a:ext cx="11582400" cy="6003889"/>
          </a:xfrm>
          <a:prstGeom prst="rect">
            <a:avLst/>
          </a:prstGeom>
        </p:spPr>
      </p:pic>
      <p:pic>
        <p:nvPicPr>
          <p:cNvPr id="31" name="Picture 30">
            <a:extLst>
              <a:ext uri="{FF2B5EF4-FFF2-40B4-BE49-F238E27FC236}">
                <a16:creationId xmlns:a16="http://schemas.microsoft.com/office/drawing/2014/main" id="{3AD91F3C-24B6-10CB-539C-52F2DA820915}"/>
              </a:ext>
            </a:extLst>
          </p:cNvPr>
          <p:cNvPicPr>
            <a:picLocks noChangeAspect="1"/>
          </p:cNvPicPr>
          <p:nvPr/>
        </p:nvPicPr>
        <p:blipFill>
          <a:blip r:embed="rId4"/>
          <a:stretch>
            <a:fillRect/>
          </a:stretch>
        </p:blipFill>
        <p:spPr>
          <a:xfrm>
            <a:off x="276225" y="854109"/>
            <a:ext cx="11610975" cy="6003889"/>
          </a:xfrm>
          <a:prstGeom prst="rect">
            <a:avLst/>
          </a:prstGeom>
        </p:spPr>
      </p:pic>
      <p:pic>
        <p:nvPicPr>
          <p:cNvPr id="36" name="Picture 35">
            <a:extLst>
              <a:ext uri="{FF2B5EF4-FFF2-40B4-BE49-F238E27FC236}">
                <a16:creationId xmlns:a16="http://schemas.microsoft.com/office/drawing/2014/main" id="{98BD46B7-AAC1-F123-271D-7D9233149168}"/>
              </a:ext>
            </a:extLst>
          </p:cNvPr>
          <p:cNvPicPr>
            <a:picLocks noChangeAspect="1"/>
          </p:cNvPicPr>
          <p:nvPr/>
        </p:nvPicPr>
        <p:blipFill>
          <a:blip r:embed="rId5"/>
          <a:stretch>
            <a:fillRect/>
          </a:stretch>
        </p:blipFill>
        <p:spPr>
          <a:xfrm>
            <a:off x="266700" y="854110"/>
            <a:ext cx="11658600" cy="6003890"/>
          </a:xfrm>
          <a:prstGeom prst="rect">
            <a:avLst/>
          </a:prstGeom>
        </p:spPr>
      </p:pic>
    </p:spTree>
    <p:extLst>
      <p:ext uri="{BB962C8B-B14F-4D97-AF65-F5344CB8AC3E}">
        <p14:creationId xmlns:p14="http://schemas.microsoft.com/office/powerpoint/2010/main" val="422823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heel(1)">
                                      <p:cBhvr>
                                        <p:cTn id="12" dur="20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heel(1)">
                                      <p:cBhvr>
                                        <p:cTn id="17" dur="2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heel(1)">
                                      <p:cBhvr>
                                        <p:cTn id="22"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E Vernova">
  <a:themeElements>
    <a:clrScheme name="GE Vernova Palette">
      <a:dk1>
        <a:srgbClr val="005E60"/>
      </a:dk1>
      <a:lt1>
        <a:srgbClr val="FFFFFF"/>
      </a:lt1>
      <a:dk2>
        <a:srgbClr val="212121"/>
      </a:dk2>
      <a:lt2>
        <a:srgbClr val="C8FF08"/>
      </a:lt2>
      <a:accent1>
        <a:srgbClr val="FAFAFA"/>
      </a:accent1>
      <a:accent2>
        <a:srgbClr val="E3E3E3"/>
      </a:accent2>
      <a:accent3>
        <a:srgbClr val="CCCCCC"/>
      </a:accent3>
      <a:accent4>
        <a:srgbClr val="696969"/>
      </a:accent4>
      <a:accent5>
        <a:srgbClr val="484848"/>
      </a:accent5>
      <a:accent6>
        <a:srgbClr val="59C3C9"/>
      </a:accent6>
      <a:hlink>
        <a:srgbClr val="75CA64"/>
      </a:hlink>
      <a:folHlink>
        <a:srgbClr val="BFA682"/>
      </a:folHlink>
    </a:clrScheme>
    <a:fontScheme name="GE Vernova">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Stainless Steel">
      <a:srgbClr val="D2D2D2"/>
    </a:custClr>
    <a:custClr name="Aluminum">
      <a:srgbClr val="AEAEAE"/>
    </a:custClr>
    <a:custClr name="Titanium">
      <a:srgbClr val="969696"/>
    </a:custClr>
    <a:custClr name="Yellow">
      <a:srgbClr val="FFD400"/>
    </a:custClr>
    <a:custClr name="Orange">
      <a:srgbClr val="FF8400"/>
    </a:custClr>
    <a:custClr name="Red">
      <a:srgbClr val="FF1900"/>
    </a:custClr>
    <a:custClr name="Purple">
      <a:srgbClr val="8F00FF"/>
    </a:custClr>
    <a:custClr name="Fuschia">
      <a:srgbClr val="DE00F7"/>
    </a:custClr>
    <a:custClr name="Blue">
      <a:srgbClr val="3900F8"/>
    </a:custClr>
    <a:custClr name="Teal">
      <a:srgbClr val="00D0E1"/>
    </a:custClr>
  </a:custClrLst>
  <a:extLst>
    <a:ext uri="{05A4C25C-085E-4340-85A3-A5531E510DB2}">
      <thm15:themeFamily xmlns:thm15="http://schemas.microsoft.com/office/thememl/2012/main" name="GE Vernova_PPT_Template_7.25.23.pptx" id="{516FEC3C-F444-46DB-9625-154F7F727864}" vid="{D2D9C980-E8ED-4E5D-97D7-10B54BD9CC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astReviewDate xmlns="cc7fbaa3-8214-4644-99f1-d2e5a6ae9914" xsi:nil="true"/>
    <RevisionNumber xmlns="cc7fbaa3-8214-4644-99f1-d2e5a6ae9914" xsi:nil="true"/>
    <Process_x0020_Owmer xmlns="25586fb6-ed09-4f2d-8ea7-eda1a9fd2320">
      <UserInfo>
        <DisplayName/>
        <AccountId/>
        <AccountType/>
      </UserInfo>
    </Process_x0020_Owmer>
    <Functional_x0020_Owner xmlns="25586fb6-ed09-4f2d-8ea7-eda1a9fd2320">Management Processes - Leadership and Commitment</Functional_x0020_Owner>
    <Nomenclature xmlns="25586fb6-ed09-4f2d-8ea7-eda1a9fd232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85749F8-B9E7-4AB5-9CED-6667710A1C81}"/>
</file>

<file path=customXml/itemProps2.xml><?xml version="1.0" encoding="utf-8"?>
<ds:datastoreItem xmlns:ds="http://schemas.openxmlformats.org/officeDocument/2006/customXml" ds:itemID="{C6A31001-A973-48D3-BF92-E4BBE4C78C38}">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02d12187-754c-41a9-9e93-c3e1cfacc155"/>
    <ds:schemaRef ds:uri="http://www.w3.org/XML/1998/namespace"/>
    <ds:schemaRef ds:uri="b402df0d-8178-4802-b8b9-ef402e68d744"/>
    <ds:schemaRef ds:uri="660f4d75-da08-481c-93a0-a5d59f6ee71c"/>
    <ds:schemaRef ds:uri="http://purl.org/dc/dcmitype/"/>
  </ds:schemaRefs>
</ds:datastoreItem>
</file>

<file path=customXml/itemProps3.xml><?xml version="1.0" encoding="utf-8"?>
<ds:datastoreItem xmlns:ds="http://schemas.openxmlformats.org/officeDocument/2006/customXml" ds:itemID="{BDE64E55-0318-435E-9885-1C7A491FCF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9123</TotalTime>
  <Words>3860</Words>
  <Application>Microsoft Office PowerPoint</Application>
  <PresentationFormat>Widescreen</PresentationFormat>
  <Paragraphs>427</Paragraphs>
  <Slides>25</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Wingdings</vt:lpstr>
      <vt:lpstr>Calibri</vt:lpstr>
      <vt:lpstr>Arial</vt:lpstr>
      <vt:lpstr>Inter</vt:lpstr>
      <vt:lpstr>Sons Condensed Extrabold</vt:lpstr>
      <vt:lpstr>Cambria</vt:lpstr>
      <vt:lpstr>GE Vernova</vt:lpstr>
      <vt:lpstr>TITLE 1 SLIDE HEADLINES MAY BE 2 LINES</vt:lpstr>
      <vt:lpstr>Risk Ranking Process: Data Collection </vt:lpstr>
      <vt:lpstr>Risk Ranking and Strategy </vt:lpstr>
      <vt:lpstr>Risk Ranking Process: Global top High-Risk Activities</vt:lpstr>
      <vt:lpstr>Global LSR Risk Profile:  Embedded Controls and Critical Focus</vt:lpstr>
      <vt:lpstr>PowerPoint Presentation</vt:lpstr>
      <vt:lpstr>AI Analysis: Strengths and Areas for Improvement</vt:lpstr>
      <vt:lpstr>PowerPoint Presentation</vt:lpstr>
      <vt:lpstr>Explanation for Level A</vt:lpstr>
      <vt:lpstr>PowerPoint Presentation</vt:lpstr>
      <vt:lpstr>Explanation for  PSE</vt:lpstr>
      <vt:lpstr>Explanation for CR &amp; ATS</vt:lpstr>
      <vt:lpstr>Explanation for Level A, B, C, D or PSE</vt:lpstr>
      <vt:lpstr>PowerPoint Presentation</vt:lpstr>
      <vt:lpstr>PowerPoint Presentation</vt:lpstr>
      <vt:lpstr>PowerPoint Presentation</vt:lpstr>
      <vt:lpstr>PowerPoint Presentation</vt:lpstr>
      <vt:lpstr>ATS Risk Contribution Formula </vt:lpstr>
      <vt:lpstr>ATS Contribution Changes – Before Vs After </vt:lpstr>
      <vt:lpstr>Concern Reports Contributions Calculations </vt:lpstr>
      <vt:lpstr>Concern Reports Contributions Calculations </vt:lpstr>
      <vt:lpstr>Concern Reports Contributions Calculations </vt:lpstr>
      <vt:lpstr>Concern Reports Average Calculation – Before Vs After</vt:lpstr>
      <vt:lpstr>Concern Reports Average Enhancement – Including Escalated ATS Concerns</vt:lpstr>
      <vt:lpstr>Area of improvement 2025</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HEADLINES MAY BE 2 LINES</dc:title>
  <dc:subject/>
  <dc:creator>Naser, Mohamed (GE Vernova)</dc:creator>
  <cp:keywords/>
  <dc:description/>
  <cp:lastModifiedBy>Elnagdi, Mohamed (GE Vernova)</cp:lastModifiedBy>
  <cp:revision>201</cp:revision>
  <dcterms:created xsi:type="dcterms:W3CDTF">2024-05-15T12:38:19Z</dcterms:created>
  <dcterms:modified xsi:type="dcterms:W3CDTF">2026-04-09T17:33:06Z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