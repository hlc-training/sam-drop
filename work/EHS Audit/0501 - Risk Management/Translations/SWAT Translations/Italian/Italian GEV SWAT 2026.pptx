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2FAF1-96C5-4731-97B5-FA0B31412C3E}" v="1" dt="2026-06-01T09:19:56.9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89" autoAdjust="0"/>
    <p:restoredTop sz="94660"/>
  </p:normalViewPr>
  <p:slideViewPr>
    <p:cSldViewPr>
      <p:cViewPr varScale="1">
        <p:scale>
          <a:sx n="52" d="100"/>
          <a:sy n="52" d="100"/>
        </p:scale>
        <p:origin x="18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hill, James (GE Vernova)" userId="eede20a1-ac63-4a00-9247-850300c20ccf" providerId="ADAL" clId="{0862BB37-7CBB-4C6D-A04F-E4F4485C14A6}"/>
    <pc:docChg chg="addSld modSld">
      <pc:chgData name="Cahill, James (GE Vernova)" userId="eede20a1-ac63-4a00-9247-850300c20ccf" providerId="ADAL" clId="{0862BB37-7CBB-4C6D-A04F-E4F4485C14A6}" dt="2026-06-01T09:19:56.983" v="0"/>
      <pc:docMkLst>
        <pc:docMk/>
      </pc:docMkLst>
      <pc:sldChg chg="add">
        <pc:chgData name="Cahill, James (GE Vernova)" userId="eede20a1-ac63-4a00-9247-850300c20ccf" providerId="ADAL" clId="{0862BB37-7CBB-4C6D-A04F-E4F4485C14A6}" dt="2026-06-01T09:19:56.983" v="0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 flipV="1">
            <a:off x="3682277" y="6675698"/>
            <a:ext cx="2642323" cy="45719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73644" y="6896676"/>
            <a:ext cx="2642323" cy="45719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73644" y="7071935"/>
            <a:ext cx="2642323" cy="45719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65076" y="1447800"/>
            <a:ext cx="1741805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it-IT" sz="2400" b="1" dirty="0">
                <a:solidFill>
                  <a:srgbClr val="006060"/>
                </a:solidFill>
                <a:latin typeface="Sons Condensed Extrabold" panose="020609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Altri Pericoli</a:t>
            </a:r>
            <a:endParaRPr sz="2400" b="1" dirty="0">
              <a:solidFill>
                <a:srgbClr val="006060"/>
              </a:solidFill>
              <a:latin typeface="Sons Condensed Extrabold" panose="020609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35620" y="167733"/>
            <a:ext cx="3811455" cy="975267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indent="-12700" algn="ctr">
              <a:lnSpc>
                <a:spcPts val="3500"/>
              </a:lnSpc>
              <a:spcBef>
                <a:spcPts val="605"/>
              </a:spcBef>
            </a:pPr>
            <a:r>
              <a:rPr lang="it-IT" sz="3200" b="1" spc="50" dirty="0">
                <a:latin typeface="Sons Condensed Extrabold" panose="02060906060206060203" pitchFamily="18" charset="0"/>
              </a:rPr>
              <a:t>Strumento di Valutazione per l’Inizio del Lavoro (SWAT)</a:t>
            </a:r>
            <a:endParaRPr sz="3200" b="1" spc="-20" dirty="0">
              <a:latin typeface="Sons Condensed Extrabold" panose="02060906060206060203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08165" y="2117318"/>
            <a:ext cx="3026185" cy="178092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14301" y="1928632"/>
            <a:ext cx="16003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Supervisor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e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/Task</a:t>
            </a:r>
            <a:r>
              <a:rPr sz="1000" b="1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Leader: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08165" y="2545448"/>
            <a:ext cx="3026185" cy="190335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14301" y="2356761"/>
            <a:ext cx="16003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Inter"/>
                <a:cs typeface="Inter"/>
              </a:rPr>
              <a:t>Auditor</a:t>
            </a:r>
            <a:r>
              <a:rPr sz="1000" b="1" spc="-4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b="1" dirty="0">
                <a:solidFill>
                  <a:srgbClr val="231F20"/>
                </a:solidFill>
                <a:latin typeface="Inter"/>
                <a:cs typeface="Inter"/>
              </a:rPr>
              <a:t>(</a:t>
            </a:r>
            <a:r>
              <a:rPr lang="it-IT" sz="1000" b="1" dirty="0">
                <a:solidFill>
                  <a:srgbClr val="231F20"/>
                </a:solidFill>
                <a:latin typeface="Inter"/>
                <a:cs typeface="Inter"/>
              </a:rPr>
              <a:t>Opzionale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):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91327" y="5071386"/>
            <a:ext cx="196063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1000" b="1" dirty="0">
                <a:solidFill>
                  <a:srgbClr val="231F20"/>
                </a:solidFill>
                <a:latin typeface="Inter"/>
                <a:cs typeface="Inter"/>
              </a:rPr>
              <a:t>Sostanze Chimiche Utilizzate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b="1" dirty="0">
              <a:latin typeface="Inter"/>
              <a:cs typeface="Inter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824"/>
              </p:ext>
            </p:extLst>
          </p:nvPr>
        </p:nvGraphicFramePr>
        <p:xfrm>
          <a:off x="6908800" y="5239719"/>
          <a:ext cx="302301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259232"/>
              </p:ext>
            </p:extLst>
          </p:nvPr>
        </p:nvGraphicFramePr>
        <p:xfrm>
          <a:off x="6905625" y="3124200"/>
          <a:ext cx="302618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2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3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4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5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6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7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8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9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10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86654" y="2937290"/>
            <a:ext cx="7740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Participant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i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34426" y="2784890"/>
            <a:ext cx="123897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Nome del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Buddy/ Mentor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e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/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Allievo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b="1" dirty="0">
              <a:latin typeface="Inter"/>
              <a:cs typeface="Inter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48000"/>
              </p:ext>
            </p:extLst>
          </p:nvPr>
        </p:nvGraphicFramePr>
        <p:xfrm>
          <a:off x="6905625" y="158838"/>
          <a:ext cx="3011895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9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it-IT"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Punto di Raccolta</a:t>
                      </a: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it-IT" sz="1000" b="1" spc="-6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Numero di Emergenza #</a:t>
                      </a:r>
                      <a:r>
                        <a:rPr sz="1000" b="1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</a:t>
                      </a:r>
                      <a:r>
                        <a:rPr lang="it-IT"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</a:t>
                      </a: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me</a:t>
                      </a:r>
                      <a:r>
                        <a:rPr lang="it-IT"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del Sito</a:t>
                      </a: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/</a:t>
                      </a:r>
                      <a:r>
                        <a:rPr lang="it-IT"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Ubicazione/Unità</a:t>
                      </a: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Perm</a:t>
                      </a:r>
                      <a:r>
                        <a:rPr lang="it-IT" sz="10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esso di Lavoro</a:t>
                      </a:r>
                      <a:r>
                        <a:rPr sz="1000" b="1" spc="-3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#: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Dat</a:t>
                      </a:r>
                      <a:r>
                        <a:rPr lang="it-IT"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</a:t>
                      </a: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it-IT"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Ora</a:t>
                      </a: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it-IT"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Turno</a:t>
                      </a: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Day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Mid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Night</a:t>
                      </a:r>
                      <a:endParaRPr sz="1000" b="1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8"/>
            <a:ext cx="6521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1000" dirty="0">
                <a:solidFill>
                  <a:srgbClr val="231F20"/>
                </a:solidFill>
                <a:latin typeface="Inter"/>
                <a:cs typeface="Inter"/>
              </a:rPr>
              <a:t>Chiusura</a:t>
            </a:r>
            <a:r>
              <a:rPr sz="1000" spc="-2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08165" y="6068517"/>
            <a:ext cx="3023011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48249" y="6081688"/>
            <a:ext cx="264901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Verifica e Chiusura del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Supervisor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e</a:t>
            </a:r>
            <a:r>
              <a:rPr sz="1000" b="1" spc="-2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(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firma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)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948249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59400" y="6607069"/>
            <a:ext cx="192253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it-IT" sz="1000" b="1" dirty="0">
                <a:solidFill>
                  <a:srgbClr val="231F20"/>
                </a:solidFill>
                <a:latin typeface="Inter"/>
                <a:cs typeface="Inter"/>
              </a:rPr>
              <a:t>L’attività è stata completata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b="1" dirty="0">
              <a:latin typeface="Inter"/>
              <a:cs typeface="Inter"/>
            </a:endParaRPr>
          </a:p>
          <a:p>
            <a:pPr>
              <a:lnSpc>
                <a:spcPct val="100000"/>
              </a:lnSpc>
            </a:pPr>
            <a:r>
              <a:rPr lang="it-IT" sz="1000" b="1" dirty="0">
                <a:solidFill>
                  <a:srgbClr val="231F20"/>
                </a:solidFill>
                <a:latin typeface="Inter"/>
                <a:cs typeface="Inter"/>
              </a:rPr>
              <a:t>C’è stato qualche evento EHS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48674" y="6607069"/>
            <a:ext cx="53499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>
              <a:lnSpc>
                <a:spcPct val="100000"/>
              </a:lnSpc>
              <a:spcBef>
                <a:spcPts val="100"/>
              </a:spcBef>
            </a:pP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Si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/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No 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Si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/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No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67106" y="6945351"/>
            <a:ext cx="296724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it-IT" sz="1000" b="1" dirty="0">
                <a:solidFill>
                  <a:srgbClr val="231F20"/>
                </a:solidFill>
                <a:latin typeface="Inter"/>
                <a:cs typeface="Inter"/>
              </a:rPr>
              <a:t>Se Si, chi e quando è stato informato dell’evento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39074" y="7602718"/>
            <a:ext cx="1175652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Revision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e</a:t>
            </a:r>
            <a:r>
              <a:rPr sz="1000" b="1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202</a:t>
            </a:r>
            <a:r>
              <a:rPr lang="it-IT" sz="1000" b="1" spc="-10" dirty="0">
                <a:solidFill>
                  <a:srgbClr val="231F20"/>
                </a:solidFill>
                <a:latin typeface="Inter"/>
                <a:cs typeface="Inter"/>
              </a:rPr>
              <a:t>6</a:t>
            </a:r>
            <a:r>
              <a:rPr sz="1000" b="1" spc="-10" dirty="0">
                <a:solidFill>
                  <a:srgbClr val="231F20"/>
                </a:solidFill>
                <a:latin typeface="Inter"/>
                <a:cs typeface="Inter"/>
              </a:rPr>
              <a:t>.01</a:t>
            </a:r>
            <a:endParaRPr sz="1000" b="1" dirty="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471" y="1448540"/>
            <a:ext cx="2552700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it-IT" sz="2400" b="1" dirty="0">
                <a:solidFill>
                  <a:srgbClr val="006060"/>
                </a:solidFill>
                <a:latin typeface="Sons Condensed Extrabold" panose="020609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Le Regole Salva Vita</a:t>
            </a:r>
            <a:endParaRPr sz="2400" b="1" dirty="0">
              <a:latin typeface="Sons Condensed Extrabold" panose="020609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1168" y="1856872"/>
            <a:ext cx="3059116" cy="5270032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95985">
              <a:lnSpc>
                <a:spcPts val="1400"/>
              </a:lnSpc>
              <a:spcBef>
                <a:spcPts val="775"/>
              </a:spcBef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Sollevamenti Meccanici</a:t>
            </a:r>
            <a:endParaRPr sz="1600" b="1" dirty="0"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Pianifica il sollevamento, controlla l'area,</a:t>
            </a:r>
            <a:b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</a:b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tieniti lontano da carichi sollevati e in movimento</a:t>
            </a:r>
            <a:endParaRPr sz="800" b="1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600"/>
              </a:spcBef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Lavoro in Quota</a:t>
            </a:r>
            <a:endParaRPr sz="1600" b="1" spc="-10" dirty="0">
              <a:solidFill>
                <a:srgbClr val="006060"/>
              </a:solidFill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Valuta, previeni e proteggiti dalle cadute dall’alto</a:t>
            </a:r>
            <a:endParaRPr sz="800" b="1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Sicurezza alla Guida</a:t>
            </a:r>
            <a:endParaRPr sz="1600" b="1" spc="-10" dirty="0">
              <a:solidFill>
                <a:srgbClr val="006060"/>
              </a:solidFill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Pianifica il tuo viaggio, concentrati</a:t>
            </a:r>
            <a:b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</a:b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sulla guida e rimani vigile</a:t>
            </a:r>
            <a:endParaRPr lang="en-US" sz="800" b="1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Line of Fire</a:t>
            </a:r>
          </a:p>
          <a:p>
            <a:pPr marL="895985" algn="l">
              <a:lnSpc>
                <a:spcPts val="919"/>
              </a:lnSpc>
            </a:pP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Tieni te stesso e gli altri</a:t>
            </a:r>
            <a:b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</a:b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lontano dalla </a:t>
            </a:r>
            <a:r>
              <a:rPr lang="en-US" sz="800" b="1" dirty="0">
                <a:solidFill>
                  <a:srgbClr val="010202"/>
                </a:solidFill>
                <a:latin typeface="Inter"/>
                <a:cs typeface="Inter"/>
              </a:rPr>
              <a:t>line of </a:t>
            </a:r>
            <a:r>
              <a:rPr lang="en-US" sz="800" b="1" spc="-20" dirty="0">
                <a:solidFill>
                  <a:srgbClr val="010202"/>
                </a:solidFill>
                <a:latin typeface="Inter"/>
                <a:cs typeface="Inter"/>
              </a:rPr>
              <a:t>fire</a:t>
            </a:r>
            <a:endParaRPr lang="en-US" sz="800" b="1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Autorizzazione al Lavoro</a:t>
            </a:r>
            <a:endParaRPr sz="1600" b="1" spc="-10" dirty="0">
              <a:solidFill>
                <a:srgbClr val="006060"/>
              </a:solidFill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lang="it-IT" sz="800" b="1" spc="-20" dirty="0">
                <a:solidFill>
                  <a:srgbClr val="010202"/>
                </a:solidFill>
                <a:latin typeface="Inter"/>
                <a:cs typeface="Inter"/>
              </a:rPr>
              <a:t>Valuta il rischio, applica i controlli e ottieni l'autorizzazione prima di iniziare il lavoro</a:t>
            </a:r>
            <a:endParaRPr sz="800" b="1" spc="-20" dirty="0">
              <a:solidFill>
                <a:srgbClr val="010202"/>
              </a:solidFill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 b="1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Spazi Confinati</a:t>
            </a:r>
            <a:endParaRPr sz="1600" b="1" spc="-10" dirty="0">
              <a:solidFill>
                <a:srgbClr val="006060"/>
              </a:solidFill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Valuta il rischio, controlla i pericoli ed ottieni il permesso di lavoro per spazi confinati</a:t>
            </a:r>
            <a:endParaRPr sz="800" b="1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Isolamento Fonti di Energia</a:t>
            </a:r>
            <a:endParaRPr sz="1600" b="1" spc="-10" dirty="0">
              <a:solidFill>
                <a:srgbClr val="006060"/>
              </a:solidFill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Isola e verifica l'assenza di energia</a:t>
            </a:r>
            <a:b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</a:b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prima dell’inizio dei lavori</a:t>
            </a:r>
            <a:endParaRPr sz="800" b="1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Lavori su Parti in Tensione</a:t>
            </a:r>
            <a:endParaRPr sz="1600" b="1" spc="-10" dirty="0">
              <a:solidFill>
                <a:srgbClr val="006060"/>
              </a:solidFill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Applica le misure di controllo e rispetta</a:t>
            </a:r>
            <a:b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</a:b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i requisiti di accesso alle aree delimitate</a:t>
            </a:r>
            <a:endParaRPr lang="it-IT" sz="800" b="1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lang="it-IT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600"/>
              </a:spcBef>
            </a:pPr>
            <a:r>
              <a:rPr lang="it-IT" sz="1600" b="1" spc="-10" dirty="0">
                <a:solidFill>
                  <a:srgbClr val="0060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Incendi ed Esplosioni</a:t>
            </a:r>
            <a:endParaRPr sz="1600" b="1" spc="-10" dirty="0">
              <a:solidFill>
                <a:srgbClr val="006060"/>
              </a:solidFill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  <a:p>
            <a:pPr marL="895985">
              <a:lnSpc>
                <a:spcPts val="919"/>
              </a:lnSpc>
            </a:pPr>
            <a:r>
              <a:rPr sz="800" b="1" dirty="0">
                <a:solidFill>
                  <a:srgbClr val="010202"/>
                </a:solidFill>
                <a:latin typeface="Inter"/>
                <a:cs typeface="Inter"/>
              </a:rPr>
              <a:t>Control</a:t>
            </a:r>
            <a:r>
              <a:rPr lang="it-IT" sz="800" b="1" dirty="0">
                <a:solidFill>
                  <a:srgbClr val="010202"/>
                </a:solidFill>
                <a:latin typeface="Inter"/>
                <a:cs typeface="Inter"/>
              </a:rPr>
              <a:t>la le fonti di innesco ed elimina il rischio di incendio e di esplosione</a:t>
            </a:r>
          </a:p>
          <a:p>
            <a:pPr marL="895985">
              <a:lnSpc>
                <a:spcPts val="919"/>
              </a:lnSpc>
            </a:pPr>
            <a:endParaRPr lang="it-IT" sz="1200" dirty="0">
              <a:solidFill>
                <a:srgbClr val="010202"/>
              </a:solidFill>
              <a:latin typeface="Inter"/>
              <a:cs typeface="Inter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323226"/>
            <a:ext cx="6883237" cy="449580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75210" y="7326902"/>
            <a:ext cx="6908165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it-IT" sz="2400" b="1" dirty="0">
                <a:solidFill>
                  <a:srgbClr val="231F20"/>
                </a:solidFill>
                <a:latin typeface="Sons Condensed Semibold" panose="02060706060206060203" pitchFamily="18" charset="0"/>
                <a:cs typeface="Inter"/>
              </a:rPr>
              <a:t>INIZIAMO A LAVORARE </a:t>
            </a:r>
            <a:r>
              <a:rPr lang="it-IT" sz="2400" b="1" dirty="0">
                <a:solidFill>
                  <a:srgbClr val="006060"/>
                </a:solidFill>
                <a:latin typeface="Sons Condensed Semibold" panose="02060706060206060203" pitchFamily="18" charset="0"/>
                <a:cs typeface="Inter"/>
              </a:rPr>
              <a:t>SOLO</a:t>
            </a:r>
            <a:r>
              <a:rPr lang="it-IT" sz="2400" b="1" dirty="0">
                <a:solidFill>
                  <a:srgbClr val="231F20"/>
                </a:solidFill>
                <a:latin typeface="Sons Condensed Semibold" panose="02060706060206060203" pitchFamily="18" charset="0"/>
                <a:cs typeface="Inter"/>
              </a:rPr>
              <a:t> QUANDO E’ SICURO E CI </a:t>
            </a:r>
            <a:r>
              <a:rPr lang="it-IT" sz="2400" b="1" spc="5" dirty="0">
                <a:solidFill>
                  <a:srgbClr val="006060"/>
                </a:solidFill>
                <a:latin typeface="Sons Condensed Semibold" panose="02060706060206060203" pitchFamily="18" charset="0"/>
                <a:cs typeface="Inter"/>
              </a:rPr>
              <a:t>F</a:t>
            </a:r>
            <a:r>
              <a:rPr lang="it-IT" sz="2400" b="1" dirty="0">
                <a:solidFill>
                  <a:srgbClr val="006060"/>
                </a:solidFill>
                <a:latin typeface="Sons Condensed Semibold" panose="02060706060206060203" pitchFamily="18" charset="0"/>
                <a:cs typeface="Inter"/>
              </a:rPr>
              <a:t>ERMIAMO </a:t>
            </a:r>
            <a:r>
              <a:rPr lang="it-IT" sz="2400" b="1" spc="5" dirty="0">
                <a:solidFill>
                  <a:srgbClr val="231F20"/>
                </a:solidFill>
                <a:latin typeface="Sons Condensed Semibold" panose="02060706060206060203" pitchFamily="18" charset="0"/>
                <a:cs typeface="Inter"/>
              </a:rPr>
              <a:t>QUANDO NON LO E’</a:t>
            </a:r>
            <a:endParaRPr lang="it-IT" sz="2400" b="1" dirty="0">
              <a:latin typeface="Sons Condensed Semibold" panose="02060706060206060203" pitchFamily="18" charset="0"/>
              <a:cs typeface="Inter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80149" y="213181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0149" y="269131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149" y="325081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0149" y="380523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0149" y="436472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80149" y="493945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0149" y="556540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80149" y="611772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80149" y="67142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118" y="539657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13414" y="1985256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513414" y="5982970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13414" y="4779587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13414" y="4208974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13414" y="2520268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414" y="3098438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513414" y="6546850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414" y="3651166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414" y="5403850"/>
            <a:ext cx="387337" cy="387350"/>
          </a:xfrm>
          <a:prstGeom prst="rect">
            <a:avLst/>
          </a:prstGeom>
        </p:spPr>
      </p:pic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8E0C14B1-A9EF-99D9-0E11-B48A0F045833}"/>
              </a:ext>
            </a:extLst>
          </p:cNvPr>
          <p:cNvSpPr txBox="1"/>
          <p:nvPr/>
        </p:nvSpPr>
        <p:spPr>
          <a:xfrm>
            <a:off x="3356423" y="1846521"/>
            <a:ext cx="3349177" cy="5339923"/>
          </a:xfrm>
          <a:prstGeom prst="rect">
            <a:avLst/>
          </a:prstGeom>
          <a:noFill/>
          <a:ln w="12700">
            <a:solidFill>
              <a:srgbClr val="006060"/>
            </a:solidFill>
          </a:ln>
        </p:spPr>
        <p:txBody>
          <a:bodyPr wrap="square" rtlCol="0">
            <a:spAutoFit/>
          </a:bodyPr>
          <a:lstStyle/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Lavori Adiacenti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Posizione del Corpo/Ergonomia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Ustioni/Incendio/Lavori a Caldo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Errori di Comunicazione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Caduta Oggetti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Polvere/Fumi/Detriti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Shock Elettrico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Condizioni Ambientali/Meteo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Cadute dall’Alto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Movimentazione Manuale Carichi Pesanti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Idrogeno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Igiene Industriale (Ammoniaca, Amianto, Cromo Esavalente, Piombo)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Rumore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Punti di Pizzicamento/Schiacciamento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Utensili Elettrici e Apparecchiature Idrauliche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Area di Lavoro con Accesso Ristretto/Controllato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Inciampi, Scivolamenti, Cadute a Livello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Radiazioni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Cedimento Accessori di Sollevamento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Apparecchiature con Parti in Rotazione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Oggetti Taglienti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Impatto con Oggetti in Movimento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Rottura degli Utensili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r>
              <a:rPr lang="it-IT" sz="1100" b="1" spc="50" dirty="0">
                <a:solidFill>
                  <a:srgbClr val="006060"/>
                </a:solidFill>
                <a:latin typeface="Inter"/>
                <a:ea typeface="+mj-ea"/>
                <a:cs typeface="Inter"/>
              </a:rPr>
              <a:t>Altro (Specificare):</a:t>
            </a:r>
          </a:p>
          <a:p>
            <a:pPr marL="179388" indent="-179388">
              <a:buFont typeface="Wingdings 2" panose="05020102010507070707" pitchFamily="18" charset="2"/>
              <a:buChar char="£"/>
            </a:pPr>
            <a:endParaRPr lang="it-IT" sz="1100" b="1" spc="50" dirty="0">
              <a:solidFill>
                <a:srgbClr val="006060"/>
              </a:solidFill>
              <a:latin typeface="Inter"/>
              <a:ea typeface="+mj-ea"/>
              <a:cs typeface="Inter"/>
            </a:endParaRPr>
          </a:p>
          <a:p>
            <a:pPr marL="179388" indent="-179388">
              <a:buFont typeface="Wingdings 2" panose="05020102010507070707" pitchFamily="18" charset="2"/>
              <a:buChar char="£"/>
            </a:pPr>
            <a:endParaRPr lang="it-IT" sz="1100" b="1" spc="50" dirty="0">
              <a:solidFill>
                <a:srgbClr val="006060"/>
              </a:solidFill>
              <a:latin typeface="Inter"/>
              <a:ea typeface="+mj-ea"/>
              <a:cs typeface="Inter"/>
            </a:endParaRPr>
          </a:p>
          <a:p>
            <a:pPr marL="179388" indent="-179388">
              <a:buFont typeface="Wingdings 2" panose="05020102010507070707" pitchFamily="18" charset="2"/>
              <a:buChar char="£"/>
            </a:pPr>
            <a:endParaRPr lang="it-IT" sz="1100" b="1" spc="50" dirty="0">
              <a:solidFill>
                <a:srgbClr val="006060"/>
              </a:solidFill>
              <a:latin typeface="Inter"/>
              <a:ea typeface="+mj-ea"/>
              <a:cs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6559" y="545312"/>
          <a:ext cx="9188451" cy="6666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410709538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1371805269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3873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it-IT" sz="1200" b="1" spc="-2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QUALE</a:t>
                      </a:r>
                      <a:r>
                        <a:rPr lang="it-IT" sz="1200" b="1" spc="-3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spc="-30" noProof="0" dirty="0">
                          <a:solidFill>
                            <a:schemeClr val="tx1"/>
                          </a:solidFill>
                          <a:latin typeface="Inter"/>
                          <a:cs typeface="Inter"/>
                        </a:rPr>
                        <a:t>è l’attività</a:t>
                      </a:r>
                      <a:r>
                        <a:rPr lang="it-IT" sz="12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it-IT" sz="1200" b="1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(breve</a:t>
                      </a:r>
                      <a:r>
                        <a:rPr lang="it-IT" sz="1200" spc="-3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descrizione)</a:t>
                      </a:r>
                      <a:endParaRPr lang="it-IT" sz="1200" noProof="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it-IT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Ad esempio:</a:t>
                      </a:r>
                      <a:r>
                        <a:rPr lang="it-IT" sz="700" b="1" i="1" spc="-5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it-IT" sz="700" b="1" i="1" spc="-10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Rimozione del compressore</a:t>
                      </a:r>
                      <a:r>
                        <a:rPr lang="it-IT" sz="700" b="1" i="1" spc="-5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della GT21</a:t>
                      </a:r>
                      <a:r>
                        <a:rPr lang="it-IT" sz="700" b="1" i="1" spc="-10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;</a:t>
                      </a:r>
                      <a:r>
                        <a:rPr lang="it-IT" sz="700" b="1" i="1" spc="500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it-IT" sz="700" b="1" i="1" spc="-10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Smontaggio del </a:t>
                      </a:r>
                      <a:r>
                        <a:rPr lang="it-IT" sz="700" b="1" i="1" spc="-10" noProof="0" dirty="0" err="1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casing</a:t>
                      </a:r>
                      <a:r>
                        <a:rPr lang="it-IT" sz="700" b="1" i="1" spc="-10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it-IT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HP</a:t>
                      </a:r>
                      <a:endParaRPr lang="it-IT" sz="700" noProof="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it-IT" sz="1200" b="1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COME</a:t>
                      </a:r>
                      <a:r>
                        <a:rPr lang="it-IT" sz="1200" b="1" spc="-15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la effettuerò?</a:t>
                      </a:r>
                      <a:r>
                        <a:rPr lang="it-IT" sz="1200" b="1" spc="-1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(dettagli dell’attività</a:t>
                      </a:r>
                      <a:r>
                        <a:rPr lang="it-IT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it-IT" sz="1200" noProof="0" dirty="0">
                        <a:latin typeface="Inter"/>
                        <a:cs typeface="Inter"/>
                      </a:endParaRPr>
                    </a:p>
                    <a:p>
                      <a:pPr marL="194310">
                        <a:lnSpc>
                          <a:spcPts val="835"/>
                        </a:lnSpc>
                      </a:pPr>
                      <a:r>
                        <a:rPr lang="it-IT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Considera quali fonti di energia, competenze, permessi, attrezzature ed apparecchiature sono necessarie per effettuare la tua attività</a:t>
                      </a:r>
                      <a:endParaRPr lang="it-IT" sz="700" noProof="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5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it-IT" sz="12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Documenti Guida Utilizzate per questa Attività</a:t>
                      </a:r>
                      <a:r>
                        <a:rPr lang="it-IT" sz="1200" b="1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(Cerchiare tutto quello che viene utilizzato)</a:t>
                      </a:r>
                      <a:r>
                        <a:rPr lang="it-IT" sz="12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lang="it-IT" sz="1200" noProof="0" dirty="0">
                        <a:latin typeface="Inter"/>
                        <a:cs typeface="Inter"/>
                      </a:endParaRPr>
                    </a:p>
                    <a:p>
                      <a:pPr defTabSz="8382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it-IT" sz="1200" noProof="0" dirty="0">
                          <a:latin typeface="Times New Roman"/>
                          <a:cs typeface="Times New Roman"/>
                        </a:rPr>
                        <a:t>   </a:t>
                      </a:r>
                    </a:p>
                    <a:p>
                      <a:pPr marL="2422525" marR="105410" indent="-2246313">
                        <a:lnSpc>
                          <a:spcPct val="37500"/>
                        </a:lnSpc>
                        <a:tabLst>
                          <a:tab pos="1220788" algn="l"/>
                          <a:tab pos="2079625" algn="l"/>
                          <a:tab pos="2422525" algn="l"/>
                          <a:tab pos="4800600" algn="l"/>
                          <a:tab pos="5619750" algn="l"/>
                          <a:tab pos="7188200" algn="l"/>
                          <a:tab pos="8375650" algn="l"/>
                        </a:tabLst>
                      </a:pPr>
                      <a:r>
                        <a:rPr lang="it-IT" sz="8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lang="it-IT" sz="800" b="1" spc="-2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Procedure</a:t>
                      </a:r>
                      <a:r>
                        <a:rPr lang="it-IT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 </a:t>
                      </a:r>
                      <a:r>
                        <a:rPr lang="it-IT" sz="8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Live</a:t>
                      </a:r>
                      <a:r>
                        <a:rPr lang="it-IT" sz="800" b="1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spc="-10" noProof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lang="it-IT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</a:t>
                      </a: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Disegni</a:t>
                      </a:r>
                      <a:r>
                        <a:rPr lang="it-IT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lang="it-IT" sz="1200" b="1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lang="it-IT" sz="1200" b="1" spc="-7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spc="-15" baseline="41666" noProof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Modification</a:t>
                      </a:r>
                      <a:r>
                        <a:rPr lang="it-IT" sz="1200" b="1" spc="-7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baseline="41666" noProof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Instruction</a:t>
                      </a:r>
                      <a:r>
                        <a:rPr lang="it-IT" sz="1200" b="1" spc="-7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spc="-15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  </a:t>
                      </a:r>
                      <a:r>
                        <a:rPr lang="it-IT" sz="1200" spc="-15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</a:t>
                      </a:r>
                      <a:r>
                        <a:rPr lang="it-IT" sz="8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Piano di Sollevamento</a:t>
                      </a:r>
                      <a:r>
                        <a:rPr lang="it-IT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</a:t>
                      </a: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Task</a:t>
                      </a:r>
                      <a:r>
                        <a:rPr lang="it-IT" sz="800" b="1" spc="-2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Risk</a:t>
                      </a:r>
                      <a:r>
                        <a:rPr lang="it-IT" sz="800" b="1" spc="-1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noProof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Assement</a:t>
                      </a:r>
                      <a:r>
                        <a:rPr lang="it-IT" sz="800" b="1" spc="-1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(TRA)</a:t>
                      </a:r>
                      <a:r>
                        <a:rPr lang="it-IT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</a:t>
                      </a: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Manuale Attrezzatura</a:t>
                      </a:r>
                      <a:r>
                        <a:rPr lang="it-IT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</a:t>
                      </a:r>
                      <a:r>
                        <a:rPr lang="it-IT" sz="8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Nessuno</a:t>
                      </a:r>
                      <a:r>
                        <a:rPr lang="it-IT" sz="800" b="1" spc="-2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(Spiegare)</a:t>
                      </a:r>
                      <a:r>
                        <a:rPr lang="it-IT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br>
                        <a:rPr lang="it-IT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</a:b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 Technical</a:t>
                      </a:r>
                      <a:r>
                        <a:rPr lang="it-IT" sz="800" b="1" spc="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Information</a:t>
                      </a:r>
                      <a:r>
                        <a:rPr lang="it-IT" sz="8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noProof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Letter</a:t>
                      </a:r>
                      <a:r>
                        <a:rPr lang="it-IT" sz="800" b="1" spc="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800" b="1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(TIL)</a:t>
                      </a:r>
                      <a:endParaRPr lang="it-IT" sz="800" b="1" noProof="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it-IT" sz="1200" b="1" spc="-2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COSA</a:t>
                      </a:r>
                      <a:r>
                        <a:rPr lang="it-IT" sz="1200" b="1" spc="-3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può</a:t>
                      </a:r>
                      <a:r>
                        <a:rPr lang="it-IT" sz="1200" b="1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farmi male</a:t>
                      </a:r>
                      <a:r>
                        <a:rPr lang="it-IT" sz="12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it-IT" sz="1200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(Pericoli)</a:t>
                      </a:r>
                      <a:endParaRPr lang="it-IT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it-IT" sz="1200" b="1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COME</a:t>
                      </a:r>
                      <a:r>
                        <a:rPr lang="it-IT" sz="1200" b="1" spc="-25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posso prevenire gli infortuni?</a:t>
                      </a:r>
                      <a:r>
                        <a:rPr lang="it-IT" sz="1200" spc="-2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(Misure di Controllo/Mitigazione)</a:t>
                      </a:r>
                      <a:endParaRPr lang="it-IT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u="sng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it-IT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9845" algn="l">
                        <a:lnSpc>
                          <a:spcPct val="100000"/>
                        </a:lnSpc>
                        <a:spcBef>
                          <a:spcPts val="540"/>
                        </a:spcBef>
                        <a:tabLst>
                          <a:tab pos="1168400" algn="l"/>
                        </a:tabLst>
                      </a:pPr>
                      <a:r>
                        <a:rPr lang="it-IT" sz="1200" b="1" u="none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Orario </a:t>
                      </a:r>
                      <a:r>
                        <a:rPr lang="it-IT" sz="1200" b="1" u="none" noProof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Refocus</a:t>
                      </a:r>
                      <a:r>
                        <a:rPr lang="it-IT" sz="1200" b="1" u="none" spc="-5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it-IT" sz="1200" b="1" u="none" noProof="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Attività:    </a:t>
                      </a: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it-IT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it-IT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it-IT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it-IT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7314539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7329971"/>
            <a:ext cx="929640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spcBef>
                <a:spcPts val="90"/>
              </a:spcBef>
            </a:pPr>
            <a:r>
              <a:rPr lang="it-IT" sz="2800" b="1" spc="-55" dirty="0">
                <a:solidFill>
                  <a:srgbClr val="231F20"/>
                </a:solidFill>
                <a:latin typeface="Sons Condensed Semibold" panose="02060706060206060203" pitchFamily="18" charset="0"/>
                <a:cs typeface="Inter Semi Bold"/>
              </a:rPr>
              <a:t>INIZIAMO A LAVORARE </a:t>
            </a:r>
            <a:r>
              <a:rPr lang="it-IT" sz="2800" b="1" spc="-25" dirty="0">
                <a:solidFill>
                  <a:srgbClr val="006060"/>
                </a:solidFill>
                <a:latin typeface="Sons Condensed Semibold" panose="02060706060206060203" pitchFamily="18" charset="0"/>
                <a:cs typeface="Inter Semi Bold"/>
              </a:rPr>
              <a:t>SOLO</a:t>
            </a:r>
            <a:r>
              <a:rPr lang="it-IT" sz="2800" b="1" spc="-55" dirty="0">
                <a:solidFill>
                  <a:srgbClr val="231F20"/>
                </a:solidFill>
                <a:latin typeface="Sons Condensed Semibold" panose="02060706060206060203" pitchFamily="18" charset="0"/>
                <a:cs typeface="Inter Semi Bold"/>
              </a:rPr>
              <a:t> QUANDO E’ SICURO E CI </a:t>
            </a:r>
            <a:r>
              <a:rPr lang="it-IT" sz="2800" b="1" spc="-10" dirty="0">
                <a:solidFill>
                  <a:srgbClr val="006060"/>
                </a:solidFill>
                <a:latin typeface="Sons Condensed Semibold" panose="02060706060206060203" pitchFamily="18" charset="0"/>
                <a:cs typeface="Inter Semi Bold"/>
              </a:rPr>
              <a:t>FERMIAMO</a:t>
            </a:r>
            <a:r>
              <a:rPr lang="it-IT" sz="2800" b="1" spc="-55" dirty="0">
                <a:solidFill>
                  <a:srgbClr val="231F20"/>
                </a:solidFill>
                <a:latin typeface="Sons Condensed Semibold" panose="02060706060206060203" pitchFamily="18" charset="0"/>
                <a:cs typeface="Inter Semi Bold"/>
              </a:rPr>
              <a:t> QUANDO NON LO E’.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0" y="-5432"/>
            <a:ext cx="1005840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it-IT" sz="2800" b="1" dirty="0">
                <a:solidFill>
                  <a:srgbClr val="231F2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I DPI SONO L’</a:t>
            </a:r>
            <a:r>
              <a:rPr lang="it-IT" sz="2800" b="1" dirty="0">
                <a:solidFill>
                  <a:srgbClr val="005F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ULTIMA</a:t>
            </a:r>
            <a:r>
              <a:rPr lang="it-IT" sz="2800" b="1" dirty="0">
                <a:solidFill>
                  <a:srgbClr val="231F2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 LINEA DI </a:t>
            </a:r>
            <a:r>
              <a:rPr lang="it-IT" sz="2800" b="1" spc="-10" dirty="0">
                <a:solidFill>
                  <a:srgbClr val="005F60"/>
                </a:solidFill>
                <a:latin typeface="Sons Condensed Semibold" panose="02060706060206060203" pitchFamily="18" charset="0"/>
                <a:ea typeface="Inter" panose="020B0502030000000004" pitchFamily="34" charset="0"/>
                <a:cs typeface="Inter" panose="020B0502030000000004" pitchFamily="34" charset="0"/>
              </a:rPr>
              <a:t>DIFESA</a:t>
            </a:r>
            <a:endParaRPr sz="2800" b="1" dirty="0">
              <a:latin typeface="Sons Condensed Semibold" panose="02060706060206060203" pitchFamily="18" charset="0"/>
              <a:ea typeface="Inter" panose="020B0502030000000004" pitchFamily="34" charset="0"/>
              <a:cs typeface="Inter" panose="020B05020300000000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F7012EE7-2549-45B4-A5F3-6188B1AA93EE}"/>
</file>

<file path=customXml/itemProps2.xml><?xml version="1.0" encoding="utf-8"?>
<ds:datastoreItem xmlns:ds="http://schemas.openxmlformats.org/officeDocument/2006/customXml" ds:itemID="{2D9BAABC-9FD4-405F-A030-1C5306FE10F7}"/>
</file>

<file path=customXml/itemProps3.xml><?xml version="1.0" encoding="utf-8"?>
<ds:datastoreItem xmlns:ds="http://schemas.openxmlformats.org/officeDocument/2006/customXml" ds:itemID="{3A9AA1D4-4D85-4D98-B5A7-F7B95137D87D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551</Words>
  <Application>Microsoft Office PowerPoint</Application>
  <PresentationFormat>Custom</PresentationFormat>
  <Paragraphs>98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Calibri</vt:lpstr>
      <vt:lpstr>Inter</vt:lpstr>
      <vt:lpstr>Inter Semi Bold</vt:lpstr>
      <vt:lpstr>Sons Condensed Extrabold</vt:lpstr>
      <vt:lpstr>Sons Condensed Semibold</vt:lpstr>
      <vt:lpstr>Times New Roman</vt:lpstr>
      <vt:lpstr>Wingdings 2</vt:lpstr>
      <vt:lpstr>Office Theme</vt:lpstr>
      <vt:lpstr>Strumento di Valutazione per l’Inizio del Lavoro (SWAT)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Catarcini, Paolo (GE Vernova)</dc:creator>
  <cp:lastModifiedBy>Cahill, James (GE Vernova)</cp:lastModifiedBy>
  <cp:revision>15</cp:revision>
  <dcterms:created xsi:type="dcterms:W3CDTF">2024-12-17T21:19:02Z</dcterms:created>
  <dcterms:modified xsi:type="dcterms:W3CDTF">2026-06-01T09:19:59Z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