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0058400" cy="7772400"/>
  <p:notesSz cx="7104063" cy="1023461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114" y="-7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handoutMaster" Target="handoutMasters/handoutMaster1.xml"/><Relationship Id="rId10" Type="http://schemas.openxmlformats.org/officeDocument/2006/relationships/customXml" Target="../customXml/item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6868FF-51C2-621C-FAE1-D3234E849B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7EF01E-C778-45B3-0851-A3C217B4C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5ACE2-AB82-4EE5-84FD-3572EEC078D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F8C35-FC75-2234-47C2-FBAECC4B8D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F478D-FEB6-9B0C-B1C2-C550C3DF6A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58A96-106B-44DD-8FA6-727300EF1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734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758" cy="51230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203" y="0"/>
            <a:ext cx="3078758" cy="51230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F3133-0386-437B-9535-38BF54350F9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16038" y="1277938"/>
            <a:ext cx="4471987" cy="3455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737" y="4926337"/>
            <a:ext cx="5682589" cy="40298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2311"/>
            <a:ext cx="3078758" cy="5123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203" y="9722311"/>
            <a:ext cx="3078758" cy="5123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EF5DE-3BE9-4756-A094-C6E0E8E9C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980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7778" y="331439"/>
            <a:ext cx="3031490" cy="824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3327562" y="1584350"/>
            <a:ext cx="4224682" cy="5578450"/>
          </a:xfrm>
          <a:prstGeom prst="rect">
            <a:avLst/>
          </a:prstGeom>
          <a:ln w="12700">
            <a:noFill/>
          </a:ln>
        </p:spPr>
        <p:txBody>
          <a:bodyPr vert="horz" wrap="square" lIns="0" tIns="91440" rIns="0" bIns="0" rtlCol="0">
            <a:spAutoFit/>
          </a:bodyPr>
          <a:lstStyle/>
          <a:p>
            <a:pPr marL="220345" algn="l">
              <a:lnSpc>
                <a:spcPct val="100000"/>
              </a:lnSpc>
              <a:spcBef>
                <a:spcPts val="459"/>
              </a:spcBef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Szomszédos munká</a:t>
            </a:r>
            <a:r>
              <a:rPr lang="hu-HU" sz="1150" spc="-20" dirty="0">
                <a:solidFill>
                  <a:srgbClr val="006060"/>
                </a:solidFill>
                <a:latin typeface="Inter"/>
                <a:cs typeface="Inter"/>
              </a:rPr>
              <a:t>k</a:t>
            </a:r>
            <a:endParaRPr lang="hu-HU" sz="1150" dirty="0">
              <a:latin typeface="Inter"/>
              <a:cs typeface="Inter"/>
            </a:endParaRPr>
          </a:p>
          <a:p>
            <a:pPr marL="220345" marR="92773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Testhelyzet / Ergonómia</a:t>
            </a: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927735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Égés/Tűz/Nyílt láng</a:t>
            </a:r>
          </a:p>
          <a:p>
            <a:pPr marL="220345" marR="92773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Kommunikációs hiba</a:t>
            </a:r>
          </a:p>
          <a:p>
            <a:pPr marL="220345" marR="927735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Leeső tárgyak</a:t>
            </a:r>
          </a:p>
          <a:p>
            <a:pPr marL="220345" marR="927735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Por/Füst/Szemcse</a:t>
            </a:r>
            <a:endParaRPr lang="hu-HU" sz="1150" dirty="0">
              <a:latin typeface="Inter"/>
              <a:cs typeface="Inter"/>
            </a:endParaRPr>
          </a:p>
          <a:p>
            <a:pPr marL="220345" marR="132651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Áramütés</a:t>
            </a:r>
            <a:endParaRPr lang="hu-HU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326515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Környezet/Időjárás</a:t>
            </a:r>
          </a:p>
          <a:p>
            <a:pPr marL="220345" marR="1326515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Esés magasból</a:t>
            </a:r>
          </a:p>
          <a:p>
            <a:pPr marL="220345" marR="132651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Nehéz kézi emelés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32651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Hidrogén</a:t>
            </a:r>
            <a:endParaRPr lang="hu-HU" sz="1150" dirty="0">
              <a:latin typeface="Inter"/>
              <a:cs typeface="Inter"/>
            </a:endParaRPr>
          </a:p>
          <a:p>
            <a:pPr marL="220345" marR="123189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Ipari Higiéniai veszélyek </a:t>
            </a: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(Ammónia, </a:t>
            </a: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Azbeszt,</a:t>
            </a:r>
            <a:r>
              <a:rPr lang="hu-HU" sz="1150" spc="-35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br>
              <a:rPr lang="en-US" sz="1150" spc="-35" dirty="0">
                <a:solidFill>
                  <a:srgbClr val="006060"/>
                </a:solidFill>
                <a:latin typeface="Inter"/>
                <a:cs typeface="Inter"/>
              </a:rPr>
            </a:b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Króm VI,</a:t>
            </a:r>
            <a:r>
              <a:rPr lang="hu-HU" sz="1150" spc="-3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Hidrogén,</a:t>
            </a:r>
            <a:r>
              <a:rPr lang="hu-HU" sz="1150" spc="-30" dirty="0">
                <a:solidFill>
                  <a:srgbClr val="006060"/>
                </a:solidFill>
                <a:latin typeface="Inter"/>
                <a:cs typeface="Inter"/>
              </a:rPr>
              <a:t> Ólom</a:t>
            </a: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)</a:t>
            </a:r>
          </a:p>
          <a:p>
            <a:pPr marL="220345" marR="123189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Zaj</a:t>
            </a:r>
            <a:endParaRPr lang="hu-HU" sz="1150" dirty="0">
              <a:latin typeface="Inter"/>
              <a:cs typeface="Inter"/>
            </a:endParaRPr>
          </a:p>
          <a:p>
            <a:pPr marL="220345" marR="98742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Becsípődés</a:t>
            </a: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987425" lvl="1" algn="l"/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Elektromos és hidraulikus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szerszám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ok</a:t>
            </a:r>
            <a:b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</a:b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Korlátozott munkaterületek</a:t>
            </a: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 algn="l"/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Elcsúszás/Botlás/elesés</a:t>
            </a:r>
          </a:p>
          <a:p>
            <a:pPr marL="220345" marR="1929130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Sugárzás</a:t>
            </a:r>
          </a:p>
          <a:p>
            <a:pPr marL="220345" marR="1929130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Teherkötözési hiba</a:t>
            </a:r>
            <a:endParaRPr lang="hu-HU" sz="1150" dirty="0">
              <a:latin typeface="Inter"/>
              <a:cs typeface="Inter"/>
            </a:endParaRPr>
          </a:p>
          <a:p>
            <a:pPr marL="220345" marR="159194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Forgó berendezés</a:t>
            </a:r>
            <a:endParaRPr lang="en-US" sz="1150" spc="-4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591945" algn="l"/>
            <a:r>
              <a:rPr lang="hu-HU" sz="1150" spc="-40" dirty="0">
                <a:solidFill>
                  <a:srgbClr val="006060"/>
                </a:solidFill>
                <a:latin typeface="Inter"/>
                <a:cs typeface="Inter"/>
              </a:rPr>
              <a:t>Éles tárgyak</a:t>
            </a:r>
          </a:p>
          <a:p>
            <a:pPr marL="220345" marR="1591945" algn="l">
              <a:lnSpc>
                <a:spcPct val="100000"/>
              </a:lnSpc>
            </a:pPr>
            <a:r>
              <a:rPr lang="hu-HU" sz="1150" spc="-40" dirty="0">
                <a:solidFill>
                  <a:srgbClr val="006060"/>
                </a:solidFill>
                <a:latin typeface="Inter"/>
                <a:cs typeface="Inter"/>
              </a:rPr>
              <a:t>Ütés</a:t>
            </a:r>
          </a:p>
          <a:p>
            <a:pPr marL="220345" marR="1591945" algn="l">
              <a:lnSpc>
                <a:spcPct val="100000"/>
              </a:lnSpc>
            </a:pPr>
            <a:r>
              <a:rPr lang="hu-HU" sz="1150" spc="-40" dirty="0">
                <a:solidFill>
                  <a:srgbClr val="006060"/>
                </a:solidFill>
                <a:latin typeface="Inter"/>
                <a:cs typeface="Inter"/>
              </a:rPr>
              <a:t>Szerszám meghibásodás</a:t>
            </a:r>
            <a:endParaRPr lang="hu-HU" sz="1150" dirty="0">
              <a:latin typeface="Inter"/>
              <a:cs typeface="Inter"/>
            </a:endParaRPr>
          </a:p>
          <a:p>
            <a:pPr marL="22034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Egyéb</a:t>
            </a:r>
            <a:r>
              <a:rPr lang="hu-HU" sz="1150" spc="-25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(Részletez</a:t>
            </a:r>
            <a:r>
              <a:rPr lang="en-US" sz="1150" spc="-10" dirty="0">
                <a:solidFill>
                  <a:srgbClr val="006060"/>
                </a:solidFill>
                <a:latin typeface="Inter"/>
                <a:cs typeface="Inter"/>
              </a:rPr>
              <a:t>ze</a:t>
            </a: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)</a:t>
            </a: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algn="l">
              <a:lnSpc>
                <a:spcPct val="100000"/>
              </a:lnSpc>
            </a:pP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algn="l">
              <a:lnSpc>
                <a:spcPct val="100000"/>
              </a:lnSpc>
            </a:pP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algn="l">
              <a:lnSpc>
                <a:spcPct val="100000"/>
              </a:lnSpc>
            </a:pP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algn="l">
              <a:lnSpc>
                <a:spcPct val="100000"/>
              </a:lnSpc>
            </a:pP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algn="l">
              <a:lnSpc>
                <a:spcPct val="100000"/>
              </a:lnSpc>
            </a:pP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algn="l">
              <a:lnSpc>
                <a:spcPct val="100000"/>
              </a:lnSpc>
            </a:pPr>
            <a:endParaRPr lang="hu-HU" sz="1150" dirty="0">
              <a:latin typeface="Inter"/>
              <a:cs typeface="Inter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62424" y="6193886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62424" y="6369146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62424" y="6544405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29000" y="1179792"/>
            <a:ext cx="2286000" cy="3077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hu-HU" sz="1900" dirty="0">
                <a:solidFill>
                  <a:srgbClr val="006060"/>
                </a:solidFill>
                <a:latin typeface="Inter"/>
                <a:cs typeface="Inter"/>
              </a:rPr>
              <a:t>Egyéb veszélyek</a:t>
            </a:r>
            <a:endParaRPr lang="hu-HU" sz="1900" dirty="0">
              <a:latin typeface="Inter"/>
              <a:cs typeface="Inter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854366" y="177209"/>
            <a:ext cx="3822481" cy="82137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R="5080" algn="ctr">
              <a:lnSpc>
                <a:spcPts val="2900"/>
              </a:lnSpc>
              <a:spcBef>
                <a:spcPts val="605"/>
              </a:spcBef>
            </a:pPr>
            <a:r>
              <a:rPr lang="hu-HU" spc="50" dirty="0"/>
              <a:t>Munkaindítási értékelő lista</a:t>
            </a:r>
            <a:r>
              <a:rPr lang="en-US" spc="50" dirty="0"/>
              <a:t> (SWAT)</a:t>
            </a:r>
            <a:endParaRPr lang="hu-HU" spc="50" dirty="0"/>
          </a:p>
        </p:txBody>
      </p:sp>
      <p:sp>
        <p:nvSpPr>
          <p:cNvPr id="10" name="object 10"/>
          <p:cNvSpPr/>
          <p:nvPr/>
        </p:nvSpPr>
        <p:spPr>
          <a:xfrm>
            <a:off x="6851739" y="2117318"/>
            <a:ext cx="3074035" cy="190500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57875" y="1928632"/>
            <a:ext cx="182498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Műszakvezető/ Munkavezető: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51739" y="2545448"/>
            <a:ext cx="3074035" cy="190500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857875" y="2356761"/>
            <a:ext cx="15241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u-HU" sz="1000" dirty="0">
                <a:solidFill>
                  <a:srgbClr val="231F20"/>
                </a:solidFill>
                <a:latin typeface="Inter"/>
                <a:cs typeface="Inter"/>
              </a:rPr>
              <a:t>Auditor</a:t>
            </a:r>
            <a:r>
              <a:rPr lang="hu-HU" sz="1000" spc="-45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hu-HU" sz="1000" dirty="0">
                <a:solidFill>
                  <a:srgbClr val="231F20"/>
                </a:solidFill>
                <a:latin typeface="Inter"/>
                <a:cs typeface="Inter"/>
              </a:rPr>
              <a:t>(ha szükséges</a:t>
            </a: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):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57874" y="5071386"/>
            <a:ext cx="1763396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u-HU" sz="1000" dirty="0">
                <a:solidFill>
                  <a:srgbClr val="231F20"/>
                </a:solidFill>
                <a:latin typeface="Inter"/>
                <a:cs typeface="Inter"/>
              </a:rPr>
              <a:t>Használt vegyi anyagok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019025"/>
              </p:ext>
            </p:extLst>
          </p:nvPr>
        </p:nvGraphicFramePr>
        <p:xfrm>
          <a:off x="6845300" y="5254089"/>
          <a:ext cx="3073400" cy="56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900343"/>
              </p:ext>
            </p:extLst>
          </p:nvPr>
        </p:nvGraphicFramePr>
        <p:xfrm>
          <a:off x="6847154" y="3112566"/>
          <a:ext cx="3076575" cy="189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1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2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3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4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5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6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7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8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9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10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839029" y="2937290"/>
            <a:ext cx="77406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Résztvevők: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18513" y="2784890"/>
            <a:ext cx="1239888" cy="33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Buddy/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Mentor/ Mentorált:</a:t>
            </a:r>
            <a:endParaRPr lang="hu-HU" sz="1000" dirty="0">
              <a:latin typeface="Inter"/>
              <a:cs typeface="Inter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112484"/>
              </p:ext>
            </p:extLst>
          </p:nvPr>
        </p:nvGraphicFramePr>
        <p:xfrm>
          <a:off x="6843565" y="175798"/>
          <a:ext cx="3059518" cy="1713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3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hu-HU" sz="10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Gyülekezési pont</a:t>
                      </a:r>
                      <a:r>
                        <a:rPr lang="hu-HU" sz="10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Vészhelyzeti</a:t>
                      </a:r>
                      <a:r>
                        <a:rPr lang="hu-HU" sz="1000" spc="-6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000" spc="-2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hívószám: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Site</a:t>
                      </a:r>
                      <a:r>
                        <a:rPr lang="hu-HU" sz="1000" spc="-4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neve</a:t>
                      </a:r>
                      <a:r>
                        <a:rPr lang="hu-HU" sz="10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/Helye: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Munkaengedély</a:t>
                      </a:r>
                      <a:r>
                        <a:rPr lang="hu-HU" sz="1000" spc="-3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000" spc="-2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#: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39370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Dátum: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hu-HU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Idő: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hu-HU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Műszak: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spc="-2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Nappal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spc="-2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Köztes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Éjszaka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6883237" y="5879978"/>
            <a:ext cx="65214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u-HU" sz="1000" dirty="0">
                <a:solidFill>
                  <a:srgbClr val="231F20"/>
                </a:solidFill>
                <a:latin typeface="Inter"/>
                <a:cs typeface="Inter"/>
              </a:rPr>
              <a:t>Lezárás</a:t>
            </a:r>
            <a:r>
              <a:rPr lang="hu-HU" sz="1000" spc="-2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55891" y="6068517"/>
            <a:ext cx="3074035" cy="1539240"/>
          </a:xfrm>
          <a:custGeom>
            <a:avLst/>
            <a:gdLst/>
            <a:ahLst/>
            <a:cxnLst/>
            <a:rect l="l" t="t" r="r" b="b"/>
            <a:pathLst>
              <a:path w="3074034" h="1539240">
                <a:moveTo>
                  <a:pt x="3073971" y="1538693"/>
                </a:moveTo>
                <a:lnTo>
                  <a:pt x="0" y="1538693"/>
                </a:lnTo>
                <a:lnTo>
                  <a:pt x="0" y="0"/>
                </a:lnTo>
                <a:lnTo>
                  <a:pt x="3073971" y="0"/>
                </a:lnTo>
                <a:lnTo>
                  <a:pt x="3073971" y="1538693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895975" y="6058427"/>
            <a:ext cx="178688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Műszakvezető aláírása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95975" y="6449907"/>
            <a:ext cx="2755900" cy="1005840"/>
          </a:xfrm>
          <a:custGeom>
            <a:avLst/>
            <a:gdLst/>
            <a:ahLst/>
            <a:cxnLst/>
            <a:rect l="l" t="t" r="r" b="b"/>
            <a:pathLst>
              <a:path w="2755900" h="1005840">
                <a:moveTo>
                  <a:pt x="0" y="0"/>
                </a:moveTo>
                <a:lnTo>
                  <a:pt x="2755392" y="0"/>
                </a:lnTo>
              </a:path>
              <a:path w="2755900" h="1005840">
                <a:moveTo>
                  <a:pt x="0" y="1005836"/>
                </a:moveTo>
                <a:lnTo>
                  <a:pt x="2755392" y="1005836"/>
                </a:lnTo>
              </a:path>
            </a:pathLst>
          </a:custGeom>
          <a:ln w="15875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895975" y="6607069"/>
            <a:ext cx="172529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hu-HU" sz="1000" dirty="0">
                <a:solidFill>
                  <a:srgbClr val="231F20"/>
                </a:solidFill>
                <a:latin typeface="Inter"/>
                <a:cs typeface="Inter"/>
              </a:rPr>
              <a:t>Kész a feladat</a:t>
            </a: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lang="hu-HU" sz="1000" dirty="0">
              <a:latin typeface="Inter"/>
              <a:cs typeface="Inter"/>
            </a:endParaRPr>
          </a:p>
          <a:p>
            <a:pPr>
              <a:lnSpc>
                <a:spcPct val="100000"/>
              </a:lnSpc>
            </a:pPr>
            <a:r>
              <a:rPr lang="hu-HU" sz="1000" dirty="0">
                <a:solidFill>
                  <a:srgbClr val="231F20"/>
                </a:solidFill>
                <a:latin typeface="Inter"/>
                <a:cs typeface="Inter"/>
              </a:rPr>
              <a:t>Volt EHS esemény</a:t>
            </a: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38160" y="6607069"/>
            <a:ext cx="70439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29845">
              <a:lnSpc>
                <a:spcPct val="100000"/>
              </a:lnSpc>
              <a:spcBef>
                <a:spcPts val="100"/>
              </a:spcBef>
            </a:pP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Igen/Nem Igen/Nem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95975" y="7064269"/>
            <a:ext cx="224218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hu-HU" sz="1000" spc="-15" dirty="0">
                <a:solidFill>
                  <a:srgbClr val="231F20"/>
                </a:solidFill>
                <a:latin typeface="Inter"/>
                <a:cs typeface="Inter"/>
              </a:rPr>
              <a:t>Ha igen, ki kapott értesítést és mikor</a:t>
            </a: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18512" y="7602718"/>
            <a:ext cx="104394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Változat 202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6</a:t>
            </a: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.01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1514" y="1219200"/>
            <a:ext cx="2687886" cy="3077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hu-HU" sz="1900" dirty="0">
                <a:solidFill>
                  <a:srgbClr val="006060"/>
                </a:solidFill>
                <a:latin typeface="Inter"/>
                <a:cs typeface="Inter"/>
              </a:rPr>
              <a:t>Életvédelmi </a:t>
            </a:r>
            <a:r>
              <a:rPr lang="en-US" sz="1900" dirty="0">
                <a:solidFill>
                  <a:srgbClr val="006060"/>
                </a:solidFill>
                <a:latin typeface="Inter"/>
                <a:cs typeface="Inter"/>
              </a:rPr>
              <a:t>S</a:t>
            </a:r>
            <a:r>
              <a:rPr lang="hu-HU" sz="1900" dirty="0">
                <a:solidFill>
                  <a:srgbClr val="006060"/>
                </a:solidFill>
                <a:latin typeface="Inter"/>
                <a:cs typeface="Inter"/>
              </a:rPr>
              <a:t>zabályok</a:t>
            </a:r>
            <a:endParaRPr lang="hu-HU" sz="1900" dirty="0">
              <a:latin typeface="Inter"/>
              <a:cs typeface="Inter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3371" y="1560087"/>
            <a:ext cx="3145578" cy="5526513"/>
          </a:xfrm>
          <a:prstGeom prst="rect">
            <a:avLst/>
          </a:prstGeom>
          <a:ln w="12700">
            <a:solidFill>
              <a:srgbClr val="006060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685800">
              <a:lnSpc>
                <a:spcPts val="1400"/>
              </a:lnSpc>
              <a:spcBef>
                <a:spcPts val="775"/>
              </a:spcBef>
            </a:pPr>
            <a:r>
              <a:rPr lang="hu-HU" sz="1200" spc="-10" dirty="0">
                <a:solidFill>
                  <a:srgbClr val="006060"/>
                </a:solidFill>
                <a:latin typeface="Inter"/>
                <a:cs typeface="Inter"/>
              </a:rPr>
              <a:t>Emelőgépek Kezelése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Tervezzük meg az emelési műveletet, felügyeljük a területet, és maradjunk távol a mozgó és felemelt terhektől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  <a:spcBef>
                <a:spcPts val="925"/>
              </a:spcBef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Magasban 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V</a:t>
            </a: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égzett 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M</a:t>
            </a: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unka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A magasból való leesés kockázatának felmérése, megelőzése és az azzal szembeni védelem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ct val="100000"/>
              </a:lnSpc>
              <a:spcBef>
                <a:spcPts val="315"/>
              </a:spcBef>
            </a:pPr>
            <a:endParaRPr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Biztonságos 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V</a:t>
            </a: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ezetés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Tervezzük meg az utazást, koncentráljunk a vezetésre, és maradjunk éberek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ct val="100000"/>
              </a:lnSpc>
              <a:spcBef>
                <a:spcPts val="140"/>
              </a:spcBef>
            </a:pPr>
            <a:endParaRPr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  <a:spcBef>
                <a:spcPts val="5"/>
              </a:spcBef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Munka 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V</a:t>
            </a: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eszélyforrások közelében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Tartsuk magunkat 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é</a:t>
            </a: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s másokat távol a veszélyforrásoktól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ct val="100000"/>
              </a:lnSpc>
              <a:spcBef>
                <a:spcPts val="130"/>
              </a:spcBef>
            </a:pPr>
            <a:endParaRPr lang="en-US"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  <a:spcBef>
                <a:spcPts val="5"/>
              </a:spcBef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A Munkavégzés Engedélyezése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A munka megkezdése előtt mérjük fel a kockázatokat, alkalmazzuk a védelmi intézkedéseket és szerezzünk engedélyt, amennyiben szükséges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ct val="100000"/>
              </a:lnSpc>
              <a:spcBef>
                <a:spcPts val="130"/>
              </a:spcBef>
            </a:pPr>
            <a:endParaRPr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Zárt terek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Mérjük fel a kockázatokat, kezeljük a veszélyeket, és szerezzünk</a:t>
            </a:r>
            <a:r>
              <a:rPr lang="hu-HU" sz="800" spc="-10" dirty="0">
                <a:solidFill>
                  <a:srgbClr val="010202"/>
                </a:solidFill>
                <a:latin typeface="Inter"/>
                <a:cs typeface="Inter"/>
              </a:rPr>
              <a:t> engedélyt a zárt terekhez</a:t>
            </a:r>
            <a:r>
              <a:rPr lang="en-US" sz="800" spc="-1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ct val="100000"/>
              </a:lnSpc>
              <a:spcBef>
                <a:spcPts val="145"/>
              </a:spcBef>
            </a:pPr>
            <a:endParaRPr lang="en-US"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Energiamentesítés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A munka megkezdése előtt végezzük el az energiamentesítést, és ellenőrizzük a nulla energiaállapot meglétét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ct val="100000"/>
              </a:lnSpc>
              <a:spcBef>
                <a:spcPts val="135"/>
              </a:spcBef>
            </a:pPr>
            <a:endParaRPr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Feszültség Alatti Munkavégzés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Alkalmazzuk a védelmi intézkedéseket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,</a:t>
            </a: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 és tartsuk be a védőtávolságokat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ct val="100000"/>
              </a:lnSpc>
              <a:spcBef>
                <a:spcPts val="135"/>
              </a:spcBef>
            </a:pPr>
            <a:endParaRPr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Tűz és Robbanás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Felügyeljük a gyújtóforrásokat, és szüntessük meg a tűz- és robbanásveszélyt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7132955"/>
            <a:ext cx="6839029" cy="639852"/>
          </a:xfrm>
          <a:custGeom>
            <a:avLst/>
            <a:gdLst/>
            <a:ahLst/>
            <a:cxnLst/>
            <a:rect l="l" t="t" r="r" b="b"/>
            <a:pathLst>
              <a:path w="6722109" h="449579">
                <a:moveTo>
                  <a:pt x="6721525" y="0"/>
                </a:moveTo>
                <a:lnTo>
                  <a:pt x="0" y="0"/>
                </a:lnTo>
                <a:lnTo>
                  <a:pt x="0" y="449173"/>
                </a:lnTo>
                <a:lnTo>
                  <a:pt x="6721525" y="449173"/>
                </a:lnTo>
                <a:lnTo>
                  <a:pt x="6721525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21858" y="7136232"/>
            <a:ext cx="6696987" cy="47320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500" dirty="0">
                <a:solidFill>
                  <a:srgbClr val="006060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CSAK</a:t>
            </a:r>
            <a:r>
              <a:rPr lang="en-US" sz="1500" dirty="0">
                <a:solidFill>
                  <a:srgbClr val="231F20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 AKKOR KEZDJÜK EL A MUNKÁT, AMIKOR BIZTONSÁGOS, </a:t>
            </a:r>
            <a:br>
              <a:rPr lang="en-US" sz="1500" dirty="0">
                <a:solidFill>
                  <a:srgbClr val="231F20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</a:br>
            <a:r>
              <a:rPr lang="en-US" sz="1500" dirty="0">
                <a:solidFill>
                  <a:srgbClr val="231F20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ÉS </a:t>
            </a:r>
            <a:r>
              <a:rPr lang="en-US" sz="1500" dirty="0">
                <a:solidFill>
                  <a:srgbClr val="006060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MEGÁLLÍTJUK</a:t>
            </a:r>
            <a:r>
              <a:rPr lang="en-US" sz="1500" dirty="0">
                <a:solidFill>
                  <a:srgbClr val="231F20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, AMIKOR </a:t>
            </a:r>
            <a:r>
              <a:rPr lang="en-US" sz="1500">
                <a:solidFill>
                  <a:srgbClr val="231F20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NEM AZ.</a:t>
            </a:r>
            <a:endParaRPr lang="en-US" sz="1500" dirty="0">
              <a:latin typeface="Inter" panose="020B0502030000000004" pitchFamily="34" charset="0"/>
              <a:ea typeface="Inter" panose="020B0502030000000004" pitchFamily="34" charset="0"/>
              <a:cs typeface="Inter" panose="020B0502030000000004" pitchFamily="34" charset="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409185" y="171877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09528" y="189395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09859" y="205642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10201" y="225203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410544" y="242757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10887" y="259002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411230" y="277266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11573" y="294790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411916" y="311724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412246" y="329879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412589" y="373724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413275" y="401606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413618" y="418071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13961" y="4341771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414291" y="452369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414634" y="4699251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414977" y="487526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415320" y="505763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15663" y="523236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416005" y="540061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10185" y="190641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10185" y="246591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10185" y="302541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10185" y="358491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10185" y="427449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10185" y="504298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10185" y="560248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10185" y="623818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10185" y="679768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5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650" y="306705"/>
            <a:ext cx="2057400" cy="453389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374650" y="1759860"/>
            <a:ext cx="387350" cy="387350"/>
            <a:chOff x="513414" y="2210879"/>
            <a:chExt cx="387350" cy="387350"/>
          </a:xfrm>
        </p:grpSpPr>
        <p:sp>
          <p:nvSpPr>
            <p:cNvPr id="63" name="object 63"/>
            <p:cNvSpPr/>
            <p:nvPr/>
          </p:nvSpPr>
          <p:spPr>
            <a:xfrm>
              <a:off x="513414" y="2210879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9708" y="2250104"/>
              <a:ext cx="242432" cy="286224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374650" y="6074938"/>
            <a:ext cx="387350" cy="387350"/>
            <a:chOff x="513414" y="6110668"/>
            <a:chExt cx="387350" cy="387350"/>
          </a:xfrm>
        </p:grpSpPr>
        <p:sp>
          <p:nvSpPr>
            <p:cNvPr id="66" name="object 66"/>
            <p:cNvSpPr/>
            <p:nvPr/>
          </p:nvSpPr>
          <p:spPr>
            <a:xfrm>
              <a:off x="513414" y="6110668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4275" y="6162000"/>
              <a:ext cx="105410" cy="297815"/>
            </a:xfrm>
            <a:custGeom>
              <a:avLst/>
              <a:gdLst/>
              <a:ahLst/>
              <a:cxnLst/>
              <a:rect l="l" t="t" r="r" b="b"/>
              <a:pathLst>
                <a:path w="105409" h="297814">
                  <a:moveTo>
                    <a:pt x="103198" y="0"/>
                  </a:moveTo>
                  <a:lnTo>
                    <a:pt x="51331" y="0"/>
                  </a:lnTo>
                  <a:lnTo>
                    <a:pt x="50162" y="838"/>
                  </a:lnTo>
                  <a:lnTo>
                    <a:pt x="49747" y="2108"/>
                  </a:lnTo>
                  <a:lnTo>
                    <a:pt x="0" y="148716"/>
                  </a:lnTo>
                  <a:lnTo>
                    <a:pt x="48" y="150088"/>
                  </a:lnTo>
                  <a:lnTo>
                    <a:pt x="1191" y="151676"/>
                  </a:lnTo>
                  <a:lnTo>
                    <a:pt x="2118" y="152158"/>
                  </a:lnTo>
                  <a:lnTo>
                    <a:pt x="49070" y="152158"/>
                  </a:lnTo>
                  <a:lnTo>
                    <a:pt x="18679" y="294106"/>
                  </a:lnTo>
                  <a:lnTo>
                    <a:pt x="18438" y="295554"/>
                  </a:lnTo>
                  <a:lnTo>
                    <a:pt x="19321" y="297052"/>
                  </a:lnTo>
                  <a:lnTo>
                    <a:pt x="19493" y="297052"/>
                  </a:lnTo>
                  <a:lnTo>
                    <a:pt x="21156" y="297637"/>
                  </a:lnTo>
                  <a:lnTo>
                    <a:pt x="22794" y="297637"/>
                  </a:lnTo>
                  <a:lnTo>
                    <a:pt x="23823" y="297052"/>
                  </a:lnTo>
                  <a:lnTo>
                    <a:pt x="24356" y="296087"/>
                  </a:lnTo>
                  <a:lnTo>
                    <a:pt x="31915" y="279768"/>
                  </a:lnTo>
                  <a:lnTo>
                    <a:pt x="27023" y="279768"/>
                  </a:lnTo>
                  <a:lnTo>
                    <a:pt x="55550" y="150088"/>
                  </a:lnTo>
                  <a:lnTo>
                    <a:pt x="55662" y="149580"/>
                  </a:lnTo>
                  <a:lnTo>
                    <a:pt x="55753" y="149059"/>
                  </a:lnTo>
                  <a:lnTo>
                    <a:pt x="55814" y="148716"/>
                  </a:lnTo>
                  <a:lnTo>
                    <a:pt x="55560" y="147815"/>
                  </a:lnTo>
                  <a:lnTo>
                    <a:pt x="54404" y="146443"/>
                  </a:lnTo>
                  <a:lnTo>
                    <a:pt x="53553" y="146049"/>
                  </a:lnTo>
                  <a:lnTo>
                    <a:pt x="7338" y="146049"/>
                  </a:lnTo>
                  <a:lnTo>
                    <a:pt x="54849" y="6108"/>
                  </a:lnTo>
                  <a:lnTo>
                    <a:pt x="104345" y="6108"/>
                  </a:lnTo>
                  <a:lnTo>
                    <a:pt x="105407" y="3162"/>
                  </a:lnTo>
                  <a:lnTo>
                    <a:pt x="105268" y="2108"/>
                  </a:lnTo>
                  <a:lnTo>
                    <a:pt x="104137" y="482"/>
                  </a:lnTo>
                  <a:lnTo>
                    <a:pt x="103198" y="0"/>
                  </a:lnTo>
                  <a:close/>
                </a:path>
                <a:path w="105409" h="297814">
                  <a:moveTo>
                    <a:pt x="104345" y="6108"/>
                  </a:moveTo>
                  <a:lnTo>
                    <a:pt x="97838" y="6108"/>
                  </a:lnTo>
                  <a:lnTo>
                    <a:pt x="56691" y="120180"/>
                  </a:lnTo>
                  <a:lnTo>
                    <a:pt x="56652" y="121716"/>
                  </a:lnTo>
                  <a:lnTo>
                    <a:pt x="57795" y="123355"/>
                  </a:lnTo>
                  <a:lnTo>
                    <a:pt x="58735" y="123837"/>
                  </a:lnTo>
                  <a:lnTo>
                    <a:pt x="96898" y="123837"/>
                  </a:lnTo>
                  <a:lnTo>
                    <a:pt x="27023" y="279768"/>
                  </a:lnTo>
                  <a:lnTo>
                    <a:pt x="31915" y="279768"/>
                  </a:lnTo>
                  <a:lnTo>
                    <a:pt x="104849" y="122313"/>
                  </a:lnTo>
                  <a:lnTo>
                    <a:pt x="105395" y="121335"/>
                  </a:lnTo>
                  <a:lnTo>
                    <a:pt x="105382" y="120180"/>
                  </a:lnTo>
                  <a:lnTo>
                    <a:pt x="104290" y="118313"/>
                  </a:lnTo>
                  <a:lnTo>
                    <a:pt x="103287" y="117728"/>
                  </a:lnTo>
                  <a:lnTo>
                    <a:pt x="64094" y="117728"/>
                  </a:lnTo>
                  <a:lnTo>
                    <a:pt x="104345" y="6108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374650" y="4883120"/>
            <a:ext cx="387350" cy="387350"/>
            <a:chOff x="513414" y="4995050"/>
            <a:chExt cx="387350" cy="387350"/>
          </a:xfrm>
        </p:grpSpPr>
        <p:sp>
          <p:nvSpPr>
            <p:cNvPr id="69" name="object 69"/>
            <p:cNvSpPr/>
            <p:nvPr/>
          </p:nvSpPr>
          <p:spPr>
            <a:xfrm>
              <a:off x="513414" y="499505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407" y="5068285"/>
              <a:ext cx="243687" cy="243674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374650" y="4118744"/>
            <a:ext cx="387350" cy="387350"/>
            <a:chOff x="513414" y="4439677"/>
            <a:chExt cx="387350" cy="387350"/>
          </a:xfrm>
        </p:grpSpPr>
        <p:sp>
          <p:nvSpPr>
            <p:cNvPr id="72" name="object 72"/>
            <p:cNvSpPr/>
            <p:nvPr/>
          </p:nvSpPr>
          <p:spPr>
            <a:xfrm>
              <a:off x="513414" y="4439677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4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49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4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437" y="4517636"/>
              <a:ext cx="224193" cy="235737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374650" y="2294872"/>
            <a:ext cx="387350" cy="387350"/>
            <a:chOff x="513414" y="2745891"/>
            <a:chExt cx="387350" cy="387350"/>
          </a:xfrm>
        </p:grpSpPr>
        <p:sp>
          <p:nvSpPr>
            <p:cNvPr id="75" name="object 75"/>
            <p:cNvSpPr/>
            <p:nvPr/>
          </p:nvSpPr>
          <p:spPr>
            <a:xfrm>
              <a:off x="513414" y="2745891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75995" y="2801581"/>
              <a:ext cx="248920" cy="267970"/>
            </a:xfrm>
            <a:custGeom>
              <a:avLst/>
              <a:gdLst/>
              <a:ahLst/>
              <a:cxnLst/>
              <a:rect l="l" t="t" r="r" b="b"/>
              <a:pathLst>
                <a:path w="248919" h="267969">
                  <a:moveTo>
                    <a:pt x="74650" y="59347"/>
                  </a:moveTo>
                  <a:lnTo>
                    <a:pt x="71666" y="55676"/>
                  </a:lnTo>
                  <a:lnTo>
                    <a:pt x="69062" y="52463"/>
                  </a:lnTo>
                  <a:lnTo>
                    <a:pt x="68834" y="52412"/>
                  </a:lnTo>
                  <a:lnTo>
                    <a:pt x="68834" y="60998"/>
                  </a:lnTo>
                  <a:lnTo>
                    <a:pt x="68834" y="74053"/>
                  </a:lnTo>
                  <a:lnTo>
                    <a:pt x="63525" y="79375"/>
                  </a:lnTo>
                  <a:lnTo>
                    <a:pt x="50469" y="79375"/>
                  </a:lnTo>
                  <a:lnTo>
                    <a:pt x="45161" y="74053"/>
                  </a:lnTo>
                  <a:lnTo>
                    <a:pt x="45161" y="60998"/>
                  </a:lnTo>
                  <a:lnTo>
                    <a:pt x="50469" y="55676"/>
                  </a:lnTo>
                  <a:lnTo>
                    <a:pt x="63525" y="55676"/>
                  </a:lnTo>
                  <a:lnTo>
                    <a:pt x="68834" y="60998"/>
                  </a:lnTo>
                  <a:lnTo>
                    <a:pt x="68834" y="52412"/>
                  </a:lnTo>
                  <a:lnTo>
                    <a:pt x="61518" y="50457"/>
                  </a:lnTo>
                  <a:lnTo>
                    <a:pt x="61518" y="1079"/>
                  </a:lnTo>
                  <a:lnTo>
                    <a:pt x="60439" y="0"/>
                  </a:lnTo>
                  <a:lnTo>
                    <a:pt x="57759" y="0"/>
                  </a:lnTo>
                  <a:lnTo>
                    <a:pt x="56680" y="1079"/>
                  </a:lnTo>
                  <a:lnTo>
                    <a:pt x="56680" y="49872"/>
                  </a:lnTo>
                  <a:lnTo>
                    <a:pt x="47091" y="50050"/>
                  </a:lnTo>
                  <a:lnTo>
                    <a:pt x="39344" y="57899"/>
                  </a:lnTo>
                  <a:lnTo>
                    <a:pt x="39344" y="77266"/>
                  </a:lnTo>
                  <a:lnTo>
                    <a:pt x="47269" y="85178"/>
                  </a:lnTo>
                  <a:lnTo>
                    <a:pt x="66725" y="85178"/>
                  </a:lnTo>
                  <a:lnTo>
                    <a:pt x="72542" y="79375"/>
                  </a:lnTo>
                  <a:lnTo>
                    <a:pt x="74650" y="77266"/>
                  </a:lnTo>
                  <a:lnTo>
                    <a:pt x="74650" y="59347"/>
                  </a:lnTo>
                  <a:close/>
                </a:path>
                <a:path w="248919" h="267969">
                  <a:moveTo>
                    <a:pt x="127635" y="249313"/>
                  </a:moveTo>
                  <a:lnTo>
                    <a:pt x="123723" y="249313"/>
                  </a:lnTo>
                  <a:lnTo>
                    <a:pt x="123710" y="249440"/>
                  </a:lnTo>
                  <a:lnTo>
                    <a:pt x="127622" y="249440"/>
                  </a:lnTo>
                  <a:lnTo>
                    <a:pt x="127635" y="249313"/>
                  </a:lnTo>
                  <a:close/>
                </a:path>
                <a:path w="248919" h="267969">
                  <a:moveTo>
                    <a:pt x="133451" y="249440"/>
                  </a:moveTo>
                  <a:lnTo>
                    <a:pt x="127622" y="249440"/>
                  </a:lnTo>
                  <a:lnTo>
                    <a:pt x="126542" y="261937"/>
                  </a:lnTo>
                  <a:lnTo>
                    <a:pt x="122631" y="261937"/>
                  </a:lnTo>
                  <a:lnTo>
                    <a:pt x="123583" y="250977"/>
                  </a:lnTo>
                  <a:lnTo>
                    <a:pt x="123647" y="250202"/>
                  </a:lnTo>
                  <a:lnTo>
                    <a:pt x="123710" y="249440"/>
                  </a:lnTo>
                  <a:lnTo>
                    <a:pt x="117868" y="249440"/>
                  </a:lnTo>
                  <a:lnTo>
                    <a:pt x="116560" y="264591"/>
                  </a:lnTo>
                  <a:lnTo>
                    <a:pt x="116497" y="265404"/>
                  </a:lnTo>
                  <a:lnTo>
                    <a:pt x="116763" y="266204"/>
                  </a:lnTo>
                  <a:lnTo>
                    <a:pt x="117868" y="267411"/>
                  </a:lnTo>
                  <a:lnTo>
                    <a:pt x="118643" y="267741"/>
                  </a:lnTo>
                  <a:lnTo>
                    <a:pt x="130708" y="267741"/>
                  </a:lnTo>
                  <a:lnTo>
                    <a:pt x="131965" y="266598"/>
                  </a:lnTo>
                  <a:lnTo>
                    <a:pt x="132372" y="261937"/>
                  </a:lnTo>
                  <a:lnTo>
                    <a:pt x="133324" y="250977"/>
                  </a:lnTo>
                  <a:lnTo>
                    <a:pt x="133388" y="250202"/>
                  </a:lnTo>
                  <a:lnTo>
                    <a:pt x="133451" y="249440"/>
                  </a:lnTo>
                  <a:close/>
                </a:path>
                <a:path w="248919" h="267969">
                  <a:moveTo>
                    <a:pt x="231838" y="249440"/>
                  </a:moveTo>
                  <a:lnTo>
                    <a:pt x="231825" y="249313"/>
                  </a:lnTo>
                  <a:lnTo>
                    <a:pt x="133464" y="249313"/>
                  </a:lnTo>
                  <a:lnTo>
                    <a:pt x="133451" y="249440"/>
                  </a:lnTo>
                  <a:lnTo>
                    <a:pt x="231838" y="249440"/>
                  </a:lnTo>
                  <a:close/>
                </a:path>
                <a:path w="248919" h="267969">
                  <a:moveTo>
                    <a:pt x="241579" y="249440"/>
                  </a:moveTo>
                  <a:lnTo>
                    <a:pt x="241566" y="249313"/>
                  </a:lnTo>
                  <a:lnTo>
                    <a:pt x="237655" y="249313"/>
                  </a:lnTo>
                  <a:lnTo>
                    <a:pt x="237667" y="249440"/>
                  </a:lnTo>
                  <a:lnTo>
                    <a:pt x="241579" y="249440"/>
                  </a:lnTo>
                  <a:close/>
                </a:path>
                <a:path w="248919" h="267969">
                  <a:moveTo>
                    <a:pt x="247408" y="249313"/>
                  </a:moveTo>
                  <a:lnTo>
                    <a:pt x="226390" y="6299"/>
                  </a:lnTo>
                  <a:lnTo>
                    <a:pt x="226148" y="3632"/>
                  </a:lnTo>
                  <a:lnTo>
                    <a:pt x="226085" y="2832"/>
                  </a:lnTo>
                  <a:lnTo>
                    <a:pt x="225983" y="1638"/>
                  </a:lnTo>
                  <a:lnTo>
                    <a:pt x="224726" y="482"/>
                  </a:lnTo>
                  <a:lnTo>
                    <a:pt x="215138" y="482"/>
                  </a:lnTo>
                  <a:lnTo>
                    <a:pt x="215138" y="56375"/>
                  </a:lnTo>
                  <a:lnTo>
                    <a:pt x="150152" y="56375"/>
                  </a:lnTo>
                  <a:lnTo>
                    <a:pt x="150685" y="50165"/>
                  </a:lnTo>
                  <a:lnTo>
                    <a:pt x="214604" y="50165"/>
                  </a:lnTo>
                  <a:lnTo>
                    <a:pt x="215138" y="56375"/>
                  </a:lnTo>
                  <a:lnTo>
                    <a:pt x="215138" y="482"/>
                  </a:lnTo>
                  <a:lnTo>
                    <a:pt x="212661" y="482"/>
                  </a:lnTo>
                  <a:lnTo>
                    <a:pt x="211874" y="825"/>
                  </a:lnTo>
                  <a:lnTo>
                    <a:pt x="210781" y="2019"/>
                  </a:lnTo>
                  <a:lnTo>
                    <a:pt x="210502" y="2832"/>
                  </a:lnTo>
                  <a:lnTo>
                    <a:pt x="214185" y="45326"/>
                  </a:lnTo>
                  <a:lnTo>
                    <a:pt x="151104" y="45326"/>
                  </a:lnTo>
                  <a:lnTo>
                    <a:pt x="154482" y="6299"/>
                  </a:lnTo>
                  <a:lnTo>
                    <a:pt x="154711" y="3632"/>
                  </a:lnTo>
                  <a:lnTo>
                    <a:pt x="154787" y="2832"/>
                  </a:lnTo>
                  <a:lnTo>
                    <a:pt x="154508" y="2019"/>
                  </a:lnTo>
                  <a:lnTo>
                    <a:pt x="153403" y="825"/>
                  </a:lnTo>
                  <a:lnTo>
                    <a:pt x="152628" y="482"/>
                  </a:lnTo>
                  <a:lnTo>
                    <a:pt x="140563" y="482"/>
                  </a:lnTo>
                  <a:lnTo>
                    <a:pt x="139306" y="1638"/>
                  </a:lnTo>
                  <a:lnTo>
                    <a:pt x="129794" y="111645"/>
                  </a:lnTo>
                  <a:lnTo>
                    <a:pt x="129692" y="112814"/>
                  </a:lnTo>
                  <a:lnTo>
                    <a:pt x="129578" y="114147"/>
                  </a:lnTo>
                  <a:lnTo>
                    <a:pt x="129476" y="115303"/>
                  </a:lnTo>
                  <a:lnTo>
                    <a:pt x="128790" y="114973"/>
                  </a:lnTo>
                  <a:lnTo>
                    <a:pt x="128790" y="123164"/>
                  </a:lnTo>
                  <a:lnTo>
                    <a:pt x="128587" y="125514"/>
                  </a:lnTo>
                  <a:lnTo>
                    <a:pt x="128485" y="126123"/>
                  </a:lnTo>
                  <a:lnTo>
                    <a:pt x="127838" y="128447"/>
                  </a:lnTo>
                  <a:lnTo>
                    <a:pt x="127101" y="128447"/>
                  </a:lnTo>
                  <a:lnTo>
                    <a:pt x="126047" y="128587"/>
                  </a:lnTo>
                  <a:lnTo>
                    <a:pt x="79946" y="128587"/>
                  </a:lnTo>
                  <a:lnTo>
                    <a:pt x="79641" y="128447"/>
                  </a:lnTo>
                  <a:lnTo>
                    <a:pt x="79387" y="128447"/>
                  </a:lnTo>
                  <a:lnTo>
                    <a:pt x="77965" y="126822"/>
                  </a:lnTo>
                  <a:lnTo>
                    <a:pt x="70891" y="118719"/>
                  </a:lnTo>
                  <a:lnTo>
                    <a:pt x="70535" y="117754"/>
                  </a:lnTo>
                  <a:lnTo>
                    <a:pt x="70535" y="104432"/>
                  </a:lnTo>
                  <a:lnTo>
                    <a:pt x="84226" y="119634"/>
                  </a:lnTo>
                  <a:lnTo>
                    <a:pt x="85026" y="119989"/>
                  </a:lnTo>
                  <a:lnTo>
                    <a:pt x="127939" y="119989"/>
                  </a:lnTo>
                  <a:lnTo>
                    <a:pt x="128536" y="121843"/>
                  </a:lnTo>
                  <a:lnTo>
                    <a:pt x="128625" y="122135"/>
                  </a:lnTo>
                  <a:lnTo>
                    <a:pt x="128689" y="122567"/>
                  </a:lnTo>
                  <a:lnTo>
                    <a:pt x="128790" y="123164"/>
                  </a:lnTo>
                  <a:lnTo>
                    <a:pt x="128790" y="114973"/>
                  </a:lnTo>
                  <a:lnTo>
                    <a:pt x="128320" y="114731"/>
                  </a:lnTo>
                  <a:lnTo>
                    <a:pt x="126936" y="114388"/>
                  </a:lnTo>
                  <a:lnTo>
                    <a:pt x="87363" y="114388"/>
                  </a:lnTo>
                  <a:lnTo>
                    <a:pt x="86817" y="114147"/>
                  </a:lnTo>
                  <a:lnTo>
                    <a:pt x="65138" y="92062"/>
                  </a:lnTo>
                  <a:lnTo>
                    <a:pt x="65138" y="100457"/>
                  </a:lnTo>
                  <a:lnTo>
                    <a:pt x="65138" y="146532"/>
                  </a:lnTo>
                  <a:lnTo>
                    <a:pt x="62039" y="146989"/>
                  </a:lnTo>
                  <a:lnTo>
                    <a:pt x="62039" y="152400"/>
                  </a:lnTo>
                  <a:lnTo>
                    <a:pt x="53898" y="160883"/>
                  </a:lnTo>
                  <a:lnTo>
                    <a:pt x="49987" y="158584"/>
                  </a:lnTo>
                  <a:lnTo>
                    <a:pt x="49987" y="166319"/>
                  </a:lnTo>
                  <a:lnTo>
                    <a:pt x="49974" y="241896"/>
                  </a:lnTo>
                  <a:lnTo>
                    <a:pt x="49669" y="245148"/>
                  </a:lnTo>
                  <a:lnTo>
                    <a:pt x="49606" y="245859"/>
                  </a:lnTo>
                  <a:lnTo>
                    <a:pt x="47104" y="249047"/>
                  </a:lnTo>
                  <a:lnTo>
                    <a:pt x="40779" y="250977"/>
                  </a:lnTo>
                  <a:lnTo>
                    <a:pt x="38277" y="250609"/>
                  </a:lnTo>
                  <a:lnTo>
                    <a:pt x="36880" y="249313"/>
                  </a:lnTo>
                  <a:lnTo>
                    <a:pt x="33858" y="246062"/>
                  </a:lnTo>
                  <a:lnTo>
                    <a:pt x="34061" y="243192"/>
                  </a:lnTo>
                  <a:lnTo>
                    <a:pt x="34163" y="241706"/>
                  </a:lnTo>
                  <a:lnTo>
                    <a:pt x="34239" y="156413"/>
                  </a:lnTo>
                  <a:lnTo>
                    <a:pt x="34810" y="156413"/>
                  </a:lnTo>
                  <a:lnTo>
                    <a:pt x="49707" y="165798"/>
                  </a:lnTo>
                  <a:lnTo>
                    <a:pt x="49987" y="166319"/>
                  </a:lnTo>
                  <a:lnTo>
                    <a:pt x="49987" y="158584"/>
                  </a:lnTo>
                  <a:lnTo>
                    <a:pt x="46304" y="156413"/>
                  </a:lnTo>
                  <a:lnTo>
                    <a:pt x="42468" y="154152"/>
                  </a:lnTo>
                  <a:lnTo>
                    <a:pt x="43700" y="154152"/>
                  </a:lnTo>
                  <a:lnTo>
                    <a:pt x="56908" y="153606"/>
                  </a:lnTo>
                  <a:lnTo>
                    <a:pt x="62039" y="152400"/>
                  </a:lnTo>
                  <a:lnTo>
                    <a:pt x="62039" y="146989"/>
                  </a:lnTo>
                  <a:lnTo>
                    <a:pt x="61963" y="111645"/>
                  </a:lnTo>
                  <a:lnTo>
                    <a:pt x="61963" y="105956"/>
                  </a:lnTo>
                  <a:lnTo>
                    <a:pt x="61963" y="97078"/>
                  </a:lnTo>
                  <a:lnTo>
                    <a:pt x="65138" y="100457"/>
                  </a:lnTo>
                  <a:lnTo>
                    <a:pt x="65138" y="92062"/>
                  </a:lnTo>
                  <a:lnTo>
                    <a:pt x="62153" y="89090"/>
                  </a:lnTo>
                  <a:lnTo>
                    <a:pt x="60274" y="88315"/>
                  </a:lnTo>
                  <a:lnTo>
                    <a:pt x="56896" y="88315"/>
                  </a:lnTo>
                  <a:lnTo>
                    <a:pt x="56896" y="93421"/>
                  </a:lnTo>
                  <a:lnTo>
                    <a:pt x="56896" y="105956"/>
                  </a:lnTo>
                  <a:lnTo>
                    <a:pt x="56896" y="111645"/>
                  </a:lnTo>
                  <a:lnTo>
                    <a:pt x="56896" y="147447"/>
                  </a:lnTo>
                  <a:lnTo>
                    <a:pt x="42748" y="148348"/>
                  </a:lnTo>
                  <a:lnTo>
                    <a:pt x="42748" y="111645"/>
                  </a:lnTo>
                  <a:lnTo>
                    <a:pt x="56896" y="111645"/>
                  </a:lnTo>
                  <a:lnTo>
                    <a:pt x="56896" y="105956"/>
                  </a:lnTo>
                  <a:lnTo>
                    <a:pt x="42748" y="105956"/>
                  </a:lnTo>
                  <a:lnTo>
                    <a:pt x="42748" y="96545"/>
                  </a:lnTo>
                  <a:lnTo>
                    <a:pt x="42748" y="93421"/>
                  </a:lnTo>
                  <a:lnTo>
                    <a:pt x="56896" y="93421"/>
                  </a:lnTo>
                  <a:lnTo>
                    <a:pt x="56896" y="88315"/>
                  </a:lnTo>
                  <a:lnTo>
                    <a:pt x="39725" y="88315"/>
                  </a:lnTo>
                  <a:lnTo>
                    <a:pt x="38468" y="88734"/>
                  </a:lnTo>
                  <a:lnTo>
                    <a:pt x="37706" y="89319"/>
                  </a:lnTo>
                  <a:lnTo>
                    <a:pt x="37706" y="96545"/>
                  </a:lnTo>
                  <a:lnTo>
                    <a:pt x="37706" y="148805"/>
                  </a:lnTo>
                  <a:lnTo>
                    <a:pt x="34239" y="148805"/>
                  </a:lnTo>
                  <a:lnTo>
                    <a:pt x="34239" y="122567"/>
                  </a:lnTo>
                  <a:lnTo>
                    <a:pt x="34239" y="113296"/>
                  </a:lnTo>
                  <a:lnTo>
                    <a:pt x="33947" y="112814"/>
                  </a:lnTo>
                  <a:lnTo>
                    <a:pt x="33096" y="112382"/>
                  </a:lnTo>
                  <a:lnTo>
                    <a:pt x="32435" y="112382"/>
                  </a:lnTo>
                  <a:lnTo>
                    <a:pt x="14643" y="125514"/>
                  </a:lnTo>
                  <a:lnTo>
                    <a:pt x="14325" y="126123"/>
                  </a:lnTo>
                  <a:lnTo>
                    <a:pt x="14262" y="163525"/>
                  </a:lnTo>
                  <a:lnTo>
                    <a:pt x="13462" y="167652"/>
                  </a:lnTo>
                  <a:lnTo>
                    <a:pt x="6311" y="167652"/>
                  </a:lnTo>
                  <a:lnTo>
                    <a:pt x="5816" y="164363"/>
                  </a:lnTo>
                  <a:lnTo>
                    <a:pt x="5816" y="121843"/>
                  </a:lnTo>
                  <a:lnTo>
                    <a:pt x="37706" y="96545"/>
                  </a:lnTo>
                  <a:lnTo>
                    <a:pt x="37706" y="89319"/>
                  </a:lnTo>
                  <a:lnTo>
                    <a:pt x="33921" y="92176"/>
                  </a:lnTo>
                  <a:lnTo>
                    <a:pt x="33921" y="13182"/>
                  </a:lnTo>
                  <a:lnTo>
                    <a:pt x="32829" y="12103"/>
                  </a:lnTo>
                  <a:lnTo>
                    <a:pt x="30162" y="12103"/>
                  </a:lnTo>
                  <a:lnTo>
                    <a:pt x="29070" y="13182"/>
                  </a:lnTo>
                  <a:lnTo>
                    <a:pt x="29070" y="95910"/>
                  </a:lnTo>
                  <a:lnTo>
                    <a:pt x="342" y="119100"/>
                  </a:lnTo>
                  <a:lnTo>
                    <a:pt x="139" y="119634"/>
                  </a:lnTo>
                  <a:lnTo>
                    <a:pt x="114" y="164363"/>
                  </a:lnTo>
                  <a:lnTo>
                    <a:pt x="0" y="169049"/>
                  </a:lnTo>
                  <a:lnTo>
                    <a:pt x="4419" y="172618"/>
                  </a:lnTo>
                  <a:lnTo>
                    <a:pt x="12738" y="173672"/>
                  </a:lnTo>
                  <a:lnTo>
                    <a:pt x="18122" y="171564"/>
                  </a:lnTo>
                  <a:lnTo>
                    <a:pt x="19024" y="167652"/>
                  </a:lnTo>
                  <a:lnTo>
                    <a:pt x="19786" y="164363"/>
                  </a:lnTo>
                  <a:lnTo>
                    <a:pt x="19900" y="146532"/>
                  </a:lnTo>
                  <a:lnTo>
                    <a:pt x="20015" y="128587"/>
                  </a:lnTo>
                  <a:lnTo>
                    <a:pt x="20091" y="128447"/>
                  </a:lnTo>
                  <a:lnTo>
                    <a:pt x="28638" y="122567"/>
                  </a:lnTo>
                  <a:lnTo>
                    <a:pt x="28575" y="214388"/>
                  </a:lnTo>
                  <a:lnTo>
                    <a:pt x="28460" y="245148"/>
                  </a:lnTo>
                  <a:lnTo>
                    <a:pt x="28359" y="248335"/>
                  </a:lnTo>
                  <a:lnTo>
                    <a:pt x="34493" y="255016"/>
                  </a:lnTo>
                  <a:lnTo>
                    <a:pt x="37503" y="256235"/>
                  </a:lnTo>
                  <a:lnTo>
                    <a:pt x="42303" y="256235"/>
                  </a:lnTo>
                  <a:lnTo>
                    <a:pt x="55575" y="168402"/>
                  </a:lnTo>
                  <a:lnTo>
                    <a:pt x="82664" y="191516"/>
                  </a:lnTo>
                  <a:lnTo>
                    <a:pt x="82778" y="191998"/>
                  </a:lnTo>
                  <a:lnTo>
                    <a:pt x="70700" y="223532"/>
                  </a:lnTo>
                  <a:lnTo>
                    <a:pt x="68630" y="228561"/>
                  </a:lnTo>
                  <a:lnTo>
                    <a:pt x="68529" y="230593"/>
                  </a:lnTo>
                  <a:lnTo>
                    <a:pt x="68427" y="232613"/>
                  </a:lnTo>
                  <a:lnTo>
                    <a:pt x="68364" y="234086"/>
                  </a:lnTo>
                  <a:lnTo>
                    <a:pt x="68262" y="236029"/>
                  </a:lnTo>
                  <a:lnTo>
                    <a:pt x="68173" y="237934"/>
                  </a:lnTo>
                  <a:lnTo>
                    <a:pt x="75577" y="243192"/>
                  </a:lnTo>
                  <a:lnTo>
                    <a:pt x="78397" y="245148"/>
                  </a:lnTo>
                  <a:lnTo>
                    <a:pt x="82461" y="245694"/>
                  </a:lnTo>
                  <a:lnTo>
                    <a:pt x="90728" y="243192"/>
                  </a:lnTo>
                  <a:lnTo>
                    <a:pt x="94132" y="239890"/>
                  </a:lnTo>
                  <a:lnTo>
                    <a:pt x="111975" y="195427"/>
                  </a:lnTo>
                  <a:lnTo>
                    <a:pt x="113931" y="190906"/>
                  </a:lnTo>
                  <a:lnTo>
                    <a:pt x="115265" y="180860"/>
                  </a:lnTo>
                  <a:lnTo>
                    <a:pt x="110578" y="177495"/>
                  </a:lnTo>
                  <a:lnTo>
                    <a:pt x="110578" y="184378"/>
                  </a:lnTo>
                  <a:lnTo>
                    <a:pt x="107022" y="192798"/>
                  </a:lnTo>
                  <a:lnTo>
                    <a:pt x="106857" y="193154"/>
                  </a:lnTo>
                  <a:lnTo>
                    <a:pt x="91059" y="232613"/>
                  </a:lnTo>
                  <a:lnTo>
                    <a:pt x="89662" y="236029"/>
                  </a:lnTo>
                  <a:lnTo>
                    <a:pt x="87363" y="238417"/>
                  </a:lnTo>
                  <a:lnTo>
                    <a:pt x="87210" y="238417"/>
                  </a:lnTo>
                  <a:lnTo>
                    <a:pt x="82664" y="239890"/>
                  </a:lnTo>
                  <a:lnTo>
                    <a:pt x="80441" y="239598"/>
                  </a:lnTo>
                  <a:lnTo>
                    <a:pt x="78524" y="238417"/>
                  </a:lnTo>
                  <a:lnTo>
                    <a:pt x="72720" y="234086"/>
                  </a:lnTo>
                  <a:lnTo>
                    <a:pt x="75844" y="225755"/>
                  </a:lnTo>
                  <a:lnTo>
                    <a:pt x="89331" y="190550"/>
                  </a:lnTo>
                  <a:lnTo>
                    <a:pt x="89103" y="189661"/>
                  </a:lnTo>
                  <a:lnTo>
                    <a:pt x="64071" y="168402"/>
                  </a:lnTo>
                  <a:lnTo>
                    <a:pt x="58775" y="163906"/>
                  </a:lnTo>
                  <a:lnTo>
                    <a:pt x="59016" y="163525"/>
                  </a:lnTo>
                  <a:lnTo>
                    <a:pt x="61417" y="160883"/>
                  </a:lnTo>
                  <a:lnTo>
                    <a:pt x="68465" y="153123"/>
                  </a:lnTo>
                  <a:lnTo>
                    <a:pt x="103301" y="179158"/>
                  </a:lnTo>
                  <a:lnTo>
                    <a:pt x="110578" y="184378"/>
                  </a:lnTo>
                  <a:lnTo>
                    <a:pt x="110578" y="177495"/>
                  </a:lnTo>
                  <a:lnTo>
                    <a:pt x="106616" y="174637"/>
                  </a:lnTo>
                  <a:lnTo>
                    <a:pt x="77825" y="153123"/>
                  </a:lnTo>
                  <a:lnTo>
                    <a:pt x="76860" y="152400"/>
                  </a:lnTo>
                  <a:lnTo>
                    <a:pt x="72047" y="148805"/>
                  </a:lnTo>
                  <a:lnTo>
                    <a:pt x="71437" y="148348"/>
                  </a:lnTo>
                  <a:lnTo>
                    <a:pt x="70535" y="147675"/>
                  </a:lnTo>
                  <a:lnTo>
                    <a:pt x="70535" y="146989"/>
                  </a:lnTo>
                  <a:lnTo>
                    <a:pt x="70535" y="126822"/>
                  </a:lnTo>
                  <a:lnTo>
                    <a:pt x="75577" y="132588"/>
                  </a:lnTo>
                  <a:lnTo>
                    <a:pt x="76771" y="133832"/>
                  </a:lnTo>
                  <a:lnTo>
                    <a:pt x="77647" y="134226"/>
                  </a:lnTo>
                  <a:lnTo>
                    <a:pt x="126644" y="134226"/>
                  </a:lnTo>
                  <a:lnTo>
                    <a:pt x="127876" y="133832"/>
                  </a:lnTo>
                  <a:lnTo>
                    <a:pt x="117970" y="248335"/>
                  </a:lnTo>
                  <a:lnTo>
                    <a:pt x="117881" y="249313"/>
                  </a:lnTo>
                  <a:lnTo>
                    <a:pt x="123723" y="249313"/>
                  </a:lnTo>
                  <a:lnTo>
                    <a:pt x="133680" y="134226"/>
                  </a:lnTo>
                  <a:lnTo>
                    <a:pt x="133705" y="133832"/>
                  </a:lnTo>
                  <a:lnTo>
                    <a:pt x="134150" y="128778"/>
                  </a:lnTo>
                  <a:lnTo>
                    <a:pt x="134162" y="128587"/>
                  </a:lnTo>
                  <a:lnTo>
                    <a:pt x="135318" y="115303"/>
                  </a:lnTo>
                  <a:lnTo>
                    <a:pt x="144741" y="6299"/>
                  </a:lnTo>
                  <a:lnTo>
                    <a:pt x="148653" y="6299"/>
                  </a:lnTo>
                  <a:lnTo>
                    <a:pt x="127723" y="248335"/>
                  </a:lnTo>
                  <a:lnTo>
                    <a:pt x="127635" y="249313"/>
                  </a:lnTo>
                  <a:lnTo>
                    <a:pt x="133464" y="249313"/>
                  </a:lnTo>
                  <a:lnTo>
                    <a:pt x="135089" y="230593"/>
                  </a:lnTo>
                  <a:lnTo>
                    <a:pt x="230200" y="230593"/>
                  </a:lnTo>
                  <a:lnTo>
                    <a:pt x="231736" y="248335"/>
                  </a:lnTo>
                  <a:lnTo>
                    <a:pt x="231825" y="249313"/>
                  </a:lnTo>
                  <a:lnTo>
                    <a:pt x="237655" y="249313"/>
                  </a:lnTo>
                  <a:lnTo>
                    <a:pt x="236042" y="230593"/>
                  </a:lnTo>
                  <a:lnTo>
                    <a:pt x="235623" y="225755"/>
                  </a:lnTo>
                  <a:lnTo>
                    <a:pt x="235089" y="219710"/>
                  </a:lnTo>
                  <a:lnTo>
                    <a:pt x="235051" y="219227"/>
                  </a:lnTo>
                  <a:lnTo>
                    <a:pt x="234670" y="214871"/>
                  </a:lnTo>
                  <a:lnTo>
                    <a:pt x="232270" y="187020"/>
                  </a:lnTo>
                  <a:lnTo>
                    <a:pt x="231851" y="182181"/>
                  </a:lnTo>
                  <a:lnTo>
                    <a:pt x="231330" y="176136"/>
                  </a:lnTo>
                  <a:lnTo>
                    <a:pt x="231279" y="175641"/>
                  </a:lnTo>
                  <a:lnTo>
                    <a:pt x="231190" y="174637"/>
                  </a:lnTo>
                  <a:lnTo>
                    <a:pt x="231114" y="173672"/>
                  </a:lnTo>
                  <a:lnTo>
                    <a:pt x="231025" y="172618"/>
                  </a:lnTo>
                  <a:lnTo>
                    <a:pt x="230911" y="171297"/>
                  </a:lnTo>
                  <a:lnTo>
                    <a:pt x="229781" y="158292"/>
                  </a:lnTo>
                  <a:lnTo>
                    <a:pt x="229781" y="225755"/>
                  </a:lnTo>
                  <a:lnTo>
                    <a:pt x="135496" y="225755"/>
                  </a:lnTo>
                  <a:lnTo>
                    <a:pt x="136029" y="219710"/>
                  </a:lnTo>
                  <a:lnTo>
                    <a:pt x="229222" y="219265"/>
                  </a:lnTo>
                  <a:lnTo>
                    <a:pt x="229768" y="225590"/>
                  </a:lnTo>
                  <a:lnTo>
                    <a:pt x="229781" y="225755"/>
                  </a:lnTo>
                  <a:lnTo>
                    <a:pt x="229781" y="158292"/>
                  </a:lnTo>
                  <a:lnTo>
                    <a:pt x="228803" y="147027"/>
                  </a:lnTo>
                  <a:lnTo>
                    <a:pt x="228803" y="214388"/>
                  </a:lnTo>
                  <a:lnTo>
                    <a:pt x="136448" y="214871"/>
                  </a:lnTo>
                  <a:lnTo>
                    <a:pt x="138849" y="187020"/>
                  </a:lnTo>
                  <a:lnTo>
                    <a:pt x="226441" y="187020"/>
                  </a:lnTo>
                  <a:lnTo>
                    <a:pt x="228803" y="214388"/>
                  </a:lnTo>
                  <a:lnTo>
                    <a:pt x="228803" y="147027"/>
                  </a:lnTo>
                  <a:lnTo>
                    <a:pt x="228498" y="143510"/>
                  </a:lnTo>
                  <a:lnTo>
                    <a:pt x="228092" y="138671"/>
                  </a:lnTo>
                  <a:lnTo>
                    <a:pt x="227698" y="134226"/>
                  </a:lnTo>
                  <a:lnTo>
                    <a:pt x="227672" y="133832"/>
                  </a:lnTo>
                  <a:lnTo>
                    <a:pt x="227558" y="132588"/>
                  </a:lnTo>
                  <a:lnTo>
                    <a:pt x="227533" y="132334"/>
                  </a:lnTo>
                  <a:lnTo>
                    <a:pt x="227228" y="128778"/>
                  </a:lnTo>
                  <a:lnTo>
                    <a:pt x="227139" y="127749"/>
                  </a:lnTo>
                  <a:lnTo>
                    <a:pt x="226021" y="114808"/>
                  </a:lnTo>
                  <a:lnTo>
                    <a:pt x="226021" y="182181"/>
                  </a:lnTo>
                  <a:lnTo>
                    <a:pt x="139268" y="182181"/>
                  </a:lnTo>
                  <a:lnTo>
                    <a:pt x="139788" y="176136"/>
                  </a:lnTo>
                  <a:lnTo>
                    <a:pt x="225450" y="175679"/>
                  </a:lnTo>
                  <a:lnTo>
                    <a:pt x="225907" y="180860"/>
                  </a:lnTo>
                  <a:lnTo>
                    <a:pt x="226021" y="182181"/>
                  </a:lnTo>
                  <a:lnTo>
                    <a:pt x="226021" y="114808"/>
                  </a:lnTo>
                  <a:lnTo>
                    <a:pt x="225031" y="103339"/>
                  </a:lnTo>
                  <a:lnTo>
                    <a:pt x="225031" y="170802"/>
                  </a:lnTo>
                  <a:lnTo>
                    <a:pt x="140208" y="171297"/>
                  </a:lnTo>
                  <a:lnTo>
                    <a:pt x="142621" y="143510"/>
                  </a:lnTo>
                  <a:lnTo>
                    <a:pt x="222669" y="143510"/>
                  </a:lnTo>
                  <a:lnTo>
                    <a:pt x="225031" y="170802"/>
                  </a:lnTo>
                  <a:lnTo>
                    <a:pt x="225031" y="103339"/>
                  </a:lnTo>
                  <a:lnTo>
                    <a:pt x="224942" y="102298"/>
                  </a:lnTo>
                  <a:lnTo>
                    <a:pt x="224523" y="97447"/>
                  </a:lnTo>
                  <a:lnTo>
                    <a:pt x="224167" y="93421"/>
                  </a:lnTo>
                  <a:lnTo>
                    <a:pt x="224066" y="92176"/>
                  </a:lnTo>
                  <a:lnTo>
                    <a:pt x="223951" y="90919"/>
                  </a:lnTo>
                  <a:lnTo>
                    <a:pt x="223583" y="86563"/>
                  </a:lnTo>
                  <a:lnTo>
                    <a:pt x="222250" y="71183"/>
                  </a:lnTo>
                  <a:lnTo>
                    <a:pt x="222250" y="138671"/>
                  </a:lnTo>
                  <a:lnTo>
                    <a:pt x="143040" y="138671"/>
                  </a:lnTo>
                  <a:lnTo>
                    <a:pt x="143421" y="134226"/>
                  </a:lnTo>
                  <a:lnTo>
                    <a:pt x="143459" y="133832"/>
                  </a:lnTo>
                  <a:lnTo>
                    <a:pt x="143560" y="132588"/>
                  </a:lnTo>
                  <a:lnTo>
                    <a:pt x="143586" y="132334"/>
                  </a:lnTo>
                  <a:lnTo>
                    <a:pt x="221729" y="132588"/>
                  </a:lnTo>
                  <a:lnTo>
                    <a:pt x="222250" y="138671"/>
                  </a:lnTo>
                  <a:lnTo>
                    <a:pt x="222250" y="71183"/>
                  </a:lnTo>
                  <a:lnTo>
                    <a:pt x="221386" y="61214"/>
                  </a:lnTo>
                  <a:lnTo>
                    <a:pt x="221310" y="60337"/>
                  </a:lnTo>
                  <a:lnTo>
                    <a:pt x="221310" y="127749"/>
                  </a:lnTo>
                  <a:lnTo>
                    <a:pt x="144005" y="127495"/>
                  </a:lnTo>
                  <a:lnTo>
                    <a:pt x="146177" y="102298"/>
                  </a:lnTo>
                  <a:lnTo>
                    <a:pt x="219113" y="102298"/>
                  </a:lnTo>
                  <a:lnTo>
                    <a:pt x="221119" y="125514"/>
                  </a:lnTo>
                  <a:lnTo>
                    <a:pt x="221234" y="126822"/>
                  </a:lnTo>
                  <a:lnTo>
                    <a:pt x="221310" y="127749"/>
                  </a:lnTo>
                  <a:lnTo>
                    <a:pt x="221310" y="60337"/>
                  </a:lnTo>
                  <a:lnTo>
                    <a:pt x="220967" y="56375"/>
                  </a:lnTo>
                  <a:lnTo>
                    <a:pt x="220433" y="50165"/>
                  </a:lnTo>
                  <a:lnTo>
                    <a:pt x="220014" y="45326"/>
                  </a:lnTo>
                  <a:lnTo>
                    <a:pt x="218694" y="30073"/>
                  </a:lnTo>
                  <a:lnTo>
                    <a:pt x="218694" y="97447"/>
                  </a:lnTo>
                  <a:lnTo>
                    <a:pt x="146596" y="97447"/>
                  </a:lnTo>
                  <a:lnTo>
                    <a:pt x="146939" y="93421"/>
                  </a:lnTo>
                  <a:lnTo>
                    <a:pt x="147053" y="92176"/>
                  </a:lnTo>
                  <a:lnTo>
                    <a:pt x="147116" y="91401"/>
                  </a:lnTo>
                  <a:lnTo>
                    <a:pt x="218122" y="90957"/>
                  </a:lnTo>
                  <a:lnTo>
                    <a:pt x="218503" y="95262"/>
                  </a:lnTo>
                  <a:lnTo>
                    <a:pt x="218617" y="96545"/>
                  </a:lnTo>
                  <a:lnTo>
                    <a:pt x="218694" y="97447"/>
                  </a:lnTo>
                  <a:lnTo>
                    <a:pt x="218694" y="30073"/>
                  </a:lnTo>
                  <a:lnTo>
                    <a:pt x="217703" y="18630"/>
                  </a:lnTo>
                  <a:lnTo>
                    <a:pt x="217703" y="86080"/>
                  </a:lnTo>
                  <a:lnTo>
                    <a:pt x="147535" y="86563"/>
                  </a:lnTo>
                  <a:lnTo>
                    <a:pt x="149733" y="61214"/>
                  </a:lnTo>
                  <a:lnTo>
                    <a:pt x="215557" y="61214"/>
                  </a:lnTo>
                  <a:lnTo>
                    <a:pt x="217703" y="86080"/>
                  </a:lnTo>
                  <a:lnTo>
                    <a:pt x="217703" y="18630"/>
                  </a:lnTo>
                  <a:lnTo>
                    <a:pt x="216636" y="6299"/>
                  </a:lnTo>
                  <a:lnTo>
                    <a:pt x="220548" y="6299"/>
                  </a:lnTo>
                  <a:lnTo>
                    <a:pt x="241477" y="248335"/>
                  </a:lnTo>
                  <a:lnTo>
                    <a:pt x="241566" y="249313"/>
                  </a:lnTo>
                  <a:lnTo>
                    <a:pt x="247408" y="249313"/>
                  </a:lnTo>
                  <a:close/>
                </a:path>
                <a:path w="248919" h="267969">
                  <a:moveTo>
                    <a:pt x="248793" y="265404"/>
                  </a:moveTo>
                  <a:lnTo>
                    <a:pt x="248500" y="261937"/>
                  </a:lnTo>
                  <a:lnTo>
                    <a:pt x="247548" y="250977"/>
                  </a:lnTo>
                  <a:lnTo>
                    <a:pt x="247484" y="250202"/>
                  </a:lnTo>
                  <a:lnTo>
                    <a:pt x="247421" y="249440"/>
                  </a:lnTo>
                  <a:lnTo>
                    <a:pt x="241579" y="249440"/>
                  </a:lnTo>
                  <a:lnTo>
                    <a:pt x="242658" y="261937"/>
                  </a:lnTo>
                  <a:lnTo>
                    <a:pt x="238747" y="261937"/>
                  </a:lnTo>
                  <a:lnTo>
                    <a:pt x="237794" y="250977"/>
                  </a:lnTo>
                  <a:lnTo>
                    <a:pt x="237731" y="250202"/>
                  </a:lnTo>
                  <a:lnTo>
                    <a:pt x="237667" y="249440"/>
                  </a:lnTo>
                  <a:lnTo>
                    <a:pt x="231838" y="249440"/>
                  </a:lnTo>
                  <a:lnTo>
                    <a:pt x="233146" y="264591"/>
                  </a:lnTo>
                  <a:lnTo>
                    <a:pt x="233222" y="265404"/>
                  </a:lnTo>
                  <a:lnTo>
                    <a:pt x="233324" y="266598"/>
                  </a:lnTo>
                  <a:lnTo>
                    <a:pt x="234569" y="267741"/>
                  </a:lnTo>
                  <a:lnTo>
                    <a:pt x="246646" y="267741"/>
                  </a:lnTo>
                  <a:lnTo>
                    <a:pt x="247421" y="267411"/>
                  </a:lnTo>
                  <a:lnTo>
                    <a:pt x="248526" y="266204"/>
                  </a:lnTo>
                  <a:lnTo>
                    <a:pt x="248793" y="265404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7" name="object 7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4650" y="2873042"/>
            <a:ext cx="387337" cy="387350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374650" y="6630310"/>
            <a:ext cx="387350" cy="387350"/>
            <a:chOff x="513414" y="6666040"/>
            <a:chExt cx="387350" cy="387350"/>
          </a:xfrm>
        </p:grpSpPr>
        <p:sp>
          <p:nvSpPr>
            <p:cNvPr id="79" name="object 79"/>
            <p:cNvSpPr/>
            <p:nvPr/>
          </p:nvSpPr>
          <p:spPr>
            <a:xfrm>
              <a:off x="513414" y="666604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00288" y="6721023"/>
              <a:ext cx="217804" cy="271780"/>
            </a:xfrm>
            <a:custGeom>
              <a:avLst/>
              <a:gdLst/>
              <a:ahLst/>
              <a:cxnLst/>
              <a:rect l="l" t="t" r="r" b="b"/>
              <a:pathLst>
                <a:path w="217805" h="271779">
                  <a:moveTo>
                    <a:pt x="88321" y="0"/>
                  </a:moveTo>
                  <a:lnTo>
                    <a:pt x="87102" y="292"/>
                  </a:lnTo>
                  <a:lnTo>
                    <a:pt x="85502" y="1993"/>
                  </a:lnTo>
                  <a:lnTo>
                    <a:pt x="85298" y="3238"/>
                  </a:lnTo>
                  <a:lnTo>
                    <a:pt x="85768" y="4305"/>
                  </a:lnTo>
                  <a:lnTo>
                    <a:pt x="92350" y="26717"/>
                  </a:lnTo>
                  <a:lnTo>
                    <a:pt x="90783" y="44054"/>
                  </a:lnTo>
                  <a:lnTo>
                    <a:pt x="83366" y="58503"/>
                  </a:lnTo>
                  <a:lnTo>
                    <a:pt x="64501" y="81807"/>
                  </a:lnTo>
                  <a:lnTo>
                    <a:pt x="56963" y="92473"/>
                  </a:lnTo>
                  <a:lnTo>
                    <a:pt x="50623" y="104784"/>
                  </a:lnTo>
                  <a:lnTo>
                    <a:pt x="46322" y="119278"/>
                  </a:lnTo>
                  <a:lnTo>
                    <a:pt x="38596" y="112738"/>
                  </a:lnTo>
                  <a:lnTo>
                    <a:pt x="32824" y="106402"/>
                  </a:lnTo>
                  <a:lnTo>
                    <a:pt x="27374" y="98729"/>
                  </a:lnTo>
                  <a:lnTo>
                    <a:pt x="26383" y="98196"/>
                  </a:lnTo>
                  <a:lnTo>
                    <a:pt x="1667" y="158635"/>
                  </a:lnTo>
                  <a:lnTo>
                    <a:pt x="0" y="185179"/>
                  </a:lnTo>
                  <a:lnTo>
                    <a:pt x="4298" y="209664"/>
                  </a:lnTo>
                  <a:lnTo>
                    <a:pt x="24118" y="244460"/>
                  </a:lnTo>
                  <a:lnTo>
                    <a:pt x="59086" y="271081"/>
                  </a:lnTo>
                  <a:lnTo>
                    <a:pt x="61041" y="271195"/>
                  </a:lnTo>
                  <a:lnTo>
                    <a:pt x="62057" y="270624"/>
                  </a:lnTo>
                  <a:lnTo>
                    <a:pt x="63315" y="268211"/>
                  </a:lnTo>
                  <a:lnTo>
                    <a:pt x="62769" y="266458"/>
                  </a:lnTo>
                  <a:lnTo>
                    <a:pt x="46927" y="256941"/>
                  </a:lnTo>
                  <a:lnTo>
                    <a:pt x="32301" y="244667"/>
                  </a:lnTo>
                  <a:lnTo>
                    <a:pt x="19323" y="228470"/>
                  </a:lnTo>
                  <a:lnTo>
                    <a:pt x="9848" y="207937"/>
                  </a:lnTo>
                  <a:lnTo>
                    <a:pt x="5835" y="185464"/>
                  </a:lnTo>
                  <a:lnTo>
                    <a:pt x="7159" y="161061"/>
                  </a:lnTo>
                  <a:lnTo>
                    <a:pt x="13802" y="134810"/>
                  </a:lnTo>
                  <a:lnTo>
                    <a:pt x="25748" y="106794"/>
                  </a:lnTo>
                  <a:lnTo>
                    <a:pt x="29205" y="111176"/>
                  </a:lnTo>
                  <a:lnTo>
                    <a:pt x="33935" y="116325"/>
                  </a:lnTo>
                  <a:lnTo>
                    <a:pt x="39877" y="121674"/>
                  </a:lnTo>
                  <a:lnTo>
                    <a:pt x="47808" y="127165"/>
                  </a:lnTo>
                  <a:lnTo>
                    <a:pt x="48849" y="127215"/>
                  </a:lnTo>
                  <a:lnTo>
                    <a:pt x="50615" y="126364"/>
                  </a:lnTo>
                  <a:lnTo>
                    <a:pt x="51224" y="125526"/>
                  </a:lnTo>
                  <a:lnTo>
                    <a:pt x="54980" y="109563"/>
                  </a:lnTo>
                  <a:lnTo>
                    <a:pt x="60999" y="96974"/>
                  </a:lnTo>
                  <a:lnTo>
                    <a:pt x="68562" y="86036"/>
                  </a:lnTo>
                  <a:lnTo>
                    <a:pt x="87526" y="62649"/>
                  </a:lnTo>
                  <a:lnTo>
                    <a:pt x="95511" y="47998"/>
                  </a:lnTo>
                  <a:lnTo>
                    <a:pt x="98364" y="30419"/>
                  </a:lnTo>
                  <a:lnTo>
                    <a:pt x="93668" y="8280"/>
                  </a:lnTo>
                  <a:lnTo>
                    <a:pt x="104819" y="13516"/>
                  </a:lnTo>
                  <a:lnTo>
                    <a:pt x="140176" y="43829"/>
                  </a:lnTo>
                  <a:lnTo>
                    <a:pt x="147696" y="65985"/>
                  </a:lnTo>
                  <a:lnTo>
                    <a:pt x="146970" y="77635"/>
                  </a:lnTo>
                  <a:lnTo>
                    <a:pt x="144298" y="88565"/>
                  </a:lnTo>
                  <a:lnTo>
                    <a:pt x="141117" y="97069"/>
                  </a:lnTo>
                  <a:lnTo>
                    <a:pt x="137670" y="103834"/>
                  </a:lnTo>
                  <a:lnTo>
                    <a:pt x="126548" y="121767"/>
                  </a:lnTo>
                  <a:lnTo>
                    <a:pt x="125799" y="131394"/>
                  </a:lnTo>
                  <a:lnTo>
                    <a:pt x="157055" y="155824"/>
                  </a:lnTo>
                  <a:lnTo>
                    <a:pt x="166173" y="153620"/>
                  </a:lnTo>
                  <a:lnTo>
                    <a:pt x="173449" y="149148"/>
                  </a:lnTo>
                  <a:lnTo>
                    <a:pt x="179404" y="142206"/>
                  </a:lnTo>
                  <a:lnTo>
                    <a:pt x="183115" y="134708"/>
                  </a:lnTo>
                  <a:lnTo>
                    <a:pt x="184552" y="126821"/>
                  </a:lnTo>
                  <a:lnTo>
                    <a:pt x="183685" y="118706"/>
                  </a:lnTo>
                  <a:lnTo>
                    <a:pt x="191557" y="126789"/>
                  </a:lnTo>
                  <a:lnTo>
                    <a:pt x="199214" y="137810"/>
                  </a:lnTo>
                  <a:lnTo>
                    <a:pt x="205752" y="151475"/>
                  </a:lnTo>
                  <a:lnTo>
                    <a:pt x="210266" y="167487"/>
                  </a:lnTo>
                  <a:lnTo>
                    <a:pt x="211808" y="185504"/>
                  </a:lnTo>
                  <a:lnTo>
                    <a:pt x="208869" y="206686"/>
                  </a:lnTo>
                  <a:lnTo>
                    <a:pt x="199197" y="230048"/>
                  </a:lnTo>
                  <a:lnTo>
                    <a:pt x="180536" y="254609"/>
                  </a:lnTo>
                  <a:lnTo>
                    <a:pt x="179418" y="255765"/>
                  </a:lnTo>
                  <a:lnTo>
                    <a:pt x="179456" y="257606"/>
                  </a:lnTo>
                  <a:lnTo>
                    <a:pt x="181768" y="259829"/>
                  </a:lnTo>
                  <a:lnTo>
                    <a:pt x="183609" y="259803"/>
                  </a:lnTo>
                  <a:lnTo>
                    <a:pt x="184714" y="258648"/>
                  </a:lnTo>
                  <a:lnTo>
                    <a:pt x="204378" y="232721"/>
                  </a:lnTo>
                  <a:lnTo>
                    <a:pt x="214554" y="208000"/>
                  </a:lnTo>
                  <a:lnTo>
                    <a:pt x="217627" y="185546"/>
                  </a:lnTo>
                  <a:lnTo>
                    <a:pt x="215981" y="166420"/>
                  </a:lnTo>
                  <a:lnTo>
                    <a:pt x="200568" y="129036"/>
                  </a:lnTo>
                  <a:lnTo>
                    <a:pt x="177551" y="107962"/>
                  </a:lnTo>
                  <a:lnTo>
                    <a:pt x="176205" y="108229"/>
                  </a:lnTo>
                  <a:lnTo>
                    <a:pt x="174491" y="110083"/>
                  </a:lnTo>
                  <a:lnTo>
                    <a:pt x="174338" y="111467"/>
                  </a:lnTo>
                  <a:lnTo>
                    <a:pt x="174960" y="112560"/>
                  </a:lnTo>
                  <a:lnTo>
                    <a:pt x="178631" y="123375"/>
                  </a:lnTo>
                  <a:lnTo>
                    <a:pt x="156174" y="150110"/>
                  </a:lnTo>
                  <a:lnTo>
                    <a:pt x="148189" y="149900"/>
                  </a:lnTo>
                  <a:lnTo>
                    <a:pt x="140759" y="147675"/>
                  </a:lnTo>
                  <a:lnTo>
                    <a:pt x="136175" y="145465"/>
                  </a:lnTo>
                  <a:lnTo>
                    <a:pt x="130879" y="140931"/>
                  </a:lnTo>
                  <a:lnTo>
                    <a:pt x="132238" y="123647"/>
                  </a:lnTo>
                  <a:lnTo>
                    <a:pt x="142703" y="106737"/>
                  </a:lnTo>
                  <a:lnTo>
                    <a:pt x="146373" y="99537"/>
                  </a:lnTo>
                  <a:lnTo>
                    <a:pt x="149805" y="90406"/>
                  </a:lnTo>
                  <a:lnTo>
                    <a:pt x="152672" y="78714"/>
                  </a:lnTo>
                  <a:lnTo>
                    <a:pt x="153468" y="65722"/>
                  </a:lnTo>
                  <a:lnTo>
                    <a:pt x="150942" y="53057"/>
                  </a:lnTo>
                  <a:lnTo>
                    <a:pt x="126725" y="20812"/>
                  </a:lnTo>
                  <a:lnTo>
                    <a:pt x="103065" y="6131"/>
                  </a:lnTo>
                  <a:lnTo>
                    <a:pt x="88321" y="0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248" y="6882458"/>
              <a:ext cx="106410" cy="104305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4650" y="3430850"/>
            <a:ext cx="387337" cy="38735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4650" y="5440929"/>
            <a:ext cx="387337" cy="387350"/>
          </a:xfrm>
          <a:prstGeom prst="rect">
            <a:avLst/>
          </a:prstGeom>
        </p:spPr>
      </p:pic>
      <p:sp>
        <p:nvSpPr>
          <p:cNvPr id="86" name="object 42">
            <a:extLst>
              <a:ext uri="{FF2B5EF4-FFF2-40B4-BE49-F238E27FC236}">
                <a16:creationId xmlns:a16="http://schemas.microsoft.com/office/drawing/2014/main" id="{7B44C4DD-9C57-DF0B-138A-31AD4BF76FBA}"/>
              </a:ext>
            </a:extLst>
          </p:cNvPr>
          <p:cNvSpPr/>
          <p:nvPr/>
        </p:nvSpPr>
        <p:spPr>
          <a:xfrm>
            <a:off x="3415662" y="346030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50CE82E-CCF5-B85B-568F-5A5EB378316A}"/>
              </a:ext>
            </a:extLst>
          </p:cNvPr>
          <p:cNvSpPr/>
          <p:nvPr/>
        </p:nvSpPr>
        <p:spPr>
          <a:xfrm>
            <a:off x="3327562" y="1577755"/>
            <a:ext cx="3440953" cy="5508845"/>
          </a:xfrm>
          <a:prstGeom prst="rect">
            <a:avLst/>
          </a:prstGeom>
          <a:noFill/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10" name="object 51">
            <a:extLst>
              <a:ext uri="{FF2B5EF4-FFF2-40B4-BE49-F238E27FC236}">
                <a16:creationId xmlns:a16="http://schemas.microsoft.com/office/drawing/2014/main" id="{C01933C8-964A-3FE6-FCE5-881E0F6E345F}"/>
              </a:ext>
            </a:extLst>
          </p:cNvPr>
          <p:cNvSpPr/>
          <p:nvPr/>
        </p:nvSpPr>
        <p:spPr>
          <a:xfrm>
            <a:off x="3409185" y="555301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51">
            <a:extLst>
              <a:ext uri="{FF2B5EF4-FFF2-40B4-BE49-F238E27FC236}">
                <a16:creationId xmlns:a16="http://schemas.microsoft.com/office/drawing/2014/main" id="{E6268F6F-9C2A-1EE1-F56F-AD420999584A}"/>
              </a:ext>
            </a:extLst>
          </p:cNvPr>
          <p:cNvSpPr/>
          <p:nvPr/>
        </p:nvSpPr>
        <p:spPr>
          <a:xfrm>
            <a:off x="3404933" y="574863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51">
            <a:extLst>
              <a:ext uri="{FF2B5EF4-FFF2-40B4-BE49-F238E27FC236}">
                <a16:creationId xmlns:a16="http://schemas.microsoft.com/office/drawing/2014/main" id="{6AE80CD4-CE8B-226A-F794-1C93FEE861F6}"/>
              </a:ext>
            </a:extLst>
          </p:cNvPr>
          <p:cNvSpPr/>
          <p:nvPr/>
        </p:nvSpPr>
        <p:spPr>
          <a:xfrm>
            <a:off x="3397250" y="592778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911051"/>
              </p:ext>
            </p:extLst>
          </p:nvPr>
        </p:nvGraphicFramePr>
        <p:xfrm>
          <a:off x="381000" y="518685"/>
          <a:ext cx="9224010" cy="6641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338">
                  <a:extLst>
                    <a:ext uri="{9D8B030D-6E8A-4147-A177-3AD203B41FA5}">
                      <a16:colId xmlns:a16="http://schemas.microsoft.com/office/drawing/2014/main" val="1525188567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3132338470"/>
                    </a:ext>
                  </a:extLst>
                </a:gridCol>
              </a:tblGrid>
              <a:tr h="471915">
                <a:tc>
                  <a:txBody>
                    <a:bodyPr/>
                    <a:lstStyle/>
                    <a:p>
                      <a:pPr marL="3873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hu-HU" sz="1200" spc="-20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MI </a:t>
                      </a:r>
                      <a:r>
                        <a:rPr lang="hu-HU" sz="1200" spc="-15" noProof="0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a feladat</a:t>
                      </a:r>
                      <a:r>
                        <a:rPr lang="hu-HU" sz="12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lang="hu-HU" sz="1200" spc="-3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20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(rövid leírás</a:t>
                      </a:r>
                      <a:r>
                        <a:rPr lang="hu-HU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lang="hu-HU" sz="1200" noProof="0" dirty="0">
                        <a:latin typeface="Inter"/>
                        <a:cs typeface="Inter"/>
                      </a:endParaRPr>
                    </a:p>
                    <a:p>
                      <a:pPr marL="187960" marR="432434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lang="hu-HU" sz="700" b="1" i="1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PL: Távolítsa el a kompresszort a GT21-ről; </a:t>
                      </a:r>
                      <a:br>
                        <a:rPr lang="en-US" sz="700" b="1" i="1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</a:br>
                      <a:r>
                        <a:rPr lang="hu-HU" sz="700" b="1" i="1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HP burkolat lecsavarozása</a:t>
                      </a:r>
                      <a:endParaRPr lang="hu-HU" sz="700" noProof="0" dirty="0">
                        <a:latin typeface="Inter Semi Bold"/>
                        <a:cs typeface="Inter Semi Bold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8572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hu-HU" sz="1200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HOGYAN</a:t>
                      </a:r>
                      <a:r>
                        <a:rPr lang="hu-HU" sz="1200" spc="-15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200" spc="-15" noProof="0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fogom csinálni</a:t>
                      </a:r>
                      <a:r>
                        <a:rPr lang="hu-HU" sz="12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lang="hu-HU" sz="1200" spc="-1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20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(a feladat részletei</a:t>
                      </a:r>
                      <a:r>
                        <a:rPr lang="hu-HU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lang="hu-HU" sz="1200" noProof="0" dirty="0">
                        <a:latin typeface="Inter"/>
                        <a:cs typeface="Inter"/>
                      </a:endParaRPr>
                    </a:p>
                    <a:p>
                      <a:pPr marL="194310">
                        <a:lnSpc>
                          <a:spcPts val="835"/>
                        </a:lnSpc>
                      </a:pPr>
                      <a:r>
                        <a:rPr lang="hu-HU" sz="700" b="1" i="1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Fontolja meg, milyen energiaforrásokra, készségekre, engedélyekre, eszközökre és felszerelésre van szüksége a feladat elvégzéséhez</a:t>
                      </a:r>
                      <a:endParaRPr lang="hu-HU" sz="700" noProof="0" dirty="0">
                        <a:latin typeface="Inter Semi Bold"/>
                        <a:cs typeface="Inter Semi Bold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 gridSpan="5"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hu-HU" sz="12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 feladathoz használt dokumentumok</a:t>
                      </a:r>
                      <a:r>
                        <a:rPr lang="hu-HU" sz="1200" spc="-4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(Karikáz</a:t>
                      </a:r>
                      <a:r>
                        <a:rPr lang="en-US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za</a:t>
                      </a:r>
                      <a:r>
                        <a:rPr lang="hu-HU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 be)</a:t>
                      </a:r>
                      <a:r>
                        <a:rPr lang="hu-HU" sz="12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lang="hu-HU" sz="1200" noProof="0" dirty="0">
                        <a:latin typeface="Inter"/>
                        <a:cs typeface="Inter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lang="hu-HU" sz="1200" noProof="0" dirty="0">
                        <a:latin typeface="Times New Roman"/>
                        <a:cs typeface="Times New Roman"/>
                      </a:endParaRPr>
                    </a:p>
                    <a:p>
                      <a:pPr marL="2764155" marR="105410" indent="-2588260">
                        <a:lnSpc>
                          <a:spcPct val="37500"/>
                        </a:lnSpc>
                        <a:tabLst>
                          <a:tab pos="1221740" algn="l"/>
                          <a:tab pos="2080895" algn="l"/>
                          <a:tab pos="2764155" algn="l"/>
                          <a:tab pos="4801235" algn="l"/>
                          <a:tab pos="5621020" algn="l"/>
                          <a:tab pos="7188200" algn="l"/>
                          <a:tab pos="8375650" algn="l"/>
                        </a:tabLst>
                      </a:pPr>
                      <a:r>
                        <a:rPr lang="hu-HU" sz="8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Munkautasítás	Live</a:t>
                      </a:r>
                      <a:r>
                        <a:rPr lang="hu-HU" sz="800" spc="-4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8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Outage</a:t>
                      </a:r>
                      <a:r>
                        <a:rPr lang="hu-HU" sz="8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Rajzok	</a:t>
                      </a:r>
                      <a:r>
                        <a:rPr lang="hu-HU" sz="1200" baseline="41666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Módosítási utasítás</a:t>
                      </a:r>
                      <a:r>
                        <a:rPr lang="hu-HU" sz="1200" spc="-7" baseline="41666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200" spc="-15" baseline="41666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(FMI)</a:t>
                      </a:r>
                      <a:r>
                        <a:rPr lang="hu-HU" sz="1200" baseline="41666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lang="hu-HU" sz="8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Emelési terv	Kockázatelemzés (TRA)	Használati útmutató	</a:t>
                      </a:r>
                      <a:r>
                        <a:rPr lang="en-US" sz="8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                </a:t>
                      </a:r>
                      <a:r>
                        <a:rPr lang="hu-HU" sz="8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vagy</a:t>
                      </a:r>
                      <a:r>
                        <a:rPr lang="hu-HU" sz="8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Technkai információs levél</a:t>
                      </a:r>
                      <a:r>
                        <a:rPr lang="hu-HU" sz="800" spc="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8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(TIL)</a:t>
                      </a:r>
                      <a:endParaRPr lang="hu-HU" sz="800" noProof="0" dirty="0">
                        <a:latin typeface="Inter"/>
                        <a:cs typeface="Inter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hu-HU" sz="1200" spc="-20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MI</a:t>
                      </a:r>
                      <a:r>
                        <a:rPr lang="hu-HU" sz="1200" spc="-30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200" spc="-3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okozhat sérülést? </a:t>
                      </a:r>
                      <a:r>
                        <a:rPr lang="hu-HU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(Veszélyek)</a:t>
                      </a:r>
                      <a:endParaRPr lang="hu-HU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hu-HU" sz="1200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HOGYAN </a:t>
                      </a:r>
                      <a:r>
                        <a:rPr lang="hu-HU" sz="1200" spc="-30" noProof="0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tudom megelőzni a sérülést</a:t>
                      </a:r>
                      <a:r>
                        <a:rPr lang="hu-HU" sz="12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lang="hu-HU" sz="1200" spc="-2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(Ellenőrző intézkedések/mérséklés)</a:t>
                      </a:r>
                      <a:endParaRPr lang="hu-HU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hu-HU" sz="12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 feladat újragondolásának időpontja:</a:t>
                      </a:r>
                      <a:endParaRPr lang="hu-HU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lang="hu-HU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lang="hu-HU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lang="hu-HU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lang="hu-HU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0" y="7314539"/>
            <a:ext cx="10058400" cy="458470"/>
          </a:xfrm>
          <a:custGeom>
            <a:avLst/>
            <a:gdLst/>
            <a:ahLst/>
            <a:cxnLst/>
            <a:rect l="l" t="t" r="r" b="b"/>
            <a:pathLst>
              <a:path w="10058400" h="458470">
                <a:moveTo>
                  <a:pt x="10058400" y="0"/>
                </a:moveTo>
                <a:lnTo>
                  <a:pt x="0" y="0"/>
                </a:lnTo>
                <a:lnTo>
                  <a:pt x="0" y="457860"/>
                </a:lnTo>
                <a:lnTo>
                  <a:pt x="10058400" y="457860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4804" y="7425471"/>
            <a:ext cx="9296400" cy="2423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500" dirty="0">
                <a:solidFill>
                  <a:srgbClr val="006060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CSAK</a:t>
            </a:r>
            <a:r>
              <a:rPr lang="en-US" sz="1500" dirty="0">
                <a:solidFill>
                  <a:srgbClr val="231F20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 AKKOR KEZDJÜK EL A MUNKÁT, AMIKOR BIZTONSÁGOS, ÉS </a:t>
            </a:r>
            <a:r>
              <a:rPr lang="en-US" sz="1500" dirty="0">
                <a:solidFill>
                  <a:srgbClr val="006060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MEGÁLLÍTJUK</a:t>
            </a:r>
            <a:r>
              <a:rPr lang="en-US" sz="1500" dirty="0">
                <a:solidFill>
                  <a:srgbClr val="231F20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, AMIKOR </a:t>
            </a:r>
            <a:r>
              <a:rPr lang="en-US" sz="1500">
                <a:solidFill>
                  <a:srgbClr val="231F20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NEM AZ.</a:t>
            </a:r>
            <a:endParaRPr sz="1500" dirty="0">
              <a:latin typeface="Inter Semi Bold" panose="02000703000000020004" pitchFamily="50" charset="0"/>
              <a:ea typeface="Inter Semi Bold" panose="02000703000000020004" pitchFamily="50" charset="0"/>
              <a:cs typeface="Inter Semi Bold" panose="02000703000000020004" pitchFamily="50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0058400" cy="451484"/>
          </a:xfrm>
          <a:custGeom>
            <a:avLst/>
            <a:gdLst/>
            <a:ahLst/>
            <a:cxnLst/>
            <a:rect l="l" t="t" r="r" b="b"/>
            <a:pathLst>
              <a:path w="10058400" h="451484">
                <a:moveTo>
                  <a:pt x="10058400" y="0"/>
                </a:moveTo>
                <a:lnTo>
                  <a:pt x="0" y="0"/>
                </a:lnTo>
                <a:lnTo>
                  <a:pt x="0" y="451218"/>
                </a:lnTo>
                <a:lnTo>
                  <a:pt x="10058400" y="451218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19400" y="104555"/>
            <a:ext cx="4794147" cy="2423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AZ </a:t>
            </a:r>
            <a:r>
              <a:rPr lang="en-US" sz="1500" b="1" spc="-10" dirty="0">
                <a:solidFill>
                  <a:srgbClr val="005F60"/>
                </a:solidFill>
                <a:latin typeface="Inter Semi Bold"/>
                <a:cs typeface="Inter Semi Bold"/>
              </a:rPr>
              <a:t>EGYÉNI VÉDŐESZKÖZ </a:t>
            </a:r>
            <a:r>
              <a:rPr lang="en-US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AZ UTOLSÓ </a:t>
            </a:r>
            <a:r>
              <a:rPr lang="en-US" sz="1500" b="1" spc="-10" dirty="0">
                <a:solidFill>
                  <a:srgbClr val="005F60"/>
                </a:solidFill>
                <a:latin typeface="Inter Semi Bold"/>
                <a:cs typeface="Inter Semi Bold"/>
              </a:rPr>
              <a:t>VÉDVONAL</a:t>
            </a:r>
            <a:endParaRPr sz="1500" b="1" spc="-10" dirty="0">
              <a:solidFill>
                <a:srgbClr val="005F60"/>
              </a:solidFill>
              <a:latin typeface="Inter Semi Bold"/>
              <a:cs typeface="Inter Semi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836DC-6E53-F686-C978-8FE8557252C8}"/>
              </a:ext>
            </a:extLst>
          </p:cNvPr>
          <p:cNvSpPr txBox="1"/>
          <p:nvPr/>
        </p:nvSpPr>
        <p:spPr>
          <a:xfrm>
            <a:off x="8610600" y="2057400"/>
            <a:ext cx="762000" cy="305211"/>
          </a:xfrm>
          <a:prstGeom prst="rect">
            <a:avLst/>
          </a:prstGeom>
          <a:ln w="12700">
            <a:noFill/>
          </a:ln>
        </p:spPr>
        <p:txBody>
          <a:bodyPr vert="horz" wrap="square" lIns="0" tIns="58419" rIns="0" bIns="0" rtlCol="0">
            <a:spAutoFit/>
          </a:bodyPr>
          <a:lstStyle/>
          <a:p>
            <a:pPr marL="220345" algn="l">
              <a:lnSpc>
                <a:spcPct val="100000"/>
              </a:lnSpc>
              <a:spcBef>
                <a:spcPts val="459"/>
              </a:spcBef>
            </a:pPr>
            <a:r>
              <a:rPr lang="hu-HU" sz="800" dirty="0">
                <a:solidFill>
                  <a:schemeClr val="tx1"/>
                </a:solidFill>
                <a:latin typeface="Inter"/>
                <a:cs typeface="Inter"/>
              </a:rPr>
              <a:t>Egyik sem</a:t>
            </a:r>
            <a:br>
              <a:rPr lang="hu-HU" sz="8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hu-HU" sz="800" dirty="0">
                <a:solidFill>
                  <a:schemeClr val="tx1"/>
                </a:solidFill>
                <a:latin typeface="Inter"/>
                <a:cs typeface="Inter"/>
              </a:rPr>
              <a:t>(Indokolja)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ln w="12700">
          <a:solidFill>
            <a:srgbClr val="006060"/>
          </a:solidFill>
        </a:ln>
      </a:spPr>
      <a:bodyPr vert="horz" wrap="square" lIns="0" tIns="58419" rIns="0" bIns="0" rtlCol="0">
        <a:spAutoFit/>
      </a:bodyPr>
      <a:lstStyle>
        <a:defPPr marL="220345" algn="l">
          <a:lnSpc>
            <a:spcPct val="100000"/>
          </a:lnSpc>
          <a:spcBef>
            <a:spcPts val="459"/>
          </a:spcBef>
          <a:defRPr sz="1150" dirty="0" err="1" smtClean="0">
            <a:solidFill>
              <a:srgbClr val="006060"/>
            </a:solidFill>
            <a:latin typeface="Inter"/>
            <a:cs typeface="Inter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 xsi:nil="true"/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1.0</Nomenclature>
  </documentManagement>
</p:properties>
</file>

<file path=customXml/itemProps1.xml><?xml version="1.0" encoding="utf-8"?>
<ds:datastoreItem xmlns:ds="http://schemas.openxmlformats.org/officeDocument/2006/customXml" ds:itemID="{9DAA5BB7-02A2-43C1-9B97-49E6FB35C3D2}"/>
</file>

<file path=customXml/itemProps2.xml><?xml version="1.0" encoding="utf-8"?>
<ds:datastoreItem xmlns:ds="http://schemas.openxmlformats.org/officeDocument/2006/customXml" ds:itemID="{C18571F3-98DC-48A1-B1AC-137652C746FA}"/>
</file>

<file path=customXml/itemProps3.xml><?xml version="1.0" encoding="utf-8"?>
<ds:datastoreItem xmlns:ds="http://schemas.openxmlformats.org/officeDocument/2006/customXml" ds:itemID="{06082FA2-DBEF-490A-9D2E-F7D9742678B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</TotalTime>
  <Words>497</Words>
  <Application>Microsoft Office PowerPoint</Application>
  <PresentationFormat>Custom</PresentationFormat>
  <Paragraphs>102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Calibri</vt:lpstr>
      <vt:lpstr>Inter</vt:lpstr>
      <vt:lpstr>Inter Semi Bold</vt:lpstr>
      <vt:lpstr>Times New Roman</vt:lpstr>
      <vt:lpstr>Office Theme</vt:lpstr>
      <vt:lpstr>Munkaindítási értékelő lista (SWAT)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CS22444-02 GEV_SWAT_8.5x11_Card_Front_R1</dc:title>
  <dc:creator>Tajti, Kornel (GE Vernova)</dc:creator>
  <cp:lastModifiedBy>Stevensne Szaday, Edit (GE Vernova)</cp:lastModifiedBy>
  <cp:revision>20</cp:revision>
  <cp:lastPrinted>2025-10-28T16:22:29Z</cp:lastPrinted>
  <dcterms:created xsi:type="dcterms:W3CDTF">2024-12-17T21:19:02Z</dcterms:created>
  <dcterms:modified xsi:type="dcterms:W3CDTF">2025-12-03T11:31:38Z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2024-12-17T00:00:00Z</vt:filetime>
  </property>
  <property fmtid="{D5CDD505-2E9C-101B-9397-08002B2CF9AE}" pid="3" name="Creator">
    <vt:lpwstr>Adobe Illustrator 29.1 (Windows)</vt:lpwstr>
  </property>
  <property fmtid="{D5CDD505-2E9C-101B-9397-08002B2CF9AE}" pid="4" name="LastSaved">
    <vt:filetime>2024-12-17T00:00:00Z</vt:filetime>
  </property>
  <property fmtid="{D5CDD505-2E9C-101B-9397-08002B2CF9AE}" pid="5" name="Producer">
    <vt:lpwstr>Adobe PDF library 17.00</vt:lpwstr>
  </property>
  <property fmtid="{D5CDD505-2E9C-101B-9397-08002B2CF9AE}" pid="6" name="ContentTypeId">
    <vt:lpwstr>0x010100AABA2F64D6E2C740A2EFD32F6136F44B</vt:lpwstr>
  </property>
</Properties>
</file>