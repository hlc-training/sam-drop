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0058400" cy="7772400"/>
  <p:notesSz cx="7104063" cy="1023461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11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handoutMaster" Target="handoutMasters/handoutMaster1.xml"/><Relationship Id="rId10" Type="http://schemas.openxmlformats.org/officeDocument/2006/relationships/customXml" Target="../customXml/item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6868FF-51C2-621C-FAE1-D3234E849B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EF01E-C778-45B3-0851-A3C217B4C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5ACE2-AB82-4EE5-84FD-3572EEC078D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3F8C35-FC75-2234-47C2-FBAECC4B8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F478D-FEB6-9B0C-B1C2-C550C3DF6A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8A96-106B-44DD-8FA6-727300EF1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0734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203" y="0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F3133-0386-437B-9535-38BF54350F98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6038" y="1277938"/>
            <a:ext cx="4471987" cy="3455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737" y="4926337"/>
            <a:ext cx="5682589" cy="40298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2311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203" y="9722311"/>
            <a:ext cx="3078758" cy="5123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1EF5DE-3BE9-4756-A094-C6E0E8E9C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98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3327562" y="1584350"/>
            <a:ext cx="4224682" cy="5578450"/>
          </a:xfrm>
          <a:prstGeom prst="rect">
            <a:avLst/>
          </a:prstGeom>
          <a:ln w="12700">
            <a:noFill/>
          </a:ln>
        </p:spPr>
        <p:txBody>
          <a:bodyPr vert="horz" wrap="square" lIns="0" tIns="91440" rIns="0" bIns="0" rtlCol="0">
            <a:spAutoFit/>
          </a:bodyPr>
          <a:lstStyle/>
          <a:p>
            <a:pPr marL="220345" algn="l">
              <a:lnSpc>
                <a:spcPct val="100000"/>
              </a:lnSpc>
              <a:spcBef>
                <a:spcPts val="459"/>
              </a:spcBef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Szomszédos munká</a:t>
            </a:r>
            <a:r>
              <a:rPr lang="hu-HU" sz="1150" spc="-20" dirty="0">
                <a:solidFill>
                  <a:srgbClr val="006060"/>
                </a:solidFill>
                <a:latin typeface="Inter"/>
                <a:cs typeface="Inter"/>
              </a:rPr>
              <a:t>k</a:t>
            </a:r>
            <a:endParaRPr lang="hu-HU" sz="1150" dirty="0">
              <a:latin typeface="Inter"/>
              <a:cs typeface="Inter"/>
            </a:endParaRPr>
          </a:p>
          <a:p>
            <a:pPr marL="220345" marR="92773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Testhelyzet / Ergonómia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Égés/Tűz/Nyílt láng</a:t>
            </a:r>
          </a:p>
          <a:p>
            <a:pPr marL="220345" marR="92773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Kommunikációs hiba</a:t>
            </a:r>
          </a:p>
          <a:p>
            <a:pPr marL="220345" marR="92773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Leeső tárgyak</a:t>
            </a:r>
          </a:p>
          <a:p>
            <a:pPr marL="220345" marR="92773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Por/Füst/Szemcse</a:t>
            </a:r>
            <a:endParaRPr lang="hu-HU" sz="1150" dirty="0">
              <a:latin typeface="Inter"/>
              <a:cs typeface="Inter"/>
            </a:endParaRPr>
          </a:p>
          <a:p>
            <a:pPr marL="220345" marR="132651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Áramütés</a:t>
            </a:r>
            <a:endParaRPr lang="hu-HU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32651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Környezet/Időjárás</a:t>
            </a:r>
          </a:p>
          <a:p>
            <a:pPr marL="220345" marR="1326515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Esés magasból</a:t>
            </a:r>
          </a:p>
          <a:p>
            <a:pPr marL="220345" marR="132651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Nehéz kézi emelés</a:t>
            </a:r>
            <a:endParaRPr lang="en-US" sz="11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32651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Hidrogén</a:t>
            </a:r>
            <a:endParaRPr lang="hu-HU" sz="1150" dirty="0">
              <a:latin typeface="Inter"/>
              <a:cs typeface="Inter"/>
            </a:endParaRPr>
          </a:p>
          <a:p>
            <a:pPr marL="220345" marR="123189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Ipari Higiéniai veszélyek 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(Ammónia, </a:t>
            </a: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Azbeszt,</a:t>
            </a:r>
            <a:r>
              <a:rPr lang="hu-HU" sz="1150" spc="-3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br>
              <a:rPr lang="en-US" sz="1150" spc="-35" dirty="0">
                <a:solidFill>
                  <a:srgbClr val="006060"/>
                </a:solidFill>
                <a:latin typeface="Inter"/>
                <a:cs typeface="Inter"/>
              </a:rPr>
            </a:b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Króm VI,</a:t>
            </a:r>
            <a:r>
              <a:rPr lang="hu-HU" sz="1150" spc="-3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Hidrogén,</a:t>
            </a:r>
            <a:r>
              <a:rPr lang="hu-HU" sz="1150" spc="-30" dirty="0">
                <a:solidFill>
                  <a:srgbClr val="006060"/>
                </a:solidFill>
                <a:latin typeface="Inter"/>
                <a:cs typeface="Inter"/>
              </a:rPr>
              <a:t> Ólom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</a:p>
          <a:p>
            <a:pPr marL="220345" marR="123189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Zaj</a:t>
            </a:r>
            <a:endParaRPr lang="hu-HU" sz="1150" dirty="0">
              <a:latin typeface="Inter"/>
              <a:cs typeface="Inter"/>
            </a:endParaRPr>
          </a:p>
          <a:p>
            <a:pPr marL="220345" marR="98742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Becsípődés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87425" lvl="1" algn="l"/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Elektromos és hidraulikus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szerszám</a:t>
            </a:r>
            <a: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  <a:t>ok</a:t>
            </a:r>
            <a:br>
              <a:rPr lang="en-US" sz="1150" dirty="0">
                <a:solidFill>
                  <a:srgbClr val="006060"/>
                </a:solidFill>
                <a:latin typeface="Inter"/>
                <a:cs typeface="Inter"/>
              </a:rPr>
            </a:b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Korlátozott munkaterületek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 algn="l"/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Elcsúszás/Botlás/elesés</a:t>
            </a:r>
          </a:p>
          <a:p>
            <a:pPr marL="220345" marR="1929130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Sugárzás</a:t>
            </a:r>
          </a:p>
          <a:p>
            <a:pPr marL="220345" marR="1929130" algn="l">
              <a:lnSpc>
                <a:spcPct val="100000"/>
              </a:lnSpc>
            </a:pP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Teherkötözési hiba</a:t>
            </a:r>
            <a:endParaRPr lang="hu-HU" sz="1150" dirty="0">
              <a:latin typeface="Inter"/>
              <a:cs typeface="Inter"/>
            </a:endParaRPr>
          </a:p>
          <a:p>
            <a:pPr marL="220345" marR="159194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Forgó berendezés</a:t>
            </a:r>
            <a:endParaRPr lang="en-US" sz="1150" spc="-4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591945" algn="l"/>
            <a:r>
              <a:rPr lang="hu-HU" sz="1150" spc="-40" dirty="0">
                <a:solidFill>
                  <a:srgbClr val="006060"/>
                </a:solidFill>
                <a:latin typeface="Inter"/>
                <a:cs typeface="Inter"/>
              </a:rPr>
              <a:t>Éles tárgyak</a:t>
            </a:r>
          </a:p>
          <a:p>
            <a:pPr marL="220345" marR="1591945" algn="l">
              <a:lnSpc>
                <a:spcPct val="100000"/>
              </a:lnSpc>
            </a:pPr>
            <a:r>
              <a:rPr lang="hu-HU" sz="1150" spc="-40" dirty="0">
                <a:solidFill>
                  <a:srgbClr val="006060"/>
                </a:solidFill>
                <a:latin typeface="Inter"/>
                <a:cs typeface="Inter"/>
              </a:rPr>
              <a:t>Ütés</a:t>
            </a:r>
          </a:p>
          <a:p>
            <a:pPr marL="220345" marR="1591945" algn="l">
              <a:lnSpc>
                <a:spcPct val="100000"/>
              </a:lnSpc>
            </a:pPr>
            <a:r>
              <a:rPr lang="hu-HU" sz="1150" spc="-40" dirty="0">
                <a:solidFill>
                  <a:srgbClr val="006060"/>
                </a:solidFill>
                <a:latin typeface="Inter"/>
                <a:cs typeface="Inter"/>
              </a:rPr>
              <a:t>Szerszám meghibásodás</a:t>
            </a:r>
            <a:endParaRPr lang="hu-HU" sz="1150" dirty="0"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r>
              <a:rPr lang="hu-HU" sz="1150" dirty="0">
                <a:solidFill>
                  <a:srgbClr val="006060"/>
                </a:solidFill>
                <a:latin typeface="Inter"/>
                <a:cs typeface="Inter"/>
              </a:rPr>
              <a:t>Egyéb</a:t>
            </a:r>
            <a:r>
              <a:rPr lang="hu-HU" sz="1150" spc="-2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(Részletez</a:t>
            </a:r>
            <a:r>
              <a:rPr lang="en-US" sz="1150" spc="-10" dirty="0">
                <a:solidFill>
                  <a:srgbClr val="006060"/>
                </a:solidFill>
                <a:latin typeface="Inter"/>
                <a:cs typeface="Inter"/>
              </a:rPr>
              <a:t>ze</a:t>
            </a:r>
            <a:r>
              <a:rPr lang="hu-HU" sz="1150" spc="-1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en-US" sz="11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algn="l">
              <a:lnSpc>
                <a:spcPct val="100000"/>
              </a:lnSpc>
            </a:pPr>
            <a:endParaRPr lang="hu-HU" sz="1150" dirty="0">
              <a:latin typeface="Inter"/>
              <a:cs typeface="Inter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62424" y="6193886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62424" y="6369146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62424" y="6544405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29000" y="1179792"/>
            <a:ext cx="2286000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hu-HU" sz="1900" dirty="0">
                <a:solidFill>
                  <a:srgbClr val="006060"/>
                </a:solidFill>
                <a:latin typeface="Inter"/>
                <a:cs typeface="Inter"/>
              </a:rPr>
              <a:t>Egyéb veszélyek</a:t>
            </a:r>
            <a:endParaRPr lang="hu-HU" sz="1900" dirty="0">
              <a:latin typeface="Inter"/>
              <a:cs typeface="Inter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854366" y="177209"/>
            <a:ext cx="3822481" cy="8213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R="5080" algn="ctr">
              <a:lnSpc>
                <a:spcPts val="2900"/>
              </a:lnSpc>
              <a:spcBef>
                <a:spcPts val="605"/>
              </a:spcBef>
            </a:pPr>
            <a:r>
              <a:rPr lang="hu-HU" spc="50" dirty="0"/>
              <a:t>Munkaindítási értékelő lista</a:t>
            </a:r>
            <a:r>
              <a:rPr lang="en-US" spc="50" dirty="0"/>
              <a:t> (SWAT)</a:t>
            </a:r>
            <a:endParaRPr lang="hu-HU" spc="50" dirty="0"/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18249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Műszakvezető/ Munkavezető: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5241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Auditor</a:t>
            </a:r>
            <a:r>
              <a:rPr lang="hu-HU" sz="1000" spc="-4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(ha szükséges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):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7874" y="5071386"/>
            <a:ext cx="1763396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Használt vegyi anyagok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019025"/>
              </p:ext>
            </p:extLst>
          </p:nvPr>
        </p:nvGraphicFramePr>
        <p:xfrm>
          <a:off x="6845300" y="5254089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729854"/>
              </p:ext>
            </p:extLst>
          </p:nvPr>
        </p:nvGraphicFramePr>
        <p:xfrm>
          <a:off x="6847154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5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3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5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7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9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 cap="flat" cmpd="sng" algn="ctr">
                      <a:solidFill>
                        <a:srgbClr val="005F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77406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Résztvevők: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18513" y="2784890"/>
            <a:ext cx="1239888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Buddy/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Mentor/ Mentorált:</a:t>
            </a:r>
            <a:endParaRPr lang="hu-HU" sz="1000" dirty="0">
              <a:latin typeface="Inter"/>
              <a:cs typeface="Inter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112484"/>
              </p:ext>
            </p:extLst>
          </p:nvPr>
        </p:nvGraphicFramePr>
        <p:xfrm>
          <a:off x="6843565" y="175798"/>
          <a:ext cx="3059518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3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Gyülekezési pont</a:t>
                      </a: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Vészhelyzeti</a:t>
                      </a:r>
                      <a:r>
                        <a:rPr lang="hu-HU" sz="1000" spc="-6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hívószám: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Site</a:t>
                      </a:r>
                      <a:r>
                        <a:rPr lang="hu-HU" sz="1000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neve</a:t>
                      </a: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/Helye: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Munkaengedély</a:t>
                      </a:r>
                      <a:r>
                        <a:rPr lang="hu-HU" sz="1000" spc="-3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Dátum: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hu-HU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Idő: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hu-HU" sz="1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Műszak: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Nappal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2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Köztes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hu-HU" sz="10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Éjszaka</a:t>
                      </a:r>
                      <a:endParaRPr lang="hu-HU" sz="1000" noProof="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65214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Lezárás</a:t>
            </a:r>
            <a:r>
              <a:rPr lang="hu-HU"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855891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17868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Műszakvezető aláírása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17252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Kész a feladat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lang="hu-HU" sz="1000" dirty="0">
              <a:latin typeface="Inter"/>
              <a:cs typeface="Inter"/>
            </a:endParaRPr>
          </a:p>
          <a:p>
            <a:pPr>
              <a:lnSpc>
                <a:spcPct val="100000"/>
              </a:lnSpc>
            </a:pPr>
            <a:r>
              <a:rPr lang="hu-HU" sz="1000" dirty="0">
                <a:solidFill>
                  <a:srgbClr val="231F20"/>
                </a:solidFill>
                <a:latin typeface="Inter"/>
                <a:cs typeface="Inter"/>
              </a:rPr>
              <a:t>Volt EHS esemény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38160" y="6607069"/>
            <a:ext cx="7043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29845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Igen/Nem Igen/Nem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24218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hu-HU" sz="1000" spc="-15" dirty="0">
                <a:solidFill>
                  <a:srgbClr val="231F20"/>
                </a:solidFill>
                <a:latin typeface="Inter"/>
                <a:cs typeface="Inter"/>
              </a:rPr>
              <a:t>Ha igen, ki kapott értesítést és mikor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Változat 202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6</a:t>
            </a:r>
            <a:r>
              <a:rPr lang="hu-HU" sz="1000" spc="-10" dirty="0">
                <a:solidFill>
                  <a:srgbClr val="231F20"/>
                </a:solidFill>
                <a:latin typeface="Inter"/>
                <a:cs typeface="Inter"/>
              </a:rPr>
              <a:t>.01</a:t>
            </a:r>
            <a:endParaRPr lang="hu-HU" sz="1000" dirty="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1514" y="1219200"/>
            <a:ext cx="2687886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hu-HU" sz="1900" dirty="0">
                <a:solidFill>
                  <a:srgbClr val="006060"/>
                </a:solidFill>
                <a:latin typeface="Inter"/>
                <a:cs typeface="Inter"/>
              </a:rPr>
              <a:t>Életvédelmi </a:t>
            </a:r>
            <a:r>
              <a:rPr lang="en-US" sz="1900" dirty="0">
                <a:solidFill>
                  <a:srgbClr val="006060"/>
                </a:solidFill>
                <a:latin typeface="Inter"/>
                <a:cs typeface="Inter"/>
              </a:rPr>
              <a:t>S</a:t>
            </a:r>
            <a:r>
              <a:rPr lang="hu-HU" sz="1900" dirty="0">
                <a:solidFill>
                  <a:srgbClr val="006060"/>
                </a:solidFill>
                <a:latin typeface="Inter"/>
                <a:cs typeface="Inter"/>
              </a:rPr>
              <a:t>zabályok</a:t>
            </a:r>
            <a:endParaRPr lang="hu-HU" sz="1900" dirty="0">
              <a:latin typeface="Inter"/>
              <a:cs typeface="Inter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3371" y="1560087"/>
            <a:ext cx="3145578" cy="5526513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685800">
              <a:lnSpc>
                <a:spcPts val="1400"/>
              </a:lnSpc>
              <a:spcBef>
                <a:spcPts val="775"/>
              </a:spcBef>
            </a:pPr>
            <a:r>
              <a:rPr lang="hu-HU" sz="1200" spc="-10" dirty="0">
                <a:solidFill>
                  <a:srgbClr val="006060"/>
                </a:solidFill>
                <a:latin typeface="Inter"/>
                <a:cs typeface="Inter"/>
              </a:rPr>
              <a:t>Emelőgépek Kezelése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Tervezzük meg az emelési műveletet, felügyeljük a területet, és maradjunk távol a mozgó és felemelt terhektől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  <a:spcBef>
                <a:spcPts val="925"/>
              </a:spcBef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Magasban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V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égzett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M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unka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 magasból való leesés kockázatának felmérése, megelőzése és az azzal szembeni védelem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315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Biztonságos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V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ezetés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Tervezzük meg az utazást, koncentráljunk a vezetésre, és maradjunk éberek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40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  <a:spcBef>
                <a:spcPts val="5"/>
              </a:spcBef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Munka 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V</a:t>
            </a: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eszélyforrások közelében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Tartsuk magunkat 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é</a:t>
            </a: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s másokat távol a veszélyforrásoktól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0"/>
              </a:spcBef>
            </a:pPr>
            <a:endParaRPr lang="en-US"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  <a:spcBef>
                <a:spcPts val="5"/>
              </a:spcBef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A Munkavégzés Engedélyezése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 munka megkezdése előtt mérjük fel a kockázatokat, alkalmazzuk a védelmi intézkedéseket és szerezzünk engedélyt, amennyiben szükséges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0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Zárt terek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Mérjük fel a kockázatokat, kezeljük a veszélyeket, és szerezzünk</a:t>
            </a:r>
            <a:r>
              <a:rPr lang="hu-HU" sz="800" spc="-10" dirty="0">
                <a:solidFill>
                  <a:srgbClr val="010202"/>
                </a:solidFill>
                <a:latin typeface="Inter"/>
                <a:cs typeface="Inter"/>
              </a:rPr>
              <a:t> engedélyt a zárt terekhez</a:t>
            </a:r>
            <a:r>
              <a:rPr lang="en-US" sz="800" spc="-1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45"/>
              </a:spcBef>
            </a:pPr>
            <a:endParaRPr lang="en-US"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Energiamentesítés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 munka megkezdése előtt végezzük el az energiamentesítést, és ellenőrizzük a nulla energiaállapot meglétét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Feszültség Alatti Munkavégzés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Alkalmazzuk a védelmi intézkedéseket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</a:t>
            </a: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 és tartsuk be a védőtávolságokat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  <a:p>
            <a:pPr marL="685800">
              <a:lnSpc>
                <a:spcPct val="100000"/>
              </a:lnSpc>
              <a:spcBef>
                <a:spcPts val="135"/>
              </a:spcBef>
            </a:pPr>
            <a:endParaRPr sz="800" dirty="0">
              <a:latin typeface="Inter"/>
              <a:cs typeface="Inter"/>
            </a:endParaRPr>
          </a:p>
          <a:p>
            <a:pPr marL="685800">
              <a:lnSpc>
                <a:spcPts val="1400"/>
              </a:lnSpc>
            </a:pPr>
            <a:r>
              <a:rPr lang="hu-HU" sz="1200" dirty="0">
                <a:solidFill>
                  <a:srgbClr val="006060"/>
                </a:solidFill>
                <a:latin typeface="Inter"/>
                <a:cs typeface="Inter"/>
              </a:rPr>
              <a:t>Tűz és Robbanás</a:t>
            </a:r>
            <a:endParaRPr lang="hu-HU" sz="1200" dirty="0">
              <a:latin typeface="Inter"/>
              <a:cs typeface="Inter"/>
            </a:endParaRPr>
          </a:p>
          <a:p>
            <a:pPr marL="685800">
              <a:lnSpc>
                <a:spcPts val="919"/>
              </a:lnSpc>
            </a:pPr>
            <a:r>
              <a:rPr lang="hu-HU" sz="800" dirty="0">
                <a:solidFill>
                  <a:srgbClr val="010202"/>
                </a:solidFill>
                <a:latin typeface="Inter"/>
                <a:cs typeface="Inter"/>
              </a:rPr>
              <a:t>Felügyeljük a gyújtóforrásokat, és szüntessük meg a tűz- és robbanásveszélyt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!</a:t>
            </a:r>
            <a:endParaRPr lang="hu-HU" sz="800" dirty="0"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132955"/>
            <a:ext cx="6839029" cy="639852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1858" y="7136232"/>
            <a:ext cx="6696987" cy="4732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dirty="0">
                <a:solidFill>
                  <a:srgbClr val="00606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CSAK</a:t>
            </a:r>
            <a: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 AKKOR KEZDJÜK EL A MUNKÁT, AMIKOR BIZTONSÁGOS, </a:t>
            </a:r>
            <a:b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</a:br>
            <a: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ÉS </a:t>
            </a:r>
            <a:r>
              <a:rPr lang="en-US" sz="1500" dirty="0">
                <a:solidFill>
                  <a:srgbClr val="00606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MEGÁLLÍTJUK</a:t>
            </a:r>
            <a:r>
              <a:rPr lang="en-US" sz="1500" dirty="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, AMIKOR </a:t>
            </a:r>
            <a:r>
              <a:rPr lang="en-US" sz="1500">
                <a:solidFill>
                  <a:srgbClr val="231F20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rPr>
              <a:t>NEM AZ.</a:t>
            </a:r>
            <a:endParaRPr lang="en-US" sz="1500" dirty="0">
              <a:latin typeface="Inter" panose="020B0502030000000004" pitchFamily="34" charset="0"/>
              <a:ea typeface="Inter" panose="020B0502030000000004" pitchFamily="34" charset="0"/>
              <a:cs typeface="Inter" panose="020B0502030000000004" pitchFamily="34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09185" y="171877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09528" y="189395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09859" y="205642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10201" y="225203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410544" y="242757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410887" y="259002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411230" y="27726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411573" y="294790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411916" y="311724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12246" y="329879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412589" y="373724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13275" y="401606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413618" y="41807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13961" y="434177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14291" y="452369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14634" y="469925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14977" y="48752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15320" y="505763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15663" y="523236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416005" y="54006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10185" y="190641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10185" y="246591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10185" y="302541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10185" y="358491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10185" y="427449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10185" y="504298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10185" y="56024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10185" y="623818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10185" y="679768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50" y="306705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374650" y="1759860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374650" y="6074938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374650" y="4883120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374650" y="4118744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374650" y="2294872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4650" y="2873042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374650" y="663031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4650" y="3430850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4650" y="5440929"/>
            <a:ext cx="387337" cy="387350"/>
          </a:xfrm>
          <a:prstGeom prst="rect">
            <a:avLst/>
          </a:prstGeom>
        </p:spPr>
      </p:pic>
      <p:sp>
        <p:nvSpPr>
          <p:cNvPr id="86" name="object 42">
            <a:extLst>
              <a:ext uri="{FF2B5EF4-FFF2-40B4-BE49-F238E27FC236}">
                <a16:creationId xmlns:a16="http://schemas.microsoft.com/office/drawing/2014/main" id="{7B44C4DD-9C57-DF0B-138A-31AD4BF76FBA}"/>
              </a:ext>
            </a:extLst>
          </p:cNvPr>
          <p:cNvSpPr/>
          <p:nvPr/>
        </p:nvSpPr>
        <p:spPr>
          <a:xfrm>
            <a:off x="3415662" y="346030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50CE82E-CCF5-B85B-568F-5A5EB378316A}"/>
              </a:ext>
            </a:extLst>
          </p:cNvPr>
          <p:cNvSpPr/>
          <p:nvPr/>
        </p:nvSpPr>
        <p:spPr>
          <a:xfrm>
            <a:off x="3327562" y="1577755"/>
            <a:ext cx="3440953" cy="5508845"/>
          </a:xfrm>
          <a:prstGeom prst="rect">
            <a:avLst/>
          </a:prstGeom>
          <a:noFill/>
          <a:ln w="127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accent1"/>
                </a:solidFill>
              </a:ln>
              <a:noFill/>
            </a:endParaRPr>
          </a:p>
        </p:txBody>
      </p:sp>
      <p:sp>
        <p:nvSpPr>
          <p:cNvPr id="110" name="object 51">
            <a:extLst>
              <a:ext uri="{FF2B5EF4-FFF2-40B4-BE49-F238E27FC236}">
                <a16:creationId xmlns:a16="http://schemas.microsoft.com/office/drawing/2014/main" id="{C01933C8-964A-3FE6-FCE5-881E0F6E345F}"/>
              </a:ext>
            </a:extLst>
          </p:cNvPr>
          <p:cNvSpPr/>
          <p:nvPr/>
        </p:nvSpPr>
        <p:spPr>
          <a:xfrm>
            <a:off x="3409185" y="5553019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51">
            <a:extLst>
              <a:ext uri="{FF2B5EF4-FFF2-40B4-BE49-F238E27FC236}">
                <a16:creationId xmlns:a16="http://schemas.microsoft.com/office/drawing/2014/main" id="{E6268F6F-9C2A-1EE1-F56F-AD420999584A}"/>
              </a:ext>
            </a:extLst>
          </p:cNvPr>
          <p:cNvSpPr/>
          <p:nvPr/>
        </p:nvSpPr>
        <p:spPr>
          <a:xfrm>
            <a:off x="3404933" y="574863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51">
            <a:extLst>
              <a:ext uri="{FF2B5EF4-FFF2-40B4-BE49-F238E27FC236}">
                <a16:creationId xmlns:a16="http://schemas.microsoft.com/office/drawing/2014/main" id="{6AE80CD4-CE8B-226A-F794-1C93FEE861F6}"/>
              </a:ext>
            </a:extLst>
          </p:cNvPr>
          <p:cNvSpPr/>
          <p:nvPr/>
        </p:nvSpPr>
        <p:spPr>
          <a:xfrm>
            <a:off x="3397250" y="592778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911051"/>
              </p:ext>
            </p:extLst>
          </p:nvPr>
        </p:nvGraphicFramePr>
        <p:xfrm>
          <a:off x="381000" y="518685"/>
          <a:ext cx="9224010" cy="6641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9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4338">
                  <a:extLst>
                    <a:ext uri="{9D8B030D-6E8A-4147-A177-3AD203B41FA5}">
                      <a16:colId xmlns:a16="http://schemas.microsoft.com/office/drawing/2014/main" val="1525188567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3132338470"/>
                    </a:ext>
                  </a:extLst>
                </a:gridCol>
              </a:tblGrid>
              <a:tr h="47191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u-HU" sz="1200" spc="-2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MI </a:t>
                      </a:r>
                      <a:r>
                        <a:rPr lang="hu-HU" sz="1200" spc="-15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a feladat</a:t>
                      </a: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hu-HU" sz="1200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(rövid leírás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lang="hu-HU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PL: Távolítsa el a kompresszort a GT21-ről; </a:t>
                      </a:r>
                      <a:br>
                        <a:rPr lang="en-US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</a:br>
                      <a:r>
                        <a:rPr lang="hu-HU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HP burkolat lecsavarozása</a:t>
                      </a:r>
                      <a:endParaRPr lang="hu-HU" sz="700" noProof="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hu-HU" sz="120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HOGYAN</a:t>
                      </a:r>
                      <a:r>
                        <a:rPr lang="hu-HU" sz="1200" spc="-15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5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fogom csinálni</a:t>
                      </a: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hu-HU" sz="1200" spc="-1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(a feladat részletei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  <a:p>
                      <a:pPr marL="194310">
                        <a:lnSpc>
                          <a:spcPts val="835"/>
                        </a:lnSpc>
                      </a:pPr>
                      <a:r>
                        <a:rPr lang="hu-HU" sz="700" b="1" i="1" noProof="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Fontolja meg, milyen energiaforrásokra, készségekre, engedélyekre, eszközökre és felszerelésre van szüksége a feladat elvégzéséhez</a:t>
                      </a:r>
                      <a:endParaRPr lang="hu-HU" sz="700" noProof="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5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 feladathoz használt dokumentumok</a:t>
                      </a:r>
                      <a:r>
                        <a:rPr lang="hu-HU" sz="1200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(Karikáz</a:t>
                      </a:r>
                      <a:r>
                        <a:rPr lang="en-US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za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be)</a:t>
                      </a:r>
                      <a:r>
                        <a:rPr lang="hu-HU" sz="12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hu-HU" sz="1200" noProof="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Munkautasítás	Live</a:t>
                      </a:r>
                      <a:r>
                        <a:rPr lang="hu-HU" sz="800" spc="-4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Rajzok	</a:t>
                      </a:r>
                      <a:r>
                        <a:rPr lang="hu-HU" sz="1200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Módosítási utasítás</a:t>
                      </a:r>
                      <a:r>
                        <a:rPr lang="hu-HU" sz="1200" spc="-7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5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lang="hu-HU" sz="1200" baseline="41666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Emelési terv	Kockázatelemzés (TRA)	Használati útmutató	</a:t>
                      </a:r>
                      <a:r>
                        <a:rPr lang="en-US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          </a:t>
                      </a:r>
                      <a:r>
                        <a:rPr lang="hu-HU" sz="8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vagy</a:t>
                      </a:r>
                      <a:r>
                        <a:rPr lang="hu-HU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Technkai információs levél</a:t>
                      </a:r>
                      <a:r>
                        <a:rPr lang="hu-HU" sz="800" spc="5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8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lang="hu-HU" sz="800" noProof="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hu-HU" sz="1200" spc="-2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MI</a:t>
                      </a:r>
                      <a:r>
                        <a:rPr lang="hu-HU" sz="1200" spc="-3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3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okozhat sérülést? 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(Veszélyek)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hu-HU" sz="1200" noProof="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HOGYAN </a:t>
                      </a:r>
                      <a:r>
                        <a:rPr lang="hu-HU" sz="1200" spc="-30" noProof="0" dirty="0">
                          <a:solidFill>
                            <a:srgbClr val="231F20"/>
                          </a:solidFill>
                          <a:latin typeface="Inter"/>
                          <a:ea typeface="+mn-ea"/>
                          <a:cs typeface="Inter"/>
                        </a:rPr>
                        <a:t>tudom megelőzni a sérülést</a:t>
                      </a:r>
                      <a:r>
                        <a:rPr lang="hu-HU" sz="120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lang="hu-HU" sz="1200" spc="-2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hu-HU" sz="1200" spc="-10" noProof="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(Ellenőrző intézkedések/mérséklés)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hu-HU" sz="1200" spc="-10" noProof="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 feladat újragondolásának időpontja:</a:t>
                      </a: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lang="hu-HU" sz="1200" noProof="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4804" y="7425471"/>
            <a:ext cx="9296400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dirty="0">
                <a:solidFill>
                  <a:srgbClr val="00606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CSAK</a:t>
            </a:r>
            <a:r>
              <a:rPr lang="en-US" sz="1500" dirty="0">
                <a:solidFill>
                  <a:srgbClr val="231F2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 AKKOR KEZDJÜK EL A MUNKÁT, AMIKOR BIZTONSÁGOS, ÉS </a:t>
            </a:r>
            <a:r>
              <a:rPr lang="en-US" sz="1500" dirty="0">
                <a:solidFill>
                  <a:srgbClr val="00606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MEGÁLLÍTJUK</a:t>
            </a:r>
            <a:r>
              <a:rPr lang="en-US" sz="1500" dirty="0">
                <a:solidFill>
                  <a:srgbClr val="231F2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, AMIKOR </a:t>
            </a:r>
            <a:r>
              <a:rPr lang="en-US" sz="1500">
                <a:solidFill>
                  <a:srgbClr val="231F20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rPr>
              <a:t>NEM AZ.</a:t>
            </a:r>
            <a:endParaRPr sz="1500" dirty="0">
              <a:latin typeface="Inter Semi Bold" panose="02000703000000020004" pitchFamily="50" charset="0"/>
              <a:ea typeface="Inter Semi Bold" panose="02000703000000020004" pitchFamily="50" charset="0"/>
              <a:cs typeface="Inter Semi Bold" panose="02000703000000020004" pitchFamily="50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19400" y="104555"/>
            <a:ext cx="4794147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AZ </a:t>
            </a:r>
            <a:r>
              <a:rPr lang="en-US" sz="15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EGYÉNI VÉDŐESZKÖZ </a:t>
            </a: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AZ UTOLSÓ </a:t>
            </a:r>
            <a:r>
              <a:rPr lang="en-US" sz="15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VÉDVONAL</a:t>
            </a:r>
            <a:endParaRPr sz="1500" b="1" spc="-10" dirty="0">
              <a:solidFill>
                <a:srgbClr val="005F60"/>
              </a:solidFill>
              <a:latin typeface="Inter Semi Bold"/>
              <a:cs typeface="Inter Semi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836DC-6E53-F686-C978-8FE8557252C8}"/>
              </a:ext>
            </a:extLst>
          </p:cNvPr>
          <p:cNvSpPr txBox="1"/>
          <p:nvPr/>
        </p:nvSpPr>
        <p:spPr>
          <a:xfrm>
            <a:off x="8610600" y="2057400"/>
            <a:ext cx="762000" cy="305211"/>
          </a:xfrm>
          <a:prstGeom prst="rect">
            <a:avLst/>
          </a:prstGeom>
          <a:ln w="12700">
            <a:noFill/>
          </a:ln>
        </p:spPr>
        <p:txBody>
          <a:bodyPr vert="horz" wrap="square" lIns="0" tIns="58419" rIns="0" bIns="0" rtlCol="0">
            <a:spAutoFit/>
          </a:bodyPr>
          <a:lstStyle/>
          <a:p>
            <a:pPr marL="220345" algn="l">
              <a:lnSpc>
                <a:spcPct val="100000"/>
              </a:lnSpc>
              <a:spcBef>
                <a:spcPts val="459"/>
              </a:spcBef>
            </a:pPr>
            <a:r>
              <a:rPr lang="hu-HU" sz="800" dirty="0">
                <a:solidFill>
                  <a:schemeClr val="tx1"/>
                </a:solidFill>
                <a:latin typeface="Inter"/>
                <a:cs typeface="Inter"/>
              </a:rPr>
              <a:t>Egyik sem</a:t>
            </a:r>
            <a:br>
              <a:rPr lang="hu-HU" sz="8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hu-HU" sz="800" dirty="0">
                <a:solidFill>
                  <a:schemeClr val="tx1"/>
                </a:solidFill>
                <a:latin typeface="Inter"/>
                <a:cs typeface="Inter"/>
              </a:rPr>
              <a:t>(Indokolja)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ln w="12700">
          <a:solidFill>
            <a:srgbClr val="006060"/>
          </a:solidFill>
        </a:ln>
      </a:spPr>
      <a:bodyPr vert="horz" wrap="square" lIns="0" tIns="58419" rIns="0" bIns="0" rtlCol="0">
        <a:spAutoFit/>
      </a:bodyPr>
      <a:lstStyle>
        <a:defPPr marL="220345" algn="l">
          <a:lnSpc>
            <a:spcPct val="100000"/>
          </a:lnSpc>
          <a:spcBef>
            <a:spcPts val="459"/>
          </a:spcBef>
          <a:defRPr sz="1150" dirty="0" err="1" smtClean="0">
            <a:solidFill>
              <a:srgbClr val="006060"/>
            </a:solidFill>
            <a:latin typeface="Inter"/>
            <a:cs typeface="Inte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2037AF62-BF87-4767-9118-E6BFA4FC228F}"/>
</file>

<file path=customXml/itemProps2.xml><?xml version="1.0" encoding="utf-8"?>
<ds:datastoreItem xmlns:ds="http://schemas.openxmlformats.org/officeDocument/2006/customXml" ds:itemID="{7540681D-EBE8-4CD4-AB2C-0AA8E73CFEF1}"/>
</file>

<file path=customXml/itemProps3.xml><?xml version="1.0" encoding="utf-8"?>
<ds:datastoreItem xmlns:ds="http://schemas.openxmlformats.org/officeDocument/2006/customXml" ds:itemID="{BFFD0036-7D6B-437A-AECB-ADE33A7A3E8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</TotalTime>
  <Words>487</Words>
  <Application>Microsoft Office PowerPoint</Application>
  <PresentationFormat>Custom</PresentationFormat>
  <Paragraphs>97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Calibri</vt:lpstr>
      <vt:lpstr>Inter</vt:lpstr>
      <vt:lpstr>Inter Semi Bold</vt:lpstr>
      <vt:lpstr>Times New Roman</vt:lpstr>
      <vt:lpstr>Office Theme</vt:lpstr>
      <vt:lpstr>Munkaindítási értékelő lista (SWAT)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Tajti, Kornel (GE Vernova)</dc:creator>
  <cp:lastModifiedBy>Stevensne Szaday, Edit (GE Vernova)</cp:lastModifiedBy>
  <cp:revision>21</cp:revision>
  <cp:lastPrinted>2025-10-28T16:22:29Z</cp:lastPrinted>
  <dcterms:created xsi:type="dcterms:W3CDTF">2024-12-17T21:19:02Z</dcterms:created>
  <dcterms:modified xsi:type="dcterms:W3CDTF">2025-12-03T11:33:24Z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