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58400" cy="7772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1230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211849"/>
              </p:ext>
            </p:extLst>
          </p:nvPr>
        </p:nvGraphicFramePr>
        <p:xfrm>
          <a:off x="3435045" y="1896821"/>
          <a:ext cx="3187065" cy="5081904"/>
        </p:xfrm>
        <a:graphic>
          <a:graphicData uri="http://schemas.openxmlformats.org/drawingml/2006/table">
            <a:tbl>
              <a:tblPr/>
              <a:tblGrid>
                <a:gridCol w="3187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1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260" algn="l" rtl="0" eaLnBrk="0">
                        <a:lnSpc>
                          <a:spcPct val="84000"/>
                        </a:lnSpc>
                        <a:spcBef>
                          <a:spcPts val="7"/>
                        </a:spcBef>
                        <a:tabLst>
                          <a:tab pos="233679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Παρακείμενη εργασία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66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Στάση σώματος</a:t>
                      </a:r>
                      <a:r>
                        <a:rPr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/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Εργονομία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9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 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Εγκαύματα</a:t>
                      </a:r>
                      <a:r>
                        <a:rPr sz="11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/</a:t>
                      </a:r>
                      <a:r>
                        <a:rPr lang="el-GR" sz="11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Πυρκαγιά</a:t>
                      </a:r>
                      <a:r>
                        <a:rPr sz="11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/</a:t>
                      </a:r>
                      <a:r>
                        <a:rPr lang="el-GR" sz="11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Θερμή εργασία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78000"/>
                        </a:lnSpc>
                        <a:spcBef>
                          <a:spcPts val="387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9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  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Αποτυχία επικοινωνίας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4000"/>
                        </a:lnSpc>
                        <a:spcBef>
                          <a:spcPts val="338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Πτώση αντικειμένων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95000"/>
                        </a:lnSpc>
                        <a:spcBef>
                          <a:spcPts val="12"/>
                        </a:spcBef>
                        <a:tabLst/>
                      </a:pP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      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Σκόνη/Αέρια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Σωματίδια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  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Ηλεκτροπληξία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76000"/>
                        </a:lnSpc>
                        <a:spcBef>
                          <a:spcPts val="451"/>
                        </a:spcBef>
                        <a:tabLst/>
                      </a:pPr>
                      <a:r>
                        <a:rPr sz="9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9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Περιβαλλοντικός</a:t>
                      </a:r>
                      <a:r>
                        <a:rPr sz="11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/</a:t>
                      </a:r>
                      <a:r>
                        <a:rPr lang="el-GR" sz="11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Καιρός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523"/>
                        </a:lnSpc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Πτώση από ύψος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45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Χειρωνακτική διακίνηση φορτίων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396"/>
                        </a:lnSpc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Υδρογόνο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57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Κίνδυνοι 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Βιομηχανικής Υγιεινής</a:t>
                      </a:r>
                      <a:endParaRPr lang="en-US" sz="1100" kern="1200" spc="0" dirty="0">
                        <a:solidFill>
                          <a:schemeClr val="tx1"/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4625" indent="-114300" algn="l" rtl="0" eaLnBrk="0">
                        <a:lnSpc>
                          <a:spcPct val="85000"/>
                        </a:lnSpc>
                        <a:spcBef>
                          <a:spcPts val="257"/>
                        </a:spcBef>
                        <a:tabLst>
                          <a:tab pos="241934" algn="l"/>
                        </a:tabLst>
                      </a:pPr>
                      <a:r>
                        <a:rPr sz="10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0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Αμμωνία</a:t>
                      </a:r>
                      <a:r>
                        <a:rPr sz="10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</a:t>
                      </a:r>
                      <a:r>
                        <a:rPr sz="1000" kern="0" spc="8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l-GR" sz="1000" kern="0" spc="8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Άσβεστος</a:t>
                      </a:r>
                      <a:r>
                        <a:rPr sz="10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l-GR" sz="10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Εξασθενές χρώμιο</a:t>
                      </a:r>
                      <a:r>
                        <a:rPr sz="10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</a:t>
                      </a:r>
                      <a:r>
                        <a:rPr lang="en-US" sz="10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l-GR" sz="10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Μόλυβδος</a:t>
                      </a:r>
                      <a:r>
                        <a:rPr sz="10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lang="el-GR" sz="1000" kern="0" spc="10" dirty="0">
                        <a:solidFill>
                          <a:srgbClr val="0F5E5F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indent="-9525" algn="l" rtl="0" eaLnBrk="0">
                        <a:lnSpc>
                          <a:spcPct val="91000"/>
                        </a:lnSpc>
                        <a:spcBef>
                          <a:spcPts val="116"/>
                        </a:spcBef>
                        <a:tabLst/>
                      </a:pPr>
                      <a:r>
                        <a:rPr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l-GR"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  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Θόρυβος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ts val="800"/>
                        </a:lnSpc>
                        <a:spcBef>
                          <a:spcPts val="509"/>
                        </a:spcBef>
                        <a:tabLst/>
                      </a:pPr>
                      <a:r>
                        <a:rPr sz="800" kern="0" spc="5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l-GR" sz="800" kern="0" spc="5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  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Σημεία σύνθλιψης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300"/>
                        </a:lnSpc>
                        <a:spcBef>
                          <a:spcPts val="258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Ηλεκτρικά και Υδραυλικά εργαλεία</a:t>
                      </a: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      	</a:t>
                      </a:r>
                      <a:endParaRPr lang="el-GR" sz="1100" kern="0" spc="0" dirty="0">
                        <a:solidFill>
                          <a:srgbClr val="0F5E5F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100"/>
                        </a:lnSpc>
                        <a:spcBef>
                          <a:spcPts val="258"/>
                        </a:spcBef>
                        <a:tabLst>
                          <a:tab pos="241934" algn="l"/>
                        </a:tabLst>
                      </a:pP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Περιορισμένος χώρος εργασίας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100"/>
                        </a:lnSpc>
                        <a:spcBef>
                          <a:spcPts val="251"/>
                        </a:spcBef>
                        <a:tabLst>
                          <a:tab pos="237490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Ολισθήματα Παραπατήματα Πτώσεις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ts val="7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endParaRPr lang="el-GR" sz="800" kern="0" spc="60" dirty="0">
                        <a:solidFill>
                          <a:srgbClr val="0F5E5F">
                            <a:alpha val="100000"/>
                          </a:srgbClr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69850" algn="l" rtl="0" eaLnBrk="0">
                        <a:lnSpc>
                          <a:spcPts val="6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lang="el-GR"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    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Ακτινοβολία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500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Αστοχία μέσων πρόσδεσης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57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Περιστρεφόμενος εξοπλισμός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362"/>
                        </a:lnSpc>
                        <a:tabLst>
                          <a:tab pos="237490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Αιχμηρά αντικείμενα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200"/>
                        </a:lnSpc>
                        <a:spcBef>
                          <a:spcPts val="296"/>
                        </a:spcBef>
                        <a:tabLst>
                          <a:tab pos="237490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Χτύπημα από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ts val="1600"/>
                        </a:lnSpc>
                        <a:spcBef>
                          <a:spcPts val="12"/>
                        </a:spcBef>
                        <a:tabLst/>
                      </a:pPr>
                      <a:r>
                        <a:rPr sz="800" kern="0" spc="4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800" kern="0" spc="4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 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Αστοχία εργαλείου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>
                          <a:tab pos="238125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l-GR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Άλλος</a:t>
                      </a:r>
                      <a:r>
                        <a:rPr sz="1100" kern="0" spc="9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(</a:t>
                      </a:r>
                      <a:r>
                        <a:rPr lang="el-GR" sz="1100" kern="0" spc="9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Προσδιορίστε</a:t>
                      </a:r>
                      <a:r>
                        <a:rPr sz="1100" kern="0" spc="9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path 4"/>
          <p:cNvSpPr/>
          <p:nvPr/>
        </p:nvSpPr>
        <p:spPr>
          <a:xfrm>
            <a:off x="3505261" y="6318610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path 6"/>
          <p:cNvSpPr/>
          <p:nvPr/>
        </p:nvSpPr>
        <p:spPr>
          <a:xfrm>
            <a:off x="3506739" y="5911537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3513866" y="5730284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path 10"/>
          <p:cNvSpPr/>
          <p:nvPr/>
        </p:nvSpPr>
        <p:spPr>
          <a:xfrm>
            <a:off x="3513866" y="5548809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path 12"/>
          <p:cNvSpPr/>
          <p:nvPr/>
        </p:nvSpPr>
        <p:spPr>
          <a:xfrm>
            <a:off x="3513866" y="5166580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path 14"/>
          <p:cNvSpPr/>
          <p:nvPr/>
        </p:nvSpPr>
        <p:spPr>
          <a:xfrm>
            <a:off x="3505263" y="4985105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path 16"/>
          <p:cNvSpPr/>
          <p:nvPr/>
        </p:nvSpPr>
        <p:spPr>
          <a:xfrm>
            <a:off x="3505263" y="4810226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path 18"/>
          <p:cNvSpPr/>
          <p:nvPr/>
        </p:nvSpPr>
        <p:spPr>
          <a:xfrm>
            <a:off x="3514359" y="4629371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path 20"/>
          <p:cNvSpPr/>
          <p:nvPr/>
        </p:nvSpPr>
        <p:spPr>
          <a:xfrm>
            <a:off x="3505263" y="3935831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path 22"/>
          <p:cNvSpPr/>
          <p:nvPr/>
        </p:nvSpPr>
        <p:spPr>
          <a:xfrm>
            <a:off x="3505263" y="3760939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path 24"/>
          <p:cNvSpPr/>
          <p:nvPr/>
        </p:nvSpPr>
        <p:spPr>
          <a:xfrm>
            <a:off x="3505263" y="3586060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path 26"/>
          <p:cNvSpPr/>
          <p:nvPr/>
        </p:nvSpPr>
        <p:spPr>
          <a:xfrm>
            <a:off x="3505263" y="3411181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path 28"/>
          <p:cNvSpPr/>
          <p:nvPr/>
        </p:nvSpPr>
        <p:spPr>
          <a:xfrm>
            <a:off x="3505263" y="2711665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path 30"/>
          <p:cNvSpPr/>
          <p:nvPr/>
        </p:nvSpPr>
        <p:spPr>
          <a:xfrm>
            <a:off x="3505263" y="2187028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path 32"/>
          <p:cNvSpPr/>
          <p:nvPr/>
        </p:nvSpPr>
        <p:spPr>
          <a:xfrm>
            <a:off x="3505263" y="2012149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path 34"/>
          <p:cNvSpPr/>
          <p:nvPr/>
        </p:nvSpPr>
        <p:spPr>
          <a:xfrm>
            <a:off x="513600" y="4810658"/>
            <a:ext cx="385254" cy="385241"/>
          </a:xfrm>
          <a:custGeom>
            <a:avLst/>
            <a:gdLst/>
            <a:ahLst/>
            <a:cxnLst/>
            <a:rect l="0" t="0" r="0" b="0"/>
            <a:pathLst>
              <a:path w="606" h="606">
                <a:moveTo>
                  <a:pt x="606" y="303"/>
                </a:moveTo>
                <a:cubicBezTo>
                  <a:pt x="606" y="470"/>
                  <a:pt x="470" y="606"/>
                  <a:pt x="303" y="606"/>
                </a:cubicBezTo>
                <a:cubicBezTo>
                  <a:pt x="135" y="606"/>
                  <a:pt x="0" y="470"/>
                  <a:pt x="0" y="303"/>
                </a:cubicBezTo>
                <a:cubicBezTo>
                  <a:pt x="0" y="135"/>
                  <a:pt x="135" y="0"/>
                  <a:pt x="303" y="0"/>
                </a:cubicBezTo>
                <a:cubicBezTo>
                  <a:pt x="470" y="0"/>
                  <a:pt x="606" y="135"/>
                  <a:pt x="606" y="303"/>
                </a:cubicBezTo>
              </a:path>
              <a:path w="606" h="606">
                <a:moveTo>
                  <a:pt x="606" y="303"/>
                </a:moveTo>
                <a:cubicBezTo>
                  <a:pt x="606" y="470"/>
                  <a:pt x="470" y="606"/>
                  <a:pt x="303" y="606"/>
                </a:cubicBezTo>
                <a:cubicBezTo>
                  <a:pt x="135" y="606"/>
                  <a:pt x="0" y="470"/>
                  <a:pt x="0" y="303"/>
                </a:cubicBezTo>
                <a:cubicBezTo>
                  <a:pt x="0" y="135"/>
                  <a:pt x="135" y="0"/>
                  <a:pt x="303" y="0"/>
                </a:cubicBezTo>
                <a:cubicBezTo>
                  <a:pt x="470" y="0"/>
                  <a:pt x="606" y="135"/>
                  <a:pt x="606" y="303"/>
                </a:cubicBezTo>
              </a:path>
            </a:pathLst>
          </a:custGeom>
          <a:solidFill>
            <a:srgbClr val="C3D82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4443" y="4883745"/>
            <a:ext cx="243573" cy="243573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9226" y="4910524"/>
            <a:ext cx="160401" cy="185140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015081"/>
              </p:ext>
            </p:extLst>
          </p:nvPr>
        </p:nvGraphicFramePr>
        <p:xfrm>
          <a:off x="146539" y="1896954"/>
          <a:ext cx="3047998" cy="5091430"/>
        </p:xfrm>
        <a:graphic>
          <a:graphicData uri="http://schemas.openxmlformats.org/drawingml/2006/table">
            <a:tbl>
              <a:tblPr/>
              <a:tblGrid>
                <a:gridCol w="300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448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Ανυψωτικές εργασίες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8739" algn="l" rtl="0" eaLnBrk="0">
                        <a:lnSpc>
                          <a:spcPct val="88000"/>
                        </a:lnSpc>
                        <a:spcBef>
                          <a:spcPts val="94"/>
                        </a:spcBef>
                        <a:tabLst/>
                      </a:pP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Σχεδιάστε την ανύψωση, ελέγξτε την περιοχή, μείνετε μακριά από κινούμενα και ανυψωμένα φορτία</a:t>
                      </a:r>
                      <a:endParaRPr lang="el-GR"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4294" algn="l" rtl="0" eaLnBrk="0">
                        <a:lnSpc>
                          <a:spcPct val="82000"/>
                        </a:lnSpc>
                        <a:spcBef>
                          <a:spcPts val="1234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Εργασία σε ύψος</a:t>
                      </a:r>
                      <a:endParaRPr lang="el-GR"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3025" marR="0" lvl="0" indent="0" algn="l" defTabSz="914400" rtl="0" eaLnBrk="0" fontAlgn="auto" latinLnBrk="0" hangingPunct="1">
                        <a:lnSpc>
                          <a:spcPct val="88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Αξιολογήστε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, </a:t>
                      </a: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αποτρέψτε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, </a:t>
                      </a: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και προστατευτείτε ενάντια σε πτώσεις από ύψος</a:t>
                      </a:r>
                    </a:p>
                    <a:p>
                      <a:pPr marL="73025" marR="0" lvl="0" indent="0" algn="l" defTabSz="914400" rtl="0" eaLnBrk="0" fontAlgn="auto" latinLnBrk="0" hangingPunct="1">
                        <a:lnSpc>
                          <a:spcPct val="88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2000"/>
                        </a:lnSpc>
                        <a:spcBef>
                          <a:spcPts val="371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Ασφαλής οδήγηση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8739" marR="0" lvl="0" indent="0" algn="l" defTabSz="914400" rtl="0" eaLnBrk="0" fontAlgn="auto" latinLnBrk="0" hangingPunct="1">
                        <a:lnSpc>
                          <a:spcPct val="91000"/>
                        </a:lnSpc>
                        <a:spcBef>
                          <a:spcPts val="92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cs typeface="Inter"/>
                        </a:rPr>
                        <a:t>Σχεδιάστε το ταξίδι σας, εστιάστε στην οδήγηση και παραμείνετε σε εγρήγορση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83185" algn="l" rtl="0" eaLnBrk="0">
                        <a:lnSpc>
                          <a:spcPct val="78000"/>
                        </a:lnSpc>
                        <a:spcBef>
                          <a:spcPts val="1391"/>
                        </a:spcBef>
                        <a:tabLst/>
                      </a:pPr>
                      <a:r>
                        <a:rPr lang="el-GR" sz="1200" kern="0" spc="-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Γραμμή πυρός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8105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Κρατήστε τον εαυτό σας και τους άλλους έξω από τη Γραμμή Πυρός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4294" algn="l" rtl="0" eaLnBrk="0">
                        <a:lnSpc>
                          <a:spcPct val="77000"/>
                        </a:lnSpc>
                        <a:spcBef>
                          <a:spcPts val="1545"/>
                        </a:spcBef>
                        <a:tabLst/>
                      </a:pPr>
                      <a:r>
                        <a:rPr lang="el-GR" sz="12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Άδεια εργασίας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2389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Αξιολογήστε την επικινδυνότητα</a:t>
                      </a:r>
                      <a:r>
                        <a:rPr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 </a:t>
                      </a: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εφαρμόστε ελέγχους και παραλάβετε την άδεια πριν ξεκινήσετε την εργασία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80010" algn="l" rtl="0" eaLnBrk="0">
                        <a:lnSpc>
                          <a:spcPct val="81000"/>
                        </a:lnSpc>
                        <a:spcBef>
                          <a:spcPts val="1366"/>
                        </a:spcBef>
                        <a:tabLst/>
                      </a:pPr>
                      <a:r>
                        <a:rPr lang="el-GR" sz="12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Περιορισμένος χώρος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1755" algn="l" rtl="0" eaLnBrk="0">
                        <a:lnSpc>
                          <a:spcPct val="88000"/>
                        </a:lnSpc>
                        <a:spcBef>
                          <a:spcPts val="135"/>
                        </a:spcBef>
                        <a:tabLst/>
                      </a:pP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Αξιολογήστε την επικινδυνότητα, ελέγξτε τους κινδύνους και παραλάβετε την άδεια εισόδου στον περιορισμένο χώρο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83185" algn="l" rtl="0" eaLnBrk="0">
                        <a:lnSpc>
                          <a:spcPct val="82000"/>
                        </a:lnSpc>
                        <a:spcBef>
                          <a:spcPts val="1394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Απομόνωση ενέργειας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7469" algn="l" rtl="0" eaLnBrk="0">
                        <a:lnSpc>
                          <a:spcPct val="92000"/>
                        </a:lnSpc>
                        <a:spcBef>
                          <a:spcPts val="92"/>
                        </a:spcBef>
                        <a:tabLst/>
                      </a:pP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Απομονώστε και επαληθεύστε την απουσία ενέργειας πριν την έναρξη της εργασίας</a:t>
                      </a:r>
                      <a:endParaRPr lang="en-US"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83185" algn="l" rtl="0" eaLnBrk="0">
                        <a:lnSpc>
                          <a:spcPct val="77000"/>
                        </a:lnSpc>
                        <a:spcBef>
                          <a:spcPts val="1419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Εργασία υπό τάση</a:t>
                      </a:r>
                      <a:endParaRPr lang="en-US"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1755" algn="l" rtl="0" eaLnBrk="0">
                        <a:lnSpc>
                          <a:spcPct val="88000"/>
                        </a:lnSpc>
                        <a:spcBef>
                          <a:spcPts val="184"/>
                        </a:spcBef>
                        <a:tabLst/>
                      </a:pP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Εφαρμόστε ελέγχους και τηρείτε τις απαιτήσεις των ορίων ελεγχόμενης πρόσβασης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83185" algn="l" rtl="0" eaLnBrk="0">
                        <a:lnSpc>
                          <a:spcPct val="80000"/>
                        </a:lnSpc>
                        <a:spcBef>
                          <a:spcPts val="1383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Πυρκαγιά και έκρηξη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4930" algn="l" rtl="0" eaLnBrk="0">
                        <a:lnSpc>
                          <a:spcPct val="91000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lang="el-GR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Ελέγξτε τις πηγές ανάφλεξης και εκμηδενίστε τον κίνδυνο φωτιάς και έκρηξης</a:t>
                      </a:r>
                      <a:endParaRPr lang="en-US"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ts val="4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10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624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338368"/>
              </p:ext>
            </p:extLst>
          </p:nvPr>
        </p:nvGraphicFramePr>
        <p:xfrm>
          <a:off x="6845402" y="3113595"/>
          <a:ext cx="3084830" cy="1915794"/>
        </p:xfrm>
        <a:graphic>
          <a:graphicData uri="http://schemas.openxmlformats.org/drawingml/2006/table">
            <a:tbl>
              <a:tblPr/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lang="en-US"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225" indent="-34925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1</a:t>
                      </a:r>
                      <a:r>
                        <a:rPr sz="1000" b="1" kern="0" spc="-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2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3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029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4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745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5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6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554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7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8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9</a:t>
                      </a:r>
                      <a:r>
                        <a:rPr sz="1000" b="1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2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10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4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580908"/>
              </p:ext>
            </p:extLst>
          </p:nvPr>
        </p:nvGraphicFramePr>
        <p:xfrm>
          <a:off x="6845402" y="158242"/>
          <a:ext cx="3084829" cy="1725294"/>
        </p:xfrm>
        <a:graphic>
          <a:graphicData uri="http://schemas.openxmlformats.org/drawingml/2006/table">
            <a:tbl>
              <a:tblPr/>
              <a:tblGrid>
                <a:gridCol w="87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35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l-GR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Σημείο συγκέντρωσης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3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lang="el-GR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Κλήση έκτακτης ανάγκης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#: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34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09" algn="l" rtl="0" eaLnBrk="0">
                        <a:lnSpc>
                          <a:spcPct val="80000"/>
                        </a:lnSpc>
                        <a:tabLst/>
                      </a:pPr>
                      <a:r>
                        <a:rPr lang="el-GR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Ονομασία εγκατάστασης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/</a:t>
                      </a:r>
                      <a:r>
                        <a:rPr lang="el-GR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Τοποθεσία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/</a:t>
                      </a:r>
                      <a:r>
                        <a:rPr lang="el-GR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Μονάδα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" algn="l" rtl="0" eaLnBrk="0">
                        <a:lnSpc>
                          <a:spcPct val="7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lang="el-GR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Άδεια εργασίας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#: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35">
                <a:tc>
                  <a:txBody>
                    <a:bodyPr/>
                    <a:lstStyle/>
                    <a:p>
                      <a:pPr marL="512763" indent="-398463" algn="l" rtl="0" eaLnBrk="0">
                        <a:lnSpc>
                          <a:spcPct val="74000"/>
                        </a:lnSpc>
                        <a:tabLst/>
                      </a:pPr>
                      <a:r>
                        <a:rPr lang="el-GR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 Ημερομηνία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lang="en-US"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indent="-142875" algn="l" rtl="0" eaLnBrk="0">
                        <a:lnSpc>
                          <a:spcPct val="79000"/>
                        </a:lnSpc>
                        <a:tabLst/>
                      </a:pPr>
                      <a:r>
                        <a:rPr lang="el-GR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       Ώρα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0" indent="-2730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l-GR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     Βάρδια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indent="-146050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lang="el-GR" sz="1000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Ημερήσια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1938" indent="-201613" algn="l" rtl="0" eaLnBrk="0">
                        <a:lnSpc>
                          <a:spcPct val="7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l-GR" sz="1000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Μεσημβρινή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indent="-152400" algn="l" rtl="0" eaLnBrk="0">
                        <a:lnSpc>
                          <a:spcPct val="82000"/>
                        </a:lnSpc>
                        <a:tabLst/>
                      </a:pPr>
                      <a:r>
                        <a:rPr lang="el-GR" sz="10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Νυχτερινή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596230"/>
              </p:ext>
            </p:extLst>
          </p:nvPr>
        </p:nvGraphicFramePr>
        <p:xfrm>
          <a:off x="6845402" y="6060795"/>
          <a:ext cx="3084830" cy="1543050"/>
        </p:xfrm>
        <a:graphic>
          <a:graphicData uri="http://schemas.openxmlformats.org/drawingml/2006/table">
            <a:tbl>
              <a:tblPr/>
              <a:tblGrid>
                <a:gridCol w="308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43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lang="el-GR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Επόπτης - ολοκλήρωση</a:t>
                      </a:r>
                      <a:r>
                        <a:rPr sz="10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Υπογραφή</a:t>
                      </a:r>
                      <a:r>
                        <a:rPr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textbox 48"/>
          <p:cNvSpPr/>
          <p:nvPr/>
        </p:nvSpPr>
        <p:spPr>
          <a:xfrm>
            <a:off x="2747223" y="275957"/>
            <a:ext cx="4001379" cy="151766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650240" eaLnBrk="0">
              <a:lnSpc>
                <a:spcPct val="76000"/>
              </a:lnSpc>
            </a:pPr>
            <a:r>
              <a:rPr lang="el-GR" sz="27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Εργαλείο Αξιολόγησης</a:t>
            </a:r>
          </a:p>
          <a:p>
            <a:pPr marL="650240" eaLnBrk="0">
              <a:lnSpc>
                <a:spcPct val="50000"/>
              </a:lnSpc>
            </a:pPr>
            <a:endParaRPr lang="el-GR" sz="1900" b="1" kern="0" spc="-20" dirty="0">
              <a:solidFill>
                <a:srgbClr val="0F5E5F">
                  <a:alpha val="100000"/>
                </a:srgbClr>
              </a:solidFill>
              <a:latin typeface="Inter Extra Bold"/>
              <a:ea typeface="Inter Extra Bold"/>
              <a:cs typeface="Inter Extra Bold"/>
            </a:endParaRPr>
          </a:p>
          <a:p>
            <a:pPr marL="650240" eaLnBrk="0">
              <a:lnSpc>
                <a:spcPct val="50000"/>
              </a:lnSpc>
            </a:pPr>
            <a:r>
              <a:rPr lang="el-GR" b="1" i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για την</a:t>
            </a:r>
          </a:p>
          <a:p>
            <a:pPr marL="650240" eaLnBrk="0">
              <a:lnSpc>
                <a:spcPct val="50000"/>
              </a:lnSpc>
            </a:pPr>
            <a:endParaRPr lang="el-GR" sz="2700" b="1" kern="0" spc="-20" dirty="0">
              <a:solidFill>
                <a:srgbClr val="0F5E5F">
                  <a:alpha val="100000"/>
                </a:srgbClr>
              </a:solidFill>
              <a:latin typeface="Inter Extra Bold"/>
              <a:ea typeface="Inter Extra Bold"/>
              <a:cs typeface="Inter Extra Bold"/>
            </a:endParaRPr>
          </a:p>
          <a:p>
            <a:pPr marL="650240" eaLnBrk="0">
              <a:lnSpc>
                <a:spcPct val="50000"/>
              </a:lnSpc>
            </a:pPr>
            <a:r>
              <a:rPr lang="el-GR" sz="27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Έναρξη της Εργασίας</a:t>
            </a:r>
            <a:endParaRPr lang="en-US" sz="2700" b="1" kern="0" spc="-20" dirty="0">
              <a:solidFill>
                <a:srgbClr val="0F5E5F">
                  <a:alpha val="100000"/>
                </a:srgbClr>
              </a:solidFill>
              <a:latin typeface="Inter Extra Bold"/>
              <a:ea typeface="Inter Extra Bold"/>
              <a:cs typeface="Inter Extra Bold"/>
            </a:endParaRPr>
          </a:p>
          <a:p>
            <a:pPr marL="650240" algn="l" rtl="0" eaLnBrk="0">
              <a:lnSpc>
                <a:spcPct val="76000"/>
              </a:lnSpc>
              <a:tabLst/>
            </a:pPr>
            <a:r>
              <a:rPr lang="el-GR" sz="27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l-GR" sz="19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         </a:t>
            </a:r>
          </a:p>
          <a:p>
            <a:pPr marL="12700" algn="l" rtl="0" eaLnBrk="0">
              <a:lnSpc>
                <a:spcPct val="76000"/>
              </a:lnSpc>
              <a:spcBef>
                <a:spcPts val="5"/>
              </a:spcBef>
              <a:tabLst/>
            </a:pPr>
            <a:r>
              <a:rPr lang="el-GR" sz="19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            Άλλοι κίνδυνοι</a:t>
            </a:r>
            <a:endParaRPr sz="19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0" y="7321092"/>
            <a:ext cx="6722109" cy="451484"/>
          </a:xfrm>
          <a:prstGeom prst="rect">
            <a:avLst/>
          </a:prstGeom>
          <a:solidFill>
            <a:srgbClr val="C6D82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87525" marR="0" lvl="0" indent="-1727200" algn="ctr" defTabSz="914400" rtl="0" eaLnBrk="0" fontAlgn="auto" latinLnBrk="0" hangingPunct="1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300" b="1" i="0" u="none" strike="noStrike" kern="0" cap="none" spc="0" normalizeH="0" baseline="0" noProof="0" dirty="0">
              <a:ln>
                <a:noFill/>
              </a:ln>
              <a:solidFill>
                <a:srgbClr val="231F20">
                  <a:alpha val="100000"/>
                </a:srgbClr>
              </a:solidFill>
              <a:effectLst/>
              <a:uLnTx/>
              <a:uFillTx/>
              <a:latin typeface="Inter Extra Bold"/>
              <a:ea typeface="Inter Extra Bold"/>
              <a:cs typeface="Inter Extra Bold"/>
            </a:endParaRPr>
          </a:p>
          <a:p>
            <a:pPr marL="1787525" marR="0" lvl="0" indent="-1727200" algn="ctr" defTabSz="914400" rtl="0" eaLnBrk="0" fontAlgn="auto" latinLnBrk="0" hangingPunct="1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300" b="1" i="0" u="none" strike="noStrike" kern="0" cap="none" spc="0" normalizeH="0" baseline="0" noProof="0" dirty="0">
                <a:ln>
                  <a:noFill/>
                </a:ln>
                <a:solidFill>
                  <a:srgbClr val="231F20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ΞΕΚΙΝΑΜΕ ΤΗΝ ΕΡΓΑΣΙΑ </a:t>
            </a:r>
            <a:r>
              <a:rPr kumimoji="0" lang="el-GR" sz="1300" b="1" i="0" u="none" strike="noStrike" kern="0" cap="none" spc="0" normalizeH="0" baseline="0" noProof="0" dirty="0">
                <a:ln>
                  <a:noFill/>
                </a:ln>
                <a:solidFill>
                  <a:srgbClr val="0F5E5F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ΜΟΝΟ</a:t>
            </a:r>
            <a:r>
              <a:rPr kumimoji="0" lang="el-GR" sz="1300" b="1" i="0" u="none" strike="noStrike" kern="0" cap="none" spc="10" normalizeH="0" baseline="0" noProof="0" dirty="0">
                <a:ln>
                  <a:noFill/>
                </a:ln>
                <a:solidFill>
                  <a:srgbClr val="0F5E5F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 </a:t>
            </a:r>
            <a:r>
              <a:rPr kumimoji="0" lang="el-GR" sz="1300" b="1" i="0" u="none" strike="noStrike" kern="0" cap="none" spc="0" normalizeH="0" baseline="0" noProof="0" dirty="0">
                <a:ln>
                  <a:noFill/>
                </a:ln>
                <a:solidFill>
                  <a:srgbClr val="231F20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ΟΤΑΝ ΕΙΝΑΙ ΑΣΦΑΛΕΣ</a:t>
            </a:r>
            <a:r>
              <a:rPr kumimoji="0" lang="el-GR" sz="1300" b="1" i="0" u="none" strike="noStrike" kern="0" cap="none" spc="10" normalizeH="0" baseline="0" noProof="0" dirty="0">
                <a:ln>
                  <a:noFill/>
                </a:ln>
                <a:solidFill>
                  <a:srgbClr val="231F20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, </a:t>
            </a:r>
            <a:r>
              <a:rPr kumimoji="0" lang="el-GR" sz="1300" b="1" i="0" u="none" strike="noStrike" kern="0" cap="none" spc="0" normalizeH="0" baseline="0" noProof="0" dirty="0">
                <a:ln>
                  <a:noFill/>
                </a:ln>
                <a:solidFill>
                  <a:srgbClr val="231F20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ΚΑΙ</a:t>
            </a:r>
            <a:r>
              <a:rPr kumimoji="0" lang="el-GR" sz="1300" b="1" i="0" u="none" strike="noStrike" kern="0" cap="none" spc="10" normalizeH="0" baseline="0" noProof="0" dirty="0">
                <a:ln>
                  <a:noFill/>
                </a:ln>
                <a:solidFill>
                  <a:srgbClr val="231F20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 </a:t>
            </a:r>
            <a:r>
              <a:rPr kumimoji="0" lang="el-GR" sz="1300" b="1" i="0" u="none" strike="noStrike" kern="0" cap="none" spc="0" normalizeH="0" baseline="0" noProof="0" dirty="0">
                <a:ln>
                  <a:noFill/>
                </a:ln>
                <a:solidFill>
                  <a:srgbClr val="0F5E5F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ΣΤΑΜΑΤΑΜΕ</a:t>
            </a:r>
            <a:r>
              <a:rPr kumimoji="0" lang="el-GR" sz="1300" b="1" i="0" u="none" strike="noStrike" kern="0" cap="none" spc="10" normalizeH="0" baseline="0" noProof="0" dirty="0">
                <a:ln>
                  <a:noFill/>
                </a:ln>
                <a:solidFill>
                  <a:srgbClr val="0F5E5F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 </a:t>
            </a:r>
            <a:r>
              <a:rPr kumimoji="0" lang="el-GR" sz="1300" b="1" i="0" u="none" strike="noStrike" kern="0" cap="none" spc="0" normalizeH="0" baseline="0" noProof="0" dirty="0">
                <a:ln>
                  <a:noFill/>
                </a:ln>
                <a:solidFill>
                  <a:srgbClr val="231F20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ΟΤΑΝ ΔΕΝ ΕΙΝΑΙ</a:t>
            </a:r>
            <a:r>
              <a:rPr kumimoji="0" lang="el-GR" sz="1300" b="1" i="0" u="none" strike="noStrike" kern="0" cap="none" spc="10" normalizeH="0" baseline="0" noProof="0" dirty="0">
                <a:ln>
                  <a:noFill/>
                </a:ln>
                <a:solidFill>
                  <a:srgbClr val="231F20">
                    <a:alpha val="100000"/>
                  </a:srgbClr>
                </a:solidFill>
                <a:effectLst/>
                <a:uLnTx/>
                <a:uFillTx/>
                <a:latin typeface="Inter Extra Bold"/>
                <a:ea typeface="Inter Extra Bold"/>
                <a:cs typeface="Inter Extra Bold"/>
              </a:rPr>
              <a:t>.</a:t>
            </a:r>
            <a:endParaRPr kumimoji="0" lang="el-G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Extra Bold"/>
              <a:ea typeface="Inter Extra Bold"/>
              <a:cs typeface="Inter Extra Bold"/>
            </a:endParaRPr>
          </a:p>
        </p:txBody>
      </p:sp>
      <p:graphicFrame>
        <p:nvGraphicFramePr>
          <p:cNvPr id="52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578508"/>
              </p:ext>
            </p:extLst>
          </p:nvPr>
        </p:nvGraphicFramePr>
        <p:xfrm>
          <a:off x="6895765" y="6443278"/>
          <a:ext cx="2860039" cy="1070042"/>
        </p:xfrm>
        <a:graphic>
          <a:graphicData uri="http://schemas.openxmlformats.org/drawingml/2006/table">
            <a:tbl>
              <a:tblPr/>
              <a:tblGrid>
                <a:gridCol w="232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004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79000"/>
                        </a:lnSpc>
                        <a:tabLst/>
                      </a:pPr>
                      <a:r>
                        <a:rPr lang="el-GR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Ολοκληρώθηκε η εργασία;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270" algn="l" rtl="0" eaLnBrk="0">
                        <a:lnSpc>
                          <a:spcPct val="80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lang="el-GR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Υπήρξε κάποιο περιστατικό σχετικό με την ΥΑ&amp;Π;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08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150000"/>
                        </a:lnSpc>
                        <a:tabLst/>
                      </a:pPr>
                      <a:r>
                        <a:rPr lang="el-GR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Εάν ΝΑΙ,</a:t>
                      </a:r>
                      <a:r>
                        <a:rPr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l-GR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ποιος ενημερώθηκε και τι ώρα;</a:t>
                      </a:r>
                      <a:endParaRPr lang="el-GR"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l-GR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Ναι/Όχι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8580" algn="l" rtl="0" eaLnBrk="0">
                        <a:lnSpc>
                          <a:spcPct val="79000"/>
                        </a:lnSpc>
                        <a:spcBef>
                          <a:spcPts val="252"/>
                        </a:spcBef>
                        <a:tabLst/>
                      </a:pPr>
                      <a:endParaRPr lang="el-GR" sz="1000" kern="0" spc="-2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8580" algn="l" rtl="0" eaLnBrk="0">
                        <a:lnSpc>
                          <a:spcPct val="79000"/>
                        </a:lnSpc>
                        <a:spcBef>
                          <a:spcPts val="252"/>
                        </a:spcBef>
                        <a:tabLst/>
                      </a:pPr>
                      <a:r>
                        <a:rPr lang="el-GR" sz="10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Ναι/Όχι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4"/>
          <p:cNvGraphicFramePr>
            <a:graphicFrameLocks noGrp="1"/>
          </p:cNvGraphicFramePr>
          <p:nvPr/>
        </p:nvGraphicFramePr>
        <p:xfrm>
          <a:off x="6845402" y="5253888"/>
          <a:ext cx="3084830" cy="582295"/>
        </p:xfrm>
        <a:graphic>
          <a:graphicData uri="http://schemas.openxmlformats.org/drawingml/2006/table">
            <a:tbl>
              <a:tblPr/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path 56"/>
          <p:cNvSpPr/>
          <p:nvPr/>
        </p:nvSpPr>
        <p:spPr>
          <a:xfrm>
            <a:off x="3810267" y="6494673"/>
            <a:ext cx="2191156" cy="361227"/>
          </a:xfrm>
          <a:custGeom>
            <a:avLst/>
            <a:gdLst/>
            <a:ahLst/>
            <a:cxnLst/>
            <a:rect l="0" t="0" r="0" b="0"/>
            <a:pathLst>
              <a:path w="3450" h="568">
                <a:moveTo>
                  <a:pt x="0" y="9"/>
                </a:moveTo>
                <a:lnTo>
                  <a:pt x="3450" y="9"/>
                </a:lnTo>
                <a:moveTo>
                  <a:pt x="0" y="284"/>
                </a:moveTo>
                <a:lnTo>
                  <a:pt x="3450" y="284"/>
                </a:lnTo>
                <a:moveTo>
                  <a:pt x="0" y="559"/>
                </a:moveTo>
                <a:lnTo>
                  <a:pt x="3450" y="559"/>
                </a:lnTo>
              </a:path>
            </a:pathLst>
          </a:custGeom>
          <a:noFill/>
          <a:ln w="11709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6845402" y="2539428"/>
          <a:ext cx="3084830" cy="192404"/>
        </p:xfrm>
        <a:graphic>
          <a:graphicData uri="http://schemas.openxmlformats.org/drawingml/2006/table">
            <a:tbl>
              <a:tblPr/>
              <a:tblGrid>
                <a:gridCol w="308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6845402" y="2111171"/>
          <a:ext cx="3084830" cy="192404"/>
        </p:xfrm>
        <a:graphic>
          <a:graphicData uri="http://schemas.openxmlformats.org/drawingml/2006/table">
            <a:tbl>
              <a:tblPr/>
              <a:tblGrid>
                <a:gridCol w="308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textbox 62"/>
          <p:cNvSpPr/>
          <p:nvPr/>
        </p:nvSpPr>
        <p:spPr>
          <a:xfrm>
            <a:off x="146539" y="1362406"/>
            <a:ext cx="2588260" cy="4312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lang="el-GR" sz="1900" b="1" kern="0" spc="-1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Οι Κανόνες Ασφαλείας που Σώζουν Ζωές</a:t>
            </a:r>
            <a:endParaRPr sz="19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8387817" y="2829173"/>
            <a:ext cx="1542414" cy="27452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lang="el-GR"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Όνομα του: </a:t>
            </a:r>
            <a:r>
              <a:rPr lang="el-GR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Φίλου/</a:t>
            </a:r>
          </a:p>
          <a:p>
            <a:pPr marL="12700" algn="l" rtl="0" eaLnBrk="0">
              <a:lnSpc>
                <a:spcPct val="78000"/>
              </a:lnSpc>
              <a:tabLst/>
            </a:pPr>
            <a:r>
              <a:rPr lang="el-GR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Μέντορα</a:t>
            </a:r>
            <a:r>
              <a:rPr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/</a:t>
            </a:r>
            <a:r>
              <a:rPr lang="el-GR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Καθοδηγούμενου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6862114" y="1936217"/>
            <a:ext cx="2045666" cy="17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lang="el-GR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Επόπτης</a:t>
            </a:r>
            <a:r>
              <a:rPr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/</a:t>
            </a:r>
            <a:r>
              <a:rPr lang="el-GR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Επικεφαλής εργασιών</a:t>
            </a:r>
            <a:r>
              <a:rPr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246714" y="767871"/>
            <a:ext cx="139128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46"/>
              </a:lnSpc>
              <a:tabLst/>
            </a:pPr>
            <a:r>
              <a:rPr sz="1400" kern="0" spc="11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GE</a:t>
            </a:r>
            <a:r>
              <a:rPr sz="1400" kern="0" spc="20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1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</a:t>
            </a:r>
            <a:r>
              <a:rPr sz="1400" kern="0" spc="-13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1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NOVA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15190" y="636040"/>
            <a:ext cx="422300" cy="422605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3977" y="2022613"/>
            <a:ext cx="389585" cy="389585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4099" y="3137101"/>
            <a:ext cx="387819" cy="387807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0419" y="2559136"/>
            <a:ext cx="386905" cy="386918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3558" y="3696177"/>
            <a:ext cx="385610" cy="385597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13493" y="5924551"/>
            <a:ext cx="385368" cy="385368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3493" y="5368640"/>
            <a:ext cx="385368" cy="385368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14145" y="6481278"/>
            <a:ext cx="384733" cy="384733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6860715" y="2386552"/>
            <a:ext cx="1967783" cy="19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lang="el-GR"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Ελεγκτής </a:t>
            </a:r>
            <a:r>
              <a:rPr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(</a:t>
            </a:r>
            <a:r>
              <a:rPr lang="el-GR"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Προαιρετικό</a:t>
            </a:r>
            <a:r>
              <a:rPr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):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18657" y="4253156"/>
            <a:ext cx="378713" cy="378714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6862875" y="5101304"/>
            <a:ext cx="1075689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lang="el-GR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Χρήση χημικών: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8828499" y="7633475"/>
            <a:ext cx="1064260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000" kern="0" spc="-10" dirty="0">
                <a:solidFill>
                  <a:srgbClr val="231F20">
                    <a:alpha val="100000"/>
                  </a:srgbClr>
                </a:solidFill>
                <a:latin typeface="Inter Medium"/>
                <a:ea typeface="Inter Medium"/>
                <a:cs typeface="Inter Medium"/>
              </a:rPr>
              <a:t>Revision</a:t>
            </a:r>
            <a:r>
              <a:rPr sz="1000" kern="0" spc="100" dirty="0">
                <a:solidFill>
                  <a:srgbClr val="231F20">
                    <a:alpha val="100000"/>
                  </a:srgbClr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000" kern="0" spc="-10" dirty="0">
                <a:solidFill>
                  <a:srgbClr val="231F20">
                    <a:alpha val="100000"/>
                  </a:srgbClr>
                </a:solidFill>
                <a:latin typeface="Inter Medium"/>
                <a:ea typeface="Inter Medium"/>
                <a:cs typeface="Inter Medium"/>
              </a:rPr>
              <a:t>2026.01</a:t>
            </a:r>
            <a:endParaRPr sz="1000" dirty="0">
              <a:latin typeface="Inter Medium"/>
              <a:ea typeface="Inter Medium"/>
              <a:cs typeface="Inter Medium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845476" y="2966434"/>
            <a:ext cx="82740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lang="el-GR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Συμμετέχοντες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6887004" y="5913597"/>
            <a:ext cx="1342595" cy="168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lang="el-GR"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Ολοκλήρωση</a:t>
            </a:r>
            <a:r>
              <a:rPr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98" name="path 98"/>
          <p:cNvSpPr/>
          <p:nvPr/>
        </p:nvSpPr>
        <p:spPr>
          <a:xfrm>
            <a:off x="275094" y="4403280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path 100"/>
          <p:cNvSpPr/>
          <p:nvPr/>
        </p:nvSpPr>
        <p:spPr>
          <a:xfrm>
            <a:off x="275094" y="3843693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path 102"/>
          <p:cNvSpPr/>
          <p:nvPr/>
        </p:nvSpPr>
        <p:spPr>
          <a:xfrm>
            <a:off x="275094" y="3284118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 104"/>
          <p:cNvSpPr/>
          <p:nvPr/>
        </p:nvSpPr>
        <p:spPr>
          <a:xfrm>
            <a:off x="275094" y="2164956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275094" y="2724530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path 108"/>
          <p:cNvSpPr/>
          <p:nvPr/>
        </p:nvSpPr>
        <p:spPr>
          <a:xfrm>
            <a:off x="275094" y="6082017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path 110"/>
          <p:cNvSpPr/>
          <p:nvPr/>
        </p:nvSpPr>
        <p:spPr>
          <a:xfrm>
            <a:off x="275094" y="6641604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path 112"/>
          <p:cNvSpPr/>
          <p:nvPr/>
        </p:nvSpPr>
        <p:spPr>
          <a:xfrm>
            <a:off x="275094" y="5522442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path 114"/>
          <p:cNvSpPr/>
          <p:nvPr/>
        </p:nvSpPr>
        <p:spPr>
          <a:xfrm>
            <a:off x="275094" y="4962855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39173" y="4945960"/>
            <a:ext cx="36220" cy="36220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38441" y="5000221"/>
            <a:ext cx="25996" cy="40817"/>
          </a:xfrm>
          <a:prstGeom prst="rect">
            <a:avLst/>
          </a:prstGeom>
        </p:spPr>
      </p:pic>
      <p:sp>
        <p:nvSpPr>
          <p:cNvPr id="3" name="path 12">
            <a:extLst>
              <a:ext uri="{FF2B5EF4-FFF2-40B4-BE49-F238E27FC236}">
                <a16:creationId xmlns:a16="http://schemas.microsoft.com/office/drawing/2014/main" id="{B1F77786-4BEA-A343-F790-1DBA3E145751}"/>
              </a:ext>
            </a:extLst>
          </p:cNvPr>
          <p:cNvSpPr/>
          <p:nvPr/>
        </p:nvSpPr>
        <p:spPr>
          <a:xfrm>
            <a:off x="3504769" y="5363063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" name="path 18">
            <a:extLst>
              <a:ext uri="{FF2B5EF4-FFF2-40B4-BE49-F238E27FC236}">
                <a16:creationId xmlns:a16="http://schemas.microsoft.com/office/drawing/2014/main" id="{CCCC49C3-7825-6A00-CF5F-666FC1731DB6}"/>
              </a:ext>
            </a:extLst>
          </p:cNvPr>
          <p:cNvSpPr/>
          <p:nvPr/>
        </p:nvSpPr>
        <p:spPr>
          <a:xfrm>
            <a:off x="3513866" y="4476062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" name="path 12">
            <a:extLst>
              <a:ext uri="{FF2B5EF4-FFF2-40B4-BE49-F238E27FC236}">
                <a16:creationId xmlns:a16="http://schemas.microsoft.com/office/drawing/2014/main" id="{6927044B-B6E1-08DE-3C16-AD19CCD67ADD}"/>
              </a:ext>
            </a:extLst>
          </p:cNvPr>
          <p:cNvSpPr/>
          <p:nvPr/>
        </p:nvSpPr>
        <p:spPr>
          <a:xfrm>
            <a:off x="3513867" y="3035984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" name="path 12">
            <a:extLst>
              <a:ext uri="{FF2B5EF4-FFF2-40B4-BE49-F238E27FC236}">
                <a16:creationId xmlns:a16="http://schemas.microsoft.com/office/drawing/2014/main" id="{5C603C41-80B5-9B29-912F-0AE454898599}"/>
              </a:ext>
            </a:extLst>
          </p:cNvPr>
          <p:cNvSpPr/>
          <p:nvPr/>
        </p:nvSpPr>
        <p:spPr>
          <a:xfrm>
            <a:off x="3505263" y="2865610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" name="path 12">
            <a:extLst>
              <a:ext uri="{FF2B5EF4-FFF2-40B4-BE49-F238E27FC236}">
                <a16:creationId xmlns:a16="http://schemas.microsoft.com/office/drawing/2014/main" id="{E8AF4B3E-A317-34A3-89F6-0BF4C917BD71}"/>
              </a:ext>
            </a:extLst>
          </p:cNvPr>
          <p:cNvSpPr/>
          <p:nvPr/>
        </p:nvSpPr>
        <p:spPr>
          <a:xfrm>
            <a:off x="3505262" y="2355081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" name="path 12">
            <a:extLst>
              <a:ext uri="{FF2B5EF4-FFF2-40B4-BE49-F238E27FC236}">
                <a16:creationId xmlns:a16="http://schemas.microsoft.com/office/drawing/2014/main" id="{5300A454-D6F3-ED39-A65C-1FB2877D86B4}"/>
              </a:ext>
            </a:extLst>
          </p:cNvPr>
          <p:cNvSpPr/>
          <p:nvPr/>
        </p:nvSpPr>
        <p:spPr>
          <a:xfrm>
            <a:off x="3513867" y="2519737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path 12">
            <a:extLst>
              <a:ext uri="{FF2B5EF4-FFF2-40B4-BE49-F238E27FC236}">
                <a16:creationId xmlns:a16="http://schemas.microsoft.com/office/drawing/2014/main" id="{50B4AD0F-4EAD-3CD8-119D-846D20FCEA95}"/>
              </a:ext>
            </a:extLst>
          </p:cNvPr>
          <p:cNvSpPr/>
          <p:nvPr/>
        </p:nvSpPr>
        <p:spPr>
          <a:xfrm>
            <a:off x="3513866" y="3206626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" name="path 12">
            <a:extLst>
              <a:ext uri="{FF2B5EF4-FFF2-40B4-BE49-F238E27FC236}">
                <a16:creationId xmlns:a16="http://schemas.microsoft.com/office/drawing/2014/main" id="{7D22724E-4566-C2CE-9C03-7FDB2068398E}"/>
              </a:ext>
            </a:extLst>
          </p:cNvPr>
          <p:cNvSpPr/>
          <p:nvPr/>
        </p:nvSpPr>
        <p:spPr>
          <a:xfrm>
            <a:off x="3505261" y="4275316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" name="path 12">
            <a:extLst>
              <a:ext uri="{FF2B5EF4-FFF2-40B4-BE49-F238E27FC236}">
                <a16:creationId xmlns:a16="http://schemas.microsoft.com/office/drawing/2014/main" id="{CD48BE73-3FA1-76FE-BAB3-6151A8AC3368}"/>
              </a:ext>
            </a:extLst>
          </p:cNvPr>
          <p:cNvSpPr/>
          <p:nvPr/>
        </p:nvSpPr>
        <p:spPr>
          <a:xfrm>
            <a:off x="3504769" y="6117235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02672"/>
              </p:ext>
            </p:extLst>
          </p:nvPr>
        </p:nvGraphicFramePr>
        <p:xfrm>
          <a:off x="417521" y="825259"/>
          <a:ext cx="9267499" cy="6063313"/>
        </p:xfrm>
        <a:graphic>
          <a:graphicData uri="http://schemas.openxmlformats.org/drawingml/2006/table">
            <a:tbl>
              <a:tblPr/>
              <a:tblGrid>
                <a:gridCol w="2777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188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80" indent="-762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lang="el-GR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ΠΟΙΑ</a:t>
                      </a:r>
                      <a:r>
                        <a:rPr sz="1200" b="1" kern="0" spc="1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l-GR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είναι η εργασία;</a:t>
                      </a:r>
                      <a:r>
                        <a:rPr sz="12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σύντομη περιγραφή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lang="en-US" sz="1200" kern="0" spc="-10" dirty="0">
                        <a:solidFill>
                          <a:srgbClr val="777676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55880" indent="-762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lang="el-GR" sz="800" i="1" kern="0" spc="7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π.χ.</a:t>
                      </a:r>
                      <a:r>
                        <a:rPr sz="800" i="1" kern="0" spc="7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:</a:t>
                      </a:r>
                      <a:r>
                        <a:rPr sz="800" kern="0" spc="7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l-GR" sz="800" kern="0" spc="7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Αφαίρεση συμπιεστή στην </a:t>
                      </a:r>
                      <a:r>
                        <a:rPr lang="en-US" sz="800" kern="0" spc="7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GT21, </a:t>
                      </a:r>
                      <a:r>
                        <a:rPr lang="el-GR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Ξεβίδωμα του κελύφους 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HP</a:t>
                      </a:r>
                      <a:r>
                        <a:rPr lang="el-GR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.</a:t>
                      </a:r>
                      <a:endParaRPr sz="800" dirty="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98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lang="el-GR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ΠΩΣ</a:t>
                      </a:r>
                      <a:r>
                        <a:rPr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l-GR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θα την εκτελέσω;</a:t>
                      </a:r>
                      <a:r>
                        <a:rPr sz="1200" kern="0" spc="1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λεπτομέρειες της εργασίας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6000"/>
                        </a:lnSpc>
                        <a:tabLst/>
                      </a:pPr>
                      <a:r>
                        <a:rPr lang="el-GR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Αναλογίσου τις πηγές ενέργειας</a:t>
                      </a:r>
                      <a:r>
                        <a:rPr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</a:t>
                      </a:r>
                      <a:r>
                        <a:rPr sz="800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l-GR" sz="800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απαιτούμενες δεξιότητες</a:t>
                      </a:r>
                      <a:r>
                        <a:rPr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</a:t>
                      </a:r>
                      <a:r>
                        <a:rPr sz="800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l-GR" sz="800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άδειες</a:t>
                      </a:r>
                      <a:r>
                        <a:rPr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</a:t>
                      </a:r>
                      <a:r>
                        <a:rPr sz="800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l-GR" sz="800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εργαλεία και εξοπλισμός που απαιτούνται για την εκτέλεση της εργασίας</a:t>
                      </a:r>
                      <a:endParaRPr sz="800" dirty="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08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147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Έγγραφα καθοδήγησης για την εκτέλεση της εργασίας</a:t>
                      </a:r>
                      <a:r>
                        <a:rPr sz="1200" kern="0" spc="1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Κύκλωσε όποιο χρησιμοποιείται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r>
                        <a:rPr sz="12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: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Διαδικασία εκτέλεσης</a:t>
                      </a:r>
                      <a:r>
                        <a:rPr sz="700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   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Live</a:t>
                      </a:r>
                      <a:r>
                        <a:rPr sz="700" kern="0" spc="1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Outage</a:t>
                      </a:r>
                      <a:r>
                        <a:rPr sz="700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</a:t>
                      </a:r>
                      <a:r>
                        <a:rPr lang="en-US" sz="700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</a:t>
                      </a:r>
                      <a:r>
                        <a:rPr lang="el-GR" sz="700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Σχέδιο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lang="en-US"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86000"/>
                        </a:lnSpc>
                        <a:tabLst/>
                      </a:pP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Οδηγία Τροποποίησης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στο Πεδίο 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(FMI)</a:t>
                      </a:r>
                      <a:endParaRPr lang="en-US"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ή Επιστολή Τεχνικού Εγγράφου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(TIL)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lang="en-US"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064" algn="l" rtl="0" eaLnBrk="0">
                        <a:lnSpc>
                          <a:spcPct val="9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Σχέδιο ανύψωσης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</a:t>
                      </a: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Αξιολόγηση Κινδύνων Εργασίας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(TRA)      </a:t>
                      </a:r>
                      <a:r>
                        <a:rPr lang="el-GR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Εγχειρίδιο εξοπλισμού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</a:t>
                      </a:r>
                      <a:r>
                        <a:rPr lang="el-GR"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Κανένα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Εξήγησε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66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l-GR" sz="1200" b="1" kern="0" spc="-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ΤΙ</a:t>
                      </a:r>
                      <a:r>
                        <a:rPr sz="1200" b="1" kern="0" spc="-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l-GR" sz="12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μπορεί να με βλάψει;</a:t>
                      </a:r>
                      <a:r>
                        <a:rPr sz="12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Κίνδυνοι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98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lang="el-GR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ΠΩΣ</a:t>
                      </a:r>
                      <a:r>
                        <a:rPr sz="1200" b="1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l-GR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μπορώ να αποτρέψω τον τραυματισμό;</a:t>
                      </a:r>
                      <a:r>
                        <a:rPr sz="1200" kern="0" spc="1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Μέτρα ελέγχου/Περιορισμού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2137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697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22" name="textbox 122"/>
          <p:cNvSpPr/>
          <p:nvPr/>
        </p:nvSpPr>
        <p:spPr>
          <a:xfrm>
            <a:off x="0" y="7321346"/>
            <a:ext cx="10058400" cy="451484"/>
          </a:xfrm>
          <a:prstGeom prst="rect">
            <a:avLst/>
          </a:prstGeom>
          <a:solidFill>
            <a:srgbClr val="C6D82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88795" algn="l" rtl="0" eaLnBrk="0">
              <a:lnSpc>
                <a:spcPct val="78000"/>
              </a:lnSpc>
              <a:tabLst/>
            </a:pPr>
            <a:r>
              <a:rPr lang="el-GR" sz="1500" b="1" kern="0" spc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ΞΕΚΙΝΑΜΕ ΤΗΝ ΕΡΓΑΣΙΑ </a:t>
            </a:r>
            <a:r>
              <a:rPr lang="el-GR" sz="1500" b="1" kern="0" spc="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ΜΟΝΟ</a:t>
            </a:r>
            <a:r>
              <a:rPr sz="1500" b="1" kern="0" spc="1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l-GR" sz="1500" b="1" kern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ΟΤΑΝ ΕΙΝΑΙ ΑΣΦΑΛΕΣ</a:t>
            </a:r>
            <a:r>
              <a:rPr sz="1500" b="1" kern="0" spc="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, </a:t>
            </a:r>
            <a:r>
              <a:rPr lang="el-GR" sz="1500" b="1" kern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ΚΑΙ</a:t>
            </a:r>
            <a:r>
              <a:rPr sz="1500" b="1" kern="0" spc="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l-GR" sz="1500" b="1" kern="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ΣΤΑΜΑΤΑΜΕ</a:t>
            </a:r>
            <a:r>
              <a:rPr sz="1500" b="1" kern="0" spc="1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l-GR" sz="1500" b="1" kern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ΟΤΑΝ ΔΕΝ ΕΙΝΑΙ</a:t>
            </a:r>
            <a:r>
              <a:rPr sz="1500" b="1" kern="0" spc="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.</a:t>
            </a:r>
            <a:endParaRPr sz="15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-10785" y="299544"/>
            <a:ext cx="10058400" cy="451484"/>
          </a:xfrm>
          <a:prstGeom prst="rect">
            <a:avLst/>
          </a:prstGeom>
          <a:solidFill>
            <a:srgbClr val="C6D82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4554" algn="l" rtl="0" eaLnBrk="0">
              <a:lnSpc>
                <a:spcPct val="75000"/>
              </a:lnSpc>
              <a:tabLst/>
            </a:pPr>
            <a:r>
              <a:rPr lang="el-GR" sz="15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ΤΑ ΜΑΠ ΕΙΝΑΙ ΕΙΝΑΙ Η </a:t>
            </a:r>
            <a:r>
              <a:rPr lang="el-GR" sz="1500" b="1" kern="0" spc="-1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ΤΕΛΕΥΤΑΙΑ</a:t>
            </a:r>
            <a:r>
              <a:rPr sz="1500" b="1" kern="0" spc="9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l-GR" sz="15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ΓΡΑΜΜΗ </a:t>
            </a:r>
            <a:r>
              <a:rPr lang="el-GR" sz="15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ΑΜΥΝΑΣ</a:t>
            </a:r>
            <a:endParaRPr sz="1500" dirty="0">
              <a:latin typeface="Inter Extra Bold"/>
              <a:ea typeface="Inter Extra Bold"/>
              <a:cs typeface="Inter Extra Bold"/>
            </a:endParaRPr>
          </a:p>
        </p:txBody>
      </p:sp>
      <p:graphicFrame>
        <p:nvGraphicFramePr>
          <p:cNvPr id="126" name="table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53450"/>
              </p:ext>
            </p:extLst>
          </p:nvPr>
        </p:nvGraphicFramePr>
        <p:xfrm>
          <a:off x="417524" y="6918185"/>
          <a:ext cx="9201785" cy="328929"/>
        </p:xfrm>
        <a:graphic>
          <a:graphicData uri="http://schemas.openxmlformats.org/drawingml/2006/table">
            <a:tbl>
              <a:tblPr/>
              <a:tblGrid>
                <a:gridCol w="294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9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9838" indent="-782638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lang="el-GR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Επανεστίαση εργασίας</a:t>
                      </a:r>
                      <a:r>
                        <a:rPr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l-GR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Φορά</a:t>
                      </a:r>
                      <a:r>
                        <a:rPr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l-GR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ές</a:t>
                      </a:r>
                      <a:r>
                        <a:rPr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):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0E235CFD-364A-440F-BC5C-EE58BDB407EC}"/>
</file>

<file path=customXml/itemProps2.xml><?xml version="1.0" encoding="utf-8"?>
<ds:datastoreItem xmlns:ds="http://schemas.openxmlformats.org/officeDocument/2006/customXml" ds:itemID="{012D2E21-C3EC-491B-A34F-6E1FFE6AEA76}"/>
</file>

<file path=customXml/itemProps3.xml><?xml version="1.0" encoding="utf-8"?>
<ds:datastoreItem xmlns:ds="http://schemas.openxmlformats.org/officeDocument/2006/customXml" ds:itemID="{31FA76C8-7A99-4D23-A0AE-48A785A55CA4}"/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526</Words>
  <Application>Microsoft Office PowerPoint</Application>
  <PresentationFormat>Custom</PresentationFormat>
  <Paragraphs>159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Microsoft JhengHei</vt:lpstr>
      <vt:lpstr>Arial</vt:lpstr>
      <vt:lpstr>Inter</vt:lpstr>
      <vt:lpstr>Inter Extra Bold</vt:lpstr>
      <vt:lpstr>Inter Medium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GEV SWAT 2026</dc:title>
  <cp:lastModifiedBy>Beligiannis, Angelos (GE Vernova, consultant)</cp:lastModifiedBy>
  <cp:revision>30</cp:revision>
  <dcterms:created xsi:type="dcterms:W3CDTF">2025-12-10T03:05:11Z</dcterms:created>
  <dcterms:modified xsi:type="dcterms:W3CDTF">2026-04-06T17:41:24Z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2025-12-10T03:06:43Z</vt:filetime>
  </property>
  <property fmtid="{D5CDD505-2E9C-101B-9397-08002B2CF9AE}" pid="4" name="ContentTypeId">
    <vt:lpwstr>0x010100AABA2F64D6E2C740A2EFD32F6136F44B</vt:lpwstr>
  </property>
</Properties>
</file>