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5"/>
  </p:notesMasterIdLst>
  <p:sldIdLst>
    <p:sldId id="256" r:id="rId3"/>
    <p:sldId id="257" r:id="rId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86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76EEE-2131-46AB-AC6E-FB9329E6EDB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76A67-4C48-42C7-B1FD-FE5F4A5C3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28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6A67-4C48-42C7-B1FD-FE5F4A5C3A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61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4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03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28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71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60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86703" y="1558174"/>
            <a:ext cx="3271130" cy="4867998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459"/>
              </a:spcBef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Lucrări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adiacente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</a:p>
          <a:p>
            <a:pPr marL="220345" marR="92773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Pozitionarea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corpului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/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Ergonomie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Arsuri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/</a:t>
            </a:r>
            <a:r>
              <a:rPr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F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oc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/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Lucru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la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cald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</a:p>
          <a:p>
            <a:pPr marL="220345" marR="92773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Eșecul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comunicare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27735">
              <a:lnSpc>
                <a:spcPct val="100000"/>
              </a:lnSpc>
            </a:pPr>
            <a:r>
              <a:rPr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Ob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iecte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căzute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2773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Praf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/</a:t>
            </a:r>
            <a:r>
              <a:rPr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Fum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/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Particule</a:t>
            </a:r>
            <a:endParaRPr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32651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Șoc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El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ectric 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Mediul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/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Vremea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32651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Cădere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 la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înălțime</a:t>
            </a:r>
            <a:endParaRPr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32651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Ridicare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manuală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grea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32651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Hidrogen</a:t>
            </a:r>
            <a:endParaRPr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32651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Pericole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igienă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industrială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(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amoniac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,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azbest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,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crom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hexavalent,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hidrogen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, plumb)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23189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Zgomot</a:t>
            </a:r>
            <a:endParaRPr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23189"/>
            <a:r>
              <a:rPr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P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uncte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prindere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123189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Scule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electrice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și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scule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hidraulice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8742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Locuri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muncă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restricționate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</a:p>
          <a:p>
            <a:pPr marL="220345" marR="98742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Alunecare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Împiedicari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Căderi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87425">
              <a:lnSpc>
                <a:spcPct val="100000"/>
              </a:lnSpc>
            </a:pPr>
            <a:r>
              <a:rPr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Radiati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i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8742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Eșec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tachelaj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8742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Echipament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rotative</a:t>
            </a:r>
          </a:p>
          <a:p>
            <a:pPr marL="220345" marR="98742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Obiecte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Ascutite</a:t>
            </a:r>
            <a:endParaRPr lang="en-US"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8742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Lovit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</a:t>
            </a:r>
          </a:p>
          <a:p>
            <a:pPr marL="220345" marR="987425">
              <a:lnSpc>
                <a:spcPct val="100000"/>
              </a:lnSpc>
            </a:pP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Unelte</a:t>
            </a:r>
            <a:r>
              <a:rPr lang="en-US"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defecte</a:t>
            </a:r>
            <a:endParaRPr sz="1100" spc="7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220345" marR="987425"/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Altele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(</a:t>
            </a:r>
            <a:r>
              <a:rPr lang="en-US" sz="1100" spc="7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Precizati</a:t>
            </a:r>
            <a:r>
              <a:rPr sz="1100" spc="7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3764072" y="6682385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64072" y="6952827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64072" y="7230981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83014" y="1161105"/>
            <a:ext cx="1741805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900" dirty="0">
                <a:solidFill>
                  <a:srgbClr val="006060"/>
                </a:solidFill>
                <a:latin typeface="Inter"/>
                <a:cs typeface="Inter"/>
              </a:rPr>
              <a:t>Alte </a:t>
            </a:r>
            <a:r>
              <a:rPr lang="en-US" sz="1900" dirty="0" err="1">
                <a:solidFill>
                  <a:srgbClr val="006060"/>
                </a:solidFill>
                <a:latin typeface="Inter"/>
                <a:cs typeface="Inter"/>
              </a:rPr>
              <a:t>pericole</a:t>
            </a:r>
            <a:endParaRPr sz="1900" dirty="0">
              <a:latin typeface="Inter"/>
              <a:cs typeface="Inter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33600" y="132113"/>
            <a:ext cx="4640635" cy="8213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indent="567690" algn="ctr">
              <a:lnSpc>
                <a:spcPts val="2900"/>
              </a:lnSpc>
              <a:spcBef>
                <a:spcPts val="605"/>
              </a:spcBef>
            </a:pPr>
            <a:r>
              <a:rPr lang="en-US" spc="50" dirty="0" err="1"/>
              <a:t>Evaluarea</a:t>
            </a:r>
            <a:r>
              <a:rPr lang="en-US" spc="50" dirty="0"/>
              <a:t> </a:t>
            </a:r>
            <a:r>
              <a:rPr lang="en-US" spc="50" dirty="0" err="1"/>
              <a:t>riscurilor</a:t>
            </a:r>
            <a:r>
              <a:rPr lang="en-US" spc="50" dirty="0"/>
              <a:t> la </a:t>
            </a:r>
            <a:r>
              <a:rPr lang="en-US" spc="50" dirty="0" err="1"/>
              <a:t>începutul</a:t>
            </a:r>
            <a:r>
              <a:rPr lang="en-US" spc="50" dirty="0"/>
              <a:t> </a:t>
            </a:r>
            <a:r>
              <a:rPr lang="en-US" spc="50" dirty="0" err="1"/>
              <a:t>lucrării</a:t>
            </a:r>
            <a:endParaRPr spc="-20" dirty="0"/>
          </a:p>
        </p:txBody>
      </p:sp>
      <p:sp>
        <p:nvSpPr>
          <p:cNvPr id="10" name="object 10"/>
          <p:cNvSpPr/>
          <p:nvPr/>
        </p:nvSpPr>
        <p:spPr>
          <a:xfrm>
            <a:off x="6851739" y="211731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875" y="1928632"/>
            <a:ext cx="2036776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Supervizor</a:t>
            </a:r>
            <a:r>
              <a:rPr lang="en-US"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/</a:t>
            </a:r>
            <a:r>
              <a:rPr lang="en-US"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Lider</a:t>
            </a:r>
            <a:r>
              <a:rPr lang="en-US"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 de </a:t>
            </a:r>
            <a:r>
              <a:rPr lang="en-US"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activitate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1739" y="254544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57875" y="2356761"/>
            <a:ext cx="176339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Auditor (</a:t>
            </a:r>
            <a:r>
              <a:rPr lang="en-US"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Optional</a:t>
            </a:r>
            <a:r>
              <a:rPr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):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57874" y="5071386"/>
            <a:ext cx="13717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 err="1">
                <a:solidFill>
                  <a:srgbClr val="231F20"/>
                </a:solidFill>
                <a:latin typeface="Inter"/>
                <a:cs typeface="Inter"/>
              </a:rPr>
              <a:t>Ch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i</a:t>
            </a:r>
            <a:r>
              <a:rPr sz="1000" dirty="0" err="1">
                <a:solidFill>
                  <a:srgbClr val="231F20"/>
                </a:solidFill>
                <a:latin typeface="Inter"/>
                <a:cs typeface="Inter"/>
              </a:rPr>
              <a:t>mica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le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folosite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96479"/>
              </p:ext>
            </p:extLst>
          </p:nvPr>
        </p:nvGraphicFramePr>
        <p:xfrm>
          <a:off x="6862213" y="5279077"/>
          <a:ext cx="307340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endParaRPr sz="1000" b="1" kern="0" spc="-3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ea typeface="+mn-ea"/>
                        <a:cs typeface="Inter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endParaRPr sz="1000" b="1" kern="0" spc="-3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ea typeface="+mn-ea"/>
                        <a:cs typeface="Inter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endParaRPr sz="1000" b="1" kern="0" spc="-3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ea typeface="+mn-ea"/>
                        <a:cs typeface="Inter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036063"/>
              </p:ext>
            </p:extLst>
          </p:nvPr>
        </p:nvGraphicFramePr>
        <p:xfrm>
          <a:off x="6847154" y="3112566"/>
          <a:ext cx="307657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1 )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2 )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3 )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4 )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5 )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6 )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7 )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8 )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9 )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10 )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39029" y="2937290"/>
            <a:ext cx="7740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Participant</a:t>
            </a:r>
            <a:r>
              <a:rPr lang="en-US"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i</a:t>
            </a:r>
            <a:r>
              <a:rPr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73925" y="2756965"/>
            <a:ext cx="1602936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Numele</a:t>
            </a:r>
            <a:r>
              <a:rPr lang="en-US"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Buddy/ Mentor/</a:t>
            </a:r>
            <a:r>
              <a:rPr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Ment</a:t>
            </a:r>
            <a:r>
              <a:rPr lang="en-US" sz="1000" b="1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orat</a:t>
            </a:r>
            <a:r>
              <a:rPr sz="1000" b="1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:</a:t>
            </a: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772042"/>
              </p:ext>
            </p:extLst>
          </p:nvPr>
        </p:nvGraphicFramePr>
        <p:xfrm>
          <a:off x="6845389" y="158838"/>
          <a:ext cx="3072129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Punctul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 de 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adunare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:</a:t>
                      </a: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Numărul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 de 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urgență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: </a:t>
                      </a:r>
                      <a:endParaRPr sz="1000" b="1" kern="0" spc="-2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Nume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 S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ite/</a:t>
                      </a:r>
                      <a:r>
                        <a:rPr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Locati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e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/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Unitate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Permi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s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 de 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lucru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 nr #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Dat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a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b="1" kern="0" spc="-2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Ora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b="1" kern="0" spc="-2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S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chimb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Zi</a:t>
                      </a:r>
                      <a:endParaRPr sz="1000" b="1" kern="0" spc="-2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Amiaza</a:t>
                      </a:r>
                      <a:endParaRPr sz="1000" b="1" kern="0" spc="-2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Extra Bold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</a:t>
                      </a: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oapte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8"/>
            <a:ext cx="6521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Închidere</a:t>
            </a:r>
            <a:r>
              <a:rPr sz="1000" spc="-2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5891" y="6068517"/>
            <a:ext cx="3074035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95975" y="6058427"/>
            <a:ext cx="17868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Supervi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z</a:t>
            </a: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or</a:t>
            </a:r>
            <a:r>
              <a:rPr sz="1000" spc="-2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(</a:t>
            </a: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S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emnatura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)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5975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95975" y="6607069"/>
            <a:ext cx="1725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pt-BR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Sarcina este finalizată? 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pt-BR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Au existat evenimente EHS?</a:t>
            </a:r>
            <a:endParaRPr sz="1000" b="1" spc="-30" dirty="0">
              <a:solidFill>
                <a:srgbClr val="231F20">
                  <a:alpha val="100000"/>
                </a:srgbClr>
              </a:solidFill>
              <a:latin typeface="Inter Extra Bold"/>
              <a:ea typeface="+mn-ea"/>
              <a:cs typeface="In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57410" y="6607069"/>
            <a:ext cx="485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29845">
              <a:lnSpc>
                <a:spcPct val="100000"/>
              </a:lnSpc>
              <a:spcBef>
                <a:spcPts val="100"/>
              </a:spcBef>
            </a:pP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Da/Nu</a:t>
            </a:r>
          </a:p>
          <a:p>
            <a:pPr marR="5080" indent="29845">
              <a:lnSpc>
                <a:spcPct val="100000"/>
              </a:lnSpc>
              <a:spcBef>
                <a:spcPts val="100"/>
              </a:spcBef>
            </a:pP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Da/Nu</a:t>
            </a:r>
            <a:endParaRPr sz="1000" b="1" spc="-30" dirty="0">
              <a:solidFill>
                <a:srgbClr val="231F20">
                  <a:alpha val="100000"/>
                </a:srgbClr>
              </a:solidFill>
              <a:latin typeface="Inter Extra Bold"/>
              <a:ea typeface="+mn-ea"/>
              <a:cs typeface="Int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5975" y="7064269"/>
            <a:ext cx="246143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000" b="1" spc="-3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Dacă</a:t>
            </a: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 da, cine a </a:t>
            </a:r>
            <a:r>
              <a:rPr lang="en-US" sz="1000" b="1" spc="-3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fost</a:t>
            </a: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 </a:t>
            </a:r>
            <a:r>
              <a:rPr lang="en-US" sz="1000" b="1" spc="-3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anunțat</a:t>
            </a: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 </a:t>
            </a:r>
            <a:r>
              <a:rPr lang="en-US" sz="1000" b="1" spc="-3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și</a:t>
            </a: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 la </a:t>
            </a:r>
            <a:r>
              <a:rPr lang="en-US" sz="1000" b="1" spc="-3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ce</a:t>
            </a: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 </a:t>
            </a:r>
            <a:r>
              <a:rPr lang="en-US" sz="1000" b="1" spc="-3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oră</a:t>
            </a:r>
            <a:r>
              <a:rPr lang="en-US" sz="1000" b="1" spc="-3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+mn-ea"/>
                <a:cs typeface="Inter"/>
              </a:rPr>
              <a:t>?</a:t>
            </a:r>
            <a:endParaRPr sz="1000" b="1" spc="-30" dirty="0">
              <a:solidFill>
                <a:srgbClr val="231F20">
                  <a:alpha val="100000"/>
                </a:srgbClr>
              </a:solidFill>
              <a:latin typeface="Inter Extra Bold"/>
              <a:ea typeface="+mn-ea"/>
              <a:cs typeface="Inter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8512" y="7602718"/>
            <a:ext cx="10439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Revizia</a:t>
            </a: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202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6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.01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236" y="1154474"/>
            <a:ext cx="3013641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10" dirty="0" err="1">
                <a:solidFill>
                  <a:srgbClr val="006060"/>
                </a:solidFill>
                <a:latin typeface="Inter"/>
                <a:cs typeface="Inter"/>
              </a:rPr>
              <a:t>R</a:t>
            </a:r>
            <a:r>
              <a:rPr lang="en-US" sz="1900" spc="-10" dirty="0" err="1">
                <a:solidFill>
                  <a:srgbClr val="006060"/>
                </a:solidFill>
                <a:latin typeface="Inter"/>
                <a:cs typeface="Inter"/>
              </a:rPr>
              <a:t>egulile</a:t>
            </a:r>
            <a:r>
              <a:rPr lang="en-US" sz="1900" spc="-10" dirty="0">
                <a:solidFill>
                  <a:srgbClr val="006060"/>
                </a:solidFill>
                <a:latin typeface="Inter"/>
                <a:cs typeface="Inter"/>
              </a:rPr>
              <a:t> de </a:t>
            </a:r>
            <a:r>
              <a:rPr lang="en-US" sz="1900" spc="-10" dirty="0" err="1">
                <a:solidFill>
                  <a:srgbClr val="006060"/>
                </a:solidFill>
                <a:latin typeface="Inter"/>
                <a:cs typeface="Inter"/>
              </a:rPr>
              <a:t>Salvare</a:t>
            </a:r>
            <a:r>
              <a:rPr lang="en-US" sz="1900" spc="-10" dirty="0">
                <a:solidFill>
                  <a:srgbClr val="006060"/>
                </a:solidFill>
                <a:latin typeface="Inter"/>
                <a:cs typeface="Inter"/>
              </a:rPr>
              <a:t> a </a:t>
            </a:r>
            <a:r>
              <a:rPr lang="en-US" sz="1900" spc="-10" dirty="0" err="1">
                <a:solidFill>
                  <a:srgbClr val="006060"/>
                </a:solidFill>
                <a:latin typeface="Inter"/>
                <a:cs typeface="Inter"/>
              </a:rPr>
              <a:t>vietii</a:t>
            </a:r>
            <a:endParaRPr sz="1900" dirty="0">
              <a:latin typeface="Inter"/>
              <a:cs typeface="Inter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494" y="1594322"/>
            <a:ext cx="3037840" cy="5175135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95985">
              <a:lnSpc>
                <a:spcPts val="1400"/>
              </a:lnSpc>
              <a:spcBef>
                <a:spcPts val="775"/>
              </a:spcBef>
            </a:pP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Ridicare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mecanică</a:t>
            </a:r>
            <a:endParaRPr lang="en-US"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Planificați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ridicarea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,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controlați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zona,</a:t>
            </a:r>
          </a:p>
          <a:p>
            <a:pPr marL="895985">
              <a:lnSpc>
                <a:spcPct val="100000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stați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departe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obiectele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în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mișcare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sau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ridicate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1400"/>
              </a:lnSpc>
              <a:spcBef>
                <a:spcPts val="925"/>
              </a:spcBef>
            </a:pP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Lucru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la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inaltime</a:t>
            </a:r>
            <a:endParaRPr lang="en-US"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Evaluați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,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preveniți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și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protejați</a:t>
            </a:r>
            <a:endParaRPr lang="en-US"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ct val="100000"/>
              </a:lnSpc>
            </a:pPr>
            <a:r>
              <a:rPr lang="es-E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împotriva</a:t>
            </a:r>
            <a:r>
              <a:rPr lang="es-E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s-E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căderilor</a:t>
            </a:r>
            <a:r>
              <a:rPr lang="es-E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de la </a:t>
            </a:r>
            <a:r>
              <a:rPr lang="es-E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înălțime</a:t>
            </a:r>
            <a:endParaRPr lang="en-US"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925"/>
              </a:spcBef>
            </a:pP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Siguranța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la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Conducere</a:t>
            </a:r>
            <a:endParaRPr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Planifică-ți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călătoria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,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concentrează-te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pe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ct val="100000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condus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si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fii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atent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1400"/>
              </a:lnSpc>
              <a:spcBef>
                <a:spcPts val="925"/>
              </a:spcBef>
            </a:pPr>
            <a:r>
              <a:rPr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Lin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ia de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foc</a:t>
            </a:r>
            <a:endParaRPr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Păstrează-te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pe tine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și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pe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ceilalți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in afara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liniei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foc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1400"/>
              </a:lnSpc>
              <a:spcBef>
                <a:spcPts val="925"/>
              </a:spcBef>
            </a:pP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Autorizația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lucru</a:t>
            </a:r>
            <a:endParaRPr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Evalueați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riscul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,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aplicați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controale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și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obțineți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autorizația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înainte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de a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începe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lucrul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Spatiu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Inchis</a:t>
            </a:r>
            <a:endParaRPr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Evaluați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riscul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,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controlați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pericolele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și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obțineți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permisul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pentru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spațiu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închis</a:t>
            </a:r>
            <a:endParaRPr lang="en-US"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Izolarea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Energiilor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( LOTO)</a:t>
            </a:r>
            <a:endParaRPr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Izolați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și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verificați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energia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zero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înainte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de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începerea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lucrărilor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L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ucrari</a:t>
            </a:r>
            <a:r>
              <a:rPr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Electric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sub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tensiune</a:t>
            </a:r>
            <a:endParaRPr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Aplicați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controale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și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respectați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cerințele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</a:t>
            </a:r>
          </a:p>
          <a:p>
            <a:pPr marL="895985">
              <a:lnSpc>
                <a:spcPts val="919"/>
              </a:lnSpc>
            </a:pP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de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acces</a:t>
            </a:r>
            <a:r>
              <a:rPr lang="en-US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 in </a:t>
            </a:r>
            <a:r>
              <a:rPr lang="en-US" sz="700" spc="90" dirty="0" err="1">
                <a:solidFill>
                  <a:srgbClr val="231F20">
                    <a:alpha val="100000"/>
                  </a:srgbClr>
                </a:solidFill>
                <a:latin typeface="Inter Medium"/>
              </a:rPr>
              <a:t>zonă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 b="1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F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oc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si</a:t>
            </a:r>
            <a:r>
              <a:rPr lang="en-US" sz="1200" spc="-10" dirty="0">
                <a:solidFill>
                  <a:srgbClr val="0F5E5F">
                    <a:alpha val="100000"/>
                  </a:srgbClr>
                </a:solidFill>
                <a:latin typeface="Inter Medium"/>
              </a:rPr>
              <a:t> </a:t>
            </a:r>
            <a:r>
              <a:rPr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Explo</a:t>
            </a:r>
            <a:r>
              <a:rPr lang="en-US" sz="1200" spc="-10" dirty="0" err="1">
                <a:solidFill>
                  <a:srgbClr val="0F5E5F">
                    <a:alpha val="100000"/>
                  </a:srgbClr>
                </a:solidFill>
                <a:latin typeface="Inter Medium"/>
              </a:rPr>
              <a:t>zii</a:t>
            </a:r>
            <a:endParaRPr sz="1200" spc="-10" dirty="0">
              <a:solidFill>
                <a:srgbClr val="0F5E5F">
                  <a:alpha val="100000"/>
                </a:srgbClr>
              </a:solidFill>
              <a:latin typeface="Inter Medium"/>
            </a:endParaRPr>
          </a:p>
          <a:p>
            <a:pPr marL="895985">
              <a:lnSpc>
                <a:spcPts val="919"/>
              </a:lnSpc>
            </a:pPr>
            <a:r>
              <a:rPr lang="pt-BR" sz="700" spc="90" dirty="0">
                <a:solidFill>
                  <a:srgbClr val="231F20">
                    <a:alpha val="100000"/>
                  </a:srgbClr>
                </a:solidFill>
                <a:latin typeface="Inter Medium"/>
              </a:rPr>
              <a:t>Controlați sursele de aprindere și eliminati riscul de incendiu și explozie</a:t>
            </a:r>
            <a:endParaRPr sz="700" spc="90" dirty="0">
              <a:solidFill>
                <a:srgbClr val="231F20">
                  <a:alpha val="100000"/>
                </a:srgbClr>
              </a:solidFill>
              <a:latin typeface="Inter Medium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438152"/>
            <a:ext cx="6828501" cy="334653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0864" y="7464467"/>
            <a:ext cx="7688708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400" spc="5" dirty="0">
                <a:solidFill>
                  <a:srgbClr val="231F20"/>
                </a:solidFill>
                <a:latin typeface="Inter"/>
                <a:cs typeface="Inter"/>
              </a:rPr>
              <a:t>NOI INCEPEM LUCRUL</a:t>
            </a:r>
            <a:r>
              <a:rPr sz="1400" spc="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400" spc="5" dirty="0">
                <a:solidFill>
                  <a:srgbClr val="006060"/>
                </a:solidFill>
                <a:latin typeface="Inter"/>
                <a:cs typeface="Inter"/>
              </a:rPr>
              <a:t>NUMAI</a:t>
            </a:r>
            <a:r>
              <a:rPr sz="1400" spc="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400" spc="5" dirty="0">
                <a:solidFill>
                  <a:srgbClr val="231F20"/>
                </a:solidFill>
                <a:latin typeface="Inter"/>
                <a:cs typeface="Inter"/>
              </a:rPr>
              <a:t>CAND ESTE SIGUR</a:t>
            </a:r>
            <a:r>
              <a:rPr sz="1400" spc="-3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400" spc="-35" dirty="0">
                <a:solidFill>
                  <a:srgbClr val="231F20"/>
                </a:solidFill>
                <a:latin typeface="Inter"/>
                <a:cs typeface="Inter"/>
              </a:rPr>
              <a:t>SI</a:t>
            </a:r>
            <a:r>
              <a:rPr sz="1400" spc="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400" spc="5" dirty="0">
                <a:solidFill>
                  <a:srgbClr val="231F20"/>
                </a:solidFill>
                <a:latin typeface="Inter"/>
                <a:cs typeface="Inter"/>
              </a:rPr>
              <a:t>NE </a:t>
            </a:r>
            <a:r>
              <a:rPr lang="en-US" sz="1400" spc="5" dirty="0">
                <a:solidFill>
                  <a:srgbClr val="006060"/>
                </a:solidFill>
                <a:latin typeface="Inter"/>
                <a:cs typeface="Inter"/>
              </a:rPr>
              <a:t>OPRIM</a:t>
            </a:r>
            <a:r>
              <a:rPr sz="1400" spc="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400" spc="10" dirty="0">
                <a:solidFill>
                  <a:srgbClr val="231F20"/>
                </a:solidFill>
                <a:latin typeface="Inter"/>
                <a:cs typeface="Inter"/>
              </a:rPr>
              <a:t>CAND NU ESTE</a:t>
            </a:r>
            <a:r>
              <a:rPr sz="1500" spc="-20" dirty="0">
                <a:solidFill>
                  <a:srgbClr val="231F20"/>
                </a:solidFill>
                <a:latin typeface="Inter"/>
                <a:cs typeface="Inter"/>
              </a:rPr>
              <a:t>.</a:t>
            </a:r>
            <a:endParaRPr sz="1500" dirty="0">
              <a:latin typeface="Inter"/>
              <a:cs typeface="Inter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20170" y="168525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25748" y="185195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13033" y="21695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3511980" y="234425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11980" y="249967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09896" y="266425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22254" y="284971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21736" y="302555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25937" y="316138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21889" y="332647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25748" y="370093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08670" y="430592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18840" y="448027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15890" y="465537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14861" y="501310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16071" y="534611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16414" y="552166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16757" y="569722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17100" y="58727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17442" y="604833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04800" y="19050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/>
          <p:cNvSpPr/>
          <p:nvPr/>
        </p:nvSpPr>
        <p:spPr>
          <a:xfrm>
            <a:off x="304800" y="251013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4800" y="312586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3238" y="364131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4800" y="421359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90752" y="486026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94650" y="53934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86385" y="596091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85693" y="639914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456" y="517431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85347" y="1760617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576422" y="5802112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89052" y="4702683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30407" y="4046240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76436" y="2355159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4857" y="3007401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525024" y="6282548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6435" y="3508186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0209" y="5233535"/>
            <a:ext cx="387337" cy="387350"/>
          </a:xfrm>
          <a:prstGeom prst="rect">
            <a:avLst/>
          </a:prstGeom>
        </p:spPr>
      </p:pic>
      <p:sp>
        <p:nvSpPr>
          <p:cNvPr id="84" name="object 41">
            <a:extLst>
              <a:ext uri="{FF2B5EF4-FFF2-40B4-BE49-F238E27FC236}">
                <a16:creationId xmlns:a16="http://schemas.microsoft.com/office/drawing/2014/main" id="{86F29B18-2ED4-8E4F-DEFA-DA6850B54B5C}"/>
              </a:ext>
            </a:extLst>
          </p:cNvPr>
          <p:cNvSpPr/>
          <p:nvPr/>
        </p:nvSpPr>
        <p:spPr>
          <a:xfrm>
            <a:off x="3517156" y="349879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1">
            <a:extLst>
              <a:ext uri="{FF2B5EF4-FFF2-40B4-BE49-F238E27FC236}">
                <a16:creationId xmlns:a16="http://schemas.microsoft.com/office/drawing/2014/main" id="{FA7A3C9E-A037-1EBF-EA49-357F9BE24320}"/>
              </a:ext>
            </a:extLst>
          </p:cNvPr>
          <p:cNvSpPr/>
          <p:nvPr/>
        </p:nvSpPr>
        <p:spPr>
          <a:xfrm>
            <a:off x="3517100" y="623082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46">
            <a:extLst>
              <a:ext uri="{FF2B5EF4-FFF2-40B4-BE49-F238E27FC236}">
                <a16:creationId xmlns:a16="http://schemas.microsoft.com/office/drawing/2014/main" id="{6801294B-E290-06E0-FAD5-D1F335368CBD}"/>
              </a:ext>
            </a:extLst>
          </p:cNvPr>
          <p:cNvSpPr/>
          <p:nvPr/>
        </p:nvSpPr>
        <p:spPr>
          <a:xfrm>
            <a:off x="3525432" y="484682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75097"/>
              </p:ext>
            </p:extLst>
          </p:nvPr>
        </p:nvGraphicFramePr>
        <p:xfrm>
          <a:off x="416559" y="545312"/>
          <a:ext cx="9188450" cy="6433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179">
                <a:tc>
                  <a:txBody>
                    <a:bodyPr/>
                    <a:lstStyle/>
                    <a:p>
                      <a:pPr marL="38735" marR="0" lvl="0" indent="0" defTabSz="914400" eaLnBrk="1" fontAlgn="auto" latinLnBrk="0" hangingPunct="1">
                        <a:lnSpc>
                          <a:spcPts val="1435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cs typeface="Inter"/>
                        </a:rPr>
                        <a:t>CARE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este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sarcina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?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(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scurta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descriere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en-US" sz="120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endParaRPr lang="en-US" sz="700" b="1" i="1" dirty="0">
                        <a:solidFill>
                          <a:srgbClr val="757576"/>
                        </a:solidFill>
                        <a:latin typeface="Inter Semi Bold"/>
                        <a:cs typeface="Inter Semi Bold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eg:Demontare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compressor la GT21</a:t>
                      </a: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   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Demontare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şuruburi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ale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carcasei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HP </a:t>
                      </a: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0" defTabSz="914400" eaLnBrk="1" fontAlgn="auto" latinLnBrk="0" hangingPunct="1">
                        <a:lnSpc>
                          <a:spcPts val="1435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+mn-ea"/>
                          <a:cs typeface="Inter"/>
                        </a:rPr>
                        <a:t>CUM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o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voi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efectua</a:t>
                      </a:r>
                      <a:r>
                        <a:rPr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? (</a:t>
                      </a:r>
                      <a:r>
                        <a:rPr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deta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lii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ale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sarcinii</a:t>
                      </a:r>
                      <a:r>
                        <a:rPr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)</a:t>
                      </a: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Luați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în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considerare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sursele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de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energie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abilitățile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necesare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permisele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instrumentele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și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echipamentele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necesare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pentru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a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vă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îndeplini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sarcina</a:t>
                      </a:r>
                      <a:endParaRPr sz="800" i="1" kern="0" spc="30" dirty="0">
                        <a:solidFill>
                          <a:srgbClr val="777676">
                            <a:alpha val="100000"/>
                          </a:srgbClr>
                        </a:solidFill>
                        <a:latin typeface="Inter"/>
                        <a:ea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2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Documente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directoare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utilizate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pentru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această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sarcină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(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Încercuiți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cele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folosite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Procedure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Live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</a:t>
                      </a:r>
                      <a:r>
                        <a:rPr lang="en-US" sz="8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esene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Modification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Instruction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Lifting</a:t>
                      </a:r>
                      <a:r>
                        <a:rPr sz="800" spc="-3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Plan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Task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Risk</a:t>
                      </a:r>
                      <a:r>
                        <a:rPr sz="8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Assement</a:t>
                      </a:r>
                      <a:r>
                        <a:rPr sz="8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(TRA)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chi</a:t>
                      </a:r>
                      <a:r>
                        <a:rPr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</a:t>
                      </a:r>
                      <a:r>
                        <a:rPr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ment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Manual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iciunul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Technical</a:t>
                      </a:r>
                      <a:r>
                        <a:rPr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Information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Letter</a:t>
                      </a:r>
                      <a:r>
                        <a:rPr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(TIL)</a:t>
                      </a:r>
                      <a:endParaRPr sz="80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+mn-ea"/>
                          <a:cs typeface="Inter"/>
                        </a:rPr>
                        <a:t>CE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m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ă</a:t>
                      </a:r>
                      <a:r>
                        <a:rPr lang="en-US"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poate</a:t>
                      </a:r>
                      <a:r>
                        <a:rPr lang="en-US"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 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r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ă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ni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? (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Pericole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)</a:t>
                      </a: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+mn-ea"/>
                          <a:cs typeface="Inter"/>
                        </a:rPr>
                        <a:t>CUM</a:t>
                      </a:r>
                      <a:r>
                        <a:rPr lang="en-US"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 pot 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preveni</a:t>
                      </a:r>
                      <a:r>
                        <a:rPr lang="en-US"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 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rănirea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? (Control </a:t>
                      </a:r>
                      <a:r>
                        <a:rPr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M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asuri</a:t>
                      </a:r>
                      <a:r>
                        <a:rPr lang="en-US"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 de control/ 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Atenuare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+mn-ea"/>
                          <a:cs typeface="Inter"/>
                        </a:rPr>
                        <a:t>)</a:t>
                      </a: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1679" y="7543165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7583849"/>
            <a:ext cx="8426773" cy="486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0" u="none" strike="noStrike" kern="0" cap="none" spc="5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"/>
                <a:cs typeface="Inter"/>
              </a:rPr>
              <a:t>NOI INCEPEM LUCRUL </a:t>
            </a:r>
            <a:r>
              <a:rPr kumimoji="0" lang="it-IT" sz="1500" b="0" i="0" u="none" strike="noStrike" kern="0" cap="none" spc="5" normalizeH="0" baseline="0" noProof="0" dirty="0">
                <a:ln>
                  <a:noFill/>
                </a:ln>
                <a:solidFill>
                  <a:srgbClr val="006060"/>
                </a:solidFill>
                <a:effectLst/>
                <a:uLnTx/>
                <a:uFillTx/>
                <a:latin typeface="Inter"/>
                <a:cs typeface="Inter"/>
              </a:rPr>
              <a:t>NUMAI </a:t>
            </a:r>
            <a:r>
              <a:rPr kumimoji="0" lang="it-IT" sz="1500" b="0" i="0" u="none" strike="noStrike" kern="0" cap="none" spc="5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"/>
                <a:cs typeface="Inter"/>
              </a:rPr>
              <a:t>CAND ESTE SIGUR</a:t>
            </a:r>
            <a:r>
              <a:rPr kumimoji="0" lang="it-IT" sz="1500" b="0" i="0" u="none" strike="noStrike" kern="0" cap="none" spc="-35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"/>
                <a:cs typeface="Inter"/>
              </a:rPr>
              <a:t> SI</a:t>
            </a:r>
            <a:r>
              <a:rPr kumimoji="0" lang="it-IT" sz="1500" b="0" i="0" u="none" strike="noStrike" kern="0" cap="none" spc="5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"/>
                <a:cs typeface="Inter"/>
              </a:rPr>
              <a:t> NE </a:t>
            </a:r>
            <a:r>
              <a:rPr kumimoji="0" lang="it-IT" sz="1500" b="0" i="0" u="none" strike="noStrike" kern="0" cap="none" spc="5" normalizeH="0" baseline="0" noProof="0" dirty="0">
                <a:ln>
                  <a:noFill/>
                </a:ln>
                <a:solidFill>
                  <a:srgbClr val="006060"/>
                </a:solidFill>
                <a:effectLst/>
                <a:uLnTx/>
                <a:uFillTx/>
                <a:latin typeface="Inter"/>
                <a:cs typeface="Inter"/>
              </a:rPr>
              <a:t>OPRIM</a:t>
            </a:r>
            <a:r>
              <a:rPr kumimoji="0" lang="it-IT" sz="1500" b="0" i="0" u="none" strike="noStrike" kern="0" cap="none" spc="10" normalizeH="0" baseline="0" noProof="0" dirty="0">
                <a:ln>
                  <a:noFill/>
                </a:ln>
                <a:solidFill>
                  <a:srgbClr val="006060"/>
                </a:solidFill>
                <a:effectLst/>
                <a:uLnTx/>
                <a:uFillTx/>
                <a:latin typeface="Inter"/>
                <a:cs typeface="Inter"/>
              </a:rPr>
              <a:t> </a:t>
            </a:r>
            <a:r>
              <a:rPr kumimoji="0" lang="it-IT" sz="1500" b="0" i="0" u="none" strike="noStrike" kern="0" cap="none" spc="1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"/>
                <a:cs typeface="Inter"/>
              </a:rPr>
              <a:t>CAND NU ESTE</a:t>
            </a:r>
            <a:r>
              <a:rPr kumimoji="0" lang="it-IT" sz="1500" b="0" i="0" u="none" strike="noStrike" kern="0" cap="none" spc="-2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"/>
                <a:cs typeface="Inter"/>
              </a:rPr>
              <a:t>.</a:t>
            </a:r>
            <a:endParaRPr kumimoji="0" lang="it-IT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nter"/>
              <a:cs typeface="Inter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nter Semi Bold"/>
              <a:cs typeface="Inter Semi Bol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04015" y="93748"/>
            <a:ext cx="3682585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PPE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 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ESTE 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F60"/>
                </a:solidFill>
                <a:effectLst/>
                <a:uLnTx/>
                <a:uFillTx/>
                <a:latin typeface="Inter Semi Bold"/>
                <a:cs typeface="Inter Semi Bold"/>
              </a:rPr>
              <a:t>ULTIMA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005F60"/>
                </a:solidFill>
                <a:effectLst/>
                <a:uLnTx/>
                <a:uFillTx/>
                <a:latin typeface="Inter Semi Bold"/>
                <a:cs typeface="Inter Semi Bold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LIN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I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E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 </a:t>
            </a:r>
            <a:r>
              <a:rPr kumimoji="0" lang="en-US" sz="1500" b="1" i="0" u="none" strike="noStrike" kern="0" cap="none" spc="-3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DE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Inter Semi Bold"/>
                <a:cs typeface="Inter Semi Bold"/>
              </a:rPr>
              <a:t> </a:t>
            </a:r>
            <a:r>
              <a:rPr kumimoji="0" lang="en-US" sz="1500" b="1" i="0" u="none" strike="noStrike" kern="0" cap="none" spc="-10" normalizeH="0" baseline="0" noProof="0" dirty="0">
                <a:ln>
                  <a:noFill/>
                </a:ln>
                <a:solidFill>
                  <a:srgbClr val="005F60"/>
                </a:solidFill>
                <a:effectLst/>
                <a:uLnTx/>
                <a:uFillTx/>
                <a:latin typeface="Inter Semi Bold"/>
                <a:cs typeface="Inter Semi Bold"/>
              </a:rPr>
              <a:t>APARAR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005F60"/>
                </a:solidFill>
                <a:effectLst/>
                <a:uLnTx/>
                <a:uFillTx/>
                <a:latin typeface="Inter Semi Bold"/>
                <a:cs typeface="Inter Semi Bold"/>
              </a:rPr>
              <a:t>E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nter Semi Bold"/>
              <a:cs typeface="Inter Semi Bold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50591F22-8B08-B679-EC58-8B324071B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093919"/>
              </p:ext>
            </p:extLst>
          </p:nvPr>
        </p:nvGraphicFramePr>
        <p:xfrm>
          <a:off x="416558" y="7046573"/>
          <a:ext cx="9188451" cy="31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529">
                  <a:extLst>
                    <a:ext uri="{9D8B030D-6E8A-4147-A177-3AD203B41FA5}">
                      <a16:colId xmlns:a16="http://schemas.microsoft.com/office/drawing/2014/main" val="3340960426"/>
                    </a:ext>
                  </a:extLst>
                </a:gridCol>
                <a:gridCol w="1563529">
                  <a:extLst>
                    <a:ext uri="{9D8B030D-6E8A-4147-A177-3AD203B41FA5}">
                      <a16:colId xmlns:a16="http://schemas.microsoft.com/office/drawing/2014/main" val="542047928"/>
                    </a:ext>
                  </a:extLst>
                </a:gridCol>
                <a:gridCol w="1563529">
                  <a:extLst>
                    <a:ext uri="{9D8B030D-6E8A-4147-A177-3AD203B41FA5}">
                      <a16:colId xmlns:a16="http://schemas.microsoft.com/office/drawing/2014/main" val="243056154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spc="-3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                               </a:t>
                      </a:r>
                      <a:r>
                        <a:rPr lang="en-US" sz="1200" spc="-30" dirty="0" err="1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Reviziuirea</a:t>
                      </a:r>
                      <a:r>
                        <a:rPr lang="en-US" sz="1200" spc="-3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 </a:t>
                      </a:r>
                      <a:r>
                        <a:rPr lang="en-US" sz="1200" spc="-30" dirty="0" err="1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sarcinii</a:t>
                      </a:r>
                      <a:r>
                        <a:rPr lang="en-US" sz="1200" spc="-3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 (Ora):</a:t>
                      </a:r>
                      <a:endParaRPr sz="1200" spc="-30" dirty="0">
                        <a:solidFill>
                          <a:srgbClr val="231F20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5094C2AE-6E33-4FEB-B73C-6B6741B9A04E}"/>
</file>

<file path=customXml/itemProps2.xml><?xml version="1.0" encoding="utf-8"?>
<ds:datastoreItem xmlns:ds="http://schemas.openxmlformats.org/officeDocument/2006/customXml" ds:itemID="{268B3BC9-7989-45DD-B3EF-06CF79CF6A80}"/>
</file>

<file path=customXml/itemProps3.xml><?xml version="1.0" encoding="utf-8"?>
<ds:datastoreItem xmlns:ds="http://schemas.openxmlformats.org/officeDocument/2006/customXml" ds:itemID="{0A4C74A0-5EBB-471D-93F0-945FE6FC38C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526</Words>
  <Application>Microsoft Office PowerPoint</Application>
  <PresentationFormat>Custom</PresentationFormat>
  <Paragraphs>103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Calibri</vt:lpstr>
      <vt:lpstr>Inter</vt:lpstr>
      <vt:lpstr>Inter Extra Bold</vt:lpstr>
      <vt:lpstr>Inter Medium</vt:lpstr>
      <vt:lpstr>Inter Semi Bold</vt:lpstr>
      <vt:lpstr>Times New Roman</vt:lpstr>
      <vt:lpstr>Office Theme</vt:lpstr>
      <vt:lpstr>1_Office Theme</vt:lpstr>
      <vt:lpstr>Evaluarea riscurilor la începutul lucrării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Blaga, Petrica (GE Vernova)</dc:creator>
  <cp:lastModifiedBy>Talpig, Alexandru (GE Vernova)</cp:lastModifiedBy>
  <cp:revision>20</cp:revision>
  <dcterms:created xsi:type="dcterms:W3CDTF">2024-12-17T21:19:02Z</dcterms:created>
  <dcterms:modified xsi:type="dcterms:W3CDTF">2025-12-17T06:33:44Z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