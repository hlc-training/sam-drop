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9" r:id="rId3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1626" y="-23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notesMaster" Target="notesMasters/notesMaster1.xml"/><Relationship Id="rId9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A66E9-1CBD-4961-AD7C-51946DF61E4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909CD-70DA-4493-84F8-93A5440DB1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037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0909CD-70DA-4493-84F8-93A5440DB1C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426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006060"/>
                </a:solidFill>
                <a:latin typeface="Inter"/>
                <a:cs typeface="Inte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6060"/>
                </a:solidFill>
                <a:latin typeface="Inter"/>
                <a:cs typeface="Inte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6060"/>
                </a:solidFill>
                <a:latin typeface="Inter"/>
                <a:cs typeface="Inte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6060"/>
                </a:solidFill>
                <a:latin typeface="Inter"/>
                <a:cs typeface="Inte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37778" y="331439"/>
            <a:ext cx="3031490" cy="824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006060"/>
                </a:solidFill>
                <a:latin typeface="Inter"/>
                <a:cs typeface="Inte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9000" y="2453208"/>
            <a:ext cx="3293109" cy="4891082"/>
          </a:xfrm>
          <a:prstGeom prst="rect">
            <a:avLst/>
          </a:prstGeom>
          <a:ln w="12700">
            <a:solidFill>
              <a:srgbClr val="006060"/>
            </a:solidFill>
          </a:ln>
        </p:spPr>
        <p:txBody>
          <a:bodyPr vert="horz" wrap="square" lIns="0" tIns="58419" rIns="0" bIns="0" rtlCol="0">
            <a:spAutoFit/>
          </a:bodyPr>
          <a:lstStyle/>
          <a:p>
            <a:pPr marL="220345">
              <a:lnSpc>
                <a:spcPct val="100000"/>
              </a:lnSpc>
              <a:spcBef>
                <a:spcPts val="459"/>
              </a:spcBef>
            </a:pPr>
            <a:r>
              <a:rPr lang="ru-RU" sz="1150" dirty="0">
                <a:solidFill>
                  <a:srgbClr val="006060"/>
                </a:solidFill>
                <a:latin typeface="Inter"/>
                <a:cs typeface="Inter"/>
              </a:rPr>
              <a:t>Совмешенны</a:t>
            </a:r>
            <a:endParaRPr sz="1150" dirty="0">
              <a:latin typeface="Inter"/>
              <a:cs typeface="Inter"/>
            </a:endParaRPr>
          </a:p>
          <a:p>
            <a:pPr marL="220345" marR="927735">
              <a:lnSpc>
                <a:spcPct val="100000"/>
              </a:lnSpc>
            </a:pPr>
            <a:r>
              <a:rPr lang="ru-RU" sz="1150" spc="-10" dirty="0">
                <a:solidFill>
                  <a:srgbClr val="006060"/>
                </a:solidFill>
                <a:latin typeface="Inter"/>
                <a:cs typeface="Inter"/>
              </a:rPr>
              <a:t>Положение тел</a:t>
            </a:r>
            <a:r>
              <a:rPr lang="hr-HR" sz="1150" spc="-10" dirty="0">
                <a:solidFill>
                  <a:srgbClr val="006060"/>
                </a:solidFill>
                <a:latin typeface="Inter"/>
                <a:cs typeface="Inter"/>
              </a:rPr>
              <a:t>a/</a:t>
            </a:r>
            <a:r>
              <a:rPr lang="ru-RU" sz="1150" spc="-10" dirty="0">
                <a:solidFill>
                  <a:srgbClr val="006060"/>
                </a:solidFill>
                <a:latin typeface="Inter"/>
                <a:cs typeface="Inter"/>
              </a:rPr>
              <a:t>Эргономика</a:t>
            </a:r>
            <a:r>
              <a:rPr lang="hr-HR" sz="1150" spc="-10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r>
              <a:rPr lang="ru-RU" sz="1150" spc="-10" dirty="0">
                <a:solidFill>
                  <a:srgbClr val="006060"/>
                </a:solidFill>
                <a:latin typeface="Inter"/>
                <a:cs typeface="Inter"/>
              </a:rPr>
              <a:t>Ожоги/Пожар</a:t>
            </a:r>
            <a:endParaRPr lang="ru-RU" sz="115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marR="927735">
              <a:lnSpc>
                <a:spcPct val="100000"/>
              </a:lnSpc>
            </a:pPr>
            <a:r>
              <a:rPr lang="ru-RU" sz="1150" spc="-10" dirty="0">
                <a:solidFill>
                  <a:srgbClr val="006060"/>
                </a:solidFill>
                <a:latin typeface="Inter"/>
                <a:cs typeface="Inter"/>
              </a:rPr>
              <a:t>Сложности с коммуникацией</a:t>
            </a:r>
            <a:endParaRPr lang="hr-HR" sz="1150" spc="-1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marR="927735">
              <a:lnSpc>
                <a:spcPct val="100000"/>
              </a:lnSpc>
            </a:pPr>
            <a:r>
              <a:rPr lang="ru-RU" sz="1150" dirty="0">
                <a:solidFill>
                  <a:srgbClr val="006060"/>
                </a:solidFill>
                <a:latin typeface="Inter"/>
                <a:cs typeface="Inter"/>
              </a:rPr>
              <a:t>Падение предметов </a:t>
            </a:r>
            <a:endParaRPr lang="hr-HR" sz="1150" spc="-1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marR="927735">
              <a:lnSpc>
                <a:spcPct val="100000"/>
              </a:lnSpc>
            </a:pPr>
            <a:r>
              <a:rPr lang="ru-RU" sz="1150" spc="-10" dirty="0">
                <a:solidFill>
                  <a:srgbClr val="006060"/>
                </a:solidFill>
                <a:latin typeface="Inter"/>
                <a:cs typeface="Inter"/>
              </a:rPr>
              <a:t>Пар/Дым/Газ</a:t>
            </a:r>
            <a:endParaRPr sz="1150" dirty="0">
              <a:latin typeface="Inter"/>
              <a:cs typeface="Inter"/>
            </a:endParaRPr>
          </a:p>
          <a:p>
            <a:pPr marL="220345" marR="1326515">
              <a:lnSpc>
                <a:spcPct val="100000"/>
              </a:lnSpc>
            </a:pPr>
            <a:r>
              <a:rPr lang="ru-RU" sz="1150" dirty="0">
                <a:solidFill>
                  <a:srgbClr val="006060"/>
                </a:solidFill>
                <a:latin typeface="Inter"/>
                <a:cs typeface="Inter"/>
              </a:rPr>
              <a:t>Электрошок</a:t>
            </a:r>
          </a:p>
          <a:p>
            <a:pPr marL="220345" marR="1326515">
              <a:lnSpc>
                <a:spcPct val="100000"/>
              </a:lnSpc>
            </a:pPr>
            <a:r>
              <a:rPr lang="ru-RU" sz="1150" spc="-10" dirty="0">
                <a:solidFill>
                  <a:srgbClr val="006060"/>
                </a:solidFill>
                <a:latin typeface="Inter"/>
                <a:cs typeface="Inter"/>
              </a:rPr>
              <a:t>Погодные условия</a:t>
            </a:r>
          </a:p>
          <a:p>
            <a:pPr marL="220345" marR="1326515">
              <a:lnSpc>
                <a:spcPct val="100000"/>
              </a:lnSpc>
            </a:pPr>
            <a:r>
              <a:rPr lang="ru-RU" sz="1150" dirty="0">
                <a:solidFill>
                  <a:srgbClr val="006060"/>
                </a:solidFill>
                <a:latin typeface="Inter"/>
                <a:cs typeface="Inter"/>
              </a:rPr>
              <a:t>Падение с высоты</a:t>
            </a:r>
            <a:endParaRPr sz="1150" dirty="0">
              <a:latin typeface="Inter"/>
              <a:cs typeface="Inter"/>
            </a:endParaRPr>
          </a:p>
          <a:p>
            <a:pPr marL="220345">
              <a:lnSpc>
                <a:spcPct val="100000"/>
              </a:lnSpc>
            </a:pPr>
            <a:r>
              <a:rPr lang="ru-RU" sz="1150" dirty="0">
                <a:solidFill>
                  <a:srgbClr val="006060"/>
                </a:solidFill>
                <a:latin typeface="Inter"/>
                <a:cs typeface="Inter"/>
              </a:rPr>
              <a:t>Перемещение тяжестей в ручную</a:t>
            </a:r>
            <a:endParaRPr lang="hr-HR" sz="115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>
              <a:lnSpc>
                <a:spcPct val="100000"/>
              </a:lnSpc>
            </a:pPr>
            <a:r>
              <a:rPr lang="ru-RU" sz="1150" dirty="0">
                <a:solidFill>
                  <a:srgbClr val="006060"/>
                </a:solidFill>
                <a:latin typeface="Inter"/>
                <a:cs typeface="Inter"/>
              </a:rPr>
              <a:t>Водород</a:t>
            </a:r>
            <a:endParaRPr sz="115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marR="123189">
              <a:lnSpc>
                <a:spcPct val="100000"/>
              </a:lnSpc>
            </a:pPr>
            <a:r>
              <a:rPr lang="ru-RU" sz="1150" dirty="0">
                <a:solidFill>
                  <a:srgbClr val="006060"/>
                </a:solidFill>
                <a:latin typeface="Inter"/>
                <a:cs typeface="Inter"/>
              </a:rPr>
              <a:t>Промышленная гигиена </a:t>
            </a:r>
            <a:r>
              <a:rPr lang="hr-HR" sz="1150" dirty="0">
                <a:solidFill>
                  <a:srgbClr val="006060"/>
                </a:solidFill>
                <a:latin typeface="Inter"/>
                <a:cs typeface="Inter"/>
              </a:rPr>
              <a:t>(</a:t>
            </a:r>
            <a:r>
              <a:rPr lang="ru-RU" sz="1150" dirty="0">
                <a:solidFill>
                  <a:srgbClr val="006060"/>
                </a:solidFill>
                <a:latin typeface="Inter"/>
                <a:cs typeface="Inter"/>
              </a:rPr>
              <a:t>Амиак</a:t>
            </a:r>
            <a:r>
              <a:rPr lang="hr-HR" sz="1150" dirty="0">
                <a:solidFill>
                  <a:srgbClr val="006060"/>
                </a:solidFill>
                <a:latin typeface="Inter"/>
                <a:cs typeface="Inter"/>
              </a:rPr>
              <a:t>, </a:t>
            </a:r>
            <a:r>
              <a:rPr lang="ru-RU" sz="1150" dirty="0">
                <a:solidFill>
                  <a:srgbClr val="006060"/>
                </a:solidFill>
                <a:latin typeface="Inter"/>
                <a:cs typeface="Inter"/>
              </a:rPr>
              <a:t>Амиак</a:t>
            </a:r>
            <a:r>
              <a:rPr lang="hr-HR" sz="1150" dirty="0">
                <a:solidFill>
                  <a:srgbClr val="006060"/>
                </a:solidFill>
                <a:latin typeface="Inter"/>
                <a:cs typeface="Inter"/>
              </a:rPr>
              <a:t>, </a:t>
            </a:r>
            <a:r>
              <a:rPr lang="ru-RU" sz="1150" dirty="0">
                <a:solidFill>
                  <a:srgbClr val="006060"/>
                </a:solidFill>
                <a:latin typeface="Inter"/>
                <a:cs typeface="Inter"/>
              </a:rPr>
              <a:t>6ти валентный хром, Свинец</a:t>
            </a:r>
            <a:r>
              <a:rPr lang="hr-HR" sz="1150" dirty="0">
                <a:solidFill>
                  <a:srgbClr val="006060"/>
                </a:solidFill>
                <a:latin typeface="Inter"/>
                <a:cs typeface="Inter"/>
              </a:rPr>
              <a:t>)</a:t>
            </a:r>
          </a:p>
          <a:p>
            <a:pPr marL="220345" marR="123189">
              <a:lnSpc>
                <a:spcPct val="100000"/>
              </a:lnSpc>
            </a:pPr>
            <a:r>
              <a:rPr lang="ru-RU" sz="1150" dirty="0">
                <a:solidFill>
                  <a:srgbClr val="006060"/>
                </a:solidFill>
                <a:latin typeface="Inter"/>
                <a:cs typeface="Inter"/>
              </a:rPr>
              <a:t>Шум</a:t>
            </a:r>
            <a:endParaRPr lang="hr-HR" sz="115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marR="123189">
              <a:lnSpc>
                <a:spcPct val="100000"/>
              </a:lnSpc>
            </a:pPr>
            <a:r>
              <a:rPr lang="ru-RU" sz="1150" dirty="0">
                <a:solidFill>
                  <a:srgbClr val="006060"/>
                </a:solidFill>
                <a:latin typeface="Inter"/>
                <a:cs typeface="Inter"/>
              </a:rPr>
              <a:t>Риск защемления</a:t>
            </a:r>
            <a:endParaRPr lang="hr-HR" sz="115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marR="123189">
              <a:lnSpc>
                <a:spcPct val="100000"/>
              </a:lnSpc>
            </a:pPr>
            <a:r>
              <a:rPr lang="ru-RU" sz="1150" dirty="0">
                <a:solidFill>
                  <a:srgbClr val="006060"/>
                </a:solidFill>
                <a:latin typeface="Inter"/>
                <a:cs typeface="Inter"/>
              </a:rPr>
              <a:t>Электро/Гидравлический инструмент</a:t>
            </a:r>
            <a:endParaRPr lang="hr-HR" sz="115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marR="123189">
              <a:lnSpc>
                <a:spcPct val="100000"/>
              </a:lnSpc>
            </a:pPr>
            <a:r>
              <a:rPr lang="ru-RU" sz="1150" dirty="0">
                <a:solidFill>
                  <a:srgbClr val="006060"/>
                </a:solidFill>
                <a:latin typeface="Inter"/>
                <a:cs typeface="Inter"/>
              </a:rPr>
              <a:t>Ограниченное пространство</a:t>
            </a:r>
            <a:endParaRPr lang="hr-HR" sz="115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marR="123189">
              <a:lnSpc>
                <a:spcPct val="100000"/>
              </a:lnSpc>
            </a:pPr>
            <a:r>
              <a:rPr lang="en-US" altLang="en-US" sz="1150" dirty="0">
                <a:solidFill>
                  <a:srgbClr val="006060"/>
                </a:solidFill>
                <a:latin typeface="Inter"/>
                <a:cs typeface="Inter"/>
              </a:rPr>
              <a:t>Поскальзывания, спотыкания, падения Радиация</a:t>
            </a:r>
            <a:r>
              <a:rPr sz="1150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endParaRPr lang="hr-HR" sz="115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marR="123189">
              <a:lnSpc>
                <a:spcPct val="100000"/>
              </a:lnSpc>
            </a:pPr>
            <a:r>
              <a:rPr lang="en-US" altLang="en-US" sz="1150" dirty="0">
                <a:solidFill>
                  <a:srgbClr val="006060"/>
                </a:solidFill>
                <a:latin typeface="Inter"/>
                <a:cs typeface="Inter"/>
              </a:rPr>
              <a:t>Неправильная строповка груза </a:t>
            </a:r>
            <a:endParaRPr lang="ru-RU" altLang="en-US" sz="115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marR="123189">
              <a:lnSpc>
                <a:spcPct val="100000"/>
              </a:lnSpc>
            </a:pPr>
            <a:r>
              <a:rPr lang="en-US" altLang="en-US" sz="1150" dirty="0">
                <a:solidFill>
                  <a:srgbClr val="006060"/>
                </a:solidFill>
                <a:latin typeface="Inter"/>
                <a:cs typeface="Inter"/>
              </a:rPr>
              <a:t>Вращающееся оборудование </a:t>
            </a:r>
            <a:endParaRPr lang="ru-RU" altLang="en-US" sz="115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marR="123189">
              <a:lnSpc>
                <a:spcPct val="100000"/>
              </a:lnSpc>
            </a:pPr>
            <a:r>
              <a:rPr lang="en-US" altLang="en-US" sz="1150" dirty="0">
                <a:solidFill>
                  <a:srgbClr val="006060"/>
                </a:solidFill>
                <a:latin typeface="Inter"/>
                <a:cs typeface="Inter"/>
              </a:rPr>
              <a:t>Острые предметы </a:t>
            </a:r>
            <a:endParaRPr lang="ru-RU" altLang="en-US" sz="115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marR="123189">
              <a:lnSpc>
                <a:spcPct val="100000"/>
              </a:lnSpc>
            </a:pPr>
            <a:r>
              <a:rPr lang="en-US" altLang="en-US" sz="1150" dirty="0">
                <a:solidFill>
                  <a:srgbClr val="006060"/>
                </a:solidFill>
                <a:latin typeface="Inter"/>
                <a:cs typeface="Inter"/>
              </a:rPr>
              <a:t>Удары предметами </a:t>
            </a:r>
            <a:endParaRPr lang="ru-RU" altLang="en-US" sz="115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marR="123189">
              <a:lnSpc>
                <a:spcPct val="100000"/>
              </a:lnSpc>
            </a:pPr>
            <a:r>
              <a:rPr lang="en-US" altLang="en-US" sz="1150" dirty="0">
                <a:solidFill>
                  <a:srgbClr val="006060"/>
                </a:solidFill>
                <a:latin typeface="Inter"/>
                <a:cs typeface="Inter"/>
              </a:rPr>
              <a:t>Неисправность инструмента </a:t>
            </a:r>
            <a:endParaRPr lang="ru-RU" altLang="en-US" sz="115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marR="123189">
              <a:lnSpc>
                <a:spcPct val="100000"/>
              </a:lnSpc>
            </a:pPr>
            <a:r>
              <a:rPr lang="ru-RU" sz="1150" dirty="0">
                <a:solidFill>
                  <a:srgbClr val="006060"/>
                </a:solidFill>
                <a:latin typeface="Inter"/>
                <a:cs typeface="Inter"/>
              </a:rPr>
              <a:t>Другие</a:t>
            </a:r>
            <a:r>
              <a:rPr lang="hr-HR" sz="1150" dirty="0">
                <a:solidFill>
                  <a:srgbClr val="006060"/>
                </a:solidFill>
                <a:latin typeface="Inter"/>
                <a:cs typeface="Inter"/>
              </a:rPr>
              <a:t> (</a:t>
            </a:r>
            <a:r>
              <a:rPr lang="ru-RU" sz="1150" dirty="0">
                <a:solidFill>
                  <a:srgbClr val="006060"/>
                </a:solidFill>
                <a:latin typeface="Inter"/>
                <a:cs typeface="Inter"/>
              </a:rPr>
              <a:t>укажите</a:t>
            </a:r>
            <a:r>
              <a:rPr lang="hr-HR" sz="1150" dirty="0">
                <a:solidFill>
                  <a:srgbClr val="006060"/>
                </a:solidFill>
                <a:latin typeface="Inter"/>
                <a:cs typeface="Inter"/>
              </a:rPr>
              <a:t>)</a:t>
            </a:r>
          </a:p>
          <a:p>
            <a:pPr marL="220345">
              <a:lnSpc>
                <a:spcPct val="100000"/>
              </a:lnSpc>
            </a:pPr>
            <a:endParaRPr lang="hr-HR" sz="115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>
              <a:lnSpc>
                <a:spcPct val="100000"/>
              </a:lnSpc>
            </a:pPr>
            <a:endParaRPr sz="1150" dirty="0">
              <a:latin typeface="Inter"/>
              <a:cs typeface="Inter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897234" y="7230106"/>
            <a:ext cx="1716405" cy="0"/>
          </a:xfrm>
          <a:custGeom>
            <a:avLst/>
            <a:gdLst/>
            <a:ahLst/>
            <a:cxnLst/>
            <a:rect l="l" t="t" r="r" b="b"/>
            <a:pathLst>
              <a:path w="1716404">
                <a:moveTo>
                  <a:pt x="0" y="0"/>
                </a:moveTo>
                <a:lnTo>
                  <a:pt x="1716379" y="0"/>
                </a:lnTo>
              </a:path>
            </a:pathLst>
          </a:custGeom>
          <a:ln w="11410">
            <a:solidFill>
              <a:srgbClr val="005F5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4896371" y="7055790"/>
            <a:ext cx="1716405" cy="0"/>
          </a:xfrm>
          <a:custGeom>
            <a:avLst/>
            <a:gdLst/>
            <a:ahLst/>
            <a:cxnLst/>
            <a:rect l="l" t="t" r="r" b="b"/>
            <a:pathLst>
              <a:path w="1716404">
                <a:moveTo>
                  <a:pt x="0" y="0"/>
                </a:moveTo>
                <a:lnTo>
                  <a:pt x="1716379" y="0"/>
                </a:lnTo>
              </a:path>
            </a:pathLst>
          </a:custGeom>
          <a:ln w="11410">
            <a:solidFill>
              <a:srgbClr val="005F5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4896371" y="6882458"/>
            <a:ext cx="1716405" cy="0"/>
          </a:xfrm>
          <a:custGeom>
            <a:avLst/>
            <a:gdLst/>
            <a:ahLst/>
            <a:cxnLst/>
            <a:rect l="l" t="t" r="r" b="b"/>
            <a:pathLst>
              <a:path w="1716404">
                <a:moveTo>
                  <a:pt x="0" y="0"/>
                </a:moveTo>
                <a:lnTo>
                  <a:pt x="1716379" y="0"/>
                </a:lnTo>
              </a:path>
            </a:pathLst>
          </a:custGeom>
          <a:ln w="11410">
            <a:solidFill>
              <a:srgbClr val="005F5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3429000" y="2122632"/>
            <a:ext cx="2133600" cy="30777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ru-RU" sz="1900" b="1" dirty="0">
                <a:solidFill>
                  <a:srgbClr val="006060"/>
                </a:solidFill>
                <a:latin typeface="Inter"/>
                <a:cs typeface="Inter"/>
              </a:rPr>
              <a:t>Другие Риски</a:t>
            </a:r>
            <a:endParaRPr sz="1900" b="1" dirty="0">
              <a:latin typeface="Inter"/>
              <a:cs typeface="Inter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437777" y="331439"/>
            <a:ext cx="3174999" cy="119327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 marR="5080" algn="ctr">
              <a:lnSpc>
                <a:spcPts val="2900"/>
              </a:lnSpc>
              <a:spcBef>
                <a:spcPts val="605"/>
              </a:spcBef>
            </a:pPr>
            <a:r>
              <a:rPr lang="ru-RU" b="1" spc="50" dirty="0"/>
              <a:t>Оценка Рисков</a:t>
            </a:r>
            <a:br>
              <a:rPr lang="ru-RU" b="1" spc="50" dirty="0"/>
            </a:br>
            <a:r>
              <a:rPr lang="ru-RU" b="1" spc="50" dirty="0"/>
              <a:t>перед началом</a:t>
            </a:r>
            <a:br>
              <a:rPr lang="ru-RU" b="1" spc="50" dirty="0"/>
            </a:br>
            <a:r>
              <a:rPr lang="ru-RU" b="1" spc="50" dirty="0"/>
              <a:t>работ</a:t>
            </a:r>
            <a:endParaRPr lang="pl-PL" b="1" spc="-20" dirty="0"/>
          </a:p>
        </p:txBody>
      </p:sp>
      <p:sp>
        <p:nvSpPr>
          <p:cNvPr id="10" name="object 10"/>
          <p:cNvSpPr/>
          <p:nvPr/>
        </p:nvSpPr>
        <p:spPr>
          <a:xfrm>
            <a:off x="6851739" y="2117318"/>
            <a:ext cx="3074035" cy="190500"/>
          </a:xfrm>
          <a:custGeom>
            <a:avLst/>
            <a:gdLst/>
            <a:ahLst/>
            <a:cxnLst/>
            <a:rect l="l" t="t" r="r" b="b"/>
            <a:pathLst>
              <a:path w="3074034" h="190500">
                <a:moveTo>
                  <a:pt x="3073971" y="190500"/>
                </a:moveTo>
                <a:lnTo>
                  <a:pt x="0" y="190500"/>
                </a:lnTo>
                <a:lnTo>
                  <a:pt x="0" y="0"/>
                </a:lnTo>
                <a:lnTo>
                  <a:pt x="3073971" y="0"/>
                </a:lnTo>
                <a:lnTo>
                  <a:pt x="3073971" y="190500"/>
                </a:lnTo>
                <a:close/>
              </a:path>
            </a:pathLst>
          </a:custGeom>
          <a:ln w="12700">
            <a:solidFill>
              <a:srgbClr val="005F63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/>
          <p:cNvSpPr txBox="1"/>
          <p:nvPr/>
        </p:nvSpPr>
        <p:spPr>
          <a:xfrm>
            <a:off x="6857875" y="1928632"/>
            <a:ext cx="1676525" cy="1897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150" spc="-10" dirty="0">
                <a:solidFill>
                  <a:srgbClr val="006060"/>
                </a:solidFill>
                <a:latin typeface="Inter"/>
                <a:ea typeface="+mn-ea"/>
                <a:cs typeface="Inter"/>
              </a:rPr>
              <a:t>Мастер</a:t>
            </a:r>
            <a:r>
              <a:rPr lang="hr-HR" sz="1150" spc="-10" dirty="0">
                <a:solidFill>
                  <a:srgbClr val="006060"/>
                </a:solidFill>
                <a:latin typeface="Inter"/>
                <a:ea typeface="+mn-ea"/>
                <a:cs typeface="Inter"/>
              </a:rPr>
              <a:t>/</a:t>
            </a:r>
            <a:r>
              <a:rPr lang="ru-RU" sz="1150" spc="-10" dirty="0">
                <a:solidFill>
                  <a:srgbClr val="006060"/>
                </a:solidFill>
                <a:latin typeface="Inter"/>
                <a:ea typeface="+mn-ea"/>
                <a:cs typeface="Inter"/>
              </a:rPr>
              <a:t>Руководитель</a:t>
            </a:r>
            <a:r>
              <a:rPr sz="1150" spc="-10" dirty="0">
                <a:solidFill>
                  <a:srgbClr val="006060"/>
                </a:solidFill>
                <a:latin typeface="Inter"/>
                <a:ea typeface="+mn-ea"/>
                <a:cs typeface="Inter"/>
              </a:rPr>
              <a:t>:</a:t>
            </a:r>
          </a:p>
        </p:txBody>
      </p:sp>
      <p:sp>
        <p:nvSpPr>
          <p:cNvPr id="12" name="object 12"/>
          <p:cNvSpPr/>
          <p:nvPr/>
        </p:nvSpPr>
        <p:spPr>
          <a:xfrm>
            <a:off x="6851739" y="2545448"/>
            <a:ext cx="3074035" cy="190500"/>
          </a:xfrm>
          <a:custGeom>
            <a:avLst/>
            <a:gdLst/>
            <a:ahLst/>
            <a:cxnLst/>
            <a:rect l="l" t="t" r="r" b="b"/>
            <a:pathLst>
              <a:path w="3074034" h="190500">
                <a:moveTo>
                  <a:pt x="3073971" y="190500"/>
                </a:moveTo>
                <a:lnTo>
                  <a:pt x="0" y="190500"/>
                </a:lnTo>
                <a:lnTo>
                  <a:pt x="0" y="0"/>
                </a:lnTo>
                <a:lnTo>
                  <a:pt x="3073971" y="0"/>
                </a:lnTo>
                <a:lnTo>
                  <a:pt x="3073971" y="190500"/>
                </a:lnTo>
                <a:close/>
              </a:path>
            </a:pathLst>
          </a:custGeom>
          <a:ln w="12700">
            <a:solidFill>
              <a:srgbClr val="005F63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/>
          <p:cNvSpPr txBox="1"/>
          <p:nvPr/>
        </p:nvSpPr>
        <p:spPr>
          <a:xfrm>
            <a:off x="6857875" y="2356761"/>
            <a:ext cx="1600325" cy="1897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  <a:lvl1pPr marL="12700">
              <a:lnSpc>
                <a:spcPct val="100000"/>
              </a:lnSpc>
              <a:spcBef>
                <a:spcPts val="100"/>
              </a:spcBef>
              <a:defRPr sz="1150" spc="-10">
                <a:solidFill>
                  <a:srgbClr val="006060"/>
                </a:solidFill>
                <a:latin typeface="Inter"/>
                <a:ea typeface="+mn-ea"/>
                <a:cs typeface="Inter"/>
              </a:defRPr>
            </a:lvl1pPr>
          </a:lstStyle>
          <a:p>
            <a:r>
              <a:rPr lang="ru-RU" dirty="0"/>
              <a:t>Аудитор</a:t>
            </a:r>
            <a:r>
              <a:rPr lang="hr-HR" dirty="0"/>
              <a:t>:</a:t>
            </a:r>
            <a:endParaRPr dirty="0"/>
          </a:p>
        </p:txBody>
      </p:sp>
      <p:sp>
        <p:nvSpPr>
          <p:cNvPr id="14" name="object 14"/>
          <p:cNvSpPr txBox="1"/>
          <p:nvPr/>
        </p:nvSpPr>
        <p:spPr>
          <a:xfrm>
            <a:off x="6857874" y="5071386"/>
            <a:ext cx="2133726" cy="1897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  <a:lvl1pPr marL="12700">
              <a:lnSpc>
                <a:spcPct val="100000"/>
              </a:lnSpc>
              <a:spcBef>
                <a:spcPts val="100"/>
              </a:spcBef>
              <a:defRPr sz="1150" spc="-10">
                <a:solidFill>
                  <a:srgbClr val="006060"/>
                </a:solidFill>
                <a:latin typeface="Inter"/>
                <a:ea typeface="+mn-ea"/>
                <a:cs typeface="Inter"/>
              </a:defRPr>
            </a:lvl1pPr>
          </a:lstStyle>
          <a:p>
            <a:r>
              <a:rPr lang="en-US" altLang="en-US" dirty="0"/>
              <a:t>Используемые </a:t>
            </a:r>
            <a:r>
              <a:rPr lang="en-US" altLang="en-US" dirty="0" err="1"/>
              <a:t>хими</a:t>
            </a:r>
            <a:r>
              <a:rPr lang="ru-RU" altLang="en-US" dirty="0"/>
              <a:t>каты</a:t>
            </a:r>
            <a:r>
              <a:rPr dirty="0"/>
              <a:t>:</a:t>
            </a:r>
          </a:p>
        </p:txBody>
      </p:sp>
      <p:graphicFrame>
        <p:nvGraphicFramePr>
          <p:cNvPr id="15" name="object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5716979"/>
              </p:ext>
            </p:extLst>
          </p:nvPr>
        </p:nvGraphicFramePr>
        <p:xfrm>
          <a:off x="6845375" y="5253532"/>
          <a:ext cx="3073400" cy="569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9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object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614041"/>
              </p:ext>
            </p:extLst>
          </p:nvPr>
        </p:nvGraphicFramePr>
        <p:xfrm>
          <a:off x="6847154" y="3112566"/>
          <a:ext cx="3076575" cy="1898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4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1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9865"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150" spc="-10" dirty="0">
                          <a:solidFill>
                            <a:srgbClr val="006060"/>
                          </a:solidFill>
                          <a:latin typeface="Inter"/>
                          <a:ea typeface="+mn-ea"/>
                          <a:cs typeface="Inter"/>
                        </a:rPr>
                        <a:t>1 )</a:t>
                      </a: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150" spc="-10" dirty="0">
                          <a:solidFill>
                            <a:srgbClr val="006060"/>
                          </a:solidFill>
                          <a:latin typeface="Inter"/>
                          <a:ea typeface="+mn-ea"/>
                          <a:cs typeface="Inter"/>
                        </a:rPr>
                        <a:t>2 )</a:t>
                      </a: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150" spc="-10" dirty="0">
                          <a:solidFill>
                            <a:srgbClr val="006060"/>
                          </a:solidFill>
                          <a:latin typeface="Inter"/>
                          <a:ea typeface="+mn-ea"/>
                          <a:cs typeface="Inter"/>
                        </a:rPr>
                        <a:t>3 )</a:t>
                      </a: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150" spc="-10" dirty="0">
                          <a:solidFill>
                            <a:srgbClr val="006060"/>
                          </a:solidFill>
                          <a:latin typeface="Inter"/>
                          <a:ea typeface="+mn-ea"/>
                          <a:cs typeface="Inter"/>
                        </a:rPr>
                        <a:t>4 )</a:t>
                      </a: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150" spc="-10" dirty="0">
                          <a:solidFill>
                            <a:srgbClr val="006060"/>
                          </a:solidFill>
                          <a:latin typeface="Inter"/>
                          <a:ea typeface="+mn-ea"/>
                          <a:cs typeface="Inter"/>
                        </a:rPr>
                        <a:t>5 )</a:t>
                      </a: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150" spc="-10" dirty="0">
                          <a:solidFill>
                            <a:srgbClr val="006060"/>
                          </a:solidFill>
                          <a:latin typeface="Inter"/>
                          <a:ea typeface="+mn-ea"/>
                          <a:cs typeface="Inter"/>
                        </a:rPr>
                        <a:t>6 )</a:t>
                      </a: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150" spc="-10" dirty="0">
                          <a:solidFill>
                            <a:srgbClr val="006060"/>
                          </a:solidFill>
                          <a:latin typeface="Inter"/>
                          <a:ea typeface="+mn-ea"/>
                          <a:cs typeface="Inter"/>
                        </a:rPr>
                        <a:t>7 )</a:t>
                      </a: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150" spc="-10" dirty="0">
                          <a:solidFill>
                            <a:srgbClr val="006060"/>
                          </a:solidFill>
                          <a:latin typeface="Inter"/>
                          <a:ea typeface="+mn-ea"/>
                          <a:cs typeface="Inter"/>
                        </a:rPr>
                        <a:t>8 )</a:t>
                      </a: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150" spc="-10" dirty="0">
                          <a:solidFill>
                            <a:srgbClr val="006060"/>
                          </a:solidFill>
                          <a:latin typeface="Inter"/>
                          <a:ea typeface="+mn-ea"/>
                          <a:cs typeface="Inter"/>
                        </a:rPr>
                        <a:t>9 )</a:t>
                      </a: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150" spc="-10" dirty="0">
                          <a:solidFill>
                            <a:srgbClr val="006060"/>
                          </a:solidFill>
                          <a:latin typeface="Inter"/>
                          <a:ea typeface="+mn-ea"/>
                          <a:cs typeface="Inter"/>
                        </a:rPr>
                        <a:t>10 )</a:t>
                      </a: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6839029" y="2937290"/>
            <a:ext cx="933371" cy="1897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  <a:lvl1pPr marL="12700">
              <a:lnSpc>
                <a:spcPct val="100000"/>
              </a:lnSpc>
              <a:spcBef>
                <a:spcPts val="100"/>
              </a:spcBef>
              <a:defRPr sz="1150" spc="-10">
                <a:solidFill>
                  <a:srgbClr val="006060"/>
                </a:solidFill>
                <a:latin typeface="Inter"/>
                <a:ea typeface="+mn-ea"/>
                <a:cs typeface="Inter"/>
              </a:defRPr>
            </a:lvl1pPr>
          </a:lstStyle>
          <a:p>
            <a:r>
              <a:rPr lang="ru-RU" dirty="0"/>
              <a:t>Работники</a:t>
            </a:r>
            <a:r>
              <a:rPr dirty="0"/>
              <a:t>: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388756" y="2931664"/>
            <a:ext cx="1543773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  <a:lvl1pPr marL="12700">
              <a:lnSpc>
                <a:spcPct val="100000"/>
              </a:lnSpc>
              <a:spcBef>
                <a:spcPts val="100"/>
              </a:spcBef>
              <a:defRPr sz="1150" spc="-10">
                <a:solidFill>
                  <a:srgbClr val="006060"/>
                </a:solidFill>
                <a:latin typeface="Inter"/>
                <a:ea typeface="+mn-ea"/>
                <a:cs typeface="Inter"/>
              </a:defRPr>
            </a:lvl1pPr>
          </a:lstStyle>
          <a:p>
            <a:r>
              <a:rPr lang="ru-RU" dirty="0"/>
              <a:t>ФИО напарника</a:t>
            </a:r>
            <a:r>
              <a:rPr dirty="0"/>
              <a:t>:</a:t>
            </a:r>
          </a:p>
        </p:txBody>
      </p:sp>
      <p:graphicFrame>
        <p:nvGraphicFramePr>
          <p:cNvPr id="19" name="object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214401"/>
              </p:ext>
            </p:extLst>
          </p:nvPr>
        </p:nvGraphicFramePr>
        <p:xfrm>
          <a:off x="6845389" y="158838"/>
          <a:ext cx="3072129" cy="17138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6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5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5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5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 gridSpan="4"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ru-RU" sz="1150" spc="-10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Точка Сбора при Эвакуации</a:t>
                      </a:r>
                      <a:r>
                        <a:rPr sz="1150" spc="-10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:</a:t>
                      </a:r>
                    </a:p>
                  </a:txBody>
                  <a:tcPr marL="0" marR="0" marT="381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 gridSpan="4"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ru-RU" sz="1150" spc="-10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Перввя Помощь тел.</a:t>
                      </a:r>
                      <a:r>
                        <a:rPr sz="1150" spc="-10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:</a:t>
                      </a: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 gridSpan="4"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ru-RU" sz="1150" spc="-10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Название </a:t>
                      </a:r>
                      <a:r>
                        <a:rPr lang="en-US" altLang="en-US" sz="1150" spc="-10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объект</a:t>
                      </a:r>
                      <a:r>
                        <a:rPr lang="ru-RU" altLang="en-US" sz="1150" spc="-10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а:</a:t>
                      </a:r>
                      <a:endParaRPr sz="1150" spc="-10" dirty="0">
                        <a:solidFill>
                          <a:srgbClr val="006060"/>
                        </a:solidFill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865">
                <a:tc gridSpan="4"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ru-RU" sz="1150" spc="-10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Номер Наряда-Допуска:</a:t>
                      </a:r>
                      <a:endParaRPr sz="1150" spc="-10" dirty="0">
                        <a:solidFill>
                          <a:srgbClr val="006060"/>
                        </a:solidFill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18415" marR="39370" algn="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ru-RU" sz="1150" spc="-10" dirty="0">
                          <a:solidFill>
                            <a:srgbClr val="006060"/>
                          </a:solidFill>
                          <a:latin typeface="Inter"/>
                          <a:ea typeface="+mn-ea"/>
                          <a:cs typeface="Inter"/>
                        </a:rPr>
                        <a:t>Дата</a:t>
                      </a:r>
                      <a:r>
                        <a:rPr sz="1150" spc="-10" dirty="0">
                          <a:solidFill>
                            <a:srgbClr val="006060"/>
                          </a:solidFill>
                          <a:latin typeface="Inter"/>
                          <a:ea typeface="+mn-ea"/>
                          <a:cs typeface="Inter"/>
                        </a:rPr>
                        <a:t>:</a:t>
                      </a: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endParaRPr sz="1150" spc="-10" dirty="0">
                        <a:solidFill>
                          <a:srgbClr val="006060"/>
                        </a:solidFill>
                        <a:latin typeface="Inter"/>
                        <a:ea typeface="+mn-ea"/>
                        <a:cs typeface="Inter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18415" marR="52705" algn="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ru-RU" sz="1150" spc="-10" dirty="0">
                          <a:solidFill>
                            <a:srgbClr val="006060"/>
                          </a:solidFill>
                          <a:latin typeface="Inter"/>
                          <a:ea typeface="+mn-ea"/>
                          <a:cs typeface="Inter"/>
                        </a:rPr>
                        <a:t>Время</a:t>
                      </a:r>
                      <a:r>
                        <a:rPr sz="1150" spc="-10" dirty="0">
                          <a:solidFill>
                            <a:srgbClr val="006060"/>
                          </a:solidFill>
                          <a:latin typeface="Inter"/>
                          <a:ea typeface="+mn-ea"/>
                          <a:cs typeface="Inter"/>
                        </a:rPr>
                        <a:t>:</a:t>
                      </a: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endParaRPr sz="1150" spc="-10" dirty="0">
                        <a:solidFill>
                          <a:srgbClr val="006060"/>
                        </a:solidFill>
                        <a:latin typeface="Inter"/>
                        <a:ea typeface="+mn-ea"/>
                        <a:cs typeface="Inter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18415" marR="53975" algn="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ru-RU" sz="1150" spc="-10" dirty="0">
                          <a:solidFill>
                            <a:srgbClr val="006060"/>
                          </a:solidFill>
                          <a:latin typeface="Inter"/>
                          <a:ea typeface="+mn-ea"/>
                          <a:cs typeface="Inter"/>
                        </a:rPr>
                        <a:t>Смена</a:t>
                      </a:r>
                      <a:r>
                        <a:rPr sz="1150" spc="-10" dirty="0">
                          <a:solidFill>
                            <a:srgbClr val="006060"/>
                          </a:solidFill>
                          <a:latin typeface="Inter"/>
                          <a:ea typeface="+mn-ea"/>
                          <a:cs typeface="Inter"/>
                        </a:rPr>
                        <a:t>:</a:t>
                      </a: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ru-RU" sz="1150" spc="-10" dirty="0">
                          <a:solidFill>
                            <a:srgbClr val="006060"/>
                          </a:solidFill>
                          <a:latin typeface="Inter"/>
                          <a:ea typeface="+mn-ea"/>
                          <a:cs typeface="Inter"/>
                        </a:rPr>
                        <a:t>1</a:t>
                      </a:r>
                      <a:endParaRPr sz="1150" spc="-10" dirty="0">
                        <a:solidFill>
                          <a:srgbClr val="006060"/>
                        </a:solidFill>
                        <a:latin typeface="Inter"/>
                        <a:ea typeface="+mn-ea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ru-RU" sz="1150" spc="-10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2</a:t>
                      </a:r>
                      <a:endParaRPr sz="1150" spc="-10" dirty="0">
                        <a:solidFill>
                          <a:srgbClr val="006060"/>
                        </a:solidFill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ru-RU" sz="1150" spc="-10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3</a:t>
                      </a:r>
                      <a:endParaRPr sz="1150" spc="-10" dirty="0">
                        <a:solidFill>
                          <a:srgbClr val="006060"/>
                        </a:solidFill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6883237" y="5879977"/>
            <a:ext cx="1574963" cy="1897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  <a:lvl1pPr marL="12700">
              <a:lnSpc>
                <a:spcPct val="100000"/>
              </a:lnSpc>
              <a:spcBef>
                <a:spcPts val="100"/>
              </a:spcBef>
              <a:defRPr sz="1150" spc="-10">
                <a:solidFill>
                  <a:srgbClr val="006060"/>
                </a:solidFill>
                <a:latin typeface="Inter"/>
                <a:ea typeface="+mn-ea"/>
                <a:cs typeface="Inter"/>
              </a:defRPr>
            </a:lvl1pPr>
          </a:lstStyle>
          <a:p>
            <a:r>
              <a:rPr lang="ru-RU" dirty="0"/>
              <a:t>Завершение работ</a:t>
            </a:r>
            <a:r>
              <a:rPr dirty="0"/>
              <a:t>:</a:t>
            </a:r>
          </a:p>
        </p:txBody>
      </p:sp>
      <p:sp>
        <p:nvSpPr>
          <p:cNvPr id="21" name="object 21"/>
          <p:cNvSpPr/>
          <p:nvPr/>
        </p:nvSpPr>
        <p:spPr>
          <a:xfrm>
            <a:off x="6855891" y="6068517"/>
            <a:ext cx="3074035" cy="1539240"/>
          </a:xfrm>
          <a:custGeom>
            <a:avLst/>
            <a:gdLst/>
            <a:ahLst/>
            <a:cxnLst/>
            <a:rect l="l" t="t" r="r" b="b"/>
            <a:pathLst>
              <a:path w="3074034" h="1539240">
                <a:moveTo>
                  <a:pt x="3073971" y="1538693"/>
                </a:moveTo>
                <a:lnTo>
                  <a:pt x="0" y="1538693"/>
                </a:lnTo>
                <a:lnTo>
                  <a:pt x="0" y="0"/>
                </a:lnTo>
                <a:lnTo>
                  <a:pt x="3073971" y="0"/>
                </a:lnTo>
                <a:lnTo>
                  <a:pt x="3073971" y="1538693"/>
                </a:lnTo>
                <a:close/>
              </a:path>
            </a:pathLst>
          </a:custGeom>
          <a:ln w="12700">
            <a:solidFill>
              <a:srgbClr val="005F63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bject 22"/>
          <p:cNvSpPr txBox="1"/>
          <p:nvPr/>
        </p:nvSpPr>
        <p:spPr>
          <a:xfrm>
            <a:off x="6895975" y="6058427"/>
            <a:ext cx="2461435" cy="3180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  <a:lvl1pPr marL="12700">
              <a:lnSpc>
                <a:spcPct val="100000"/>
              </a:lnSpc>
              <a:spcBef>
                <a:spcPts val="100"/>
              </a:spcBef>
              <a:defRPr sz="1150" spc="-10">
                <a:solidFill>
                  <a:srgbClr val="006060"/>
                </a:solidFill>
                <a:latin typeface="Inter"/>
                <a:ea typeface="+mn-ea"/>
                <a:cs typeface="Inter"/>
              </a:defRPr>
            </a:lvl1pPr>
          </a:lstStyle>
          <a:p>
            <a:r>
              <a:rPr lang="ru-RU" sz="900" dirty="0"/>
              <a:t>Подпись Мастер/Руководитель:</a:t>
            </a:r>
          </a:p>
          <a:p>
            <a:endParaRPr sz="1000" dirty="0"/>
          </a:p>
        </p:txBody>
      </p:sp>
      <p:sp>
        <p:nvSpPr>
          <p:cNvPr id="23" name="object 23"/>
          <p:cNvSpPr/>
          <p:nvPr/>
        </p:nvSpPr>
        <p:spPr>
          <a:xfrm>
            <a:off x="6895975" y="6449907"/>
            <a:ext cx="2755900" cy="1005840"/>
          </a:xfrm>
          <a:custGeom>
            <a:avLst/>
            <a:gdLst/>
            <a:ahLst/>
            <a:cxnLst/>
            <a:rect l="l" t="t" r="r" b="b"/>
            <a:pathLst>
              <a:path w="2755900" h="1005840">
                <a:moveTo>
                  <a:pt x="0" y="0"/>
                </a:moveTo>
                <a:lnTo>
                  <a:pt x="2755392" y="0"/>
                </a:lnTo>
              </a:path>
              <a:path w="2755900" h="1005840">
                <a:moveTo>
                  <a:pt x="0" y="1005836"/>
                </a:moveTo>
                <a:lnTo>
                  <a:pt x="2755392" y="1005836"/>
                </a:lnTo>
              </a:path>
            </a:pathLst>
          </a:custGeom>
          <a:ln w="15875">
            <a:solidFill>
              <a:srgbClr val="221E1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24"/>
          <p:cNvSpPr txBox="1"/>
          <p:nvPr/>
        </p:nvSpPr>
        <p:spPr>
          <a:xfrm>
            <a:off x="6895975" y="6607069"/>
            <a:ext cx="2461435" cy="3026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  <a:lvl1pPr marL="12700">
              <a:lnSpc>
                <a:spcPct val="100000"/>
              </a:lnSpc>
              <a:spcBef>
                <a:spcPts val="100"/>
              </a:spcBef>
              <a:defRPr sz="1150" spc="-10">
                <a:solidFill>
                  <a:srgbClr val="006060"/>
                </a:solidFill>
                <a:latin typeface="Inter"/>
                <a:ea typeface="+mn-ea"/>
                <a:cs typeface="Inter"/>
              </a:defRPr>
            </a:lvl1pPr>
          </a:lstStyle>
          <a:p>
            <a:r>
              <a:rPr lang="ru-RU" sz="900" dirty="0"/>
              <a:t>Работа выполнена</a:t>
            </a:r>
            <a:r>
              <a:rPr lang="pl-PL" sz="900" dirty="0"/>
              <a:t>?</a:t>
            </a:r>
          </a:p>
          <a:p>
            <a:r>
              <a:rPr lang="ru-RU" sz="900" dirty="0"/>
              <a:t>Несчастные случаи при выполнении</a:t>
            </a:r>
            <a:r>
              <a:rPr lang="pl-PL" sz="900" dirty="0"/>
              <a:t>?</a:t>
            </a:r>
            <a:endParaRPr sz="900" dirty="0"/>
          </a:p>
        </p:txBody>
      </p:sp>
      <p:sp>
        <p:nvSpPr>
          <p:cNvPr id="25" name="object 25"/>
          <p:cNvSpPr txBox="1"/>
          <p:nvPr/>
        </p:nvSpPr>
        <p:spPr>
          <a:xfrm>
            <a:off x="9357410" y="6607069"/>
            <a:ext cx="48514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  <a:lvl1pPr marL="12700">
              <a:lnSpc>
                <a:spcPct val="100000"/>
              </a:lnSpc>
              <a:spcBef>
                <a:spcPts val="100"/>
              </a:spcBef>
              <a:defRPr sz="900" spc="-10">
                <a:solidFill>
                  <a:srgbClr val="006060"/>
                </a:solidFill>
                <a:latin typeface="Inter"/>
                <a:ea typeface="+mn-ea"/>
                <a:cs typeface="Inter"/>
              </a:defRPr>
            </a:lvl1pPr>
          </a:lstStyle>
          <a:p>
            <a:r>
              <a:rPr lang="ru-RU" dirty="0"/>
              <a:t>Да</a:t>
            </a:r>
            <a:r>
              <a:rPr dirty="0"/>
              <a:t>/</a:t>
            </a:r>
            <a:r>
              <a:rPr lang="ru-RU" dirty="0"/>
              <a:t>Нет</a:t>
            </a:r>
            <a:r>
              <a:rPr dirty="0"/>
              <a:t> </a:t>
            </a:r>
            <a:r>
              <a:rPr lang="ru-RU" dirty="0"/>
              <a:t>Да/Нет </a:t>
            </a:r>
            <a:endParaRPr dirty="0"/>
          </a:p>
        </p:txBody>
      </p:sp>
      <p:sp>
        <p:nvSpPr>
          <p:cNvPr id="26" name="object 26"/>
          <p:cNvSpPr txBox="1"/>
          <p:nvPr/>
        </p:nvSpPr>
        <p:spPr>
          <a:xfrm>
            <a:off x="6895975" y="7064269"/>
            <a:ext cx="262902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  <a:lvl1pPr marL="12700">
              <a:lnSpc>
                <a:spcPct val="100000"/>
              </a:lnSpc>
              <a:spcBef>
                <a:spcPts val="100"/>
              </a:spcBef>
              <a:defRPr sz="900" spc="-10">
                <a:solidFill>
                  <a:srgbClr val="006060"/>
                </a:solidFill>
                <a:latin typeface="Inter"/>
                <a:ea typeface="+mn-ea"/>
                <a:cs typeface="Inter"/>
              </a:defRPr>
            </a:lvl1pPr>
          </a:lstStyle>
          <a:p>
            <a:r>
              <a:rPr lang="ru-RU" dirty="0"/>
              <a:t>Если да, кого оповестили и во сколько</a:t>
            </a:r>
            <a:r>
              <a:rPr lang="pl-PL" dirty="0"/>
              <a:t>?</a:t>
            </a:r>
            <a:endParaRPr dirty="0"/>
          </a:p>
        </p:txBody>
      </p:sp>
      <p:sp>
        <p:nvSpPr>
          <p:cNvPr id="27" name="object 27"/>
          <p:cNvSpPr txBox="1"/>
          <p:nvPr/>
        </p:nvSpPr>
        <p:spPr>
          <a:xfrm>
            <a:off x="8818512" y="7602718"/>
            <a:ext cx="104394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000" spc="-10" dirty="0">
                <a:solidFill>
                  <a:srgbClr val="231F20"/>
                </a:solidFill>
                <a:latin typeface="Inter"/>
                <a:cs typeface="Inter"/>
              </a:rPr>
              <a:t>Ревизия</a:t>
            </a:r>
            <a:r>
              <a:rPr sz="1000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Inter"/>
                <a:cs typeface="Inter"/>
              </a:rPr>
              <a:t>202</a:t>
            </a:r>
            <a:r>
              <a:rPr lang="hr-HR" sz="1000" spc="-10" dirty="0">
                <a:solidFill>
                  <a:srgbClr val="231F20"/>
                </a:solidFill>
                <a:latin typeface="Inter"/>
                <a:cs typeface="Inter"/>
              </a:rPr>
              <a:t>6</a:t>
            </a:r>
            <a:r>
              <a:rPr sz="1000" spc="-10" dirty="0">
                <a:solidFill>
                  <a:srgbClr val="231F20"/>
                </a:solidFill>
                <a:latin typeface="Inter"/>
                <a:cs typeface="Inter"/>
              </a:rPr>
              <a:t>.01</a:t>
            </a:r>
            <a:endParaRPr sz="1000" dirty="0">
              <a:latin typeface="Inter"/>
              <a:cs typeface="Inter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8470" y="1750363"/>
            <a:ext cx="3195915" cy="29238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ru-RU" b="1" dirty="0">
                <a:solidFill>
                  <a:srgbClr val="006060"/>
                </a:solidFill>
                <a:latin typeface="Inter"/>
                <a:cs typeface="Inter"/>
              </a:rPr>
              <a:t>Правила Спасения Жизни</a:t>
            </a:r>
            <a:endParaRPr lang="hr-HR" b="1" dirty="0">
              <a:latin typeface="Inter"/>
              <a:cs typeface="Inter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35941" y="2082495"/>
            <a:ext cx="3098444" cy="5149487"/>
          </a:xfrm>
          <a:prstGeom prst="rect">
            <a:avLst/>
          </a:prstGeom>
          <a:ln w="12700">
            <a:solidFill>
              <a:srgbClr val="006060"/>
            </a:solidFill>
          </a:ln>
        </p:spPr>
        <p:txBody>
          <a:bodyPr vert="horz" wrap="square" lIns="0" tIns="98425" rIns="0" bIns="0" rtlCol="0">
            <a:spAutoFit/>
          </a:bodyPr>
          <a:lstStyle/>
          <a:p>
            <a:pPr marL="895985">
              <a:lnSpc>
                <a:spcPts val="1400"/>
              </a:lnSpc>
              <a:spcBef>
                <a:spcPts val="775"/>
              </a:spcBef>
            </a:pPr>
            <a:r>
              <a:rPr lang="en-US" altLang="en-US" sz="1200" dirty="0">
                <a:solidFill>
                  <a:srgbClr val="006060"/>
                </a:solidFill>
                <a:latin typeface="Inter"/>
                <a:cs typeface="Inter"/>
              </a:rPr>
              <a:t>Механический подъем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en-US" sz="800" dirty="0">
                <a:solidFill>
                  <a:srgbClr val="010202"/>
                </a:solidFill>
                <a:latin typeface="Inter"/>
                <a:cs typeface="Inter"/>
              </a:rPr>
              <a:t>                               П</a:t>
            </a:r>
            <a:r>
              <a:rPr lang="en-US" altLang="en-US" sz="800" dirty="0">
                <a:solidFill>
                  <a:srgbClr val="010202"/>
                </a:solidFill>
                <a:latin typeface="Inter"/>
                <a:cs typeface="Inter"/>
              </a:rPr>
              <a:t>ланируйте подъем, контролируйте зону и</a:t>
            </a:r>
            <a:r>
              <a:rPr lang="ru-RU" altLang="en-US" sz="800" dirty="0">
                <a:solidFill>
                  <a:srgbClr val="010202"/>
                </a:solidFill>
                <a:latin typeface="Inter"/>
                <a:cs typeface="Inter"/>
              </a:rPr>
              <a:t>                           	избегайте </a:t>
            </a:r>
            <a:r>
              <a:rPr lang="en-US" altLang="en-US" sz="800" dirty="0">
                <a:solidFill>
                  <a:srgbClr val="010202"/>
                </a:solidFill>
                <a:latin typeface="Inter"/>
                <a:cs typeface="Inter"/>
              </a:rPr>
              <a:t>движущихся и поднятых грузов</a:t>
            </a:r>
          </a:p>
          <a:p>
            <a:pPr marL="895985">
              <a:spcBef>
                <a:spcPts val="925"/>
              </a:spcBef>
            </a:pPr>
            <a:r>
              <a:rPr lang="en-US" altLang="en-US" sz="1200" dirty="0">
                <a:solidFill>
                  <a:srgbClr val="006060"/>
                </a:solidFill>
                <a:latin typeface="Inter"/>
                <a:cs typeface="Inter"/>
              </a:rPr>
              <a:t>Работы на высоте </a:t>
            </a:r>
            <a:r>
              <a:rPr kumimoji="0" lang="ru-RU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800" dirty="0">
                <a:solidFill>
                  <a:srgbClr val="010202"/>
                </a:solidFill>
                <a:latin typeface="Inter"/>
                <a:cs typeface="Inter"/>
              </a:rPr>
              <a:t>Оценивайте риски, предотвращайте от падения с высоты</a:t>
            </a:r>
            <a:endParaRPr sz="800" dirty="0">
              <a:solidFill>
                <a:srgbClr val="010202"/>
              </a:solidFill>
              <a:latin typeface="Inter"/>
              <a:cs typeface="Inter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800" dirty="0">
              <a:latin typeface="Inter"/>
              <a:cs typeface="Inter"/>
            </a:endParaRPr>
          </a:p>
          <a:p>
            <a:pPr marL="895985"/>
            <a:r>
              <a:rPr lang="en-US" altLang="en-US" sz="1200" dirty="0">
                <a:solidFill>
                  <a:srgbClr val="006060"/>
                </a:solidFill>
                <a:latin typeface="Inter"/>
                <a:cs typeface="Inter"/>
              </a:rPr>
              <a:t>Безопасность вождения </a:t>
            </a:r>
            <a:r>
              <a:rPr lang="en-US" altLang="en-US" sz="800" dirty="0">
                <a:solidFill>
                  <a:srgbClr val="010202"/>
                </a:solidFill>
                <a:latin typeface="Inter"/>
                <a:cs typeface="Inter"/>
              </a:rPr>
              <a:t>Планируйте поездку, будьте внимательны</a:t>
            </a:r>
            <a:r>
              <a:rPr lang="ru-RU" altLang="en-US" sz="800" dirty="0">
                <a:solidFill>
                  <a:srgbClr val="010202"/>
                </a:solidFill>
                <a:latin typeface="Inter"/>
                <a:cs typeface="Inter"/>
              </a:rPr>
              <a:t> и </a:t>
            </a:r>
            <a:r>
              <a:rPr lang="en-US" altLang="en-US" sz="800" dirty="0">
                <a:solidFill>
                  <a:srgbClr val="010202"/>
                </a:solidFill>
                <a:latin typeface="Inter"/>
                <a:cs typeface="Inter"/>
              </a:rPr>
              <a:t>сосредотач</a:t>
            </a:r>
            <a:r>
              <a:rPr lang="ru-RU" altLang="en-US" sz="800" dirty="0">
                <a:solidFill>
                  <a:srgbClr val="010202"/>
                </a:solidFill>
                <a:latin typeface="Inter"/>
                <a:cs typeface="Inter"/>
              </a:rPr>
              <a:t>ены</a:t>
            </a:r>
            <a:endParaRPr lang="en-US" sz="800" dirty="0">
              <a:solidFill>
                <a:srgbClr val="010202"/>
              </a:solidFill>
              <a:latin typeface="Inter"/>
              <a:cs typeface="Inter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lang="en-US" sz="800" dirty="0">
              <a:latin typeface="Inter"/>
              <a:cs typeface="Inter"/>
            </a:endParaRPr>
          </a:p>
          <a:p>
            <a:pPr marL="895985">
              <a:lnSpc>
                <a:spcPts val="1400"/>
              </a:lnSpc>
              <a:spcBef>
                <a:spcPts val="5"/>
              </a:spcBef>
            </a:pPr>
            <a:r>
              <a:rPr lang="ru-RU" sz="1200" spc="-20" dirty="0">
                <a:solidFill>
                  <a:srgbClr val="006060"/>
                </a:solidFill>
                <a:latin typeface="Inter"/>
                <a:cs typeface="Inter"/>
              </a:rPr>
              <a:t>Зона поражения</a:t>
            </a:r>
            <a:endParaRPr sz="1200" dirty="0">
              <a:latin typeface="Inter"/>
              <a:cs typeface="Inte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altLang="en-US" sz="800" dirty="0">
                <a:solidFill>
                  <a:srgbClr val="010202"/>
                </a:solidFill>
                <a:latin typeface="Inter"/>
                <a:cs typeface="Inter"/>
              </a:rPr>
              <a:t>Держите себя и других вне опасной зоны</a:t>
            </a:r>
          </a:p>
          <a:p>
            <a:pPr marL="895985">
              <a:lnSpc>
                <a:spcPts val="919"/>
              </a:lnSpc>
            </a:pPr>
            <a:r>
              <a:rPr lang="ru-RU" sz="800" dirty="0">
                <a:latin typeface="Inter"/>
                <a:cs typeface="Inter"/>
              </a:rPr>
              <a:t>	</a:t>
            </a:r>
            <a:endParaRPr sz="800" dirty="0">
              <a:latin typeface="Inter"/>
              <a:cs typeface="Inter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800" dirty="0">
              <a:latin typeface="Inter"/>
              <a:cs typeface="Inter"/>
            </a:endParaRPr>
          </a:p>
          <a:p>
            <a:pPr marL="895985">
              <a:lnSpc>
                <a:spcPts val="1400"/>
              </a:lnSpc>
              <a:spcBef>
                <a:spcPts val="5"/>
              </a:spcBef>
            </a:pPr>
            <a:r>
              <a:rPr lang="ru-RU" sz="1200" dirty="0">
                <a:solidFill>
                  <a:srgbClr val="006060"/>
                </a:solidFill>
                <a:latin typeface="Inter"/>
                <a:cs typeface="Inter"/>
              </a:rPr>
              <a:t>Наряд-Допуск</a:t>
            </a:r>
            <a:endParaRPr sz="1200" dirty="0">
              <a:latin typeface="Inter"/>
              <a:cs typeface="Inter"/>
            </a:endParaRPr>
          </a:p>
          <a:p>
            <a:pPr marL="895985">
              <a:lnSpc>
                <a:spcPts val="919"/>
              </a:lnSpc>
            </a:pPr>
            <a:r>
              <a:rPr lang="en-US" altLang="en-US" sz="800" dirty="0">
                <a:solidFill>
                  <a:srgbClr val="010202"/>
                </a:solidFill>
                <a:latin typeface="Inter"/>
                <a:cs typeface="Inter"/>
              </a:rPr>
              <a:t>Оцените риск, примените меры контроля и получите разрешение до начала работ</a:t>
            </a:r>
            <a:endParaRPr sz="800" dirty="0">
              <a:solidFill>
                <a:srgbClr val="010202"/>
              </a:solidFill>
              <a:latin typeface="Inter"/>
              <a:cs typeface="Inter"/>
            </a:endParaRPr>
          </a:p>
          <a:p>
            <a:pPr marL="895985">
              <a:lnSpc>
                <a:spcPts val="1400"/>
              </a:lnSpc>
            </a:pPr>
            <a:endParaRPr lang="ru-RU" sz="120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895985">
              <a:lnSpc>
                <a:spcPts val="1400"/>
              </a:lnSpc>
            </a:pPr>
            <a:r>
              <a:rPr lang="ru-RU" sz="1200" dirty="0">
                <a:solidFill>
                  <a:srgbClr val="006060"/>
                </a:solidFill>
                <a:latin typeface="Inter"/>
                <a:cs typeface="Inter"/>
              </a:rPr>
              <a:t>Замкнутое пространство</a:t>
            </a:r>
            <a:endParaRPr sz="1200" dirty="0">
              <a:latin typeface="Inter"/>
              <a:cs typeface="Inte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altLang="en-US" sz="800" dirty="0">
                <a:solidFill>
                  <a:srgbClr val="010202"/>
                </a:solidFill>
                <a:latin typeface="Inter"/>
                <a:cs typeface="Inter"/>
              </a:rPr>
              <a:t>Оцените риск, контролируйте опасности и </a:t>
            </a:r>
            <a:r>
              <a:rPr lang="ru-RU" altLang="en-US" sz="800" dirty="0">
                <a:solidFill>
                  <a:srgbClr val="010202"/>
                </a:solidFill>
                <a:latin typeface="Inter"/>
                <a:cs typeface="Inter"/>
              </a:rPr>
              <a:t>	</a:t>
            </a:r>
            <a:r>
              <a:rPr lang="en-US" altLang="en-US" sz="800" dirty="0">
                <a:solidFill>
                  <a:srgbClr val="010202"/>
                </a:solidFill>
                <a:latin typeface="Inter"/>
                <a:cs typeface="Inter"/>
              </a:rPr>
              <a:t>получите разрешение на работы</a:t>
            </a:r>
            <a:endParaRPr lang="ru-RU" altLang="en-US" sz="800" dirty="0">
              <a:solidFill>
                <a:srgbClr val="010202"/>
              </a:solidFill>
              <a:latin typeface="Inter"/>
              <a:cs typeface="Inte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sz="800" dirty="0">
              <a:latin typeface="Inter"/>
              <a:cs typeface="Inter"/>
            </a:endParaRPr>
          </a:p>
          <a:p>
            <a:pPr marL="895985">
              <a:lnSpc>
                <a:spcPts val="1400"/>
              </a:lnSpc>
            </a:pPr>
            <a:r>
              <a:rPr lang="ru-RU" sz="1200" spc="-10" dirty="0">
                <a:solidFill>
                  <a:srgbClr val="006060"/>
                </a:solidFill>
                <a:latin typeface="Inter"/>
                <a:cs typeface="Inter"/>
              </a:rPr>
              <a:t>Изоляция энергии</a:t>
            </a:r>
            <a:endParaRPr sz="1200" dirty="0">
              <a:latin typeface="Inter"/>
              <a:cs typeface="Inter"/>
            </a:endParaRPr>
          </a:p>
          <a:p>
            <a:pPr marL="895985">
              <a:lnSpc>
                <a:spcPts val="919"/>
              </a:lnSpc>
            </a:pPr>
            <a:r>
              <a:rPr lang="en-US" altLang="en-US" sz="800" dirty="0">
                <a:solidFill>
                  <a:srgbClr val="010202"/>
                </a:solidFill>
                <a:latin typeface="Inter"/>
                <a:cs typeface="Inter"/>
              </a:rPr>
              <a:t>Изолируйте и подтвердите отсутствие энергии перед началом работ</a:t>
            </a:r>
            <a:endParaRPr lang="ru-RU" altLang="en-US" sz="800" dirty="0">
              <a:solidFill>
                <a:srgbClr val="010202"/>
              </a:solidFill>
              <a:latin typeface="Inter"/>
              <a:cs typeface="Inter"/>
            </a:endParaRPr>
          </a:p>
          <a:p>
            <a:pPr marL="895985">
              <a:lnSpc>
                <a:spcPts val="919"/>
              </a:lnSpc>
            </a:pPr>
            <a:endParaRPr lang="en-US" sz="800" dirty="0">
              <a:latin typeface="Inter"/>
              <a:cs typeface="Inter"/>
            </a:endParaRPr>
          </a:p>
          <a:p>
            <a:pPr marL="895985">
              <a:lnSpc>
                <a:spcPts val="1400"/>
              </a:lnSpc>
            </a:pPr>
            <a:r>
              <a:rPr lang="ru-RU" sz="1200" dirty="0">
                <a:solidFill>
                  <a:srgbClr val="006060"/>
                </a:solidFill>
                <a:latin typeface="Inter"/>
                <a:cs typeface="Inter"/>
              </a:rPr>
              <a:t>Оборудование под напряжением</a:t>
            </a:r>
            <a:endParaRPr sz="1200" dirty="0">
              <a:latin typeface="Inter"/>
              <a:cs typeface="Inter"/>
            </a:endParaRPr>
          </a:p>
          <a:p>
            <a:pPr marL="895985">
              <a:lnSpc>
                <a:spcPts val="919"/>
              </a:lnSpc>
            </a:pPr>
            <a:r>
              <a:rPr lang="en-US" altLang="en-US" sz="800" dirty="0">
                <a:solidFill>
                  <a:srgbClr val="010202"/>
                </a:solidFill>
                <a:latin typeface="Inter"/>
                <a:cs typeface="Inter"/>
              </a:rPr>
              <a:t>Применяйте меры контроля и выполняйте требования по ограничению доступа</a:t>
            </a:r>
            <a:endParaRPr lang="ru-RU" altLang="en-US" sz="800" dirty="0">
              <a:solidFill>
                <a:srgbClr val="010202"/>
              </a:solidFill>
              <a:latin typeface="Inter"/>
              <a:cs typeface="Inter"/>
            </a:endParaRPr>
          </a:p>
          <a:p>
            <a:pPr marL="895985">
              <a:lnSpc>
                <a:spcPts val="919"/>
              </a:lnSpc>
            </a:pPr>
            <a:endParaRPr sz="800" dirty="0">
              <a:solidFill>
                <a:srgbClr val="010202"/>
              </a:solidFill>
              <a:latin typeface="Inter"/>
              <a:cs typeface="Inter"/>
            </a:endParaRPr>
          </a:p>
          <a:p>
            <a:pPr marL="895985">
              <a:lnSpc>
                <a:spcPts val="1400"/>
              </a:lnSpc>
            </a:pPr>
            <a:r>
              <a:rPr lang="en-US" altLang="en-US" sz="1200" dirty="0">
                <a:solidFill>
                  <a:srgbClr val="006060"/>
                </a:solidFill>
                <a:latin typeface="Inter"/>
                <a:cs typeface="Inter"/>
              </a:rPr>
              <a:t>Пожар и взрыв </a:t>
            </a:r>
            <a:endParaRPr lang="ru-RU" altLang="en-US" sz="120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895985"/>
            <a:r>
              <a:rPr lang="en-US" altLang="en-US" sz="800" dirty="0">
                <a:solidFill>
                  <a:srgbClr val="010202"/>
                </a:solidFill>
                <a:latin typeface="Inter"/>
                <a:cs typeface="Inter"/>
              </a:rPr>
              <a:t>Контролируйте источники воспламенения и устраняйте опасность пожара и взрыва</a:t>
            </a:r>
            <a:endParaRPr lang="hr-HR" sz="800" dirty="0">
              <a:solidFill>
                <a:srgbClr val="010202"/>
              </a:solidFill>
              <a:latin typeface="Inter"/>
              <a:cs typeface="Inter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0" y="7323226"/>
            <a:ext cx="6722109" cy="449580"/>
          </a:xfrm>
          <a:custGeom>
            <a:avLst/>
            <a:gdLst/>
            <a:ahLst/>
            <a:cxnLst/>
            <a:rect l="l" t="t" r="r" b="b"/>
            <a:pathLst>
              <a:path w="6722109" h="449579">
                <a:moveTo>
                  <a:pt x="6721525" y="0"/>
                </a:moveTo>
                <a:lnTo>
                  <a:pt x="0" y="0"/>
                </a:lnTo>
                <a:lnTo>
                  <a:pt x="0" y="449173"/>
                </a:lnTo>
                <a:lnTo>
                  <a:pt x="6721525" y="449173"/>
                </a:lnTo>
                <a:lnTo>
                  <a:pt x="6721525" y="0"/>
                </a:lnTo>
                <a:close/>
              </a:path>
            </a:pathLst>
          </a:custGeom>
          <a:solidFill>
            <a:srgbClr val="B5D3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216421" y="7432011"/>
            <a:ext cx="6396355" cy="17312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050" dirty="0">
                <a:solidFill>
                  <a:srgbClr val="006060"/>
                </a:solidFill>
                <a:latin typeface="Inter"/>
                <a:cs typeface="Inter"/>
              </a:rPr>
              <a:t>МЫ НАЧИНАЕМ РАБОТУ ТОЛЬКО ЕСЛИ ЭТО БЕЗОПАСНО, И </a:t>
            </a:r>
            <a:r>
              <a:rPr lang="en-US" altLang="en-US" sz="1050" b="1" dirty="0">
                <a:solidFill>
                  <a:srgbClr val="006060"/>
                </a:solidFill>
                <a:latin typeface="Inter"/>
                <a:cs typeface="Inter"/>
              </a:rPr>
              <a:t>ОСТАНАВЛИВАЕМСЯ</a:t>
            </a:r>
            <a:r>
              <a:rPr lang="en-US" altLang="en-US" sz="1050" dirty="0">
                <a:solidFill>
                  <a:srgbClr val="006060"/>
                </a:solidFill>
                <a:latin typeface="Inter"/>
                <a:cs typeface="Inter"/>
              </a:rPr>
              <a:t>, ЕСЛИ НЕ</a:t>
            </a:r>
            <a:r>
              <a:rPr lang="ru-RU" altLang="en-US" sz="1050" dirty="0">
                <a:solidFill>
                  <a:srgbClr val="006060"/>
                </a:solidFill>
                <a:latin typeface="Inter"/>
                <a:cs typeface="Inter"/>
              </a:rPr>
              <a:t>Т.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10622" y="2557767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510965" y="2733319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511296" y="2908884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511638" y="3084436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511981" y="3259988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512324" y="3435540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512667" y="3611105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513010" y="3786657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513353" y="3962209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513683" y="4137774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510622" y="4308371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514712" y="4664443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515055" y="4839995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515398" y="5015547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515728" y="5191099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516071" y="5366664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516414" y="5542216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516757" y="5717768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517100" y="5893333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517442" y="6068885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80149" y="2357437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80149" y="2916935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80149" y="3476434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80149" y="4035933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280149" y="4595431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280149" y="5154917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280149" y="5714415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280149" y="6273914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280149" y="6833413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5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1" name="object 6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2118" y="539657"/>
            <a:ext cx="2057400" cy="453389"/>
          </a:xfrm>
          <a:prstGeom prst="rect">
            <a:avLst/>
          </a:prstGeom>
        </p:spPr>
      </p:pic>
      <p:grpSp>
        <p:nvGrpSpPr>
          <p:cNvPr id="62" name="object 62"/>
          <p:cNvGrpSpPr/>
          <p:nvPr/>
        </p:nvGrpSpPr>
        <p:grpSpPr>
          <a:xfrm>
            <a:off x="513414" y="2210879"/>
            <a:ext cx="387350" cy="387350"/>
            <a:chOff x="513414" y="2210879"/>
            <a:chExt cx="387350" cy="387350"/>
          </a:xfrm>
        </p:grpSpPr>
        <p:sp>
          <p:nvSpPr>
            <p:cNvPr id="63" name="object 63"/>
            <p:cNvSpPr/>
            <p:nvPr/>
          </p:nvSpPr>
          <p:spPr>
            <a:xfrm>
              <a:off x="513414" y="2210879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5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50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5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9708" y="2250104"/>
              <a:ext cx="242432" cy="286224"/>
            </a:xfrm>
            <a:prstGeom prst="rect">
              <a:avLst/>
            </a:prstGeom>
          </p:spPr>
        </p:pic>
      </p:grpSp>
      <p:grpSp>
        <p:nvGrpSpPr>
          <p:cNvPr id="65" name="object 65"/>
          <p:cNvGrpSpPr/>
          <p:nvPr/>
        </p:nvGrpSpPr>
        <p:grpSpPr>
          <a:xfrm>
            <a:off x="513414" y="6110668"/>
            <a:ext cx="387350" cy="387350"/>
            <a:chOff x="513414" y="6110668"/>
            <a:chExt cx="387350" cy="387350"/>
          </a:xfrm>
        </p:grpSpPr>
        <p:sp>
          <p:nvSpPr>
            <p:cNvPr id="66" name="object 66"/>
            <p:cNvSpPr/>
            <p:nvPr/>
          </p:nvSpPr>
          <p:spPr>
            <a:xfrm>
              <a:off x="513414" y="6110668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5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50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5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54275" y="6162000"/>
              <a:ext cx="105410" cy="297815"/>
            </a:xfrm>
            <a:custGeom>
              <a:avLst/>
              <a:gdLst/>
              <a:ahLst/>
              <a:cxnLst/>
              <a:rect l="l" t="t" r="r" b="b"/>
              <a:pathLst>
                <a:path w="105409" h="297814">
                  <a:moveTo>
                    <a:pt x="103198" y="0"/>
                  </a:moveTo>
                  <a:lnTo>
                    <a:pt x="51331" y="0"/>
                  </a:lnTo>
                  <a:lnTo>
                    <a:pt x="50162" y="838"/>
                  </a:lnTo>
                  <a:lnTo>
                    <a:pt x="49747" y="2108"/>
                  </a:lnTo>
                  <a:lnTo>
                    <a:pt x="0" y="148716"/>
                  </a:lnTo>
                  <a:lnTo>
                    <a:pt x="48" y="150088"/>
                  </a:lnTo>
                  <a:lnTo>
                    <a:pt x="1191" y="151676"/>
                  </a:lnTo>
                  <a:lnTo>
                    <a:pt x="2118" y="152158"/>
                  </a:lnTo>
                  <a:lnTo>
                    <a:pt x="49070" y="152158"/>
                  </a:lnTo>
                  <a:lnTo>
                    <a:pt x="18679" y="294106"/>
                  </a:lnTo>
                  <a:lnTo>
                    <a:pt x="18438" y="295554"/>
                  </a:lnTo>
                  <a:lnTo>
                    <a:pt x="19321" y="297052"/>
                  </a:lnTo>
                  <a:lnTo>
                    <a:pt x="19493" y="297052"/>
                  </a:lnTo>
                  <a:lnTo>
                    <a:pt x="21156" y="297637"/>
                  </a:lnTo>
                  <a:lnTo>
                    <a:pt x="22794" y="297637"/>
                  </a:lnTo>
                  <a:lnTo>
                    <a:pt x="23823" y="297052"/>
                  </a:lnTo>
                  <a:lnTo>
                    <a:pt x="24356" y="296087"/>
                  </a:lnTo>
                  <a:lnTo>
                    <a:pt x="31915" y="279768"/>
                  </a:lnTo>
                  <a:lnTo>
                    <a:pt x="27023" y="279768"/>
                  </a:lnTo>
                  <a:lnTo>
                    <a:pt x="55550" y="150088"/>
                  </a:lnTo>
                  <a:lnTo>
                    <a:pt x="55662" y="149580"/>
                  </a:lnTo>
                  <a:lnTo>
                    <a:pt x="55753" y="149059"/>
                  </a:lnTo>
                  <a:lnTo>
                    <a:pt x="55814" y="148716"/>
                  </a:lnTo>
                  <a:lnTo>
                    <a:pt x="55560" y="147815"/>
                  </a:lnTo>
                  <a:lnTo>
                    <a:pt x="54404" y="146443"/>
                  </a:lnTo>
                  <a:lnTo>
                    <a:pt x="53553" y="146049"/>
                  </a:lnTo>
                  <a:lnTo>
                    <a:pt x="7338" y="146049"/>
                  </a:lnTo>
                  <a:lnTo>
                    <a:pt x="54849" y="6108"/>
                  </a:lnTo>
                  <a:lnTo>
                    <a:pt x="104345" y="6108"/>
                  </a:lnTo>
                  <a:lnTo>
                    <a:pt x="105407" y="3162"/>
                  </a:lnTo>
                  <a:lnTo>
                    <a:pt x="105268" y="2108"/>
                  </a:lnTo>
                  <a:lnTo>
                    <a:pt x="104137" y="482"/>
                  </a:lnTo>
                  <a:lnTo>
                    <a:pt x="103198" y="0"/>
                  </a:lnTo>
                  <a:close/>
                </a:path>
                <a:path w="105409" h="297814">
                  <a:moveTo>
                    <a:pt x="104345" y="6108"/>
                  </a:moveTo>
                  <a:lnTo>
                    <a:pt x="97838" y="6108"/>
                  </a:lnTo>
                  <a:lnTo>
                    <a:pt x="56691" y="120180"/>
                  </a:lnTo>
                  <a:lnTo>
                    <a:pt x="56652" y="121716"/>
                  </a:lnTo>
                  <a:lnTo>
                    <a:pt x="57795" y="123355"/>
                  </a:lnTo>
                  <a:lnTo>
                    <a:pt x="58735" y="123837"/>
                  </a:lnTo>
                  <a:lnTo>
                    <a:pt x="96898" y="123837"/>
                  </a:lnTo>
                  <a:lnTo>
                    <a:pt x="27023" y="279768"/>
                  </a:lnTo>
                  <a:lnTo>
                    <a:pt x="31915" y="279768"/>
                  </a:lnTo>
                  <a:lnTo>
                    <a:pt x="104849" y="122313"/>
                  </a:lnTo>
                  <a:lnTo>
                    <a:pt x="105395" y="121335"/>
                  </a:lnTo>
                  <a:lnTo>
                    <a:pt x="105382" y="120180"/>
                  </a:lnTo>
                  <a:lnTo>
                    <a:pt x="104290" y="118313"/>
                  </a:lnTo>
                  <a:lnTo>
                    <a:pt x="103287" y="117728"/>
                  </a:lnTo>
                  <a:lnTo>
                    <a:pt x="64094" y="117728"/>
                  </a:lnTo>
                  <a:lnTo>
                    <a:pt x="104345" y="6108"/>
                  </a:lnTo>
                  <a:close/>
                </a:path>
              </a:pathLst>
            </a:custGeom>
            <a:solidFill>
              <a:srgbClr val="006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8" name="object 68"/>
          <p:cNvGrpSpPr/>
          <p:nvPr/>
        </p:nvGrpSpPr>
        <p:grpSpPr>
          <a:xfrm>
            <a:off x="513414" y="4995050"/>
            <a:ext cx="387350" cy="387350"/>
            <a:chOff x="513414" y="4995050"/>
            <a:chExt cx="387350" cy="387350"/>
          </a:xfrm>
        </p:grpSpPr>
        <p:sp>
          <p:nvSpPr>
            <p:cNvPr id="69" name="object 69"/>
            <p:cNvSpPr/>
            <p:nvPr/>
          </p:nvSpPr>
          <p:spPr>
            <a:xfrm>
              <a:off x="513414" y="4995050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5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50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5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5407" y="5068285"/>
              <a:ext cx="243687" cy="243674"/>
            </a:xfrm>
            <a:prstGeom prst="rect">
              <a:avLst/>
            </a:prstGeom>
          </p:spPr>
        </p:pic>
      </p:grpSp>
      <p:grpSp>
        <p:nvGrpSpPr>
          <p:cNvPr id="71" name="object 71"/>
          <p:cNvGrpSpPr/>
          <p:nvPr/>
        </p:nvGrpSpPr>
        <p:grpSpPr>
          <a:xfrm>
            <a:off x="513414" y="4439677"/>
            <a:ext cx="387350" cy="387350"/>
            <a:chOff x="513414" y="4439677"/>
            <a:chExt cx="387350" cy="387350"/>
          </a:xfrm>
        </p:grpSpPr>
        <p:sp>
          <p:nvSpPr>
            <p:cNvPr id="72" name="object 72"/>
            <p:cNvSpPr/>
            <p:nvPr/>
          </p:nvSpPr>
          <p:spPr>
            <a:xfrm>
              <a:off x="513414" y="4439677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4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49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4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9437" y="4517636"/>
              <a:ext cx="224193" cy="235737"/>
            </a:xfrm>
            <a:prstGeom prst="rect">
              <a:avLst/>
            </a:prstGeom>
          </p:spPr>
        </p:pic>
      </p:grpSp>
      <p:grpSp>
        <p:nvGrpSpPr>
          <p:cNvPr id="74" name="object 74"/>
          <p:cNvGrpSpPr/>
          <p:nvPr/>
        </p:nvGrpSpPr>
        <p:grpSpPr>
          <a:xfrm>
            <a:off x="513414" y="2745891"/>
            <a:ext cx="387350" cy="387350"/>
            <a:chOff x="513414" y="2745891"/>
            <a:chExt cx="387350" cy="387350"/>
          </a:xfrm>
        </p:grpSpPr>
        <p:sp>
          <p:nvSpPr>
            <p:cNvPr id="75" name="object 75"/>
            <p:cNvSpPr/>
            <p:nvPr/>
          </p:nvSpPr>
          <p:spPr>
            <a:xfrm>
              <a:off x="513414" y="2745891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5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50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5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75995" y="2801581"/>
              <a:ext cx="248920" cy="267970"/>
            </a:xfrm>
            <a:custGeom>
              <a:avLst/>
              <a:gdLst/>
              <a:ahLst/>
              <a:cxnLst/>
              <a:rect l="l" t="t" r="r" b="b"/>
              <a:pathLst>
                <a:path w="248919" h="267969">
                  <a:moveTo>
                    <a:pt x="74650" y="59347"/>
                  </a:moveTo>
                  <a:lnTo>
                    <a:pt x="71666" y="55676"/>
                  </a:lnTo>
                  <a:lnTo>
                    <a:pt x="69062" y="52463"/>
                  </a:lnTo>
                  <a:lnTo>
                    <a:pt x="68834" y="52412"/>
                  </a:lnTo>
                  <a:lnTo>
                    <a:pt x="68834" y="60998"/>
                  </a:lnTo>
                  <a:lnTo>
                    <a:pt x="68834" y="74053"/>
                  </a:lnTo>
                  <a:lnTo>
                    <a:pt x="63525" y="79375"/>
                  </a:lnTo>
                  <a:lnTo>
                    <a:pt x="50469" y="79375"/>
                  </a:lnTo>
                  <a:lnTo>
                    <a:pt x="45161" y="74053"/>
                  </a:lnTo>
                  <a:lnTo>
                    <a:pt x="45161" y="60998"/>
                  </a:lnTo>
                  <a:lnTo>
                    <a:pt x="50469" y="55676"/>
                  </a:lnTo>
                  <a:lnTo>
                    <a:pt x="63525" y="55676"/>
                  </a:lnTo>
                  <a:lnTo>
                    <a:pt x="68834" y="60998"/>
                  </a:lnTo>
                  <a:lnTo>
                    <a:pt x="68834" y="52412"/>
                  </a:lnTo>
                  <a:lnTo>
                    <a:pt x="61518" y="50457"/>
                  </a:lnTo>
                  <a:lnTo>
                    <a:pt x="61518" y="1079"/>
                  </a:lnTo>
                  <a:lnTo>
                    <a:pt x="60439" y="0"/>
                  </a:lnTo>
                  <a:lnTo>
                    <a:pt x="57759" y="0"/>
                  </a:lnTo>
                  <a:lnTo>
                    <a:pt x="56680" y="1079"/>
                  </a:lnTo>
                  <a:lnTo>
                    <a:pt x="56680" y="49872"/>
                  </a:lnTo>
                  <a:lnTo>
                    <a:pt x="47091" y="50050"/>
                  </a:lnTo>
                  <a:lnTo>
                    <a:pt x="39344" y="57899"/>
                  </a:lnTo>
                  <a:lnTo>
                    <a:pt x="39344" y="77266"/>
                  </a:lnTo>
                  <a:lnTo>
                    <a:pt x="47269" y="85178"/>
                  </a:lnTo>
                  <a:lnTo>
                    <a:pt x="66725" y="85178"/>
                  </a:lnTo>
                  <a:lnTo>
                    <a:pt x="72542" y="79375"/>
                  </a:lnTo>
                  <a:lnTo>
                    <a:pt x="74650" y="77266"/>
                  </a:lnTo>
                  <a:lnTo>
                    <a:pt x="74650" y="59347"/>
                  </a:lnTo>
                  <a:close/>
                </a:path>
                <a:path w="248919" h="267969">
                  <a:moveTo>
                    <a:pt x="127635" y="249313"/>
                  </a:moveTo>
                  <a:lnTo>
                    <a:pt x="123723" y="249313"/>
                  </a:lnTo>
                  <a:lnTo>
                    <a:pt x="123710" y="249440"/>
                  </a:lnTo>
                  <a:lnTo>
                    <a:pt x="127622" y="249440"/>
                  </a:lnTo>
                  <a:lnTo>
                    <a:pt x="127635" y="249313"/>
                  </a:lnTo>
                  <a:close/>
                </a:path>
                <a:path w="248919" h="267969">
                  <a:moveTo>
                    <a:pt x="133451" y="249440"/>
                  </a:moveTo>
                  <a:lnTo>
                    <a:pt x="127622" y="249440"/>
                  </a:lnTo>
                  <a:lnTo>
                    <a:pt x="126542" y="261937"/>
                  </a:lnTo>
                  <a:lnTo>
                    <a:pt x="122631" y="261937"/>
                  </a:lnTo>
                  <a:lnTo>
                    <a:pt x="123583" y="250977"/>
                  </a:lnTo>
                  <a:lnTo>
                    <a:pt x="123647" y="250202"/>
                  </a:lnTo>
                  <a:lnTo>
                    <a:pt x="123710" y="249440"/>
                  </a:lnTo>
                  <a:lnTo>
                    <a:pt x="117868" y="249440"/>
                  </a:lnTo>
                  <a:lnTo>
                    <a:pt x="116560" y="264591"/>
                  </a:lnTo>
                  <a:lnTo>
                    <a:pt x="116497" y="265404"/>
                  </a:lnTo>
                  <a:lnTo>
                    <a:pt x="116763" y="266204"/>
                  </a:lnTo>
                  <a:lnTo>
                    <a:pt x="117868" y="267411"/>
                  </a:lnTo>
                  <a:lnTo>
                    <a:pt x="118643" y="267741"/>
                  </a:lnTo>
                  <a:lnTo>
                    <a:pt x="130708" y="267741"/>
                  </a:lnTo>
                  <a:lnTo>
                    <a:pt x="131965" y="266598"/>
                  </a:lnTo>
                  <a:lnTo>
                    <a:pt x="132372" y="261937"/>
                  </a:lnTo>
                  <a:lnTo>
                    <a:pt x="133324" y="250977"/>
                  </a:lnTo>
                  <a:lnTo>
                    <a:pt x="133388" y="250202"/>
                  </a:lnTo>
                  <a:lnTo>
                    <a:pt x="133451" y="249440"/>
                  </a:lnTo>
                  <a:close/>
                </a:path>
                <a:path w="248919" h="267969">
                  <a:moveTo>
                    <a:pt x="231838" y="249440"/>
                  </a:moveTo>
                  <a:lnTo>
                    <a:pt x="231825" y="249313"/>
                  </a:lnTo>
                  <a:lnTo>
                    <a:pt x="133464" y="249313"/>
                  </a:lnTo>
                  <a:lnTo>
                    <a:pt x="133451" y="249440"/>
                  </a:lnTo>
                  <a:lnTo>
                    <a:pt x="231838" y="249440"/>
                  </a:lnTo>
                  <a:close/>
                </a:path>
                <a:path w="248919" h="267969">
                  <a:moveTo>
                    <a:pt x="241579" y="249440"/>
                  </a:moveTo>
                  <a:lnTo>
                    <a:pt x="241566" y="249313"/>
                  </a:lnTo>
                  <a:lnTo>
                    <a:pt x="237655" y="249313"/>
                  </a:lnTo>
                  <a:lnTo>
                    <a:pt x="237667" y="249440"/>
                  </a:lnTo>
                  <a:lnTo>
                    <a:pt x="241579" y="249440"/>
                  </a:lnTo>
                  <a:close/>
                </a:path>
                <a:path w="248919" h="267969">
                  <a:moveTo>
                    <a:pt x="247408" y="249313"/>
                  </a:moveTo>
                  <a:lnTo>
                    <a:pt x="226390" y="6299"/>
                  </a:lnTo>
                  <a:lnTo>
                    <a:pt x="226148" y="3632"/>
                  </a:lnTo>
                  <a:lnTo>
                    <a:pt x="226085" y="2832"/>
                  </a:lnTo>
                  <a:lnTo>
                    <a:pt x="225983" y="1638"/>
                  </a:lnTo>
                  <a:lnTo>
                    <a:pt x="224726" y="482"/>
                  </a:lnTo>
                  <a:lnTo>
                    <a:pt x="215138" y="482"/>
                  </a:lnTo>
                  <a:lnTo>
                    <a:pt x="215138" y="56375"/>
                  </a:lnTo>
                  <a:lnTo>
                    <a:pt x="150152" y="56375"/>
                  </a:lnTo>
                  <a:lnTo>
                    <a:pt x="150685" y="50165"/>
                  </a:lnTo>
                  <a:lnTo>
                    <a:pt x="214604" y="50165"/>
                  </a:lnTo>
                  <a:lnTo>
                    <a:pt x="215138" y="56375"/>
                  </a:lnTo>
                  <a:lnTo>
                    <a:pt x="215138" y="482"/>
                  </a:lnTo>
                  <a:lnTo>
                    <a:pt x="212661" y="482"/>
                  </a:lnTo>
                  <a:lnTo>
                    <a:pt x="211874" y="825"/>
                  </a:lnTo>
                  <a:lnTo>
                    <a:pt x="210781" y="2019"/>
                  </a:lnTo>
                  <a:lnTo>
                    <a:pt x="210502" y="2832"/>
                  </a:lnTo>
                  <a:lnTo>
                    <a:pt x="214185" y="45326"/>
                  </a:lnTo>
                  <a:lnTo>
                    <a:pt x="151104" y="45326"/>
                  </a:lnTo>
                  <a:lnTo>
                    <a:pt x="154482" y="6299"/>
                  </a:lnTo>
                  <a:lnTo>
                    <a:pt x="154711" y="3632"/>
                  </a:lnTo>
                  <a:lnTo>
                    <a:pt x="154787" y="2832"/>
                  </a:lnTo>
                  <a:lnTo>
                    <a:pt x="154508" y="2019"/>
                  </a:lnTo>
                  <a:lnTo>
                    <a:pt x="153403" y="825"/>
                  </a:lnTo>
                  <a:lnTo>
                    <a:pt x="152628" y="482"/>
                  </a:lnTo>
                  <a:lnTo>
                    <a:pt x="140563" y="482"/>
                  </a:lnTo>
                  <a:lnTo>
                    <a:pt x="139306" y="1638"/>
                  </a:lnTo>
                  <a:lnTo>
                    <a:pt x="129794" y="111645"/>
                  </a:lnTo>
                  <a:lnTo>
                    <a:pt x="129692" y="112814"/>
                  </a:lnTo>
                  <a:lnTo>
                    <a:pt x="129578" y="114147"/>
                  </a:lnTo>
                  <a:lnTo>
                    <a:pt x="129476" y="115303"/>
                  </a:lnTo>
                  <a:lnTo>
                    <a:pt x="128790" y="114973"/>
                  </a:lnTo>
                  <a:lnTo>
                    <a:pt x="128790" y="123164"/>
                  </a:lnTo>
                  <a:lnTo>
                    <a:pt x="128587" y="125514"/>
                  </a:lnTo>
                  <a:lnTo>
                    <a:pt x="128485" y="126123"/>
                  </a:lnTo>
                  <a:lnTo>
                    <a:pt x="127838" y="128447"/>
                  </a:lnTo>
                  <a:lnTo>
                    <a:pt x="127101" y="128447"/>
                  </a:lnTo>
                  <a:lnTo>
                    <a:pt x="126047" y="128587"/>
                  </a:lnTo>
                  <a:lnTo>
                    <a:pt x="79946" y="128587"/>
                  </a:lnTo>
                  <a:lnTo>
                    <a:pt x="79641" y="128447"/>
                  </a:lnTo>
                  <a:lnTo>
                    <a:pt x="79387" y="128447"/>
                  </a:lnTo>
                  <a:lnTo>
                    <a:pt x="77965" y="126822"/>
                  </a:lnTo>
                  <a:lnTo>
                    <a:pt x="70891" y="118719"/>
                  </a:lnTo>
                  <a:lnTo>
                    <a:pt x="70535" y="117754"/>
                  </a:lnTo>
                  <a:lnTo>
                    <a:pt x="70535" y="104432"/>
                  </a:lnTo>
                  <a:lnTo>
                    <a:pt x="84226" y="119634"/>
                  </a:lnTo>
                  <a:lnTo>
                    <a:pt x="85026" y="119989"/>
                  </a:lnTo>
                  <a:lnTo>
                    <a:pt x="127939" y="119989"/>
                  </a:lnTo>
                  <a:lnTo>
                    <a:pt x="128536" y="121843"/>
                  </a:lnTo>
                  <a:lnTo>
                    <a:pt x="128625" y="122135"/>
                  </a:lnTo>
                  <a:lnTo>
                    <a:pt x="128689" y="122567"/>
                  </a:lnTo>
                  <a:lnTo>
                    <a:pt x="128790" y="123164"/>
                  </a:lnTo>
                  <a:lnTo>
                    <a:pt x="128790" y="114973"/>
                  </a:lnTo>
                  <a:lnTo>
                    <a:pt x="128320" y="114731"/>
                  </a:lnTo>
                  <a:lnTo>
                    <a:pt x="126936" y="114388"/>
                  </a:lnTo>
                  <a:lnTo>
                    <a:pt x="87363" y="114388"/>
                  </a:lnTo>
                  <a:lnTo>
                    <a:pt x="86817" y="114147"/>
                  </a:lnTo>
                  <a:lnTo>
                    <a:pt x="65138" y="92062"/>
                  </a:lnTo>
                  <a:lnTo>
                    <a:pt x="65138" y="100457"/>
                  </a:lnTo>
                  <a:lnTo>
                    <a:pt x="65138" y="146532"/>
                  </a:lnTo>
                  <a:lnTo>
                    <a:pt x="62039" y="146989"/>
                  </a:lnTo>
                  <a:lnTo>
                    <a:pt x="62039" y="152400"/>
                  </a:lnTo>
                  <a:lnTo>
                    <a:pt x="53898" y="160883"/>
                  </a:lnTo>
                  <a:lnTo>
                    <a:pt x="49987" y="158584"/>
                  </a:lnTo>
                  <a:lnTo>
                    <a:pt x="49987" y="166319"/>
                  </a:lnTo>
                  <a:lnTo>
                    <a:pt x="49974" y="241896"/>
                  </a:lnTo>
                  <a:lnTo>
                    <a:pt x="49669" y="245148"/>
                  </a:lnTo>
                  <a:lnTo>
                    <a:pt x="49606" y="245859"/>
                  </a:lnTo>
                  <a:lnTo>
                    <a:pt x="47104" y="249047"/>
                  </a:lnTo>
                  <a:lnTo>
                    <a:pt x="40779" y="250977"/>
                  </a:lnTo>
                  <a:lnTo>
                    <a:pt x="38277" y="250609"/>
                  </a:lnTo>
                  <a:lnTo>
                    <a:pt x="36880" y="249313"/>
                  </a:lnTo>
                  <a:lnTo>
                    <a:pt x="33858" y="246062"/>
                  </a:lnTo>
                  <a:lnTo>
                    <a:pt x="34061" y="243192"/>
                  </a:lnTo>
                  <a:lnTo>
                    <a:pt x="34163" y="241706"/>
                  </a:lnTo>
                  <a:lnTo>
                    <a:pt x="34239" y="156413"/>
                  </a:lnTo>
                  <a:lnTo>
                    <a:pt x="34810" y="156413"/>
                  </a:lnTo>
                  <a:lnTo>
                    <a:pt x="49707" y="165798"/>
                  </a:lnTo>
                  <a:lnTo>
                    <a:pt x="49987" y="166319"/>
                  </a:lnTo>
                  <a:lnTo>
                    <a:pt x="49987" y="158584"/>
                  </a:lnTo>
                  <a:lnTo>
                    <a:pt x="46304" y="156413"/>
                  </a:lnTo>
                  <a:lnTo>
                    <a:pt x="42468" y="154152"/>
                  </a:lnTo>
                  <a:lnTo>
                    <a:pt x="43700" y="154152"/>
                  </a:lnTo>
                  <a:lnTo>
                    <a:pt x="56908" y="153606"/>
                  </a:lnTo>
                  <a:lnTo>
                    <a:pt x="62039" y="152400"/>
                  </a:lnTo>
                  <a:lnTo>
                    <a:pt x="62039" y="146989"/>
                  </a:lnTo>
                  <a:lnTo>
                    <a:pt x="61963" y="111645"/>
                  </a:lnTo>
                  <a:lnTo>
                    <a:pt x="61963" y="105956"/>
                  </a:lnTo>
                  <a:lnTo>
                    <a:pt x="61963" y="97078"/>
                  </a:lnTo>
                  <a:lnTo>
                    <a:pt x="65138" y="100457"/>
                  </a:lnTo>
                  <a:lnTo>
                    <a:pt x="65138" y="92062"/>
                  </a:lnTo>
                  <a:lnTo>
                    <a:pt x="62153" y="89090"/>
                  </a:lnTo>
                  <a:lnTo>
                    <a:pt x="60274" y="88315"/>
                  </a:lnTo>
                  <a:lnTo>
                    <a:pt x="56896" y="88315"/>
                  </a:lnTo>
                  <a:lnTo>
                    <a:pt x="56896" y="93421"/>
                  </a:lnTo>
                  <a:lnTo>
                    <a:pt x="56896" y="105956"/>
                  </a:lnTo>
                  <a:lnTo>
                    <a:pt x="56896" y="111645"/>
                  </a:lnTo>
                  <a:lnTo>
                    <a:pt x="56896" y="147447"/>
                  </a:lnTo>
                  <a:lnTo>
                    <a:pt x="42748" y="148348"/>
                  </a:lnTo>
                  <a:lnTo>
                    <a:pt x="42748" y="111645"/>
                  </a:lnTo>
                  <a:lnTo>
                    <a:pt x="56896" y="111645"/>
                  </a:lnTo>
                  <a:lnTo>
                    <a:pt x="56896" y="105956"/>
                  </a:lnTo>
                  <a:lnTo>
                    <a:pt x="42748" y="105956"/>
                  </a:lnTo>
                  <a:lnTo>
                    <a:pt x="42748" y="96545"/>
                  </a:lnTo>
                  <a:lnTo>
                    <a:pt x="42748" y="93421"/>
                  </a:lnTo>
                  <a:lnTo>
                    <a:pt x="56896" y="93421"/>
                  </a:lnTo>
                  <a:lnTo>
                    <a:pt x="56896" y="88315"/>
                  </a:lnTo>
                  <a:lnTo>
                    <a:pt x="39725" y="88315"/>
                  </a:lnTo>
                  <a:lnTo>
                    <a:pt x="38468" y="88734"/>
                  </a:lnTo>
                  <a:lnTo>
                    <a:pt x="37706" y="89319"/>
                  </a:lnTo>
                  <a:lnTo>
                    <a:pt x="37706" y="96545"/>
                  </a:lnTo>
                  <a:lnTo>
                    <a:pt x="37706" y="148805"/>
                  </a:lnTo>
                  <a:lnTo>
                    <a:pt x="34239" y="148805"/>
                  </a:lnTo>
                  <a:lnTo>
                    <a:pt x="34239" y="122567"/>
                  </a:lnTo>
                  <a:lnTo>
                    <a:pt x="34239" y="113296"/>
                  </a:lnTo>
                  <a:lnTo>
                    <a:pt x="33947" y="112814"/>
                  </a:lnTo>
                  <a:lnTo>
                    <a:pt x="33096" y="112382"/>
                  </a:lnTo>
                  <a:lnTo>
                    <a:pt x="32435" y="112382"/>
                  </a:lnTo>
                  <a:lnTo>
                    <a:pt x="14643" y="125514"/>
                  </a:lnTo>
                  <a:lnTo>
                    <a:pt x="14325" y="126123"/>
                  </a:lnTo>
                  <a:lnTo>
                    <a:pt x="14262" y="163525"/>
                  </a:lnTo>
                  <a:lnTo>
                    <a:pt x="13462" y="167652"/>
                  </a:lnTo>
                  <a:lnTo>
                    <a:pt x="6311" y="167652"/>
                  </a:lnTo>
                  <a:lnTo>
                    <a:pt x="5816" y="164363"/>
                  </a:lnTo>
                  <a:lnTo>
                    <a:pt x="5816" y="121843"/>
                  </a:lnTo>
                  <a:lnTo>
                    <a:pt x="37706" y="96545"/>
                  </a:lnTo>
                  <a:lnTo>
                    <a:pt x="37706" y="89319"/>
                  </a:lnTo>
                  <a:lnTo>
                    <a:pt x="33921" y="92176"/>
                  </a:lnTo>
                  <a:lnTo>
                    <a:pt x="33921" y="13182"/>
                  </a:lnTo>
                  <a:lnTo>
                    <a:pt x="32829" y="12103"/>
                  </a:lnTo>
                  <a:lnTo>
                    <a:pt x="30162" y="12103"/>
                  </a:lnTo>
                  <a:lnTo>
                    <a:pt x="29070" y="13182"/>
                  </a:lnTo>
                  <a:lnTo>
                    <a:pt x="29070" y="95910"/>
                  </a:lnTo>
                  <a:lnTo>
                    <a:pt x="342" y="119100"/>
                  </a:lnTo>
                  <a:lnTo>
                    <a:pt x="139" y="119634"/>
                  </a:lnTo>
                  <a:lnTo>
                    <a:pt x="114" y="164363"/>
                  </a:lnTo>
                  <a:lnTo>
                    <a:pt x="0" y="169049"/>
                  </a:lnTo>
                  <a:lnTo>
                    <a:pt x="4419" y="172618"/>
                  </a:lnTo>
                  <a:lnTo>
                    <a:pt x="12738" y="173672"/>
                  </a:lnTo>
                  <a:lnTo>
                    <a:pt x="18122" y="171564"/>
                  </a:lnTo>
                  <a:lnTo>
                    <a:pt x="19024" y="167652"/>
                  </a:lnTo>
                  <a:lnTo>
                    <a:pt x="19786" y="164363"/>
                  </a:lnTo>
                  <a:lnTo>
                    <a:pt x="19900" y="146532"/>
                  </a:lnTo>
                  <a:lnTo>
                    <a:pt x="20015" y="128587"/>
                  </a:lnTo>
                  <a:lnTo>
                    <a:pt x="20091" y="128447"/>
                  </a:lnTo>
                  <a:lnTo>
                    <a:pt x="28638" y="122567"/>
                  </a:lnTo>
                  <a:lnTo>
                    <a:pt x="28575" y="214388"/>
                  </a:lnTo>
                  <a:lnTo>
                    <a:pt x="28460" y="245148"/>
                  </a:lnTo>
                  <a:lnTo>
                    <a:pt x="28359" y="248335"/>
                  </a:lnTo>
                  <a:lnTo>
                    <a:pt x="34493" y="255016"/>
                  </a:lnTo>
                  <a:lnTo>
                    <a:pt x="37503" y="256235"/>
                  </a:lnTo>
                  <a:lnTo>
                    <a:pt x="42303" y="256235"/>
                  </a:lnTo>
                  <a:lnTo>
                    <a:pt x="55575" y="168402"/>
                  </a:lnTo>
                  <a:lnTo>
                    <a:pt x="82664" y="191516"/>
                  </a:lnTo>
                  <a:lnTo>
                    <a:pt x="82778" y="191998"/>
                  </a:lnTo>
                  <a:lnTo>
                    <a:pt x="70700" y="223532"/>
                  </a:lnTo>
                  <a:lnTo>
                    <a:pt x="68630" y="228561"/>
                  </a:lnTo>
                  <a:lnTo>
                    <a:pt x="68529" y="230593"/>
                  </a:lnTo>
                  <a:lnTo>
                    <a:pt x="68427" y="232613"/>
                  </a:lnTo>
                  <a:lnTo>
                    <a:pt x="68364" y="234086"/>
                  </a:lnTo>
                  <a:lnTo>
                    <a:pt x="68262" y="236029"/>
                  </a:lnTo>
                  <a:lnTo>
                    <a:pt x="68173" y="237934"/>
                  </a:lnTo>
                  <a:lnTo>
                    <a:pt x="75577" y="243192"/>
                  </a:lnTo>
                  <a:lnTo>
                    <a:pt x="78397" y="245148"/>
                  </a:lnTo>
                  <a:lnTo>
                    <a:pt x="82461" y="245694"/>
                  </a:lnTo>
                  <a:lnTo>
                    <a:pt x="90728" y="243192"/>
                  </a:lnTo>
                  <a:lnTo>
                    <a:pt x="94132" y="239890"/>
                  </a:lnTo>
                  <a:lnTo>
                    <a:pt x="111975" y="195427"/>
                  </a:lnTo>
                  <a:lnTo>
                    <a:pt x="113931" y="190906"/>
                  </a:lnTo>
                  <a:lnTo>
                    <a:pt x="115265" y="180860"/>
                  </a:lnTo>
                  <a:lnTo>
                    <a:pt x="110578" y="177495"/>
                  </a:lnTo>
                  <a:lnTo>
                    <a:pt x="110578" y="184378"/>
                  </a:lnTo>
                  <a:lnTo>
                    <a:pt x="107022" y="192798"/>
                  </a:lnTo>
                  <a:lnTo>
                    <a:pt x="106857" y="193154"/>
                  </a:lnTo>
                  <a:lnTo>
                    <a:pt x="91059" y="232613"/>
                  </a:lnTo>
                  <a:lnTo>
                    <a:pt x="89662" y="236029"/>
                  </a:lnTo>
                  <a:lnTo>
                    <a:pt x="87363" y="238417"/>
                  </a:lnTo>
                  <a:lnTo>
                    <a:pt x="87210" y="238417"/>
                  </a:lnTo>
                  <a:lnTo>
                    <a:pt x="82664" y="239890"/>
                  </a:lnTo>
                  <a:lnTo>
                    <a:pt x="80441" y="239598"/>
                  </a:lnTo>
                  <a:lnTo>
                    <a:pt x="78524" y="238417"/>
                  </a:lnTo>
                  <a:lnTo>
                    <a:pt x="72720" y="234086"/>
                  </a:lnTo>
                  <a:lnTo>
                    <a:pt x="75844" y="225755"/>
                  </a:lnTo>
                  <a:lnTo>
                    <a:pt x="89331" y="190550"/>
                  </a:lnTo>
                  <a:lnTo>
                    <a:pt x="89103" y="189661"/>
                  </a:lnTo>
                  <a:lnTo>
                    <a:pt x="64071" y="168402"/>
                  </a:lnTo>
                  <a:lnTo>
                    <a:pt x="58775" y="163906"/>
                  </a:lnTo>
                  <a:lnTo>
                    <a:pt x="59016" y="163525"/>
                  </a:lnTo>
                  <a:lnTo>
                    <a:pt x="61417" y="160883"/>
                  </a:lnTo>
                  <a:lnTo>
                    <a:pt x="68465" y="153123"/>
                  </a:lnTo>
                  <a:lnTo>
                    <a:pt x="103301" y="179158"/>
                  </a:lnTo>
                  <a:lnTo>
                    <a:pt x="110578" y="184378"/>
                  </a:lnTo>
                  <a:lnTo>
                    <a:pt x="110578" y="177495"/>
                  </a:lnTo>
                  <a:lnTo>
                    <a:pt x="106616" y="174637"/>
                  </a:lnTo>
                  <a:lnTo>
                    <a:pt x="77825" y="153123"/>
                  </a:lnTo>
                  <a:lnTo>
                    <a:pt x="76860" y="152400"/>
                  </a:lnTo>
                  <a:lnTo>
                    <a:pt x="72047" y="148805"/>
                  </a:lnTo>
                  <a:lnTo>
                    <a:pt x="71437" y="148348"/>
                  </a:lnTo>
                  <a:lnTo>
                    <a:pt x="70535" y="147675"/>
                  </a:lnTo>
                  <a:lnTo>
                    <a:pt x="70535" y="146989"/>
                  </a:lnTo>
                  <a:lnTo>
                    <a:pt x="70535" y="126822"/>
                  </a:lnTo>
                  <a:lnTo>
                    <a:pt x="75577" y="132588"/>
                  </a:lnTo>
                  <a:lnTo>
                    <a:pt x="76771" y="133832"/>
                  </a:lnTo>
                  <a:lnTo>
                    <a:pt x="77647" y="134226"/>
                  </a:lnTo>
                  <a:lnTo>
                    <a:pt x="126644" y="134226"/>
                  </a:lnTo>
                  <a:lnTo>
                    <a:pt x="127876" y="133832"/>
                  </a:lnTo>
                  <a:lnTo>
                    <a:pt x="117970" y="248335"/>
                  </a:lnTo>
                  <a:lnTo>
                    <a:pt x="117881" y="249313"/>
                  </a:lnTo>
                  <a:lnTo>
                    <a:pt x="123723" y="249313"/>
                  </a:lnTo>
                  <a:lnTo>
                    <a:pt x="133680" y="134226"/>
                  </a:lnTo>
                  <a:lnTo>
                    <a:pt x="133705" y="133832"/>
                  </a:lnTo>
                  <a:lnTo>
                    <a:pt x="134150" y="128778"/>
                  </a:lnTo>
                  <a:lnTo>
                    <a:pt x="134162" y="128587"/>
                  </a:lnTo>
                  <a:lnTo>
                    <a:pt x="135318" y="115303"/>
                  </a:lnTo>
                  <a:lnTo>
                    <a:pt x="144741" y="6299"/>
                  </a:lnTo>
                  <a:lnTo>
                    <a:pt x="148653" y="6299"/>
                  </a:lnTo>
                  <a:lnTo>
                    <a:pt x="127723" y="248335"/>
                  </a:lnTo>
                  <a:lnTo>
                    <a:pt x="127635" y="249313"/>
                  </a:lnTo>
                  <a:lnTo>
                    <a:pt x="133464" y="249313"/>
                  </a:lnTo>
                  <a:lnTo>
                    <a:pt x="135089" y="230593"/>
                  </a:lnTo>
                  <a:lnTo>
                    <a:pt x="230200" y="230593"/>
                  </a:lnTo>
                  <a:lnTo>
                    <a:pt x="231736" y="248335"/>
                  </a:lnTo>
                  <a:lnTo>
                    <a:pt x="231825" y="249313"/>
                  </a:lnTo>
                  <a:lnTo>
                    <a:pt x="237655" y="249313"/>
                  </a:lnTo>
                  <a:lnTo>
                    <a:pt x="236042" y="230593"/>
                  </a:lnTo>
                  <a:lnTo>
                    <a:pt x="235623" y="225755"/>
                  </a:lnTo>
                  <a:lnTo>
                    <a:pt x="235089" y="219710"/>
                  </a:lnTo>
                  <a:lnTo>
                    <a:pt x="235051" y="219227"/>
                  </a:lnTo>
                  <a:lnTo>
                    <a:pt x="234670" y="214871"/>
                  </a:lnTo>
                  <a:lnTo>
                    <a:pt x="232270" y="187020"/>
                  </a:lnTo>
                  <a:lnTo>
                    <a:pt x="231851" y="182181"/>
                  </a:lnTo>
                  <a:lnTo>
                    <a:pt x="231330" y="176136"/>
                  </a:lnTo>
                  <a:lnTo>
                    <a:pt x="231279" y="175641"/>
                  </a:lnTo>
                  <a:lnTo>
                    <a:pt x="231190" y="174637"/>
                  </a:lnTo>
                  <a:lnTo>
                    <a:pt x="231114" y="173672"/>
                  </a:lnTo>
                  <a:lnTo>
                    <a:pt x="231025" y="172618"/>
                  </a:lnTo>
                  <a:lnTo>
                    <a:pt x="230911" y="171297"/>
                  </a:lnTo>
                  <a:lnTo>
                    <a:pt x="229781" y="158292"/>
                  </a:lnTo>
                  <a:lnTo>
                    <a:pt x="229781" y="225755"/>
                  </a:lnTo>
                  <a:lnTo>
                    <a:pt x="135496" y="225755"/>
                  </a:lnTo>
                  <a:lnTo>
                    <a:pt x="136029" y="219710"/>
                  </a:lnTo>
                  <a:lnTo>
                    <a:pt x="229222" y="219265"/>
                  </a:lnTo>
                  <a:lnTo>
                    <a:pt x="229768" y="225590"/>
                  </a:lnTo>
                  <a:lnTo>
                    <a:pt x="229781" y="225755"/>
                  </a:lnTo>
                  <a:lnTo>
                    <a:pt x="229781" y="158292"/>
                  </a:lnTo>
                  <a:lnTo>
                    <a:pt x="228803" y="147027"/>
                  </a:lnTo>
                  <a:lnTo>
                    <a:pt x="228803" y="214388"/>
                  </a:lnTo>
                  <a:lnTo>
                    <a:pt x="136448" y="214871"/>
                  </a:lnTo>
                  <a:lnTo>
                    <a:pt x="138849" y="187020"/>
                  </a:lnTo>
                  <a:lnTo>
                    <a:pt x="226441" y="187020"/>
                  </a:lnTo>
                  <a:lnTo>
                    <a:pt x="228803" y="214388"/>
                  </a:lnTo>
                  <a:lnTo>
                    <a:pt x="228803" y="147027"/>
                  </a:lnTo>
                  <a:lnTo>
                    <a:pt x="228498" y="143510"/>
                  </a:lnTo>
                  <a:lnTo>
                    <a:pt x="228092" y="138671"/>
                  </a:lnTo>
                  <a:lnTo>
                    <a:pt x="227698" y="134226"/>
                  </a:lnTo>
                  <a:lnTo>
                    <a:pt x="227672" y="133832"/>
                  </a:lnTo>
                  <a:lnTo>
                    <a:pt x="227558" y="132588"/>
                  </a:lnTo>
                  <a:lnTo>
                    <a:pt x="227533" y="132334"/>
                  </a:lnTo>
                  <a:lnTo>
                    <a:pt x="227228" y="128778"/>
                  </a:lnTo>
                  <a:lnTo>
                    <a:pt x="227139" y="127749"/>
                  </a:lnTo>
                  <a:lnTo>
                    <a:pt x="226021" y="114808"/>
                  </a:lnTo>
                  <a:lnTo>
                    <a:pt x="226021" y="182181"/>
                  </a:lnTo>
                  <a:lnTo>
                    <a:pt x="139268" y="182181"/>
                  </a:lnTo>
                  <a:lnTo>
                    <a:pt x="139788" y="176136"/>
                  </a:lnTo>
                  <a:lnTo>
                    <a:pt x="225450" y="175679"/>
                  </a:lnTo>
                  <a:lnTo>
                    <a:pt x="225907" y="180860"/>
                  </a:lnTo>
                  <a:lnTo>
                    <a:pt x="226021" y="182181"/>
                  </a:lnTo>
                  <a:lnTo>
                    <a:pt x="226021" y="114808"/>
                  </a:lnTo>
                  <a:lnTo>
                    <a:pt x="225031" y="103339"/>
                  </a:lnTo>
                  <a:lnTo>
                    <a:pt x="225031" y="170802"/>
                  </a:lnTo>
                  <a:lnTo>
                    <a:pt x="140208" y="171297"/>
                  </a:lnTo>
                  <a:lnTo>
                    <a:pt x="142621" y="143510"/>
                  </a:lnTo>
                  <a:lnTo>
                    <a:pt x="222669" y="143510"/>
                  </a:lnTo>
                  <a:lnTo>
                    <a:pt x="225031" y="170802"/>
                  </a:lnTo>
                  <a:lnTo>
                    <a:pt x="225031" y="103339"/>
                  </a:lnTo>
                  <a:lnTo>
                    <a:pt x="224942" y="102298"/>
                  </a:lnTo>
                  <a:lnTo>
                    <a:pt x="224523" y="97447"/>
                  </a:lnTo>
                  <a:lnTo>
                    <a:pt x="224167" y="93421"/>
                  </a:lnTo>
                  <a:lnTo>
                    <a:pt x="224066" y="92176"/>
                  </a:lnTo>
                  <a:lnTo>
                    <a:pt x="223951" y="90919"/>
                  </a:lnTo>
                  <a:lnTo>
                    <a:pt x="223583" y="86563"/>
                  </a:lnTo>
                  <a:lnTo>
                    <a:pt x="222250" y="71183"/>
                  </a:lnTo>
                  <a:lnTo>
                    <a:pt x="222250" y="138671"/>
                  </a:lnTo>
                  <a:lnTo>
                    <a:pt x="143040" y="138671"/>
                  </a:lnTo>
                  <a:lnTo>
                    <a:pt x="143421" y="134226"/>
                  </a:lnTo>
                  <a:lnTo>
                    <a:pt x="143459" y="133832"/>
                  </a:lnTo>
                  <a:lnTo>
                    <a:pt x="143560" y="132588"/>
                  </a:lnTo>
                  <a:lnTo>
                    <a:pt x="143586" y="132334"/>
                  </a:lnTo>
                  <a:lnTo>
                    <a:pt x="221729" y="132588"/>
                  </a:lnTo>
                  <a:lnTo>
                    <a:pt x="222250" y="138671"/>
                  </a:lnTo>
                  <a:lnTo>
                    <a:pt x="222250" y="71183"/>
                  </a:lnTo>
                  <a:lnTo>
                    <a:pt x="221386" y="61214"/>
                  </a:lnTo>
                  <a:lnTo>
                    <a:pt x="221310" y="60337"/>
                  </a:lnTo>
                  <a:lnTo>
                    <a:pt x="221310" y="127749"/>
                  </a:lnTo>
                  <a:lnTo>
                    <a:pt x="144005" y="127495"/>
                  </a:lnTo>
                  <a:lnTo>
                    <a:pt x="146177" y="102298"/>
                  </a:lnTo>
                  <a:lnTo>
                    <a:pt x="219113" y="102298"/>
                  </a:lnTo>
                  <a:lnTo>
                    <a:pt x="221119" y="125514"/>
                  </a:lnTo>
                  <a:lnTo>
                    <a:pt x="221234" y="126822"/>
                  </a:lnTo>
                  <a:lnTo>
                    <a:pt x="221310" y="127749"/>
                  </a:lnTo>
                  <a:lnTo>
                    <a:pt x="221310" y="60337"/>
                  </a:lnTo>
                  <a:lnTo>
                    <a:pt x="220967" y="56375"/>
                  </a:lnTo>
                  <a:lnTo>
                    <a:pt x="220433" y="50165"/>
                  </a:lnTo>
                  <a:lnTo>
                    <a:pt x="220014" y="45326"/>
                  </a:lnTo>
                  <a:lnTo>
                    <a:pt x="218694" y="30073"/>
                  </a:lnTo>
                  <a:lnTo>
                    <a:pt x="218694" y="97447"/>
                  </a:lnTo>
                  <a:lnTo>
                    <a:pt x="146596" y="97447"/>
                  </a:lnTo>
                  <a:lnTo>
                    <a:pt x="146939" y="93421"/>
                  </a:lnTo>
                  <a:lnTo>
                    <a:pt x="147053" y="92176"/>
                  </a:lnTo>
                  <a:lnTo>
                    <a:pt x="147116" y="91401"/>
                  </a:lnTo>
                  <a:lnTo>
                    <a:pt x="218122" y="90957"/>
                  </a:lnTo>
                  <a:lnTo>
                    <a:pt x="218503" y="95262"/>
                  </a:lnTo>
                  <a:lnTo>
                    <a:pt x="218617" y="96545"/>
                  </a:lnTo>
                  <a:lnTo>
                    <a:pt x="218694" y="97447"/>
                  </a:lnTo>
                  <a:lnTo>
                    <a:pt x="218694" y="30073"/>
                  </a:lnTo>
                  <a:lnTo>
                    <a:pt x="217703" y="18630"/>
                  </a:lnTo>
                  <a:lnTo>
                    <a:pt x="217703" y="86080"/>
                  </a:lnTo>
                  <a:lnTo>
                    <a:pt x="147535" y="86563"/>
                  </a:lnTo>
                  <a:lnTo>
                    <a:pt x="149733" y="61214"/>
                  </a:lnTo>
                  <a:lnTo>
                    <a:pt x="215557" y="61214"/>
                  </a:lnTo>
                  <a:lnTo>
                    <a:pt x="217703" y="86080"/>
                  </a:lnTo>
                  <a:lnTo>
                    <a:pt x="217703" y="18630"/>
                  </a:lnTo>
                  <a:lnTo>
                    <a:pt x="216636" y="6299"/>
                  </a:lnTo>
                  <a:lnTo>
                    <a:pt x="220548" y="6299"/>
                  </a:lnTo>
                  <a:lnTo>
                    <a:pt x="241477" y="248335"/>
                  </a:lnTo>
                  <a:lnTo>
                    <a:pt x="241566" y="249313"/>
                  </a:lnTo>
                  <a:lnTo>
                    <a:pt x="247408" y="249313"/>
                  </a:lnTo>
                  <a:close/>
                </a:path>
                <a:path w="248919" h="267969">
                  <a:moveTo>
                    <a:pt x="248793" y="265404"/>
                  </a:moveTo>
                  <a:lnTo>
                    <a:pt x="248500" y="261937"/>
                  </a:lnTo>
                  <a:lnTo>
                    <a:pt x="247548" y="250977"/>
                  </a:lnTo>
                  <a:lnTo>
                    <a:pt x="247484" y="250202"/>
                  </a:lnTo>
                  <a:lnTo>
                    <a:pt x="247421" y="249440"/>
                  </a:lnTo>
                  <a:lnTo>
                    <a:pt x="241579" y="249440"/>
                  </a:lnTo>
                  <a:lnTo>
                    <a:pt x="242658" y="261937"/>
                  </a:lnTo>
                  <a:lnTo>
                    <a:pt x="238747" y="261937"/>
                  </a:lnTo>
                  <a:lnTo>
                    <a:pt x="237794" y="250977"/>
                  </a:lnTo>
                  <a:lnTo>
                    <a:pt x="237731" y="250202"/>
                  </a:lnTo>
                  <a:lnTo>
                    <a:pt x="237667" y="249440"/>
                  </a:lnTo>
                  <a:lnTo>
                    <a:pt x="231838" y="249440"/>
                  </a:lnTo>
                  <a:lnTo>
                    <a:pt x="233146" y="264591"/>
                  </a:lnTo>
                  <a:lnTo>
                    <a:pt x="233222" y="265404"/>
                  </a:lnTo>
                  <a:lnTo>
                    <a:pt x="233324" y="266598"/>
                  </a:lnTo>
                  <a:lnTo>
                    <a:pt x="234569" y="267741"/>
                  </a:lnTo>
                  <a:lnTo>
                    <a:pt x="246646" y="267741"/>
                  </a:lnTo>
                  <a:lnTo>
                    <a:pt x="247421" y="267411"/>
                  </a:lnTo>
                  <a:lnTo>
                    <a:pt x="248526" y="266204"/>
                  </a:lnTo>
                  <a:lnTo>
                    <a:pt x="248793" y="265404"/>
                  </a:lnTo>
                  <a:close/>
                </a:path>
              </a:pathLst>
            </a:custGeom>
            <a:solidFill>
              <a:srgbClr val="006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7" name="object 7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3414" y="3324061"/>
            <a:ext cx="387337" cy="387350"/>
          </a:xfrm>
          <a:prstGeom prst="rect">
            <a:avLst/>
          </a:prstGeom>
        </p:spPr>
      </p:pic>
      <p:grpSp>
        <p:nvGrpSpPr>
          <p:cNvPr id="78" name="object 78"/>
          <p:cNvGrpSpPr/>
          <p:nvPr/>
        </p:nvGrpSpPr>
        <p:grpSpPr>
          <a:xfrm>
            <a:off x="513414" y="6666040"/>
            <a:ext cx="387350" cy="387350"/>
            <a:chOff x="513414" y="6666040"/>
            <a:chExt cx="387350" cy="387350"/>
          </a:xfrm>
        </p:grpSpPr>
        <p:sp>
          <p:nvSpPr>
            <p:cNvPr id="79" name="object 79"/>
            <p:cNvSpPr/>
            <p:nvPr/>
          </p:nvSpPr>
          <p:spPr>
            <a:xfrm>
              <a:off x="513414" y="6666040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5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50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5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00288" y="6721023"/>
              <a:ext cx="217804" cy="271780"/>
            </a:xfrm>
            <a:custGeom>
              <a:avLst/>
              <a:gdLst/>
              <a:ahLst/>
              <a:cxnLst/>
              <a:rect l="l" t="t" r="r" b="b"/>
              <a:pathLst>
                <a:path w="217805" h="271779">
                  <a:moveTo>
                    <a:pt x="88321" y="0"/>
                  </a:moveTo>
                  <a:lnTo>
                    <a:pt x="87102" y="292"/>
                  </a:lnTo>
                  <a:lnTo>
                    <a:pt x="85502" y="1993"/>
                  </a:lnTo>
                  <a:lnTo>
                    <a:pt x="85298" y="3238"/>
                  </a:lnTo>
                  <a:lnTo>
                    <a:pt x="85768" y="4305"/>
                  </a:lnTo>
                  <a:lnTo>
                    <a:pt x="92350" y="26717"/>
                  </a:lnTo>
                  <a:lnTo>
                    <a:pt x="90783" y="44054"/>
                  </a:lnTo>
                  <a:lnTo>
                    <a:pt x="83366" y="58503"/>
                  </a:lnTo>
                  <a:lnTo>
                    <a:pt x="64501" y="81807"/>
                  </a:lnTo>
                  <a:lnTo>
                    <a:pt x="56963" y="92473"/>
                  </a:lnTo>
                  <a:lnTo>
                    <a:pt x="50623" y="104784"/>
                  </a:lnTo>
                  <a:lnTo>
                    <a:pt x="46322" y="119278"/>
                  </a:lnTo>
                  <a:lnTo>
                    <a:pt x="38596" y="112738"/>
                  </a:lnTo>
                  <a:lnTo>
                    <a:pt x="32824" y="106402"/>
                  </a:lnTo>
                  <a:lnTo>
                    <a:pt x="27374" y="98729"/>
                  </a:lnTo>
                  <a:lnTo>
                    <a:pt x="26383" y="98196"/>
                  </a:lnTo>
                  <a:lnTo>
                    <a:pt x="1667" y="158635"/>
                  </a:lnTo>
                  <a:lnTo>
                    <a:pt x="0" y="185179"/>
                  </a:lnTo>
                  <a:lnTo>
                    <a:pt x="4298" y="209664"/>
                  </a:lnTo>
                  <a:lnTo>
                    <a:pt x="24118" y="244460"/>
                  </a:lnTo>
                  <a:lnTo>
                    <a:pt x="59086" y="271081"/>
                  </a:lnTo>
                  <a:lnTo>
                    <a:pt x="61041" y="271195"/>
                  </a:lnTo>
                  <a:lnTo>
                    <a:pt x="62057" y="270624"/>
                  </a:lnTo>
                  <a:lnTo>
                    <a:pt x="63315" y="268211"/>
                  </a:lnTo>
                  <a:lnTo>
                    <a:pt x="62769" y="266458"/>
                  </a:lnTo>
                  <a:lnTo>
                    <a:pt x="46927" y="256941"/>
                  </a:lnTo>
                  <a:lnTo>
                    <a:pt x="32301" y="244667"/>
                  </a:lnTo>
                  <a:lnTo>
                    <a:pt x="19323" y="228470"/>
                  </a:lnTo>
                  <a:lnTo>
                    <a:pt x="9848" y="207937"/>
                  </a:lnTo>
                  <a:lnTo>
                    <a:pt x="5835" y="185464"/>
                  </a:lnTo>
                  <a:lnTo>
                    <a:pt x="7159" y="161061"/>
                  </a:lnTo>
                  <a:lnTo>
                    <a:pt x="13802" y="134810"/>
                  </a:lnTo>
                  <a:lnTo>
                    <a:pt x="25748" y="106794"/>
                  </a:lnTo>
                  <a:lnTo>
                    <a:pt x="29205" y="111176"/>
                  </a:lnTo>
                  <a:lnTo>
                    <a:pt x="33935" y="116325"/>
                  </a:lnTo>
                  <a:lnTo>
                    <a:pt x="39877" y="121674"/>
                  </a:lnTo>
                  <a:lnTo>
                    <a:pt x="47808" y="127165"/>
                  </a:lnTo>
                  <a:lnTo>
                    <a:pt x="48849" y="127215"/>
                  </a:lnTo>
                  <a:lnTo>
                    <a:pt x="50615" y="126364"/>
                  </a:lnTo>
                  <a:lnTo>
                    <a:pt x="51224" y="125526"/>
                  </a:lnTo>
                  <a:lnTo>
                    <a:pt x="54980" y="109563"/>
                  </a:lnTo>
                  <a:lnTo>
                    <a:pt x="60999" y="96974"/>
                  </a:lnTo>
                  <a:lnTo>
                    <a:pt x="68562" y="86036"/>
                  </a:lnTo>
                  <a:lnTo>
                    <a:pt x="87526" y="62649"/>
                  </a:lnTo>
                  <a:lnTo>
                    <a:pt x="95511" y="47998"/>
                  </a:lnTo>
                  <a:lnTo>
                    <a:pt x="98364" y="30419"/>
                  </a:lnTo>
                  <a:lnTo>
                    <a:pt x="93668" y="8280"/>
                  </a:lnTo>
                  <a:lnTo>
                    <a:pt x="104819" y="13516"/>
                  </a:lnTo>
                  <a:lnTo>
                    <a:pt x="140176" y="43829"/>
                  </a:lnTo>
                  <a:lnTo>
                    <a:pt x="147696" y="65985"/>
                  </a:lnTo>
                  <a:lnTo>
                    <a:pt x="146970" y="77635"/>
                  </a:lnTo>
                  <a:lnTo>
                    <a:pt x="144298" y="88565"/>
                  </a:lnTo>
                  <a:lnTo>
                    <a:pt x="141117" y="97069"/>
                  </a:lnTo>
                  <a:lnTo>
                    <a:pt x="137670" y="103834"/>
                  </a:lnTo>
                  <a:lnTo>
                    <a:pt x="126548" y="121767"/>
                  </a:lnTo>
                  <a:lnTo>
                    <a:pt x="125799" y="131394"/>
                  </a:lnTo>
                  <a:lnTo>
                    <a:pt x="157055" y="155824"/>
                  </a:lnTo>
                  <a:lnTo>
                    <a:pt x="166173" y="153620"/>
                  </a:lnTo>
                  <a:lnTo>
                    <a:pt x="173449" y="149148"/>
                  </a:lnTo>
                  <a:lnTo>
                    <a:pt x="179404" y="142206"/>
                  </a:lnTo>
                  <a:lnTo>
                    <a:pt x="183115" y="134708"/>
                  </a:lnTo>
                  <a:lnTo>
                    <a:pt x="184552" y="126821"/>
                  </a:lnTo>
                  <a:lnTo>
                    <a:pt x="183685" y="118706"/>
                  </a:lnTo>
                  <a:lnTo>
                    <a:pt x="191557" y="126789"/>
                  </a:lnTo>
                  <a:lnTo>
                    <a:pt x="199214" y="137810"/>
                  </a:lnTo>
                  <a:lnTo>
                    <a:pt x="205752" y="151475"/>
                  </a:lnTo>
                  <a:lnTo>
                    <a:pt x="210266" y="167487"/>
                  </a:lnTo>
                  <a:lnTo>
                    <a:pt x="211808" y="185504"/>
                  </a:lnTo>
                  <a:lnTo>
                    <a:pt x="208869" y="206686"/>
                  </a:lnTo>
                  <a:lnTo>
                    <a:pt x="199197" y="230048"/>
                  </a:lnTo>
                  <a:lnTo>
                    <a:pt x="180536" y="254609"/>
                  </a:lnTo>
                  <a:lnTo>
                    <a:pt x="179418" y="255765"/>
                  </a:lnTo>
                  <a:lnTo>
                    <a:pt x="179456" y="257606"/>
                  </a:lnTo>
                  <a:lnTo>
                    <a:pt x="181768" y="259829"/>
                  </a:lnTo>
                  <a:lnTo>
                    <a:pt x="183609" y="259803"/>
                  </a:lnTo>
                  <a:lnTo>
                    <a:pt x="184714" y="258648"/>
                  </a:lnTo>
                  <a:lnTo>
                    <a:pt x="204378" y="232721"/>
                  </a:lnTo>
                  <a:lnTo>
                    <a:pt x="214554" y="208000"/>
                  </a:lnTo>
                  <a:lnTo>
                    <a:pt x="217627" y="185546"/>
                  </a:lnTo>
                  <a:lnTo>
                    <a:pt x="215981" y="166420"/>
                  </a:lnTo>
                  <a:lnTo>
                    <a:pt x="200568" y="129036"/>
                  </a:lnTo>
                  <a:lnTo>
                    <a:pt x="177551" y="107962"/>
                  </a:lnTo>
                  <a:lnTo>
                    <a:pt x="176205" y="108229"/>
                  </a:lnTo>
                  <a:lnTo>
                    <a:pt x="174491" y="110083"/>
                  </a:lnTo>
                  <a:lnTo>
                    <a:pt x="174338" y="111467"/>
                  </a:lnTo>
                  <a:lnTo>
                    <a:pt x="174960" y="112560"/>
                  </a:lnTo>
                  <a:lnTo>
                    <a:pt x="178631" y="123375"/>
                  </a:lnTo>
                  <a:lnTo>
                    <a:pt x="156174" y="150110"/>
                  </a:lnTo>
                  <a:lnTo>
                    <a:pt x="148189" y="149900"/>
                  </a:lnTo>
                  <a:lnTo>
                    <a:pt x="140759" y="147675"/>
                  </a:lnTo>
                  <a:lnTo>
                    <a:pt x="136175" y="145465"/>
                  </a:lnTo>
                  <a:lnTo>
                    <a:pt x="130879" y="140931"/>
                  </a:lnTo>
                  <a:lnTo>
                    <a:pt x="132238" y="123647"/>
                  </a:lnTo>
                  <a:lnTo>
                    <a:pt x="142703" y="106737"/>
                  </a:lnTo>
                  <a:lnTo>
                    <a:pt x="146373" y="99537"/>
                  </a:lnTo>
                  <a:lnTo>
                    <a:pt x="149805" y="90406"/>
                  </a:lnTo>
                  <a:lnTo>
                    <a:pt x="152672" y="78714"/>
                  </a:lnTo>
                  <a:lnTo>
                    <a:pt x="153468" y="65722"/>
                  </a:lnTo>
                  <a:lnTo>
                    <a:pt x="150942" y="53057"/>
                  </a:lnTo>
                  <a:lnTo>
                    <a:pt x="126725" y="20812"/>
                  </a:lnTo>
                  <a:lnTo>
                    <a:pt x="103065" y="6131"/>
                  </a:lnTo>
                  <a:lnTo>
                    <a:pt x="88321" y="0"/>
                  </a:lnTo>
                  <a:close/>
                </a:path>
              </a:pathLst>
            </a:custGeom>
            <a:solidFill>
              <a:srgbClr val="006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3248" y="6882458"/>
              <a:ext cx="106410" cy="104305"/>
            </a:xfrm>
            <a:prstGeom prst="rect">
              <a:avLst/>
            </a:prstGeom>
          </p:spPr>
        </p:pic>
      </p:grpSp>
      <p:pic>
        <p:nvPicPr>
          <p:cNvPr id="82" name="object 8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13414" y="3881869"/>
            <a:ext cx="387337" cy="387350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13414" y="5552859"/>
            <a:ext cx="387337" cy="387350"/>
          </a:xfrm>
          <a:prstGeom prst="rect">
            <a:avLst/>
          </a:prstGeom>
        </p:spPr>
      </p:pic>
      <p:sp>
        <p:nvSpPr>
          <p:cNvPr id="84" name="object 42">
            <a:extLst>
              <a:ext uri="{FF2B5EF4-FFF2-40B4-BE49-F238E27FC236}">
                <a16:creationId xmlns:a16="http://schemas.microsoft.com/office/drawing/2014/main" id="{FC97645A-BBBD-9827-0B38-5F9F93D7910C}"/>
              </a:ext>
            </a:extLst>
          </p:cNvPr>
          <p:cNvSpPr/>
          <p:nvPr/>
        </p:nvSpPr>
        <p:spPr>
          <a:xfrm>
            <a:off x="3510622" y="4483923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51">
            <a:extLst>
              <a:ext uri="{FF2B5EF4-FFF2-40B4-BE49-F238E27FC236}">
                <a16:creationId xmlns:a16="http://schemas.microsoft.com/office/drawing/2014/main" id="{3CEE2679-94FE-0C84-9AEC-3CA8DB5D5FDB}"/>
              </a:ext>
            </a:extLst>
          </p:cNvPr>
          <p:cNvSpPr/>
          <p:nvPr/>
        </p:nvSpPr>
        <p:spPr>
          <a:xfrm>
            <a:off x="3517099" y="6233210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51">
            <a:extLst>
              <a:ext uri="{FF2B5EF4-FFF2-40B4-BE49-F238E27FC236}">
                <a16:creationId xmlns:a16="http://schemas.microsoft.com/office/drawing/2014/main" id="{BC9E257F-75A9-C760-7C01-62C773A3F1DF}"/>
              </a:ext>
            </a:extLst>
          </p:cNvPr>
          <p:cNvSpPr/>
          <p:nvPr/>
        </p:nvSpPr>
        <p:spPr>
          <a:xfrm>
            <a:off x="3517098" y="6414512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51">
            <a:extLst>
              <a:ext uri="{FF2B5EF4-FFF2-40B4-BE49-F238E27FC236}">
                <a16:creationId xmlns:a16="http://schemas.microsoft.com/office/drawing/2014/main" id="{45A632F6-7031-56C4-4763-C58AEE2B4B0A}"/>
              </a:ext>
            </a:extLst>
          </p:cNvPr>
          <p:cNvSpPr/>
          <p:nvPr/>
        </p:nvSpPr>
        <p:spPr>
          <a:xfrm>
            <a:off x="3517098" y="6587323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51">
            <a:extLst>
              <a:ext uri="{FF2B5EF4-FFF2-40B4-BE49-F238E27FC236}">
                <a16:creationId xmlns:a16="http://schemas.microsoft.com/office/drawing/2014/main" id="{D1BAE9D5-189F-2BFB-F7D6-765AF48D93CD}"/>
              </a:ext>
            </a:extLst>
          </p:cNvPr>
          <p:cNvSpPr/>
          <p:nvPr/>
        </p:nvSpPr>
        <p:spPr>
          <a:xfrm>
            <a:off x="3517098" y="6762684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FAB3AB0-8760-AA57-FF38-2BF0355BD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433971" y="3878708"/>
            <a:ext cx="753117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Пожар и взрыв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2190712"/>
              </p:ext>
            </p:extLst>
          </p:nvPr>
        </p:nvGraphicFramePr>
        <p:xfrm>
          <a:off x="416559" y="545312"/>
          <a:ext cx="9188451" cy="68154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34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4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4338">
                  <a:extLst>
                    <a:ext uri="{9D8B030D-6E8A-4147-A177-3AD203B41FA5}">
                      <a16:colId xmlns:a16="http://schemas.microsoft.com/office/drawing/2014/main" val="635147335"/>
                    </a:ext>
                  </a:extLst>
                </a:gridCol>
                <a:gridCol w="1442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2720">
                  <a:extLst>
                    <a:ext uri="{9D8B030D-6E8A-4147-A177-3AD203B41FA5}">
                      <a16:colId xmlns:a16="http://schemas.microsoft.com/office/drawing/2014/main" val="1052727384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marL="38735">
                        <a:lnSpc>
                          <a:spcPts val="1435"/>
                        </a:lnSpc>
                        <a:spcBef>
                          <a:spcPts val="244"/>
                        </a:spcBef>
                      </a:pPr>
                      <a:r>
                        <a:rPr lang="ru-RU" sz="1200" b="1" spc="-20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КАКАЯ </a:t>
                      </a:r>
                      <a:r>
                        <a:rPr lang="ru-RU" sz="1200" b="1" spc="-15" dirty="0">
                          <a:solidFill>
                            <a:srgbClr val="231F20"/>
                          </a:solidFill>
                          <a:latin typeface="Inter"/>
                          <a:ea typeface="+mn-ea"/>
                          <a:cs typeface="Inter"/>
                        </a:rPr>
                        <a:t>задача поручена?</a:t>
                      </a:r>
                      <a:r>
                        <a:rPr lang="hr-HR" sz="1200" b="1" spc="-15" dirty="0">
                          <a:solidFill>
                            <a:srgbClr val="231F20"/>
                          </a:solidFill>
                          <a:latin typeface="Inter"/>
                          <a:ea typeface="+mn-ea"/>
                          <a:cs typeface="Inter"/>
                        </a:rPr>
                        <a:t> </a:t>
                      </a:r>
                      <a:r>
                        <a:rPr sz="120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(</a:t>
                      </a:r>
                      <a:r>
                        <a:rPr lang="ru-RU" sz="120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кратко</a:t>
                      </a:r>
                      <a:r>
                        <a:rPr sz="1200" spc="-1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lang="hr-HR" sz="1200" dirty="0">
                        <a:latin typeface="Inter"/>
                        <a:cs typeface="Inter"/>
                      </a:endParaRPr>
                    </a:p>
                    <a:p>
                      <a:pPr marL="187960" marR="432434">
                        <a:lnSpc>
                          <a:spcPts val="840"/>
                        </a:lnSpc>
                        <a:spcBef>
                          <a:spcPts val="20"/>
                        </a:spcBef>
                      </a:pPr>
                      <a:r>
                        <a:rPr lang="en-US" altLang="en-US" sz="900" b="0" i="1" dirty="0">
                          <a:solidFill>
                            <a:srgbClr val="75757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  <a:cs typeface="Inter" panose="020B0502030000000004" pitchFamily="34" charset="0"/>
                        </a:rPr>
                        <a:t>напр.: Снять компрессор на GT21</a:t>
                      </a:r>
                      <a:r>
                        <a:rPr lang="hr-HR" sz="900" b="0" i="1" dirty="0">
                          <a:solidFill>
                            <a:srgbClr val="75757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  <a:cs typeface="Inter" panose="020B0502030000000004" pitchFamily="34" charset="0"/>
                        </a:rPr>
                        <a:t>; </a:t>
                      </a:r>
                    </a:p>
                    <a:p>
                      <a:pPr marL="187960" marR="432434">
                        <a:lnSpc>
                          <a:spcPts val="840"/>
                        </a:lnSpc>
                        <a:spcBef>
                          <a:spcPts val="20"/>
                        </a:spcBef>
                      </a:pPr>
                      <a:r>
                        <a:rPr lang="ru-RU" altLang="en-US" sz="900" b="0" i="1" dirty="0">
                          <a:solidFill>
                            <a:srgbClr val="75757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  <a:cs typeface="Inter" panose="020B0502030000000004" pitchFamily="34" charset="0"/>
                        </a:rPr>
                        <a:t>Отворачивание</a:t>
                      </a:r>
                      <a:r>
                        <a:rPr lang="en-US" altLang="en-US" sz="900" b="0" i="1" dirty="0">
                          <a:solidFill>
                            <a:srgbClr val="75757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  <a:cs typeface="Inter" panose="020B0502030000000004" pitchFamily="34" charset="0"/>
                        </a:rPr>
                        <a:t> болтов корпуса HP</a:t>
                      </a:r>
                      <a:endParaRPr sz="900" b="0" i="1" dirty="0">
                        <a:solidFill>
                          <a:srgbClr val="75757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  <a:cs typeface="Inter" panose="020B0502030000000004" pitchFamily="34" charset="0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marL="85725">
                        <a:lnSpc>
                          <a:spcPts val="1435"/>
                        </a:lnSpc>
                        <a:spcBef>
                          <a:spcPts val="244"/>
                        </a:spcBef>
                      </a:pPr>
                      <a:r>
                        <a:rPr lang="hr-HR" sz="1200" b="1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KAK</a:t>
                      </a:r>
                      <a:r>
                        <a:rPr sz="1200" b="1" spc="-15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ru-RU" sz="1200" b="1" spc="-1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будете выполнять</a:t>
                      </a:r>
                      <a:r>
                        <a:rPr sz="1200" b="1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?</a:t>
                      </a:r>
                      <a:r>
                        <a:rPr sz="1200" b="1" spc="-1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20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(</a:t>
                      </a:r>
                      <a:r>
                        <a:rPr lang="en-US" altLang="en-US" sz="1200" dirty="0">
                          <a:solidFill>
                            <a:srgbClr val="757576"/>
                          </a:solidFill>
                          <a:latin typeface="Inter"/>
                          <a:ea typeface="+mn-ea"/>
                          <a:cs typeface="Inter"/>
                        </a:rPr>
                        <a:t>подробно</a:t>
                      </a:r>
                      <a:r>
                        <a:rPr sz="1200" spc="-1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200" dirty="0">
                        <a:latin typeface="Inter"/>
                        <a:cs typeface="Inter"/>
                      </a:endParaRPr>
                    </a:p>
                    <a:p>
                      <a:pPr marL="194310">
                        <a:lnSpc>
                          <a:spcPts val="835"/>
                        </a:lnSpc>
                      </a:pPr>
                      <a:r>
                        <a:rPr lang="en-US" altLang="en-US" sz="900" b="0" i="1" dirty="0">
                          <a:solidFill>
                            <a:srgbClr val="75757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  <a:cs typeface="Inter" panose="020B0502030000000004" pitchFamily="34" charset="0"/>
                        </a:rPr>
                        <a:t>Рассмотрите, какие источники энергии, необходимые навыки, разрешения, инструменты и оборудование требуются для выполнения вашей задачи </a:t>
                      </a:r>
                      <a:endParaRPr sz="900" b="0" i="1" dirty="0">
                        <a:solidFill>
                          <a:srgbClr val="757576"/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  <a:cs typeface="Inter" panose="020B0502030000000004" pitchFamily="34" charset="0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3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250">
                <a:tc gridSpan="5"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altLang="en-US" sz="1200" b="0" spc="-15" dirty="0">
                          <a:solidFill>
                            <a:srgbClr val="231F20"/>
                          </a:solidFill>
                          <a:latin typeface="Inter"/>
                          <a:ea typeface="+mn-ea"/>
                          <a:cs typeface="Inter"/>
                        </a:rPr>
                        <a:t>Основные документы, используемые для этой задачи </a:t>
                      </a:r>
                      <a:r>
                        <a:rPr sz="1200" spc="-10" dirty="0">
                          <a:solidFill>
                            <a:srgbClr val="757576"/>
                          </a:solidFill>
                          <a:latin typeface="Inter"/>
                          <a:ea typeface="+mn-ea"/>
                          <a:cs typeface="Inter"/>
                        </a:rPr>
                        <a:t>(</a:t>
                      </a:r>
                      <a:r>
                        <a:rPr lang="en-US" altLang="en-US" sz="1200" spc="-10" dirty="0">
                          <a:solidFill>
                            <a:srgbClr val="757576"/>
                          </a:solidFill>
                          <a:latin typeface="Inter"/>
                          <a:ea typeface="+mn-ea"/>
                          <a:cs typeface="Inter"/>
                        </a:rPr>
                        <a:t>обведите каждый использованный</a:t>
                      </a:r>
                      <a:r>
                        <a:rPr sz="1200" spc="-10" dirty="0">
                          <a:solidFill>
                            <a:srgbClr val="757576"/>
                          </a:solidFill>
                          <a:latin typeface="Inter"/>
                          <a:ea typeface="+mn-ea"/>
                          <a:cs typeface="Inter"/>
                        </a:rPr>
                        <a:t>):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200" b="0" dirty="0">
                        <a:latin typeface="Times New Roman"/>
                        <a:cs typeface="Times New Roman"/>
                      </a:endParaRPr>
                    </a:p>
                    <a:p>
                      <a:pPr marL="2764155" marR="105410" indent="-2588260">
                        <a:lnSpc>
                          <a:spcPct val="37500"/>
                        </a:lnSpc>
                        <a:tabLst>
                          <a:tab pos="1221740" algn="l"/>
                          <a:tab pos="2080895" algn="l"/>
                          <a:tab pos="2764155" algn="l"/>
                          <a:tab pos="4801235" algn="l"/>
                          <a:tab pos="5621020" algn="l"/>
                          <a:tab pos="7188200" algn="l"/>
                          <a:tab pos="8375650" algn="l"/>
                        </a:tabLst>
                      </a:pPr>
                      <a:r>
                        <a:rPr sz="800" b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Field</a:t>
                      </a:r>
                      <a:r>
                        <a:rPr sz="800" b="0" spc="-2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800" b="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Procedure</a:t>
                      </a:r>
                      <a:r>
                        <a:rPr sz="800" b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	Live</a:t>
                      </a:r>
                      <a:r>
                        <a:rPr sz="800" b="0" spc="-4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800" b="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Outage</a:t>
                      </a:r>
                      <a:r>
                        <a:rPr sz="800" b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	</a:t>
                      </a:r>
                      <a:r>
                        <a:rPr sz="800" b="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Drawing</a:t>
                      </a:r>
                      <a:r>
                        <a:rPr sz="800" b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	</a:t>
                      </a:r>
                      <a:r>
                        <a:rPr sz="1200" b="0" baseline="41666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Field</a:t>
                      </a:r>
                      <a:r>
                        <a:rPr sz="1200" b="0" spc="-7" baseline="41666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200" b="0" spc="-15" baseline="41666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Modification</a:t>
                      </a:r>
                      <a:r>
                        <a:rPr sz="1200" b="0" spc="-7" baseline="41666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200" b="0" baseline="41666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Instruction</a:t>
                      </a:r>
                      <a:r>
                        <a:rPr sz="1200" b="0" spc="-7" baseline="41666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200" b="0" spc="-15" baseline="41666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(FMI)</a:t>
                      </a:r>
                      <a:r>
                        <a:rPr sz="1200" b="0" baseline="41666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	</a:t>
                      </a:r>
                      <a:r>
                        <a:rPr sz="800" b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Lifting</a:t>
                      </a:r>
                      <a:r>
                        <a:rPr sz="800" b="0" spc="-3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800" b="0" spc="-2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Plan</a:t>
                      </a:r>
                      <a:r>
                        <a:rPr sz="800" b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	</a:t>
                      </a:r>
                      <a:r>
                        <a:rPr sz="800" b="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Task</a:t>
                      </a:r>
                      <a:r>
                        <a:rPr sz="800" b="0" spc="-2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800" b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Risk</a:t>
                      </a:r>
                      <a:r>
                        <a:rPr sz="800" b="0" spc="-1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800" b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Asse</a:t>
                      </a:r>
                      <a:r>
                        <a:rPr lang="hr-HR" sz="800" b="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ss</a:t>
                      </a:r>
                      <a:r>
                        <a:rPr sz="800" b="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ment</a:t>
                      </a:r>
                      <a:r>
                        <a:rPr sz="800" b="0" spc="-1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800" b="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(TRA)</a:t>
                      </a:r>
                      <a:r>
                        <a:rPr sz="800" b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	Equipment</a:t>
                      </a:r>
                      <a:r>
                        <a:rPr sz="800" b="0" spc="-2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800" b="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Manual</a:t>
                      </a:r>
                      <a:r>
                        <a:rPr sz="800" b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	None</a:t>
                      </a:r>
                      <a:r>
                        <a:rPr sz="800" b="0" spc="-2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800" b="0" spc="-3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(E…plain)</a:t>
                      </a:r>
                      <a:r>
                        <a:rPr sz="800" b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or</a:t>
                      </a:r>
                      <a:r>
                        <a:rPr sz="800" b="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Technical</a:t>
                      </a:r>
                      <a:r>
                        <a:rPr sz="800" b="0" spc="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800" b="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Information</a:t>
                      </a:r>
                      <a:r>
                        <a:rPr sz="800" b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Letter</a:t>
                      </a:r>
                      <a:r>
                        <a:rPr sz="800" b="0" spc="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800" b="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(TIL)</a:t>
                      </a:r>
                      <a:endParaRPr sz="800" b="0" dirty="0">
                        <a:latin typeface="Inter"/>
                        <a:cs typeface="Inter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285"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lang="en-US" altLang="en-US" sz="1200" b="1" spc="-20" dirty="0">
                          <a:solidFill>
                            <a:srgbClr val="006060"/>
                          </a:solidFill>
                          <a:latin typeface="Inter"/>
                          <a:ea typeface="+mn-ea"/>
                          <a:cs typeface="Inter"/>
                        </a:rPr>
                        <a:t>Что</a:t>
                      </a: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en-US" sz="1200" b="1" spc="-15" dirty="0">
                          <a:solidFill>
                            <a:srgbClr val="231F20"/>
                          </a:solidFill>
                          <a:latin typeface="Inter"/>
                          <a:ea typeface="+mn-ea"/>
                          <a:cs typeface="Inter"/>
                        </a:rPr>
                        <a:t>может меня травмировать? </a:t>
                      </a:r>
                      <a:r>
                        <a:rPr sz="1200" spc="-10" dirty="0">
                          <a:solidFill>
                            <a:srgbClr val="757576"/>
                          </a:solidFill>
                          <a:latin typeface="Inter"/>
                          <a:ea typeface="+mn-ea"/>
                          <a:cs typeface="Inter"/>
                        </a:rPr>
                        <a:t>(</a:t>
                      </a:r>
                      <a:r>
                        <a:rPr lang="ru-RU" sz="1200" spc="-10" dirty="0">
                          <a:solidFill>
                            <a:srgbClr val="757576"/>
                          </a:solidFill>
                          <a:latin typeface="Inter"/>
                          <a:ea typeface="+mn-ea"/>
                          <a:cs typeface="Inter"/>
                        </a:rPr>
                        <a:t>О</a:t>
                      </a:r>
                      <a:r>
                        <a:rPr lang="en-US" altLang="en-US" sz="1200" spc="-10" dirty="0">
                          <a:solidFill>
                            <a:srgbClr val="757576"/>
                          </a:solidFill>
                          <a:latin typeface="Inter"/>
                          <a:ea typeface="+mn-ea"/>
                          <a:cs typeface="Inter"/>
                        </a:rPr>
                        <a:t>пасности</a:t>
                      </a:r>
                      <a:r>
                        <a:rPr sz="1200" spc="-10" dirty="0">
                          <a:solidFill>
                            <a:srgbClr val="757576"/>
                          </a:solidFill>
                          <a:latin typeface="Inter"/>
                          <a:ea typeface="+mn-ea"/>
                          <a:cs typeface="Inter"/>
                        </a:rPr>
                        <a:t>)</a:t>
                      </a:r>
                    </a:p>
                  </a:txBody>
                  <a:tcPr marL="0" marR="0" marT="31114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lang="en-US" altLang="en-US" sz="1200" b="1" spc="-20" dirty="0">
                          <a:solidFill>
                            <a:srgbClr val="006060"/>
                          </a:solidFill>
                          <a:latin typeface="Inter"/>
                          <a:ea typeface="+mn-ea"/>
                          <a:cs typeface="Inter"/>
                        </a:rPr>
                        <a:t>Как</a:t>
                      </a: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en-US" sz="1200" b="1" spc="-15" dirty="0">
                          <a:solidFill>
                            <a:srgbClr val="231F20"/>
                          </a:solidFill>
                          <a:latin typeface="Inter"/>
                          <a:ea typeface="+mn-ea"/>
                          <a:cs typeface="Inter"/>
                        </a:rPr>
                        <a:t>я могу предотвратить травму? </a:t>
                      </a:r>
                      <a:r>
                        <a:rPr lang="en-US" altLang="en-US" sz="1200" spc="-10" dirty="0">
                          <a:solidFill>
                            <a:srgbClr val="757576"/>
                          </a:solidFill>
                          <a:latin typeface="Inter"/>
                          <a:ea typeface="+mn-ea"/>
                          <a:cs typeface="Inter"/>
                        </a:rPr>
                        <a:t>(меры контроля/снижения риска) </a:t>
                      </a:r>
                      <a:endParaRPr sz="1200" spc="-10" dirty="0">
                        <a:solidFill>
                          <a:srgbClr val="757576"/>
                        </a:solidFill>
                        <a:latin typeface="Inter"/>
                        <a:ea typeface="+mn-ea"/>
                        <a:cs typeface="Inter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29845" algn="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ru-RU" altLang="en-US" sz="1200" b="1" spc="-15" dirty="0">
                          <a:solidFill>
                            <a:srgbClr val="231F20"/>
                          </a:solidFill>
                          <a:latin typeface="Inter"/>
                          <a:ea typeface="+mn-ea"/>
                          <a:cs typeface="Inter"/>
                        </a:rPr>
                        <a:t>Время повторной оценки рисков:</a:t>
                      </a:r>
                      <a:endParaRPr sz="1200" b="1" spc="-15" dirty="0">
                        <a:solidFill>
                          <a:srgbClr val="231F20"/>
                        </a:solidFill>
                        <a:latin typeface="Inter"/>
                        <a:ea typeface="+mn-ea"/>
                        <a:cs typeface="Inter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200" dirty="0">
                        <a:latin typeface="Inter"/>
                        <a:cs typeface="Inter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200" dirty="0">
                        <a:latin typeface="Inter"/>
                        <a:cs typeface="Inter"/>
                      </a:endParaRPr>
                    </a:p>
                  </a:txBody>
                  <a:tcPr marL="0" marR="0" marT="68580" marB="0">
                    <a:lnL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200" dirty="0">
                        <a:latin typeface="Inter"/>
                        <a:cs typeface="Inter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200" dirty="0">
                        <a:latin typeface="Inter"/>
                        <a:cs typeface="Inter"/>
                      </a:endParaRPr>
                    </a:p>
                  </a:txBody>
                  <a:tcPr marL="0" marR="0" marT="68580" marB="0">
                    <a:lnL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0" y="7314539"/>
            <a:ext cx="10058400" cy="458470"/>
          </a:xfrm>
          <a:custGeom>
            <a:avLst/>
            <a:gdLst/>
            <a:ahLst/>
            <a:cxnLst/>
            <a:rect l="l" t="t" r="r" b="b"/>
            <a:pathLst>
              <a:path w="10058400" h="458470">
                <a:moveTo>
                  <a:pt x="10058400" y="0"/>
                </a:moveTo>
                <a:lnTo>
                  <a:pt x="0" y="0"/>
                </a:lnTo>
                <a:lnTo>
                  <a:pt x="0" y="457860"/>
                </a:lnTo>
                <a:lnTo>
                  <a:pt x="10058400" y="457860"/>
                </a:lnTo>
                <a:lnTo>
                  <a:pt x="10058400" y="0"/>
                </a:lnTo>
                <a:close/>
              </a:path>
            </a:pathLst>
          </a:custGeom>
          <a:solidFill>
            <a:srgbClr val="B5D3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2400" y="7400688"/>
            <a:ext cx="10134600" cy="25776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rgbClr val="006060"/>
                </a:solidFill>
                <a:latin typeface="Inter"/>
                <a:cs typeface="Inter"/>
              </a:rPr>
              <a:t>МЫ НАЧИНАЕМ РАБОТУ </a:t>
            </a:r>
            <a:r>
              <a:rPr lang="en-US" altLang="en-US" sz="1600" b="1" dirty="0">
                <a:solidFill>
                  <a:srgbClr val="006060"/>
                </a:solidFill>
                <a:latin typeface="Inter"/>
                <a:cs typeface="Inter"/>
              </a:rPr>
              <a:t>ТОЛЬКО</a:t>
            </a:r>
            <a:r>
              <a:rPr lang="en-US" altLang="en-US" sz="1600" dirty="0">
                <a:solidFill>
                  <a:srgbClr val="006060"/>
                </a:solidFill>
                <a:latin typeface="Inter"/>
                <a:cs typeface="Inter"/>
              </a:rPr>
              <a:t> ЕСЛИ ЭТО БЕЗОПАСНО, И </a:t>
            </a:r>
            <a:r>
              <a:rPr lang="en-US" altLang="en-US" sz="1600" b="1" dirty="0">
                <a:solidFill>
                  <a:srgbClr val="006060"/>
                </a:solidFill>
                <a:latin typeface="Inter"/>
                <a:cs typeface="Inter"/>
              </a:rPr>
              <a:t>ОСТАНАВЛИВАЕМСЯ</a:t>
            </a:r>
            <a:r>
              <a:rPr lang="en-US" altLang="en-US" sz="1600" dirty="0">
                <a:solidFill>
                  <a:srgbClr val="006060"/>
                </a:solidFill>
                <a:latin typeface="Inter"/>
                <a:cs typeface="Inter"/>
              </a:rPr>
              <a:t>, ЕСЛИ НЕ</a:t>
            </a:r>
            <a:r>
              <a:rPr lang="ru-RU" altLang="en-US" sz="1600" dirty="0">
                <a:solidFill>
                  <a:srgbClr val="006060"/>
                </a:solidFill>
                <a:latin typeface="Inter"/>
                <a:cs typeface="Inter"/>
              </a:rPr>
              <a:t>Т.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0058400" cy="451484"/>
          </a:xfrm>
          <a:custGeom>
            <a:avLst/>
            <a:gdLst/>
            <a:ahLst/>
            <a:cxnLst/>
            <a:rect l="l" t="t" r="r" b="b"/>
            <a:pathLst>
              <a:path w="10058400" h="451484">
                <a:moveTo>
                  <a:pt x="10058400" y="0"/>
                </a:moveTo>
                <a:lnTo>
                  <a:pt x="0" y="0"/>
                </a:lnTo>
                <a:lnTo>
                  <a:pt x="0" y="451218"/>
                </a:lnTo>
                <a:lnTo>
                  <a:pt x="10058400" y="451218"/>
                </a:lnTo>
                <a:lnTo>
                  <a:pt x="10058400" y="0"/>
                </a:lnTo>
                <a:close/>
              </a:path>
            </a:pathLst>
          </a:custGeom>
          <a:solidFill>
            <a:srgbClr val="B5D3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286000" y="93748"/>
            <a:ext cx="5791199" cy="24237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0"/>
              </a:spcBef>
            </a:pPr>
            <a:r>
              <a:rPr lang="hr-HR" sz="1500" b="1" dirty="0">
                <a:solidFill>
                  <a:srgbClr val="231F20"/>
                </a:solidFill>
                <a:latin typeface="Inter Semi Bold"/>
                <a:cs typeface="Inter Semi Bold"/>
              </a:rPr>
              <a:t>OSOBNA ZAŠTITNA OPREMA</a:t>
            </a:r>
            <a:r>
              <a:rPr lang="hr-HR" sz="1500" b="1" spc="-30" dirty="0">
                <a:solidFill>
                  <a:srgbClr val="231F20"/>
                </a:solidFill>
                <a:latin typeface="Inter Semi Bold"/>
                <a:cs typeface="Inter Semi Bold"/>
              </a:rPr>
              <a:t> JE </a:t>
            </a:r>
            <a:r>
              <a:rPr lang="hr-HR" sz="1500" b="1" dirty="0">
                <a:solidFill>
                  <a:srgbClr val="005F60"/>
                </a:solidFill>
                <a:latin typeface="Inter Semi Bold"/>
                <a:cs typeface="Inter Semi Bold"/>
              </a:rPr>
              <a:t>POSLJEDNJA</a:t>
            </a:r>
            <a:r>
              <a:rPr sz="1500" b="1" spc="-30" dirty="0">
                <a:solidFill>
                  <a:srgbClr val="005F60"/>
                </a:solidFill>
                <a:latin typeface="Inter Semi Bold"/>
                <a:cs typeface="Inter Semi Bold"/>
              </a:rPr>
              <a:t> </a:t>
            </a:r>
            <a:r>
              <a:rPr sz="1500" b="1" dirty="0">
                <a:solidFill>
                  <a:srgbClr val="231F20"/>
                </a:solidFill>
                <a:latin typeface="Inter Semi Bold"/>
                <a:cs typeface="Inter Semi Bold"/>
              </a:rPr>
              <a:t>LIN</a:t>
            </a:r>
            <a:r>
              <a:rPr lang="hr-HR" sz="1500" b="1" dirty="0">
                <a:solidFill>
                  <a:srgbClr val="231F20"/>
                </a:solidFill>
                <a:latin typeface="Inter Semi Bold"/>
                <a:cs typeface="Inter Semi Bold"/>
              </a:rPr>
              <a:t>IJA</a:t>
            </a:r>
            <a:r>
              <a:rPr sz="1500" b="1" spc="-30" dirty="0">
                <a:solidFill>
                  <a:srgbClr val="231F20"/>
                </a:solidFill>
                <a:latin typeface="Inter Semi Bold"/>
                <a:cs typeface="Inter Semi Bold"/>
              </a:rPr>
              <a:t> </a:t>
            </a:r>
            <a:r>
              <a:rPr lang="hr-HR" sz="1500" b="1" spc="-10" dirty="0">
                <a:solidFill>
                  <a:srgbClr val="005F60"/>
                </a:solidFill>
                <a:latin typeface="Inter Semi Bold"/>
                <a:cs typeface="Inter Semi Bold"/>
              </a:rPr>
              <a:t>OBRANE</a:t>
            </a:r>
            <a:endParaRPr sz="1500" dirty="0">
              <a:latin typeface="Inter Semi Bold"/>
              <a:cs typeface="Inter Semi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BA2F64D6E2C740A2EFD32F6136F44B" ma:contentTypeVersion="31" ma:contentTypeDescription="Create a new document." ma:contentTypeScope="" ma:versionID="f6d5169442be2795745eeba6edf0f975">
  <xsd:schema xmlns:xsd="http://www.w3.org/2001/XMLSchema" xmlns:xs="http://www.w3.org/2001/XMLSchema" xmlns:p="http://schemas.microsoft.com/office/2006/metadata/properties" xmlns:ns2="25586fb6-ed09-4f2d-8ea7-eda1a9fd2320" xmlns:ns3="cc7fbaa3-8214-4644-99f1-d2e5a6ae9914" xmlns:ns4="f0c7a816-7a7e-42fb-b4dd-eafc20cb049d" targetNamespace="http://schemas.microsoft.com/office/2006/metadata/properties" ma:root="true" ma:fieldsID="1d6046f623722b44c576f527ef753e5d" ns2:_="" ns3:_="" ns4:_="">
    <xsd:import namespace="25586fb6-ed09-4f2d-8ea7-eda1a9fd2320"/>
    <xsd:import namespace="cc7fbaa3-8214-4644-99f1-d2e5a6ae9914"/>
    <xsd:import namespace="f0c7a816-7a7e-42fb-b4dd-eafc20cb049d"/>
    <xsd:element name="properties">
      <xsd:complexType>
        <xsd:sequence>
          <xsd:element name="documentManagement">
            <xsd:complexType>
              <xsd:all>
                <xsd:element ref="ns2:Process_x0020_Owmer"/>
                <xsd:element ref="ns2:Functional_x0020_Owner"/>
                <xsd:element ref="ns3:LastReviewDate" minOccurs="0"/>
                <xsd:element ref="ns2:Nomenclature" minOccurs="0"/>
                <xsd:element ref="ns3:RevisionNumber" minOccurs="0"/>
                <xsd:element ref="ns2:MediaServiceMetadata" minOccurs="0"/>
                <xsd:element ref="ns2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586fb6-ed09-4f2d-8ea7-eda1a9fd2320" elementFormDefault="qualified">
    <xsd:import namespace="http://schemas.microsoft.com/office/2006/documentManagement/types"/>
    <xsd:import namespace="http://schemas.microsoft.com/office/infopath/2007/PartnerControls"/>
    <xsd:element name="Process_x0020_Owmer" ma:index="1" ma:displayName="Have a question? Email the Process Owner" ma:description="Discuss Audit Findings and QWI Updates with the Responsible Person" ma:list="UserInfo" ma:SharePointGroup="0" ma:internalName="Process_x0020_Owmer" ma:readOnly="false" ma:showField="NameWithPictureAndDetails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Functional_x0020_Owner" ma:index="2" ma:displayName="Function" ma:default="Management Processes - Leadership and Commitment" ma:description="Management Processes - Leadership and Commitment" ma:format="Dropdown" ma:internalName="Functional_x0020_Owner" ma:readOnly="false">
      <xsd:simpleType>
        <xsd:restriction base="dms:Text">
          <xsd:maxLength value="255"/>
        </xsd:restriction>
      </xsd:simpleType>
    </xsd:element>
    <xsd:element name="Nomenclature" ma:index="4" nillable="true" ma:displayName="Document Number" ma:format="Dropdown" ma:internalName="Nomenclature" ma:readOnly="false">
      <xsd:simpleType>
        <xsd:restriction base="dms:Text">
          <xsd:maxLength value="255"/>
        </xsd:restriction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7fbaa3-8214-4644-99f1-d2e5a6ae9914" elementFormDefault="qualified">
    <xsd:import namespace="http://schemas.microsoft.com/office/2006/documentManagement/types"/>
    <xsd:import namespace="http://schemas.microsoft.com/office/infopath/2007/PartnerControls"/>
    <xsd:element name="LastReviewDate" ma:index="3" nillable="true" ma:displayName="Last Review Date" ma:description="The date the procedure was last reviewed or revised" ma:format="DateOnly" ma:internalName="LastReviewDate" ma:readOnly="false">
      <xsd:simpleType>
        <xsd:restriction base="dms:DateTime"/>
      </xsd:simpleType>
    </xsd:element>
    <xsd:element name="RevisionNumber" ma:index="5" nillable="true" ma:displayName="Revision Number" ma:decimals="1" ma:description="The current revision published" ma:format="Dropdown" ma:internalName="RevisionNumber" ma:readOnly="false" ma:percentage="FALSE">
      <xsd:simpleType>
        <xsd:restriction base="dms:Number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hidden="true" ma:internalName="MediaServiceKeyPoints" ma:readOnly="true">
      <xsd:simpleType>
        <xsd:restriction base="dms:Note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c7a816-7a7e-42fb-b4dd-eafc20cb049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hidden="true" ma:internalName="SharedWithDetail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displayName="QMS Lev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astReviewDate xmlns="cc7fbaa3-8214-4644-99f1-d2e5a6ae9914">2026-06-01T04:00:00+00:00</LastReviewDate>
    <RevisionNumber xmlns="cc7fbaa3-8214-4644-99f1-d2e5a6ae9914" xsi:nil="true"/>
    <Process_x0020_Owmer xmlns="25586fb6-ed09-4f2d-8ea7-eda1a9fd2320">
      <UserInfo>
        <DisplayName>Cahill, James (GE Vernova)</DisplayName>
        <AccountId>50409</AccountId>
        <AccountType/>
      </UserInfo>
    </Process_x0020_Owmer>
    <Functional_x0020_Owner xmlns="25586fb6-ed09-4f2d-8ea7-eda1a9fd2320">Management Processes - Leadership and Commitment</Functional_x0020_Owner>
    <Nomenclature xmlns="25586fb6-ed09-4f2d-8ea7-eda1a9fd2320">1.0</Nomenclature>
  </documentManagement>
</p:properties>
</file>

<file path=customXml/itemProps1.xml><?xml version="1.0" encoding="utf-8"?>
<ds:datastoreItem xmlns:ds="http://schemas.openxmlformats.org/officeDocument/2006/customXml" ds:itemID="{1D682795-4280-40CA-B5DD-BAF5CC0BC3E4}"/>
</file>

<file path=customXml/itemProps2.xml><?xml version="1.0" encoding="utf-8"?>
<ds:datastoreItem xmlns:ds="http://schemas.openxmlformats.org/officeDocument/2006/customXml" ds:itemID="{BED890E4-A689-4F4D-9882-607D6DCAC149}"/>
</file>

<file path=customXml/itemProps3.xml><?xml version="1.0" encoding="utf-8"?>
<ds:datastoreItem xmlns:ds="http://schemas.openxmlformats.org/officeDocument/2006/customXml" ds:itemID="{42C1F215-839A-471E-BD3F-DC87296971E6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1307</TotalTime>
  <Words>460</Words>
  <Application>Microsoft Office PowerPoint</Application>
  <PresentationFormat>Custom</PresentationFormat>
  <Paragraphs>97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Arial</vt:lpstr>
      <vt:lpstr>Calibri</vt:lpstr>
      <vt:lpstr>Inter</vt:lpstr>
      <vt:lpstr>Inter Semi Bold</vt:lpstr>
      <vt:lpstr>Times New Roman</vt:lpstr>
      <vt:lpstr>Office Theme</vt:lpstr>
      <vt:lpstr>Оценка Рисков перед началом работ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CS22444-02 GEV_SWAT_8.5x11_Card_Front_R1</dc:title>
  <dc:creator>Stepantsov, Pavel (GE Vernova)</dc:creator>
  <cp:lastModifiedBy>Stepantsov, Pavel (GE Vernova)</cp:lastModifiedBy>
  <cp:revision>19</cp:revision>
  <dcterms:created xsi:type="dcterms:W3CDTF">2024-12-17T21:19:02Z</dcterms:created>
  <dcterms:modified xsi:type="dcterms:W3CDTF">2025-12-09T15:07:01Z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2024-12-17T00:00:00Z</vt:filetime>
  </property>
  <property fmtid="{D5CDD505-2E9C-101B-9397-08002B2CF9AE}" pid="3" name="Creator">
    <vt:lpwstr>Adobe Illustrator 29.1 (Windows)</vt:lpwstr>
  </property>
  <property fmtid="{D5CDD505-2E9C-101B-9397-08002B2CF9AE}" pid="4" name="LastSaved">
    <vt:filetime>2024-12-17T00:00:00Z</vt:filetime>
  </property>
  <property fmtid="{D5CDD505-2E9C-101B-9397-08002B2CF9AE}" pid="5" name="Producer">
    <vt:lpwstr>Adobe PDF library 17.00</vt:lpwstr>
  </property>
  <property fmtid="{D5CDD505-2E9C-101B-9397-08002B2CF9AE}" pid="6" name="ContentTypeId">
    <vt:lpwstr>0x010100AABA2F64D6E2C740A2EFD32F6136F44B</vt:lpwstr>
  </property>
</Properties>
</file>