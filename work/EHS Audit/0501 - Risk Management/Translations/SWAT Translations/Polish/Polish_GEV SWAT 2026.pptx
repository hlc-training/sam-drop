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58400" cy="7772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6" d="100"/>
          <a:sy n="56" d="100"/>
        </p:scale>
        <p:origin x="14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773397"/>
              </p:ext>
            </p:extLst>
          </p:nvPr>
        </p:nvGraphicFramePr>
        <p:xfrm>
          <a:off x="3435045" y="1896821"/>
          <a:ext cx="3187065" cy="5081904"/>
        </p:xfrm>
        <a:graphic>
          <a:graphicData uri="http://schemas.openxmlformats.org/drawingml/2006/table">
            <a:tbl>
              <a:tblPr/>
              <a:tblGrid>
                <a:gridCol w="3187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19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260" algn="l" rtl="0" eaLnBrk="0">
                        <a:lnSpc>
                          <a:spcPct val="84000"/>
                        </a:lnSpc>
                        <a:spcBef>
                          <a:spcPts val="7"/>
                        </a:spcBef>
                        <a:tabLst>
                          <a:tab pos="233679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Prace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w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pobliżu</a:t>
                      </a:r>
                      <a:endParaRPr lang="en-US"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266"/>
                        </a:spcBef>
                        <a:tabLst>
                          <a:tab pos="241934" algn="l"/>
                        </a:tabLst>
                      </a:pP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3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Wymuszona</a:t>
                      </a:r>
                      <a:r>
                        <a:rPr lang="en-US" sz="1100" kern="0" spc="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3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pozycja</a:t>
                      </a:r>
                      <a:r>
                        <a:rPr lang="en-US" sz="1100" kern="0" spc="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3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pracy</a:t>
                      </a:r>
                      <a:endParaRPr lang="en-US"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7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 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Oparzenia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Prace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pożarowo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niebezpieczne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78000"/>
                        </a:lnSpc>
                        <a:spcBef>
                          <a:spcPts val="387"/>
                        </a:spcBef>
                        <a:tabLst/>
                      </a:pPr>
                      <a:r>
                        <a:rPr sz="9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</a:t>
                      </a:r>
                      <a:r>
                        <a:rPr lang="en-US" sz="9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Problemy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komunikacyjne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4000"/>
                        </a:lnSpc>
                        <a:spcBef>
                          <a:spcPts val="338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Spadające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obiekty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95000"/>
                        </a:lnSpc>
                        <a:spcBef>
                          <a:spcPts val="12"/>
                        </a:spcBef>
                        <a:tabLst/>
                      </a:pPr>
                      <a:r>
                        <a:rPr sz="900" kern="0" spc="5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 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Pyły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/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Opary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9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</a:t>
                      </a:r>
                      <a:r>
                        <a:rPr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Porażenie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prądem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76000"/>
                        </a:lnSpc>
                        <a:spcBef>
                          <a:spcPts val="451"/>
                        </a:spcBef>
                        <a:tabLst/>
                      </a:pPr>
                      <a:r>
                        <a:rPr sz="9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 </a:t>
                      </a:r>
                      <a:r>
                        <a:rPr lang="en-US" sz="9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W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arunki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pogodowe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523"/>
                        </a:lnSpc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Upadek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z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wysokości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245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Ręczne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prace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transportowe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396"/>
                        </a:lnSpc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Wodór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257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Zagrożenia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przemysłowe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indent="174625" algn="l" rtl="0" eaLnBrk="0">
                        <a:lnSpc>
                          <a:spcPct val="91000"/>
                        </a:lnSpc>
                        <a:spcBef>
                          <a:spcPts val="116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Am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oniak</a:t>
                      </a:r>
                      <a:r>
                        <a:rPr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</a:t>
                      </a:r>
                      <a:r>
                        <a:rPr sz="1100" kern="0" spc="8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zbest</a:t>
                      </a:r>
                      <a:r>
                        <a:rPr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</a:t>
                      </a:r>
                      <a:r>
                        <a:rPr sz="1100" kern="0" spc="1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Chrom (IV),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Ołów</a:t>
                      </a:r>
                      <a:r>
                        <a:rPr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b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</a:br>
                      <a:r>
                        <a:rPr sz="800" kern="0" spc="7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</a:t>
                      </a:r>
                      <a:r>
                        <a:rPr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Hałas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77000"/>
                        </a:lnSpc>
                        <a:spcBef>
                          <a:spcPts val="509"/>
                        </a:spcBef>
                        <a:tabLst/>
                      </a:pPr>
                      <a:r>
                        <a:rPr sz="800" kern="0" spc="1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</a:t>
                      </a:r>
                      <a:r>
                        <a:rPr sz="800" kern="0" spc="5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Punkty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zaczepienia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98000"/>
                        </a:lnSpc>
                        <a:spcBef>
                          <a:spcPts val="258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Narzędzia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pneumatyczne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hydrauliczne</a:t>
                      </a: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       	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Ograniczona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przestrzeń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robocza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4000"/>
                        </a:lnSpc>
                        <a:spcBef>
                          <a:spcPts val="251"/>
                        </a:spcBef>
                        <a:tabLst>
                          <a:tab pos="237490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Upadek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na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tym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samym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poziomie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800" kern="0" spc="18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</a:t>
                      </a:r>
                      <a:r>
                        <a:rPr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sz="800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Promieniowanie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500"/>
                        </a:spcBef>
                        <a:tabLst>
                          <a:tab pos="241934" algn="l"/>
                        </a:tabLst>
                      </a:pP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Błędne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olinowanie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257"/>
                        </a:spcBef>
                        <a:tabLst>
                          <a:tab pos="241934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Ruchome</a:t>
                      </a:r>
                      <a:r>
                        <a:rPr lang="en-US" sz="1100" kern="0" spc="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element 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ts val="1362"/>
                        </a:lnSpc>
                        <a:tabLst>
                          <a:tab pos="237490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Ostre</a:t>
                      </a:r>
                      <a:r>
                        <a:rPr lang="en-US" sz="1100" kern="0" spc="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krawędzie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75260" algn="l" rtl="0" eaLnBrk="0">
                        <a:lnSpc>
                          <a:spcPct val="83000"/>
                        </a:lnSpc>
                        <a:spcBef>
                          <a:spcPts val="296"/>
                        </a:spcBef>
                        <a:tabLst>
                          <a:tab pos="237490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Uderzenie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przez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inne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obiekty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9850" algn="l" rtl="0" eaLnBrk="0">
                        <a:lnSpc>
                          <a:spcPct val="85000"/>
                        </a:lnSpc>
                        <a:spcBef>
                          <a:spcPts val="12"/>
                        </a:spcBef>
                        <a:tabLst/>
                      </a:pPr>
                      <a:r>
                        <a:rPr sz="800" kern="0" spc="4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 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Problemy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 z 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Microsoft JhengHei"/>
                          <a:cs typeface="Microsoft JhengHei"/>
                        </a:rPr>
                        <a:t>narzędziami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26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>
                          <a:tab pos="238125" algn="l"/>
                        </a:tabLst>
                      </a:pPr>
                      <a:r>
                        <a:rPr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	</a:t>
                      </a:r>
                      <a:r>
                        <a:rPr lang="en-US" sz="11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Inne</a:t>
                      </a:r>
                      <a:r>
                        <a:rPr sz="1100" kern="0" spc="9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(</a:t>
                      </a:r>
                      <a:r>
                        <a:rPr lang="en-US" sz="11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wymień</a:t>
                      </a:r>
                      <a:r>
                        <a:rPr sz="1100" kern="0" spc="9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1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path 4"/>
          <p:cNvSpPr/>
          <p:nvPr/>
        </p:nvSpPr>
        <p:spPr>
          <a:xfrm>
            <a:off x="3505263" y="6209258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" name="path 6"/>
          <p:cNvSpPr/>
          <p:nvPr/>
        </p:nvSpPr>
        <p:spPr>
          <a:xfrm>
            <a:off x="3505263" y="5859500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/>
        </p:nvSpPr>
        <p:spPr>
          <a:xfrm>
            <a:off x="3505263" y="5684621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path 10"/>
          <p:cNvSpPr/>
          <p:nvPr/>
        </p:nvSpPr>
        <p:spPr>
          <a:xfrm>
            <a:off x="3505263" y="5509742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path 12"/>
          <p:cNvSpPr/>
          <p:nvPr/>
        </p:nvSpPr>
        <p:spPr>
          <a:xfrm>
            <a:off x="3505263" y="5334863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" name="path 14"/>
          <p:cNvSpPr/>
          <p:nvPr/>
        </p:nvSpPr>
        <p:spPr>
          <a:xfrm>
            <a:off x="3505263" y="4985105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path 16"/>
          <p:cNvSpPr/>
          <p:nvPr/>
        </p:nvSpPr>
        <p:spPr>
          <a:xfrm>
            <a:off x="3505263" y="4810226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" name="path 18"/>
          <p:cNvSpPr/>
          <p:nvPr/>
        </p:nvSpPr>
        <p:spPr>
          <a:xfrm>
            <a:off x="3505263" y="4635347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path 20"/>
          <p:cNvSpPr/>
          <p:nvPr/>
        </p:nvSpPr>
        <p:spPr>
          <a:xfrm>
            <a:off x="3505263" y="3935831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" name="path 22"/>
          <p:cNvSpPr/>
          <p:nvPr/>
        </p:nvSpPr>
        <p:spPr>
          <a:xfrm>
            <a:off x="3505263" y="3760939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" name="path 24"/>
          <p:cNvSpPr/>
          <p:nvPr/>
        </p:nvSpPr>
        <p:spPr>
          <a:xfrm>
            <a:off x="3505263" y="3586060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path 26"/>
          <p:cNvSpPr/>
          <p:nvPr/>
        </p:nvSpPr>
        <p:spPr>
          <a:xfrm>
            <a:off x="3505263" y="3411181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path 28"/>
          <p:cNvSpPr/>
          <p:nvPr/>
        </p:nvSpPr>
        <p:spPr>
          <a:xfrm>
            <a:off x="3505263" y="2711665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path 30"/>
          <p:cNvSpPr/>
          <p:nvPr/>
        </p:nvSpPr>
        <p:spPr>
          <a:xfrm>
            <a:off x="3505263" y="2187028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path 32"/>
          <p:cNvSpPr/>
          <p:nvPr/>
        </p:nvSpPr>
        <p:spPr>
          <a:xfrm>
            <a:off x="3505263" y="2012149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path 34"/>
          <p:cNvSpPr/>
          <p:nvPr/>
        </p:nvSpPr>
        <p:spPr>
          <a:xfrm>
            <a:off x="513600" y="4810658"/>
            <a:ext cx="385254" cy="385241"/>
          </a:xfrm>
          <a:custGeom>
            <a:avLst/>
            <a:gdLst/>
            <a:ahLst/>
            <a:cxnLst/>
            <a:rect l="0" t="0" r="0" b="0"/>
            <a:pathLst>
              <a:path w="606" h="606">
                <a:moveTo>
                  <a:pt x="606" y="303"/>
                </a:moveTo>
                <a:cubicBezTo>
                  <a:pt x="606" y="470"/>
                  <a:pt x="470" y="606"/>
                  <a:pt x="303" y="606"/>
                </a:cubicBezTo>
                <a:cubicBezTo>
                  <a:pt x="135" y="606"/>
                  <a:pt x="0" y="470"/>
                  <a:pt x="0" y="303"/>
                </a:cubicBezTo>
                <a:cubicBezTo>
                  <a:pt x="0" y="135"/>
                  <a:pt x="135" y="0"/>
                  <a:pt x="303" y="0"/>
                </a:cubicBezTo>
                <a:cubicBezTo>
                  <a:pt x="470" y="0"/>
                  <a:pt x="606" y="135"/>
                  <a:pt x="606" y="303"/>
                </a:cubicBezTo>
              </a:path>
              <a:path w="606" h="606">
                <a:moveTo>
                  <a:pt x="606" y="303"/>
                </a:moveTo>
                <a:cubicBezTo>
                  <a:pt x="606" y="470"/>
                  <a:pt x="470" y="606"/>
                  <a:pt x="303" y="606"/>
                </a:cubicBezTo>
                <a:cubicBezTo>
                  <a:pt x="135" y="606"/>
                  <a:pt x="0" y="470"/>
                  <a:pt x="0" y="303"/>
                </a:cubicBezTo>
                <a:cubicBezTo>
                  <a:pt x="0" y="135"/>
                  <a:pt x="135" y="0"/>
                  <a:pt x="303" y="0"/>
                </a:cubicBezTo>
                <a:cubicBezTo>
                  <a:pt x="470" y="0"/>
                  <a:pt x="606" y="135"/>
                  <a:pt x="606" y="303"/>
                </a:cubicBezTo>
              </a:path>
            </a:pathLst>
          </a:custGeom>
          <a:solidFill>
            <a:srgbClr val="C3D82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4443" y="4883745"/>
            <a:ext cx="243573" cy="243573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19226" y="4910524"/>
            <a:ext cx="160401" cy="185140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42284"/>
              </p:ext>
            </p:extLst>
          </p:nvPr>
        </p:nvGraphicFramePr>
        <p:xfrm>
          <a:off x="146539" y="1896954"/>
          <a:ext cx="3047998" cy="5091430"/>
        </p:xfrm>
        <a:graphic>
          <a:graphicData uri="http://schemas.openxmlformats.org/drawingml/2006/table">
            <a:tbl>
              <a:tblPr/>
              <a:tblGrid>
                <a:gridCol w="300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448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Podnoszenie</a:t>
                      </a:r>
                      <a:r>
                        <a:rPr lang="en-US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mechaniczne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8739" algn="l" rtl="0" eaLnBrk="0">
                        <a:lnSpc>
                          <a:spcPct val="88000"/>
                        </a:lnSpc>
                        <a:spcBef>
                          <a:spcPts val="94"/>
                        </a:spcBef>
                        <a:tabLst/>
                      </a:pP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Zaplanuj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operację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kontroluj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strefę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podnoszenia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 </a:t>
                      </a:r>
                    </a:p>
                    <a:p>
                      <a:pPr marL="78739" algn="l" rtl="0" eaLnBrk="0">
                        <a:lnSpc>
                          <a:spcPct val="88000"/>
                        </a:lnSpc>
                        <a:spcBef>
                          <a:spcPts val="94"/>
                        </a:spcBef>
                        <a:tabLst/>
                      </a:pP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Trzymaj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się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poza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obszarem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podnoszenia</a:t>
                      </a:r>
                      <a:endParaRPr lang="en-US"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4294" algn="l" rtl="0" eaLnBrk="0">
                        <a:lnSpc>
                          <a:spcPct val="82000"/>
                        </a:lnSpc>
                        <a:spcBef>
                          <a:spcPts val="1234"/>
                        </a:spcBef>
                        <a:tabLst/>
                      </a:pP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Praca</a:t>
                      </a:r>
                      <a:r>
                        <a:rPr lang="en-US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na</a:t>
                      </a:r>
                      <a:r>
                        <a:rPr lang="en-US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wysokości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3025" algn="l" rtl="0" eaLnBrk="0">
                        <a:lnSpc>
                          <a:spcPct val="88000"/>
                        </a:lnSpc>
                        <a:spcBef>
                          <a:spcPts val="115"/>
                        </a:spcBef>
                        <a:tabLst/>
                      </a:pP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Oceń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zapobiegaj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I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broń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się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przed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upadkiem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z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wysokości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185" algn="l" rtl="0" eaLnBrk="0">
                        <a:lnSpc>
                          <a:spcPct val="82000"/>
                        </a:lnSpc>
                        <a:spcBef>
                          <a:spcPts val="371"/>
                        </a:spcBef>
                        <a:tabLst/>
                      </a:pP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Bezpieczne</a:t>
                      </a:r>
                      <a:r>
                        <a:rPr lang="en-US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używanie</a:t>
                      </a:r>
                      <a:r>
                        <a:rPr lang="en-US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pojazdów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4930" algn="l" rtl="0" eaLnBrk="0">
                        <a:lnSpc>
                          <a:spcPts val="950"/>
                        </a:lnSpc>
                        <a:tabLst/>
                      </a:pP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Zaplanuj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podróż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skup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się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na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jeździe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zachowaj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otrożność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83185" algn="l" rtl="0" eaLnBrk="0">
                        <a:lnSpc>
                          <a:spcPct val="78000"/>
                        </a:lnSpc>
                        <a:spcBef>
                          <a:spcPts val="1391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Lin</a:t>
                      </a:r>
                      <a:r>
                        <a:rPr lang="en-US" sz="1200" kern="0" spc="-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ia </a:t>
                      </a:r>
                      <a:r>
                        <a:rPr lang="en-US" sz="1200" kern="0" spc="-3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ognia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8105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Trzymaj</a:t>
                      </a: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siebie</a:t>
                      </a: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I 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innych</a:t>
                      </a: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z 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dala</a:t>
                      </a: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od </a:t>
                      </a:r>
                    </a:p>
                    <a:p>
                      <a:pPr marL="78105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Linii</a:t>
                      </a: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ognia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4294" algn="l" rtl="0" eaLnBrk="0">
                        <a:lnSpc>
                          <a:spcPct val="77000"/>
                        </a:lnSpc>
                        <a:spcBef>
                          <a:spcPts val="1545"/>
                        </a:spcBef>
                        <a:tabLst/>
                      </a:pPr>
                      <a:r>
                        <a:rPr lang="en-US" sz="12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Autoryzacja</a:t>
                      </a:r>
                      <a:r>
                        <a:rPr lang="en-US" sz="12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prac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2389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Oceń ryzyko, zastosuj środki kontroli i</a:t>
                      </a:r>
                    </a:p>
                    <a:p>
                      <a:pPr marL="72389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uzyskaj autoryzację przed rozpoczęciem pracy</a:t>
                      </a:r>
                      <a:endParaRPr lang="en-US" sz="700" kern="0" spc="5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2389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endParaRPr lang="en-US" sz="700" kern="0" spc="5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2389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r>
                        <a:rPr lang="en-US" sz="12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Przestrzenie</a:t>
                      </a:r>
                      <a:r>
                        <a:rPr lang="en-US" sz="1200" kern="0" spc="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zamknięte</a:t>
                      </a:r>
                      <a:endParaRPr lang="en-US" sz="1200" kern="0" spc="0" dirty="0">
                        <a:solidFill>
                          <a:srgbClr val="0F5E5F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2389" algn="l" rtl="0" eaLnBrk="0">
                        <a:lnSpc>
                          <a:spcPct val="91000"/>
                        </a:lnSpc>
                        <a:spcBef>
                          <a:spcPts val="169"/>
                        </a:spcBef>
                        <a:tabLst/>
                      </a:pPr>
                      <a:r>
                        <a:rPr lang="pl-PL" sz="700" dirty="0">
                          <a:latin typeface="Inter Medium"/>
                          <a:ea typeface="Inter Medium"/>
                          <a:cs typeface="Inter Medium"/>
                        </a:rPr>
                        <a:t>Ocena ryzyka, kontrola zagrożeń i uzyskanie pozwolenia na dostęp do przestrzeni zamkniętej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83185" algn="l" rtl="0" eaLnBrk="0">
                        <a:lnSpc>
                          <a:spcPct val="82000"/>
                        </a:lnSpc>
                        <a:spcBef>
                          <a:spcPts val="1394"/>
                        </a:spcBef>
                        <a:tabLst/>
                      </a:pP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Izolacja</a:t>
                      </a:r>
                      <a:r>
                        <a:rPr lang="en-US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energii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7469" algn="l" rtl="0" eaLnBrk="0">
                        <a:lnSpc>
                          <a:spcPct val="92000"/>
                        </a:lnSpc>
                        <a:spcBef>
                          <a:spcPts val="92"/>
                        </a:spcBef>
                        <a:tabLst/>
                      </a:pP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Od</a:t>
                      </a: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izoluj i zweryfikuj 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brak</a:t>
                      </a: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energi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</a:t>
                      </a:r>
                      <a:endParaRPr lang="pl-PL" sz="700" kern="0" spc="5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7469" algn="l" rtl="0" eaLnBrk="0">
                        <a:lnSpc>
                          <a:spcPct val="92000"/>
                        </a:lnSpc>
                        <a:spcBef>
                          <a:spcPts val="92"/>
                        </a:spcBef>
                        <a:tabLst/>
                      </a:pP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przed rozpoczęciem pracy</a:t>
                      </a:r>
                      <a:endParaRPr lang="en-US" sz="700" kern="0" spc="5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7469" algn="l" rtl="0" eaLnBrk="0">
                        <a:lnSpc>
                          <a:spcPct val="92000"/>
                        </a:lnSpc>
                        <a:spcBef>
                          <a:spcPts val="92"/>
                        </a:spcBef>
                        <a:tabLst/>
                      </a:pPr>
                      <a:endParaRPr lang="en-US" sz="700" kern="0" spc="5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7469" algn="l" rtl="0" eaLnBrk="0">
                        <a:lnSpc>
                          <a:spcPct val="92000"/>
                        </a:lnSpc>
                        <a:spcBef>
                          <a:spcPts val="92"/>
                        </a:spcBef>
                        <a:tabLst/>
                      </a:pPr>
                      <a:r>
                        <a:rPr lang="en-US" sz="1200" kern="0" spc="-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Prace</a:t>
                      </a:r>
                      <a:r>
                        <a:rPr lang="en-US" sz="1200" kern="0" spc="-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pod </a:t>
                      </a:r>
                      <a:r>
                        <a:rPr lang="en-US" sz="1200" kern="0" spc="-2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napięciem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1755" algn="l" rtl="0" eaLnBrk="0">
                        <a:lnSpc>
                          <a:spcPct val="88000"/>
                        </a:lnSpc>
                        <a:spcBef>
                          <a:spcPts val="184"/>
                        </a:spcBef>
                        <a:tabLst/>
                      </a:pP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Zastosuj</a:t>
                      </a: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środki</a:t>
                      </a: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kontrol</a:t>
                      </a: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n</a:t>
                      </a: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e i spełnij</a:t>
                      </a:r>
                    </a:p>
                    <a:p>
                      <a:pPr marL="71755" algn="l" rtl="0" eaLnBrk="0">
                        <a:lnSpc>
                          <a:spcPct val="88000"/>
                        </a:lnSpc>
                        <a:spcBef>
                          <a:spcPts val="184"/>
                        </a:spcBef>
                        <a:tabLst/>
                      </a:pP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wymagania dotyczące dostępu do 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strefy</a:t>
                      </a:r>
                      <a:r>
                        <a:rPr lang="en-US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5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prac</a:t>
                      </a:r>
                      <a:endParaRPr lang="en-US" sz="700" kern="0" spc="5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1755" algn="l" rtl="0" eaLnBrk="0">
                        <a:lnSpc>
                          <a:spcPct val="88000"/>
                        </a:lnSpc>
                        <a:spcBef>
                          <a:spcPts val="184"/>
                        </a:spcBef>
                        <a:tabLst/>
                      </a:pPr>
                      <a:endParaRPr lang="en-US" sz="700" kern="0" spc="50" dirty="0">
                        <a:solidFill>
                          <a:srgbClr val="231F20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1755" algn="l" rtl="0" eaLnBrk="0">
                        <a:lnSpc>
                          <a:spcPct val="88000"/>
                        </a:lnSpc>
                        <a:spcBef>
                          <a:spcPts val="184"/>
                        </a:spcBef>
                        <a:tabLst/>
                      </a:pP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Pożary</a:t>
                      </a:r>
                      <a:r>
                        <a:rPr lang="en-US" sz="1200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I </a:t>
                      </a:r>
                      <a:r>
                        <a:rPr lang="en-US" sz="1200" kern="0" spc="-10" dirty="0" err="1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eksplozje</a:t>
                      </a:r>
                      <a:endParaRPr sz="1200" kern="0" spc="-10" dirty="0">
                        <a:solidFill>
                          <a:srgbClr val="0F5E5F">
                            <a:alpha val="100000"/>
                          </a:srgbClr>
                        </a:solidFill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74930" algn="l" rtl="0" eaLnBrk="0">
                        <a:lnSpc>
                          <a:spcPct val="91000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Kontroluj źródła zapłonu</a:t>
                      </a:r>
                    </a:p>
                    <a:p>
                      <a:pPr marL="74930" algn="l" rtl="0" eaLnBrk="0">
                        <a:lnSpc>
                          <a:spcPct val="91000"/>
                        </a:lnSpc>
                        <a:spcBef>
                          <a:spcPts val="109"/>
                        </a:spcBef>
                        <a:tabLst/>
                      </a:pPr>
                      <a:r>
                        <a:rPr lang="pl-PL" sz="700" kern="0" spc="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 eliminuj ryzyko pożaru i wybuchu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70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ts val="46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600" kern="0" spc="10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</a:t>
                      </a: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624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table 42"/>
          <p:cNvGraphicFramePr>
            <a:graphicFrameLocks noGrp="1"/>
          </p:cNvGraphicFramePr>
          <p:nvPr/>
        </p:nvGraphicFramePr>
        <p:xfrm>
          <a:off x="6845402" y="3113595"/>
          <a:ext cx="3084830" cy="1915794"/>
        </p:xfrm>
        <a:graphic>
          <a:graphicData uri="http://schemas.openxmlformats.org/drawingml/2006/table">
            <a:tbl>
              <a:tblPr/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9225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000" b="1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1</a:t>
                      </a:r>
                      <a:r>
                        <a:rPr sz="1000" b="1" kern="0" spc="-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79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2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70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3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029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4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745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5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6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554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7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8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70" algn="l" rtl="0" eaLnBrk="0">
                        <a:lnSpc>
                          <a:spcPct val="7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9</a:t>
                      </a:r>
                      <a:r>
                        <a:rPr sz="1000" b="1" kern="0" spc="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21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89" algn="l" rtl="0" eaLnBrk="0">
                        <a:lnSpc>
                          <a:spcPct val="7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-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10</a:t>
                      </a:r>
                      <a:r>
                        <a:rPr sz="1000" b="1" kern="0" spc="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sz="1000" b="1" kern="0" spc="-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)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4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022580"/>
              </p:ext>
            </p:extLst>
          </p:nvPr>
        </p:nvGraphicFramePr>
        <p:xfrm>
          <a:off x="6845402" y="158242"/>
          <a:ext cx="3084829" cy="1725294"/>
        </p:xfrm>
        <a:graphic>
          <a:graphicData uri="http://schemas.openxmlformats.org/drawingml/2006/table">
            <a:tbl>
              <a:tblPr/>
              <a:tblGrid>
                <a:gridCol w="87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35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Punkt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zbiórki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3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lang="en-US" sz="10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Numer</a:t>
                      </a:r>
                      <a:r>
                        <a:rPr lang="en-US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0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służb</a:t>
                      </a:r>
                      <a:r>
                        <a:rPr lang="en-US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0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ratunkowych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34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09" algn="l" rtl="0" eaLnBrk="0">
                        <a:lnSpc>
                          <a:spcPct val="80000"/>
                        </a:lnSpc>
                        <a:tabLst/>
                      </a:pPr>
                      <a:r>
                        <a:rPr lang="en-US"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Nazwa </a:t>
                      </a:r>
                      <a:r>
                        <a:rPr lang="en-US" sz="10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obiektu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/</a:t>
                      </a:r>
                      <a:r>
                        <a:rPr sz="10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Lo</a:t>
                      </a:r>
                      <a:r>
                        <a:rPr lang="en-US" sz="10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kalizacja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/</a:t>
                      </a:r>
                      <a:r>
                        <a:rPr lang="en-US" sz="10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Jednostka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" algn="l" rtl="0" eaLnBrk="0">
                        <a:lnSpc>
                          <a:spcPct val="7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Pozwolenie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na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000" b="1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pracę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#: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371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Dat</a:t>
                      </a:r>
                      <a:r>
                        <a:rPr lang="en-US"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a</a:t>
                      </a:r>
                      <a:r>
                        <a:rPr sz="1000" b="1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5775" algn="l" rtl="0" eaLnBrk="0">
                        <a:lnSpc>
                          <a:spcPct val="79000"/>
                        </a:lnSpc>
                        <a:tabLst/>
                      </a:pPr>
                      <a:r>
                        <a:rPr lang="en-US" sz="10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Czas</a:t>
                      </a:r>
                      <a:r>
                        <a:rPr sz="10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10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lang="en-US"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65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n-US" sz="900" b="1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zmiana</a:t>
                      </a:r>
                      <a:r>
                        <a:rPr sz="900" b="1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:</a:t>
                      </a:r>
                      <a:endParaRPr sz="900" dirty="0">
                        <a:latin typeface="Inter Extra Bold"/>
                        <a:ea typeface="Inter Extra Bold"/>
                        <a:cs typeface="Inter Extra Bold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lang="en-US" sz="1000" kern="0" spc="-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Dzień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2890" algn="l" rtl="0" eaLnBrk="0">
                        <a:lnSpc>
                          <a:spcPct val="7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000" kern="0" spc="-3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M</a:t>
                      </a:r>
                      <a:r>
                        <a:rPr lang="en-US" sz="1000" kern="0" spc="-3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iędzy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359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0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N</a:t>
                      </a:r>
                      <a:r>
                        <a:rPr lang="en-US" sz="10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oc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583615"/>
              </p:ext>
            </p:extLst>
          </p:nvPr>
        </p:nvGraphicFramePr>
        <p:xfrm>
          <a:off x="6845402" y="6060795"/>
          <a:ext cx="3084830" cy="1543050"/>
        </p:xfrm>
        <a:graphic>
          <a:graphicData uri="http://schemas.openxmlformats.org/drawingml/2006/table">
            <a:tbl>
              <a:tblPr/>
              <a:tblGrid>
                <a:gridCol w="308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43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Podpis</a:t>
                      </a:r>
                      <a:r>
                        <a:rPr lang="en-US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osoby</a:t>
                      </a:r>
                      <a:r>
                        <a:rPr lang="en-US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kierujacej</a:t>
                      </a:r>
                      <a:r>
                        <a:rPr lang="en-US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pracami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textbox 48"/>
          <p:cNvSpPr/>
          <p:nvPr/>
        </p:nvSpPr>
        <p:spPr>
          <a:xfrm>
            <a:off x="3437934" y="428887"/>
            <a:ext cx="3138170" cy="1445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50240" algn="l" rtl="0" eaLnBrk="0">
              <a:lnSpc>
                <a:spcPct val="76000"/>
              </a:lnSpc>
              <a:tabLst/>
            </a:pPr>
            <a:r>
              <a:rPr sz="28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Start Work</a:t>
            </a:r>
            <a:endParaRPr sz="2800" dirty="0">
              <a:latin typeface="Inter Extra Bold"/>
              <a:ea typeface="Inter Extra Bold"/>
              <a:cs typeface="Inter Extra Bold"/>
            </a:endParaRPr>
          </a:p>
          <a:p>
            <a:pPr algn="r" rtl="0" eaLnBrk="0">
              <a:lnSpc>
                <a:spcPct val="74000"/>
              </a:lnSpc>
              <a:spcBef>
                <a:spcPts val="871"/>
              </a:spcBef>
              <a:tabLst/>
            </a:pPr>
            <a:r>
              <a:rPr sz="2800" b="1" kern="0" spc="-1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Assessment Too</a:t>
            </a:r>
            <a:r>
              <a:rPr sz="28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l</a:t>
            </a:r>
            <a:endParaRPr sz="2800" dirty="0">
              <a:latin typeface="Inter Extra Bold"/>
              <a:ea typeface="Inter Extra Bold"/>
              <a:cs typeface="Inter Extra Bold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spcBef>
                <a:spcPts val="5"/>
              </a:spcBef>
              <a:tabLst/>
            </a:pPr>
            <a:r>
              <a:rPr lang="en-US" sz="1900" b="1" kern="0" spc="-2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Inne </a:t>
            </a:r>
            <a:r>
              <a:rPr lang="en-US" sz="1900" b="1" kern="0" spc="-20" dirty="0" err="1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zagrożenia</a:t>
            </a:r>
            <a:endParaRPr sz="19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0" y="7321092"/>
            <a:ext cx="6722109" cy="451484"/>
          </a:xfrm>
          <a:prstGeom prst="rect">
            <a:avLst/>
          </a:prstGeom>
          <a:solidFill>
            <a:srgbClr val="C6D82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0169" algn="l" rtl="0" eaLnBrk="0">
              <a:lnSpc>
                <a:spcPct val="78000"/>
              </a:lnSpc>
              <a:spcBef>
                <a:spcPts val="1"/>
              </a:spcBef>
              <a:tabLst/>
            </a:pPr>
            <a:r>
              <a:rPr lang="en-US" sz="1300" b="1" kern="0" spc="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ZACZYNAMY PRACĘ GDY JEST </a:t>
            </a:r>
            <a:r>
              <a:rPr lang="en-US" sz="1300" b="1" kern="0" spc="0" dirty="0">
                <a:solidFill>
                  <a:srgbClr val="0F5E5F"/>
                </a:solidFill>
                <a:latin typeface="Inter Extra Bold"/>
                <a:ea typeface="Inter Extra Bold"/>
                <a:cs typeface="Inter Extra Bold"/>
              </a:rPr>
              <a:t>BEZPIECZNA</a:t>
            </a:r>
            <a:r>
              <a:rPr lang="en-US" sz="1300" b="1" kern="0" spc="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, WSTRZYMUJEMY GDY POJAWIA SIĘ </a:t>
            </a:r>
            <a:r>
              <a:rPr lang="en-US" sz="1300" b="1" kern="0" spc="0" dirty="0">
                <a:solidFill>
                  <a:srgbClr val="0F5E5F"/>
                </a:solidFill>
                <a:latin typeface="Inter Extra Bold"/>
                <a:ea typeface="Inter Extra Bold"/>
                <a:cs typeface="Inter Extra Bold"/>
              </a:rPr>
              <a:t>ZAGROŻENIE</a:t>
            </a:r>
            <a:endParaRPr sz="1300" dirty="0">
              <a:solidFill>
                <a:srgbClr val="0F5E5F"/>
              </a:solidFill>
              <a:latin typeface="Inter Extra Bold"/>
              <a:ea typeface="Inter Extra Bold"/>
              <a:cs typeface="Inter Extra Bold"/>
            </a:endParaRPr>
          </a:p>
        </p:txBody>
      </p:sp>
      <p:graphicFrame>
        <p:nvGraphicFramePr>
          <p:cNvPr id="52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795267"/>
              </p:ext>
            </p:extLst>
          </p:nvPr>
        </p:nvGraphicFramePr>
        <p:xfrm>
          <a:off x="6895765" y="6443277"/>
          <a:ext cx="2860039" cy="1026160"/>
        </p:xfrm>
        <a:graphic>
          <a:graphicData uri="http://schemas.openxmlformats.org/drawingml/2006/table">
            <a:tbl>
              <a:tblPr/>
              <a:tblGrid>
                <a:gridCol w="2328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6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79000"/>
                        </a:lnSpc>
                        <a:tabLst/>
                      </a:pPr>
                      <a:r>
                        <a:rPr lang="en-US" sz="10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Czy</a:t>
                      </a: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ukończono</a:t>
                      </a: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zadanie</a:t>
                      </a:r>
                      <a:r>
                        <a:rPr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?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1270" algn="l" rtl="0" eaLnBrk="0">
                        <a:lnSpc>
                          <a:spcPct val="80000"/>
                        </a:lnSpc>
                        <a:spcBef>
                          <a:spcPts val="253"/>
                        </a:spcBef>
                        <a:tabLst/>
                      </a:pPr>
                      <a:r>
                        <a:rPr lang="en-US" sz="10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Czy</a:t>
                      </a: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doszło</a:t>
                      </a: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do </a:t>
                      </a:r>
                      <a:r>
                        <a:rPr lang="en-US" sz="10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incydentów</a:t>
                      </a: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na</a:t>
                      </a: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tle</a:t>
                      </a: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BHP</a:t>
                      </a:r>
                      <a:r>
                        <a:rPr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?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82000"/>
                        </a:lnSpc>
                        <a:tabLst/>
                      </a:pP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Jeśli</a:t>
                      </a:r>
                      <a:r>
                        <a:rPr lang="en-US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tak</a:t>
                      </a:r>
                      <a:r>
                        <a:rPr lang="en-US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, </a:t>
                      </a: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kogo</a:t>
                      </a:r>
                      <a:r>
                        <a:rPr lang="en-US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I </a:t>
                      </a: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kiedy</a:t>
                      </a:r>
                      <a:r>
                        <a:rPr lang="en-US" sz="1000" kern="0" spc="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000" kern="0" spc="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powiadomiono</a:t>
                      </a:r>
                      <a:r>
                        <a:rPr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?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Tak</a:t>
                      </a:r>
                      <a:r>
                        <a:rPr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/N</a:t>
                      </a:r>
                      <a:r>
                        <a:rPr lang="en-US" sz="10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ie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marL="68580" algn="l" rtl="0" eaLnBrk="0">
                        <a:lnSpc>
                          <a:spcPct val="79000"/>
                        </a:lnSpc>
                        <a:spcBef>
                          <a:spcPts val="252"/>
                        </a:spcBef>
                        <a:tabLst/>
                      </a:pPr>
                      <a:r>
                        <a:rPr lang="en-US" sz="10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Tak</a:t>
                      </a:r>
                      <a:r>
                        <a:rPr sz="10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/N</a:t>
                      </a:r>
                      <a:r>
                        <a:rPr lang="en-US" sz="10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ie</a:t>
                      </a:r>
                      <a:endParaRPr sz="10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31F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4"/>
          <p:cNvGraphicFramePr>
            <a:graphicFrameLocks noGrp="1"/>
          </p:cNvGraphicFramePr>
          <p:nvPr/>
        </p:nvGraphicFramePr>
        <p:xfrm>
          <a:off x="6845402" y="5253888"/>
          <a:ext cx="3084830" cy="582295"/>
        </p:xfrm>
        <a:graphic>
          <a:graphicData uri="http://schemas.openxmlformats.org/drawingml/2006/table">
            <a:tbl>
              <a:tblPr/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path 56"/>
          <p:cNvSpPr/>
          <p:nvPr/>
        </p:nvSpPr>
        <p:spPr>
          <a:xfrm>
            <a:off x="3810267" y="6494673"/>
            <a:ext cx="2191156" cy="361227"/>
          </a:xfrm>
          <a:custGeom>
            <a:avLst/>
            <a:gdLst/>
            <a:ahLst/>
            <a:cxnLst/>
            <a:rect l="0" t="0" r="0" b="0"/>
            <a:pathLst>
              <a:path w="3450" h="568">
                <a:moveTo>
                  <a:pt x="0" y="9"/>
                </a:moveTo>
                <a:lnTo>
                  <a:pt x="3450" y="9"/>
                </a:lnTo>
                <a:moveTo>
                  <a:pt x="0" y="284"/>
                </a:moveTo>
                <a:lnTo>
                  <a:pt x="3450" y="284"/>
                </a:lnTo>
                <a:moveTo>
                  <a:pt x="0" y="559"/>
                </a:moveTo>
                <a:lnTo>
                  <a:pt x="3450" y="559"/>
                </a:lnTo>
              </a:path>
            </a:pathLst>
          </a:custGeom>
          <a:noFill/>
          <a:ln w="11709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58" name="table 58"/>
          <p:cNvGraphicFramePr>
            <a:graphicFrameLocks noGrp="1"/>
          </p:cNvGraphicFramePr>
          <p:nvPr/>
        </p:nvGraphicFramePr>
        <p:xfrm>
          <a:off x="6845402" y="2539428"/>
          <a:ext cx="3084830" cy="192404"/>
        </p:xfrm>
        <a:graphic>
          <a:graphicData uri="http://schemas.openxmlformats.org/drawingml/2006/table">
            <a:tbl>
              <a:tblPr/>
              <a:tblGrid>
                <a:gridCol w="308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4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6845402" y="2111171"/>
          <a:ext cx="3084830" cy="192404"/>
        </p:xfrm>
        <a:graphic>
          <a:graphicData uri="http://schemas.openxmlformats.org/drawingml/2006/table">
            <a:tbl>
              <a:tblPr/>
              <a:tblGrid>
                <a:gridCol w="308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4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textbox 62"/>
          <p:cNvSpPr/>
          <p:nvPr/>
        </p:nvSpPr>
        <p:spPr>
          <a:xfrm>
            <a:off x="148049" y="1620261"/>
            <a:ext cx="2588260" cy="264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lang="en-US" sz="1900" b="1" kern="0" spc="-10" dirty="0" err="1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Zasady</a:t>
            </a:r>
            <a:r>
              <a:rPr lang="en-US" sz="1900" b="1" kern="0" spc="-1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n-US" sz="1900" b="1" kern="0" spc="-10" dirty="0" err="1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ratujące</a:t>
            </a:r>
            <a:r>
              <a:rPr lang="en-US" sz="1900" b="1" kern="0" spc="-10" dirty="0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n-US" sz="1900" b="1" kern="0" spc="-10" dirty="0" err="1">
                <a:solidFill>
                  <a:srgbClr val="0F5E5F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życie</a:t>
            </a:r>
            <a:endParaRPr sz="19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8413545" y="2815686"/>
            <a:ext cx="1489075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lang="en-US"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Imię</a:t>
            </a:r>
            <a:r>
              <a:rPr lang="en-US"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n-US"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i</a:t>
            </a:r>
            <a:r>
              <a:rPr lang="en-US"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n-US"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nazwisko</a:t>
            </a:r>
            <a:endParaRPr lang="en-US" sz="1000" b="1" kern="0" spc="-20" dirty="0">
              <a:solidFill>
                <a:srgbClr val="231F20">
                  <a:alpha val="100000"/>
                </a:srgbClr>
              </a:solidFill>
              <a:latin typeface="Inter Extra Bold"/>
              <a:ea typeface="Inter Extra Bold"/>
              <a:cs typeface="Inter Extra Bold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lang="en-US"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wspołpracowników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6862114" y="1958182"/>
            <a:ext cx="1570989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lang="en-US" sz="1000" b="1" kern="0" spc="-1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Brygadzista</a:t>
            </a:r>
            <a:r>
              <a:rPr lang="en-US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/</a:t>
            </a:r>
            <a:r>
              <a:rPr lang="en-US" sz="1000" b="1" kern="0" spc="-1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Kierownik</a:t>
            </a:r>
            <a:r>
              <a:rPr lang="en-US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n-US" sz="1000" b="1" kern="0" spc="-1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prac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1246714" y="767871"/>
            <a:ext cx="139128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46"/>
              </a:lnSpc>
              <a:tabLst/>
            </a:pPr>
            <a:r>
              <a:rPr sz="1400" kern="0" spc="11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GE</a:t>
            </a:r>
            <a:r>
              <a:rPr sz="1400" kern="0" spc="20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1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VER</a:t>
            </a:r>
            <a:r>
              <a:rPr sz="1400" kern="0" spc="-13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10" dirty="0">
                <a:solidFill>
                  <a:srgbClr val="0F5E5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NOVA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15190" y="636040"/>
            <a:ext cx="422300" cy="422605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3977" y="2022613"/>
            <a:ext cx="389585" cy="389585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14099" y="3137101"/>
            <a:ext cx="387819" cy="387807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0419" y="2559136"/>
            <a:ext cx="386905" cy="386918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3558" y="3696177"/>
            <a:ext cx="385610" cy="385597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13493" y="5924551"/>
            <a:ext cx="385368" cy="385368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3493" y="5368640"/>
            <a:ext cx="385368" cy="385368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14145" y="6481278"/>
            <a:ext cx="384733" cy="384733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6860716" y="2386552"/>
            <a:ext cx="1199514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Aud</a:t>
            </a:r>
            <a:r>
              <a:rPr lang="en-US"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ytor</a:t>
            </a:r>
            <a:r>
              <a:rPr sz="1000" b="1" kern="0" spc="15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(</a:t>
            </a:r>
            <a:r>
              <a:rPr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Op</a:t>
            </a:r>
            <a:r>
              <a:rPr lang="en-US"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cjonalnie</a:t>
            </a:r>
            <a:r>
              <a:rPr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):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18657" y="4253156"/>
            <a:ext cx="378713" cy="378714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6862875" y="5127318"/>
            <a:ext cx="1550670" cy="120036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lang="en-US" sz="1000" b="1" kern="0" spc="-1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Używane</a:t>
            </a:r>
            <a:r>
              <a:rPr lang="en-US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n-US" sz="1000" b="1" kern="0" spc="-1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środki</a:t>
            </a:r>
            <a:r>
              <a:rPr lang="en-US"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</a:t>
            </a:r>
            <a:r>
              <a:rPr lang="en-US" sz="1000" b="1" kern="0" spc="-1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chemiczne</a:t>
            </a:r>
            <a:r>
              <a:rPr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: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8828499" y="7633475"/>
            <a:ext cx="1064260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tabLst/>
            </a:pPr>
            <a:r>
              <a:rPr sz="1000" kern="0" spc="-10" dirty="0">
                <a:solidFill>
                  <a:srgbClr val="231F20">
                    <a:alpha val="100000"/>
                  </a:srgbClr>
                </a:solidFill>
                <a:latin typeface="Inter Medium"/>
                <a:ea typeface="Inter Medium"/>
                <a:cs typeface="Inter Medium"/>
              </a:rPr>
              <a:t>Revision</a:t>
            </a:r>
            <a:r>
              <a:rPr sz="1000" kern="0" spc="100" dirty="0">
                <a:solidFill>
                  <a:srgbClr val="231F20">
                    <a:alpha val="100000"/>
                  </a:srgbClr>
                </a:solidFill>
                <a:latin typeface="Inter Medium"/>
                <a:ea typeface="Inter Medium"/>
                <a:cs typeface="Inter Medium"/>
              </a:rPr>
              <a:t> </a:t>
            </a:r>
            <a:r>
              <a:rPr sz="1000" kern="0" spc="-10" dirty="0">
                <a:solidFill>
                  <a:srgbClr val="231F20">
                    <a:alpha val="100000"/>
                  </a:srgbClr>
                </a:solidFill>
                <a:latin typeface="Inter Medium"/>
                <a:ea typeface="Inter Medium"/>
                <a:cs typeface="Inter Medium"/>
              </a:rPr>
              <a:t>2026.01</a:t>
            </a:r>
            <a:endParaRPr sz="1000" dirty="0">
              <a:latin typeface="Inter Medium"/>
              <a:ea typeface="Inter Medium"/>
              <a:cs typeface="Inter Medium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845476" y="2966434"/>
            <a:ext cx="827405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lang="en-US" sz="1000" b="1" kern="0" spc="-1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Uczestnicy</a:t>
            </a:r>
            <a:r>
              <a:rPr sz="10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: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6887005" y="5913597"/>
            <a:ext cx="678180" cy="140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6000"/>
              </a:lnSpc>
              <a:tabLst/>
            </a:pPr>
            <a:r>
              <a:rPr lang="en-US" sz="1000" b="1" kern="0" spc="-20" dirty="0" err="1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Zamknięcie</a:t>
            </a:r>
            <a:r>
              <a:rPr sz="1000" b="1" kern="0" spc="-2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:</a:t>
            </a:r>
            <a:endParaRPr sz="1000" dirty="0"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98" name="path 98"/>
          <p:cNvSpPr/>
          <p:nvPr/>
        </p:nvSpPr>
        <p:spPr>
          <a:xfrm>
            <a:off x="275094" y="4403280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0" name="path 100"/>
          <p:cNvSpPr/>
          <p:nvPr/>
        </p:nvSpPr>
        <p:spPr>
          <a:xfrm>
            <a:off x="275094" y="3843693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2" name="path 102"/>
          <p:cNvSpPr/>
          <p:nvPr/>
        </p:nvSpPr>
        <p:spPr>
          <a:xfrm>
            <a:off x="275094" y="3284118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path 104"/>
          <p:cNvSpPr/>
          <p:nvPr/>
        </p:nvSpPr>
        <p:spPr>
          <a:xfrm>
            <a:off x="275094" y="2164956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path 106"/>
          <p:cNvSpPr/>
          <p:nvPr/>
        </p:nvSpPr>
        <p:spPr>
          <a:xfrm>
            <a:off x="275094" y="2724530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9"/>
                </a:lnTo>
                <a:lnTo>
                  <a:pt x="157" y="9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path 108"/>
          <p:cNvSpPr/>
          <p:nvPr/>
        </p:nvSpPr>
        <p:spPr>
          <a:xfrm>
            <a:off x="275094" y="6082017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0" name="path 110"/>
          <p:cNvSpPr/>
          <p:nvPr/>
        </p:nvSpPr>
        <p:spPr>
          <a:xfrm>
            <a:off x="275094" y="6641604"/>
            <a:ext cx="105575" cy="105575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path 112"/>
          <p:cNvSpPr/>
          <p:nvPr/>
        </p:nvSpPr>
        <p:spPr>
          <a:xfrm>
            <a:off x="275094" y="5522442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path 114"/>
          <p:cNvSpPr/>
          <p:nvPr/>
        </p:nvSpPr>
        <p:spPr>
          <a:xfrm>
            <a:off x="275094" y="4962855"/>
            <a:ext cx="105575" cy="105574"/>
          </a:xfrm>
          <a:custGeom>
            <a:avLst/>
            <a:gdLst/>
            <a:ahLst/>
            <a:cxnLst/>
            <a:rect l="0" t="0" r="0" b="0"/>
            <a:pathLst>
              <a:path w="166" h="166">
                <a:moveTo>
                  <a:pt x="157" y="157"/>
                </a:moveTo>
                <a:lnTo>
                  <a:pt x="9" y="157"/>
                </a:lnTo>
                <a:lnTo>
                  <a:pt x="9" y="8"/>
                </a:lnTo>
                <a:lnTo>
                  <a:pt x="157" y="8"/>
                </a:lnTo>
                <a:lnTo>
                  <a:pt x="157" y="157"/>
                </a:lnTo>
                <a:close/>
              </a:path>
            </a:pathLst>
          </a:custGeom>
          <a:noFill/>
          <a:ln w="11430" cap="flat">
            <a:solidFill>
              <a:srgbClr val="0F5E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39173" y="4945960"/>
            <a:ext cx="36220" cy="36220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38441" y="5000221"/>
            <a:ext cx="25996" cy="408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table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481287"/>
              </p:ext>
            </p:extLst>
          </p:nvPr>
        </p:nvGraphicFramePr>
        <p:xfrm>
          <a:off x="417524" y="517385"/>
          <a:ext cx="9201782" cy="6362696"/>
        </p:xfrm>
        <a:graphic>
          <a:graphicData uri="http://schemas.openxmlformats.org/drawingml/2006/table">
            <a:tbl>
              <a:tblPr/>
              <a:tblGrid>
                <a:gridCol w="276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5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55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880" indent="-7620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lang="en-US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JAKIE</a:t>
                      </a:r>
                      <a:r>
                        <a:rPr lang="en-US" sz="1200" b="1" kern="0" spc="13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200" b="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zadanie</a:t>
                      </a:r>
                      <a:r>
                        <a:rPr lang="en-US" sz="1200" b="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200" b="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trzeba</a:t>
                      </a:r>
                      <a:r>
                        <a:rPr lang="en-US" sz="1200" b="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200" b="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wykonać</a:t>
                      </a:r>
                      <a:r>
                        <a:rPr lang="en-US" sz="1200" b="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?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krótki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opis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r>
                        <a:rPr sz="1200" kern="0" spc="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</a:t>
                      </a:r>
                      <a:r>
                        <a:rPr sz="800" i="1" kern="0" spc="7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e.g.:</a:t>
                      </a:r>
                      <a:r>
                        <a:rPr sz="800" kern="0" spc="7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usunięcie</a:t>
                      </a:r>
                      <a:r>
                        <a:rPr lang="en-US" sz="800" i="1" kern="0" spc="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obudowy</a:t>
                      </a:r>
                      <a:r>
                        <a:rPr lang="en-US" sz="800" i="1" kern="0" spc="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łożyska</a:t>
                      </a:r>
                      <a:endParaRPr sz="700" dirty="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980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lang="en-US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JAK</a:t>
                      </a:r>
                      <a:r>
                        <a:rPr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200" b="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je </a:t>
                      </a:r>
                      <a:r>
                        <a:rPr lang="en-US" sz="1200" b="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wykonać</a:t>
                      </a:r>
                      <a:r>
                        <a:rPr lang="en-US" sz="1200" b="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Extra Bold"/>
                          <a:cs typeface="Inter Extra Bold"/>
                        </a:rPr>
                        <a:t>?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szczegóły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przebiegu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zadania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ct val="86000"/>
                        </a:lnSpc>
                        <a:tabLst/>
                      </a:pP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Rozważ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źródła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energii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,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wymagane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narzędzia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I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umiejętności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,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oraz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kwalifikacje</a:t>
                      </a:r>
                      <a:r>
                        <a:rPr lang="en-US" sz="800" i="1" kern="0" spc="3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 I </a:t>
                      </a:r>
                      <a:r>
                        <a:rPr lang="en-US" sz="800" i="1" kern="0" spc="3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"/>
                          <a:ea typeface="Inter"/>
                          <a:cs typeface="Inter"/>
                        </a:rPr>
                        <a:t>pozwolenia</a:t>
                      </a:r>
                      <a:endParaRPr sz="800" dirty="0">
                        <a:latin typeface="Inter"/>
                        <a:ea typeface="Inter"/>
                        <a:cs typeface="Inter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39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714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82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lang="en-US" sz="1200" kern="0" spc="10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Dokumenty</a:t>
                      </a:r>
                      <a:r>
                        <a:rPr lang="en-US" sz="1200" kern="0" spc="10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10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wiądące</a:t>
                      </a:r>
                      <a:r>
                        <a:rPr lang="en-US" sz="1200" kern="0" spc="10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10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dla</a:t>
                      </a:r>
                      <a:r>
                        <a:rPr lang="en-US" sz="1200" kern="0" spc="10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10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tego</a:t>
                      </a:r>
                      <a:r>
                        <a:rPr lang="en-US" sz="1200" kern="0" spc="10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10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zadania</a:t>
                      </a:r>
                      <a:r>
                        <a:rPr lang="en-US" sz="1200" kern="0" spc="10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Zaznacz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adekwatne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r>
                        <a:rPr sz="12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: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135" algn="l" rtl="0" eaLnBrk="0">
                        <a:lnSpc>
                          <a:spcPct val="9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Field</a:t>
                      </a:r>
                      <a:r>
                        <a:rPr sz="700" kern="0" spc="1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Procedure</a:t>
                      </a:r>
                      <a:r>
                        <a:rPr sz="700" kern="0" spc="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    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Live</a:t>
                      </a:r>
                      <a:r>
                        <a:rPr sz="700" kern="0" spc="15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Outage</a:t>
                      </a:r>
                      <a:r>
                        <a:rPr sz="700" kern="0" spc="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    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Rysunek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89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Field</a:t>
                      </a:r>
                      <a:r>
                        <a:rPr sz="7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Modification</a:t>
                      </a:r>
                      <a:r>
                        <a:rPr sz="700" kern="0" spc="10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Instruction</a:t>
                      </a:r>
                      <a:r>
                        <a:rPr sz="7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(FMI)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or</a:t>
                      </a:r>
                      <a:r>
                        <a:rPr sz="700" kern="0" spc="6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Technical</a:t>
                      </a:r>
                      <a:r>
                        <a:rPr sz="700" kern="0" spc="1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Information</a:t>
                      </a:r>
                      <a:r>
                        <a:rPr sz="700" kern="0" spc="10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Lette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r</a:t>
                      </a:r>
                      <a:r>
                        <a:rPr sz="7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(TIL)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064" algn="l" rtl="0" eaLnBrk="0">
                        <a:lnSpc>
                          <a:spcPct val="92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Plan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Podnoszenia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   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Ocena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ryzyka</a:t>
                      </a:r>
                      <a:r>
                        <a:rPr sz="7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(TRA)      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instrukcja</a:t>
                      </a:r>
                      <a:r>
                        <a:rPr lang="en-US" sz="700" kern="0" spc="4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700" kern="0" spc="4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urządzenia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          </a:t>
                      </a:r>
                      <a:r>
                        <a:rPr lang="en-US"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Brak</a:t>
                      </a:r>
                      <a:r>
                        <a:rPr sz="7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n-US" sz="700" kern="0" spc="3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wyjaśnij</a:t>
                      </a:r>
                      <a:r>
                        <a:rPr sz="700" kern="0" spc="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7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894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lang="en-US" sz="1200" b="1" kern="0" spc="-2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Medium"/>
                          <a:cs typeface="Inter Medium"/>
                        </a:rPr>
                        <a:t>CO </a:t>
                      </a:r>
                      <a:r>
                        <a:rPr lang="en-US" sz="1200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może</a:t>
                      </a:r>
                      <a:r>
                        <a:rPr lang="en-US" sz="12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mnie</a:t>
                      </a:r>
                      <a:r>
                        <a:rPr lang="en-US" sz="12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2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zranić</a:t>
                      </a:r>
                      <a:r>
                        <a:rPr lang="en-US" sz="1200" kern="0" spc="-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?</a:t>
                      </a:r>
                      <a:r>
                        <a:rPr sz="1200" kern="0" spc="12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n-US" sz="1200" kern="0" spc="-2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Zagrożenia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98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lang="en-US" sz="1200" b="1" kern="0" spc="-1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JAK</a:t>
                      </a:r>
                      <a:r>
                        <a:rPr sz="1200" b="1" kern="0" spc="60" dirty="0">
                          <a:solidFill>
                            <a:srgbClr val="0F5E5F">
                              <a:alpha val="100000"/>
                            </a:srgbClr>
                          </a:solidFill>
                          <a:latin typeface="Inter Extra Bold"/>
                          <a:ea typeface="Inter Extra Bold"/>
                          <a:cs typeface="Inter Extra Bold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mogę</a:t>
                      </a:r>
                      <a:r>
                        <a:rPr sz="1200" kern="0" spc="1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uniknąć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urazu</a:t>
                      </a:r>
                      <a:r>
                        <a:rPr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?</a:t>
                      </a:r>
                      <a:r>
                        <a:rPr sz="1200" kern="0" spc="13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(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Środki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zaradcze</a:t>
                      </a:r>
                      <a:r>
                        <a:rPr lang="en-US" sz="1200" kern="0" spc="-1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I </a:t>
                      </a:r>
                      <a:r>
                        <a:rPr lang="en-US" sz="1200" kern="0" spc="-10" dirty="0" err="1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profilaktyczne</a:t>
                      </a:r>
                      <a:r>
                        <a:rPr sz="1200" kern="0" spc="-20" dirty="0">
                          <a:solidFill>
                            <a:srgbClr val="777676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)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257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22" name="textbox 122"/>
          <p:cNvSpPr/>
          <p:nvPr/>
        </p:nvSpPr>
        <p:spPr>
          <a:xfrm>
            <a:off x="0" y="7321346"/>
            <a:ext cx="10058400" cy="451484"/>
          </a:xfrm>
          <a:prstGeom prst="rect">
            <a:avLst/>
          </a:prstGeom>
          <a:solidFill>
            <a:srgbClr val="C6D82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8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0169" eaLnBrk="0">
              <a:lnSpc>
                <a:spcPct val="78000"/>
              </a:lnSpc>
              <a:spcBef>
                <a:spcPts val="1"/>
              </a:spcBef>
            </a:pPr>
            <a:r>
              <a:rPr lang="pl-PL" sz="1600" b="1" kern="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ZACZYNAMY PRACĘ GDY JEST </a:t>
            </a:r>
            <a:r>
              <a:rPr lang="pl-PL" sz="1600" b="1" kern="0" dirty="0">
                <a:solidFill>
                  <a:srgbClr val="0F5E5F"/>
                </a:solidFill>
                <a:latin typeface="Inter Extra Bold"/>
                <a:ea typeface="Inter Extra Bold"/>
                <a:cs typeface="Inter Extra Bold"/>
              </a:rPr>
              <a:t>BEZPIECZNA</a:t>
            </a:r>
            <a:r>
              <a:rPr lang="pl-PL" sz="1600" b="1" kern="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, WSTRZYMUJEMY GDY POJAWIA SIĘ </a:t>
            </a:r>
            <a:r>
              <a:rPr lang="pl-PL" sz="1600" b="1" kern="0" dirty="0">
                <a:solidFill>
                  <a:srgbClr val="0F5E5F"/>
                </a:solidFill>
                <a:latin typeface="Inter Extra Bold"/>
                <a:ea typeface="Inter Extra Bold"/>
                <a:cs typeface="Inter Extra Bold"/>
              </a:rPr>
              <a:t>ZAGROŻENIE</a:t>
            </a:r>
            <a:endParaRPr lang="pl-PL" sz="1600" dirty="0">
              <a:solidFill>
                <a:srgbClr val="0F5E5F"/>
              </a:solidFill>
              <a:latin typeface="Inter Extra Bold"/>
              <a:ea typeface="Inter Extra Bold"/>
              <a:cs typeface="Inter Extra Bold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0" y="0"/>
            <a:ext cx="10058400" cy="451484"/>
          </a:xfrm>
          <a:prstGeom prst="rect">
            <a:avLst/>
          </a:prstGeom>
          <a:solidFill>
            <a:srgbClr val="C6D82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lang="en-US"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50"/>
              </a:lnSpc>
              <a:tabLst/>
            </a:pPr>
            <a:endParaRPr lang="en-US" sz="100" dirty="0">
              <a:latin typeface="Arial"/>
              <a:ea typeface="Arial"/>
              <a:cs typeface="Arial"/>
            </a:endParaRPr>
          </a:p>
          <a:p>
            <a:pPr marL="3424554" algn="l" rtl="0" eaLnBrk="0">
              <a:lnSpc>
                <a:spcPct val="75000"/>
              </a:lnSpc>
              <a:tabLst/>
            </a:pPr>
            <a:r>
              <a:rPr lang="en-US" sz="15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ŚOI TO </a:t>
            </a:r>
            <a:r>
              <a:rPr lang="en-US" sz="1500" b="1" kern="0" spc="-10" dirty="0">
                <a:solidFill>
                  <a:srgbClr val="0F5E5F"/>
                </a:solidFill>
                <a:latin typeface="Inter Extra Bold"/>
                <a:ea typeface="Inter Extra Bold"/>
                <a:cs typeface="Inter Extra Bold"/>
              </a:rPr>
              <a:t>OSTATNIA</a:t>
            </a:r>
            <a:r>
              <a:rPr lang="en-US" sz="1500" b="1" kern="0" spc="-10" dirty="0">
                <a:solidFill>
                  <a:srgbClr val="231F20">
                    <a:alpha val="100000"/>
                  </a:srgbClr>
                </a:solidFill>
                <a:latin typeface="Inter Extra Bold"/>
                <a:ea typeface="Inter Extra Bold"/>
                <a:cs typeface="Inter Extra Bold"/>
              </a:rPr>
              <a:t> LINIA </a:t>
            </a:r>
            <a:r>
              <a:rPr lang="en-US" sz="1500" b="1" kern="0" spc="-10" dirty="0">
                <a:solidFill>
                  <a:srgbClr val="0F5E5F"/>
                </a:solidFill>
                <a:latin typeface="Inter Extra Bold"/>
                <a:ea typeface="Inter Extra Bold"/>
                <a:cs typeface="Inter Extra Bold"/>
              </a:rPr>
              <a:t>OBRONY</a:t>
            </a:r>
            <a:endParaRPr lang="en-US" sz="1500" dirty="0">
              <a:solidFill>
                <a:srgbClr val="0F5E5F"/>
              </a:solidFill>
              <a:latin typeface="Inter Extra Bold"/>
              <a:ea typeface="Inter Extra Bold"/>
              <a:cs typeface="Inter Extra Bold"/>
            </a:endParaRPr>
          </a:p>
        </p:txBody>
      </p:sp>
      <p:graphicFrame>
        <p:nvGraphicFramePr>
          <p:cNvPr id="126" name="table 1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973547"/>
              </p:ext>
            </p:extLst>
          </p:nvPr>
        </p:nvGraphicFramePr>
        <p:xfrm>
          <a:off x="417524" y="6918185"/>
          <a:ext cx="9201785" cy="328929"/>
        </p:xfrm>
        <a:graphic>
          <a:graphicData uri="http://schemas.openxmlformats.org/drawingml/2006/table">
            <a:tbl>
              <a:tblPr/>
              <a:tblGrid>
                <a:gridCol w="294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9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0789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Czas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ponowienia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 </a:t>
                      </a:r>
                      <a:r>
                        <a:rPr lang="en-US" sz="1200" kern="0" spc="-10" dirty="0" err="1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zadania</a:t>
                      </a:r>
                      <a:r>
                        <a:rPr lang="en-US" sz="1200" kern="0" spc="-10" dirty="0">
                          <a:solidFill>
                            <a:srgbClr val="231F20">
                              <a:alpha val="100000"/>
                            </a:srgbClr>
                          </a:solidFill>
                          <a:latin typeface="Inter Medium"/>
                          <a:ea typeface="Inter Medium"/>
                          <a:cs typeface="Inter Medium"/>
                        </a:rPr>
                        <a:t>:</a:t>
                      </a:r>
                      <a:endParaRPr sz="1200" dirty="0">
                        <a:latin typeface="Inter Medium"/>
                        <a:ea typeface="Inter Medium"/>
                        <a:cs typeface="Inter Medium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F5E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 xsi:nil="true"/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</Nomenclature>
  </documentManagement>
</p:properties>
</file>

<file path=customXml/itemProps1.xml><?xml version="1.0" encoding="utf-8"?>
<ds:datastoreItem xmlns:ds="http://schemas.openxmlformats.org/officeDocument/2006/customXml" ds:itemID="{82DB4B42-F140-4730-8E50-6977D306F621}"/>
</file>

<file path=customXml/itemProps2.xml><?xml version="1.0" encoding="utf-8"?>
<ds:datastoreItem xmlns:ds="http://schemas.openxmlformats.org/officeDocument/2006/customXml" ds:itemID="{A82CB1E1-9DDC-4B22-8DBB-052D94E026A9}"/>
</file>

<file path=customXml/itemProps3.xml><?xml version="1.0" encoding="utf-8"?>
<ds:datastoreItem xmlns:ds="http://schemas.openxmlformats.org/officeDocument/2006/customXml" ds:itemID="{67EFB94E-1434-4910-953E-69BB12074B0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Microsoft Office PowerPoint</Application>
  <PresentationFormat>Custom</PresentationFormat>
  <Paragraphs>165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Microsoft JhengHei</vt:lpstr>
      <vt:lpstr>Arial</vt:lpstr>
      <vt:lpstr>Inter</vt:lpstr>
      <vt:lpstr>Inter Extra Bold</vt:lpstr>
      <vt:lpstr>Inter Medium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GEV SWAT 2026</dc:title>
  <dc:creator>Wolnik, Maciej (GE Vernova)</dc:creator>
  <cp:lastModifiedBy>Cahill, James (GE Vernova)</cp:lastModifiedBy>
  <cp:revision>1</cp:revision>
  <dcterms:created xsi:type="dcterms:W3CDTF">2025-12-10T03:05:11Z</dcterms:created>
  <dcterms:modified xsi:type="dcterms:W3CDTF">2026-06-01T08:14:02Z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2025-12-10T03:06:43Z</vt:filetime>
  </property>
  <property fmtid="{D5CDD505-2E9C-101B-9397-08002B2CF9AE}" pid="4" name="ContentTypeId">
    <vt:lpwstr>0x010100AABA2F64D6E2C740A2EFD32F6136F44B</vt:lpwstr>
  </property>
</Properties>
</file>