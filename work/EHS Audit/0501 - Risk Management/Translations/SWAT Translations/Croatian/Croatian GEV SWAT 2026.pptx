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F3E794-EDB6-442A-8283-94B44146ABC2}" v="1" dt="2026-06-01T09:23:07.26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552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hill, James (GE Vernova)" userId="eede20a1-ac63-4a00-9247-850300c20ccf" providerId="ADAL" clId="{0862BB37-7CBB-4C6D-A04F-E4F4485C14A6}"/>
    <pc:docChg chg="addSld modSld">
      <pc:chgData name="Cahill, James (GE Vernova)" userId="eede20a1-ac63-4a00-9247-850300c20ccf" providerId="ADAL" clId="{0862BB37-7CBB-4C6D-A04F-E4F4485C14A6}" dt="2026-06-01T09:23:07.259" v="0"/>
      <pc:docMkLst>
        <pc:docMk/>
      </pc:docMkLst>
      <pc:sldChg chg="add">
        <pc:chgData name="Cahill, James (GE Vernova)" userId="eede20a1-ac63-4a00-9247-850300c20ccf" providerId="ADAL" clId="{0862BB37-7CBB-4C6D-A04F-E4F4485C14A6}" dt="2026-06-01T09:23:07.259" v="0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7778" y="331439"/>
            <a:ext cx="3031490" cy="82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9000" y="2453208"/>
            <a:ext cx="3293109" cy="4837221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459"/>
              </a:spcBef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Rad u blizini (Susjedni rad)</a:t>
            </a:r>
            <a:endParaRPr sz="1150" dirty="0">
              <a:latin typeface="Inter"/>
              <a:cs typeface="Inter"/>
            </a:endParaRPr>
          </a:p>
          <a:p>
            <a:pPr marL="220345" marR="927735">
              <a:lnSpc>
                <a:spcPct val="100000"/>
              </a:lnSpc>
            </a:pPr>
            <a:r>
              <a:rPr lang="hr-HR" sz="1150" spc="-10" dirty="0">
                <a:solidFill>
                  <a:srgbClr val="006060"/>
                </a:solidFill>
                <a:latin typeface="Inter"/>
                <a:cs typeface="Inter"/>
              </a:rPr>
              <a:t>Pozicioniranje tijela/Ergonomija 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Opekline/Požar/Vrući rad Nedostatak komunikacije</a:t>
            </a:r>
            <a:endParaRPr lang="hr-HR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27735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Pad predmeta</a:t>
            </a:r>
            <a:r>
              <a:rPr sz="11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endParaRPr lang="hr-HR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27735">
              <a:lnSpc>
                <a:spcPct val="100000"/>
              </a:lnSpc>
            </a:pPr>
            <a:r>
              <a:rPr lang="hr-HR" sz="1150" spc="-10" dirty="0">
                <a:solidFill>
                  <a:srgbClr val="006060"/>
                </a:solidFill>
                <a:latin typeface="Inter"/>
                <a:cs typeface="Inter"/>
              </a:rPr>
              <a:t>Prašina</a:t>
            </a:r>
            <a:r>
              <a:rPr sz="1150" spc="-10" dirty="0">
                <a:solidFill>
                  <a:srgbClr val="006060"/>
                </a:solidFill>
                <a:latin typeface="Inter"/>
                <a:cs typeface="Inter"/>
              </a:rPr>
              <a:t>/</a:t>
            </a:r>
            <a:r>
              <a:rPr lang="hr-HR" sz="1150" spc="-10" dirty="0">
                <a:solidFill>
                  <a:srgbClr val="006060"/>
                </a:solidFill>
                <a:latin typeface="Inter"/>
                <a:cs typeface="Inter"/>
              </a:rPr>
              <a:t>Dimovi</a:t>
            </a:r>
            <a:r>
              <a:rPr sz="1150" spc="-10" dirty="0">
                <a:solidFill>
                  <a:srgbClr val="006060"/>
                </a:solidFill>
                <a:latin typeface="Inter"/>
                <a:cs typeface="Inter"/>
              </a:rPr>
              <a:t>/</a:t>
            </a:r>
            <a:r>
              <a:rPr lang="hr-HR" sz="1150" spc="-10" dirty="0">
                <a:solidFill>
                  <a:srgbClr val="006060"/>
                </a:solidFill>
                <a:latin typeface="Inter"/>
                <a:cs typeface="Inter"/>
              </a:rPr>
              <a:t>Plinovi</a:t>
            </a:r>
            <a:endParaRPr sz="1150" dirty="0">
              <a:latin typeface="Inter"/>
              <a:cs typeface="Inter"/>
            </a:endParaRPr>
          </a:p>
          <a:p>
            <a:pPr marL="220345" marR="1326515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Električni udar</a:t>
            </a:r>
            <a:r>
              <a:rPr sz="11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hr-HR" sz="1150" spc="-10" dirty="0">
                <a:solidFill>
                  <a:srgbClr val="006060"/>
                </a:solidFill>
                <a:latin typeface="Inter"/>
                <a:cs typeface="Inter"/>
              </a:rPr>
              <a:t>Okoliš/Vremenske prilike 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Pad s visine</a:t>
            </a:r>
            <a:endParaRPr sz="1150" dirty="0"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Teško ručno dizanje</a:t>
            </a:r>
          </a:p>
          <a:p>
            <a:pPr marL="220345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Vodik</a:t>
            </a:r>
            <a:endParaRPr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Opasnosti industrijske higijene (Amonijak, Azbest, </a:t>
            </a:r>
            <a:r>
              <a:rPr lang="hr-HR" sz="1150" dirty="0" err="1">
                <a:solidFill>
                  <a:srgbClr val="006060"/>
                </a:solidFill>
                <a:latin typeface="Inter"/>
                <a:cs typeface="Inter"/>
              </a:rPr>
              <a:t>Heksavalentni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 Krom, Olovo)</a:t>
            </a:r>
          </a:p>
          <a:p>
            <a:pPr marL="220345" marR="123189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Buka </a:t>
            </a:r>
          </a:p>
          <a:p>
            <a:pPr marL="220345" marR="123189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Točke uklještenja</a:t>
            </a:r>
          </a:p>
          <a:p>
            <a:pPr marL="220345" marR="123189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Električni</a:t>
            </a:r>
            <a:r>
              <a:rPr lang="it-IT" sz="1150" dirty="0">
                <a:solidFill>
                  <a:srgbClr val="006060"/>
                </a:solidFill>
                <a:latin typeface="Inter"/>
                <a:cs typeface="Inter"/>
              </a:rPr>
              <a:t> alati i 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hidraulični</a:t>
            </a:r>
            <a:r>
              <a:rPr lang="it-IT" sz="1150" dirty="0">
                <a:solidFill>
                  <a:srgbClr val="006060"/>
                </a:solidFill>
                <a:latin typeface="Inter"/>
                <a:cs typeface="Inter"/>
              </a:rPr>
              <a:t> alati</a:t>
            </a:r>
            <a:endParaRPr lang="hr-HR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Ograničeni radni prostori </a:t>
            </a:r>
          </a:p>
          <a:p>
            <a:pPr marL="220345" marR="123189">
              <a:lnSpc>
                <a:spcPct val="100000"/>
              </a:lnSpc>
            </a:pPr>
            <a:r>
              <a:rPr lang="hr-HR" sz="1150" dirty="0" err="1">
                <a:solidFill>
                  <a:srgbClr val="006060"/>
                </a:solidFill>
                <a:latin typeface="Inter"/>
                <a:cs typeface="Inter"/>
              </a:rPr>
              <a:t>Poskliznuća</a:t>
            </a: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 Spoticanja Padovi</a:t>
            </a:r>
            <a:r>
              <a:rPr sz="11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endParaRPr lang="hr-HR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hr-HR" sz="1150" spc="-10" dirty="0">
                <a:solidFill>
                  <a:srgbClr val="006060"/>
                </a:solidFill>
                <a:latin typeface="Inter"/>
                <a:cs typeface="Inter"/>
              </a:rPr>
              <a:t>Radijacija</a:t>
            </a:r>
            <a:r>
              <a:rPr sz="11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endParaRPr lang="hr-HR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Nepravilno vezanje tereta</a:t>
            </a:r>
            <a:endParaRPr sz="1150" dirty="0">
              <a:latin typeface="Inter"/>
              <a:cs typeface="Inter"/>
            </a:endParaRPr>
          </a:p>
          <a:p>
            <a:pPr marL="220345" marR="1591945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Rotirajuća oprema</a:t>
            </a:r>
          </a:p>
          <a:p>
            <a:pPr marL="220345" marR="1591945"/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Oštri predmeti </a:t>
            </a:r>
          </a:p>
          <a:p>
            <a:pPr marL="220345" marR="1591945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Udari predmeta</a:t>
            </a:r>
          </a:p>
          <a:p>
            <a:pPr marL="220345" marR="1591945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Kvar alata</a:t>
            </a:r>
            <a:endParaRPr sz="1150" dirty="0"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r>
              <a:rPr lang="hr-HR" sz="1150" dirty="0">
                <a:solidFill>
                  <a:srgbClr val="006060"/>
                </a:solidFill>
                <a:latin typeface="Inter"/>
                <a:cs typeface="Inter"/>
              </a:rPr>
              <a:t>Ostalo (navedite)</a:t>
            </a:r>
          </a:p>
          <a:p>
            <a:pPr marL="220345">
              <a:lnSpc>
                <a:spcPct val="100000"/>
              </a:lnSpc>
            </a:pPr>
            <a:endParaRPr lang="hr-HR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>
              <a:lnSpc>
                <a:spcPct val="100000"/>
              </a:lnSpc>
            </a:pPr>
            <a:endParaRPr sz="1150" dirty="0">
              <a:latin typeface="Inter"/>
              <a:cs typeface="Inter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97234" y="7230106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4896371" y="7055790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4896371" y="6882458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429000" y="2122632"/>
            <a:ext cx="2133600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hr-HR" sz="1900" b="1" dirty="0">
                <a:solidFill>
                  <a:srgbClr val="006060"/>
                </a:solidFill>
                <a:latin typeface="Inter"/>
                <a:cs typeface="Inter"/>
              </a:rPr>
              <a:t>Ostale opasnosti</a:t>
            </a:r>
            <a:endParaRPr sz="1900" b="1" dirty="0">
              <a:latin typeface="Inter"/>
              <a:cs typeface="Inter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437777" y="331439"/>
            <a:ext cx="3174999" cy="82137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algn="ctr">
              <a:lnSpc>
                <a:spcPts val="2900"/>
              </a:lnSpc>
              <a:spcBef>
                <a:spcPts val="605"/>
              </a:spcBef>
            </a:pPr>
            <a:r>
              <a:rPr lang="pl-PL" b="1" spc="50" dirty="0"/>
              <a:t>Alat za procjenu početka rada</a:t>
            </a:r>
            <a:endParaRPr lang="pl-PL" b="1" spc="-20" dirty="0"/>
          </a:p>
        </p:txBody>
      </p:sp>
      <p:sp>
        <p:nvSpPr>
          <p:cNvPr id="10" name="object 10"/>
          <p:cNvSpPr/>
          <p:nvPr/>
        </p:nvSpPr>
        <p:spPr>
          <a:xfrm>
            <a:off x="6851739" y="211731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6857875" y="1928632"/>
            <a:ext cx="16765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Supervizor/Voditelj zadatka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1739" y="254544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6857875" y="2356761"/>
            <a:ext cx="16003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000" dirty="0">
                <a:solidFill>
                  <a:srgbClr val="231F20"/>
                </a:solidFill>
                <a:latin typeface="Inter"/>
                <a:cs typeface="Inter"/>
              </a:rPr>
              <a:t>Auditor (Opcionalno):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57874" y="5071386"/>
            <a:ext cx="16003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000" dirty="0">
                <a:solidFill>
                  <a:srgbClr val="231F20"/>
                </a:solidFill>
                <a:latin typeface="Inter"/>
                <a:cs typeface="Inter"/>
              </a:rPr>
              <a:t>Upotrijebljene kemikalije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845375" y="5253532"/>
          <a:ext cx="3073400" cy="56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570466"/>
              </p:ext>
            </p:extLst>
          </p:nvPr>
        </p:nvGraphicFramePr>
        <p:xfrm>
          <a:off x="6847154" y="3112566"/>
          <a:ext cx="3076575" cy="189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4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2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3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4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5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6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7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8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9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10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839029" y="2937290"/>
            <a:ext cx="77406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Sudionici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82000" y="2784890"/>
            <a:ext cx="154377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Ime Kolege (</a:t>
            </a:r>
            <a:r>
              <a:rPr lang="hr-HR" sz="1000" i="1" spc="-10" dirty="0">
                <a:solidFill>
                  <a:srgbClr val="231F20"/>
                </a:solidFill>
                <a:latin typeface="Inter"/>
                <a:cs typeface="Inter"/>
              </a:rPr>
              <a:t>Buddy</a:t>
            </a: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)/Mentora/</a:t>
            </a:r>
            <a:r>
              <a:rPr lang="hr-HR" sz="1000" spc="-10" dirty="0" err="1">
                <a:solidFill>
                  <a:srgbClr val="231F20"/>
                </a:solidFill>
                <a:latin typeface="Inter"/>
                <a:cs typeface="Inter"/>
              </a:rPr>
              <a:t>Mentija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692610"/>
              </p:ext>
            </p:extLst>
          </p:nvPr>
        </p:nvGraphicFramePr>
        <p:xfrm>
          <a:off x="6845389" y="158838"/>
          <a:ext cx="3072129" cy="1713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hr-HR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Zborno mjesto okupljanja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r-HR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Hitna pomoć</a:t>
                      </a:r>
                      <a:r>
                        <a:rPr sz="1000" spc="-6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#: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r-HR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Naziv radilišta/Lokacija/Postrojenje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r-HR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Dozvola za rad 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#: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r-HR"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Datum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r-HR"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Vrijeme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r-HR"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Smjena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r-HR"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Dnevna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r-HR"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Srednja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r-HR"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Noćna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883237" y="5879978"/>
            <a:ext cx="72985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000" dirty="0">
                <a:solidFill>
                  <a:srgbClr val="231F20"/>
                </a:solidFill>
                <a:latin typeface="Inter"/>
                <a:cs typeface="Inter"/>
              </a:rPr>
              <a:t>Zatvaranje</a:t>
            </a:r>
            <a:r>
              <a:rPr sz="1000" spc="-2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55891" y="6068517"/>
            <a:ext cx="3074035" cy="1539240"/>
          </a:xfrm>
          <a:custGeom>
            <a:avLst/>
            <a:gdLst/>
            <a:ahLst/>
            <a:cxnLst/>
            <a:rect l="l" t="t" r="r" b="b"/>
            <a:pathLst>
              <a:path w="3074034" h="1539240">
                <a:moveTo>
                  <a:pt x="3073971" y="1538693"/>
                </a:moveTo>
                <a:lnTo>
                  <a:pt x="0" y="1538693"/>
                </a:lnTo>
                <a:lnTo>
                  <a:pt x="0" y="0"/>
                </a:lnTo>
                <a:lnTo>
                  <a:pt x="3073971" y="0"/>
                </a:lnTo>
                <a:lnTo>
                  <a:pt x="3073971" y="1538693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6895975" y="6058427"/>
            <a:ext cx="17868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Zatvara Supervizor 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(</a:t>
            </a: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Odjava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)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5975" y="6449907"/>
            <a:ext cx="2755900" cy="1005840"/>
          </a:xfrm>
          <a:custGeom>
            <a:avLst/>
            <a:gdLst/>
            <a:ahLst/>
            <a:cxnLst/>
            <a:rect l="l" t="t" r="r" b="b"/>
            <a:pathLst>
              <a:path w="2755900" h="1005840">
                <a:moveTo>
                  <a:pt x="0" y="0"/>
                </a:moveTo>
                <a:lnTo>
                  <a:pt x="2755392" y="0"/>
                </a:lnTo>
              </a:path>
              <a:path w="2755900" h="1005840">
                <a:moveTo>
                  <a:pt x="0" y="1005836"/>
                </a:moveTo>
                <a:lnTo>
                  <a:pt x="2755392" y="1005836"/>
                </a:lnTo>
              </a:path>
            </a:pathLst>
          </a:custGeom>
          <a:ln w="15875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6895975" y="6607069"/>
            <a:ext cx="1725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pl-PL" sz="1000" dirty="0">
                <a:solidFill>
                  <a:srgbClr val="231F20"/>
                </a:solidFill>
                <a:latin typeface="Inter"/>
                <a:cs typeface="Inter"/>
              </a:rPr>
              <a:t>Je li zadatak dovršen?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pl-PL" sz="1000" dirty="0">
                <a:solidFill>
                  <a:srgbClr val="231F20"/>
                </a:solidFill>
                <a:latin typeface="Inter"/>
                <a:cs typeface="Inter"/>
              </a:rPr>
              <a:t>Je li bilo EHS događaja?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57410" y="6607069"/>
            <a:ext cx="4851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29845">
              <a:lnSpc>
                <a:spcPct val="100000"/>
              </a:lnSpc>
              <a:spcBef>
                <a:spcPts val="100"/>
              </a:spcBef>
            </a:pP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Da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/N</a:t>
            </a: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e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  Da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/N</a:t>
            </a: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e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95975" y="7064269"/>
            <a:ext cx="26290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pl-PL" sz="1000" dirty="0">
                <a:solidFill>
                  <a:srgbClr val="231F20"/>
                </a:solidFill>
                <a:latin typeface="Inter"/>
                <a:cs typeface="Inter"/>
              </a:rPr>
              <a:t>Ako da, tko je obaviješten i u koje vrijeme?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18512" y="7602718"/>
            <a:ext cx="10439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000" spc="-10" dirty="0">
                <a:solidFill>
                  <a:srgbClr val="231F20"/>
                </a:solidFill>
                <a:latin typeface="Inter"/>
                <a:cs typeface="Inter"/>
              </a:rPr>
              <a:t>Revizija</a:t>
            </a:r>
            <a:r>
              <a:rPr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202</a:t>
            </a:r>
            <a:r>
              <a:rPr lang="hr-HR" sz="1000" spc="-10">
                <a:solidFill>
                  <a:srgbClr val="231F20"/>
                </a:solidFill>
                <a:latin typeface="Inter"/>
                <a:cs typeface="Inter"/>
              </a:rPr>
              <a:t>6</a:t>
            </a:r>
            <a:r>
              <a:rPr sz="1000" spc="-10">
                <a:solidFill>
                  <a:srgbClr val="231F20"/>
                </a:solidFill>
                <a:latin typeface="Inter"/>
                <a:cs typeface="Inter"/>
              </a:rPr>
              <a:t>.01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470" y="1750363"/>
            <a:ext cx="3195915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hr-HR" b="1" dirty="0">
                <a:solidFill>
                  <a:srgbClr val="006060"/>
                </a:solidFill>
                <a:latin typeface="Inter"/>
                <a:cs typeface="Inter"/>
              </a:rPr>
              <a:t>Pravila koja spašavaju živote</a:t>
            </a:r>
            <a:endParaRPr lang="hr-HR" b="1" dirty="0">
              <a:latin typeface="Inter"/>
              <a:cs typeface="Inter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1168" y="2082495"/>
            <a:ext cx="3037840" cy="5000728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895985">
              <a:lnSpc>
                <a:spcPts val="1400"/>
              </a:lnSpc>
              <a:spcBef>
                <a:spcPts val="775"/>
              </a:spcBef>
            </a:pPr>
            <a:r>
              <a:rPr lang="hr-HR" sz="1200" spc="-10" dirty="0">
                <a:solidFill>
                  <a:srgbClr val="006060"/>
                </a:solidFill>
                <a:latin typeface="Inter"/>
                <a:cs typeface="Inter"/>
              </a:rPr>
              <a:t>Mehaničko podizanje </a:t>
            </a:r>
            <a:endParaRPr lang="en-US"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hr-HR" sz="800" dirty="0">
                <a:solidFill>
                  <a:srgbClr val="010202"/>
                </a:solidFill>
                <a:latin typeface="Inter"/>
                <a:cs typeface="Inter"/>
              </a:rPr>
              <a:t>Planirajte podizanje, kontrolirajte područje i držite se podalje od pokretnih i podignutih tereta </a:t>
            </a:r>
            <a:endParaRPr lang="hr-HR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925"/>
              </a:spcBef>
            </a:pPr>
            <a:r>
              <a:rPr lang="hr-HR" sz="1200" dirty="0">
                <a:solidFill>
                  <a:srgbClr val="006060"/>
                </a:solidFill>
                <a:latin typeface="Inter"/>
                <a:cs typeface="Inter"/>
              </a:rPr>
              <a:t>Rad na visini</a:t>
            </a:r>
            <a:endParaRPr lang="hr-HR"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hr-HR" sz="800" dirty="0">
                <a:solidFill>
                  <a:srgbClr val="010202"/>
                </a:solidFill>
                <a:latin typeface="Inter"/>
                <a:cs typeface="Inter"/>
              </a:rPr>
              <a:t>Procijeniti, spriječiti i zaštititi od pada s visine</a:t>
            </a: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hr-HR" sz="1200" dirty="0">
                <a:solidFill>
                  <a:srgbClr val="006060"/>
                </a:solidFill>
                <a:latin typeface="Inter"/>
                <a:cs typeface="Inter"/>
              </a:rPr>
              <a:t>Sigurnost vožnje 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hr-HR" sz="800" dirty="0">
                <a:solidFill>
                  <a:srgbClr val="010202"/>
                </a:solidFill>
                <a:latin typeface="Inter"/>
                <a:cs typeface="Inter"/>
              </a:rPr>
              <a:t>Planirajte svoje putovanje, usredotočite se na vožnju i budite oprezni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endParaRPr lang="en-US"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5"/>
              </a:spcBef>
            </a:pPr>
            <a:r>
              <a:rPr lang="hr-HR" sz="1200" spc="-20" dirty="0">
                <a:solidFill>
                  <a:srgbClr val="006060"/>
                </a:solidFill>
                <a:latin typeface="Inter"/>
                <a:cs typeface="Inter"/>
              </a:rPr>
              <a:t>Opasno područje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hr-HR" sz="800" dirty="0">
                <a:solidFill>
                  <a:srgbClr val="010202"/>
                </a:solidFill>
                <a:latin typeface="Inter"/>
                <a:cs typeface="Inter"/>
              </a:rPr>
              <a:t>Držite sebe i druge izvan opasnog područja </a:t>
            </a:r>
          </a:p>
          <a:p>
            <a:pPr marL="895985">
              <a:lnSpc>
                <a:spcPts val="919"/>
              </a:lnSpc>
            </a:pP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5"/>
              </a:spcBef>
            </a:pPr>
            <a:r>
              <a:rPr lang="hr-HR" sz="1200" dirty="0">
                <a:solidFill>
                  <a:srgbClr val="006060"/>
                </a:solidFill>
                <a:latin typeface="Inter"/>
                <a:cs typeface="Inter"/>
              </a:rPr>
              <a:t>Dozvola za rad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hr-HR" sz="800" dirty="0">
                <a:solidFill>
                  <a:srgbClr val="010202"/>
                </a:solidFill>
                <a:latin typeface="Inter"/>
                <a:cs typeface="Inter"/>
              </a:rPr>
              <a:t>Procijenite rizik, primijenite kontrole i pribavite dozvolu prije početka rada</a:t>
            </a: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hr-HR" sz="1200" dirty="0">
                <a:solidFill>
                  <a:srgbClr val="006060"/>
                </a:solidFill>
                <a:latin typeface="Inter"/>
                <a:cs typeface="Inter"/>
              </a:rPr>
              <a:t>Skučeni prostor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hr-HR" sz="800" dirty="0">
                <a:solidFill>
                  <a:srgbClr val="010202"/>
                </a:solidFill>
                <a:latin typeface="Inter"/>
                <a:cs typeface="Inter"/>
              </a:rPr>
              <a:t>Procijenite rizik, kontrolirajte opasnosti i pribavite dozvolu za skučeni prostor </a:t>
            </a: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hr-HR" sz="1200" spc="-10" dirty="0">
                <a:solidFill>
                  <a:srgbClr val="006060"/>
                </a:solidFill>
                <a:latin typeface="Inter"/>
                <a:cs typeface="Inter"/>
              </a:rPr>
              <a:t>Izolacija energije 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hr-HR" sz="800" dirty="0">
                <a:solidFill>
                  <a:srgbClr val="010202"/>
                </a:solidFill>
                <a:latin typeface="Inter"/>
                <a:cs typeface="Inter"/>
              </a:rPr>
              <a:t>Izolirajte i potvrdite odsutnost energije prije početka rada</a:t>
            </a:r>
            <a:endParaRPr lang="en-US"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hr-HR" sz="1200" dirty="0">
                <a:solidFill>
                  <a:srgbClr val="006060"/>
                </a:solidFill>
                <a:latin typeface="Inter"/>
                <a:cs typeface="Inter"/>
              </a:rPr>
              <a:t>Oprema pod naponom 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hr-HR" sz="800" dirty="0">
                <a:solidFill>
                  <a:srgbClr val="010202"/>
                </a:solidFill>
                <a:latin typeface="Inter"/>
                <a:cs typeface="Inter"/>
              </a:rPr>
              <a:t>Primijenite kontrole i ispunite zahtjeve za ograničenje pristupa</a:t>
            </a:r>
            <a:endParaRPr sz="800" dirty="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hr-HR" sz="1200" dirty="0">
                <a:solidFill>
                  <a:srgbClr val="006060"/>
                </a:solidFill>
                <a:latin typeface="Inter"/>
                <a:cs typeface="Inter"/>
              </a:rPr>
              <a:t>Požar i eksplozija 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hr-HR" sz="800" dirty="0">
                <a:solidFill>
                  <a:srgbClr val="010202"/>
                </a:solidFill>
                <a:latin typeface="Inter"/>
                <a:cs typeface="Inter"/>
              </a:rPr>
              <a:t>Kontrolirajte izvore zapaljenja i eliminirajte opasnost od požara i eksplozije </a:t>
            </a:r>
            <a:r>
              <a:rPr sz="800" dirty="0">
                <a:solidFill>
                  <a:srgbClr val="010202"/>
                </a:solidFill>
                <a:latin typeface="Inter"/>
                <a:cs typeface="Inter"/>
              </a:rPr>
              <a:t> </a:t>
            </a:r>
            <a:endParaRPr lang="hr-HR" sz="800" dirty="0">
              <a:solidFill>
                <a:srgbClr val="010202"/>
              </a:solidFill>
              <a:latin typeface="Inter"/>
              <a:cs typeface="Inter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7323226"/>
            <a:ext cx="6722109" cy="449580"/>
          </a:xfrm>
          <a:custGeom>
            <a:avLst/>
            <a:gdLst/>
            <a:ahLst/>
            <a:cxnLst/>
            <a:rect l="l" t="t" r="r" b="b"/>
            <a:pathLst>
              <a:path w="6722109" h="449579">
                <a:moveTo>
                  <a:pt x="6721525" y="0"/>
                </a:moveTo>
                <a:lnTo>
                  <a:pt x="0" y="0"/>
                </a:lnTo>
                <a:lnTo>
                  <a:pt x="0" y="449173"/>
                </a:lnTo>
                <a:lnTo>
                  <a:pt x="6721525" y="449173"/>
                </a:lnTo>
                <a:lnTo>
                  <a:pt x="6721525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31514" y="7413388"/>
            <a:ext cx="6396355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hr-HR" sz="1200" dirty="0">
                <a:solidFill>
                  <a:srgbClr val="231F20"/>
                </a:solidFill>
                <a:latin typeface="Inter"/>
                <a:cs typeface="Inter"/>
              </a:rPr>
              <a:t>RAD ZAPOČINJEMO </a:t>
            </a:r>
            <a:r>
              <a:rPr lang="hr-HR" sz="1200" dirty="0">
                <a:solidFill>
                  <a:srgbClr val="006060"/>
                </a:solidFill>
                <a:latin typeface="Inter"/>
                <a:cs typeface="Inter"/>
              </a:rPr>
              <a:t>SAMO </a:t>
            </a:r>
            <a:r>
              <a:rPr lang="hr-HR" sz="1200" dirty="0">
                <a:solidFill>
                  <a:srgbClr val="231F20"/>
                </a:solidFill>
                <a:latin typeface="Inter"/>
                <a:cs typeface="Inter"/>
              </a:rPr>
              <a:t>AKO JE TO SIGURNO UČINITI, </a:t>
            </a:r>
            <a:r>
              <a:rPr sz="1200" dirty="0">
                <a:solidFill>
                  <a:srgbClr val="231F20"/>
                </a:solidFill>
                <a:latin typeface="Inter"/>
                <a:cs typeface="Inter"/>
              </a:rPr>
              <a:t>A</a:t>
            </a:r>
            <a:r>
              <a:rPr sz="1200" spc="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hr-HR" sz="1200" spc="5" dirty="0">
                <a:solidFill>
                  <a:srgbClr val="006060"/>
                </a:solidFill>
                <a:latin typeface="Inter"/>
                <a:cs typeface="Inter"/>
              </a:rPr>
              <a:t>ZAUSTAVLJAMO </a:t>
            </a:r>
            <a:r>
              <a:rPr lang="hr-HR" sz="1200" dirty="0">
                <a:solidFill>
                  <a:srgbClr val="231F20"/>
                </a:solidFill>
                <a:latin typeface="Inter"/>
                <a:cs typeface="Inter"/>
              </a:rPr>
              <a:t>AKO NIJE</a:t>
            </a:r>
            <a:r>
              <a:rPr sz="1200" spc="-20" dirty="0">
                <a:solidFill>
                  <a:srgbClr val="231F20"/>
                </a:solidFill>
                <a:latin typeface="Inter"/>
                <a:cs typeface="Inter"/>
              </a:rPr>
              <a:t>.</a:t>
            </a:r>
            <a:endParaRPr sz="1200" dirty="0">
              <a:latin typeface="Inter"/>
              <a:cs typeface="Inter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10622" y="255776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510965" y="273331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11296" y="290888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11638" y="308443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11981" y="325998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12324" y="343554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12667" y="361110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13010" y="378665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13353" y="396220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513683" y="413777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10622" y="430837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14712" y="466444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15055" y="483999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15398" y="501554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15728" y="519109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516071" y="536666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516414" y="554221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516757" y="571776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517100" y="589333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517442" y="606888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80149" y="235743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0149" y="291693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0149" y="347643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80149" y="403593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80149" y="459543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80149" y="515491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80149" y="571441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80149" y="627391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80149" y="683341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5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118" y="539657"/>
            <a:ext cx="2057400" cy="453389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13414" y="2210879"/>
            <a:ext cx="387350" cy="387350"/>
            <a:chOff x="513414" y="2210879"/>
            <a:chExt cx="387350" cy="387350"/>
          </a:xfrm>
        </p:grpSpPr>
        <p:sp>
          <p:nvSpPr>
            <p:cNvPr id="63" name="object 63"/>
            <p:cNvSpPr/>
            <p:nvPr/>
          </p:nvSpPr>
          <p:spPr>
            <a:xfrm>
              <a:off x="513414" y="2210879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708" y="2250104"/>
              <a:ext cx="242432" cy="286224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513414" y="6110668"/>
            <a:ext cx="387350" cy="387350"/>
            <a:chOff x="513414" y="6110668"/>
            <a:chExt cx="387350" cy="387350"/>
          </a:xfrm>
        </p:grpSpPr>
        <p:sp>
          <p:nvSpPr>
            <p:cNvPr id="66" name="object 66"/>
            <p:cNvSpPr/>
            <p:nvPr/>
          </p:nvSpPr>
          <p:spPr>
            <a:xfrm>
              <a:off x="513414" y="611066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4275" y="6162000"/>
              <a:ext cx="105410" cy="297815"/>
            </a:xfrm>
            <a:custGeom>
              <a:avLst/>
              <a:gdLst/>
              <a:ahLst/>
              <a:cxnLst/>
              <a:rect l="l" t="t" r="r" b="b"/>
              <a:pathLst>
                <a:path w="105409" h="297814">
                  <a:moveTo>
                    <a:pt x="103198" y="0"/>
                  </a:moveTo>
                  <a:lnTo>
                    <a:pt x="51331" y="0"/>
                  </a:lnTo>
                  <a:lnTo>
                    <a:pt x="50162" y="838"/>
                  </a:lnTo>
                  <a:lnTo>
                    <a:pt x="49747" y="2108"/>
                  </a:lnTo>
                  <a:lnTo>
                    <a:pt x="0" y="148716"/>
                  </a:lnTo>
                  <a:lnTo>
                    <a:pt x="48" y="150088"/>
                  </a:lnTo>
                  <a:lnTo>
                    <a:pt x="1191" y="151676"/>
                  </a:lnTo>
                  <a:lnTo>
                    <a:pt x="2118" y="152158"/>
                  </a:lnTo>
                  <a:lnTo>
                    <a:pt x="49070" y="152158"/>
                  </a:lnTo>
                  <a:lnTo>
                    <a:pt x="18679" y="294106"/>
                  </a:lnTo>
                  <a:lnTo>
                    <a:pt x="18438" y="295554"/>
                  </a:lnTo>
                  <a:lnTo>
                    <a:pt x="19321" y="297052"/>
                  </a:lnTo>
                  <a:lnTo>
                    <a:pt x="19493" y="297052"/>
                  </a:lnTo>
                  <a:lnTo>
                    <a:pt x="21156" y="297637"/>
                  </a:lnTo>
                  <a:lnTo>
                    <a:pt x="22794" y="297637"/>
                  </a:lnTo>
                  <a:lnTo>
                    <a:pt x="23823" y="297052"/>
                  </a:lnTo>
                  <a:lnTo>
                    <a:pt x="24356" y="296087"/>
                  </a:lnTo>
                  <a:lnTo>
                    <a:pt x="31915" y="279768"/>
                  </a:lnTo>
                  <a:lnTo>
                    <a:pt x="27023" y="279768"/>
                  </a:lnTo>
                  <a:lnTo>
                    <a:pt x="55550" y="150088"/>
                  </a:lnTo>
                  <a:lnTo>
                    <a:pt x="55662" y="149580"/>
                  </a:lnTo>
                  <a:lnTo>
                    <a:pt x="55753" y="149059"/>
                  </a:lnTo>
                  <a:lnTo>
                    <a:pt x="55814" y="148716"/>
                  </a:lnTo>
                  <a:lnTo>
                    <a:pt x="55560" y="147815"/>
                  </a:lnTo>
                  <a:lnTo>
                    <a:pt x="54404" y="146443"/>
                  </a:lnTo>
                  <a:lnTo>
                    <a:pt x="53553" y="146049"/>
                  </a:lnTo>
                  <a:lnTo>
                    <a:pt x="7338" y="146049"/>
                  </a:lnTo>
                  <a:lnTo>
                    <a:pt x="54849" y="6108"/>
                  </a:lnTo>
                  <a:lnTo>
                    <a:pt x="104345" y="6108"/>
                  </a:lnTo>
                  <a:lnTo>
                    <a:pt x="105407" y="3162"/>
                  </a:lnTo>
                  <a:lnTo>
                    <a:pt x="105268" y="2108"/>
                  </a:lnTo>
                  <a:lnTo>
                    <a:pt x="104137" y="482"/>
                  </a:lnTo>
                  <a:lnTo>
                    <a:pt x="103198" y="0"/>
                  </a:lnTo>
                  <a:close/>
                </a:path>
                <a:path w="105409" h="297814">
                  <a:moveTo>
                    <a:pt x="104345" y="6108"/>
                  </a:moveTo>
                  <a:lnTo>
                    <a:pt x="97838" y="6108"/>
                  </a:lnTo>
                  <a:lnTo>
                    <a:pt x="56691" y="120180"/>
                  </a:lnTo>
                  <a:lnTo>
                    <a:pt x="56652" y="121716"/>
                  </a:lnTo>
                  <a:lnTo>
                    <a:pt x="57795" y="123355"/>
                  </a:lnTo>
                  <a:lnTo>
                    <a:pt x="58735" y="123837"/>
                  </a:lnTo>
                  <a:lnTo>
                    <a:pt x="96898" y="123837"/>
                  </a:lnTo>
                  <a:lnTo>
                    <a:pt x="27023" y="279768"/>
                  </a:lnTo>
                  <a:lnTo>
                    <a:pt x="31915" y="279768"/>
                  </a:lnTo>
                  <a:lnTo>
                    <a:pt x="104849" y="122313"/>
                  </a:lnTo>
                  <a:lnTo>
                    <a:pt x="105395" y="121335"/>
                  </a:lnTo>
                  <a:lnTo>
                    <a:pt x="105382" y="120180"/>
                  </a:lnTo>
                  <a:lnTo>
                    <a:pt x="104290" y="118313"/>
                  </a:lnTo>
                  <a:lnTo>
                    <a:pt x="103287" y="117728"/>
                  </a:lnTo>
                  <a:lnTo>
                    <a:pt x="64094" y="117728"/>
                  </a:lnTo>
                  <a:lnTo>
                    <a:pt x="104345" y="6108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13414" y="4995050"/>
            <a:ext cx="387350" cy="387350"/>
            <a:chOff x="513414" y="4995050"/>
            <a:chExt cx="387350" cy="387350"/>
          </a:xfrm>
        </p:grpSpPr>
        <p:sp>
          <p:nvSpPr>
            <p:cNvPr id="69" name="object 69"/>
            <p:cNvSpPr/>
            <p:nvPr/>
          </p:nvSpPr>
          <p:spPr>
            <a:xfrm>
              <a:off x="513414" y="499505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407" y="5068285"/>
              <a:ext cx="243687" cy="24367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513414" y="4439677"/>
            <a:ext cx="387350" cy="387350"/>
            <a:chOff x="513414" y="4439677"/>
            <a:chExt cx="387350" cy="387350"/>
          </a:xfrm>
        </p:grpSpPr>
        <p:sp>
          <p:nvSpPr>
            <p:cNvPr id="72" name="object 72"/>
            <p:cNvSpPr/>
            <p:nvPr/>
          </p:nvSpPr>
          <p:spPr>
            <a:xfrm>
              <a:off x="513414" y="4439677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4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49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4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437" y="4517636"/>
              <a:ext cx="224193" cy="235737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513414" y="2745891"/>
            <a:ext cx="387350" cy="387350"/>
            <a:chOff x="513414" y="2745891"/>
            <a:chExt cx="387350" cy="387350"/>
          </a:xfrm>
        </p:grpSpPr>
        <p:sp>
          <p:nvSpPr>
            <p:cNvPr id="75" name="object 75"/>
            <p:cNvSpPr/>
            <p:nvPr/>
          </p:nvSpPr>
          <p:spPr>
            <a:xfrm>
              <a:off x="513414" y="2745891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75995" y="2801581"/>
              <a:ext cx="248920" cy="267970"/>
            </a:xfrm>
            <a:custGeom>
              <a:avLst/>
              <a:gdLst/>
              <a:ahLst/>
              <a:cxnLst/>
              <a:rect l="l" t="t" r="r" b="b"/>
              <a:pathLst>
                <a:path w="248919" h="267969">
                  <a:moveTo>
                    <a:pt x="74650" y="59347"/>
                  </a:moveTo>
                  <a:lnTo>
                    <a:pt x="71666" y="55676"/>
                  </a:lnTo>
                  <a:lnTo>
                    <a:pt x="69062" y="52463"/>
                  </a:lnTo>
                  <a:lnTo>
                    <a:pt x="68834" y="52412"/>
                  </a:lnTo>
                  <a:lnTo>
                    <a:pt x="68834" y="60998"/>
                  </a:lnTo>
                  <a:lnTo>
                    <a:pt x="68834" y="74053"/>
                  </a:lnTo>
                  <a:lnTo>
                    <a:pt x="63525" y="79375"/>
                  </a:lnTo>
                  <a:lnTo>
                    <a:pt x="50469" y="79375"/>
                  </a:lnTo>
                  <a:lnTo>
                    <a:pt x="45161" y="74053"/>
                  </a:lnTo>
                  <a:lnTo>
                    <a:pt x="45161" y="60998"/>
                  </a:lnTo>
                  <a:lnTo>
                    <a:pt x="50469" y="55676"/>
                  </a:lnTo>
                  <a:lnTo>
                    <a:pt x="63525" y="55676"/>
                  </a:lnTo>
                  <a:lnTo>
                    <a:pt x="68834" y="60998"/>
                  </a:lnTo>
                  <a:lnTo>
                    <a:pt x="68834" y="52412"/>
                  </a:lnTo>
                  <a:lnTo>
                    <a:pt x="61518" y="50457"/>
                  </a:lnTo>
                  <a:lnTo>
                    <a:pt x="61518" y="1079"/>
                  </a:lnTo>
                  <a:lnTo>
                    <a:pt x="60439" y="0"/>
                  </a:lnTo>
                  <a:lnTo>
                    <a:pt x="57759" y="0"/>
                  </a:lnTo>
                  <a:lnTo>
                    <a:pt x="56680" y="1079"/>
                  </a:lnTo>
                  <a:lnTo>
                    <a:pt x="56680" y="49872"/>
                  </a:lnTo>
                  <a:lnTo>
                    <a:pt x="47091" y="50050"/>
                  </a:lnTo>
                  <a:lnTo>
                    <a:pt x="39344" y="57899"/>
                  </a:lnTo>
                  <a:lnTo>
                    <a:pt x="39344" y="77266"/>
                  </a:lnTo>
                  <a:lnTo>
                    <a:pt x="47269" y="85178"/>
                  </a:lnTo>
                  <a:lnTo>
                    <a:pt x="66725" y="85178"/>
                  </a:lnTo>
                  <a:lnTo>
                    <a:pt x="72542" y="79375"/>
                  </a:lnTo>
                  <a:lnTo>
                    <a:pt x="74650" y="77266"/>
                  </a:lnTo>
                  <a:lnTo>
                    <a:pt x="74650" y="59347"/>
                  </a:lnTo>
                  <a:close/>
                </a:path>
                <a:path w="248919" h="267969">
                  <a:moveTo>
                    <a:pt x="127635" y="249313"/>
                  </a:moveTo>
                  <a:lnTo>
                    <a:pt x="123723" y="249313"/>
                  </a:lnTo>
                  <a:lnTo>
                    <a:pt x="123710" y="249440"/>
                  </a:lnTo>
                  <a:lnTo>
                    <a:pt x="127622" y="249440"/>
                  </a:lnTo>
                  <a:lnTo>
                    <a:pt x="127635" y="249313"/>
                  </a:lnTo>
                  <a:close/>
                </a:path>
                <a:path w="248919" h="267969">
                  <a:moveTo>
                    <a:pt x="133451" y="249440"/>
                  </a:moveTo>
                  <a:lnTo>
                    <a:pt x="127622" y="249440"/>
                  </a:lnTo>
                  <a:lnTo>
                    <a:pt x="126542" y="261937"/>
                  </a:lnTo>
                  <a:lnTo>
                    <a:pt x="122631" y="261937"/>
                  </a:lnTo>
                  <a:lnTo>
                    <a:pt x="123583" y="250977"/>
                  </a:lnTo>
                  <a:lnTo>
                    <a:pt x="123647" y="250202"/>
                  </a:lnTo>
                  <a:lnTo>
                    <a:pt x="123710" y="249440"/>
                  </a:lnTo>
                  <a:lnTo>
                    <a:pt x="117868" y="249440"/>
                  </a:lnTo>
                  <a:lnTo>
                    <a:pt x="116560" y="264591"/>
                  </a:lnTo>
                  <a:lnTo>
                    <a:pt x="116497" y="265404"/>
                  </a:lnTo>
                  <a:lnTo>
                    <a:pt x="116763" y="266204"/>
                  </a:lnTo>
                  <a:lnTo>
                    <a:pt x="117868" y="267411"/>
                  </a:lnTo>
                  <a:lnTo>
                    <a:pt x="118643" y="267741"/>
                  </a:lnTo>
                  <a:lnTo>
                    <a:pt x="130708" y="267741"/>
                  </a:lnTo>
                  <a:lnTo>
                    <a:pt x="131965" y="266598"/>
                  </a:lnTo>
                  <a:lnTo>
                    <a:pt x="132372" y="261937"/>
                  </a:lnTo>
                  <a:lnTo>
                    <a:pt x="133324" y="250977"/>
                  </a:lnTo>
                  <a:lnTo>
                    <a:pt x="133388" y="250202"/>
                  </a:lnTo>
                  <a:lnTo>
                    <a:pt x="133451" y="249440"/>
                  </a:lnTo>
                  <a:close/>
                </a:path>
                <a:path w="248919" h="267969">
                  <a:moveTo>
                    <a:pt x="231838" y="249440"/>
                  </a:moveTo>
                  <a:lnTo>
                    <a:pt x="231825" y="249313"/>
                  </a:lnTo>
                  <a:lnTo>
                    <a:pt x="133464" y="249313"/>
                  </a:lnTo>
                  <a:lnTo>
                    <a:pt x="133451" y="249440"/>
                  </a:lnTo>
                  <a:lnTo>
                    <a:pt x="231838" y="249440"/>
                  </a:lnTo>
                  <a:close/>
                </a:path>
                <a:path w="248919" h="267969">
                  <a:moveTo>
                    <a:pt x="241579" y="249440"/>
                  </a:moveTo>
                  <a:lnTo>
                    <a:pt x="241566" y="249313"/>
                  </a:lnTo>
                  <a:lnTo>
                    <a:pt x="237655" y="249313"/>
                  </a:lnTo>
                  <a:lnTo>
                    <a:pt x="237667" y="249440"/>
                  </a:lnTo>
                  <a:lnTo>
                    <a:pt x="241579" y="249440"/>
                  </a:lnTo>
                  <a:close/>
                </a:path>
                <a:path w="248919" h="267969">
                  <a:moveTo>
                    <a:pt x="247408" y="249313"/>
                  </a:moveTo>
                  <a:lnTo>
                    <a:pt x="226390" y="6299"/>
                  </a:lnTo>
                  <a:lnTo>
                    <a:pt x="226148" y="3632"/>
                  </a:lnTo>
                  <a:lnTo>
                    <a:pt x="226085" y="2832"/>
                  </a:lnTo>
                  <a:lnTo>
                    <a:pt x="225983" y="1638"/>
                  </a:lnTo>
                  <a:lnTo>
                    <a:pt x="224726" y="482"/>
                  </a:lnTo>
                  <a:lnTo>
                    <a:pt x="215138" y="482"/>
                  </a:lnTo>
                  <a:lnTo>
                    <a:pt x="215138" y="56375"/>
                  </a:lnTo>
                  <a:lnTo>
                    <a:pt x="150152" y="56375"/>
                  </a:lnTo>
                  <a:lnTo>
                    <a:pt x="150685" y="50165"/>
                  </a:lnTo>
                  <a:lnTo>
                    <a:pt x="214604" y="50165"/>
                  </a:lnTo>
                  <a:lnTo>
                    <a:pt x="215138" y="56375"/>
                  </a:lnTo>
                  <a:lnTo>
                    <a:pt x="215138" y="482"/>
                  </a:lnTo>
                  <a:lnTo>
                    <a:pt x="212661" y="482"/>
                  </a:lnTo>
                  <a:lnTo>
                    <a:pt x="211874" y="825"/>
                  </a:lnTo>
                  <a:lnTo>
                    <a:pt x="210781" y="2019"/>
                  </a:lnTo>
                  <a:lnTo>
                    <a:pt x="210502" y="2832"/>
                  </a:lnTo>
                  <a:lnTo>
                    <a:pt x="214185" y="45326"/>
                  </a:lnTo>
                  <a:lnTo>
                    <a:pt x="151104" y="45326"/>
                  </a:lnTo>
                  <a:lnTo>
                    <a:pt x="154482" y="6299"/>
                  </a:lnTo>
                  <a:lnTo>
                    <a:pt x="154711" y="3632"/>
                  </a:lnTo>
                  <a:lnTo>
                    <a:pt x="154787" y="2832"/>
                  </a:lnTo>
                  <a:lnTo>
                    <a:pt x="154508" y="2019"/>
                  </a:lnTo>
                  <a:lnTo>
                    <a:pt x="153403" y="825"/>
                  </a:lnTo>
                  <a:lnTo>
                    <a:pt x="152628" y="482"/>
                  </a:lnTo>
                  <a:lnTo>
                    <a:pt x="140563" y="482"/>
                  </a:lnTo>
                  <a:lnTo>
                    <a:pt x="139306" y="1638"/>
                  </a:lnTo>
                  <a:lnTo>
                    <a:pt x="129794" y="111645"/>
                  </a:lnTo>
                  <a:lnTo>
                    <a:pt x="129692" y="112814"/>
                  </a:lnTo>
                  <a:lnTo>
                    <a:pt x="129578" y="114147"/>
                  </a:lnTo>
                  <a:lnTo>
                    <a:pt x="129476" y="115303"/>
                  </a:lnTo>
                  <a:lnTo>
                    <a:pt x="128790" y="114973"/>
                  </a:lnTo>
                  <a:lnTo>
                    <a:pt x="128790" y="123164"/>
                  </a:lnTo>
                  <a:lnTo>
                    <a:pt x="128587" y="125514"/>
                  </a:lnTo>
                  <a:lnTo>
                    <a:pt x="128485" y="126123"/>
                  </a:lnTo>
                  <a:lnTo>
                    <a:pt x="127838" y="128447"/>
                  </a:lnTo>
                  <a:lnTo>
                    <a:pt x="127101" y="128447"/>
                  </a:lnTo>
                  <a:lnTo>
                    <a:pt x="126047" y="128587"/>
                  </a:lnTo>
                  <a:lnTo>
                    <a:pt x="79946" y="128587"/>
                  </a:lnTo>
                  <a:lnTo>
                    <a:pt x="79641" y="128447"/>
                  </a:lnTo>
                  <a:lnTo>
                    <a:pt x="79387" y="128447"/>
                  </a:lnTo>
                  <a:lnTo>
                    <a:pt x="77965" y="126822"/>
                  </a:lnTo>
                  <a:lnTo>
                    <a:pt x="70891" y="118719"/>
                  </a:lnTo>
                  <a:lnTo>
                    <a:pt x="70535" y="117754"/>
                  </a:lnTo>
                  <a:lnTo>
                    <a:pt x="70535" y="104432"/>
                  </a:lnTo>
                  <a:lnTo>
                    <a:pt x="84226" y="119634"/>
                  </a:lnTo>
                  <a:lnTo>
                    <a:pt x="85026" y="119989"/>
                  </a:lnTo>
                  <a:lnTo>
                    <a:pt x="127939" y="119989"/>
                  </a:lnTo>
                  <a:lnTo>
                    <a:pt x="128536" y="121843"/>
                  </a:lnTo>
                  <a:lnTo>
                    <a:pt x="128625" y="122135"/>
                  </a:lnTo>
                  <a:lnTo>
                    <a:pt x="128689" y="122567"/>
                  </a:lnTo>
                  <a:lnTo>
                    <a:pt x="128790" y="123164"/>
                  </a:lnTo>
                  <a:lnTo>
                    <a:pt x="128790" y="114973"/>
                  </a:lnTo>
                  <a:lnTo>
                    <a:pt x="128320" y="114731"/>
                  </a:lnTo>
                  <a:lnTo>
                    <a:pt x="126936" y="114388"/>
                  </a:lnTo>
                  <a:lnTo>
                    <a:pt x="87363" y="114388"/>
                  </a:lnTo>
                  <a:lnTo>
                    <a:pt x="86817" y="114147"/>
                  </a:lnTo>
                  <a:lnTo>
                    <a:pt x="65138" y="92062"/>
                  </a:lnTo>
                  <a:lnTo>
                    <a:pt x="65138" y="100457"/>
                  </a:lnTo>
                  <a:lnTo>
                    <a:pt x="65138" y="146532"/>
                  </a:lnTo>
                  <a:lnTo>
                    <a:pt x="62039" y="146989"/>
                  </a:lnTo>
                  <a:lnTo>
                    <a:pt x="62039" y="152400"/>
                  </a:lnTo>
                  <a:lnTo>
                    <a:pt x="53898" y="160883"/>
                  </a:lnTo>
                  <a:lnTo>
                    <a:pt x="49987" y="158584"/>
                  </a:lnTo>
                  <a:lnTo>
                    <a:pt x="49987" y="166319"/>
                  </a:lnTo>
                  <a:lnTo>
                    <a:pt x="49974" y="241896"/>
                  </a:lnTo>
                  <a:lnTo>
                    <a:pt x="49669" y="245148"/>
                  </a:lnTo>
                  <a:lnTo>
                    <a:pt x="49606" y="245859"/>
                  </a:lnTo>
                  <a:lnTo>
                    <a:pt x="47104" y="249047"/>
                  </a:lnTo>
                  <a:lnTo>
                    <a:pt x="40779" y="250977"/>
                  </a:lnTo>
                  <a:lnTo>
                    <a:pt x="38277" y="250609"/>
                  </a:lnTo>
                  <a:lnTo>
                    <a:pt x="36880" y="249313"/>
                  </a:lnTo>
                  <a:lnTo>
                    <a:pt x="33858" y="246062"/>
                  </a:lnTo>
                  <a:lnTo>
                    <a:pt x="34061" y="243192"/>
                  </a:lnTo>
                  <a:lnTo>
                    <a:pt x="34163" y="241706"/>
                  </a:lnTo>
                  <a:lnTo>
                    <a:pt x="34239" y="156413"/>
                  </a:lnTo>
                  <a:lnTo>
                    <a:pt x="34810" y="156413"/>
                  </a:lnTo>
                  <a:lnTo>
                    <a:pt x="49707" y="165798"/>
                  </a:lnTo>
                  <a:lnTo>
                    <a:pt x="49987" y="166319"/>
                  </a:lnTo>
                  <a:lnTo>
                    <a:pt x="49987" y="158584"/>
                  </a:lnTo>
                  <a:lnTo>
                    <a:pt x="46304" y="156413"/>
                  </a:lnTo>
                  <a:lnTo>
                    <a:pt x="42468" y="154152"/>
                  </a:lnTo>
                  <a:lnTo>
                    <a:pt x="43700" y="154152"/>
                  </a:lnTo>
                  <a:lnTo>
                    <a:pt x="56908" y="153606"/>
                  </a:lnTo>
                  <a:lnTo>
                    <a:pt x="62039" y="152400"/>
                  </a:lnTo>
                  <a:lnTo>
                    <a:pt x="62039" y="146989"/>
                  </a:lnTo>
                  <a:lnTo>
                    <a:pt x="61963" y="111645"/>
                  </a:lnTo>
                  <a:lnTo>
                    <a:pt x="61963" y="105956"/>
                  </a:lnTo>
                  <a:lnTo>
                    <a:pt x="61963" y="97078"/>
                  </a:lnTo>
                  <a:lnTo>
                    <a:pt x="65138" y="100457"/>
                  </a:lnTo>
                  <a:lnTo>
                    <a:pt x="65138" y="92062"/>
                  </a:lnTo>
                  <a:lnTo>
                    <a:pt x="62153" y="89090"/>
                  </a:lnTo>
                  <a:lnTo>
                    <a:pt x="60274" y="88315"/>
                  </a:lnTo>
                  <a:lnTo>
                    <a:pt x="56896" y="88315"/>
                  </a:lnTo>
                  <a:lnTo>
                    <a:pt x="56896" y="93421"/>
                  </a:lnTo>
                  <a:lnTo>
                    <a:pt x="56896" y="105956"/>
                  </a:lnTo>
                  <a:lnTo>
                    <a:pt x="56896" y="111645"/>
                  </a:lnTo>
                  <a:lnTo>
                    <a:pt x="56896" y="147447"/>
                  </a:lnTo>
                  <a:lnTo>
                    <a:pt x="42748" y="148348"/>
                  </a:lnTo>
                  <a:lnTo>
                    <a:pt x="42748" y="111645"/>
                  </a:lnTo>
                  <a:lnTo>
                    <a:pt x="56896" y="111645"/>
                  </a:lnTo>
                  <a:lnTo>
                    <a:pt x="56896" y="105956"/>
                  </a:lnTo>
                  <a:lnTo>
                    <a:pt x="42748" y="105956"/>
                  </a:lnTo>
                  <a:lnTo>
                    <a:pt x="42748" y="96545"/>
                  </a:lnTo>
                  <a:lnTo>
                    <a:pt x="42748" y="93421"/>
                  </a:lnTo>
                  <a:lnTo>
                    <a:pt x="56896" y="93421"/>
                  </a:lnTo>
                  <a:lnTo>
                    <a:pt x="56896" y="88315"/>
                  </a:lnTo>
                  <a:lnTo>
                    <a:pt x="39725" y="88315"/>
                  </a:lnTo>
                  <a:lnTo>
                    <a:pt x="38468" y="88734"/>
                  </a:lnTo>
                  <a:lnTo>
                    <a:pt x="37706" y="89319"/>
                  </a:lnTo>
                  <a:lnTo>
                    <a:pt x="37706" y="96545"/>
                  </a:lnTo>
                  <a:lnTo>
                    <a:pt x="37706" y="148805"/>
                  </a:lnTo>
                  <a:lnTo>
                    <a:pt x="34239" y="148805"/>
                  </a:lnTo>
                  <a:lnTo>
                    <a:pt x="34239" y="122567"/>
                  </a:lnTo>
                  <a:lnTo>
                    <a:pt x="34239" y="113296"/>
                  </a:lnTo>
                  <a:lnTo>
                    <a:pt x="33947" y="112814"/>
                  </a:lnTo>
                  <a:lnTo>
                    <a:pt x="33096" y="112382"/>
                  </a:lnTo>
                  <a:lnTo>
                    <a:pt x="32435" y="112382"/>
                  </a:lnTo>
                  <a:lnTo>
                    <a:pt x="14643" y="125514"/>
                  </a:lnTo>
                  <a:lnTo>
                    <a:pt x="14325" y="126123"/>
                  </a:lnTo>
                  <a:lnTo>
                    <a:pt x="14262" y="163525"/>
                  </a:lnTo>
                  <a:lnTo>
                    <a:pt x="13462" y="167652"/>
                  </a:lnTo>
                  <a:lnTo>
                    <a:pt x="6311" y="167652"/>
                  </a:lnTo>
                  <a:lnTo>
                    <a:pt x="5816" y="164363"/>
                  </a:lnTo>
                  <a:lnTo>
                    <a:pt x="5816" y="121843"/>
                  </a:lnTo>
                  <a:lnTo>
                    <a:pt x="37706" y="96545"/>
                  </a:lnTo>
                  <a:lnTo>
                    <a:pt x="37706" y="89319"/>
                  </a:lnTo>
                  <a:lnTo>
                    <a:pt x="33921" y="92176"/>
                  </a:lnTo>
                  <a:lnTo>
                    <a:pt x="33921" y="13182"/>
                  </a:lnTo>
                  <a:lnTo>
                    <a:pt x="32829" y="12103"/>
                  </a:lnTo>
                  <a:lnTo>
                    <a:pt x="30162" y="12103"/>
                  </a:lnTo>
                  <a:lnTo>
                    <a:pt x="29070" y="13182"/>
                  </a:lnTo>
                  <a:lnTo>
                    <a:pt x="29070" y="95910"/>
                  </a:lnTo>
                  <a:lnTo>
                    <a:pt x="342" y="119100"/>
                  </a:lnTo>
                  <a:lnTo>
                    <a:pt x="139" y="119634"/>
                  </a:lnTo>
                  <a:lnTo>
                    <a:pt x="114" y="164363"/>
                  </a:lnTo>
                  <a:lnTo>
                    <a:pt x="0" y="169049"/>
                  </a:lnTo>
                  <a:lnTo>
                    <a:pt x="4419" y="172618"/>
                  </a:lnTo>
                  <a:lnTo>
                    <a:pt x="12738" y="173672"/>
                  </a:lnTo>
                  <a:lnTo>
                    <a:pt x="18122" y="171564"/>
                  </a:lnTo>
                  <a:lnTo>
                    <a:pt x="19024" y="167652"/>
                  </a:lnTo>
                  <a:lnTo>
                    <a:pt x="19786" y="164363"/>
                  </a:lnTo>
                  <a:lnTo>
                    <a:pt x="19900" y="146532"/>
                  </a:lnTo>
                  <a:lnTo>
                    <a:pt x="20015" y="128587"/>
                  </a:lnTo>
                  <a:lnTo>
                    <a:pt x="20091" y="128447"/>
                  </a:lnTo>
                  <a:lnTo>
                    <a:pt x="28638" y="122567"/>
                  </a:lnTo>
                  <a:lnTo>
                    <a:pt x="28575" y="214388"/>
                  </a:lnTo>
                  <a:lnTo>
                    <a:pt x="28460" y="245148"/>
                  </a:lnTo>
                  <a:lnTo>
                    <a:pt x="28359" y="248335"/>
                  </a:lnTo>
                  <a:lnTo>
                    <a:pt x="34493" y="255016"/>
                  </a:lnTo>
                  <a:lnTo>
                    <a:pt x="37503" y="256235"/>
                  </a:lnTo>
                  <a:lnTo>
                    <a:pt x="42303" y="256235"/>
                  </a:lnTo>
                  <a:lnTo>
                    <a:pt x="55575" y="168402"/>
                  </a:lnTo>
                  <a:lnTo>
                    <a:pt x="82664" y="191516"/>
                  </a:lnTo>
                  <a:lnTo>
                    <a:pt x="82778" y="191998"/>
                  </a:lnTo>
                  <a:lnTo>
                    <a:pt x="70700" y="223532"/>
                  </a:lnTo>
                  <a:lnTo>
                    <a:pt x="68630" y="228561"/>
                  </a:lnTo>
                  <a:lnTo>
                    <a:pt x="68529" y="230593"/>
                  </a:lnTo>
                  <a:lnTo>
                    <a:pt x="68427" y="232613"/>
                  </a:lnTo>
                  <a:lnTo>
                    <a:pt x="68364" y="234086"/>
                  </a:lnTo>
                  <a:lnTo>
                    <a:pt x="68262" y="236029"/>
                  </a:lnTo>
                  <a:lnTo>
                    <a:pt x="68173" y="237934"/>
                  </a:lnTo>
                  <a:lnTo>
                    <a:pt x="75577" y="243192"/>
                  </a:lnTo>
                  <a:lnTo>
                    <a:pt x="78397" y="245148"/>
                  </a:lnTo>
                  <a:lnTo>
                    <a:pt x="82461" y="245694"/>
                  </a:lnTo>
                  <a:lnTo>
                    <a:pt x="90728" y="243192"/>
                  </a:lnTo>
                  <a:lnTo>
                    <a:pt x="94132" y="239890"/>
                  </a:lnTo>
                  <a:lnTo>
                    <a:pt x="111975" y="195427"/>
                  </a:lnTo>
                  <a:lnTo>
                    <a:pt x="113931" y="190906"/>
                  </a:lnTo>
                  <a:lnTo>
                    <a:pt x="115265" y="180860"/>
                  </a:lnTo>
                  <a:lnTo>
                    <a:pt x="110578" y="177495"/>
                  </a:lnTo>
                  <a:lnTo>
                    <a:pt x="110578" y="184378"/>
                  </a:lnTo>
                  <a:lnTo>
                    <a:pt x="107022" y="192798"/>
                  </a:lnTo>
                  <a:lnTo>
                    <a:pt x="106857" y="193154"/>
                  </a:lnTo>
                  <a:lnTo>
                    <a:pt x="91059" y="232613"/>
                  </a:lnTo>
                  <a:lnTo>
                    <a:pt x="89662" y="236029"/>
                  </a:lnTo>
                  <a:lnTo>
                    <a:pt x="87363" y="238417"/>
                  </a:lnTo>
                  <a:lnTo>
                    <a:pt x="87210" y="238417"/>
                  </a:lnTo>
                  <a:lnTo>
                    <a:pt x="82664" y="239890"/>
                  </a:lnTo>
                  <a:lnTo>
                    <a:pt x="80441" y="239598"/>
                  </a:lnTo>
                  <a:lnTo>
                    <a:pt x="78524" y="238417"/>
                  </a:lnTo>
                  <a:lnTo>
                    <a:pt x="72720" y="234086"/>
                  </a:lnTo>
                  <a:lnTo>
                    <a:pt x="75844" y="225755"/>
                  </a:lnTo>
                  <a:lnTo>
                    <a:pt x="89331" y="190550"/>
                  </a:lnTo>
                  <a:lnTo>
                    <a:pt x="89103" y="189661"/>
                  </a:lnTo>
                  <a:lnTo>
                    <a:pt x="64071" y="168402"/>
                  </a:lnTo>
                  <a:lnTo>
                    <a:pt x="58775" y="163906"/>
                  </a:lnTo>
                  <a:lnTo>
                    <a:pt x="59016" y="163525"/>
                  </a:lnTo>
                  <a:lnTo>
                    <a:pt x="61417" y="160883"/>
                  </a:lnTo>
                  <a:lnTo>
                    <a:pt x="68465" y="153123"/>
                  </a:lnTo>
                  <a:lnTo>
                    <a:pt x="103301" y="179158"/>
                  </a:lnTo>
                  <a:lnTo>
                    <a:pt x="110578" y="184378"/>
                  </a:lnTo>
                  <a:lnTo>
                    <a:pt x="110578" y="177495"/>
                  </a:lnTo>
                  <a:lnTo>
                    <a:pt x="106616" y="174637"/>
                  </a:lnTo>
                  <a:lnTo>
                    <a:pt x="77825" y="153123"/>
                  </a:lnTo>
                  <a:lnTo>
                    <a:pt x="76860" y="152400"/>
                  </a:lnTo>
                  <a:lnTo>
                    <a:pt x="72047" y="148805"/>
                  </a:lnTo>
                  <a:lnTo>
                    <a:pt x="71437" y="148348"/>
                  </a:lnTo>
                  <a:lnTo>
                    <a:pt x="70535" y="147675"/>
                  </a:lnTo>
                  <a:lnTo>
                    <a:pt x="70535" y="146989"/>
                  </a:lnTo>
                  <a:lnTo>
                    <a:pt x="70535" y="126822"/>
                  </a:lnTo>
                  <a:lnTo>
                    <a:pt x="75577" y="132588"/>
                  </a:lnTo>
                  <a:lnTo>
                    <a:pt x="76771" y="133832"/>
                  </a:lnTo>
                  <a:lnTo>
                    <a:pt x="77647" y="134226"/>
                  </a:lnTo>
                  <a:lnTo>
                    <a:pt x="126644" y="134226"/>
                  </a:lnTo>
                  <a:lnTo>
                    <a:pt x="127876" y="133832"/>
                  </a:lnTo>
                  <a:lnTo>
                    <a:pt x="117970" y="248335"/>
                  </a:lnTo>
                  <a:lnTo>
                    <a:pt x="117881" y="249313"/>
                  </a:lnTo>
                  <a:lnTo>
                    <a:pt x="123723" y="249313"/>
                  </a:lnTo>
                  <a:lnTo>
                    <a:pt x="133680" y="134226"/>
                  </a:lnTo>
                  <a:lnTo>
                    <a:pt x="133705" y="133832"/>
                  </a:lnTo>
                  <a:lnTo>
                    <a:pt x="134150" y="128778"/>
                  </a:lnTo>
                  <a:lnTo>
                    <a:pt x="134162" y="128587"/>
                  </a:lnTo>
                  <a:lnTo>
                    <a:pt x="135318" y="115303"/>
                  </a:lnTo>
                  <a:lnTo>
                    <a:pt x="144741" y="6299"/>
                  </a:lnTo>
                  <a:lnTo>
                    <a:pt x="148653" y="6299"/>
                  </a:lnTo>
                  <a:lnTo>
                    <a:pt x="127723" y="248335"/>
                  </a:lnTo>
                  <a:lnTo>
                    <a:pt x="127635" y="249313"/>
                  </a:lnTo>
                  <a:lnTo>
                    <a:pt x="133464" y="249313"/>
                  </a:lnTo>
                  <a:lnTo>
                    <a:pt x="135089" y="230593"/>
                  </a:lnTo>
                  <a:lnTo>
                    <a:pt x="230200" y="230593"/>
                  </a:lnTo>
                  <a:lnTo>
                    <a:pt x="231736" y="248335"/>
                  </a:lnTo>
                  <a:lnTo>
                    <a:pt x="231825" y="249313"/>
                  </a:lnTo>
                  <a:lnTo>
                    <a:pt x="237655" y="249313"/>
                  </a:lnTo>
                  <a:lnTo>
                    <a:pt x="236042" y="230593"/>
                  </a:lnTo>
                  <a:lnTo>
                    <a:pt x="235623" y="225755"/>
                  </a:lnTo>
                  <a:lnTo>
                    <a:pt x="235089" y="219710"/>
                  </a:lnTo>
                  <a:lnTo>
                    <a:pt x="235051" y="219227"/>
                  </a:lnTo>
                  <a:lnTo>
                    <a:pt x="234670" y="214871"/>
                  </a:lnTo>
                  <a:lnTo>
                    <a:pt x="232270" y="187020"/>
                  </a:lnTo>
                  <a:lnTo>
                    <a:pt x="231851" y="182181"/>
                  </a:lnTo>
                  <a:lnTo>
                    <a:pt x="231330" y="176136"/>
                  </a:lnTo>
                  <a:lnTo>
                    <a:pt x="231279" y="175641"/>
                  </a:lnTo>
                  <a:lnTo>
                    <a:pt x="231190" y="174637"/>
                  </a:lnTo>
                  <a:lnTo>
                    <a:pt x="231114" y="173672"/>
                  </a:lnTo>
                  <a:lnTo>
                    <a:pt x="231025" y="172618"/>
                  </a:lnTo>
                  <a:lnTo>
                    <a:pt x="230911" y="171297"/>
                  </a:lnTo>
                  <a:lnTo>
                    <a:pt x="229781" y="158292"/>
                  </a:lnTo>
                  <a:lnTo>
                    <a:pt x="229781" y="225755"/>
                  </a:lnTo>
                  <a:lnTo>
                    <a:pt x="135496" y="225755"/>
                  </a:lnTo>
                  <a:lnTo>
                    <a:pt x="136029" y="219710"/>
                  </a:lnTo>
                  <a:lnTo>
                    <a:pt x="229222" y="219265"/>
                  </a:lnTo>
                  <a:lnTo>
                    <a:pt x="229768" y="225590"/>
                  </a:lnTo>
                  <a:lnTo>
                    <a:pt x="229781" y="225755"/>
                  </a:lnTo>
                  <a:lnTo>
                    <a:pt x="229781" y="158292"/>
                  </a:lnTo>
                  <a:lnTo>
                    <a:pt x="228803" y="147027"/>
                  </a:lnTo>
                  <a:lnTo>
                    <a:pt x="228803" y="214388"/>
                  </a:lnTo>
                  <a:lnTo>
                    <a:pt x="136448" y="214871"/>
                  </a:lnTo>
                  <a:lnTo>
                    <a:pt x="138849" y="187020"/>
                  </a:lnTo>
                  <a:lnTo>
                    <a:pt x="226441" y="187020"/>
                  </a:lnTo>
                  <a:lnTo>
                    <a:pt x="228803" y="214388"/>
                  </a:lnTo>
                  <a:lnTo>
                    <a:pt x="228803" y="147027"/>
                  </a:lnTo>
                  <a:lnTo>
                    <a:pt x="228498" y="143510"/>
                  </a:lnTo>
                  <a:lnTo>
                    <a:pt x="228092" y="138671"/>
                  </a:lnTo>
                  <a:lnTo>
                    <a:pt x="227698" y="134226"/>
                  </a:lnTo>
                  <a:lnTo>
                    <a:pt x="227672" y="133832"/>
                  </a:lnTo>
                  <a:lnTo>
                    <a:pt x="227558" y="132588"/>
                  </a:lnTo>
                  <a:lnTo>
                    <a:pt x="227533" y="132334"/>
                  </a:lnTo>
                  <a:lnTo>
                    <a:pt x="227228" y="128778"/>
                  </a:lnTo>
                  <a:lnTo>
                    <a:pt x="227139" y="127749"/>
                  </a:lnTo>
                  <a:lnTo>
                    <a:pt x="226021" y="114808"/>
                  </a:lnTo>
                  <a:lnTo>
                    <a:pt x="226021" y="182181"/>
                  </a:lnTo>
                  <a:lnTo>
                    <a:pt x="139268" y="182181"/>
                  </a:lnTo>
                  <a:lnTo>
                    <a:pt x="139788" y="176136"/>
                  </a:lnTo>
                  <a:lnTo>
                    <a:pt x="225450" y="175679"/>
                  </a:lnTo>
                  <a:lnTo>
                    <a:pt x="225907" y="180860"/>
                  </a:lnTo>
                  <a:lnTo>
                    <a:pt x="226021" y="182181"/>
                  </a:lnTo>
                  <a:lnTo>
                    <a:pt x="226021" y="114808"/>
                  </a:lnTo>
                  <a:lnTo>
                    <a:pt x="225031" y="103339"/>
                  </a:lnTo>
                  <a:lnTo>
                    <a:pt x="225031" y="170802"/>
                  </a:lnTo>
                  <a:lnTo>
                    <a:pt x="140208" y="171297"/>
                  </a:lnTo>
                  <a:lnTo>
                    <a:pt x="142621" y="143510"/>
                  </a:lnTo>
                  <a:lnTo>
                    <a:pt x="222669" y="143510"/>
                  </a:lnTo>
                  <a:lnTo>
                    <a:pt x="225031" y="170802"/>
                  </a:lnTo>
                  <a:lnTo>
                    <a:pt x="225031" y="103339"/>
                  </a:lnTo>
                  <a:lnTo>
                    <a:pt x="224942" y="102298"/>
                  </a:lnTo>
                  <a:lnTo>
                    <a:pt x="224523" y="97447"/>
                  </a:lnTo>
                  <a:lnTo>
                    <a:pt x="224167" y="93421"/>
                  </a:lnTo>
                  <a:lnTo>
                    <a:pt x="224066" y="92176"/>
                  </a:lnTo>
                  <a:lnTo>
                    <a:pt x="223951" y="90919"/>
                  </a:lnTo>
                  <a:lnTo>
                    <a:pt x="223583" y="86563"/>
                  </a:lnTo>
                  <a:lnTo>
                    <a:pt x="222250" y="71183"/>
                  </a:lnTo>
                  <a:lnTo>
                    <a:pt x="222250" y="138671"/>
                  </a:lnTo>
                  <a:lnTo>
                    <a:pt x="143040" y="138671"/>
                  </a:lnTo>
                  <a:lnTo>
                    <a:pt x="143421" y="134226"/>
                  </a:lnTo>
                  <a:lnTo>
                    <a:pt x="143459" y="133832"/>
                  </a:lnTo>
                  <a:lnTo>
                    <a:pt x="143560" y="132588"/>
                  </a:lnTo>
                  <a:lnTo>
                    <a:pt x="143586" y="132334"/>
                  </a:lnTo>
                  <a:lnTo>
                    <a:pt x="221729" y="132588"/>
                  </a:lnTo>
                  <a:lnTo>
                    <a:pt x="222250" y="138671"/>
                  </a:lnTo>
                  <a:lnTo>
                    <a:pt x="222250" y="71183"/>
                  </a:lnTo>
                  <a:lnTo>
                    <a:pt x="221386" y="61214"/>
                  </a:lnTo>
                  <a:lnTo>
                    <a:pt x="221310" y="60337"/>
                  </a:lnTo>
                  <a:lnTo>
                    <a:pt x="221310" y="127749"/>
                  </a:lnTo>
                  <a:lnTo>
                    <a:pt x="144005" y="127495"/>
                  </a:lnTo>
                  <a:lnTo>
                    <a:pt x="146177" y="102298"/>
                  </a:lnTo>
                  <a:lnTo>
                    <a:pt x="219113" y="102298"/>
                  </a:lnTo>
                  <a:lnTo>
                    <a:pt x="221119" y="125514"/>
                  </a:lnTo>
                  <a:lnTo>
                    <a:pt x="221234" y="126822"/>
                  </a:lnTo>
                  <a:lnTo>
                    <a:pt x="221310" y="127749"/>
                  </a:lnTo>
                  <a:lnTo>
                    <a:pt x="221310" y="60337"/>
                  </a:lnTo>
                  <a:lnTo>
                    <a:pt x="220967" y="56375"/>
                  </a:lnTo>
                  <a:lnTo>
                    <a:pt x="220433" y="50165"/>
                  </a:lnTo>
                  <a:lnTo>
                    <a:pt x="220014" y="45326"/>
                  </a:lnTo>
                  <a:lnTo>
                    <a:pt x="218694" y="30073"/>
                  </a:lnTo>
                  <a:lnTo>
                    <a:pt x="218694" y="97447"/>
                  </a:lnTo>
                  <a:lnTo>
                    <a:pt x="146596" y="97447"/>
                  </a:lnTo>
                  <a:lnTo>
                    <a:pt x="146939" y="93421"/>
                  </a:lnTo>
                  <a:lnTo>
                    <a:pt x="147053" y="92176"/>
                  </a:lnTo>
                  <a:lnTo>
                    <a:pt x="147116" y="91401"/>
                  </a:lnTo>
                  <a:lnTo>
                    <a:pt x="218122" y="90957"/>
                  </a:lnTo>
                  <a:lnTo>
                    <a:pt x="218503" y="95262"/>
                  </a:lnTo>
                  <a:lnTo>
                    <a:pt x="218617" y="96545"/>
                  </a:lnTo>
                  <a:lnTo>
                    <a:pt x="218694" y="97447"/>
                  </a:lnTo>
                  <a:lnTo>
                    <a:pt x="218694" y="30073"/>
                  </a:lnTo>
                  <a:lnTo>
                    <a:pt x="217703" y="18630"/>
                  </a:lnTo>
                  <a:lnTo>
                    <a:pt x="217703" y="86080"/>
                  </a:lnTo>
                  <a:lnTo>
                    <a:pt x="147535" y="86563"/>
                  </a:lnTo>
                  <a:lnTo>
                    <a:pt x="149733" y="61214"/>
                  </a:lnTo>
                  <a:lnTo>
                    <a:pt x="215557" y="61214"/>
                  </a:lnTo>
                  <a:lnTo>
                    <a:pt x="217703" y="86080"/>
                  </a:lnTo>
                  <a:lnTo>
                    <a:pt x="217703" y="18630"/>
                  </a:lnTo>
                  <a:lnTo>
                    <a:pt x="216636" y="6299"/>
                  </a:lnTo>
                  <a:lnTo>
                    <a:pt x="220548" y="6299"/>
                  </a:lnTo>
                  <a:lnTo>
                    <a:pt x="241477" y="248335"/>
                  </a:lnTo>
                  <a:lnTo>
                    <a:pt x="241566" y="249313"/>
                  </a:lnTo>
                  <a:lnTo>
                    <a:pt x="247408" y="249313"/>
                  </a:lnTo>
                  <a:close/>
                </a:path>
                <a:path w="248919" h="267969">
                  <a:moveTo>
                    <a:pt x="248793" y="265404"/>
                  </a:moveTo>
                  <a:lnTo>
                    <a:pt x="248500" y="261937"/>
                  </a:lnTo>
                  <a:lnTo>
                    <a:pt x="247548" y="250977"/>
                  </a:lnTo>
                  <a:lnTo>
                    <a:pt x="247484" y="250202"/>
                  </a:lnTo>
                  <a:lnTo>
                    <a:pt x="247421" y="249440"/>
                  </a:lnTo>
                  <a:lnTo>
                    <a:pt x="241579" y="249440"/>
                  </a:lnTo>
                  <a:lnTo>
                    <a:pt x="242658" y="261937"/>
                  </a:lnTo>
                  <a:lnTo>
                    <a:pt x="238747" y="261937"/>
                  </a:lnTo>
                  <a:lnTo>
                    <a:pt x="237794" y="250977"/>
                  </a:lnTo>
                  <a:lnTo>
                    <a:pt x="237731" y="250202"/>
                  </a:lnTo>
                  <a:lnTo>
                    <a:pt x="237667" y="249440"/>
                  </a:lnTo>
                  <a:lnTo>
                    <a:pt x="231838" y="249440"/>
                  </a:lnTo>
                  <a:lnTo>
                    <a:pt x="233146" y="264591"/>
                  </a:lnTo>
                  <a:lnTo>
                    <a:pt x="233222" y="265404"/>
                  </a:lnTo>
                  <a:lnTo>
                    <a:pt x="233324" y="266598"/>
                  </a:lnTo>
                  <a:lnTo>
                    <a:pt x="234569" y="267741"/>
                  </a:lnTo>
                  <a:lnTo>
                    <a:pt x="246646" y="267741"/>
                  </a:lnTo>
                  <a:lnTo>
                    <a:pt x="247421" y="267411"/>
                  </a:lnTo>
                  <a:lnTo>
                    <a:pt x="248526" y="266204"/>
                  </a:lnTo>
                  <a:lnTo>
                    <a:pt x="248793" y="265404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414" y="3324061"/>
            <a:ext cx="387337" cy="387350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513414" y="6666040"/>
            <a:ext cx="387350" cy="387350"/>
            <a:chOff x="513414" y="6666040"/>
            <a:chExt cx="387350" cy="387350"/>
          </a:xfrm>
        </p:grpSpPr>
        <p:sp>
          <p:nvSpPr>
            <p:cNvPr id="79" name="object 79"/>
            <p:cNvSpPr/>
            <p:nvPr/>
          </p:nvSpPr>
          <p:spPr>
            <a:xfrm>
              <a:off x="513414" y="666604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0288" y="6721023"/>
              <a:ext cx="217804" cy="271780"/>
            </a:xfrm>
            <a:custGeom>
              <a:avLst/>
              <a:gdLst/>
              <a:ahLst/>
              <a:cxnLst/>
              <a:rect l="l" t="t" r="r" b="b"/>
              <a:pathLst>
                <a:path w="217805" h="271779">
                  <a:moveTo>
                    <a:pt x="88321" y="0"/>
                  </a:moveTo>
                  <a:lnTo>
                    <a:pt x="87102" y="292"/>
                  </a:lnTo>
                  <a:lnTo>
                    <a:pt x="85502" y="1993"/>
                  </a:lnTo>
                  <a:lnTo>
                    <a:pt x="85298" y="3238"/>
                  </a:lnTo>
                  <a:lnTo>
                    <a:pt x="85768" y="4305"/>
                  </a:lnTo>
                  <a:lnTo>
                    <a:pt x="92350" y="26717"/>
                  </a:lnTo>
                  <a:lnTo>
                    <a:pt x="90783" y="44054"/>
                  </a:lnTo>
                  <a:lnTo>
                    <a:pt x="83366" y="58503"/>
                  </a:lnTo>
                  <a:lnTo>
                    <a:pt x="64501" y="81807"/>
                  </a:lnTo>
                  <a:lnTo>
                    <a:pt x="56963" y="92473"/>
                  </a:lnTo>
                  <a:lnTo>
                    <a:pt x="50623" y="104784"/>
                  </a:lnTo>
                  <a:lnTo>
                    <a:pt x="46322" y="119278"/>
                  </a:lnTo>
                  <a:lnTo>
                    <a:pt x="38596" y="112738"/>
                  </a:lnTo>
                  <a:lnTo>
                    <a:pt x="32824" y="106402"/>
                  </a:lnTo>
                  <a:lnTo>
                    <a:pt x="27374" y="98729"/>
                  </a:lnTo>
                  <a:lnTo>
                    <a:pt x="26383" y="98196"/>
                  </a:lnTo>
                  <a:lnTo>
                    <a:pt x="1667" y="158635"/>
                  </a:lnTo>
                  <a:lnTo>
                    <a:pt x="0" y="185179"/>
                  </a:lnTo>
                  <a:lnTo>
                    <a:pt x="4298" y="209664"/>
                  </a:lnTo>
                  <a:lnTo>
                    <a:pt x="24118" y="244460"/>
                  </a:lnTo>
                  <a:lnTo>
                    <a:pt x="59086" y="271081"/>
                  </a:lnTo>
                  <a:lnTo>
                    <a:pt x="61041" y="271195"/>
                  </a:lnTo>
                  <a:lnTo>
                    <a:pt x="62057" y="270624"/>
                  </a:lnTo>
                  <a:lnTo>
                    <a:pt x="63315" y="268211"/>
                  </a:lnTo>
                  <a:lnTo>
                    <a:pt x="62769" y="266458"/>
                  </a:lnTo>
                  <a:lnTo>
                    <a:pt x="46927" y="256941"/>
                  </a:lnTo>
                  <a:lnTo>
                    <a:pt x="32301" y="244667"/>
                  </a:lnTo>
                  <a:lnTo>
                    <a:pt x="19323" y="228470"/>
                  </a:lnTo>
                  <a:lnTo>
                    <a:pt x="9848" y="207937"/>
                  </a:lnTo>
                  <a:lnTo>
                    <a:pt x="5835" y="185464"/>
                  </a:lnTo>
                  <a:lnTo>
                    <a:pt x="7159" y="161061"/>
                  </a:lnTo>
                  <a:lnTo>
                    <a:pt x="13802" y="134810"/>
                  </a:lnTo>
                  <a:lnTo>
                    <a:pt x="25748" y="106794"/>
                  </a:lnTo>
                  <a:lnTo>
                    <a:pt x="29205" y="111176"/>
                  </a:lnTo>
                  <a:lnTo>
                    <a:pt x="33935" y="116325"/>
                  </a:lnTo>
                  <a:lnTo>
                    <a:pt x="39877" y="121674"/>
                  </a:lnTo>
                  <a:lnTo>
                    <a:pt x="47808" y="127165"/>
                  </a:lnTo>
                  <a:lnTo>
                    <a:pt x="48849" y="127215"/>
                  </a:lnTo>
                  <a:lnTo>
                    <a:pt x="50615" y="126364"/>
                  </a:lnTo>
                  <a:lnTo>
                    <a:pt x="51224" y="125526"/>
                  </a:lnTo>
                  <a:lnTo>
                    <a:pt x="54980" y="109563"/>
                  </a:lnTo>
                  <a:lnTo>
                    <a:pt x="60999" y="96974"/>
                  </a:lnTo>
                  <a:lnTo>
                    <a:pt x="68562" y="86036"/>
                  </a:lnTo>
                  <a:lnTo>
                    <a:pt x="87526" y="62649"/>
                  </a:lnTo>
                  <a:lnTo>
                    <a:pt x="95511" y="47998"/>
                  </a:lnTo>
                  <a:lnTo>
                    <a:pt x="98364" y="30419"/>
                  </a:lnTo>
                  <a:lnTo>
                    <a:pt x="93668" y="8280"/>
                  </a:lnTo>
                  <a:lnTo>
                    <a:pt x="104819" y="13516"/>
                  </a:lnTo>
                  <a:lnTo>
                    <a:pt x="140176" y="43829"/>
                  </a:lnTo>
                  <a:lnTo>
                    <a:pt x="147696" y="65985"/>
                  </a:lnTo>
                  <a:lnTo>
                    <a:pt x="146970" y="77635"/>
                  </a:lnTo>
                  <a:lnTo>
                    <a:pt x="144298" y="88565"/>
                  </a:lnTo>
                  <a:lnTo>
                    <a:pt x="141117" y="97069"/>
                  </a:lnTo>
                  <a:lnTo>
                    <a:pt x="137670" y="103834"/>
                  </a:lnTo>
                  <a:lnTo>
                    <a:pt x="126548" y="121767"/>
                  </a:lnTo>
                  <a:lnTo>
                    <a:pt x="125799" y="131394"/>
                  </a:lnTo>
                  <a:lnTo>
                    <a:pt x="157055" y="155824"/>
                  </a:lnTo>
                  <a:lnTo>
                    <a:pt x="166173" y="153620"/>
                  </a:lnTo>
                  <a:lnTo>
                    <a:pt x="173449" y="149148"/>
                  </a:lnTo>
                  <a:lnTo>
                    <a:pt x="179404" y="142206"/>
                  </a:lnTo>
                  <a:lnTo>
                    <a:pt x="183115" y="134708"/>
                  </a:lnTo>
                  <a:lnTo>
                    <a:pt x="184552" y="126821"/>
                  </a:lnTo>
                  <a:lnTo>
                    <a:pt x="183685" y="118706"/>
                  </a:lnTo>
                  <a:lnTo>
                    <a:pt x="191557" y="126789"/>
                  </a:lnTo>
                  <a:lnTo>
                    <a:pt x="199214" y="137810"/>
                  </a:lnTo>
                  <a:lnTo>
                    <a:pt x="205752" y="151475"/>
                  </a:lnTo>
                  <a:lnTo>
                    <a:pt x="210266" y="167487"/>
                  </a:lnTo>
                  <a:lnTo>
                    <a:pt x="211808" y="185504"/>
                  </a:lnTo>
                  <a:lnTo>
                    <a:pt x="208869" y="206686"/>
                  </a:lnTo>
                  <a:lnTo>
                    <a:pt x="199197" y="230048"/>
                  </a:lnTo>
                  <a:lnTo>
                    <a:pt x="180536" y="254609"/>
                  </a:lnTo>
                  <a:lnTo>
                    <a:pt x="179418" y="255765"/>
                  </a:lnTo>
                  <a:lnTo>
                    <a:pt x="179456" y="257606"/>
                  </a:lnTo>
                  <a:lnTo>
                    <a:pt x="181768" y="259829"/>
                  </a:lnTo>
                  <a:lnTo>
                    <a:pt x="183609" y="259803"/>
                  </a:lnTo>
                  <a:lnTo>
                    <a:pt x="184714" y="258648"/>
                  </a:lnTo>
                  <a:lnTo>
                    <a:pt x="204378" y="232721"/>
                  </a:lnTo>
                  <a:lnTo>
                    <a:pt x="214554" y="208000"/>
                  </a:lnTo>
                  <a:lnTo>
                    <a:pt x="217627" y="185546"/>
                  </a:lnTo>
                  <a:lnTo>
                    <a:pt x="215981" y="166420"/>
                  </a:lnTo>
                  <a:lnTo>
                    <a:pt x="200568" y="129036"/>
                  </a:lnTo>
                  <a:lnTo>
                    <a:pt x="177551" y="107962"/>
                  </a:lnTo>
                  <a:lnTo>
                    <a:pt x="176205" y="108229"/>
                  </a:lnTo>
                  <a:lnTo>
                    <a:pt x="174491" y="110083"/>
                  </a:lnTo>
                  <a:lnTo>
                    <a:pt x="174338" y="111467"/>
                  </a:lnTo>
                  <a:lnTo>
                    <a:pt x="174960" y="112560"/>
                  </a:lnTo>
                  <a:lnTo>
                    <a:pt x="178631" y="123375"/>
                  </a:lnTo>
                  <a:lnTo>
                    <a:pt x="156174" y="150110"/>
                  </a:lnTo>
                  <a:lnTo>
                    <a:pt x="148189" y="149900"/>
                  </a:lnTo>
                  <a:lnTo>
                    <a:pt x="140759" y="147675"/>
                  </a:lnTo>
                  <a:lnTo>
                    <a:pt x="136175" y="145465"/>
                  </a:lnTo>
                  <a:lnTo>
                    <a:pt x="130879" y="140931"/>
                  </a:lnTo>
                  <a:lnTo>
                    <a:pt x="132238" y="123647"/>
                  </a:lnTo>
                  <a:lnTo>
                    <a:pt x="142703" y="106737"/>
                  </a:lnTo>
                  <a:lnTo>
                    <a:pt x="146373" y="99537"/>
                  </a:lnTo>
                  <a:lnTo>
                    <a:pt x="149805" y="90406"/>
                  </a:lnTo>
                  <a:lnTo>
                    <a:pt x="152672" y="78714"/>
                  </a:lnTo>
                  <a:lnTo>
                    <a:pt x="153468" y="65722"/>
                  </a:lnTo>
                  <a:lnTo>
                    <a:pt x="150942" y="53057"/>
                  </a:lnTo>
                  <a:lnTo>
                    <a:pt x="126725" y="20812"/>
                  </a:lnTo>
                  <a:lnTo>
                    <a:pt x="103065" y="6131"/>
                  </a:lnTo>
                  <a:lnTo>
                    <a:pt x="88321" y="0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248" y="6882458"/>
              <a:ext cx="106410" cy="104305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3414" y="3881869"/>
            <a:ext cx="387337" cy="38735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3414" y="5552859"/>
            <a:ext cx="387337" cy="387350"/>
          </a:xfrm>
          <a:prstGeom prst="rect">
            <a:avLst/>
          </a:prstGeom>
        </p:spPr>
      </p:pic>
      <p:sp>
        <p:nvSpPr>
          <p:cNvPr id="84" name="object 42">
            <a:extLst>
              <a:ext uri="{FF2B5EF4-FFF2-40B4-BE49-F238E27FC236}">
                <a16:creationId xmlns:a16="http://schemas.microsoft.com/office/drawing/2014/main" id="{FC97645A-BBBD-9827-0B38-5F9F93D7910C}"/>
              </a:ext>
            </a:extLst>
          </p:cNvPr>
          <p:cNvSpPr/>
          <p:nvPr/>
        </p:nvSpPr>
        <p:spPr>
          <a:xfrm>
            <a:off x="3510622" y="448392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51">
            <a:extLst>
              <a:ext uri="{FF2B5EF4-FFF2-40B4-BE49-F238E27FC236}">
                <a16:creationId xmlns:a16="http://schemas.microsoft.com/office/drawing/2014/main" id="{3CEE2679-94FE-0C84-9AEC-3CA8DB5D5FDB}"/>
              </a:ext>
            </a:extLst>
          </p:cNvPr>
          <p:cNvSpPr/>
          <p:nvPr/>
        </p:nvSpPr>
        <p:spPr>
          <a:xfrm>
            <a:off x="3517099" y="623321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51">
            <a:extLst>
              <a:ext uri="{FF2B5EF4-FFF2-40B4-BE49-F238E27FC236}">
                <a16:creationId xmlns:a16="http://schemas.microsoft.com/office/drawing/2014/main" id="{BC9E257F-75A9-C760-7C01-62C773A3F1DF}"/>
              </a:ext>
            </a:extLst>
          </p:cNvPr>
          <p:cNvSpPr/>
          <p:nvPr/>
        </p:nvSpPr>
        <p:spPr>
          <a:xfrm>
            <a:off x="3517098" y="641451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51">
            <a:extLst>
              <a:ext uri="{FF2B5EF4-FFF2-40B4-BE49-F238E27FC236}">
                <a16:creationId xmlns:a16="http://schemas.microsoft.com/office/drawing/2014/main" id="{45A632F6-7031-56C4-4763-C58AEE2B4B0A}"/>
              </a:ext>
            </a:extLst>
          </p:cNvPr>
          <p:cNvSpPr/>
          <p:nvPr/>
        </p:nvSpPr>
        <p:spPr>
          <a:xfrm>
            <a:off x="3517098" y="658732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51">
            <a:extLst>
              <a:ext uri="{FF2B5EF4-FFF2-40B4-BE49-F238E27FC236}">
                <a16:creationId xmlns:a16="http://schemas.microsoft.com/office/drawing/2014/main" id="{D1BAE9D5-189F-2BFB-F7D6-765AF48D93CD}"/>
              </a:ext>
            </a:extLst>
          </p:cNvPr>
          <p:cNvSpPr/>
          <p:nvPr/>
        </p:nvSpPr>
        <p:spPr>
          <a:xfrm>
            <a:off x="3517098" y="676268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6559" y="545312"/>
          <a:ext cx="9188451" cy="6666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635147335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1052727384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3873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hr-HR" sz="1200" b="1" spc="-2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KOJI</a:t>
                      </a:r>
                      <a:r>
                        <a:rPr sz="1200" b="1" spc="-3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r-HR" sz="1200" b="1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je zadatak? </a:t>
                      </a:r>
                      <a:r>
                        <a:rPr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hr-HR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kratak opis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lang="hr-HR" sz="1200" dirty="0">
                        <a:latin typeface="Inter"/>
                        <a:cs typeface="Inter"/>
                      </a:endParaRP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hr-HR" sz="900" b="0" i="1" dirty="0">
                          <a:solidFill>
                            <a:srgbClr val="75757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npr.: Ukloniti kompresor na GT21; </a:t>
                      </a: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hr-HR" sz="900" b="0" i="1" dirty="0">
                          <a:solidFill>
                            <a:srgbClr val="75757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Odvrtanje vijaka HP kućišta</a:t>
                      </a:r>
                      <a:endParaRPr sz="900" b="0" dirty="0">
                        <a:latin typeface="Inter" panose="020B0502030000000004" pitchFamily="34" charset="0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hr-HR" sz="1200" b="1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KAKO</a:t>
                      </a:r>
                      <a:r>
                        <a:rPr sz="1200" b="1" spc="-15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r-HR" sz="1200" b="1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ću to napraviti</a:t>
                      </a:r>
                      <a:r>
                        <a:rPr sz="1200" b="1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sz="1200" b="1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hr-HR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pojedinosti zadatka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200" dirty="0">
                        <a:latin typeface="Inter"/>
                        <a:cs typeface="Inter"/>
                      </a:endParaRPr>
                    </a:p>
                    <a:p>
                      <a:pPr marL="194310">
                        <a:lnSpc>
                          <a:spcPts val="835"/>
                        </a:lnSpc>
                      </a:pPr>
                      <a:r>
                        <a:rPr lang="hr-HR" sz="900" b="0" i="1" dirty="0">
                          <a:solidFill>
                            <a:srgbClr val="757576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  <a:cs typeface="Inter" panose="020B0502030000000004" pitchFamily="34" charset="0"/>
                        </a:rPr>
                        <a:t>Razmotrite koji su izvori energije, neophodne vještine, dozvole, alati i oprema potrebni za obavljanje vašeg zadatka</a:t>
                      </a:r>
                      <a:endParaRPr sz="900" b="0" dirty="0">
                        <a:latin typeface="Inter" panose="020B0502030000000004" pitchFamily="34" charset="0"/>
                        <a:ea typeface="Inter" panose="020B0502030000000004" pitchFamily="34" charset="0"/>
                        <a:cs typeface="Inter" panose="020B0502030000000004" pitchFamily="34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 gridSpan="5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pl-PL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Vodeći dokumenti korišteni za ovaj zadatak 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hr-HR"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Zaokružite svaki upotrijebljeni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r>
                        <a:rPr sz="12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200" dirty="0">
                        <a:latin typeface="Inter"/>
                        <a:cs typeface="Inter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764155" marR="105410" indent="-2588260">
                        <a:lnSpc>
                          <a:spcPct val="37500"/>
                        </a:lnSpc>
                        <a:tabLst>
                          <a:tab pos="1221740" algn="l"/>
                          <a:tab pos="2080895" algn="l"/>
                          <a:tab pos="2764155" algn="l"/>
                          <a:tab pos="4801235" algn="l"/>
                          <a:tab pos="5621020" algn="l"/>
                          <a:tab pos="7188200" algn="l"/>
                          <a:tab pos="8375650" algn="l"/>
                        </a:tabLst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Procedure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Live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Outage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Drawing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5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Modification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Instruction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5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(FMI)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Lifting</a:t>
                      </a:r>
                      <a:r>
                        <a:rPr sz="800" spc="-3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Plan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Task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Risk</a:t>
                      </a:r>
                      <a:r>
                        <a:rPr sz="8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Asse</a:t>
                      </a:r>
                      <a:r>
                        <a:rPr lang="hr-HR"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ss</a:t>
                      </a:r>
                      <a:r>
                        <a:rPr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ment</a:t>
                      </a:r>
                      <a:r>
                        <a:rPr sz="8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(TRA)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Equipment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Manual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None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(E…plain)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or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Technical</a:t>
                      </a:r>
                      <a:r>
                        <a:rPr sz="800" spc="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Information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Letter</a:t>
                      </a:r>
                      <a:r>
                        <a:rPr sz="800" spc="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(TIL)</a:t>
                      </a:r>
                      <a:endParaRPr sz="800" dirty="0">
                        <a:latin typeface="Inter"/>
                        <a:cs typeface="Inter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hr-HR" sz="1200" b="1" spc="-2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ŠTO</a:t>
                      </a:r>
                      <a:r>
                        <a:rPr sz="1200" b="1" spc="-3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r-HR" sz="1200" b="1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me može ozlijediti</a:t>
                      </a:r>
                      <a:r>
                        <a:rPr sz="1200" b="1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sz="1200" b="1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hr-HR"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Opasnosti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hr-HR" sz="1200" b="1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KAKO</a:t>
                      </a:r>
                      <a:r>
                        <a:rPr sz="1200" b="1" spc="-25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r-HR" sz="1200" b="1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mogu spriječiti ozljedu</a:t>
                      </a:r>
                      <a:r>
                        <a:rPr sz="1200" b="1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hr-HR"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Mjere kontrole/ublažavanja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hr-H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9845" algn="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hr-HR" sz="1200" b="1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Vrijeme Re-fokusiranja na zadatak: </a:t>
                      </a:r>
                      <a:endParaRPr sz="1200" b="1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0" y="7314539"/>
            <a:ext cx="10058400" cy="458470"/>
          </a:xfrm>
          <a:custGeom>
            <a:avLst/>
            <a:gdLst/>
            <a:ahLst/>
            <a:cxnLst/>
            <a:rect l="l" t="t" r="r" b="b"/>
            <a:pathLst>
              <a:path w="10058400" h="458470">
                <a:moveTo>
                  <a:pt x="10058400" y="0"/>
                </a:moveTo>
                <a:lnTo>
                  <a:pt x="0" y="0"/>
                </a:lnTo>
                <a:lnTo>
                  <a:pt x="0" y="457860"/>
                </a:lnTo>
                <a:lnTo>
                  <a:pt x="10058400" y="457860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0600" y="7400688"/>
            <a:ext cx="8153399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hr-HR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RAD ZAPOČINJEMO </a:t>
            </a:r>
            <a:r>
              <a:rPr lang="hr-HR" sz="1500" b="1" spc="-25" dirty="0">
                <a:solidFill>
                  <a:srgbClr val="006060"/>
                </a:solidFill>
                <a:latin typeface="Inter Semi Bold"/>
                <a:cs typeface="Inter Semi Bold"/>
              </a:rPr>
              <a:t>SAMO</a:t>
            </a:r>
            <a:r>
              <a:rPr sz="1500" b="1" spc="-50" dirty="0">
                <a:solidFill>
                  <a:srgbClr val="006060"/>
                </a:solidFill>
                <a:latin typeface="Inter Semi Bold"/>
                <a:cs typeface="Inter Semi Bold"/>
              </a:rPr>
              <a:t> </a:t>
            </a:r>
            <a:r>
              <a:rPr lang="pl-PL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AKO JE TO SIGURNO UČINITI, A </a:t>
            </a:r>
            <a:r>
              <a:rPr lang="hr-HR" sz="1500" b="1" spc="-10" dirty="0">
                <a:solidFill>
                  <a:srgbClr val="006060"/>
                </a:solidFill>
                <a:latin typeface="Inter Semi Bold"/>
                <a:cs typeface="Inter Semi Bold"/>
              </a:rPr>
              <a:t>ZAUSTAVLJAMO</a:t>
            </a:r>
            <a:r>
              <a:rPr sz="1500" b="1" spc="-55" dirty="0">
                <a:solidFill>
                  <a:srgbClr val="006060"/>
                </a:solidFill>
                <a:latin typeface="Inter Semi Bold"/>
                <a:cs typeface="Inter Semi Bold"/>
              </a:rPr>
              <a:t> </a:t>
            </a:r>
            <a:r>
              <a:rPr lang="hr-HR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AKO NIJE</a:t>
            </a:r>
            <a:r>
              <a:rPr sz="1500" b="1" spc="-20" dirty="0">
                <a:solidFill>
                  <a:srgbClr val="231F20"/>
                </a:solidFill>
                <a:latin typeface="Inter Semi Bold"/>
                <a:cs typeface="Inter Semi Bold"/>
              </a:rPr>
              <a:t>.</a:t>
            </a:r>
            <a:endParaRPr sz="1500" dirty="0">
              <a:latin typeface="Inter Semi Bold"/>
              <a:cs typeface="Inter Semi Bol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0058400" cy="451484"/>
          </a:xfrm>
          <a:custGeom>
            <a:avLst/>
            <a:gdLst/>
            <a:ahLst/>
            <a:cxnLst/>
            <a:rect l="l" t="t" r="r" b="b"/>
            <a:pathLst>
              <a:path w="10058400" h="451484">
                <a:moveTo>
                  <a:pt x="10058400" y="0"/>
                </a:moveTo>
                <a:lnTo>
                  <a:pt x="0" y="0"/>
                </a:lnTo>
                <a:lnTo>
                  <a:pt x="0" y="451218"/>
                </a:lnTo>
                <a:lnTo>
                  <a:pt x="10058400" y="451218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86000" y="93748"/>
            <a:ext cx="5791199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hr-HR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OSOBNA ZAŠTITNA OPREMA</a:t>
            </a:r>
            <a:r>
              <a:rPr lang="hr-HR" sz="1500" b="1" spc="-30" dirty="0">
                <a:solidFill>
                  <a:srgbClr val="231F20"/>
                </a:solidFill>
                <a:latin typeface="Inter Semi Bold"/>
                <a:cs typeface="Inter Semi Bold"/>
              </a:rPr>
              <a:t> JE </a:t>
            </a:r>
            <a:r>
              <a:rPr lang="hr-HR" sz="1500" b="1" dirty="0">
                <a:solidFill>
                  <a:srgbClr val="005F60"/>
                </a:solidFill>
                <a:latin typeface="Inter Semi Bold"/>
                <a:cs typeface="Inter Semi Bold"/>
              </a:rPr>
              <a:t>POSLJEDNJA</a:t>
            </a:r>
            <a:r>
              <a:rPr sz="1500" b="1" spc="-30" dirty="0">
                <a:solidFill>
                  <a:srgbClr val="005F60"/>
                </a:solidFill>
                <a:latin typeface="Inter Semi Bold"/>
                <a:cs typeface="Inter Semi Bold"/>
              </a:rPr>
              <a:t> </a:t>
            </a:r>
            <a:r>
              <a:rPr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LIN</a:t>
            </a:r>
            <a:r>
              <a:rPr lang="hr-HR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IJA</a:t>
            </a:r>
            <a:r>
              <a:rPr sz="1500" b="1" spc="-30" dirty="0">
                <a:solidFill>
                  <a:srgbClr val="231F20"/>
                </a:solidFill>
                <a:latin typeface="Inter Semi Bold"/>
                <a:cs typeface="Inter Semi Bold"/>
              </a:rPr>
              <a:t> </a:t>
            </a:r>
            <a:r>
              <a:rPr lang="hr-HR" sz="1500" b="1" spc="-10" dirty="0">
                <a:solidFill>
                  <a:srgbClr val="005F60"/>
                </a:solidFill>
                <a:latin typeface="Inter Semi Bold"/>
                <a:cs typeface="Inter Semi Bold"/>
              </a:rPr>
              <a:t>OBRANE</a:t>
            </a:r>
            <a:endParaRPr sz="1500" dirty="0">
              <a:latin typeface="Inter Semi Bold"/>
              <a:cs typeface="Inter Semi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>1</RevisionNumber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 xsi:nil="true"/>
  </documentManagement>
</p:properties>
</file>

<file path=customXml/itemProps1.xml><?xml version="1.0" encoding="utf-8"?>
<ds:datastoreItem xmlns:ds="http://schemas.openxmlformats.org/officeDocument/2006/customXml" ds:itemID="{D3B59372-3741-41E4-9240-4A17AA6E377E}"/>
</file>

<file path=customXml/itemProps2.xml><?xml version="1.0" encoding="utf-8"?>
<ds:datastoreItem xmlns:ds="http://schemas.openxmlformats.org/officeDocument/2006/customXml" ds:itemID="{A4728686-9A12-49DD-8AAE-D1DD06840470}"/>
</file>

<file path=customXml/itemProps3.xml><?xml version="1.0" encoding="utf-8"?>
<ds:datastoreItem xmlns:ds="http://schemas.openxmlformats.org/officeDocument/2006/customXml" ds:itemID="{F51EA477-C93F-42AD-9EF2-2BEAF82247A8}"/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1189</TotalTime>
  <Words>476</Words>
  <Application>Microsoft Office PowerPoint</Application>
  <PresentationFormat>Custom</PresentationFormat>
  <Paragraphs>95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Inter</vt:lpstr>
      <vt:lpstr>Inter Semi Bold</vt:lpstr>
      <vt:lpstr>Times New Roman</vt:lpstr>
      <vt:lpstr>Office Theme</vt:lpstr>
      <vt:lpstr>Alat za procjenu početka rada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CS22444-02 GEV_SWAT_8.5x11_Card_Front_R1</dc:title>
  <dc:creator>Cahill, James (GE Vernova)</dc:creator>
  <cp:lastModifiedBy>Cahill, James (GE Vernova)</cp:lastModifiedBy>
  <cp:revision>16</cp:revision>
  <dcterms:created xsi:type="dcterms:W3CDTF">2024-12-17T21:19:02Z</dcterms:created>
  <dcterms:modified xsi:type="dcterms:W3CDTF">2026-06-01T09:23:09Z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2024-12-17T00:00:00Z</vt:filetime>
  </property>
  <property fmtid="{D5CDD505-2E9C-101B-9397-08002B2CF9AE}" pid="3" name="Creator">
    <vt:lpwstr>Adobe Illustrator 29.1 (Windows)</vt:lpwstr>
  </property>
  <property fmtid="{D5CDD505-2E9C-101B-9397-08002B2CF9AE}" pid="4" name="LastSaved">
    <vt:filetime>2024-12-17T00:00:00Z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0x010100AABA2F64D6E2C740A2EFD32F6136F44B</vt:lpwstr>
  </property>
</Properties>
</file>