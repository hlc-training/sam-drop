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42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4B5A21-EEA5-E3C6-00DE-8DFDF2DA3A7A}" v="4" dt="2024-04-18T16:17:04.8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97" autoAdjust="0"/>
  </p:normalViewPr>
  <p:slideViewPr>
    <p:cSldViewPr snapToGrid="0">
      <p:cViewPr varScale="1">
        <p:scale>
          <a:sx n="103" d="100"/>
          <a:sy n="103" d="100"/>
        </p:scale>
        <p:origin x="7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ujillo, Jennifer (GE Vernova)" userId="S::605014758@ge.com::6c82c21c-1da7-4d87-bdcc-7bdc8c1277b5" providerId="AD" clId="Web-{814B5A21-EEA5-E3C6-00DE-8DFDF2DA3A7A}"/>
    <pc:docChg chg="modSld">
      <pc:chgData name="Trujillo, Jennifer (GE Vernova)" userId="S::605014758@ge.com::6c82c21c-1da7-4d87-bdcc-7bdc8c1277b5" providerId="AD" clId="Web-{814B5A21-EEA5-E3C6-00DE-8DFDF2DA3A7A}" dt="2024-04-18T16:17:04.810" v="2" actId="20577"/>
      <pc:docMkLst>
        <pc:docMk/>
      </pc:docMkLst>
      <pc:sldChg chg="modSp">
        <pc:chgData name="Trujillo, Jennifer (GE Vernova)" userId="S::605014758@ge.com::6c82c21c-1da7-4d87-bdcc-7bdc8c1277b5" providerId="AD" clId="Web-{814B5A21-EEA5-E3C6-00DE-8DFDF2DA3A7A}" dt="2024-04-18T16:17:04.810" v="2" actId="20577"/>
        <pc:sldMkLst>
          <pc:docMk/>
          <pc:sldMk cId="1814739533" sldId="423"/>
        </pc:sldMkLst>
        <pc:spChg chg="mod">
          <ac:chgData name="Trujillo, Jennifer (GE Vernova)" userId="S::605014758@ge.com::6c82c21c-1da7-4d87-bdcc-7bdc8c1277b5" providerId="AD" clId="Web-{814B5A21-EEA5-E3C6-00DE-8DFDF2DA3A7A}" dt="2024-04-18T16:17:04.810" v="2" actId="20577"/>
          <ac:spMkLst>
            <pc:docMk/>
            <pc:sldMk cId="1814739533" sldId="423"/>
            <ac:spMk id="20" creationId="{42B9DFC5-BFF8-4E9B-94E9-3A4A1353E7E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D9428C-5CC0-4D08-A686-40DB1EB8C894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2A0DE9-CC78-4AE1-93E8-CBBA56521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1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46862">
              <a:lnSpc>
                <a:spcPts val="1240"/>
              </a:lnSpc>
            </a:pPr>
            <a:r>
              <a:rPr lang="en-US" sz="1600" b="1" u="sng" spc="22" dirty="0">
                <a:solidFill>
                  <a:srgbClr val="1F3864"/>
                </a:solidFill>
                <a:latin typeface="Book Antiqua"/>
                <a:cs typeface="Book Antiqua"/>
              </a:rPr>
              <a:t>FIELDCORE EHS MANAGEMENT SYSTEM</a:t>
            </a:r>
            <a:r>
              <a:rPr lang="en-US" sz="1600" b="1" u="sng" spc="0" dirty="0">
                <a:solidFill>
                  <a:schemeClr val="tx1"/>
                </a:solidFill>
                <a:latin typeface="Book Antiqua"/>
                <a:cs typeface="Book Antiqua"/>
              </a:rPr>
              <a:t>:</a:t>
            </a:r>
          </a:p>
          <a:p>
            <a:pPr marL="12700" marR="46862">
              <a:lnSpc>
                <a:spcPts val="1240"/>
              </a:lnSpc>
            </a:pPr>
            <a:endParaRPr lang="en-US" sz="1100" b="1" spc="214" dirty="0">
              <a:solidFill>
                <a:srgbClr val="1F3864"/>
              </a:solidFill>
              <a:latin typeface="Book Antiqua"/>
              <a:cs typeface="Times New Roman"/>
            </a:endParaRPr>
          </a:p>
          <a:p>
            <a:pPr marL="12700" marR="46862">
              <a:lnSpc>
                <a:spcPts val="1240"/>
              </a:lnSpc>
            </a:pPr>
            <a:r>
              <a:rPr lang="en-US" sz="2400" b="1" spc="214" dirty="0">
                <a:solidFill>
                  <a:srgbClr val="1F3864"/>
                </a:solidFill>
                <a:latin typeface="Times New Roman"/>
                <a:cs typeface="Times New Roman"/>
              </a:rPr>
              <a:t>EHS Procedure Quick Card</a:t>
            </a:r>
          </a:p>
          <a:p>
            <a:pPr marL="12700" marR="46862" lvl="0" indent="0" algn="l" defTabSz="914400" rtl="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spc="141" dirty="0">
                <a:solidFill>
                  <a:srgbClr val="FF3300"/>
                </a:solidFill>
                <a:latin typeface="Times New Roman"/>
                <a:cs typeface="Times New Roman"/>
              </a:rPr>
              <a:t>FC-GL-EHS-SAF-0701-1: Control of Lifting Eqpt &amp; Accessories and;</a:t>
            </a:r>
          </a:p>
          <a:p>
            <a:pPr marL="12700" marR="46862" lvl="0" indent="0" algn="l" defTabSz="914400" rtl="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spc="141" dirty="0">
                <a:solidFill>
                  <a:srgbClr val="FF3300"/>
                </a:solidFill>
                <a:latin typeface="Times New Roman"/>
                <a:cs typeface="Times New Roman"/>
              </a:rPr>
              <a:t>Guidance FC-GL-EHS-SAF-0701-1-G1: INSPECTION, TEST &amp; SAFE USE OF LIFTING EQUIPMENT &amp; ACCESSORIES</a:t>
            </a:r>
          </a:p>
          <a:p>
            <a:pPr marL="12700" marR="46862" lvl="0" indent="0" algn="l" defTabSz="914400" rtl="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spc="141" dirty="0">
                <a:solidFill>
                  <a:srgbClr val="FF3300"/>
                </a:solidFill>
                <a:latin typeface="Times New Roman"/>
                <a:cs typeface="Times New Roman"/>
              </a:rPr>
              <a:t>V1:2024</a:t>
            </a:r>
          </a:p>
          <a:p>
            <a:pPr marL="12700" marR="46862" lvl="0" indent="0" algn="l" defTabSz="914400" rtl="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spc="141" dirty="0">
                <a:solidFill>
                  <a:srgbClr val="FF3300"/>
                </a:solidFill>
                <a:latin typeface="Times New Roman"/>
                <a:cs typeface="Times New Roman"/>
              </a:rPr>
              <a:t>Procedures Issue: 02</a:t>
            </a:r>
          </a:p>
          <a:p>
            <a:pPr marL="12700" marR="46862" lvl="0" indent="0" algn="l" defTabSz="914400" rtl="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>
              <a:latin typeface="Times New Roman"/>
              <a:cs typeface="Times New Roman"/>
            </a:endParaRPr>
          </a:p>
          <a:p>
            <a:pPr marL="12700" marR="46862">
              <a:lnSpc>
                <a:spcPts val="1240"/>
              </a:lnSpc>
            </a:pPr>
            <a:endParaRPr lang="en-US" sz="2400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2A0DE9-CC78-4AE1-93E8-CBBA56521C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097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32B4-3AF2-43F6-8A2E-FD08D3EB0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9CA90B-4C93-4F70-8BD5-ABF02691F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A2841-B6CC-4CE6-9216-5B719A8A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E40A6-A407-428E-AB42-7983D9DD3ABD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2048C-5DDB-4C40-AB22-E81C094D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09179-C9EC-45F1-ACA9-12CD606A6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4255F-924A-4D38-8935-2024131FC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72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8F117-4175-44CB-AF61-2DB34C5CF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DA29F-CF3E-4E2C-83D7-3A4776014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2C2A6-2ED0-4B5D-A362-2F0D82A08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E40A6-A407-428E-AB42-7983D9DD3ABD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515EF-C441-4043-888B-EA3158DAE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EF393-5D27-4F56-A336-C59F6E16B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4255F-924A-4D38-8935-2024131FC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622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6BC4B-5E63-48D1-81A0-F2C2EBE39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AD1B8-B833-42AD-A321-DF7E11A30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16DBF-7576-4CAA-B709-898CE921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E40A6-A407-428E-AB42-7983D9DD3ABD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F8585-CA21-497D-AF6A-8E6445E90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1DDCC-E608-48FC-9F76-B6D0CA76A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4255F-924A-4D38-8935-2024131FC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75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0AA26-6B90-4BFB-A37E-B8F84B1D4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11286-892E-4E01-8DD2-83D36946A5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7954EF-9D9D-4EAE-B688-B8F1EDE7A7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71A20-8300-4E7D-A988-1FB4468C3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E40A6-A407-428E-AB42-7983D9DD3ABD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82B37-74BC-4971-AA41-1EA76EE73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0D13C2-2A7D-42C6-8BB9-230E2989A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4255F-924A-4D38-8935-2024131FC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718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B321A-D82C-4BC8-AFBE-3DB21A59D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0F0DE-45E9-4EA1-9651-F22AE74AF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24CB46-A0EF-4ED9-997C-2C18E1C99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DBBEB0-255D-4762-8E93-8D02DB6BA4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625484-98C1-4CA3-8F16-78D26DFB61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757FFA-5C13-406D-969C-C8DA45E9F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E40A6-A407-428E-AB42-7983D9DD3ABD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F88C59-3323-4755-BEC5-A1ACCB337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B791A-7D92-4456-90C1-357481CE2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4255F-924A-4D38-8935-2024131FC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248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BD830-B663-408D-8CBF-12A2D0E80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60A2BE-1044-44DE-9CFA-4E48E61E3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E40A6-A407-428E-AB42-7983D9DD3ABD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5F023-6347-4EFC-9425-0A1F78BB7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7F5E5D-8CC8-4673-BF6C-06BADDD5E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4255F-924A-4D38-8935-2024131FC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95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3FCC57-9FAD-442A-8706-4D435C7F0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E40A6-A407-428E-AB42-7983D9DD3ABD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A54835-1187-438B-983F-CD4BF4DE2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EFBB3-D747-4D5D-A630-F904B1A1D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4255F-924A-4D38-8935-2024131FC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872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3DD95-8A1D-461C-8833-7246A566B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49D66-5C17-47F3-9847-F1891A245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86F9B-36CA-41CC-BA03-372620D73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471CA-F97A-47E2-91D2-18B263DE8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E40A6-A407-428E-AB42-7983D9DD3ABD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FCA10-6716-48BF-B3CE-97E205766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1FDD4-AAF4-4402-BD68-37D3EDB93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4255F-924A-4D38-8935-2024131FC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001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64C59-A983-401E-A1A2-5F125344D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1AE4A5-9DC1-4330-95BA-22FECA7913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BB59F3-38CC-4C23-A500-A2A2B4477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CA3382-AF3A-49B0-B469-B04DC6EAF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E40A6-A407-428E-AB42-7983D9DD3ABD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1DC06-3ACF-4D7B-8078-6EB593E50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34E55-D2EC-4E27-94E8-A1A01F41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4255F-924A-4D38-8935-2024131FC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315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5D2D7-D787-4E54-BA95-8696EFEFE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942C08-13FA-4219-BFBF-26694AF33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CBA21-2AF1-45CA-B88D-41D189F3C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E40A6-A407-428E-AB42-7983D9DD3ABD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CCA19-D33D-404D-A81A-CC0287972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A0DBC-9EA7-428F-8B78-742F1E563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4255F-924A-4D38-8935-2024131FC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230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21C334-99E2-46B7-A1DF-72FC625001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ABCBFD-2B84-44CF-8A0C-4CD109B5B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78E76-7E78-4C1B-BA55-64D48F3E9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E40A6-A407-428E-AB42-7983D9DD3ABD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26D01-988C-4754-8D5F-418B78509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B2B91-EDCE-48B1-9416-BF1F18155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4255F-924A-4D38-8935-2024131FC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23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6E3EB2D9-614D-4F52-A3BD-39613A8924C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934982" y="0"/>
            <a:ext cx="432203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ko-KR" altLang="en-U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Place Your Picture Here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5148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54F4EB-1A8B-4983-BA64-62E25FCDB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405E6-D1E6-48A8-8885-004C2B487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AE989-C5DC-4D50-8EF5-B7EFC885E2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E40A6-A407-428E-AB42-7983D9DD3ABD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5C2E4-77B5-4A9D-A1BD-6E76C69B03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48F1B-2843-455C-899F-E55E7B643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4255F-924A-4D38-8935-2024131FC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97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9">
            <a:extLst>
              <a:ext uri="{FF2B5EF4-FFF2-40B4-BE49-F238E27FC236}">
                <a16:creationId xmlns:a16="http://schemas.microsoft.com/office/drawing/2014/main" id="{FAFED3A1-C2A1-4210-B0B7-FBBE6D022CE7}"/>
              </a:ext>
            </a:extLst>
          </p:cNvPr>
          <p:cNvSpPr txBox="1"/>
          <p:nvPr/>
        </p:nvSpPr>
        <p:spPr>
          <a:xfrm>
            <a:off x="312508" y="434203"/>
            <a:ext cx="5576228" cy="678446"/>
          </a:xfrm>
          <a:prstGeom prst="rect">
            <a:avLst/>
          </a:prstGeom>
        </p:spPr>
        <p:txBody>
          <a:bodyPr wrap="square" lIns="0" tIns="7874" rIns="0" bIns="0" rtlCol="0">
            <a:noAutofit/>
          </a:bodyPr>
          <a:lstStyle/>
          <a:p>
            <a:pPr marL="12700" marR="46862">
              <a:lnSpc>
                <a:spcPts val="1240"/>
              </a:lnSpc>
            </a:pPr>
            <a:r>
              <a:rPr sz="1600" spc="22" dirty="0">
                <a:solidFill>
                  <a:srgbClr val="1F3864"/>
                </a:solidFill>
                <a:latin typeface="Book Antiqua"/>
                <a:cs typeface="Book Antiqua"/>
              </a:rPr>
              <a:t>FIELDCORE EHS MANAGEMENT SYSTEM</a:t>
            </a:r>
            <a:endParaRPr lang="en-US" sz="1600" dirty="0">
              <a:latin typeface="Book Antiqua"/>
              <a:cs typeface="Book Antiqua"/>
            </a:endParaRPr>
          </a:p>
          <a:p>
            <a:pPr marL="12700" marR="46862">
              <a:lnSpc>
                <a:spcPts val="1240"/>
              </a:lnSpc>
            </a:pPr>
            <a:endParaRPr lang="en-US" sz="1600" b="1" spc="214" dirty="0">
              <a:solidFill>
                <a:srgbClr val="1F3864"/>
              </a:solidFill>
              <a:latin typeface="Book Antiqua"/>
              <a:cs typeface="Times New Roman"/>
            </a:endParaRPr>
          </a:p>
          <a:p>
            <a:pPr marL="12700" marR="46862">
              <a:lnSpc>
                <a:spcPts val="1240"/>
              </a:lnSpc>
            </a:pPr>
            <a:endParaRPr lang="en-US" sz="1600" b="1" spc="214" dirty="0">
              <a:solidFill>
                <a:srgbClr val="1F3864"/>
              </a:solidFill>
              <a:latin typeface="Book Antiqua"/>
              <a:cs typeface="Times New Roman"/>
            </a:endParaRPr>
          </a:p>
          <a:p>
            <a:pPr marL="12700" marR="46862">
              <a:lnSpc>
                <a:spcPts val="1240"/>
              </a:lnSpc>
            </a:pPr>
            <a:r>
              <a:rPr sz="3200" b="1" spc="214" dirty="0">
                <a:solidFill>
                  <a:srgbClr val="1F3864"/>
                </a:solidFill>
                <a:latin typeface="Times New Roman"/>
                <a:cs typeface="Times New Roman"/>
              </a:rPr>
              <a:t>EHS Procedure QuickCard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" name="object 28">
            <a:extLst>
              <a:ext uri="{FF2B5EF4-FFF2-40B4-BE49-F238E27FC236}">
                <a16:creationId xmlns:a16="http://schemas.microsoft.com/office/drawing/2014/main" id="{592058AF-4FCD-4045-8478-B61EC9BDEAF0}"/>
              </a:ext>
            </a:extLst>
          </p:cNvPr>
          <p:cNvSpPr txBox="1"/>
          <p:nvPr/>
        </p:nvSpPr>
        <p:spPr>
          <a:xfrm>
            <a:off x="312507" y="1252728"/>
            <a:ext cx="8218650" cy="374904"/>
          </a:xfrm>
          <a:prstGeom prst="rect">
            <a:avLst/>
          </a:prstGeom>
        </p:spPr>
        <p:txBody>
          <a:bodyPr wrap="square" lIns="0" tIns="11938" rIns="0" bIns="0" rtlCol="0">
            <a:noAutofit/>
          </a:bodyPr>
          <a:lstStyle/>
          <a:p>
            <a:pPr marL="12700">
              <a:lnSpc>
                <a:spcPts val="1880"/>
              </a:lnSpc>
            </a:pPr>
            <a:r>
              <a:rPr sz="1750" b="1" spc="141" dirty="0">
                <a:solidFill>
                  <a:srgbClr val="FF3300"/>
                </a:solidFill>
                <a:latin typeface="Times New Roman"/>
                <a:cs typeface="Times New Roman"/>
              </a:rPr>
              <a:t>FC-GL-EHS-SAF-070</a:t>
            </a:r>
            <a:r>
              <a:rPr lang="en-US" sz="1750" b="1" spc="141" dirty="0">
                <a:solidFill>
                  <a:srgbClr val="FF3300"/>
                </a:solidFill>
                <a:latin typeface="Times New Roman"/>
                <a:cs typeface="Times New Roman"/>
              </a:rPr>
              <a:t>1-1</a:t>
            </a:r>
            <a:r>
              <a:rPr sz="1750" b="1" spc="141" dirty="0">
                <a:solidFill>
                  <a:srgbClr val="FF3300"/>
                </a:solidFill>
                <a:latin typeface="Times New Roman"/>
                <a:cs typeface="Times New Roman"/>
              </a:rPr>
              <a:t>: </a:t>
            </a:r>
            <a:r>
              <a:rPr lang="en-US" sz="1750" b="1" spc="141" dirty="0">
                <a:solidFill>
                  <a:srgbClr val="FF3300"/>
                </a:solidFill>
                <a:latin typeface="Times New Roman"/>
                <a:cs typeface="Times New Roman"/>
              </a:rPr>
              <a:t>Control of Lifting Equipment and Accessories</a:t>
            </a:r>
            <a:endParaRPr sz="1750" dirty="0">
              <a:latin typeface="Times New Roman"/>
              <a:cs typeface="Times New Roman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95218ED-3588-4325-BFC1-AB6E19B7A15E}"/>
              </a:ext>
            </a:extLst>
          </p:cNvPr>
          <p:cNvSpPr/>
          <p:nvPr/>
        </p:nvSpPr>
        <p:spPr>
          <a:xfrm>
            <a:off x="6892239" y="1767711"/>
            <a:ext cx="4892039" cy="41996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Key Changes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D0814B3-F541-4BD1-9A2A-40D813B05982}"/>
              </a:ext>
            </a:extLst>
          </p:cNvPr>
          <p:cNvSpPr/>
          <p:nvPr/>
        </p:nvSpPr>
        <p:spPr>
          <a:xfrm>
            <a:off x="6892237" y="3457934"/>
            <a:ext cx="4892039" cy="42333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Key Tools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F7B5770-594F-434A-B0C0-9CC222140CC3}"/>
              </a:ext>
            </a:extLst>
          </p:cNvPr>
          <p:cNvSpPr/>
          <p:nvPr/>
        </p:nvSpPr>
        <p:spPr>
          <a:xfrm>
            <a:off x="6892240" y="5162866"/>
            <a:ext cx="4892039" cy="36576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>
                <a:solidFill>
                  <a:schemeClr val="bg1"/>
                </a:solidFill>
              </a:rPr>
              <a:t>Further Work / Support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20" name="object 7">
            <a:extLst>
              <a:ext uri="{FF2B5EF4-FFF2-40B4-BE49-F238E27FC236}">
                <a16:creationId xmlns:a16="http://schemas.microsoft.com/office/drawing/2014/main" id="{42B9DFC5-BFF8-4E9B-94E9-3A4A1353E7E1}"/>
              </a:ext>
            </a:extLst>
          </p:cNvPr>
          <p:cNvSpPr txBox="1"/>
          <p:nvPr/>
        </p:nvSpPr>
        <p:spPr>
          <a:xfrm>
            <a:off x="11317627" y="6558038"/>
            <a:ext cx="731520" cy="113791"/>
          </a:xfrm>
          <a:prstGeom prst="rect">
            <a:avLst/>
          </a:prstGeom>
        </p:spPr>
        <p:txBody>
          <a:bodyPr wrap="square" lIns="0" tIns="5048" rIns="0" bIns="0" rtlCol="0" anchor="t">
            <a:noAutofit/>
          </a:bodyPr>
          <a:lstStyle/>
          <a:p>
            <a:pPr marL="12700" algn="ctr">
              <a:lnSpc>
                <a:spcPts val="795"/>
              </a:lnSpc>
            </a:pPr>
            <a:r>
              <a:rPr sz="900" spc="-2" dirty="0">
                <a:latin typeface="Calibri"/>
                <a:cs typeface="Calibri"/>
              </a:rPr>
              <a:t>V</a:t>
            </a:r>
            <a:r>
              <a:rPr lang="en-US" sz="900" spc="-2" dirty="0">
                <a:latin typeface="Calibri"/>
                <a:cs typeface="Calibri"/>
              </a:rPr>
              <a:t>1</a:t>
            </a:r>
            <a:r>
              <a:rPr sz="900" spc="-2" dirty="0">
                <a:latin typeface="Calibri"/>
                <a:cs typeface="Calibri"/>
              </a:rPr>
              <a:t> / </a:t>
            </a:r>
            <a:r>
              <a:rPr lang="en-US" sz="900" spc="-2" dirty="0">
                <a:latin typeface="Calibri"/>
                <a:cs typeface="Calibri"/>
              </a:rPr>
              <a:t>Mar</a:t>
            </a:r>
            <a:r>
              <a:rPr sz="900" spc="-2" dirty="0">
                <a:latin typeface="Calibri"/>
                <a:cs typeface="Calibri"/>
              </a:rPr>
              <a:t> 20</a:t>
            </a:r>
            <a:r>
              <a:rPr lang="en-US" sz="900" spc="-2" dirty="0">
                <a:latin typeface="Calibri"/>
                <a:cs typeface="Calibri"/>
              </a:rPr>
              <a:t>24</a:t>
            </a:r>
            <a:endParaRPr lang="en-US" sz="900">
              <a:latin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710A08-E068-45B0-BC0B-208098583C80}"/>
              </a:ext>
            </a:extLst>
          </p:cNvPr>
          <p:cNvSpPr txBox="1"/>
          <p:nvPr/>
        </p:nvSpPr>
        <p:spPr>
          <a:xfrm>
            <a:off x="6892236" y="3881272"/>
            <a:ext cx="4892039" cy="1169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200" dirty="0">
                <a:latin typeface="Montserrat SemiBold" panose="000007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Update the inspection, test, safe use, of lifting equipment and accessories guidance, and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200" dirty="0">
                <a:latin typeface="Montserrat SemiBold" panose="000007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Enhanced the content with additional accessories, creating additional appendix for service containers </a:t>
            </a:r>
            <a:endParaRPr lang="en-GB" sz="1200" dirty="0">
              <a:effectLst/>
              <a:latin typeface="Montserrat SemiBold" panose="000007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DC0313-B064-4333-B823-6AD390E5B80D}"/>
              </a:ext>
            </a:extLst>
          </p:cNvPr>
          <p:cNvSpPr txBox="1"/>
          <p:nvPr/>
        </p:nvSpPr>
        <p:spPr>
          <a:xfrm>
            <a:off x="6892240" y="5614861"/>
            <a:ext cx="4892036" cy="89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200" dirty="0">
                <a:latin typeface="Montserrat SemiBold" panose="00000700000000000000" pitchFamily="2" charset="0"/>
                <a:cs typeface="Times New Roman" panose="02020603050405020304" pitchFamily="18" charset="0"/>
              </a:rPr>
              <a:t>Communication requirements – Training shall be required to communicate all major updates in 0701-1 and the guideline 0701-1-G1</a:t>
            </a:r>
            <a:endParaRPr lang="en-GB" sz="300" dirty="0">
              <a:latin typeface="Montserrat SemiBold" panose="000007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D88984-84EF-4257-A87B-156BB4A2E4EE}"/>
              </a:ext>
            </a:extLst>
          </p:cNvPr>
          <p:cNvSpPr txBox="1"/>
          <p:nvPr/>
        </p:nvSpPr>
        <p:spPr>
          <a:xfrm>
            <a:off x="6948545" y="2187677"/>
            <a:ext cx="4835732" cy="1169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200" dirty="0">
                <a:effectLst/>
                <a:latin typeface="Montserrat SemiBold" panose="000007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Update the inspection requirements in 0701-1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200" dirty="0">
                <a:latin typeface="Montserrat SemiBold" panose="00000700000000000000" pitchFamily="2" charset="0"/>
                <a:cs typeface="Times New Roman" panose="02020603050405020304" pitchFamily="18" charset="0"/>
              </a:rPr>
              <a:t>Update colour coding scheme in 0701-1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200" dirty="0">
                <a:latin typeface="Montserrat SemiBold" panose="00000700000000000000" pitchFamily="2" charset="0"/>
                <a:cs typeface="Times New Roman" panose="02020603050405020304" pitchFamily="18" charset="0"/>
              </a:rPr>
              <a:t>Additional section for storage of lifting accessories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200" dirty="0">
                <a:latin typeface="Montserrat SemiBold" panose="00000700000000000000" pitchFamily="2" charset="0"/>
                <a:cs typeface="Times New Roman" panose="02020603050405020304" pitchFamily="18" charset="0"/>
              </a:rPr>
              <a:t>Major update for the content of 0701-1-G1</a:t>
            </a:r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182EA918-F2A8-314E-54E9-51CF3F4DBCBD}"/>
              </a:ext>
            </a:extLst>
          </p:cNvPr>
          <p:cNvGrpSpPr/>
          <p:nvPr/>
        </p:nvGrpSpPr>
        <p:grpSpPr>
          <a:xfrm>
            <a:off x="-12840" y="1112649"/>
            <a:ext cx="6047148" cy="5788418"/>
            <a:chOff x="2626759" y="1556920"/>
            <a:chExt cx="4139509" cy="4125042"/>
          </a:xfrm>
        </p:grpSpPr>
        <p:sp>
          <p:nvSpPr>
            <p:cNvPr id="253" name="Rounded Rectangle 2">
              <a:extLst>
                <a:ext uri="{FF2B5EF4-FFF2-40B4-BE49-F238E27FC236}">
                  <a16:creationId xmlns:a16="http://schemas.microsoft.com/office/drawing/2014/main" id="{EAD8EAA3-B8EF-D098-DFD9-BD83D833D750}"/>
                </a:ext>
              </a:extLst>
            </p:cNvPr>
            <p:cNvSpPr/>
            <p:nvPr/>
          </p:nvSpPr>
          <p:spPr>
            <a:xfrm>
              <a:off x="3229303" y="2136064"/>
              <a:ext cx="2952328" cy="2952328"/>
            </a:xfrm>
            <a:prstGeom prst="roundRect">
              <a:avLst>
                <a:gd name="adj" fmla="val 8924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2000"/>
                  </a:schemeClr>
                </a:gs>
              </a:gsLst>
              <a:lin ang="5400000" scaled="1"/>
              <a:tileRect/>
            </a:gradFill>
            <a:ln w="15875">
              <a:gradFill>
                <a:gsLst>
                  <a:gs pos="0">
                    <a:schemeClr val="bg1"/>
                  </a:gs>
                  <a:gs pos="100000">
                    <a:schemeClr val="accent1">
                      <a:tint val="23500"/>
                      <a:satMod val="160000"/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91C53E0C-7189-2474-2FB8-1F955C5CE4B7}"/>
                </a:ext>
              </a:extLst>
            </p:cNvPr>
            <p:cNvGrpSpPr/>
            <p:nvPr/>
          </p:nvGrpSpPr>
          <p:grpSpPr>
            <a:xfrm>
              <a:off x="2626759" y="2469278"/>
              <a:ext cx="1944996" cy="1619081"/>
              <a:chOff x="2626759" y="2469278"/>
              <a:chExt cx="1944996" cy="1619081"/>
            </a:xfrm>
          </p:grpSpPr>
          <p:sp>
            <p:nvSpPr>
              <p:cNvPr id="271" name="Rounded Rectangle 9">
                <a:extLst>
                  <a:ext uri="{FF2B5EF4-FFF2-40B4-BE49-F238E27FC236}">
                    <a16:creationId xmlns:a16="http://schemas.microsoft.com/office/drawing/2014/main" id="{B0AB3D40-F888-D093-3FD1-FC9F8DFD6931}"/>
                  </a:ext>
                </a:extLst>
              </p:cNvPr>
              <p:cNvSpPr/>
              <p:nvPr/>
            </p:nvSpPr>
            <p:spPr>
              <a:xfrm>
                <a:off x="3153941" y="3508648"/>
                <a:ext cx="74524" cy="579711"/>
              </a:xfrm>
              <a:custGeom>
                <a:avLst/>
                <a:gdLst/>
                <a:ahLst/>
                <a:cxnLst/>
                <a:rect l="l" t="t" r="r" b="b"/>
                <a:pathLst>
                  <a:path w="86095" h="669722">
                    <a:moveTo>
                      <a:pt x="86095" y="0"/>
                    </a:moveTo>
                    <a:lnTo>
                      <a:pt x="86095" y="669722"/>
                    </a:lnTo>
                    <a:cubicBezTo>
                      <a:pt x="37270" y="664431"/>
                      <a:pt x="0" y="622599"/>
                      <a:pt x="0" y="572062"/>
                    </a:cubicBezTo>
                    <a:lnTo>
                      <a:pt x="0" y="97660"/>
                    </a:lnTo>
                    <a:cubicBezTo>
                      <a:pt x="0" y="47123"/>
                      <a:pt x="37270" y="5291"/>
                      <a:pt x="8609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70000"/>
                    </a:schemeClr>
                  </a:gs>
                  <a:gs pos="100000">
                    <a:schemeClr val="accent1">
                      <a:lumMod val="7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72" name="Isosceles Triangle 20">
                <a:extLst>
                  <a:ext uri="{FF2B5EF4-FFF2-40B4-BE49-F238E27FC236}">
                    <a16:creationId xmlns:a16="http://schemas.microsoft.com/office/drawing/2014/main" id="{CF3FE546-72FE-3E2A-C8AD-5CB84AF55751}"/>
                  </a:ext>
                </a:extLst>
              </p:cNvPr>
              <p:cNvSpPr/>
              <p:nvPr/>
            </p:nvSpPr>
            <p:spPr>
              <a:xfrm rot="2775881">
                <a:off x="3014447" y="2081590"/>
                <a:ext cx="1169619" cy="1944996"/>
              </a:xfrm>
              <a:custGeom>
                <a:avLst/>
                <a:gdLst/>
                <a:ahLst/>
                <a:cxnLst/>
                <a:rect l="l" t="t" r="r" b="b"/>
                <a:pathLst>
                  <a:path w="1169619" h="1944996">
                    <a:moveTo>
                      <a:pt x="584810" y="0"/>
                    </a:moveTo>
                    <a:lnTo>
                      <a:pt x="1169619" y="623373"/>
                    </a:lnTo>
                    <a:lnTo>
                      <a:pt x="914933" y="623373"/>
                    </a:lnTo>
                    <a:lnTo>
                      <a:pt x="944110" y="1944996"/>
                    </a:lnTo>
                    <a:lnTo>
                      <a:pt x="280768" y="1310310"/>
                    </a:lnTo>
                    <a:lnTo>
                      <a:pt x="265603" y="623373"/>
                    </a:lnTo>
                    <a:lnTo>
                      <a:pt x="0" y="6233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B3D0B9F0-6961-5915-4929-98A3B2944211}"/>
                </a:ext>
              </a:extLst>
            </p:cNvPr>
            <p:cNvGrpSpPr/>
            <p:nvPr/>
          </p:nvGrpSpPr>
          <p:grpSpPr>
            <a:xfrm rot="5400000">
              <a:off x="4049003" y="1719878"/>
              <a:ext cx="1944996" cy="1619080"/>
              <a:chOff x="2661328" y="2469279"/>
              <a:chExt cx="1944996" cy="1619080"/>
            </a:xfrm>
            <a:solidFill>
              <a:srgbClr val="5BC5DD"/>
            </a:solidFill>
          </p:grpSpPr>
          <p:sp>
            <p:nvSpPr>
              <p:cNvPr id="269" name="Rounded Rectangle 9">
                <a:extLst>
                  <a:ext uri="{FF2B5EF4-FFF2-40B4-BE49-F238E27FC236}">
                    <a16:creationId xmlns:a16="http://schemas.microsoft.com/office/drawing/2014/main" id="{C388BF3F-5F83-9EEE-B7FA-DC03A4B25AED}"/>
                  </a:ext>
                </a:extLst>
              </p:cNvPr>
              <p:cNvSpPr/>
              <p:nvPr/>
            </p:nvSpPr>
            <p:spPr>
              <a:xfrm>
                <a:off x="3179867" y="3508648"/>
                <a:ext cx="74524" cy="579711"/>
              </a:xfrm>
              <a:custGeom>
                <a:avLst/>
                <a:gdLst/>
                <a:ahLst/>
                <a:cxnLst/>
                <a:rect l="l" t="t" r="r" b="b"/>
                <a:pathLst>
                  <a:path w="86095" h="669722">
                    <a:moveTo>
                      <a:pt x="86095" y="0"/>
                    </a:moveTo>
                    <a:lnTo>
                      <a:pt x="86095" y="669722"/>
                    </a:lnTo>
                    <a:cubicBezTo>
                      <a:pt x="37270" y="664431"/>
                      <a:pt x="0" y="622599"/>
                      <a:pt x="0" y="572062"/>
                    </a:cubicBezTo>
                    <a:lnTo>
                      <a:pt x="0" y="97660"/>
                    </a:lnTo>
                    <a:cubicBezTo>
                      <a:pt x="0" y="47123"/>
                      <a:pt x="37270" y="5291"/>
                      <a:pt x="8609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70000"/>
                    </a:schemeClr>
                  </a:gs>
                  <a:gs pos="100000">
                    <a:schemeClr val="accent2">
                      <a:lumMod val="7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70" name="Isosceles Triangle 20">
                <a:extLst>
                  <a:ext uri="{FF2B5EF4-FFF2-40B4-BE49-F238E27FC236}">
                    <a16:creationId xmlns:a16="http://schemas.microsoft.com/office/drawing/2014/main" id="{61EBA467-FE0A-252B-92B7-509BC3CD51CE}"/>
                  </a:ext>
                </a:extLst>
              </p:cNvPr>
              <p:cNvSpPr/>
              <p:nvPr/>
            </p:nvSpPr>
            <p:spPr>
              <a:xfrm rot="2775881">
                <a:off x="3049016" y="2081591"/>
                <a:ext cx="1169619" cy="1944996"/>
              </a:xfrm>
              <a:custGeom>
                <a:avLst/>
                <a:gdLst/>
                <a:ahLst/>
                <a:cxnLst/>
                <a:rect l="l" t="t" r="r" b="b"/>
                <a:pathLst>
                  <a:path w="1169619" h="1944996">
                    <a:moveTo>
                      <a:pt x="584810" y="0"/>
                    </a:moveTo>
                    <a:lnTo>
                      <a:pt x="1169619" y="623373"/>
                    </a:lnTo>
                    <a:lnTo>
                      <a:pt x="914933" y="623373"/>
                    </a:lnTo>
                    <a:lnTo>
                      <a:pt x="944110" y="1944996"/>
                    </a:lnTo>
                    <a:lnTo>
                      <a:pt x="280768" y="1310310"/>
                    </a:lnTo>
                    <a:lnTo>
                      <a:pt x="265603" y="623373"/>
                    </a:lnTo>
                    <a:lnTo>
                      <a:pt x="0" y="62337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/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23A97986-2C46-9F14-714C-046166AE1F64}"/>
                </a:ext>
              </a:extLst>
            </p:cNvPr>
            <p:cNvGrpSpPr/>
            <p:nvPr/>
          </p:nvGrpSpPr>
          <p:grpSpPr>
            <a:xfrm rot="10800000">
              <a:off x="4821272" y="3175138"/>
              <a:ext cx="1944996" cy="1619081"/>
              <a:chOff x="2661327" y="2469278"/>
              <a:chExt cx="1944996" cy="1619081"/>
            </a:xfrm>
            <a:solidFill>
              <a:srgbClr val="FFB850"/>
            </a:solidFill>
          </p:grpSpPr>
          <p:sp>
            <p:nvSpPr>
              <p:cNvPr id="267" name="Rounded Rectangle 9">
                <a:extLst>
                  <a:ext uri="{FF2B5EF4-FFF2-40B4-BE49-F238E27FC236}">
                    <a16:creationId xmlns:a16="http://schemas.microsoft.com/office/drawing/2014/main" id="{0CF6F561-04C5-461E-E6A5-3C62A95047E8}"/>
                  </a:ext>
                </a:extLst>
              </p:cNvPr>
              <p:cNvSpPr/>
              <p:nvPr/>
            </p:nvSpPr>
            <p:spPr>
              <a:xfrm>
                <a:off x="3179867" y="3508648"/>
                <a:ext cx="74524" cy="579711"/>
              </a:xfrm>
              <a:custGeom>
                <a:avLst/>
                <a:gdLst/>
                <a:ahLst/>
                <a:cxnLst/>
                <a:rect l="l" t="t" r="r" b="b"/>
                <a:pathLst>
                  <a:path w="86095" h="669722">
                    <a:moveTo>
                      <a:pt x="86095" y="0"/>
                    </a:moveTo>
                    <a:lnTo>
                      <a:pt x="86095" y="669722"/>
                    </a:lnTo>
                    <a:cubicBezTo>
                      <a:pt x="37270" y="664431"/>
                      <a:pt x="0" y="622599"/>
                      <a:pt x="0" y="572062"/>
                    </a:cubicBezTo>
                    <a:lnTo>
                      <a:pt x="0" y="97660"/>
                    </a:lnTo>
                    <a:cubicBezTo>
                      <a:pt x="0" y="47123"/>
                      <a:pt x="37270" y="5291"/>
                      <a:pt x="8609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>
                      <a:lumMod val="70000"/>
                    </a:schemeClr>
                  </a:gs>
                  <a:gs pos="100000">
                    <a:schemeClr val="accent3">
                      <a:lumMod val="7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68" name="Isosceles Triangle 20">
                <a:extLst>
                  <a:ext uri="{FF2B5EF4-FFF2-40B4-BE49-F238E27FC236}">
                    <a16:creationId xmlns:a16="http://schemas.microsoft.com/office/drawing/2014/main" id="{01F43C4B-8D7C-80BF-3523-A05EA293B02F}"/>
                  </a:ext>
                </a:extLst>
              </p:cNvPr>
              <p:cNvSpPr/>
              <p:nvPr/>
            </p:nvSpPr>
            <p:spPr>
              <a:xfrm rot="2775881">
                <a:off x="3049015" y="2081590"/>
                <a:ext cx="1169619" cy="1944996"/>
              </a:xfrm>
              <a:custGeom>
                <a:avLst/>
                <a:gdLst/>
                <a:ahLst/>
                <a:cxnLst/>
                <a:rect l="l" t="t" r="r" b="b"/>
                <a:pathLst>
                  <a:path w="1169619" h="1944996">
                    <a:moveTo>
                      <a:pt x="584810" y="0"/>
                    </a:moveTo>
                    <a:lnTo>
                      <a:pt x="1169619" y="623373"/>
                    </a:lnTo>
                    <a:lnTo>
                      <a:pt x="914933" y="623373"/>
                    </a:lnTo>
                    <a:lnTo>
                      <a:pt x="944110" y="1944996"/>
                    </a:lnTo>
                    <a:lnTo>
                      <a:pt x="280768" y="1310310"/>
                    </a:lnTo>
                    <a:lnTo>
                      <a:pt x="265603" y="623373"/>
                    </a:lnTo>
                    <a:lnTo>
                      <a:pt x="0" y="62337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077DE4BB-19A7-CF52-4A88-237071174590}"/>
                </a:ext>
              </a:extLst>
            </p:cNvPr>
            <p:cNvGrpSpPr/>
            <p:nvPr/>
          </p:nvGrpSpPr>
          <p:grpSpPr>
            <a:xfrm rot="16200000">
              <a:off x="3414167" y="3899923"/>
              <a:ext cx="1944996" cy="1619081"/>
              <a:chOff x="2644926" y="2469278"/>
              <a:chExt cx="1944996" cy="1619081"/>
            </a:xfrm>
            <a:solidFill>
              <a:srgbClr val="F57627"/>
            </a:solidFill>
          </p:grpSpPr>
          <p:sp>
            <p:nvSpPr>
              <p:cNvPr id="265" name="Rounded Rectangle 9">
                <a:extLst>
                  <a:ext uri="{FF2B5EF4-FFF2-40B4-BE49-F238E27FC236}">
                    <a16:creationId xmlns:a16="http://schemas.microsoft.com/office/drawing/2014/main" id="{0DF0D2E2-E100-F073-43F0-5A2A808799C1}"/>
                  </a:ext>
                </a:extLst>
              </p:cNvPr>
              <p:cNvSpPr/>
              <p:nvPr/>
            </p:nvSpPr>
            <p:spPr>
              <a:xfrm>
                <a:off x="3162583" y="3508648"/>
                <a:ext cx="74524" cy="579711"/>
              </a:xfrm>
              <a:custGeom>
                <a:avLst/>
                <a:gdLst/>
                <a:ahLst/>
                <a:cxnLst/>
                <a:rect l="l" t="t" r="r" b="b"/>
                <a:pathLst>
                  <a:path w="86095" h="669722">
                    <a:moveTo>
                      <a:pt x="86095" y="0"/>
                    </a:moveTo>
                    <a:lnTo>
                      <a:pt x="86095" y="669722"/>
                    </a:lnTo>
                    <a:cubicBezTo>
                      <a:pt x="37270" y="664431"/>
                      <a:pt x="0" y="622599"/>
                      <a:pt x="0" y="572062"/>
                    </a:cubicBezTo>
                    <a:lnTo>
                      <a:pt x="0" y="97660"/>
                    </a:lnTo>
                    <a:cubicBezTo>
                      <a:pt x="0" y="47123"/>
                      <a:pt x="37270" y="5291"/>
                      <a:pt x="86095" y="0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66" name="Isosceles Triangle 20">
                <a:extLst>
                  <a:ext uri="{FF2B5EF4-FFF2-40B4-BE49-F238E27FC236}">
                    <a16:creationId xmlns:a16="http://schemas.microsoft.com/office/drawing/2014/main" id="{CA126363-81AB-F7DF-E093-1C31E345F7A0}"/>
                  </a:ext>
                </a:extLst>
              </p:cNvPr>
              <p:cNvSpPr/>
              <p:nvPr/>
            </p:nvSpPr>
            <p:spPr>
              <a:xfrm rot="2775881">
                <a:off x="3032614" y="2081590"/>
                <a:ext cx="1169619" cy="1944996"/>
              </a:xfrm>
              <a:custGeom>
                <a:avLst/>
                <a:gdLst/>
                <a:ahLst/>
                <a:cxnLst/>
                <a:rect l="l" t="t" r="r" b="b"/>
                <a:pathLst>
                  <a:path w="1169619" h="1944996">
                    <a:moveTo>
                      <a:pt x="584810" y="0"/>
                    </a:moveTo>
                    <a:lnTo>
                      <a:pt x="1169619" y="623373"/>
                    </a:lnTo>
                    <a:lnTo>
                      <a:pt x="914933" y="623373"/>
                    </a:lnTo>
                    <a:lnTo>
                      <a:pt x="944110" y="1944996"/>
                    </a:lnTo>
                    <a:lnTo>
                      <a:pt x="280768" y="1310310"/>
                    </a:lnTo>
                    <a:lnTo>
                      <a:pt x="265603" y="623373"/>
                    </a:lnTo>
                    <a:lnTo>
                      <a:pt x="0" y="623373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77C4650-6D39-F128-3FC4-A8539823E072}"/>
                </a:ext>
              </a:extLst>
            </p:cNvPr>
            <p:cNvSpPr txBox="1"/>
            <p:nvPr/>
          </p:nvSpPr>
          <p:spPr>
            <a:xfrm rot="18900000">
              <a:off x="3699116" y="2488571"/>
              <a:ext cx="648786" cy="385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bg1"/>
                  </a:solidFill>
                  <a:cs typeface="Calibri" pitchFamily="34" charset="0"/>
                </a:rPr>
                <a:t>01</a:t>
              </a:r>
              <a:endParaRPr lang="ko-KR" altLang="en-US" sz="2800" b="1" dirty="0">
                <a:solidFill>
                  <a:schemeClr val="bg1"/>
                </a:solidFill>
                <a:cs typeface="Calibri" pitchFamily="34" charset="0"/>
              </a:endParaRP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E963B12E-69C5-32BA-649E-9C29458853B2}"/>
                </a:ext>
              </a:extLst>
            </p:cNvPr>
            <p:cNvSpPr txBox="1"/>
            <p:nvPr/>
          </p:nvSpPr>
          <p:spPr>
            <a:xfrm rot="18900000">
              <a:off x="3069817" y="2980684"/>
              <a:ext cx="945400" cy="329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</a:rPr>
                <a:t>Control of lifting equipment 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EA5885DB-6A43-DBB1-5A51-EDC014067B10}"/>
                </a:ext>
              </a:extLst>
            </p:cNvPr>
            <p:cNvGrpSpPr/>
            <p:nvPr/>
          </p:nvGrpSpPr>
          <p:grpSpPr>
            <a:xfrm rot="5400000">
              <a:off x="4810110" y="2231499"/>
              <a:ext cx="1232185" cy="818963"/>
              <a:chOff x="3273743" y="2659380"/>
              <a:chExt cx="1232185" cy="818963"/>
            </a:xfrm>
          </p:grpSpPr>
          <p:sp>
            <p:nvSpPr>
              <p:cNvPr id="263" name="TextBox 262">
                <a:extLst>
                  <a:ext uri="{FF2B5EF4-FFF2-40B4-BE49-F238E27FC236}">
                    <a16:creationId xmlns:a16="http://schemas.microsoft.com/office/drawing/2014/main" id="{3F94E35A-6145-8342-3699-55FBCB4F05EB}"/>
                  </a:ext>
                </a:extLst>
              </p:cNvPr>
              <p:cNvSpPr txBox="1"/>
              <p:nvPr/>
            </p:nvSpPr>
            <p:spPr>
              <a:xfrm rot="18900000">
                <a:off x="3857142" y="2659380"/>
                <a:ext cx="648786" cy="385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0" b="1" dirty="0">
                    <a:solidFill>
                      <a:schemeClr val="bg1"/>
                    </a:solidFill>
                    <a:cs typeface="Calibri" pitchFamily="34" charset="0"/>
                  </a:rPr>
                  <a:t>02</a:t>
                </a:r>
                <a:endParaRPr lang="ko-KR" altLang="en-US" sz="2800" b="1" dirty="0">
                  <a:solidFill>
                    <a:schemeClr val="bg1"/>
                  </a:solidFill>
                  <a:cs typeface="Calibri" pitchFamily="34" charset="0"/>
                </a:endParaRPr>
              </a:p>
            </p:txBody>
          </p:sp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0E35D3FD-68EC-4013-61AB-A66D71FF6E93}"/>
                  </a:ext>
                </a:extLst>
              </p:cNvPr>
              <p:cNvSpPr txBox="1"/>
              <p:nvPr/>
            </p:nvSpPr>
            <p:spPr>
              <a:xfrm rot="18900000">
                <a:off x="3273743" y="3162315"/>
                <a:ext cx="950710" cy="316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solidFill>
                      <a:schemeClr val="bg1"/>
                    </a:solidFill>
                  </a:rPr>
                  <a:t>Inspection requirements</a:t>
                </a:r>
                <a:endParaRPr lang="ko-KR" altLang="en-US"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A91CBF7A-B575-A4EB-B9BD-52378E7F9459}"/>
                </a:ext>
              </a:extLst>
            </p:cNvPr>
            <p:cNvGrpSpPr/>
            <p:nvPr/>
          </p:nvGrpSpPr>
          <p:grpSpPr>
            <a:xfrm>
              <a:off x="5067183" y="3928207"/>
              <a:ext cx="1267204" cy="857819"/>
              <a:chOff x="5067183" y="3928207"/>
              <a:chExt cx="1267204" cy="857819"/>
            </a:xfrm>
          </p:grpSpPr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D93939C9-5F50-091D-90E7-DED2106778AF}"/>
                  </a:ext>
                </a:extLst>
              </p:cNvPr>
              <p:cNvSpPr txBox="1"/>
              <p:nvPr/>
            </p:nvSpPr>
            <p:spPr>
              <a:xfrm rot="18900000">
                <a:off x="5067183" y="4400847"/>
                <a:ext cx="648786" cy="385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0" b="1" dirty="0">
                    <a:solidFill>
                      <a:schemeClr val="bg1"/>
                    </a:solidFill>
                    <a:cs typeface="Calibri" pitchFamily="34" charset="0"/>
                  </a:rPr>
                  <a:t>03</a:t>
                </a:r>
                <a:endParaRPr lang="ko-KR" altLang="en-US" sz="2800" b="1" dirty="0">
                  <a:solidFill>
                    <a:schemeClr val="bg1"/>
                  </a:solidFill>
                  <a:cs typeface="Calibri" pitchFamily="34" charset="0"/>
                </a:endParaRPr>
              </a:p>
            </p:txBody>
          </p:sp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2975EE39-9223-A44F-1419-B3DD7DE7B1F0}"/>
                  </a:ext>
                </a:extLst>
              </p:cNvPr>
              <p:cNvSpPr txBox="1"/>
              <p:nvPr/>
            </p:nvSpPr>
            <p:spPr>
              <a:xfrm rot="18900000">
                <a:off x="5409863" y="3928207"/>
                <a:ext cx="924524" cy="329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solidFill>
                      <a:schemeClr val="bg1"/>
                    </a:solidFill>
                  </a:rPr>
                  <a:t>Testing requirements</a:t>
                </a:r>
                <a:endParaRPr lang="ko-KR" altLang="en-US" sz="12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71CD85A5-36D0-8C1D-4E2B-4A29964D834E}"/>
                </a:ext>
              </a:extLst>
            </p:cNvPr>
            <p:cNvGrpSpPr/>
            <p:nvPr/>
          </p:nvGrpSpPr>
          <p:grpSpPr>
            <a:xfrm rot="5400000">
              <a:off x="3360235" y="4239580"/>
              <a:ext cx="1291952" cy="822412"/>
              <a:chOff x="5117547" y="3981388"/>
              <a:chExt cx="1291952" cy="822412"/>
            </a:xfrm>
          </p:grpSpPr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211A7B1F-305D-08B3-FEAB-0CB2F3AE54B7}"/>
                  </a:ext>
                </a:extLst>
              </p:cNvPr>
              <p:cNvSpPr txBox="1"/>
              <p:nvPr/>
            </p:nvSpPr>
            <p:spPr>
              <a:xfrm rot="18900000">
                <a:off x="5117547" y="4418621"/>
                <a:ext cx="648786" cy="385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800" b="1" dirty="0">
                    <a:solidFill>
                      <a:schemeClr val="bg1"/>
                    </a:solidFill>
                    <a:cs typeface="Calibri" pitchFamily="34" charset="0"/>
                  </a:rPr>
                  <a:t>04</a:t>
                </a:r>
                <a:endParaRPr lang="ko-KR" altLang="en-US" sz="2800" b="1" dirty="0">
                  <a:solidFill>
                    <a:schemeClr val="bg1"/>
                  </a:solidFill>
                  <a:cs typeface="Calibri" pitchFamily="34" charset="0"/>
                </a:endParaRPr>
              </a:p>
            </p:txBody>
          </p:sp>
          <p:sp>
            <p:nvSpPr>
              <p:cNvPr id="260" name="TextBox 259">
                <a:extLst>
                  <a:ext uri="{FF2B5EF4-FFF2-40B4-BE49-F238E27FC236}">
                    <a16:creationId xmlns:a16="http://schemas.microsoft.com/office/drawing/2014/main" id="{CC3FA27E-DF33-83D7-909B-6D194C321CBE}"/>
                  </a:ext>
                </a:extLst>
              </p:cNvPr>
              <p:cNvSpPr txBox="1"/>
              <p:nvPr/>
            </p:nvSpPr>
            <p:spPr>
              <a:xfrm rot="18900000">
                <a:off x="5434106" y="3981388"/>
                <a:ext cx="975393" cy="316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solidFill>
                      <a:schemeClr val="bg1"/>
                    </a:solidFill>
                  </a:rPr>
                  <a:t>Safe Use of lifting equipment</a:t>
                </a:r>
                <a:endParaRPr lang="ko-KR" altLang="en-US" sz="12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74" name="TextBox 273">
            <a:extLst>
              <a:ext uri="{FF2B5EF4-FFF2-40B4-BE49-F238E27FC236}">
                <a16:creationId xmlns:a16="http://schemas.microsoft.com/office/drawing/2014/main" id="{00E10F46-6D88-83BA-2FFE-E760C1647712}"/>
              </a:ext>
            </a:extLst>
          </p:cNvPr>
          <p:cNvSpPr txBox="1"/>
          <p:nvPr/>
        </p:nvSpPr>
        <p:spPr>
          <a:xfrm>
            <a:off x="2000993" y="3676297"/>
            <a:ext cx="2223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Calibri" pitchFamily="34" charset="0"/>
              </a:rPr>
              <a:t>Control of Lifting Accessories</a:t>
            </a:r>
          </a:p>
        </p:txBody>
      </p:sp>
      <p:sp>
        <p:nvSpPr>
          <p:cNvPr id="287" name="Oval 25">
            <a:extLst>
              <a:ext uri="{FF2B5EF4-FFF2-40B4-BE49-F238E27FC236}">
                <a16:creationId xmlns:a16="http://schemas.microsoft.com/office/drawing/2014/main" id="{AD896956-1CD3-0443-7982-C12C68387E72}"/>
              </a:ext>
            </a:extLst>
          </p:cNvPr>
          <p:cNvSpPr>
            <a:spLocks noChangeAspect="1"/>
          </p:cNvSpPr>
          <p:nvPr/>
        </p:nvSpPr>
        <p:spPr>
          <a:xfrm>
            <a:off x="6233617" y="1774290"/>
            <a:ext cx="529090" cy="529812"/>
          </a:xfrm>
          <a:custGeom>
            <a:avLst/>
            <a:gdLst/>
            <a:ahLst/>
            <a:cxnLst/>
            <a:rect l="l" t="t" r="r" b="b"/>
            <a:pathLst>
              <a:path w="3225370" h="3229762">
                <a:moveTo>
                  <a:pt x="1355872" y="0"/>
                </a:moveTo>
                <a:cubicBezTo>
                  <a:pt x="1564636" y="0"/>
                  <a:pt x="1733872" y="169236"/>
                  <a:pt x="1733872" y="378000"/>
                </a:cubicBezTo>
                <a:cubicBezTo>
                  <a:pt x="1733872" y="530834"/>
                  <a:pt x="1643169" y="662483"/>
                  <a:pt x="1512292" y="721255"/>
                </a:cubicBezTo>
                <a:lnTo>
                  <a:pt x="1607042" y="1169019"/>
                </a:lnTo>
                <a:cubicBezTo>
                  <a:pt x="1611319" y="1167786"/>
                  <a:pt x="1615651" y="1167712"/>
                  <a:pt x="1620000" y="1167712"/>
                </a:cubicBezTo>
                <a:cubicBezTo>
                  <a:pt x="1828764" y="1167712"/>
                  <a:pt x="1998000" y="1336948"/>
                  <a:pt x="1998000" y="1545712"/>
                </a:cubicBezTo>
                <a:lnTo>
                  <a:pt x="1996362" y="1567711"/>
                </a:lnTo>
                <a:lnTo>
                  <a:pt x="2525816" y="1711728"/>
                </a:lnTo>
                <a:cubicBezTo>
                  <a:pt x="2591164" y="1602543"/>
                  <a:pt x="2710810" y="1530128"/>
                  <a:pt x="2847370" y="1530128"/>
                </a:cubicBezTo>
                <a:cubicBezTo>
                  <a:pt x="3056134" y="1530128"/>
                  <a:pt x="3225370" y="1699364"/>
                  <a:pt x="3225370" y="1908128"/>
                </a:cubicBezTo>
                <a:cubicBezTo>
                  <a:pt x="3225370" y="2116892"/>
                  <a:pt x="3056134" y="2286128"/>
                  <a:pt x="2847370" y="2286128"/>
                </a:cubicBezTo>
                <a:cubicBezTo>
                  <a:pt x="2638606" y="2286128"/>
                  <a:pt x="2469370" y="2116892"/>
                  <a:pt x="2469370" y="1908128"/>
                </a:cubicBezTo>
                <a:lnTo>
                  <a:pt x="2475505" y="1847275"/>
                </a:lnTo>
                <a:lnTo>
                  <a:pt x="1957861" y="1706471"/>
                </a:lnTo>
                <a:cubicBezTo>
                  <a:pt x="1922674" y="1789256"/>
                  <a:pt x="1855841" y="1854310"/>
                  <a:pt x="1773397" y="1890608"/>
                </a:cubicBezTo>
                <a:lnTo>
                  <a:pt x="1908290" y="2478637"/>
                </a:lnTo>
                <a:cubicBezTo>
                  <a:pt x="2094333" y="2500701"/>
                  <a:pt x="2237929" y="2659462"/>
                  <a:pt x="2237929" y="2851762"/>
                </a:cubicBezTo>
                <a:cubicBezTo>
                  <a:pt x="2237929" y="3060526"/>
                  <a:pt x="2068693" y="3229762"/>
                  <a:pt x="1859929" y="3229762"/>
                </a:cubicBezTo>
                <a:cubicBezTo>
                  <a:pt x="1651165" y="3229762"/>
                  <a:pt x="1481929" y="3060526"/>
                  <a:pt x="1481929" y="2851762"/>
                </a:cubicBezTo>
                <a:cubicBezTo>
                  <a:pt x="1481929" y="2676759"/>
                  <a:pt x="1600854" y="2529533"/>
                  <a:pt x="1762693" y="2487978"/>
                </a:cubicBezTo>
                <a:lnTo>
                  <a:pt x="1632951" y="1922407"/>
                </a:lnTo>
                <a:cubicBezTo>
                  <a:pt x="1628677" y="1923639"/>
                  <a:pt x="1624347" y="1923712"/>
                  <a:pt x="1620000" y="1923712"/>
                </a:cubicBezTo>
                <a:cubicBezTo>
                  <a:pt x="1474614" y="1923712"/>
                  <a:pt x="1348399" y="1841634"/>
                  <a:pt x="1286703" y="1720478"/>
                </a:cubicBezTo>
                <a:lnTo>
                  <a:pt x="726463" y="1950491"/>
                </a:lnTo>
                <a:cubicBezTo>
                  <a:pt x="745503" y="1995553"/>
                  <a:pt x="756000" y="2045092"/>
                  <a:pt x="756000" y="2097083"/>
                </a:cubicBezTo>
                <a:cubicBezTo>
                  <a:pt x="756000" y="2305847"/>
                  <a:pt x="586764" y="2475083"/>
                  <a:pt x="378000" y="2475083"/>
                </a:cubicBezTo>
                <a:cubicBezTo>
                  <a:pt x="169236" y="2475083"/>
                  <a:pt x="0" y="2305847"/>
                  <a:pt x="0" y="2097083"/>
                </a:cubicBezTo>
                <a:cubicBezTo>
                  <a:pt x="0" y="1888319"/>
                  <a:pt x="169236" y="1719083"/>
                  <a:pt x="378000" y="1719083"/>
                </a:cubicBezTo>
                <a:cubicBezTo>
                  <a:pt x="481765" y="1719083"/>
                  <a:pt x="575764" y="1760894"/>
                  <a:pt x="643957" y="1828700"/>
                </a:cubicBezTo>
                <a:lnTo>
                  <a:pt x="1245626" y="1581679"/>
                </a:lnTo>
                <a:cubicBezTo>
                  <a:pt x="1242578" y="1569964"/>
                  <a:pt x="1242000" y="1557905"/>
                  <a:pt x="1242000" y="1545712"/>
                </a:cubicBezTo>
                <a:cubicBezTo>
                  <a:pt x="1242000" y="1391666"/>
                  <a:pt x="1334148" y="1259142"/>
                  <a:pt x="1466584" y="1200827"/>
                </a:cubicBezTo>
                <a:lnTo>
                  <a:pt x="1372109" y="754363"/>
                </a:lnTo>
                <a:cubicBezTo>
                  <a:pt x="1366762" y="755885"/>
                  <a:pt x="1361331" y="756000"/>
                  <a:pt x="1355872" y="756000"/>
                </a:cubicBezTo>
                <a:cubicBezTo>
                  <a:pt x="1147108" y="756000"/>
                  <a:pt x="977872" y="586764"/>
                  <a:pt x="977872" y="378000"/>
                </a:cubicBezTo>
                <a:cubicBezTo>
                  <a:pt x="977872" y="169236"/>
                  <a:pt x="1147108" y="0"/>
                  <a:pt x="1355872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600" b="1">
              <a:solidFill>
                <a:schemeClr val="bg1"/>
              </a:solidFill>
            </a:endParaRPr>
          </a:p>
        </p:txBody>
      </p:sp>
      <p:sp>
        <p:nvSpPr>
          <p:cNvPr id="288" name="Parallelogram 30">
            <a:extLst>
              <a:ext uri="{FF2B5EF4-FFF2-40B4-BE49-F238E27FC236}">
                <a16:creationId xmlns:a16="http://schemas.microsoft.com/office/drawing/2014/main" id="{5F242856-FCB6-45A3-0D9A-2A452B2E9470}"/>
              </a:ext>
            </a:extLst>
          </p:cNvPr>
          <p:cNvSpPr/>
          <p:nvPr/>
        </p:nvSpPr>
        <p:spPr>
          <a:xfrm flipH="1">
            <a:off x="6256489" y="3450724"/>
            <a:ext cx="444165" cy="529812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600" b="1">
              <a:solidFill>
                <a:schemeClr val="bg1"/>
              </a:solidFill>
            </a:endParaRPr>
          </a:p>
        </p:txBody>
      </p:sp>
      <p:sp>
        <p:nvSpPr>
          <p:cNvPr id="289" name="Rectangle 9">
            <a:extLst>
              <a:ext uri="{FF2B5EF4-FFF2-40B4-BE49-F238E27FC236}">
                <a16:creationId xmlns:a16="http://schemas.microsoft.com/office/drawing/2014/main" id="{74B0D281-F633-8254-2916-A78126818C36}"/>
              </a:ext>
            </a:extLst>
          </p:cNvPr>
          <p:cNvSpPr/>
          <p:nvPr/>
        </p:nvSpPr>
        <p:spPr>
          <a:xfrm>
            <a:off x="6320164" y="5127158"/>
            <a:ext cx="421974" cy="429696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600" b="1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15059F-A9DA-56E1-675F-82CA2B28A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4737" y="169204"/>
            <a:ext cx="2984755" cy="78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739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ocess_x0020_Owmer xmlns="25586fb6-ed09-4f2d-8ea7-eda1a9fd2320">
      <UserInfo>
        <DisplayName>Montaser, Mohamed (GE Vernova)</DisplayName>
        <AccountId>2287</AccountId>
        <AccountType/>
      </UserInfo>
    </Process_x0020_Owmer>
    <Functional_x0020_Owner xmlns="25586fb6-ed09-4f2d-8ea7-eda1a9fd2320">Management Processes - Leadership and Commitment</Functional_x0020_Owner>
    <Nomenclature xmlns="25586fb6-ed09-4f2d-8ea7-eda1a9fd2320">FC-GL-EHS-SAF-0701-1-QC</Nomenclature>
    <LastReviewDate xmlns="cc7fbaa3-8214-4644-99f1-d2e5a6ae9914" xsi:nil="true"/>
    <RevisionNumber xmlns="cc7fbaa3-8214-4644-99f1-d2e5a6ae991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A2F64D6E2C740A2EFD32F6136F44B" ma:contentTypeVersion="31" ma:contentTypeDescription="Create a new document." ma:contentTypeScope="" ma:versionID="f6d5169442be2795745eeba6edf0f975">
  <xsd:schema xmlns:xsd="http://www.w3.org/2001/XMLSchema" xmlns:xs="http://www.w3.org/2001/XMLSchema" xmlns:p="http://schemas.microsoft.com/office/2006/metadata/properties" xmlns:ns2="25586fb6-ed09-4f2d-8ea7-eda1a9fd2320" xmlns:ns3="cc7fbaa3-8214-4644-99f1-d2e5a6ae9914" xmlns:ns4="f0c7a816-7a7e-42fb-b4dd-eafc20cb049d" targetNamespace="http://schemas.microsoft.com/office/2006/metadata/properties" ma:root="true" ma:fieldsID="1d6046f623722b44c576f527ef753e5d" ns2:_="" ns3:_="" ns4:_="">
    <xsd:import namespace="25586fb6-ed09-4f2d-8ea7-eda1a9fd2320"/>
    <xsd:import namespace="cc7fbaa3-8214-4644-99f1-d2e5a6ae9914"/>
    <xsd:import namespace="f0c7a816-7a7e-42fb-b4dd-eafc20cb049d"/>
    <xsd:element name="properties">
      <xsd:complexType>
        <xsd:sequence>
          <xsd:element name="documentManagement">
            <xsd:complexType>
              <xsd:all>
                <xsd:element ref="ns2:Process_x0020_Owmer"/>
                <xsd:element ref="ns2:Functional_x0020_Owner"/>
                <xsd:element ref="ns3:LastReviewDate" minOccurs="0"/>
                <xsd:element ref="ns2:Nomenclature" minOccurs="0"/>
                <xsd:element ref="ns3:RevisionNumber" minOccurs="0"/>
                <xsd:element ref="ns2:MediaServiceMetadata" minOccurs="0"/>
                <xsd:element ref="ns2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86fb6-ed09-4f2d-8ea7-eda1a9fd2320" elementFormDefault="qualified">
    <xsd:import namespace="http://schemas.microsoft.com/office/2006/documentManagement/types"/>
    <xsd:import namespace="http://schemas.microsoft.com/office/infopath/2007/PartnerControls"/>
    <xsd:element name="Process_x0020_Owmer" ma:index="1" ma:displayName="Have a question? Email the Process Owner" ma:description="Discuss Audit Findings and QWI Updates with the Responsible Person" ma:list="UserInfo" ma:SharePointGroup="0" ma:internalName="Process_x0020_Owmer" ma:readOnly="false" ma:showField="NameWithPictureAndDetail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unctional_x0020_Owner" ma:index="2" ma:displayName="Function" ma:default="Management Processes - Leadership and Commitment" ma:description="Management Processes - Leadership and Commitment" ma:format="Dropdown" ma:internalName="Functional_x0020_Owner" ma:readOnly="false">
      <xsd:simpleType>
        <xsd:restriction base="dms:Text">
          <xsd:maxLength value="255"/>
        </xsd:restriction>
      </xsd:simpleType>
    </xsd:element>
    <xsd:element name="Nomenclature" ma:index="4" nillable="true" ma:displayName="Document Number" ma:format="Dropdown" ma:internalName="Nomenclature" ma:readOnly="false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fbaa3-8214-4644-99f1-d2e5a6ae9914" elementFormDefault="qualified">
    <xsd:import namespace="http://schemas.microsoft.com/office/2006/documentManagement/types"/>
    <xsd:import namespace="http://schemas.microsoft.com/office/infopath/2007/PartnerControls"/>
    <xsd:element name="LastReviewDate" ma:index="3" nillable="true" ma:displayName="Last Review Date" ma:description="The date the procedure was last reviewed or revised" ma:format="DateOnly" ma:internalName="LastReviewDate" ma:readOnly="false">
      <xsd:simpleType>
        <xsd:restriction base="dms:DateTime"/>
      </xsd:simpleType>
    </xsd:element>
    <xsd:element name="RevisionNumber" ma:index="5" nillable="true" ma:displayName="Revision Number" ma:decimals="1" ma:description="The current revision published" ma:format="Dropdown" ma:internalName="RevisionNumber" ma:readOnly="false" ma:percentage="FALSE">
      <xsd:simpleType>
        <xsd:restriction base="dms:Number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7a816-7a7e-42fb-b4dd-eafc20cb049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QMS Lev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EEFD9D3-44A9-4502-9B37-6262D19E973C}">
  <ds:schemaRefs>
    <ds:schemaRef ds:uri="http://schemas.microsoft.com/office/2006/metadata/properties"/>
    <ds:schemaRef ds:uri="http://schemas.microsoft.com/office/infopath/2007/PartnerControls"/>
    <ds:schemaRef ds:uri="25586fb6-ed09-4f2d-8ea7-eda1a9fd2320"/>
  </ds:schemaRefs>
</ds:datastoreItem>
</file>

<file path=customXml/itemProps2.xml><?xml version="1.0" encoding="utf-8"?>
<ds:datastoreItem xmlns:ds="http://schemas.openxmlformats.org/officeDocument/2006/customXml" ds:itemID="{F5551D9F-98EC-4D9C-A709-CFB86FDF03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B505E8-7204-4E99-A3B0-FC839BEEE462}"/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164</Words>
  <Application>Microsoft Office PowerPoint</Application>
  <PresentationFormat>Widescreen</PresentationFormat>
  <Paragraphs>34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Montaser, Mohamed (FieldCore)</dc:creator>
  <cp:lastModifiedBy>Edwards1, Mark (GE Vernova)</cp:lastModifiedBy>
  <cp:revision>62</cp:revision>
  <dcterms:created xsi:type="dcterms:W3CDTF">2023-01-20T11:52:36Z</dcterms:created>
  <dcterms:modified xsi:type="dcterms:W3CDTF">2024-04-18T16:17:10Z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0x010100AABA2F64D6E2C740A2EFD32F6136F44B</vt:lpwstr>
  </property>
</Properties>
</file>