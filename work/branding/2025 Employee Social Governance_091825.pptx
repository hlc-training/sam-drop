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1"/>
  </p:notesMasterIdLst>
  <p:handoutMasterIdLst>
    <p:handoutMasterId r:id="rId12"/>
  </p:handoutMasterIdLst>
  <p:sldIdLst>
    <p:sldId id="351" r:id="rId5"/>
    <p:sldId id="307" r:id="rId6"/>
    <p:sldId id="277" r:id="rId7"/>
    <p:sldId id="279" r:id="rId8"/>
    <p:sldId id="2147472071" r:id="rId9"/>
    <p:sldId id="370" r:id="rId10"/>
  </p:sldIdLst>
  <p:sldSz cx="12192000" cy="6858000"/>
  <p:notesSz cx="6858000" cy="9144000"/>
  <p:embeddedFontLst>
    <p:embeddedFont>
      <p:font typeface="Inter" panose="020B0502030000000004" pitchFamily="34" charset="0"/>
      <p:regular r:id="rId13"/>
      <p:bold r:id="rId14"/>
      <p:italic r:id="rId15"/>
      <p:boldItalic r:id="rId16"/>
    </p:embeddedFont>
    <p:embeddedFont>
      <p:font typeface="Inter Semi Bold" panose="020B0502030000000004" pitchFamily="34" charset="0"/>
      <p:regular r:id="rId17"/>
      <p:bold r:id="rId18"/>
      <p:italic r:id="rId19"/>
      <p:boldItalic r:id="rId20"/>
    </p:embeddedFont>
    <p:embeddedFont>
      <p:font typeface="Inter Tight" panose="020B0502030000000004" pitchFamily="34" charset="0"/>
      <p:regular r:id="rId21"/>
      <p:bold r:id="rId22"/>
      <p:italic r:id="rId23"/>
      <p:boldItalic r:id="rId24"/>
    </p:embeddedFont>
    <p:embeddedFont>
      <p:font typeface="Sons Condensed Extrabold" panose="02060706060206060203" pitchFamily="18" charset="77"/>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A8A"/>
    <a:srgbClr val="439297"/>
    <a:srgbClr val="C7DBDB"/>
    <a:srgbClr val="96BDBD"/>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59" autoAdjust="0"/>
  </p:normalViewPr>
  <p:slideViewPr>
    <p:cSldViewPr snapToGrid="0" snapToObjects="1" showGuides="1">
      <p:cViewPr varScale="1">
        <p:scale>
          <a:sx n="135" d="100"/>
          <a:sy n="135" d="100"/>
        </p:scale>
        <p:origin x="192" y="1752"/>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15000"/>
    </p:cViewPr>
  </p:sorterViewPr>
  <p:notesViewPr>
    <p:cSldViewPr snapToGrid="0" snapToObjects="1" showGuides="1">
      <p:cViewPr varScale="1">
        <p:scale>
          <a:sx n="71" d="100"/>
          <a:sy n="71" d="100"/>
        </p:scale>
        <p:origin x="2952"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openxmlformats.org/officeDocument/2006/relationships/font" Target="fonts/font12.fntdata"/><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10/13/25</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10/13/25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sz="800">
                <a:solidFill>
                  <a:srgbClr val="FAFAFA"/>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sz="800">
                <a:solidFill>
                  <a:srgbClr val="21212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14E532AD-A6F9-5A73-F9B7-FA1F6B8FBFE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24D80C1C-4E45-B864-5859-F435E9FC0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173964546"/>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027F9F60-4DFD-5661-B616-5D7B4BD4577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64338C3A-CD7B-4BAF-1E62-943E6B16317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921D3A7-9FE4-97D1-71B2-4F6872FE43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130EFFA2-C032-FC12-6BC9-48DADE2779E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E6E1E6A5-8795-C79E-AA38-F1E35F263A9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6345BB7-0EFA-36D5-F2AC-D08AE3806B3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B6006637-4CFF-DA29-70FE-92FAA52065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C079ABB-4425-2F6A-B71A-F0AFA7248E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Footer Placeholder 15">
            <a:extLst>
              <a:ext uri="{FF2B5EF4-FFF2-40B4-BE49-F238E27FC236}">
                <a16:creationId xmlns:a16="http://schemas.microsoft.com/office/drawing/2014/main" id="{6AA19732-5DB3-4171-CEA3-9065A8A6D39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344F9DB3-94A4-4FB1-FCDC-A495244861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3" name="Footer Placeholder 15">
            <a:extLst>
              <a:ext uri="{FF2B5EF4-FFF2-40B4-BE49-F238E27FC236}">
                <a16:creationId xmlns:a16="http://schemas.microsoft.com/office/drawing/2014/main" id="{27512AE6-0BE8-8360-8C66-96B86F86B9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13DDB821-528C-407C-7414-E650782196B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7A278797-887B-4DF5-EB13-48AB84D24D7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3672ABEC-0EDA-22BD-65FE-791E9EE774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3951F52-DC48-A7D4-2824-F5307F064DE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192411F8-CBE6-BB9A-E30E-38F0DC1B4E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97A2E13F-C618-516D-5AE2-32CF541E55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
        <p:nvSpPr>
          <p:cNvPr id="4" name="Footer Placeholder 15">
            <a:extLst>
              <a:ext uri="{FF2B5EF4-FFF2-40B4-BE49-F238E27FC236}">
                <a16:creationId xmlns:a16="http://schemas.microsoft.com/office/drawing/2014/main" id="{C38754F8-5FCF-38D3-C751-A906C8F44D7F}"/>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15">
            <a:extLst>
              <a:ext uri="{FF2B5EF4-FFF2-40B4-BE49-F238E27FC236}">
                <a16:creationId xmlns:a16="http://schemas.microsoft.com/office/drawing/2014/main" id="{9B07FCD0-F61D-F52A-E4FA-1E848E1AACCB}"/>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spc="80"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
        <p:nvSpPr>
          <p:cNvPr id="7" name="Footer Placeholder 15">
            <a:extLst>
              <a:ext uri="{FF2B5EF4-FFF2-40B4-BE49-F238E27FC236}">
                <a16:creationId xmlns:a16="http://schemas.microsoft.com/office/drawing/2014/main" id="{BD2FB510-466F-A7D9-A9F6-0009FC1704C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2" name="Footer Placeholder 15">
            <a:extLst>
              <a:ext uri="{FF2B5EF4-FFF2-40B4-BE49-F238E27FC236}">
                <a16:creationId xmlns:a16="http://schemas.microsoft.com/office/drawing/2014/main" id="{CCAD9BAE-A65C-C726-B402-0C0F4D2519E8}"/>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Footer Placeholder 15">
            <a:extLst>
              <a:ext uri="{FF2B5EF4-FFF2-40B4-BE49-F238E27FC236}">
                <a16:creationId xmlns:a16="http://schemas.microsoft.com/office/drawing/2014/main" id="{53311958-D829-0977-08EB-86681C4D7D93}"/>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FDAC1D1-ACEA-9694-7D4B-F17EC05C01C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0957192-804A-76BF-781A-6D4D325C408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D8F3FB77-B95C-94D8-83F6-5D2FFF473D2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
        <p:nvSpPr>
          <p:cNvPr id="7" name="Footer Placeholder 15">
            <a:extLst>
              <a:ext uri="{FF2B5EF4-FFF2-40B4-BE49-F238E27FC236}">
                <a16:creationId xmlns:a16="http://schemas.microsoft.com/office/drawing/2014/main" id="{6260D3A3-2C98-CDF2-9FCC-B98BC57928F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955F2CDD-730A-6F00-31A5-FBDCF0F3A05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4" name="Footer Placeholder 15">
            <a:extLst>
              <a:ext uri="{FF2B5EF4-FFF2-40B4-BE49-F238E27FC236}">
                <a16:creationId xmlns:a16="http://schemas.microsoft.com/office/drawing/2014/main" id="{7480F360-7E53-B0F3-C69A-B610CF1E8DD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spc="80"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5" name="Footer Placeholder 15">
            <a:extLst>
              <a:ext uri="{FF2B5EF4-FFF2-40B4-BE49-F238E27FC236}">
                <a16:creationId xmlns:a16="http://schemas.microsoft.com/office/drawing/2014/main" id="{1329F007-C0C3-3A01-8745-6339F394E6D7}"/>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554979" cy="5486400"/>
          </a:xfrm>
        </p:spPr>
        <p:txBody>
          <a:bodyPr anchor="t" anchorCtr="0"/>
          <a:lstStyle>
            <a:lvl1pPr marL="0" indent="0">
              <a:lnSpc>
                <a:spcPct val="85000"/>
              </a:lnSpc>
              <a:spcAft>
                <a:spcPts val="0"/>
              </a:spcAft>
              <a:defRPr sz="5000" cap="all" spc="80"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D058DE80-2D20-BEDA-3025-4E13FFAADB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75B2F3C1-ABC4-8C6F-2C19-1300BBDEB6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9" name="Footer Placeholder 15">
            <a:extLst>
              <a:ext uri="{FF2B5EF4-FFF2-40B4-BE49-F238E27FC236}">
                <a16:creationId xmlns:a16="http://schemas.microsoft.com/office/drawing/2014/main" id="{BF60D929-2B8A-C56B-C065-F3BDEBB412AF}"/>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spc="80" baseline="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15">
            <a:extLst>
              <a:ext uri="{FF2B5EF4-FFF2-40B4-BE49-F238E27FC236}">
                <a16:creationId xmlns:a16="http://schemas.microsoft.com/office/drawing/2014/main" id="{A878362A-0DD8-8964-3726-126DE717BA9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spc="80" baseline="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15">
            <a:extLst>
              <a:ext uri="{FF2B5EF4-FFF2-40B4-BE49-F238E27FC236}">
                <a16:creationId xmlns:a16="http://schemas.microsoft.com/office/drawing/2014/main" id="{6AE0E5DA-5A63-7DD1-6A29-E797D98A208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1983260"/>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rPr lang="en-US" dirty="0"/>
              <a:t>##</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445502A3-B17A-C791-33DE-86438C0F5F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rPr lang="en-US" dirty="0"/>
              <a:t>##</a:t>
            </a:r>
          </a:p>
        </p:txBody>
      </p:sp>
      <p:sp>
        <p:nvSpPr>
          <p:cNvPr id="4" name="Footer Placeholder 15">
            <a:extLst>
              <a:ext uri="{FF2B5EF4-FFF2-40B4-BE49-F238E27FC236}">
                <a16:creationId xmlns:a16="http://schemas.microsoft.com/office/drawing/2014/main" id="{D95993A9-6EF4-EA6D-DD7C-0056E139CA63}"/>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a:ea typeface="Inter" panose="02000503000000020004" pitchFamily="2" charset="0"/>
              </a:rPr>
              <a:t>© 2025 GE Vernova and/or its affiliates. All rights reserved.</a:t>
            </a:r>
            <a:endParaRPr lang="en-US" sz="800" dirty="0"/>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745" r:id="rId6"/>
    <p:sldLayoutId id="2147483650" r:id="rId7"/>
    <p:sldLayoutId id="2147483668" r:id="rId8"/>
    <p:sldLayoutId id="2147483664" r:id="rId9"/>
    <p:sldLayoutId id="2147483669" r:id="rId10"/>
    <p:sldLayoutId id="2147483739" r:id="rId11"/>
    <p:sldLayoutId id="2147483731" r:id="rId12"/>
    <p:sldLayoutId id="2147483740" r:id="rId13"/>
    <p:sldLayoutId id="2147483667" r:id="rId14"/>
    <p:sldLayoutId id="2147483738" r:id="rId15"/>
    <p:sldLayoutId id="2147483665" r:id="rId16"/>
    <p:sldLayoutId id="2147483741" r:id="rId17"/>
    <p:sldLayoutId id="2147483666" r:id="rId18"/>
    <p:sldLayoutId id="2147483672" r:id="rId19"/>
    <p:sldLayoutId id="2147483673" r:id="rId20"/>
    <p:sldLayoutId id="2147483674" r:id="rId21"/>
    <p:sldLayoutId id="2147483743" r:id="rId22"/>
    <p:sldLayoutId id="2147483675" r:id="rId23"/>
    <p:sldLayoutId id="2147483676" r:id="rId24"/>
    <p:sldLayoutId id="2147483677" r:id="rId25"/>
    <p:sldLayoutId id="2147483651" r:id="rId26"/>
    <p:sldLayoutId id="2147483715" r:id="rId27"/>
    <p:sldLayoutId id="2147483719" r:id="rId28"/>
    <p:sldLayoutId id="2147483742" r:id="rId29"/>
    <p:sldLayoutId id="2147483701" r:id="rId30"/>
    <p:sldLayoutId id="2147483720" r:id="rId31"/>
    <p:sldLayoutId id="2147483684" r:id="rId32"/>
    <p:sldLayoutId id="2147483685" r:id="rId33"/>
    <p:sldLayoutId id="2147483686" r:id="rId34"/>
    <p:sldLayoutId id="2147483689" r:id="rId35"/>
    <p:sldLayoutId id="2147483687" r:id="rId36"/>
    <p:sldLayoutId id="2147483732" r:id="rId37"/>
    <p:sldLayoutId id="2147483692" r:id="rId38"/>
    <p:sldLayoutId id="2147483726" r:id="rId39"/>
    <p:sldLayoutId id="2147483695" r:id="rId40"/>
    <p:sldLayoutId id="2147483723" r:id="rId41"/>
    <p:sldLayoutId id="2147483697" r:id="rId42"/>
    <p:sldLayoutId id="2147483724" r:id="rId43"/>
    <p:sldLayoutId id="2147483733" r:id="rId44"/>
    <p:sldLayoutId id="2147483734" r:id="rId45"/>
    <p:sldLayoutId id="2147483699" r:id="rId46"/>
    <p:sldLayoutId id="2147483725" r:id="rId47"/>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hyperlink" Target="https://gevernova.box.com/s/y97sjgi5idsqh1hd7csby3kfk7bs0pz9" TargetMode="External"/><Relationship Id="rId2" Type="http://schemas.openxmlformats.org/officeDocument/2006/relationships/hyperlink" Target="http://www.gevernova.com/brand-central" TargetMode="External"/><Relationship Id="rId1" Type="http://schemas.openxmlformats.org/officeDocument/2006/relationships/slideLayout" Target="../slideLayouts/slideLayout7.xml"/><Relationship Id="rId4" Type="http://schemas.openxmlformats.org/officeDocument/2006/relationships/hyperlink" Target="mailto:social@gevernova.com?subject=Reporting:%2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pPr defTabSz="914126"/>
            <a:r>
              <a:rPr lang="en-US" sz="800" dirty="0">
                <a:ea typeface="Inter" panose="02000503000000020004" pitchFamily="2" charset="0"/>
              </a:rPr>
              <a:t>© 2025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Social media governance</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For all employees</a:t>
            </a:r>
          </a:p>
          <a:p>
            <a:r>
              <a:rPr lang="en-US" dirty="0"/>
              <a:t>Global Brand Team</a:t>
            </a:r>
          </a:p>
          <a:p>
            <a:r>
              <a:rPr lang="en-US" dirty="0"/>
              <a:t>September 2025</a:t>
            </a:r>
          </a:p>
        </p:txBody>
      </p:sp>
    </p:spTree>
    <p:extLst>
      <p:ext uri="{BB962C8B-B14F-4D97-AF65-F5344CB8AC3E}">
        <p14:creationId xmlns:p14="http://schemas.microsoft.com/office/powerpoint/2010/main" val="3589966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8D3DF9-B138-FA43-8963-C5F2C046E8D6}"/>
              </a:ext>
            </a:extLst>
          </p:cNvPr>
          <p:cNvSpPr>
            <a:spLocks noGrp="1"/>
          </p:cNvSpPr>
          <p:nvPr>
            <p:ph type="body" sz="quarter" idx="12"/>
          </p:nvPr>
        </p:nvSpPr>
        <p:spPr>
          <a:xfrm>
            <a:off x="3026004" y="615950"/>
            <a:ext cx="5516417" cy="779217"/>
          </a:xfrm>
        </p:spPr>
        <p:txBody>
          <a:bodyPr/>
          <a:lstStyle/>
          <a:p>
            <a:r>
              <a:rPr lang="en-US" spc="80" dirty="0"/>
              <a:t>purpose</a:t>
            </a:r>
          </a:p>
        </p:txBody>
      </p:sp>
      <p:sp>
        <p:nvSpPr>
          <p:cNvPr id="5" name="Slide Number Placeholder 4">
            <a:extLst>
              <a:ext uri="{FF2B5EF4-FFF2-40B4-BE49-F238E27FC236}">
                <a16:creationId xmlns:a16="http://schemas.microsoft.com/office/drawing/2014/main" id="{FB2DFC29-CE60-B065-51F8-72A4759BECA2}"/>
              </a:ext>
            </a:extLst>
          </p:cNvPr>
          <p:cNvSpPr>
            <a:spLocks noGrp="1"/>
          </p:cNvSpPr>
          <p:nvPr>
            <p:ph type="sldNum" sz="quarter" idx="11"/>
          </p:nvPr>
        </p:nvSpPr>
        <p:spPr/>
        <p:txBody>
          <a:bodyPr/>
          <a:lstStyle/>
          <a:p>
            <a:fld id="{7A7A97EF-C944-4447-B862-B593E9B4A0FF}" type="slidenum">
              <a:rPr lang="en-US" smtClean="0"/>
              <a:pPr/>
              <a:t>2</a:t>
            </a:fld>
            <a:endParaRPr lang="en-US" dirty="0"/>
          </a:p>
        </p:txBody>
      </p:sp>
      <p:sp>
        <p:nvSpPr>
          <p:cNvPr id="3" name="Footer Placeholder 15">
            <a:extLst>
              <a:ext uri="{FF2B5EF4-FFF2-40B4-BE49-F238E27FC236}">
                <a16:creationId xmlns:a16="http://schemas.microsoft.com/office/drawing/2014/main" id="{49791C36-5C33-A906-9B64-E56D1DD19635}"/>
              </a:ext>
            </a:extLst>
          </p:cNvPr>
          <p:cNvSpPr txBox="1">
            <a:spLocks/>
          </p:cNvSpPr>
          <p:nvPr/>
        </p:nvSpPr>
        <p:spPr>
          <a:xfrm>
            <a:off x="419100" y="6492875"/>
            <a:ext cx="10248900" cy="244653"/>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126"/>
            <a:r>
              <a:rPr lang="en-US">
                <a:ea typeface="Inter" panose="02000503000000020004" pitchFamily="2" charset="0"/>
              </a:rPr>
              <a:t>© 2025 GE Vernova and/or its affiliates. All rights reserved.</a:t>
            </a:r>
            <a:endParaRPr lang="en-US" dirty="0"/>
          </a:p>
        </p:txBody>
      </p:sp>
      <p:sp>
        <p:nvSpPr>
          <p:cNvPr id="2" name="Content Placeholder 4">
            <a:extLst>
              <a:ext uri="{FF2B5EF4-FFF2-40B4-BE49-F238E27FC236}">
                <a16:creationId xmlns:a16="http://schemas.microsoft.com/office/drawing/2014/main" id="{7AB4F971-8BD3-2247-D54E-D8682A0A511B}"/>
              </a:ext>
            </a:extLst>
          </p:cNvPr>
          <p:cNvSpPr txBox="1">
            <a:spLocks/>
          </p:cNvSpPr>
          <p:nvPr/>
        </p:nvSpPr>
        <p:spPr>
          <a:xfrm>
            <a:off x="3026004" y="1617730"/>
            <a:ext cx="7643445" cy="2609571"/>
          </a:xfrm>
          <a:prstGeom prst="rect">
            <a:avLst/>
          </a:prstGeom>
        </p:spPr>
        <p:txBody>
          <a:bodyPr vert="horz" lIns="0" tIns="0" rIns="0" bIns="0" rtlCol="0" anchor="t" anchorCtr="0">
            <a:noAutofit/>
          </a:bodyPr>
          <a:lstStyle>
            <a:lvl1pPr marL="0" indent="0" algn="l" defTabSz="914400" rtl="0" eaLnBrk="1" latinLnBrk="0" hangingPunct="1">
              <a:lnSpc>
                <a:spcPct val="85000"/>
              </a:lnSpc>
              <a:spcBef>
                <a:spcPts val="0"/>
              </a:spcBef>
              <a:spcAft>
                <a:spcPts val="1000"/>
              </a:spcAft>
              <a:buClr>
                <a:schemeClr val="tx1"/>
              </a:buClr>
              <a:buFont typeface="Arial" panose="020B0604020202020204" pitchFamily="34" charset="0"/>
              <a:buNone/>
              <a:defRPr sz="5000" kern="1200" cap="all" spc="80" baseline="0">
                <a:solidFill>
                  <a:schemeClr val="tx1"/>
                </a:solidFill>
                <a:latin typeface="Sons Condensed Extrabold" panose="02060906060206060203" pitchFamily="18" charset="0"/>
                <a:ea typeface="+mn-ea"/>
                <a:cs typeface="+mn-cs"/>
              </a:defRPr>
            </a:lvl1pPr>
            <a:lvl2pPr marL="0" indent="0" algn="l" defTabSz="914400" rtl="0" eaLnBrk="1" latinLnBrk="0" hangingPunct="1">
              <a:lnSpc>
                <a:spcPct val="100000"/>
              </a:lnSpc>
              <a:spcBef>
                <a:spcPts val="0"/>
              </a:spcBef>
              <a:spcAft>
                <a:spcPts val="600"/>
              </a:spcAft>
              <a:buClr>
                <a:schemeClr val="tx2"/>
              </a:buClr>
              <a:buFont typeface="Arial"/>
              <a:buNone/>
              <a:defRPr sz="1600" kern="1200">
                <a:solidFill>
                  <a:schemeClr val="tx1"/>
                </a:solidFill>
                <a:latin typeface="Inter" panose="02000503000000020004" pitchFamily="2" charset="0"/>
                <a:ea typeface="+mn-ea"/>
                <a:cs typeface="+mn-cs"/>
              </a:defRPr>
            </a:lvl2pPr>
            <a:lvl3pPr marL="0" indent="0" algn="l" defTabSz="914400" rtl="0" eaLnBrk="1" latinLnBrk="0" hangingPunct="1">
              <a:lnSpc>
                <a:spcPct val="85000"/>
              </a:lnSpc>
              <a:spcBef>
                <a:spcPts val="0"/>
              </a:spcBef>
              <a:spcAft>
                <a:spcPts val="600"/>
              </a:spcAft>
              <a:buClr>
                <a:schemeClr val="tx2"/>
              </a:buClr>
              <a:buFont typeface="Arial"/>
              <a:buNone/>
              <a:defRPr sz="5000" kern="1200">
                <a:solidFill>
                  <a:schemeClr val="tx1"/>
                </a:solidFill>
                <a:latin typeface="Inter" panose="02000503000000020004" pitchFamily="2" charset="0"/>
                <a:ea typeface="+mn-ea"/>
                <a:cs typeface="+mn-cs"/>
              </a:defRPr>
            </a:lvl3pPr>
            <a:lvl4pPr marL="0" indent="0" algn="l" defTabSz="914400" rtl="0" eaLnBrk="1" latinLnBrk="0" hangingPunct="1">
              <a:lnSpc>
                <a:spcPct val="90000"/>
              </a:lnSpc>
              <a:spcBef>
                <a:spcPts val="0"/>
              </a:spcBef>
              <a:spcAft>
                <a:spcPts val="600"/>
              </a:spcAft>
              <a:buClr>
                <a:schemeClr val="tx2"/>
              </a:buClr>
              <a:buFont typeface="Arial"/>
              <a:buNone/>
              <a:defRPr sz="3200" kern="1200">
                <a:solidFill>
                  <a:schemeClr val="tx1"/>
                </a:solidFill>
                <a:latin typeface="Inter" panose="02000503000000020004" pitchFamily="2" charset="0"/>
                <a:ea typeface="+mn-ea"/>
                <a:cs typeface="+mn-cs"/>
              </a:defRPr>
            </a:lvl4pPr>
            <a:lvl5pPr marL="0" indent="0" algn="l" defTabSz="914400" rtl="0" eaLnBrk="1" latinLnBrk="0" hangingPunct="1">
              <a:lnSpc>
                <a:spcPct val="100000"/>
              </a:lnSpc>
              <a:spcBef>
                <a:spcPts val="0"/>
              </a:spcBef>
              <a:spcAft>
                <a:spcPts val="600"/>
              </a:spcAft>
              <a:buClr>
                <a:schemeClr val="accent4"/>
              </a:buClr>
              <a:buFont typeface="Arial"/>
              <a:buNone/>
              <a:defRPr sz="14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fontAlgn="base"/>
            <a:r>
              <a:rPr lang="en-GB" sz="2800" cap="none" dirty="0">
                <a:latin typeface="+mn-lt"/>
              </a:rPr>
              <a:t>To help employees engage on social media in a way that reflects our brand values, protects confidential information, and maintains a respectful, professional environment.</a:t>
            </a:r>
            <a:endParaRPr lang="en-US" sz="2800" cap="none" dirty="0">
              <a:latin typeface="+mn-lt"/>
            </a:endParaRPr>
          </a:p>
        </p:txBody>
      </p:sp>
    </p:spTree>
    <p:extLst>
      <p:ext uri="{BB962C8B-B14F-4D97-AF65-F5344CB8AC3E}">
        <p14:creationId xmlns:p14="http://schemas.microsoft.com/office/powerpoint/2010/main" val="3974160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00B087-5E5C-4542-8F47-9BC4E78F5C26}"/>
              </a:ext>
            </a:extLst>
          </p:cNvPr>
          <p:cNvSpPr>
            <a:spLocks noGrp="1"/>
          </p:cNvSpPr>
          <p:nvPr>
            <p:ph type="title"/>
          </p:nvPr>
        </p:nvSpPr>
        <p:spPr/>
        <p:txBody>
          <a:bodyPr/>
          <a:lstStyle/>
          <a:p>
            <a:r>
              <a:rPr lang="en-US" dirty="0"/>
              <a:t>Employee “Rules of the Road” on Social Media</a:t>
            </a:r>
          </a:p>
        </p:txBody>
      </p:sp>
      <p:sp>
        <p:nvSpPr>
          <p:cNvPr id="5" name="Content Placeholder 4">
            <a:extLst>
              <a:ext uri="{FF2B5EF4-FFF2-40B4-BE49-F238E27FC236}">
                <a16:creationId xmlns:a16="http://schemas.microsoft.com/office/drawing/2014/main" id="{D04C6507-7FCC-BF47-B082-A1C3E409E0AF}"/>
              </a:ext>
            </a:extLst>
          </p:cNvPr>
          <p:cNvSpPr>
            <a:spLocks noGrp="1"/>
          </p:cNvSpPr>
          <p:nvPr>
            <p:ph idx="1"/>
          </p:nvPr>
        </p:nvSpPr>
        <p:spPr/>
        <p:txBody>
          <a:bodyPr/>
          <a:lstStyle/>
          <a:p>
            <a:pPr marL="457200" indent="-457200">
              <a:lnSpc>
                <a:spcPct val="115000"/>
              </a:lnSpc>
              <a:buFont typeface="+mj-lt"/>
              <a:buAutoNum type="arabicPeriod"/>
            </a:pPr>
            <a:r>
              <a:rPr lang="en-GB" sz="2000" b="1" dirty="0">
                <a:solidFill>
                  <a:schemeClr val="tx1"/>
                </a:solidFill>
                <a:latin typeface="Inter Tight" panose="020B0604020202020204" charset="0"/>
                <a:ea typeface="Inter Tight" panose="020B0604020202020204" charset="0"/>
                <a:cs typeface="Inter Tight" panose="020B0604020202020204" charset="0"/>
              </a:rPr>
              <a:t>Be Clear About Personal vs. Company Views</a:t>
            </a:r>
            <a:endParaRPr lang="en-GB" sz="2000" dirty="0">
              <a:solidFill>
                <a:schemeClr val="tx1"/>
              </a:solidFill>
              <a:latin typeface="Inter Tight" panose="020B0604020202020204" charset="0"/>
              <a:ea typeface="Inter Tight" panose="020B0604020202020204" charset="0"/>
              <a:cs typeface="Inter Tight" panose="020B0604020202020204" charset="0"/>
            </a:endParaRP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Share your own opinions as personal views, not as official statements from GE Vernova.</a:t>
            </a: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Avoid language that could be mistaken as representing the company unless authorized.</a:t>
            </a:r>
            <a:endParaRPr lang="en-US" dirty="0">
              <a:latin typeface="Inter Tight" panose="020B0604020202020204" charset="0"/>
              <a:ea typeface="Inter Tight" panose="020B0604020202020204" charset="0"/>
              <a:cs typeface="Inter Tight" panose="020B0604020202020204" charset="0"/>
            </a:endParaRPr>
          </a:p>
          <a:p>
            <a:pPr>
              <a:lnSpc>
                <a:spcPct val="115000"/>
              </a:lnSpc>
            </a:pPr>
            <a:endParaRPr lang="en-GB" dirty="0">
              <a:latin typeface="Inter Tight" panose="020B0604020202020204" charset="0"/>
              <a:ea typeface="Inter Tight" panose="020B0604020202020204" charset="0"/>
              <a:cs typeface="Inter Tight" panose="020B0604020202020204" charset="0"/>
            </a:endParaRPr>
          </a:p>
          <a:p>
            <a:pPr marL="457200" indent="-457200">
              <a:lnSpc>
                <a:spcPct val="115000"/>
              </a:lnSpc>
              <a:buFont typeface="+mj-lt"/>
              <a:buAutoNum type="arabicPeriod" startAt="2"/>
            </a:pPr>
            <a:r>
              <a:rPr lang="en-GB" sz="2000" b="1" dirty="0">
                <a:solidFill>
                  <a:schemeClr val="tx1"/>
                </a:solidFill>
                <a:latin typeface="Inter Tight" panose="020B0604020202020204" charset="0"/>
                <a:ea typeface="Inter Tight" panose="020B0604020202020204" charset="0"/>
                <a:cs typeface="Inter Tight" panose="020B0604020202020204" charset="0"/>
              </a:rPr>
              <a:t>Protect Confidential Information</a:t>
            </a:r>
            <a:endParaRPr lang="en-GB" dirty="0">
              <a:solidFill>
                <a:schemeClr val="tx1"/>
              </a:solidFill>
              <a:latin typeface="Inter Tight" panose="020B0604020202020204" charset="0"/>
              <a:ea typeface="Inter Tight" panose="020B0604020202020204" charset="0"/>
              <a:cs typeface="Inter Tight" panose="020B0604020202020204" charset="0"/>
            </a:endParaRP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Never share non-public, proprietary, or sensitive information about GE </a:t>
            </a:r>
            <a:r>
              <a:rPr lang="en-GB" dirty="0" err="1">
                <a:latin typeface="Inter Tight" panose="020B0604020202020204" charset="0"/>
                <a:ea typeface="Inter Tight" panose="020B0604020202020204" charset="0"/>
                <a:cs typeface="Inter Tight" panose="020B0604020202020204" charset="0"/>
              </a:rPr>
              <a:t>Vernova’s</a:t>
            </a:r>
            <a:r>
              <a:rPr lang="en-GB" dirty="0">
                <a:latin typeface="Inter Tight" panose="020B0604020202020204" charset="0"/>
                <a:ea typeface="Inter Tight" panose="020B0604020202020204" charset="0"/>
                <a:cs typeface="Inter Tight" panose="020B0604020202020204" charset="0"/>
              </a:rPr>
              <a:t> projects, </a:t>
            </a:r>
            <a:br>
              <a:rPr lang="en-GB" dirty="0">
                <a:latin typeface="Inter Tight" panose="020B0604020202020204" charset="0"/>
                <a:ea typeface="Inter Tight" panose="020B0604020202020204" charset="0"/>
                <a:cs typeface="Inter Tight" panose="020B0604020202020204" charset="0"/>
              </a:rPr>
            </a:br>
            <a:r>
              <a:rPr lang="en-GB" dirty="0">
                <a:latin typeface="Inter Tight" panose="020B0604020202020204" charset="0"/>
                <a:ea typeface="Inter Tight" panose="020B0604020202020204" charset="0"/>
                <a:cs typeface="Inter Tight" panose="020B0604020202020204" charset="0"/>
              </a:rPr>
              <a:t>products, deals, or people.</a:t>
            </a: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If in doubt—don’t post.</a:t>
            </a:r>
          </a:p>
          <a:p>
            <a:pPr>
              <a:lnSpc>
                <a:spcPct val="115000"/>
              </a:lnSpc>
            </a:pPr>
            <a:endParaRPr lang="en-GB" dirty="0">
              <a:latin typeface="Inter Tight" panose="020B0604020202020204" charset="0"/>
              <a:ea typeface="Inter Tight" panose="020B0604020202020204" charset="0"/>
              <a:cs typeface="Inter Tight" panose="020B0604020202020204" charset="0"/>
            </a:endParaRPr>
          </a:p>
          <a:p>
            <a:pPr marL="342900" indent="-342900">
              <a:lnSpc>
                <a:spcPct val="115000"/>
              </a:lnSpc>
              <a:buFont typeface="+mj-lt"/>
              <a:buAutoNum type="arabicPeriod" startAt="3"/>
            </a:pPr>
            <a:r>
              <a:rPr lang="en-GB" sz="2000" b="1" dirty="0">
                <a:latin typeface="Inter Tight" panose="020B0604020202020204" charset="0"/>
                <a:ea typeface="Inter Tight" panose="020B0604020202020204" charset="0"/>
                <a:cs typeface="Inter Tight" panose="020B0604020202020204" charset="0"/>
              </a:rPr>
              <a:t>No Hate Speech or Harassment</a:t>
            </a:r>
            <a:endParaRPr lang="en-GB" dirty="0">
              <a:latin typeface="Inter Tight" panose="020B0604020202020204" charset="0"/>
              <a:ea typeface="Inter Tight" panose="020B0604020202020204" charset="0"/>
              <a:cs typeface="Inter Tight" panose="020B0604020202020204" charset="0"/>
            </a:endParaRP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Respectful, inclusive dialogue is non-negotiable.</a:t>
            </a:r>
          </a:p>
          <a:p>
            <a:pPr marL="571500" lvl="1">
              <a:lnSpc>
                <a:spcPct val="115000"/>
              </a:lnSpc>
            </a:pPr>
            <a:r>
              <a:rPr lang="en-GB" dirty="0">
                <a:latin typeface="Inter Tight" panose="020B0604020202020204" charset="0"/>
                <a:ea typeface="Inter Tight" panose="020B0604020202020204" charset="0"/>
                <a:cs typeface="Inter Tight" panose="020B0604020202020204" charset="0"/>
              </a:rPr>
              <a:t>Hate speech, harassment, or discrimination of any kind violates GE </a:t>
            </a:r>
            <a:r>
              <a:rPr lang="en-GB" dirty="0" err="1">
                <a:latin typeface="Inter Tight" panose="020B0604020202020204" charset="0"/>
                <a:ea typeface="Inter Tight" panose="020B0604020202020204" charset="0"/>
                <a:cs typeface="Inter Tight" panose="020B0604020202020204" charset="0"/>
              </a:rPr>
              <a:t>Vernova’s</a:t>
            </a:r>
            <a:r>
              <a:rPr lang="en-GB" dirty="0">
                <a:latin typeface="Inter Tight" panose="020B0604020202020204" charset="0"/>
                <a:ea typeface="Inter Tight" panose="020B0604020202020204" charset="0"/>
                <a:cs typeface="Inter Tight" panose="020B0604020202020204" charset="0"/>
              </a:rPr>
              <a:t> Code of Conduct </a:t>
            </a:r>
            <a:br>
              <a:rPr lang="en-GB" dirty="0">
                <a:latin typeface="Inter Tight" panose="020B0604020202020204" charset="0"/>
                <a:ea typeface="Inter Tight" panose="020B0604020202020204" charset="0"/>
                <a:cs typeface="Inter Tight" panose="020B0604020202020204" charset="0"/>
              </a:rPr>
            </a:br>
            <a:r>
              <a:rPr lang="en-GB" dirty="0">
                <a:latin typeface="Inter Tight" panose="020B0604020202020204" charset="0"/>
                <a:ea typeface="Inter Tight" panose="020B0604020202020204" charset="0"/>
                <a:cs typeface="Inter Tight" panose="020B0604020202020204" charset="0"/>
              </a:rPr>
              <a:t>and will not be tolerated.</a:t>
            </a:r>
          </a:p>
          <a:p>
            <a:pPr marL="571500" lvl="1">
              <a:lnSpc>
                <a:spcPct val="115000"/>
              </a:lnSpc>
            </a:pPr>
            <a:endParaRPr lang="en-US" dirty="0"/>
          </a:p>
        </p:txBody>
      </p:sp>
      <p:sp>
        <p:nvSpPr>
          <p:cNvPr id="6" name="Slide Number Placeholder 5">
            <a:extLst>
              <a:ext uri="{FF2B5EF4-FFF2-40B4-BE49-F238E27FC236}">
                <a16:creationId xmlns:a16="http://schemas.microsoft.com/office/drawing/2014/main" id="{131A9F0C-33B5-84BD-B5C6-EB0D0CF7826B}"/>
              </a:ext>
            </a:extLst>
          </p:cNvPr>
          <p:cNvSpPr>
            <a:spLocks noGrp="1"/>
          </p:cNvSpPr>
          <p:nvPr>
            <p:ph type="sldNum" sz="quarter" idx="12"/>
          </p:nvPr>
        </p:nvSpPr>
        <p:spPr/>
        <p:txBody>
          <a:bodyPr/>
          <a:lstStyle/>
          <a:p>
            <a:fld id="{7A7A97EF-C944-4447-B862-B593E9B4A0FF}" type="slidenum">
              <a:rPr lang="en-US" smtClean="0"/>
              <a:pPr/>
              <a:t>3</a:t>
            </a:fld>
            <a:endParaRPr lang="en-US" dirty="0"/>
          </a:p>
        </p:txBody>
      </p:sp>
      <p:sp>
        <p:nvSpPr>
          <p:cNvPr id="3" name="Footer Placeholder 15">
            <a:extLst>
              <a:ext uri="{FF2B5EF4-FFF2-40B4-BE49-F238E27FC236}">
                <a16:creationId xmlns:a16="http://schemas.microsoft.com/office/drawing/2014/main" id="{5FC760F9-023E-BE73-7390-2C4403A938A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1893341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4468F-7AFA-B742-BFF2-E2060F027C47}"/>
              </a:ext>
            </a:extLst>
          </p:cNvPr>
          <p:cNvSpPr>
            <a:spLocks noGrp="1"/>
          </p:cNvSpPr>
          <p:nvPr>
            <p:ph type="title"/>
          </p:nvPr>
        </p:nvSpPr>
        <p:spPr/>
        <p:txBody>
          <a:bodyPr/>
          <a:lstStyle/>
          <a:p>
            <a:r>
              <a:rPr lang="en-US" dirty="0"/>
              <a:t>What Good Looks Like – Employee Social Posts</a:t>
            </a:r>
          </a:p>
        </p:txBody>
      </p:sp>
      <p:sp>
        <p:nvSpPr>
          <p:cNvPr id="5" name="Content Placeholder 4">
            <a:extLst>
              <a:ext uri="{FF2B5EF4-FFF2-40B4-BE49-F238E27FC236}">
                <a16:creationId xmlns:a16="http://schemas.microsoft.com/office/drawing/2014/main" id="{EE6A0638-7230-174E-A13B-71D163F2674C}"/>
              </a:ext>
            </a:extLst>
          </p:cNvPr>
          <p:cNvSpPr>
            <a:spLocks noGrp="1"/>
          </p:cNvSpPr>
          <p:nvPr>
            <p:ph idx="1"/>
          </p:nvPr>
        </p:nvSpPr>
        <p:spPr/>
        <p:txBody>
          <a:bodyPr/>
          <a:lstStyle/>
          <a:p>
            <a:pPr>
              <a:defRPr sz="1400" b="1">
                <a:solidFill>
                  <a:srgbClr val="006600"/>
                </a:solidFill>
              </a:defRPr>
            </a:pPr>
            <a:r>
              <a:rPr lang="en-US" sz="1800" dirty="0">
                <a:solidFill>
                  <a:schemeClr val="tx1"/>
                </a:solidFill>
              </a:rPr>
              <a:t>Amplifying Company Content</a:t>
            </a:r>
          </a:p>
          <a:p>
            <a:endParaRPr lang="en-US" dirty="0"/>
          </a:p>
          <a:p>
            <a:br>
              <a:rPr lang="en-US" dirty="0"/>
            </a:br>
            <a:r>
              <a:rPr lang="en-US" dirty="0"/>
              <a:t>Proud to be part of a team driving the Energy of Change every day. Exciting to see our new hybrid grid solutions delivering reliable, affordable, and sustainable energy to communities worldwide.</a:t>
            </a:r>
          </a:p>
          <a:p>
            <a:r>
              <a:rPr lang="en-US" dirty="0">
                <a:solidFill>
                  <a:schemeClr val="tx1"/>
                </a:solidFill>
              </a:rPr>
              <a:t>#</a:t>
            </a:r>
            <a:r>
              <a:rPr lang="en-US" dirty="0" err="1">
                <a:solidFill>
                  <a:schemeClr val="tx1"/>
                </a:solidFill>
              </a:rPr>
              <a:t>GEVernova</a:t>
            </a:r>
            <a:r>
              <a:rPr lang="en-US" dirty="0">
                <a:solidFill>
                  <a:schemeClr val="tx1"/>
                </a:solidFill>
              </a:rPr>
              <a:t> #</a:t>
            </a:r>
            <a:r>
              <a:rPr lang="en-US" dirty="0" err="1">
                <a:solidFill>
                  <a:schemeClr val="tx1"/>
                </a:solidFill>
              </a:rPr>
              <a:t>EnergyOfChange</a:t>
            </a:r>
            <a:r>
              <a:rPr lang="en-US" dirty="0">
                <a:solidFill>
                  <a:schemeClr val="tx1"/>
                </a:solidFill>
              </a:rPr>
              <a:t> #</a:t>
            </a:r>
            <a:r>
              <a:rPr lang="en-US" dirty="0" err="1">
                <a:solidFill>
                  <a:schemeClr val="tx1"/>
                </a:solidFill>
              </a:rPr>
              <a:t>GridAutomation</a:t>
            </a:r>
            <a:endParaRPr lang="en-US" dirty="0">
              <a:solidFill>
                <a:schemeClr val="tx1"/>
              </a:solidFill>
            </a:endParaRPr>
          </a:p>
          <a:p>
            <a:pPr lvl="3"/>
            <a:endParaRPr lang="en-US" dirty="0"/>
          </a:p>
          <a:p>
            <a:pPr lvl="3"/>
            <a:endParaRPr lang="en-US" dirty="0"/>
          </a:p>
        </p:txBody>
      </p:sp>
      <p:sp>
        <p:nvSpPr>
          <p:cNvPr id="6" name="Content Placeholder 5">
            <a:extLst>
              <a:ext uri="{FF2B5EF4-FFF2-40B4-BE49-F238E27FC236}">
                <a16:creationId xmlns:a16="http://schemas.microsoft.com/office/drawing/2014/main" id="{B3348870-9B03-F94A-A42B-46E0FD55FF21}"/>
              </a:ext>
            </a:extLst>
          </p:cNvPr>
          <p:cNvSpPr>
            <a:spLocks noGrp="1"/>
          </p:cNvSpPr>
          <p:nvPr>
            <p:ph idx="13"/>
          </p:nvPr>
        </p:nvSpPr>
        <p:spPr/>
        <p:txBody>
          <a:bodyPr/>
          <a:lstStyle/>
          <a:p>
            <a:pPr>
              <a:defRPr sz="1400" b="1">
                <a:solidFill>
                  <a:srgbClr val="006600"/>
                </a:solidFill>
              </a:defRPr>
            </a:pPr>
            <a:r>
              <a:rPr lang="en-US" sz="1800" b="1" dirty="0">
                <a:solidFill>
                  <a:schemeClr val="tx1"/>
                </a:solidFill>
              </a:rPr>
              <a:t>Showcasing Company </a:t>
            </a:r>
            <a:br>
              <a:rPr lang="en-US" sz="1800" b="1" dirty="0">
                <a:solidFill>
                  <a:schemeClr val="tx1"/>
                </a:solidFill>
              </a:rPr>
            </a:br>
            <a:r>
              <a:rPr lang="en-US" sz="1800" b="1" dirty="0">
                <a:solidFill>
                  <a:schemeClr val="tx1"/>
                </a:solidFill>
              </a:rPr>
              <a:t>Pride/Culture  </a:t>
            </a:r>
            <a:endParaRPr lang="en-US" dirty="0"/>
          </a:p>
          <a:p>
            <a:br>
              <a:rPr lang="en-US" dirty="0"/>
            </a:br>
            <a:r>
              <a:rPr lang="en-US" dirty="0"/>
              <a:t>Celebrating our amazing colleagues in our Advanced Research Center in Niskayuna, New York for their dedication to building the future of energy. Grateful to work alongside such innovative and passionate people. 🌍</a:t>
            </a:r>
          </a:p>
          <a:p>
            <a:r>
              <a:rPr lang="en-US" dirty="0">
                <a:solidFill>
                  <a:schemeClr val="tx1"/>
                </a:solidFill>
              </a:rPr>
              <a:t>#</a:t>
            </a:r>
            <a:r>
              <a:rPr lang="en-US" dirty="0" err="1">
                <a:solidFill>
                  <a:schemeClr val="tx1"/>
                </a:solidFill>
              </a:rPr>
              <a:t>GEVernovaProud</a:t>
            </a:r>
            <a:r>
              <a:rPr lang="en-US" dirty="0">
                <a:solidFill>
                  <a:schemeClr val="tx1"/>
                </a:solidFill>
              </a:rPr>
              <a:t> #</a:t>
            </a:r>
            <a:r>
              <a:rPr lang="en-US" dirty="0" err="1">
                <a:solidFill>
                  <a:schemeClr val="tx1"/>
                </a:solidFill>
              </a:rPr>
              <a:t>EnergyOfChange</a:t>
            </a:r>
            <a:r>
              <a:rPr lang="en-US" dirty="0">
                <a:solidFill>
                  <a:schemeClr val="tx1"/>
                </a:solidFill>
              </a:rPr>
              <a:t> #Sustainability</a:t>
            </a:r>
          </a:p>
          <a:p>
            <a:pPr lvl="3"/>
            <a:endParaRPr lang="en-US" dirty="0"/>
          </a:p>
          <a:p>
            <a:pPr lvl="3"/>
            <a:endParaRPr lang="en-US" dirty="0"/>
          </a:p>
        </p:txBody>
      </p:sp>
      <p:sp>
        <p:nvSpPr>
          <p:cNvPr id="7" name="Content Placeholder 6">
            <a:extLst>
              <a:ext uri="{FF2B5EF4-FFF2-40B4-BE49-F238E27FC236}">
                <a16:creationId xmlns:a16="http://schemas.microsoft.com/office/drawing/2014/main" id="{62C0E15A-86E9-6047-A2FD-F191A2E4D6C8}"/>
              </a:ext>
            </a:extLst>
          </p:cNvPr>
          <p:cNvSpPr>
            <a:spLocks noGrp="1"/>
          </p:cNvSpPr>
          <p:nvPr>
            <p:ph idx="14"/>
          </p:nvPr>
        </p:nvSpPr>
        <p:spPr/>
        <p:txBody>
          <a:bodyPr/>
          <a:lstStyle/>
          <a:p>
            <a:pPr>
              <a:defRPr sz="1400" b="1">
                <a:solidFill>
                  <a:srgbClr val="006600"/>
                </a:solidFill>
              </a:defRPr>
            </a:pPr>
            <a:r>
              <a:rPr lang="en-US" sz="1800" b="1" dirty="0">
                <a:solidFill>
                  <a:schemeClr val="tx1"/>
                </a:solidFill>
              </a:rPr>
              <a:t>Highlighting Innovation </a:t>
            </a:r>
            <a:br>
              <a:rPr lang="en-US" sz="1800" b="1" dirty="0">
                <a:solidFill>
                  <a:schemeClr val="tx1"/>
                </a:solidFill>
              </a:rPr>
            </a:br>
            <a:r>
              <a:rPr lang="en-US" sz="1800" b="1" dirty="0">
                <a:solidFill>
                  <a:schemeClr val="tx1"/>
                </a:solidFill>
              </a:rPr>
              <a:t>in Action</a:t>
            </a:r>
            <a:br>
              <a:rPr lang="en-US" sz="1800" b="1" dirty="0">
                <a:solidFill>
                  <a:schemeClr val="tx1"/>
                </a:solidFill>
              </a:rPr>
            </a:br>
            <a:endParaRPr lang="en-US" dirty="0"/>
          </a:p>
          <a:p>
            <a:r>
              <a:rPr lang="en-US" dirty="0"/>
              <a:t>Exciting to see how our latest wind technology is pushing the boundaries of performance and sustainability. From advanced blade designs to smarter control systems, our teams are delivering innovations that will help power the future of energy for communities around the world.</a:t>
            </a:r>
          </a:p>
          <a:p>
            <a:r>
              <a:rPr lang="en-US" dirty="0">
                <a:solidFill>
                  <a:schemeClr val="tx1"/>
                </a:solidFill>
              </a:rPr>
              <a:t>#</a:t>
            </a:r>
            <a:r>
              <a:rPr lang="en-US" dirty="0" err="1">
                <a:solidFill>
                  <a:schemeClr val="tx1"/>
                </a:solidFill>
              </a:rPr>
              <a:t>GEVernova</a:t>
            </a:r>
            <a:r>
              <a:rPr lang="en-US" dirty="0">
                <a:solidFill>
                  <a:schemeClr val="tx1"/>
                </a:solidFill>
              </a:rPr>
              <a:t> #</a:t>
            </a:r>
            <a:r>
              <a:rPr lang="en-US" dirty="0" err="1">
                <a:solidFill>
                  <a:schemeClr val="tx1"/>
                </a:solidFill>
              </a:rPr>
              <a:t>EnergyOfChange</a:t>
            </a:r>
            <a:r>
              <a:rPr lang="en-US" dirty="0">
                <a:solidFill>
                  <a:schemeClr val="tx1"/>
                </a:solidFill>
              </a:rPr>
              <a:t> #</a:t>
            </a:r>
            <a:r>
              <a:rPr lang="en-US" dirty="0" err="1">
                <a:solidFill>
                  <a:schemeClr val="tx1"/>
                </a:solidFill>
              </a:rPr>
              <a:t>WindEnergy</a:t>
            </a:r>
            <a:endParaRPr lang="en-US" dirty="0">
              <a:solidFill>
                <a:schemeClr val="tx1"/>
              </a:solidFill>
            </a:endParaRPr>
          </a:p>
          <a:p>
            <a:pPr lvl="3"/>
            <a:endParaRPr lang="en-US" dirty="0"/>
          </a:p>
        </p:txBody>
      </p:sp>
      <p:sp>
        <p:nvSpPr>
          <p:cNvPr id="2" name="Slide Number Placeholder 1">
            <a:extLst>
              <a:ext uri="{FF2B5EF4-FFF2-40B4-BE49-F238E27FC236}">
                <a16:creationId xmlns:a16="http://schemas.microsoft.com/office/drawing/2014/main" id="{D533F74B-9C28-DDDA-26B6-FED26F859A17}"/>
              </a:ext>
            </a:extLst>
          </p:cNvPr>
          <p:cNvSpPr>
            <a:spLocks noGrp="1"/>
          </p:cNvSpPr>
          <p:nvPr>
            <p:ph type="sldNum" sz="quarter" idx="12"/>
          </p:nvPr>
        </p:nvSpPr>
        <p:spPr/>
        <p:txBody>
          <a:bodyPr/>
          <a:lstStyle/>
          <a:p>
            <a:fld id="{7A7A97EF-C944-4447-B862-B593E9B4A0FF}" type="slidenum">
              <a:rPr lang="en-US" smtClean="0"/>
              <a:pPr/>
              <a:t>4</a:t>
            </a:fld>
            <a:endParaRPr lang="en-US" dirty="0"/>
          </a:p>
        </p:txBody>
      </p:sp>
      <p:sp>
        <p:nvSpPr>
          <p:cNvPr id="3" name="Footer Placeholder 15">
            <a:extLst>
              <a:ext uri="{FF2B5EF4-FFF2-40B4-BE49-F238E27FC236}">
                <a16:creationId xmlns:a16="http://schemas.microsoft.com/office/drawing/2014/main" id="{28561FEE-3AA6-7A2E-8C85-309C65E0D762}"/>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630525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48E0-9477-5305-EB6A-21B9AA0414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DC7BA5-4E85-37F7-D81A-D2D81D0CCE61}"/>
              </a:ext>
            </a:extLst>
          </p:cNvPr>
          <p:cNvSpPr>
            <a:spLocks noGrp="1"/>
          </p:cNvSpPr>
          <p:nvPr>
            <p:ph type="title"/>
          </p:nvPr>
        </p:nvSpPr>
        <p:spPr/>
        <p:txBody>
          <a:bodyPr/>
          <a:lstStyle/>
          <a:p>
            <a:r>
              <a:rPr lang="en-US" dirty="0"/>
              <a:t>Tools and Documentation</a:t>
            </a:r>
          </a:p>
        </p:txBody>
      </p:sp>
      <p:sp>
        <p:nvSpPr>
          <p:cNvPr id="5" name="Content Placeholder 4">
            <a:extLst>
              <a:ext uri="{FF2B5EF4-FFF2-40B4-BE49-F238E27FC236}">
                <a16:creationId xmlns:a16="http://schemas.microsoft.com/office/drawing/2014/main" id="{B8717726-D6ED-3F97-A861-A05EADF768E0}"/>
              </a:ext>
            </a:extLst>
          </p:cNvPr>
          <p:cNvSpPr>
            <a:spLocks noGrp="1"/>
          </p:cNvSpPr>
          <p:nvPr>
            <p:ph idx="1"/>
          </p:nvPr>
        </p:nvSpPr>
        <p:spPr/>
        <p:txBody>
          <a:bodyPr/>
          <a:lstStyle/>
          <a:p>
            <a:r>
              <a:rPr lang="en-US" sz="2000" b="1" dirty="0"/>
              <a:t>Brand Central</a:t>
            </a:r>
            <a:br>
              <a:rPr lang="en-US" sz="2000" dirty="0"/>
            </a:br>
            <a:r>
              <a:rPr lang="en-US" sz="2000" dirty="0"/>
              <a:t>Tips and templates to elevate your LinkedIn channel.</a:t>
            </a:r>
          </a:p>
          <a:p>
            <a:r>
              <a:rPr lang="en-US" sz="2000" dirty="0">
                <a:solidFill>
                  <a:schemeClr val="tx1"/>
                </a:solidFill>
                <a:hlinkClick r:id="rId2">
                  <a:extLst>
                    <a:ext uri="{A12FA001-AC4F-418D-AE19-62706E023703}">
                      <ahyp:hlinkClr xmlns:ahyp="http://schemas.microsoft.com/office/drawing/2018/hyperlinkcolor" val="tx"/>
                    </a:ext>
                  </a:extLst>
                </a:hlinkClick>
              </a:rPr>
              <a:t>http://www.gevernova.com/brand-central</a:t>
            </a:r>
            <a:endParaRPr lang="en-US" sz="2000" dirty="0">
              <a:solidFill>
                <a:schemeClr val="tx1"/>
              </a:solidFill>
            </a:endParaRPr>
          </a:p>
          <a:p>
            <a:endParaRPr lang="en-US" sz="2000" dirty="0"/>
          </a:p>
          <a:p>
            <a:r>
              <a:rPr lang="en-US" sz="2000" b="1" dirty="0"/>
              <a:t>Social channels</a:t>
            </a:r>
            <a:br>
              <a:rPr lang="en-US" sz="2000" dirty="0"/>
            </a:br>
            <a:r>
              <a:rPr lang="en-US" sz="2000" dirty="0"/>
              <a:t>A list of all official company and business social media channels</a:t>
            </a:r>
          </a:p>
          <a:p>
            <a:r>
              <a:rPr lang="en-GB" sz="2000" dirty="0">
                <a:solidFill>
                  <a:schemeClr val="tx1"/>
                </a:solidFill>
                <a:hlinkClick r:id="rId3">
                  <a:extLst>
                    <a:ext uri="{A12FA001-AC4F-418D-AE19-62706E023703}">
                      <ahyp:hlinkClr xmlns:ahyp="http://schemas.microsoft.com/office/drawing/2018/hyperlinkcolor" val="tx"/>
                    </a:ext>
                  </a:extLst>
                </a:hlinkClick>
              </a:rPr>
              <a:t>vernova.is/social-channels</a:t>
            </a:r>
            <a:endParaRPr lang="en-GB" sz="2000" dirty="0">
              <a:solidFill>
                <a:schemeClr val="tx1"/>
              </a:solidFill>
            </a:endParaRPr>
          </a:p>
          <a:p>
            <a:endParaRPr lang="en-GB" sz="2000" dirty="0"/>
          </a:p>
          <a:p>
            <a:r>
              <a:rPr lang="en-GB" sz="2000" b="1" dirty="0"/>
              <a:t>Reporting</a:t>
            </a:r>
            <a:br>
              <a:rPr lang="en-GB" sz="2000" dirty="0"/>
            </a:br>
            <a:r>
              <a:rPr lang="en-GB" sz="2000" dirty="0"/>
              <a:t>Seen a post that you don’t think is helpful to the company, or might bring the company or employees into disrepute? Don’t engage on the post – report it to your manager or direct to </a:t>
            </a:r>
            <a:r>
              <a:rPr lang="en-GB" sz="2000" dirty="0">
                <a:solidFill>
                  <a:schemeClr val="tx1"/>
                </a:solidFill>
                <a:hlinkClick r:id="rId4">
                  <a:extLst>
                    <a:ext uri="{A12FA001-AC4F-418D-AE19-62706E023703}">
                      <ahyp:hlinkClr xmlns:ahyp="http://schemas.microsoft.com/office/drawing/2018/hyperlinkcolor" val="tx"/>
                    </a:ext>
                  </a:extLst>
                </a:hlinkClick>
              </a:rPr>
              <a:t>social@gevernova.com</a:t>
            </a:r>
            <a:endParaRPr lang="en-GB" sz="2000" dirty="0">
              <a:solidFill>
                <a:schemeClr val="tx1"/>
              </a:solidFill>
            </a:endParaRPr>
          </a:p>
          <a:p>
            <a:pPr marL="571500" lvl="1">
              <a:lnSpc>
                <a:spcPct val="115000"/>
              </a:lnSpc>
            </a:pPr>
            <a:endParaRPr lang="en-US" dirty="0"/>
          </a:p>
        </p:txBody>
      </p:sp>
      <p:sp>
        <p:nvSpPr>
          <p:cNvPr id="6" name="Slide Number Placeholder 5">
            <a:extLst>
              <a:ext uri="{FF2B5EF4-FFF2-40B4-BE49-F238E27FC236}">
                <a16:creationId xmlns:a16="http://schemas.microsoft.com/office/drawing/2014/main" id="{A90DB59A-6362-6B59-032C-9AADDC5EEE0F}"/>
              </a:ext>
            </a:extLst>
          </p:cNvPr>
          <p:cNvSpPr>
            <a:spLocks noGrp="1"/>
          </p:cNvSpPr>
          <p:nvPr>
            <p:ph type="sldNum" sz="quarter" idx="12"/>
          </p:nvPr>
        </p:nvSpPr>
        <p:spPr/>
        <p:txBody>
          <a:bodyPr/>
          <a:lstStyle/>
          <a:p>
            <a:fld id="{7A7A97EF-C944-4447-B862-B593E9B4A0FF}" type="slidenum">
              <a:rPr lang="en-US" smtClean="0"/>
              <a:pPr/>
              <a:t>5</a:t>
            </a:fld>
            <a:endParaRPr lang="en-US" dirty="0"/>
          </a:p>
        </p:txBody>
      </p:sp>
      <p:sp>
        <p:nvSpPr>
          <p:cNvPr id="3" name="Footer Placeholder 15">
            <a:extLst>
              <a:ext uri="{FF2B5EF4-FFF2-40B4-BE49-F238E27FC236}">
                <a16:creationId xmlns:a16="http://schemas.microsoft.com/office/drawing/2014/main" id="{938A9496-5644-4FD7-AF7C-63074E5B5F5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2025 GE Vernova and/or its affiliates. All rights reserved.</a:t>
            </a:r>
            <a:endParaRPr lang="en-US" sz="800" kern="1200" dirty="0"/>
          </a:p>
        </p:txBody>
      </p:sp>
    </p:spTree>
    <p:extLst>
      <p:ext uri="{BB962C8B-B14F-4D97-AF65-F5344CB8AC3E}">
        <p14:creationId xmlns:p14="http://schemas.microsoft.com/office/powerpoint/2010/main" val="3051948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882597"/>
      </p:ext>
    </p:extLst>
  </p:cSld>
  <p:clrMapOvr>
    <a:masterClrMapping/>
  </p:clrMapOvr>
</p:sld>
</file>

<file path=ppt/theme/theme1.xml><?xml version="1.0" encoding="utf-8"?>
<a:theme xmlns:a="http://schemas.openxmlformats.org/drawingml/2006/main" name="GE Vernova">
  <a:themeElements>
    <a:clrScheme name="GE Vernova 3/14/24">
      <a:dk1>
        <a:srgbClr val="005E60"/>
      </a:dk1>
      <a:lt1>
        <a:srgbClr val="FFFFFF"/>
      </a:lt1>
      <a:dk2>
        <a:srgbClr val="212121"/>
      </a:dk2>
      <a:lt2>
        <a:srgbClr val="C8FF08"/>
      </a:lt2>
      <a:accent1>
        <a:srgbClr val="004745"/>
      </a:accent1>
      <a:accent2>
        <a:srgbClr val="E3E3E3"/>
      </a:accent2>
      <a:accent3>
        <a:srgbClr val="CCCCCC"/>
      </a:accent3>
      <a:accent4>
        <a:srgbClr val="696969"/>
      </a:accent4>
      <a:accent5>
        <a:srgbClr val="484848"/>
      </a:accent5>
      <a:accent6>
        <a:srgbClr val="458A8A"/>
      </a:accent6>
      <a:hlink>
        <a:srgbClr val="2176FF"/>
      </a:hlink>
      <a:folHlink>
        <a:srgbClr val="3E9E00"/>
      </a:folHlink>
    </a:clrScheme>
    <a:fontScheme name="GEV Custom">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Dark Evergreen">
      <a:srgbClr val="004745"/>
    </a:custClr>
    <a:custClr name="Evergreen Tint 1">
      <a:srgbClr val="458A8A"/>
    </a:custClr>
    <a:custClr name="Evergreen Tint 2">
      <a:srgbClr val="96BDBD"/>
    </a:custClr>
    <a:custClr name="Evergreen Tint 1">
      <a:srgbClr val="C7DBDB"/>
    </a:custClr>
    <a:custClr name="Dark Sky">
      <a:srgbClr val="2176FF"/>
    </a:custClr>
    <a:custClr name="Sky">
      <a:srgbClr val="5FB7FF"/>
    </a:custClr>
    <a:custClr name="Dark Forest">
      <a:srgbClr val="3E9E00"/>
    </a:custClr>
    <a:custClr name="Forest">
      <a:srgbClr val="7BDD3C"/>
    </a:custClr>
    <a:custClr name="Dark Earth">
      <a:srgbClr val="4A2419"/>
    </a:custClr>
    <a:custClr name="Earth">
      <a:srgbClr val="774936"/>
    </a:custClr>
  </a:custClrLst>
  <a:extLst>
    <a:ext uri="{05A4C25C-085E-4340-85A3-A5531E510DB2}">
      <thm15:themeFamily xmlns:thm15="http://schemas.microsoft.com/office/thememl/2012/main" name="Presentation1" id="{D46849D2-D611-5D4A-97BD-0090F7E666A2}" vid="{3F86224E-4CB5-AD4A-A9FD-938F9FF13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60f4d75-da08-481c-93a0-a5d59f6ee71c">
      <Terms xmlns="http://schemas.microsoft.com/office/infopath/2007/PartnerControls"/>
    </lcf76f155ced4ddcb4097134ff3c332f>
    <TaxCatchAll xmlns="02d12187-754c-41a9-9e93-c3e1cfacc15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0987E64CCC7C941AA423E1ADF2491CC" ma:contentTypeVersion="18" ma:contentTypeDescription="Create a new document." ma:contentTypeScope="" ma:versionID="1e40539c746aebc5ca905ee2706e7d1b">
  <xsd:schema xmlns:xsd="http://www.w3.org/2001/XMLSchema" xmlns:xs="http://www.w3.org/2001/XMLSchema" xmlns:p="http://schemas.microsoft.com/office/2006/metadata/properties" xmlns:ns2="660f4d75-da08-481c-93a0-a5d59f6ee71c" xmlns:ns3="b402df0d-8178-4802-b8b9-ef402e68d744" xmlns:ns4="02d12187-754c-41a9-9e93-c3e1cfacc155" targetNamespace="http://schemas.microsoft.com/office/2006/metadata/properties" ma:root="true" ma:fieldsID="2dd0d1ad3efc741518aad11f398c5865" ns2:_="" ns3:_="" ns4:_="">
    <xsd:import namespace="660f4d75-da08-481c-93a0-a5d59f6ee71c"/>
    <xsd:import namespace="b402df0d-8178-4802-b8b9-ef402e68d744"/>
    <xsd:import namespace="02d12187-754c-41a9-9e93-c3e1cfacc15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4:TaxCatchAll"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0f4d75-da08-481c-93a0-a5d59f6ee7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6a257fb-28f5-49c4-92c3-d49665e8e1d3"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02df0d-8178-4802-b8b9-ef402e68d7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d12187-754c-41a9-9e93-c3e1cfacc155"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cdb1637-3b50-4ef3-b363-a9ca0300321e}" ma:internalName="TaxCatchAll" ma:showField="CatchAllData" ma:web="b402df0d-8178-4802-b8b9-ef402e68d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customXml/itemProps2.xml><?xml version="1.0" encoding="utf-8"?>
<ds:datastoreItem xmlns:ds="http://schemas.openxmlformats.org/officeDocument/2006/customXml" ds:itemID="{5D1214C9-2614-4841-8F75-517C46888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0f4d75-da08-481c-93a0-a5d59f6ee71c"/>
    <ds:schemaRef ds:uri="b402df0d-8178-4802-b8b9-ef402e68d744"/>
    <ds:schemaRef ds:uri="02d12187-754c-41a9-9e93-c3e1cfacc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 Vernova</Template>
  <TotalTime>22</TotalTime>
  <Words>488</Words>
  <Application>Microsoft Macintosh PowerPoint</Application>
  <PresentationFormat>Widescreen</PresentationFormat>
  <Paragraphs>47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Inter Semi Bold</vt:lpstr>
      <vt:lpstr>Inter Tight</vt:lpstr>
      <vt:lpstr>Sons Condensed Extrabold</vt:lpstr>
      <vt:lpstr>Inter</vt:lpstr>
      <vt:lpstr>GE Vernova</vt:lpstr>
      <vt:lpstr>Social media governance</vt:lpstr>
      <vt:lpstr>PowerPoint Presentation</vt:lpstr>
      <vt:lpstr>Employee “Rules of the Road” on Social Media</vt:lpstr>
      <vt:lpstr>What Good Looks Like – Employee Social Posts</vt:lpstr>
      <vt:lpstr>Tools and Documentation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Mercer, Cierra (GE Vernova)</dc:creator>
  <cp:keywords/>
  <dc:description/>
  <cp:lastModifiedBy>Mercer, Cierra (GE Vernova)</cp:lastModifiedBy>
  <cp:revision>3</cp:revision>
  <dcterms:created xsi:type="dcterms:W3CDTF">2025-09-18T19:16:17Z</dcterms:created>
  <dcterms:modified xsi:type="dcterms:W3CDTF">2025-10-13T14:57:03Z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0x01010010987E64CCC7C941AA423E1ADF2491CC</vt:lpwstr>
  </property>
</Properties>
</file>