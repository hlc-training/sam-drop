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6"/>
  </p:notesMasterIdLst>
  <p:handoutMasterIdLst>
    <p:handoutMasterId r:id="rId17"/>
  </p:handoutMasterIdLst>
  <p:sldIdLst>
    <p:sldId id="374" r:id="rId5"/>
    <p:sldId id="336" r:id="rId6"/>
    <p:sldId id="2147473334" r:id="rId7"/>
    <p:sldId id="2147473295" r:id="rId8"/>
    <p:sldId id="2147473332" r:id="rId9"/>
    <p:sldId id="2147473297" r:id="rId10"/>
    <p:sldId id="2147473298" r:id="rId11"/>
    <p:sldId id="2147473336" r:id="rId12"/>
    <p:sldId id="2147473338" r:id="rId13"/>
    <p:sldId id="2147473337" r:id="rId14"/>
    <p:sldId id="2147473331" r:id="rId15"/>
  </p:sldIdLst>
  <p:sldSz cx="12192000" cy="6858000"/>
  <p:notesSz cx="6858000" cy="9144000"/>
  <p:embeddedFontLst>
    <p:embeddedFont>
      <p:font typeface="Inter" panose="020B0502030000000004" pitchFamily="34" charset="0"/>
      <p:regular r:id="rId18"/>
      <p:bold r:id="rId19"/>
      <p:italic r:id="rId20"/>
      <p:boldItalic r:id="rId21"/>
    </p:embeddedFont>
    <p:embeddedFont>
      <p:font typeface="Sons Condensed Extrabold" panose="02060906060206060203" pitchFamily="18"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76EA4A-BCB5-118F-A308-F4346A084F32}" name="Tucker, Adam (GE Vernova)" initials="TA(V" userId="S::212337313@ge.com::188158f5-b2bf-40b3-90ee-dc9cde21669a" providerId="AD"/>
  <p188:author id="{BBC23AB4-6909-7293-1141-BC274FF8153C}" name="Mohan, Arti (GE Vernova)" initials="MA(V" userId="S::212681197@ge.com::848c2de0-5f14-466e-88aa-aa56dbbbd85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F863"/>
    <a:srgbClr val="005E60"/>
    <a:srgbClr val="CCCCCC"/>
    <a:srgbClr val="E3E3E3"/>
    <a:srgbClr val="212121"/>
    <a:srgbClr val="439297"/>
    <a:srgbClr val="C7DBDB"/>
    <a:srgbClr val="96BDBD"/>
    <a:srgbClr val="458A8A"/>
    <a:srgbClr val="58984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3124" autoAdjust="0"/>
  </p:normalViewPr>
  <p:slideViewPr>
    <p:cSldViewPr snapToGrid="0" snapToObjects="1" showGuides="1">
      <p:cViewPr varScale="1">
        <p:scale>
          <a:sx n="59" d="100"/>
          <a:sy n="59" d="100"/>
        </p:scale>
        <p:origin x="836" y="36"/>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13682"/>
    </p:cViewPr>
  </p:sorterViewPr>
  <p:notesViewPr>
    <p:cSldViewPr snapToGrid="0" snapToObjects="1" showGuides="1">
      <p:cViewPr varScale="1">
        <p:scale>
          <a:sx n="76" d="100"/>
          <a:sy n="76" d="100"/>
        </p:scale>
        <p:origin x="331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9/18/2025</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9/18/2025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a:t>
            </a:fld>
            <a:endParaRPr lang="en-US" dirty="0"/>
          </a:p>
        </p:txBody>
      </p:sp>
    </p:spTree>
    <p:extLst>
      <p:ext uri="{BB962C8B-B14F-4D97-AF65-F5344CB8AC3E}">
        <p14:creationId xmlns:p14="http://schemas.microsoft.com/office/powerpoint/2010/main" val="354052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2</a:t>
            </a:fld>
            <a:endParaRPr lang="en-US" dirty="0"/>
          </a:p>
        </p:txBody>
      </p:sp>
    </p:spTree>
    <p:extLst>
      <p:ext uri="{BB962C8B-B14F-4D97-AF65-F5344CB8AC3E}">
        <p14:creationId xmlns:p14="http://schemas.microsoft.com/office/powerpoint/2010/main" val="1367750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3</a:t>
            </a:fld>
            <a:endParaRPr lang="en-US" dirty="0"/>
          </a:p>
        </p:txBody>
      </p:sp>
    </p:spTree>
    <p:extLst>
      <p:ext uri="{BB962C8B-B14F-4D97-AF65-F5344CB8AC3E}">
        <p14:creationId xmlns:p14="http://schemas.microsoft.com/office/powerpoint/2010/main" val="1677332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4</a:t>
            </a:fld>
            <a:endParaRPr lang="en-US" dirty="0"/>
          </a:p>
        </p:txBody>
      </p:sp>
    </p:spTree>
    <p:extLst>
      <p:ext uri="{BB962C8B-B14F-4D97-AF65-F5344CB8AC3E}">
        <p14:creationId xmlns:p14="http://schemas.microsoft.com/office/powerpoint/2010/main" val="634669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5</a:t>
            </a:fld>
            <a:endParaRPr lang="en-US" dirty="0"/>
          </a:p>
        </p:txBody>
      </p:sp>
    </p:spTree>
    <p:extLst>
      <p:ext uri="{BB962C8B-B14F-4D97-AF65-F5344CB8AC3E}">
        <p14:creationId xmlns:p14="http://schemas.microsoft.com/office/powerpoint/2010/main" val="758995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6</a:t>
            </a:fld>
            <a:endParaRPr lang="en-US" dirty="0"/>
          </a:p>
        </p:txBody>
      </p:sp>
    </p:spTree>
    <p:extLst>
      <p:ext uri="{BB962C8B-B14F-4D97-AF65-F5344CB8AC3E}">
        <p14:creationId xmlns:p14="http://schemas.microsoft.com/office/powerpoint/2010/main" val="325839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7</a:t>
            </a:fld>
            <a:endParaRPr lang="en-US" dirty="0"/>
          </a:p>
        </p:txBody>
      </p:sp>
    </p:spTree>
    <p:extLst>
      <p:ext uri="{BB962C8B-B14F-4D97-AF65-F5344CB8AC3E}">
        <p14:creationId xmlns:p14="http://schemas.microsoft.com/office/powerpoint/2010/main" val="2252541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8</a:t>
            </a:fld>
            <a:endParaRPr lang="en-US" dirty="0"/>
          </a:p>
        </p:txBody>
      </p:sp>
    </p:spTree>
    <p:extLst>
      <p:ext uri="{BB962C8B-B14F-4D97-AF65-F5344CB8AC3E}">
        <p14:creationId xmlns:p14="http://schemas.microsoft.com/office/powerpoint/2010/main" val="676356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9</a:t>
            </a:fld>
            <a:endParaRPr lang="en-US" dirty="0"/>
          </a:p>
        </p:txBody>
      </p:sp>
    </p:spTree>
    <p:extLst>
      <p:ext uri="{BB962C8B-B14F-4D97-AF65-F5344CB8AC3E}">
        <p14:creationId xmlns:p14="http://schemas.microsoft.com/office/powerpoint/2010/main" val="4207058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10</a:t>
            </a:fld>
            <a:endParaRPr lang="en-US" dirty="0"/>
          </a:p>
        </p:txBody>
      </p:sp>
    </p:spTree>
    <p:extLst>
      <p:ext uri="{BB962C8B-B14F-4D97-AF65-F5344CB8AC3E}">
        <p14:creationId xmlns:p14="http://schemas.microsoft.com/office/powerpoint/2010/main" val="555572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11</a:t>
            </a:fld>
            <a:endParaRPr lang="en-US" dirty="0"/>
          </a:p>
        </p:txBody>
      </p:sp>
    </p:spTree>
    <p:extLst>
      <p:ext uri="{BB962C8B-B14F-4D97-AF65-F5344CB8AC3E}">
        <p14:creationId xmlns:p14="http://schemas.microsoft.com/office/powerpoint/2010/main" val="1940607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a:solidFill>
                  <a:schemeClr val="tx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a:solidFill>
                  <a:srgbClr val="FAFAFA"/>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a:solidFill>
                  <a:srgbClr val="21212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a:solidFill>
                  <a:schemeClr val="tx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D981922-7652-D74D-9BCA-4EBCFEFB0217}"/>
              </a:ext>
            </a:extLst>
          </p:cNvPr>
          <p:cNvSpPr>
            <a:spLocks noGrp="1"/>
          </p:cNvSpPr>
          <p:nvPr>
            <p:ph type="ftr" sz="quarter" idx="11"/>
          </p:nvPr>
        </p:nvSpPr>
        <p:spPr/>
        <p:txBody>
          <a:bodyPr/>
          <a:lstStyle/>
          <a:p>
            <a:r>
              <a:rPr lang="en-US" dirty="0"/>
              <a:t>© 2023 GE Vernova and/or its affiliates. All rights reserved.</a:t>
            </a:r>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 Asymetrical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Asymmetrical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 Asymmetrical 2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and 1/3-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oxed Asym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Tree>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Tree>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Tree>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fographics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s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ente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2"/>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Statement 1">
    <p:bg>
      <p:bgPr>
        <a:solidFill>
          <a:srgbClr val="005E6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chemeClr val="tx1"/>
                </a:solidFill>
              </a:defRPr>
            </a:lvl1pPr>
          </a:lstStyle>
          <a:p>
            <a:r>
              <a:rPr lang="en-US" dirty="0"/>
              <a:t>© 2023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tatement 3">
    <p:bg>
      <p:bgPr>
        <a:solidFill>
          <a:schemeClr val="tx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rgbClr val="212121"/>
                </a:solidFill>
              </a:defRPr>
            </a:lvl1pPr>
          </a:lstStyle>
          <a:p>
            <a:r>
              <a:rPr lang="en-US" dirty="0"/>
              <a:t>© 2023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313947" cy="5486400"/>
          </a:xfrm>
        </p:spPr>
        <p:txBody>
          <a:bodyPr anchor="t" anchorCtr="0"/>
          <a:lstStyle>
            <a:lvl1pPr marL="0" indent="0">
              <a:lnSpc>
                <a:spcPct val="85000"/>
              </a:lnSpc>
              <a:spcAft>
                <a:spcPts val="0"/>
              </a:spcAft>
              <a:defRPr sz="5000" cap="all"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Statistics">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2"/>
          <a:stretch>
            <a:fillRect/>
          </a:stretch>
        </p:blipFill>
        <p:spPr>
          <a:xfrm>
            <a:off x="10309860" y="339154"/>
            <a:ext cx="1553486" cy="485273"/>
          </a:xfrm>
          <a:prstGeom prst="rect">
            <a:avLst/>
          </a:prstGeom>
        </p:spPr>
      </p:pic>
      <p:cxnSp>
        <p:nvCxnSpPr>
          <p:cNvPr id="9" name="Straight Connector 8">
            <a:extLst>
              <a:ext uri="{FF2B5EF4-FFF2-40B4-BE49-F238E27FC236}">
                <a16:creationId xmlns:a16="http://schemas.microsoft.com/office/drawing/2014/main" id="{7DEE471C-5A57-358B-365F-A3A68CF40A1F}"/>
              </a:ext>
            </a:extLst>
          </p:cNvPr>
          <p:cNvCxnSpPr>
            <a:cxnSpLocks/>
          </p:cNvCxnSpPr>
          <p:nvPr userDrawn="1"/>
        </p:nvCxnSpPr>
        <p:spPr>
          <a:xfrm>
            <a:off x="4062828" y="1631512"/>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50989A1-4498-FC27-B0F6-071BB240FD74}"/>
              </a:ext>
            </a:extLst>
          </p:cNvPr>
          <p:cNvCxnSpPr>
            <a:cxnSpLocks/>
          </p:cNvCxnSpPr>
          <p:nvPr userDrawn="1"/>
        </p:nvCxnSpPr>
        <p:spPr>
          <a:xfrm>
            <a:off x="7848132" y="1631512"/>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Statistics -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dium Stat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chemeClr val="bg1"/>
                </a:solidFill>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dirty="0"/>
              <a:t>Click icon to add picture</a:t>
            </a:r>
          </a:p>
        </p:txBody>
      </p:sp>
    </p:spTree>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dium Stat 3">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rgbClr val="212121"/>
                </a:solidFill>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dirty="0"/>
              <a:t>Click icon to add picture</a:t>
            </a:r>
          </a:p>
        </p:txBody>
      </p:sp>
    </p:spTree>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rge Stat 2">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Tree>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496076" y="454890"/>
            <a:ext cx="2429928" cy="242502"/>
          </a:xfrm>
          <a:prstGeom prst="rect">
            <a:avLst/>
          </a:prstGeom>
        </p:spPr>
        <p:txBody>
          <a:bodyPr lIns="0" tIns="0" rIns="0" bIns="0"/>
          <a:lstStyle>
            <a:lvl1pPr>
              <a:defRPr sz="1576" b="0" i="0">
                <a:solidFill>
                  <a:srgbClr val="000000"/>
                </a:solidFill>
                <a:latin typeface="Inter" panose="02000503000000020004" pitchFamily="2" charset="0"/>
                <a:cs typeface="Arial" panose="020B0604020202020204" pitchFamily="34" charset="0"/>
              </a:defRPr>
            </a:lvl1pPr>
          </a:lstStyle>
          <a:p>
            <a:r>
              <a:rPr lang="en-US"/>
              <a:t>Click to edit Master title style</a:t>
            </a:r>
            <a:endParaRPr/>
          </a:p>
        </p:txBody>
      </p:sp>
      <p:sp>
        <p:nvSpPr>
          <p:cNvPr id="3" name="Holder 3"/>
          <p:cNvSpPr>
            <a:spLocks noGrp="1"/>
          </p:cNvSpPr>
          <p:nvPr>
            <p:ph type="body" idx="1"/>
          </p:nvPr>
        </p:nvSpPr>
        <p:spPr>
          <a:xfrm>
            <a:off x="496076" y="1219201"/>
            <a:ext cx="2622936" cy="149309"/>
          </a:xfrm>
          <a:prstGeom prst="rect">
            <a:avLst/>
          </a:prstGeom>
        </p:spPr>
        <p:txBody>
          <a:bodyPr lIns="0" tIns="0" rIns="0" bIns="0" anchor="t"/>
          <a:lstStyle>
            <a:lvl1pPr algn="l">
              <a:lnSpc>
                <a:spcPct val="100000"/>
              </a:lnSpc>
              <a:spcBef>
                <a:spcPts val="728"/>
              </a:spcBef>
              <a:defRPr lang="en-US" sz="970" b="0">
                <a:solidFill>
                  <a:srgbClr val="212121"/>
                </a:solidFill>
                <a:latin typeface="Inter" panose="02000503000000020004" pitchFamily="2" charset="0"/>
                <a:cs typeface="Arial" panose="020B0604020202020204" pitchFamily="34" charset="0"/>
              </a:defRPr>
            </a:lvl1pPr>
          </a:lstStyle>
          <a:p>
            <a:pPr lvl="0"/>
            <a:r>
              <a:rPr lang="en-US"/>
              <a:t>Click to edit Master text styles</a:t>
            </a:r>
          </a:p>
        </p:txBody>
      </p:sp>
      <p:sp>
        <p:nvSpPr>
          <p:cNvPr id="11" name="object 4">
            <a:extLst>
              <a:ext uri="{FF2B5EF4-FFF2-40B4-BE49-F238E27FC236}">
                <a16:creationId xmlns:a16="http://schemas.microsoft.com/office/drawing/2014/main" id="{2147EC7E-B00F-0BDE-CC52-275162BBFB8A}"/>
              </a:ext>
            </a:extLst>
          </p:cNvPr>
          <p:cNvSpPr/>
          <p:nvPr userDrawn="1"/>
        </p:nvSpPr>
        <p:spPr>
          <a:xfrm>
            <a:off x="3314701" y="0"/>
            <a:ext cx="8877517" cy="6410170"/>
          </a:xfrm>
          <a:custGeom>
            <a:avLst/>
            <a:gdLst/>
            <a:ahLst/>
            <a:cxnLst/>
            <a:rect l="l" t="t" r="r" b="b"/>
            <a:pathLst>
              <a:path w="14638655" h="10554970">
                <a:moveTo>
                  <a:pt x="14638297" y="0"/>
                </a:moveTo>
                <a:lnTo>
                  <a:pt x="0" y="0"/>
                </a:lnTo>
                <a:lnTo>
                  <a:pt x="0" y="10554652"/>
                </a:lnTo>
                <a:lnTo>
                  <a:pt x="14638297" y="10554652"/>
                </a:lnTo>
                <a:lnTo>
                  <a:pt x="14638297" y="0"/>
                </a:lnTo>
                <a:close/>
              </a:path>
            </a:pathLst>
          </a:custGeom>
          <a:solidFill>
            <a:srgbClr val="E3E3E3"/>
          </a:solidFill>
          <a:ln>
            <a:noFill/>
          </a:ln>
        </p:spPr>
        <p:txBody>
          <a:bodyPr wrap="square" lIns="0" tIns="0" rIns="0" bIns="0" rtlCol="0"/>
          <a:lstStyle/>
          <a:p>
            <a:endParaRPr sz="1800" dirty="0"/>
          </a:p>
        </p:txBody>
      </p:sp>
      <p:sp>
        <p:nvSpPr>
          <p:cNvPr id="18" name="Slide Number Placeholder 5">
            <a:extLst>
              <a:ext uri="{FF2B5EF4-FFF2-40B4-BE49-F238E27FC236}">
                <a16:creationId xmlns:a16="http://schemas.microsoft.com/office/drawing/2014/main" id="{CA64F7AF-68F6-BA14-1B39-9AC8CD6A735F}"/>
              </a:ext>
            </a:extLst>
          </p:cNvPr>
          <p:cNvSpPr>
            <a:spLocks noGrp="1"/>
          </p:cNvSpPr>
          <p:nvPr>
            <p:ph type="sldNum" sz="quarter" idx="4"/>
          </p:nvPr>
        </p:nvSpPr>
        <p:spPr>
          <a:xfrm>
            <a:off x="11031539" y="6513067"/>
            <a:ext cx="666621" cy="107722"/>
          </a:xfrm>
          <a:prstGeom prst="rect">
            <a:avLst/>
          </a:prstGeom>
        </p:spPr>
        <p:txBody>
          <a:bodyPr vert="horz" wrap="square" lIns="0" tIns="0" rIns="0" bIns="0" rtlCol="0" anchor="b">
            <a:spAutoFit/>
          </a:bodyPr>
          <a:lstStyle>
            <a:lvl1pPr algn="r">
              <a:defRPr sz="700" b="0">
                <a:solidFill>
                  <a:srgbClr val="000000"/>
                </a:solidFill>
                <a:latin typeface="Inter" panose="02000503000000020004" pitchFamily="2" charset="0"/>
                <a:cs typeface="Arial" panose="020B0604020202020204" pitchFamily="34" charset="0"/>
              </a:defRPr>
            </a:lvl1pPr>
          </a:lstStyle>
          <a:p>
            <a:fld id="{14719505-AD43-774F-936C-A3AE71DD4EEA}" type="slidenum">
              <a:rPr lang="en-GB" smtClean="0"/>
              <a:pPr/>
              <a:t>‹#›</a:t>
            </a:fld>
            <a:endParaRPr lang="en-GB" dirty="0"/>
          </a:p>
        </p:txBody>
      </p:sp>
    </p:spTree>
    <p:extLst>
      <p:ext uri="{BB962C8B-B14F-4D97-AF65-F5344CB8AC3E}">
        <p14:creationId xmlns:p14="http://schemas.microsoft.com/office/powerpoint/2010/main" val="326124855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650" r:id="rId6"/>
    <p:sldLayoutId id="2147483668" r:id="rId7"/>
    <p:sldLayoutId id="2147483664" r:id="rId8"/>
    <p:sldLayoutId id="2147483669" r:id="rId9"/>
    <p:sldLayoutId id="2147483739" r:id="rId10"/>
    <p:sldLayoutId id="2147483731" r:id="rId11"/>
    <p:sldLayoutId id="2147483740" r:id="rId12"/>
    <p:sldLayoutId id="2147483667" r:id="rId13"/>
    <p:sldLayoutId id="2147483738" r:id="rId14"/>
    <p:sldLayoutId id="2147483665" r:id="rId15"/>
    <p:sldLayoutId id="2147483741" r:id="rId16"/>
    <p:sldLayoutId id="2147483666" r:id="rId17"/>
    <p:sldLayoutId id="2147483672" r:id="rId18"/>
    <p:sldLayoutId id="2147483673" r:id="rId19"/>
    <p:sldLayoutId id="2147483674" r:id="rId20"/>
    <p:sldLayoutId id="2147483743" r:id="rId21"/>
    <p:sldLayoutId id="2147483675" r:id="rId22"/>
    <p:sldLayoutId id="2147483676" r:id="rId23"/>
    <p:sldLayoutId id="2147483677" r:id="rId24"/>
    <p:sldLayoutId id="2147483651" r:id="rId25"/>
    <p:sldLayoutId id="2147483715" r:id="rId26"/>
    <p:sldLayoutId id="2147483719" r:id="rId27"/>
    <p:sldLayoutId id="2147483742" r:id="rId28"/>
    <p:sldLayoutId id="2147483701" r:id="rId29"/>
    <p:sldLayoutId id="2147483720" r:id="rId30"/>
    <p:sldLayoutId id="2147483684" r:id="rId31"/>
    <p:sldLayoutId id="2147483685" r:id="rId32"/>
    <p:sldLayoutId id="2147483686" r:id="rId33"/>
    <p:sldLayoutId id="2147483689" r:id="rId34"/>
    <p:sldLayoutId id="2147483687" r:id="rId35"/>
    <p:sldLayoutId id="2147483732" r:id="rId36"/>
    <p:sldLayoutId id="2147483692" r:id="rId37"/>
    <p:sldLayoutId id="2147483726" r:id="rId38"/>
    <p:sldLayoutId id="2147483695" r:id="rId39"/>
    <p:sldLayoutId id="2147483723" r:id="rId40"/>
    <p:sldLayoutId id="2147483697" r:id="rId41"/>
    <p:sldLayoutId id="2147483724" r:id="rId42"/>
    <p:sldLayoutId id="2147483733" r:id="rId43"/>
    <p:sldLayoutId id="2147483734" r:id="rId44"/>
    <p:sldLayoutId id="2147483699" r:id="rId45"/>
    <p:sldLayoutId id="2147483725" r:id="rId46"/>
    <p:sldLayoutId id="2147483744" r:id="rId47"/>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hyperlink" Target="https://www.gevernova.com/" TargetMode="External"/><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hyperlink" Target="https://www.linkedin.com/company/gevernova/"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gevernova.com/" TargetMode="External"/><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hyperlink" Target="https://www.linkedin.com/company/gevernova/"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DC47A73-6951-CED1-CDAF-4F900BFC56CC}"/>
              </a:ext>
            </a:extLst>
          </p:cNvPr>
          <p:cNvSpPr>
            <a:spLocks noGrp="1"/>
          </p:cNvSpPr>
          <p:nvPr>
            <p:ph type="ftr" sz="quarter" idx="11"/>
          </p:nvPr>
        </p:nvSpPr>
        <p:spPr/>
        <p:txBody>
          <a:bodyPr/>
          <a:lstStyle/>
          <a:p>
            <a:r>
              <a:rPr lang="en-US" dirty="0"/>
              <a:t>© 2023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dirty="0"/>
              <a:t>BOILERPLATES</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vert="horz" lIns="0" tIns="0" rIns="0" bIns="0" rtlCol="0" anchor="t">
            <a:noAutofit/>
          </a:bodyPr>
          <a:lstStyle/>
          <a:p>
            <a:r>
              <a:rPr lang="en-US" dirty="0"/>
              <a:t>Approved for Internal &amp; External Use</a:t>
            </a:r>
          </a:p>
          <a:p>
            <a:r>
              <a:rPr lang="en-US" sz="1200" dirty="0">
                <a:latin typeface="Inter"/>
                <a:ea typeface="Inter"/>
                <a:cs typeface="Inter"/>
              </a:rPr>
              <a:t>If you have any questions, please email</a:t>
            </a:r>
            <a:r>
              <a:rPr lang="es-419" sz="1200" dirty="0">
                <a:latin typeface="Inter"/>
                <a:ea typeface="Inter"/>
                <a:cs typeface="Inter"/>
              </a:rPr>
              <a:t> </a:t>
            </a:r>
            <a:r>
              <a:rPr lang="es-419" sz="1200" dirty="0">
                <a:solidFill>
                  <a:srgbClr val="C7F863"/>
                </a:solidFill>
                <a:latin typeface="Inter"/>
                <a:ea typeface="Inter"/>
                <a:cs typeface="Inter"/>
              </a:rPr>
              <a:t>Treacy.Reynolds@ge.com</a:t>
            </a:r>
            <a:endParaRPr lang="es-419" sz="1200" dirty="0">
              <a:solidFill>
                <a:srgbClr val="C7F863"/>
              </a:solidFill>
            </a:endParaRPr>
          </a:p>
          <a:p>
            <a:endParaRPr lang="en-US" dirty="0"/>
          </a:p>
          <a:p>
            <a:r>
              <a:rPr lang="en-US" dirty="0">
                <a:solidFill>
                  <a:srgbClr val="C7F863"/>
                </a:solidFill>
                <a:latin typeface="Inter"/>
                <a:ea typeface="Inter"/>
                <a:cs typeface="Inter"/>
              </a:rPr>
              <a:t>Updated 8 August, 2025</a:t>
            </a:r>
            <a:endParaRPr lang="en-US" dirty="0">
              <a:solidFill>
                <a:srgbClr val="C7F863"/>
              </a:solidFill>
              <a:ea typeface="Inter"/>
              <a:cs typeface="Inter"/>
            </a:endParaRPr>
          </a:p>
        </p:txBody>
      </p:sp>
    </p:spTree>
    <p:extLst>
      <p:ext uri="{BB962C8B-B14F-4D97-AF65-F5344CB8AC3E}">
        <p14:creationId xmlns:p14="http://schemas.microsoft.com/office/powerpoint/2010/main" val="2802947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2813C7-BB61-514B-84AC-C7076C83AF3F}"/>
              </a:ext>
            </a:extLst>
          </p:cNvPr>
          <p:cNvSpPr>
            <a:spLocks noGrp="1"/>
          </p:cNvSpPr>
          <p:nvPr>
            <p:ph type="ftr" sz="quarter" idx="11"/>
          </p:nvPr>
        </p:nvSpPr>
        <p:spPr/>
        <p:txBody>
          <a:bodyPr/>
          <a:lstStyle/>
          <a:p>
            <a:r>
              <a:rPr lang="en-US" dirty="0"/>
              <a:t>© 2023 GE Vernova and/or its affiliates. All rights reserved.</a:t>
            </a:r>
          </a:p>
        </p:txBody>
      </p:sp>
      <p:sp>
        <p:nvSpPr>
          <p:cNvPr id="35" name="Title 34">
            <a:extLst>
              <a:ext uri="{FF2B5EF4-FFF2-40B4-BE49-F238E27FC236}">
                <a16:creationId xmlns:a16="http://schemas.microsoft.com/office/drawing/2014/main" id="{9F51804B-5410-8E49-8385-06EA65D8FD3A}"/>
              </a:ext>
            </a:extLst>
          </p:cNvPr>
          <p:cNvSpPr>
            <a:spLocks noGrp="1"/>
          </p:cNvSpPr>
          <p:nvPr>
            <p:ph type="title"/>
          </p:nvPr>
        </p:nvSpPr>
        <p:spPr/>
        <p:txBody>
          <a:bodyPr/>
          <a:lstStyle/>
          <a:p>
            <a:r>
              <a:rPr lang="en-US" dirty="0"/>
              <a:t>Content</a:t>
            </a:r>
          </a:p>
        </p:txBody>
      </p:sp>
      <p:sp>
        <p:nvSpPr>
          <p:cNvPr id="36" name="Text Placeholder 35">
            <a:extLst>
              <a:ext uri="{FF2B5EF4-FFF2-40B4-BE49-F238E27FC236}">
                <a16:creationId xmlns:a16="http://schemas.microsoft.com/office/drawing/2014/main" id="{D5112DB6-59AF-6449-BD70-46F65047238B}"/>
              </a:ext>
            </a:extLst>
          </p:cNvPr>
          <p:cNvSpPr>
            <a:spLocks noGrp="1"/>
          </p:cNvSpPr>
          <p:nvPr>
            <p:ph type="body" sz="quarter" idx="13"/>
          </p:nvPr>
        </p:nvSpPr>
        <p:spPr>
          <a:xfrm>
            <a:off x="876300" y="1588770"/>
            <a:ext cx="1104900" cy="914400"/>
          </a:xfrm>
        </p:spPr>
        <p:txBody>
          <a:bodyPr/>
          <a:lstStyle/>
          <a:p>
            <a:r>
              <a:rPr lang="en-US" dirty="0"/>
              <a:t>01</a:t>
            </a:r>
          </a:p>
        </p:txBody>
      </p:sp>
      <p:sp>
        <p:nvSpPr>
          <p:cNvPr id="37" name="Text Placeholder 36">
            <a:extLst>
              <a:ext uri="{FF2B5EF4-FFF2-40B4-BE49-F238E27FC236}">
                <a16:creationId xmlns:a16="http://schemas.microsoft.com/office/drawing/2014/main" id="{7E7BF416-6C20-614A-A51B-CA4318AC49A0}"/>
              </a:ext>
            </a:extLst>
          </p:cNvPr>
          <p:cNvSpPr>
            <a:spLocks noGrp="1"/>
          </p:cNvSpPr>
          <p:nvPr>
            <p:ph type="body" sz="quarter" idx="14"/>
          </p:nvPr>
        </p:nvSpPr>
        <p:spPr>
          <a:xfrm>
            <a:off x="876300" y="2563495"/>
            <a:ext cx="1104900" cy="914400"/>
          </a:xfrm>
        </p:spPr>
        <p:txBody>
          <a:bodyPr/>
          <a:lstStyle/>
          <a:p>
            <a:r>
              <a:rPr lang="en-US" dirty="0"/>
              <a:t>02</a:t>
            </a:r>
          </a:p>
        </p:txBody>
      </p:sp>
      <p:sp>
        <p:nvSpPr>
          <p:cNvPr id="38" name="Text Placeholder 37">
            <a:extLst>
              <a:ext uri="{FF2B5EF4-FFF2-40B4-BE49-F238E27FC236}">
                <a16:creationId xmlns:a16="http://schemas.microsoft.com/office/drawing/2014/main" id="{DC9A38FD-90B6-C54C-BEFF-BFA1B81A22CF}"/>
              </a:ext>
            </a:extLst>
          </p:cNvPr>
          <p:cNvSpPr>
            <a:spLocks noGrp="1"/>
          </p:cNvSpPr>
          <p:nvPr>
            <p:ph type="body" sz="quarter" idx="15"/>
          </p:nvPr>
        </p:nvSpPr>
        <p:spPr>
          <a:xfrm>
            <a:off x="876300" y="3544570"/>
            <a:ext cx="1104900" cy="914400"/>
          </a:xfrm>
        </p:spPr>
        <p:txBody>
          <a:bodyPr/>
          <a:lstStyle/>
          <a:p>
            <a:r>
              <a:rPr lang="en-US" dirty="0"/>
              <a:t>03</a:t>
            </a:r>
          </a:p>
        </p:txBody>
      </p:sp>
      <p:sp>
        <p:nvSpPr>
          <p:cNvPr id="28" name="Text Placeholder 27">
            <a:extLst>
              <a:ext uri="{FF2B5EF4-FFF2-40B4-BE49-F238E27FC236}">
                <a16:creationId xmlns:a16="http://schemas.microsoft.com/office/drawing/2014/main" id="{81384578-D987-AB07-EA21-0E86D96B2D7F}"/>
              </a:ext>
            </a:extLst>
          </p:cNvPr>
          <p:cNvSpPr>
            <a:spLocks noGrp="1"/>
          </p:cNvSpPr>
          <p:nvPr>
            <p:ph type="body" sz="quarter" idx="18"/>
          </p:nvPr>
        </p:nvSpPr>
        <p:spPr>
          <a:xfrm>
            <a:off x="873760" y="4626789"/>
            <a:ext cx="1104900" cy="914400"/>
          </a:xfrm>
        </p:spPr>
        <p:txBody>
          <a:bodyPr/>
          <a:lstStyle/>
          <a:p>
            <a:r>
              <a:rPr lang="es-419" dirty="0"/>
              <a:t>04</a:t>
            </a:r>
            <a:endParaRPr lang="en-US" dirty="0"/>
          </a:p>
        </p:txBody>
      </p:sp>
      <p:sp>
        <p:nvSpPr>
          <p:cNvPr id="29" name="Text Placeholder 28">
            <a:extLst>
              <a:ext uri="{FF2B5EF4-FFF2-40B4-BE49-F238E27FC236}">
                <a16:creationId xmlns:a16="http://schemas.microsoft.com/office/drawing/2014/main" id="{D551D3FF-9539-F0E8-E684-080E5175A630}"/>
              </a:ext>
            </a:extLst>
          </p:cNvPr>
          <p:cNvSpPr>
            <a:spLocks noGrp="1"/>
          </p:cNvSpPr>
          <p:nvPr>
            <p:ph type="body" sz="quarter" idx="19"/>
          </p:nvPr>
        </p:nvSpPr>
        <p:spPr>
          <a:xfrm>
            <a:off x="6553200" y="2125345"/>
            <a:ext cx="1104900" cy="914400"/>
          </a:xfrm>
        </p:spPr>
        <p:txBody>
          <a:bodyPr/>
          <a:lstStyle/>
          <a:p>
            <a:r>
              <a:rPr lang="es-419" dirty="0"/>
              <a:t>05</a:t>
            </a:r>
            <a:endParaRPr lang="en-US" dirty="0"/>
          </a:p>
        </p:txBody>
      </p:sp>
      <p:sp>
        <p:nvSpPr>
          <p:cNvPr id="30" name="Text Placeholder 29">
            <a:extLst>
              <a:ext uri="{FF2B5EF4-FFF2-40B4-BE49-F238E27FC236}">
                <a16:creationId xmlns:a16="http://schemas.microsoft.com/office/drawing/2014/main" id="{093B31E0-3274-6FB0-5441-1ADAAEDCA2B3}"/>
              </a:ext>
            </a:extLst>
          </p:cNvPr>
          <p:cNvSpPr>
            <a:spLocks noGrp="1"/>
          </p:cNvSpPr>
          <p:nvPr>
            <p:ph type="body" sz="quarter" idx="20"/>
          </p:nvPr>
        </p:nvSpPr>
        <p:spPr>
          <a:xfrm>
            <a:off x="6555740" y="3883840"/>
            <a:ext cx="1104900" cy="914400"/>
          </a:xfrm>
        </p:spPr>
        <p:txBody>
          <a:bodyPr/>
          <a:lstStyle/>
          <a:p>
            <a:r>
              <a:rPr lang="es-419" dirty="0"/>
              <a:t>07</a:t>
            </a:r>
            <a:endParaRPr lang="en-US" dirty="0"/>
          </a:p>
        </p:txBody>
      </p:sp>
      <p:sp>
        <p:nvSpPr>
          <p:cNvPr id="46" name="Text Placeholder 45">
            <a:extLst>
              <a:ext uri="{FF2B5EF4-FFF2-40B4-BE49-F238E27FC236}">
                <a16:creationId xmlns:a16="http://schemas.microsoft.com/office/drawing/2014/main" id="{CE533451-FBE8-3E44-9034-AC0E6BC575DF}"/>
              </a:ext>
            </a:extLst>
          </p:cNvPr>
          <p:cNvSpPr>
            <a:spLocks noGrp="1"/>
          </p:cNvSpPr>
          <p:nvPr>
            <p:ph type="body" sz="quarter" idx="23"/>
          </p:nvPr>
        </p:nvSpPr>
        <p:spPr>
          <a:xfrm>
            <a:off x="1981200" y="1619250"/>
            <a:ext cx="3840480" cy="537210"/>
          </a:xfrm>
        </p:spPr>
        <p:txBody>
          <a:bodyPr/>
          <a:lstStyle/>
          <a:p>
            <a:r>
              <a:rPr lang="en-US" sz="1600" dirty="0"/>
              <a:t>GE Vernova </a:t>
            </a:r>
          </a:p>
          <a:p>
            <a:r>
              <a:rPr lang="en-US" sz="1600" dirty="0"/>
              <a:t>Corporate Boilerplate</a:t>
            </a:r>
          </a:p>
        </p:txBody>
      </p:sp>
      <p:sp>
        <p:nvSpPr>
          <p:cNvPr id="4" name="Slide Number Placeholder 3">
            <a:extLst>
              <a:ext uri="{FF2B5EF4-FFF2-40B4-BE49-F238E27FC236}">
                <a16:creationId xmlns:a16="http://schemas.microsoft.com/office/drawing/2014/main" id="{8AAF6318-23B5-5316-EF73-6D1BB78D9D20}"/>
              </a:ext>
            </a:extLst>
          </p:cNvPr>
          <p:cNvSpPr>
            <a:spLocks noGrp="1"/>
          </p:cNvSpPr>
          <p:nvPr>
            <p:ph type="sldNum" sz="quarter" idx="12"/>
          </p:nvPr>
        </p:nvSpPr>
        <p:spPr/>
        <p:txBody>
          <a:bodyPr/>
          <a:lstStyle/>
          <a:p>
            <a:fld id="{7A7A97EF-C944-4447-B862-B593E9B4A0FF}" type="slidenum">
              <a:rPr lang="en-US" smtClean="0"/>
              <a:pPr/>
              <a:t>2</a:t>
            </a:fld>
            <a:endParaRPr lang="en-US" dirty="0"/>
          </a:p>
        </p:txBody>
      </p:sp>
      <p:sp>
        <p:nvSpPr>
          <p:cNvPr id="3" name="Text Placeholder 45">
            <a:extLst>
              <a:ext uri="{FF2B5EF4-FFF2-40B4-BE49-F238E27FC236}">
                <a16:creationId xmlns:a16="http://schemas.microsoft.com/office/drawing/2014/main" id="{71A7A18C-D229-8C6D-6658-97F134B0E0B6}"/>
              </a:ext>
            </a:extLst>
          </p:cNvPr>
          <p:cNvSpPr txBox="1">
            <a:spLocks/>
          </p:cNvSpPr>
          <p:nvPr/>
        </p:nvSpPr>
        <p:spPr>
          <a:xfrm>
            <a:off x="1986280" y="2569528"/>
            <a:ext cx="3840480" cy="53721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Inter" panose="02000503000000020004" pitchFamily="2" charset="0"/>
                <a:ea typeface="+mn-ea"/>
                <a:cs typeface="+mn-cs"/>
              </a:defRPr>
            </a:lvl1pPr>
            <a:lvl2pPr marL="0" indent="0" algn="l" defTabSz="914400" rtl="0" eaLnBrk="1" latinLnBrk="0" hangingPunct="1">
              <a:lnSpc>
                <a:spcPct val="100000"/>
              </a:lnSpc>
              <a:spcBef>
                <a:spcPts val="0"/>
              </a:spcBef>
              <a:spcAft>
                <a:spcPts val="0"/>
              </a:spcAft>
              <a:buClr>
                <a:schemeClr val="tx2"/>
              </a:buClr>
              <a:buFont typeface="Arial" panose="020B0604020202020204" pitchFamily="34" charset="0"/>
              <a:buNone/>
              <a:defRPr sz="1200" kern="1200">
                <a:solidFill>
                  <a:schemeClr val="tx1"/>
                </a:solidFill>
                <a:latin typeface="Inter" panose="02000503000000020004" pitchFamily="2" charset="0"/>
                <a:ea typeface="+mn-ea"/>
                <a:cs typeface="+mn-cs"/>
              </a:defRPr>
            </a:lvl2pPr>
            <a:lvl3pPr marL="3175" indent="0" algn="l" defTabSz="914400" rtl="0" eaLnBrk="1" latinLnBrk="0" hangingPunct="1">
              <a:lnSpc>
                <a:spcPct val="100000"/>
              </a:lnSpc>
              <a:spcBef>
                <a:spcPts val="0"/>
              </a:spcBef>
              <a:spcAft>
                <a:spcPts val="0"/>
              </a:spcAft>
              <a:buClr>
                <a:schemeClr val="tx2"/>
              </a:buClr>
              <a:buFont typeface="Arial"/>
              <a:buNone/>
              <a:tabLst/>
              <a:defRPr sz="1200" kern="120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Arial"/>
              <a:buChar char="–"/>
              <a:tabLst/>
              <a:defRPr sz="1000" kern="1200">
                <a:solidFill>
                  <a:schemeClr val="tx1"/>
                </a:solidFill>
                <a:latin typeface="Inter" panose="02000503000000020004" pitchFamily="2" charset="0"/>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Arial"/>
              <a:buChar char="–"/>
              <a:defRPr sz="1200" kern="1200">
                <a:solidFill>
                  <a:schemeClr val="tx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600" dirty="0"/>
              <a:t>GE Vernova </a:t>
            </a:r>
          </a:p>
          <a:p>
            <a:r>
              <a:rPr lang="en-US" sz="1600" dirty="0"/>
              <a:t>Business Add-on Boilerplates</a:t>
            </a:r>
          </a:p>
        </p:txBody>
      </p:sp>
      <p:sp>
        <p:nvSpPr>
          <p:cNvPr id="5" name="Text Placeholder 45">
            <a:extLst>
              <a:ext uri="{FF2B5EF4-FFF2-40B4-BE49-F238E27FC236}">
                <a16:creationId xmlns:a16="http://schemas.microsoft.com/office/drawing/2014/main" id="{79524BEB-F856-5369-DC8B-90411FA658CA}"/>
              </a:ext>
            </a:extLst>
          </p:cNvPr>
          <p:cNvSpPr txBox="1">
            <a:spLocks/>
          </p:cNvSpPr>
          <p:nvPr/>
        </p:nvSpPr>
        <p:spPr>
          <a:xfrm>
            <a:off x="1981200" y="3555048"/>
            <a:ext cx="4114800" cy="53721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Inter" panose="02000503000000020004" pitchFamily="2" charset="0"/>
                <a:ea typeface="+mn-ea"/>
                <a:cs typeface="+mn-cs"/>
              </a:defRPr>
            </a:lvl1pPr>
            <a:lvl2pPr marL="0" indent="0" algn="l" defTabSz="914400" rtl="0" eaLnBrk="1" latinLnBrk="0" hangingPunct="1">
              <a:lnSpc>
                <a:spcPct val="100000"/>
              </a:lnSpc>
              <a:spcBef>
                <a:spcPts val="0"/>
              </a:spcBef>
              <a:spcAft>
                <a:spcPts val="0"/>
              </a:spcAft>
              <a:buClr>
                <a:schemeClr val="tx2"/>
              </a:buClr>
              <a:buFont typeface="Arial" panose="020B0604020202020204" pitchFamily="34" charset="0"/>
              <a:buNone/>
              <a:defRPr sz="1200" kern="1200">
                <a:solidFill>
                  <a:schemeClr val="tx1"/>
                </a:solidFill>
                <a:latin typeface="Inter" panose="02000503000000020004" pitchFamily="2" charset="0"/>
                <a:ea typeface="+mn-ea"/>
                <a:cs typeface="+mn-cs"/>
              </a:defRPr>
            </a:lvl2pPr>
            <a:lvl3pPr marL="3175" indent="0" algn="l" defTabSz="914400" rtl="0" eaLnBrk="1" latinLnBrk="0" hangingPunct="1">
              <a:lnSpc>
                <a:spcPct val="100000"/>
              </a:lnSpc>
              <a:spcBef>
                <a:spcPts val="0"/>
              </a:spcBef>
              <a:spcAft>
                <a:spcPts val="0"/>
              </a:spcAft>
              <a:buClr>
                <a:schemeClr val="tx2"/>
              </a:buClr>
              <a:buFont typeface="Arial"/>
              <a:buNone/>
              <a:tabLst/>
              <a:defRPr sz="1200" kern="120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Arial"/>
              <a:buChar char="–"/>
              <a:tabLst/>
              <a:defRPr sz="1000" kern="1200">
                <a:solidFill>
                  <a:schemeClr val="tx1"/>
                </a:solidFill>
                <a:latin typeface="Inter" panose="02000503000000020004" pitchFamily="2" charset="0"/>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Arial"/>
              <a:buChar char="–"/>
              <a:defRPr sz="1200" kern="1200">
                <a:solidFill>
                  <a:schemeClr val="tx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600" dirty="0"/>
              <a:t>GE Vernova </a:t>
            </a:r>
          </a:p>
          <a:p>
            <a:r>
              <a:rPr lang="en-US" sz="1600" dirty="0"/>
              <a:t>Business Press Release Boilerplate Example </a:t>
            </a:r>
          </a:p>
        </p:txBody>
      </p:sp>
      <p:sp>
        <p:nvSpPr>
          <p:cNvPr id="6" name="Text Placeholder 45">
            <a:extLst>
              <a:ext uri="{FF2B5EF4-FFF2-40B4-BE49-F238E27FC236}">
                <a16:creationId xmlns:a16="http://schemas.microsoft.com/office/drawing/2014/main" id="{BC1FE01C-A0D2-5DAD-019F-D0BB373FB01C}"/>
              </a:ext>
            </a:extLst>
          </p:cNvPr>
          <p:cNvSpPr txBox="1">
            <a:spLocks/>
          </p:cNvSpPr>
          <p:nvPr/>
        </p:nvSpPr>
        <p:spPr>
          <a:xfrm>
            <a:off x="1981200" y="4634092"/>
            <a:ext cx="3840480" cy="53721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Inter" panose="02000503000000020004" pitchFamily="2" charset="0"/>
                <a:ea typeface="+mn-ea"/>
                <a:cs typeface="+mn-cs"/>
              </a:defRPr>
            </a:lvl1pPr>
            <a:lvl2pPr marL="0" indent="0" algn="l" defTabSz="914400" rtl="0" eaLnBrk="1" latinLnBrk="0" hangingPunct="1">
              <a:lnSpc>
                <a:spcPct val="100000"/>
              </a:lnSpc>
              <a:spcBef>
                <a:spcPts val="0"/>
              </a:spcBef>
              <a:spcAft>
                <a:spcPts val="0"/>
              </a:spcAft>
              <a:buClr>
                <a:schemeClr val="tx2"/>
              </a:buClr>
              <a:buFont typeface="Arial" panose="020B0604020202020204" pitchFamily="34" charset="0"/>
              <a:buNone/>
              <a:defRPr sz="1200" kern="1200">
                <a:solidFill>
                  <a:schemeClr val="tx1"/>
                </a:solidFill>
                <a:latin typeface="Inter" panose="02000503000000020004" pitchFamily="2" charset="0"/>
                <a:ea typeface="+mn-ea"/>
                <a:cs typeface="+mn-cs"/>
              </a:defRPr>
            </a:lvl2pPr>
            <a:lvl3pPr marL="3175" indent="0" algn="l" defTabSz="914400" rtl="0" eaLnBrk="1" latinLnBrk="0" hangingPunct="1">
              <a:lnSpc>
                <a:spcPct val="100000"/>
              </a:lnSpc>
              <a:spcBef>
                <a:spcPts val="0"/>
              </a:spcBef>
              <a:spcAft>
                <a:spcPts val="0"/>
              </a:spcAft>
              <a:buClr>
                <a:schemeClr val="tx2"/>
              </a:buClr>
              <a:buFont typeface="Arial"/>
              <a:buNone/>
              <a:tabLst/>
              <a:defRPr sz="1200" kern="120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Arial"/>
              <a:buChar char="–"/>
              <a:tabLst/>
              <a:defRPr sz="1000" kern="1200">
                <a:solidFill>
                  <a:schemeClr val="tx1"/>
                </a:solidFill>
                <a:latin typeface="Inter" panose="02000503000000020004" pitchFamily="2" charset="0"/>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Arial"/>
              <a:buChar char="–"/>
              <a:defRPr sz="1200" kern="1200">
                <a:solidFill>
                  <a:schemeClr val="tx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600" dirty="0"/>
              <a:t>GE Vernova </a:t>
            </a:r>
          </a:p>
          <a:p>
            <a:r>
              <a:rPr lang="en-US" sz="1600" dirty="0"/>
              <a:t>Reporting Segment</a:t>
            </a:r>
          </a:p>
          <a:p>
            <a:r>
              <a:rPr lang="en-US" sz="1600" dirty="0"/>
              <a:t>Boilerplates</a:t>
            </a:r>
          </a:p>
        </p:txBody>
      </p:sp>
      <p:sp>
        <p:nvSpPr>
          <p:cNvPr id="7" name="Text Placeholder 45">
            <a:extLst>
              <a:ext uri="{FF2B5EF4-FFF2-40B4-BE49-F238E27FC236}">
                <a16:creationId xmlns:a16="http://schemas.microsoft.com/office/drawing/2014/main" id="{DB06423D-FBA4-D636-0ADA-B76E0F164C22}"/>
              </a:ext>
            </a:extLst>
          </p:cNvPr>
          <p:cNvSpPr txBox="1">
            <a:spLocks/>
          </p:cNvSpPr>
          <p:nvPr/>
        </p:nvSpPr>
        <p:spPr>
          <a:xfrm>
            <a:off x="7660640" y="2130426"/>
            <a:ext cx="3840480" cy="53721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Inter" panose="02000503000000020004" pitchFamily="2" charset="0"/>
                <a:ea typeface="+mn-ea"/>
                <a:cs typeface="+mn-cs"/>
              </a:defRPr>
            </a:lvl1pPr>
            <a:lvl2pPr marL="0" indent="0" algn="l" defTabSz="914400" rtl="0" eaLnBrk="1" latinLnBrk="0" hangingPunct="1">
              <a:lnSpc>
                <a:spcPct val="100000"/>
              </a:lnSpc>
              <a:spcBef>
                <a:spcPts val="0"/>
              </a:spcBef>
              <a:spcAft>
                <a:spcPts val="0"/>
              </a:spcAft>
              <a:buClr>
                <a:schemeClr val="tx2"/>
              </a:buClr>
              <a:buFont typeface="Arial" panose="020B0604020202020204" pitchFamily="34" charset="0"/>
              <a:buNone/>
              <a:defRPr sz="1200" kern="1200">
                <a:solidFill>
                  <a:schemeClr val="tx1"/>
                </a:solidFill>
                <a:latin typeface="Inter" panose="02000503000000020004" pitchFamily="2" charset="0"/>
                <a:ea typeface="+mn-ea"/>
                <a:cs typeface="+mn-cs"/>
              </a:defRPr>
            </a:lvl2pPr>
            <a:lvl3pPr marL="3175" indent="0" algn="l" defTabSz="914400" rtl="0" eaLnBrk="1" latinLnBrk="0" hangingPunct="1">
              <a:lnSpc>
                <a:spcPct val="100000"/>
              </a:lnSpc>
              <a:spcBef>
                <a:spcPts val="0"/>
              </a:spcBef>
              <a:spcAft>
                <a:spcPts val="0"/>
              </a:spcAft>
              <a:buClr>
                <a:schemeClr val="tx2"/>
              </a:buClr>
              <a:buFont typeface="Arial"/>
              <a:buNone/>
              <a:tabLst/>
              <a:defRPr sz="1200" kern="120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Arial"/>
              <a:buChar char="–"/>
              <a:tabLst/>
              <a:defRPr sz="1000" kern="1200">
                <a:solidFill>
                  <a:schemeClr val="tx1"/>
                </a:solidFill>
                <a:latin typeface="Inter" panose="02000503000000020004" pitchFamily="2" charset="0"/>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Arial"/>
              <a:buChar char="–"/>
              <a:defRPr sz="1200" kern="1200">
                <a:solidFill>
                  <a:schemeClr val="tx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600" dirty="0"/>
              <a:t>GE Vernova </a:t>
            </a:r>
          </a:p>
          <a:p>
            <a:r>
              <a:rPr lang="en-US" sz="1600" dirty="0"/>
              <a:t>Accelerator Boilerplates</a:t>
            </a:r>
          </a:p>
        </p:txBody>
      </p:sp>
      <p:sp>
        <p:nvSpPr>
          <p:cNvPr id="8" name="Text Placeholder 45">
            <a:extLst>
              <a:ext uri="{FF2B5EF4-FFF2-40B4-BE49-F238E27FC236}">
                <a16:creationId xmlns:a16="http://schemas.microsoft.com/office/drawing/2014/main" id="{44532928-7AE1-643F-A98F-43C477535464}"/>
              </a:ext>
            </a:extLst>
          </p:cNvPr>
          <p:cNvSpPr txBox="1">
            <a:spLocks/>
          </p:cNvSpPr>
          <p:nvPr/>
        </p:nvSpPr>
        <p:spPr>
          <a:xfrm>
            <a:off x="7660640" y="3920491"/>
            <a:ext cx="3840480" cy="53721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Inter" panose="02000503000000020004" pitchFamily="2" charset="0"/>
                <a:ea typeface="+mn-ea"/>
                <a:cs typeface="+mn-cs"/>
              </a:defRPr>
            </a:lvl1pPr>
            <a:lvl2pPr marL="0" indent="0" algn="l" defTabSz="914400" rtl="0" eaLnBrk="1" latinLnBrk="0" hangingPunct="1">
              <a:lnSpc>
                <a:spcPct val="100000"/>
              </a:lnSpc>
              <a:spcBef>
                <a:spcPts val="0"/>
              </a:spcBef>
              <a:spcAft>
                <a:spcPts val="0"/>
              </a:spcAft>
              <a:buClr>
                <a:schemeClr val="tx2"/>
              </a:buClr>
              <a:buFont typeface="Arial" panose="020B0604020202020204" pitchFamily="34" charset="0"/>
              <a:buNone/>
              <a:defRPr sz="1200" kern="1200">
                <a:solidFill>
                  <a:schemeClr val="tx1"/>
                </a:solidFill>
                <a:latin typeface="Inter" panose="02000503000000020004" pitchFamily="2" charset="0"/>
                <a:ea typeface="+mn-ea"/>
                <a:cs typeface="+mn-cs"/>
              </a:defRPr>
            </a:lvl2pPr>
            <a:lvl3pPr marL="3175" indent="0" algn="l" defTabSz="914400" rtl="0" eaLnBrk="1" latinLnBrk="0" hangingPunct="1">
              <a:lnSpc>
                <a:spcPct val="100000"/>
              </a:lnSpc>
              <a:spcBef>
                <a:spcPts val="0"/>
              </a:spcBef>
              <a:spcAft>
                <a:spcPts val="0"/>
              </a:spcAft>
              <a:buClr>
                <a:schemeClr val="tx2"/>
              </a:buClr>
              <a:buFont typeface="Arial"/>
              <a:buNone/>
              <a:tabLst/>
              <a:defRPr sz="1200" kern="120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Arial"/>
              <a:buChar char="–"/>
              <a:tabLst/>
              <a:defRPr sz="1000" kern="1200">
                <a:solidFill>
                  <a:schemeClr val="tx1"/>
                </a:solidFill>
                <a:latin typeface="Inter" panose="02000503000000020004" pitchFamily="2" charset="0"/>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Arial"/>
              <a:buChar char="–"/>
              <a:defRPr sz="1200" kern="1200">
                <a:solidFill>
                  <a:schemeClr val="tx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600" dirty="0"/>
              <a:t>GE Vernova </a:t>
            </a:r>
          </a:p>
          <a:p>
            <a:r>
              <a:rPr lang="en-US" sz="1600" dirty="0"/>
              <a:t>Boilerplate Guidelines</a:t>
            </a:r>
          </a:p>
        </p:txBody>
      </p:sp>
      <p:sp>
        <p:nvSpPr>
          <p:cNvPr id="9" name="Text Placeholder 29">
            <a:extLst>
              <a:ext uri="{FF2B5EF4-FFF2-40B4-BE49-F238E27FC236}">
                <a16:creationId xmlns:a16="http://schemas.microsoft.com/office/drawing/2014/main" id="{5ABAB1D3-2FDD-F487-CBCA-50D0099EF4CF}"/>
              </a:ext>
            </a:extLst>
          </p:cNvPr>
          <p:cNvSpPr txBox="1">
            <a:spLocks/>
          </p:cNvSpPr>
          <p:nvPr/>
        </p:nvSpPr>
        <p:spPr>
          <a:xfrm>
            <a:off x="6555740" y="2981007"/>
            <a:ext cx="1104900" cy="914400"/>
          </a:xfrm>
          <a:prstGeom prst="rect">
            <a:avLst/>
          </a:prstGeom>
        </p:spPr>
        <p:txBody>
          <a:bodyPr vert="horz" lIns="0" tIns="0" rIns="0" bIns="0" rtlCol="0">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Sons Condensed Extrabold" panose="02060906060206060203" pitchFamily="18"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s-419" dirty="0"/>
              <a:t>06</a:t>
            </a:r>
            <a:endParaRPr lang="en-US" dirty="0"/>
          </a:p>
        </p:txBody>
      </p:sp>
      <p:sp>
        <p:nvSpPr>
          <p:cNvPr id="10" name="Text Placeholder 45">
            <a:extLst>
              <a:ext uri="{FF2B5EF4-FFF2-40B4-BE49-F238E27FC236}">
                <a16:creationId xmlns:a16="http://schemas.microsoft.com/office/drawing/2014/main" id="{396AB86B-D46A-DEAA-8F05-EC0A68E3D7D5}"/>
              </a:ext>
            </a:extLst>
          </p:cNvPr>
          <p:cNvSpPr txBox="1">
            <a:spLocks/>
          </p:cNvSpPr>
          <p:nvPr/>
        </p:nvSpPr>
        <p:spPr>
          <a:xfrm>
            <a:off x="7660640" y="2997838"/>
            <a:ext cx="3840480" cy="53721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Inter" panose="02000503000000020004" pitchFamily="2" charset="0"/>
                <a:ea typeface="+mn-ea"/>
                <a:cs typeface="+mn-cs"/>
              </a:defRPr>
            </a:lvl1pPr>
            <a:lvl2pPr marL="0" indent="0" algn="l" defTabSz="914400" rtl="0" eaLnBrk="1" latinLnBrk="0" hangingPunct="1">
              <a:lnSpc>
                <a:spcPct val="100000"/>
              </a:lnSpc>
              <a:spcBef>
                <a:spcPts val="0"/>
              </a:spcBef>
              <a:spcAft>
                <a:spcPts val="0"/>
              </a:spcAft>
              <a:buClr>
                <a:schemeClr val="tx2"/>
              </a:buClr>
              <a:buFont typeface="Arial" panose="020B0604020202020204" pitchFamily="34" charset="0"/>
              <a:buNone/>
              <a:defRPr sz="1200" kern="1200">
                <a:solidFill>
                  <a:schemeClr val="tx1"/>
                </a:solidFill>
                <a:latin typeface="Inter" panose="02000503000000020004" pitchFamily="2" charset="0"/>
                <a:ea typeface="+mn-ea"/>
                <a:cs typeface="+mn-cs"/>
              </a:defRPr>
            </a:lvl2pPr>
            <a:lvl3pPr marL="3175" indent="0" algn="l" defTabSz="914400" rtl="0" eaLnBrk="1" latinLnBrk="0" hangingPunct="1">
              <a:lnSpc>
                <a:spcPct val="100000"/>
              </a:lnSpc>
              <a:spcBef>
                <a:spcPts val="0"/>
              </a:spcBef>
              <a:spcAft>
                <a:spcPts val="0"/>
              </a:spcAft>
              <a:buClr>
                <a:schemeClr val="tx2"/>
              </a:buClr>
              <a:buFont typeface="Arial"/>
              <a:buNone/>
              <a:tabLst/>
              <a:defRPr sz="1200" kern="120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Arial"/>
              <a:buChar char="–"/>
              <a:tabLst/>
              <a:defRPr sz="1000" kern="1200">
                <a:solidFill>
                  <a:schemeClr val="tx1"/>
                </a:solidFill>
                <a:latin typeface="Inter" panose="02000503000000020004" pitchFamily="2" charset="0"/>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Arial"/>
              <a:buChar char="–"/>
              <a:defRPr sz="1200" kern="1200">
                <a:solidFill>
                  <a:schemeClr val="tx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600" dirty="0"/>
              <a:t>GE Vernova </a:t>
            </a:r>
          </a:p>
          <a:p>
            <a:r>
              <a:rPr lang="en-US" sz="1600" dirty="0"/>
              <a:t>Forward Looking Statement </a:t>
            </a:r>
          </a:p>
        </p:txBody>
      </p:sp>
    </p:spTree>
    <p:extLst>
      <p:ext uri="{BB962C8B-B14F-4D97-AF65-F5344CB8AC3E}">
        <p14:creationId xmlns:p14="http://schemas.microsoft.com/office/powerpoint/2010/main" val="2507818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B895F32-3415-79B3-9FA2-7BFD818D1620}"/>
              </a:ext>
            </a:extLst>
          </p:cNvPr>
          <p:cNvSpPr/>
          <p:nvPr/>
        </p:nvSpPr>
        <p:spPr>
          <a:xfrm>
            <a:off x="1" y="1403350"/>
            <a:ext cx="12192000" cy="5454650"/>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endParaRPr>
          </a:p>
        </p:txBody>
      </p:sp>
      <p:sp>
        <p:nvSpPr>
          <p:cNvPr id="2" name="Footer Placeholder 1">
            <a:extLst>
              <a:ext uri="{FF2B5EF4-FFF2-40B4-BE49-F238E27FC236}">
                <a16:creationId xmlns:a16="http://schemas.microsoft.com/office/drawing/2014/main" id="{06A9493B-2535-124D-AD39-0E3375A5F4A9}"/>
              </a:ext>
            </a:extLst>
          </p:cNvPr>
          <p:cNvSpPr>
            <a:spLocks noGrp="1"/>
          </p:cNvSpPr>
          <p:nvPr>
            <p:ph type="ftr" sz="quarter" idx="11"/>
          </p:nvPr>
        </p:nvSpPr>
        <p:spPr/>
        <p:txBody>
          <a:bodyPr/>
          <a:lstStyle/>
          <a:p>
            <a:r>
              <a:rPr lang="en-US" dirty="0"/>
              <a:t>© 2023 GE Vernova and/or its affiliates. All rights reserved.</a:t>
            </a:r>
          </a:p>
        </p:txBody>
      </p:sp>
      <p:sp>
        <p:nvSpPr>
          <p:cNvPr id="5" name="Slide Number Placeholder 4">
            <a:extLst>
              <a:ext uri="{FF2B5EF4-FFF2-40B4-BE49-F238E27FC236}">
                <a16:creationId xmlns:a16="http://schemas.microsoft.com/office/drawing/2014/main" id="{FE709C0B-7C3B-ADD7-62FB-7FEB6BBCAC07}"/>
              </a:ext>
            </a:extLst>
          </p:cNvPr>
          <p:cNvSpPr>
            <a:spLocks noGrp="1"/>
          </p:cNvSpPr>
          <p:nvPr>
            <p:ph type="sldNum" sz="quarter" idx="12"/>
          </p:nvPr>
        </p:nvSpPr>
        <p:spPr/>
        <p:txBody>
          <a:bodyPr/>
          <a:lstStyle/>
          <a:p>
            <a:fld id="{7A7A97EF-C944-4447-B862-B593E9B4A0FF}" type="slidenum">
              <a:rPr lang="en-US" smtClean="0"/>
              <a:t>3</a:t>
            </a:fld>
            <a:endParaRPr lang="en-US" dirty="0"/>
          </a:p>
        </p:txBody>
      </p:sp>
      <p:sp>
        <p:nvSpPr>
          <p:cNvPr id="16" name="Title 3">
            <a:extLst>
              <a:ext uri="{FF2B5EF4-FFF2-40B4-BE49-F238E27FC236}">
                <a16:creationId xmlns:a16="http://schemas.microsoft.com/office/drawing/2014/main" id="{80A0FCBE-0916-AB65-F21D-EB69AB507F04}"/>
              </a:ext>
            </a:extLst>
          </p:cNvPr>
          <p:cNvSpPr>
            <a:spLocks noGrp="1"/>
          </p:cNvSpPr>
          <p:nvPr>
            <p:ph type="title"/>
          </p:nvPr>
        </p:nvSpPr>
        <p:spPr>
          <a:xfrm>
            <a:off x="419100" y="419101"/>
            <a:ext cx="9587542" cy="457020"/>
          </a:xfrm>
        </p:spPr>
        <p:txBody>
          <a:bodyPr/>
          <a:lstStyle/>
          <a:p>
            <a:r>
              <a:rPr lang="en-US" dirty="0"/>
              <a:t>GE Vernova Corporate Boilerplate</a:t>
            </a:r>
          </a:p>
        </p:txBody>
      </p:sp>
      <p:sp>
        <p:nvSpPr>
          <p:cNvPr id="17" name="Text Placeholder 4">
            <a:extLst>
              <a:ext uri="{FF2B5EF4-FFF2-40B4-BE49-F238E27FC236}">
                <a16:creationId xmlns:a16="http://schemas.microsoft.com/office/drawing/2014/main" id="{5E2DBE31-4228-8A62-6EFF-284FC757DD9B}"/>
              </a:ext>
            </a:extLst>
          </p:cNvPr>
          <p:cNvSpPr txBox="1">
            <a:spLocks/>
          </p:cNvSpPr>
          <p:nvPr/>
        </p:nvSpPr>
        <p:spPr>
          <a:xfrm>
            <a:off x="342898" y="889824"/>
            <a:ext cx="11353800" cy="513526"/>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b="1" dirty="0"/>
              <a:t>Intended for global use across businesses and regions</a:t>
            </a:r>
          </a:p>
        </p:txBody>
      </p:sp>
      <p:sp>
        <p:nvSpPr>
          <p:cNvPr id="18" name="Content Placeholder 5">
            <a:extLst>
              <a:ext uri="{FF2B5EF4-FFF2-40B4-BE49-F238E27FC236}">
                <a16:creationId xmlns:a16="http://schemas.microsoft.com/office/drawing/2014/main" id="{77CA548A-59D8-83CB-CC78-1B21A66E8F49}"/>
              </a:ext>
            </a:extLst>
          </p:cNvPr>
          <p:cNvSpPr txBox="1">
            <a:spLocks/>
          </p:cNvSpPr>
          <p:nvPr/>
        </p:nvSpPr>
        <p:spPr>
          <a:xfrm>
            <a:off x="342898" y="1536797"/>
            <a:ext cx="11353800" cy="4766033"/>
          </a:xfrm>
          <a:prstGeom prst="rect">
            <a:avLst/>
          </a:prstGeom>
        </p:spPr>
        <p:txBody>
          <a:bodyPr lIns="91440" tIns="45720" rIns="91440" bIns="45720" anchor="t"/>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lvl="1" indent="0">
              <a:buFont typeface="Arial" panose="020B0604020202020204" pitchFamily="34" charset="0"/>
              <a:buNone/>
            </a:pPr>
            <a:r>
              <a:rPr lang="en-US" b="1" dirty="0"/>
              <a:t>About GE Vernova</a:t>
            </a:r>
            <a:endParaRPr lang="en-US" b="1" dirty="0">
              <a:ea typeface="Inter" panose="02000503000000020004" pitchFamily="2" charset="0"/>
            </a:endParaRPr>
          </a:p>
          <a:p>
            <a:pPr algn="just"/>
            <a:r>
              <a:rPr lang="en-US" dirty="0">
                <a:latin typeface="+mn-lt"/>
                <a:ea typeface="Inter"/>
              </a:rPr>
              <a:t>GE Vernova Inc. (NYSE: GEV) is a purpose-built global energy company that includes Power, Wind, and Electrification segments and is supported by its accelerator businesses. Building on over 130 years of experience tackling the world’s challenges, GE Vernova is uniquely positioned to help lead the energy transition by continuing to electrify the world while simultaneously working to decarbonize it. GE Vernova helps customers power economies and deliver electricity that is vital to health, safety, security, and improved quality of life. GE Vernova is headquartered in Cambridge, Massachusetts, U.S., with approximately 75,000 employees across approximately 100 countries around the world. Supported by the Company’s purpose, The Energy to Change the World, GE Vernova technology helps deliver a more affordable, reliable, sustainable, and secure energy future. Learn more:</a:t>
            </a:r>
            <a:r>
              <a:rPr lang="en-US" dirty="0">
                <a:solidFill>
                  <a:schemeClr val="tx2"/>
                </a:solidFill>
                <a:latin typeface="+mn-lt"/>
                <a:ea typeface="Inter"/>
              </a:rPr>
              <a:t> </a:t>
            </a:r>
            <a:r>
              <a:rPr lang="en-US" dirty="0">
                <a:solidFill>
                  <a:schemeClr val="tx2"/>
                </a:solidFill>
                <a:latin typeface="+mn-lt"/>
                <a:ea typeface="Inter"/>
                <a:hlinkClick r:id="rId3">
                  <a:extLst>
                    <a:ext uri="{A12FA001-AC4F-418D-AE19-62706E023703}">
                      <ahyp:hlinkClr xmlns:ahyp="http://schemas.microsoft.com/office/drawing/2018/hyperlinkcolor" val="tx"/>
                    </a:ext>
                  </a:extLst>
                </a:hlinkClick>
              </a:rPr>
              <a:t>GE Vernova </a:t>
            </a:r>
            <a:r>
              <a:rPr lang="en-US" dirty="0">
                <a:solidFill>
                  <a:schemeClr val="tx2"/>
                </a:solidFill>
                <a:latin typeface="+mn-lt"/>
                <a:ea typeface="Inter"/>
              </a:rPr>
              <a:t>and </a:t>
            </a:r>
            <a:r>
              <a:rPr lang="en-US" dirty="0">
                <a:solidFill>
                  <a:schemeClr val="tx2"/>
                </a:solidFill>
                <a:latin typeface="+mn-lt"/>
                <a:ea typeface="Inter"/>
                <a:hlinkClick r:id="rId4">
                  <a:extLst>
                    <a:ext uri="{A12FA001-AC4F-418D-AE19-62706E023703}">
                      <ahyp:hlinkClr xmlns:ahyp="http://schemas.microsoft.com/office/drawing/2018/hyperlinkcolor" val="tx"/>
                    </a:ext>
                  </a:extLst>
                </a:hlinkClick>
              </a:rPr>
              <a:t>LinkedIn</a:t>
            </a:r>
            <a:r>
              <a:rPr lang="en-US" dirty="0">
                <a:solidFill>
                  <a:schemeClr val="tx2"/>
                </a:solidFill>
                <a:latin typeface="+mn-lt"/>
                <a:ea typeface="Inter"/>
              </a:rPr>
              <a:t>.</a:t>
            </a:r>
            <a:endParaRPr lang="en-US" dirty="0">
              <a:solidFill>
                <a:schemeClr val="tx2"/>
              </a:solidFill>
              <a:latin typeface="+mn-lt"/>
              <a:ea typeface="Inter"/>
              <a:cs typeface="Inter"/>
            </a:endParaRPr>
          </a:p>
          <a:p>
            <a:pPr marL="0" lvl="1" indent="0" algn="just">
              <a:buFont typeface="Arial" panose="020B0604020202020204" pitchFamily="34" charset="0"/>
              <a:buNone/>
            </a:pPr>
            <a:endParaRPr lang="en-US" sz="1400" dirty="0">
              <a:latin typeface="Inter" panose="02000503000000020004" pitchFamily="2" charset="0"/>
              <a:ea typeface="Inter" panose="02000503000000020004" pitchFamily="2" charset="0"/>
            </a:endParaRPr>
          </a:p>
          <a:p>
            <a:pPr lvl="3"/>
            <a:endParaRPr lang="en-US" dirty="0"/>
          </a:p>
        </p:txBody>
      </p:sp>
    </p:spTree>
    <p:extLst>
      <p:ext uri="{BB962C8B-B14F-4D97-AF65-F5344CB8AC3E}">
        <p14:creationId xmlns:p14="http://schemas.microsoft.com/office/powerpoint/2010/main" val="1187768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5">
            <a:extLst>
              <a:ext uri="{FF2B5EF4-FFF2-40B4-BE49-F238E27FC236}">
                <a16:creationId xmlns:a16="http://schemas.microsoft.com/office/drawing/2014/main" id="{58E6FC8E-40C4-06B5-AAF1-185C945EE608}"/>
              </a:ext>
            </a:extLst>
          </p:cNvPr>
          <p:cNvGraphicFramePr>
            <a:graphicFrameLocks noGrp="1"/>
          </p:cNvGraphicFramePr>
          <p:nvPr>
            <p:extLst>
              <p:ext uri="{D42A27DB-BD31-4B8C-83A1-F6EECF244321}">
                <p14:modId xmlns:p14="http://schemas.microsoft.com/office/powerpoint/2010/main" val="4247713694"/>
              </p:ext>
            </p:extLst>
          </p:nvPr>
        </p:nvGraphicFramePr>
        <p:xfrm>
          <a:off x="438709" y="1253764"/>
          <a:ext cx="2560320" cy="5585460"/>
        </p:xfrm>
        <a:graphic>
          <a:graphicData uri="http://schemas.openxmlformats.org/drawingml/2006/table">
            <a:tbl>
              <a:tblPr bandRow="1" bandCol="1"/>
              <a:tblGrid>
                <a:gridCol w="2560320">
                  <a:extLst>
                    <a:ext uri="{9D8B030D-6E8A-4147-A177-3AD203B41FA5}">
                      <a16:colId xmlns:a16="http://schemas.microsoft.com/office/drawing/2014/main" val="3566982985"/>
                    </a:ext>
                  </a:extLst>
                </a:gridCol>
              </a:tblGrid>
              <a:tr h="1425364">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GAS POWER</a:t>
                      </a:r>
                    </a:p>
                    <a:p>
                      <a:pPr marL="0" indent="0">
                        <a:lnSpc>
                          <a:spcPct val="100000"/>
                        </a:lnSpc>
                        <a:spcBef>
                          <a:spcPts val="200"/>
                        </a:spcBef>
                        <a:spcAft>
                          <a:spcPts val="0"/>
                        </a:spcAft>
                        <a:buFont typeface="Arial" panose="020B0604020202020204" pitchFamily="34" charset="0"/>
                        <a:buNone/>
                      </a:pPr>
                      <a:r>
                        <a:rPr lang="en-US" sz="900" b="0" cap="none" baseline="0" dirty="0">
                          <a:solidFill>
                            <a:srgbClr val="212121"/>
                          </a:solidFill>
                          <a:latin typeface="Inter" panose="02000503000000020004" pitchFamily="2" charset="0"/>
                          <a:ea typeface="Inter" panose="02000503000000020004" pitchFamily="2" charset="0"/>
                        </a:rPr>
                        <a:t>GE Vernova’s Gas Power business engineers advanced, efficient natural gas-powered technologies and services, along with decarbonization solutions that aim to help electrify a lower carbon future. It is a global leader in gas turbines and power plant technologies and services with the industry’s largest installed base. </a:t>
                      </a:r>
                    </a:p>
                  </a:txBody>
                  <a:tcPr marT="91440" marB="91440">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6607357"/>
                  </a:ext>
                </a:extLst>
              </a:tr>
              <a:tr h="1178666">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STEAM POWER</a:t>
                      </a:r>
                      <a:endParaRPr lang="en-US" sz="2100" b="1" kern="1200" cap="all" spc="50" baseline="0" noProof="0" dirty="0">
                        <a:solidFill>
                          <a:schemeClr val="tx1"/>
                        </a:solidFill>
                        <a:latin typeface="Sons Condensed Extrabold" panose="02060906060206060203" pitchFamily="18" charset="0"/>
                        <a:ea typeface="Inter" panose="02000503000000020004" pitchFamily="2" charset="0"/>
                        <a:cs typeface="+mn-cs"/>
                      </a:endParaRPr>
                    </a:p>
                    <a:p>
                      <a:pPr marL="0" marR="0" lvl="0" indent="0" algn="l"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GE Vernova’s Steam Power business provides a broad portfolio of technologies and services that help industrial and non-renewable energy power plants deliver reliable power as they transition to a lower carbon future. </a:t>
                      </a:r>
                    </a:p>
                  </a:txBody>
                  <a:tcPr marT="91440" marB="91440">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7144992"/>
                  </a:ext>
                </a:extLst>
              </a:tr>
              <a:tr h="2658851">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NUCLEAR POWER</a:t>
                      </a:r>
                    </a:p>
                    <a:p>
                      <a:pPr marL="0" marR="0" lvl="0" indent="0" algn="l"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r>
                        <a:rPr kumimoji="0" lang="en-US" sz="85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rPr>
                        <a:t>GE </a:t>
                      </a:r>
                      <a:r>
                        <a:rPr kumimoji="0" lang="en-US" sz="850" b="0" i="0" u="none" strike="noStrike" kern="1200" cap="none" spc="0" normalizeH="0" baseline="0" dirty="0" err="1">
                          <a:ln>
                            <a:noFill/>
                          </a:ln>
                          <a:solidFill>
                            <a:srgbClr val="212121"/>
                          </a:solidFill>
                          <a:effectLst/>
                          <a:uLnTx/>
                          <a:uFillTx/>
                          <a:latin typeface="Inter" panose="02000503000000020004" pitchFamily="2" charset="0"/>
                          <a:ea typeface="Inter" panose="02000503000000020004" pitchFamily="2" charset="0"/>
                          <a:cs typeface="+mn-cs"/>
                        </a:rPr>
                        <a:t>Vernova’s</a:t>
                      </a:r>
                      <a:r>
                        <a:rPr kumimoji="0" lang="en-US" sz="85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rPr>
                        <a:t> Nuclear energy business, through its global alliance with Hitachi, is a world-leading provider of nuclear fuel bundles, services, and advanced nuclear reactor designs. Technologies include boiling water reactors and small modular reactors, such as the BWRX-300, which is one of the simplest, yet most innovative boiling water reactor designs. GE </a:t>
                      </a:r>
                      <a:r>
                        <a:rPr kumimoji="0" lang="en-US" sz="850" b="0" i="0" u="none" strike="noStrike" kern="1200" cap="none" spc="0" normalizeH="0" baseline="0" dirty="0" err="1">
                          <a:ln>
                            <a:noFill/>
                          </a:ln>
                          <a:solidFill>
                            <a:srgbClr val="212121"/>
                          </a:solidFill>
                          <a:effectLst/>
                          <a:uLnTx/>
                          <a:uFillTx/>
                          <a:latin typeface="Inter" panose="02000503000000020004" pitchFamily="2" charset="0"/>
                          <a:ea typeface="Inter" panose="02000503000000020004" pitchFamily="2" charset="0"/>
                          <a:cs typeface="+mn-cs"/>
                        </a:rPr>
                        <a:t>Vernova’s</a:t>
                      </a:r>
                      <a:r>
                        <a:rPr kumimoji="0" lang="en-US" sz="85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rPr>
                        <a:t> Nuclear fuel business, Global Nuclear Fuel (GNF), is a world-leading supplier of boiling water reactor fuel and fuel-related engineering services. GNF is a GE Vernova-led joint venture with Hitachi, Ltd. and operates primarily through Global Nuclear Fuel-Americas, LLC in Wilmington, N.C., and Global Nuclear Fuel-Japan Co., Ltd. in </a:t>
                      </a:r>
                      <a:r>
                        <a:rPr kumimoji="0" lang="en-US" sz="850" b="0" i="0" u="none" strike="noStrike" kern="1200" cap="none" spc="0" normalizeH="0" baseline="0" dirty="0" err="1">
                          <a:ln>
                            <a:noFill/>
                          </a:ln>
                          <a:solidFill>
                            <a:srgbClr val="212121"/>
                          </a:solidFill>
                          <a:effectLst/>
                          <a:uLnTx/>
                          <a:uFillTx/>
                          <a:latin typeface="Inter" panose="02000503000000020004" pitchFamily="2" charset="0"/>
                          <a:ea typeface="Inter" panose="02000503000000020004" pitchFamily="2" charset="0"/>
                          <a:cs typeface="+mn-cs"/>
                        </a:rPr>
                        <a:t>Kurihama</a:t>
                      </a:r>
                      <a:r>
                        <a:rPr kumimoji="0" lang="en-US" sz="85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rPr>
                        <a:t>, Japan.</a:t>
                      </a:r>
                      <a:endParaRPr lang="en-US" sz="850" b="0" i="1" dirty="0">
                        <a:solidFill>
                          <a:schemeClr val="tx2"/>
                        </a:solidFill>
                      </a:endParaRPr>
                    </a:p>
                  </a:txBody>
                  <a:tcPr marT="91440" marB="91440">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84121"/>
                  </a:ext>
                </a:extLst>
              </a:tr>
            </a:tbl>
          </a:graphicData>
        </a:graphic>
      </p:graphicFrame>
      <p:sp>
        <p:nvSpPr>
          <p:cNvPr id="2" name="Footer Placeholder 1">
            <a:extLst>
              <a:ext uri="{FF2B5EF4-FFF2-40B4-BE49-F238E27FC236}">
                <a16:creationId xmlns:a16="http://schemas.microsoft.com/office/drawing/2014/main" id="{59F10492-FB3D-4825-CFA8-087414739805}"/>
              </a:ext>
            </a:extLst>
          </p:cNvPr>
          <p:cNvSpPr>
            <a:spLocks noGrp="1"/>
          </p:cNvSpPr>
          <p:nvPr>
            <p:ph type="ftr" sz="quarter" idx="11"/>
          </p:nvPr>
        </p:nvSpPr>
        <p:spPr>
          <a:xfrm>
            <a:off x="3112545" y="6613347"/>
            <a:ext cx="10248900" cy="244653"/>
          </a:xfrm>
        </p:spPr>
        <p:txBody>
          <a:bodyPr/>
          <a:lstStyle/>
          <a:p>
            <a:r>
              <a:rPr lang="en-US" dirty="0"/>
              <a:t>© 2023 GE VERNOVA and/or its affiliates. All rights reserved.</a:t>
            </a:r>
          </a:p>
        </p:txBody>
      </p:sp>
      <p:sp>
        <p:nvSpPr>
          <p:cNvPr id="3" name="Slide Number Placeholder 2">
            <a:extLst>
              <a:ext uri="{FF2B5EF4-FFF2-40B4-BE49-F238E27FC236}">
                <a16:creationId xmlns:a16="http://schemas.microsoft.com/office/drawing/2014/main" id="{4ADD4AF5-9595-181F-A701-B59C7C21AEF7}"/>
              </a:ext>
            </a:extLst>
          </p:cNvPr>
          <p:cNvSpPr>
            <a:spLocks noGrp="1"/>
          </p:cNvSpPr>
          <p:nvPr>
            <p:ph type="sldNum" sz="quarter" idx="12"/>
          </p:nvPr>
        </p:nvSpPr>
        <p:spPr/>
        <p:txBody>
          <a:bodyPr/>
          <a:lstStyle/>
          <a:p>
            <a:fld id="{7A7A97EF-C944-4447-B862-B593E9B4A0FF}" type="slidenum">
              <a:rPr lang="en-US" smtClean="0"/>
              <a:pPr/>
              <a:t>4</a:t>
            </a:fld>
            <a:endParaRPr lang="en-US" dirty="0"/>
          </a:p>
        </p:txBody>
      </p:sp>
      <p:sp>
        <p:nvSpPr>
          <p:cNvPr id="4" name="Title 3">
            <a:extLst>
              <a:ext uri="{FF2B5EF4-FFF2-40B4-BE49-F238E27FC236}">
                <a16:creationId xmlns:a16="http://schemas.microsoft.com/office/drawing/2014/main" id="{D968CC81-FC3A-11D3-9E53-A4FA6C74D3A6}"/>
              </a:ext>
            </a:extLst>
          </p:cNvPr>
          <p:cNvSpPr>
            <a:spLocks noGrp="1"/>
          </p:cNvSpPr>
          <p:nvPr>
            <p:ph type="title"/>
          </p:nvPr>
        </p:nvSpPr>
        <p:spPr/>
        <p:txBody>
          <a:bodyPr/>
          <a:lstStyle/>
          <a:p>
            <a:r>
              <a:rPr lang="en-US" dirty="0"/>
              <a:t>GE Vernova Business Add-on Boilerplates</a:t>
            </a:r>
          </a:p>
        </p:txBody>
      </p:sp>
      <p:sp>
        <p:nvSpPr>
          <p:cNvPr id="6" name="Text Placeholder 5">
            <a:extLst>
              <a:ext uri="{FF2B5EF4-FFF2-40B4-BE49-F238E27FC236}">
                <a16:creationId xmlns:a16="http://schemas.microsoft.com/office/drawing/2014/main" id="{494EEF55-F31D-D8F6-6EEB-8E1CC9A6F266}"/>
              </a:ext>
            </a:extLst>
          </p:cNvPr>
          <p:cNvSpPr>
            <a:spLocks noGrp="1"/>
          </p:cNvSpPr>
          <p:nvPr>
            <p:ph type="body" sz="quarter" idx="13"/>
          </p:nvPr>
        </p:nvSpPr>
        <p:spPr>
          <a:xfrm>
            <a:off x="419100" y="889824"/>
            <a:ext cx="11353800" cy="363941"/>
          </a:xfrm>
        </p:spPr>
        <p:txBody>
          <a:bodyPr/>
          <a:lstStyle/>
          <a:p>
            <a:r>
              <a:rPr lang="en-US" noProof="0" dirty="0"/>
              <a:t>Attach to first paragraph of GE Vernova’s corporate boilerplate</a:t>
            </a:r>
            <a:endParaRPr lang="en-US" dirty="0"/>
          </a:p>
        </p:txBody>
      </p:sp>
      <p:cxnSp>
        <p:nvCxnSpPr>
          <p:cNvPr id="22" name="Straight Connector 21">
            <a:extLst>
              <a:ext uri="{FF2B5EF4-FFF2-40B4-BE49-F238E27FC236}">
                <a16:creationId xmlns:a16="http://schemas.microsoft.com/office/drawing/2014/main" id="{251EC5CC-5FF9-8D0F-AF03-0D904C918691}"/>
              </a:ext>
            </a:extLst>
          </p:cNvPr>
          <p:cNvCxnSpPr>
            <a:cxnSpLocks/>
          </p:cNvCxnSpPr>
          <p:nvPr/>
        </p:nvCxnSpPr>
        <p:spPr>
          <a:xfrm>
            <a:off x="405368" y="1253765"/>
            <a:ext cx="0" cy="512064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F80694-7FD6-E8F9-9100-1CA596EEA0EC}"/>
              </a:ext>
            </a:extLst>
          </p:cNvPr>
          <p:cNvCxnSpPr>
            <a:cxnSpLocks/>
          </p:cNvCxnSpPr>
          <p:nvPr/>
        </p:nvCxnSpPr>
        <p:spPr>
          <a:xfrm>
            <a:off x="3055787" y="1253765"/>
            <a:ext cx="0" cy="512064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FD3394A-BCB7-6D41-C428-E7A37C52976B}"/>
              </a:ext>
            </a:extLst>
          </p:cNvPr>
          <p:cNvCxnSpPr>
            <a:cxnSpLocks/>
          </p:cNvCxnSpPr>
          <p:nvPr/>
        </p:nvCxnSpPr>
        <p:spPr>
          <a:xfrm>
            <a:off x="6186823" y="1280399"/>
            <a:ext cx="0" cy="512064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28CA53D-652D-F789-6955-0362CEE2B085}"/>
              </a:ext>
            </a:extLst>
          </p:cNvPr>
          <p:cNvCxnSpPr>
            <a:cxnSpLocks/>
          </p:cNvCxnSpPr>
          <p:nvPr/>
        </p:nvCxnSpPr>
        <p:spPr>
          <a:xfrm>
            <a:off x="9134979" y="1253765"/>
            <a:ext cx="0" cy="512064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18" name="Table 5">
            <a:extLst>
              <a:ext uri="{FF2B5EF4-FFF2-40B4-BE49-F238E27FC236}">
                <a16:creationId xmlns:a16="http://schemas.microsoft.com/office/drawing/2014/main" id="{B73B7D61-03D0-8A1A-C095-4257CDB233AB}"/>
              </a:ext>
            </a:extLst>
          </p:cNvPr>
          <p:cNvGraphicFramePr>
            <a:graphicFrameLocks noGrp="1"/>
          </p:cNvGraphicFramePr>
          <p:nvPr>
            <p:extLst>
              <p:ext uri="{D42A27DB-BD31-4B8C-83A1-F6EECF244321}">
                <p14:modId xmlns:p14="http://schemas.microsoft.com/office/powerpoint/2010/main" val="2506427166"/>
              </p:ext>
            </p:extLst>
          </p:nvPr>
        </p:nvGraphicFramePr>
        <p:xfrm>
          <a:off x="9191739" y="1253765"/>
          <a:ext cx="2743200" cy="5061283"/>
        </p:xfrm>
        <a:graphic>
          <a:graphicData uri="http://schemas.openxmlformats.org/drawingml/2006/table">
            <a:tbl>
              <a:tblPr bandRow="1" bandCol="1"/>
              <a:tblGrid>
                <a:gridCol w="2743200">
                  <a:extLst>
                    <a:ext uri="{9D8B030D-6E8A-4147-A177-3AD203B41FA5}">
                      <a16:colId xmlns:a16="http://schemas.microsoft.com/office/drawing/2014/main" val="3412240070"/>
                    </a:ext>
                  </a:extLst>
                </a:gridCol>
              </a:tblGrid>
              <a:tr h="3153077">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Electrification software</a:t>
                      </a:r>
                    </a:p>
                    <a:p>
                      <a:pPr>
                        <a:spcBef>
                          <a:spcPts val="200"/>
                        </a:spcBef>
                      </a:pPr>
                      <a:r>
                        <a:rPr lang="en-US" sz="900" b="0" dirty="0">
                          <a:solidFill>
                            <a:srgbClr val="212121"/>
                          </a:solidFill>
                          <a:latin typeface="Inter" panose="02000503000000020004" pitchFamily="2" charset="0"/>
                          <a:ea typeface="Inter" panose="02000503000000020004" pitchFamily="2" charset="0"/>
                        </a:rPr>
                        <a:t>GE Vernova’s </a:t>
                      </a:r>
                      <a:r>
                        <a:rPr lang="en-US" sz="900" b="1" dirty="0">
                          <a:solidFill>
                            <a:srgbClr val="212121"/>
                          </a:solidFill>
                          <a:latin typeface="Inter" panose="02000503000000020004" pitchFamily="2" charset="0"/>
                          <a:ea typeface="Inter" panose="02000503000000020004" pitchFamily="2" charset="0"/>
                        </a:rPr>
                        <a:t>Electrification Software </a:t>
                      </a:r>
                      <a:r>
                        <a:rPr lang="en-US" sz="900" b="0" dirty="0">
                          <a:solidFill>
                            <a:srgbClr val="212121"/>
                          </a:solidFill>
                          <a:latin typeface="Inter" panose="02000503000000020004" pitchFamily="2" charset="0"/>
                          <a:ea typeface="Inter" panose="02000503000000020004" pitchFamily="2" charset="0"/>
                        </a:rPr>
                        <a:t>business is focused on delivering the intelligent applications and insights needed to accelerate electrification and decarbonization across the entire energy ecosystem – from how it’s created, how it’s orchestrated, to how it’s consumed. </a:t>
                      </a:r>
                    </a:p>
                    <a:p>
                      <a:pPr>
                        <a:spcBef>
                          <a:spcPts val="600"/>
                        </a:spcBef>
                      </a:pPr>
                      <a:r>
                        <a:rPr lang="en-US" sz="900" b="1" dirty="0">
                          <a:solidFill>
                            <a:srgbClr val="212121"/>
                          </a:solidFill>
                          <a:latin typeface="Inter" panose="02000503000000020004" pitchFamily="2" charset="0"/>
                          <a:ea typeface="Inter" panose="02000503000000020004" pitchFamily="2" charset="0"/>
                        </a:rPr>
                        <a:t>Grid Software</a:t>
                      </a:r>
                      <a:r>
                        <a:rPr lang="en-US" sz="900" b="0" dirty="0">
                          <a:solidFill>
                            <a:srgbClr val="212121"/>
                          </a:solidFill>
                          <a:latin typeface="Inter" panose="02000503000000020004" pitchFamily="2" charset="0"/>
                          <a:ea typeface="Inter" panose="02000503000000020004" pitchFamily="2" charset="0"/>
                        </a:rPr>
                        <a:t> business and GridOS® portfolio is trusted by global utilities to orchestrate a more intelligent energy grid and help deliver reliable and affordable electricity to their customers. </a:t>
                      </a:r>
                    </a:p>
                    <a:p>
                      <a:pPr>
                        <a:spcBef>
                          <a:spcPts val="600"/>
                        </a:spcBef>
                      </a:pPr>
                      <a:r>
                        <a:rPr lang="en-US" sz="900" b="1" dirty="0">
                          <a:solidFill>
                            <a:srgbClr val="212121"/>
                          </a:solidFill>
                          <a:latin typeface="Inter" panose="02000503000000020004" pitchFamily="2" charset="0"/>
                          <a:ea typeface="Inter" panose="02000503000000020004" pitchFamily="2" charset="0"/>
                        </a:rPr>
                        <a:t>Power &amp; Energy Resources Software</a:t>
                      </a:r>
                      <a:r>
                        <a:rPr lang="en-US" sz="900" b="0" dirty="0">
                          <a:solidFill>
                            <a:srgbClr val="212121"/>
                          </a:solidFill>
                          <a:latin typeface="Inter" panose="02000503000000020004" pitchFamily="2" charset="0"/>
                          <a:ea typeface="Inter" panose="02000503000000020004" pitchFamily="2" charset="0"/>
                        </a:rPr>
                        <a:t> helps improve reliability and drive decarbonization.</a:t>
                      </a:r>
                    </a:p>
                    <a:p>
                      <a:pPr>
                        <a:spcBef>
                          <a:spcPts val="600"/>
                        </a:spcBef>
                      </a:pPr>
                      <a:r>
                        <a:rPr lang="en-US" sz="900" b="1" dirty="0">
                          <a:solidFill>
                            <a:srgbClr val="212121"/>
                          </a:solidFill>
                          <a:latin typeface="Inter" panose="02000503000000020004" pitchFamily="2" charset="0"/>
                          <a:ea typeface="Inter" panose="02000503000000020004" pitchFamily="2" charset="0"/>
                        </a:rPr>
                        <a:t>Proficy® Software &amp; Services </a:t>
                      </a:r>
                      <a:r>
                        <a:rPr lang="en-US" sz="900" b="0" dirty="0">
                          <a:solidFill>
                            <a:srgbClr val="212121"/>
                          </a:solidFill>
                          <a:latin typeface="Inter" panose="02000503000000020004" pitchFamily="2" charset="0"/>
                          <a:ea typeface="Inter" panose="02000503000000020004" pitchFamily="2" charset="0"/>
                        </a:rPr>
                        <a:t>business delivers proven industrial software that improves efficiency and quality, enables connected workers, and operationalizes sustainability across diverse industries ranging from manufacturing to utilities. </a:t>
                      </a:r>
                    </a:p>
                  </a:txBody>
                  <a:tcPr marT="91440" marB="91440">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7144992"/>
                  </a:ext>
                </a:extLst>
              </a:tr>
              <a:tr h="1601803">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marR="0" lvl="0" indent="0" algn="l" defTabSz="914400" rtl="0" eaLnBrk="1" fontAlgn="auto" latinLnBrk="0" hangingPunct="1">
                        <a:lnSpc>
                          <a:spcPts val="2200"/>
                        </a:lnSpc>
                        <a:spcBef>
                          <a:spcPts val="200"/>
                        </a:spcBef>
                        <a:spcAft>
                          <a:spcPts val="0"/>
                        </a:spcAft>
                        <a:buClrTx/>
                        <a:buSzTx/>
                        <a:buFont typeface="Arial" panose="020B0604020202020204" pitchFamily="34" charset="0"/>
                        <a:buNone/>
                        <a:tabLst/>
                        <a:defRPr/>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FINANCIAL SERVICES</a:t>
                      </a:r>
                      <a:endParaRPr lang="en-US" sz="2100" b="1" kern="1200" cap="all" spc="50" baseline="0" noProof="0" dirty="0">
                        <a:solidFill>
                          <a:schemeClr val="tx1"/>
                        </a:solidFill>
                        <a:latin typeface="Sons Condensed Extrabold" panose="02060906060206060203" pitchFamily="18" charset="0"/>
                        <a:ea typeface="Inter" panose="02000503000000020004" pitchFamily="2" charset="0"/>
                        <a:cs typeface="+mn-cs"/>
                      </a:endParaRPr>
                    </a:p>
                    <a:p>
                      <a:pPr marL="0" indent="0" algn="l">
                        <a:lnSpc>
                          <a:spcPct val="100000"/>
                        </a:lnSpc>
                        <a:spcBef>
                          <a:spcPts val="200"/>
                        </a:spcBef>
                        <a:spcAft>
                          <a:spcPts val="0"/>
                        </a:spcAft>
                        <a:buFont typeface="Arial" panose="020B0604020202020204" pitchFamily="34" charset="0"/>
                        <a:buNone/>
                      </a:pPr>
                      <a:r>
                        <a:rPr lang="en-US" sz="900" dirty="0">
                          <a:solidFill>
                            <a:schemeClr val="tx2"/>
                          </a:solidFill>
                          <a:latin typeface="Inter" panose="02000503000000020004" pitchFamily="2" charset="0"/>
                          <a:ea typeface="Inter" panose="02000503000000020004" pitchFamily="2" charset="0"/>
                        </a:rPr>
                        <a:t>GE Vernova’s </a:t>
                      </a:r>
                      <a:r>
                        <a:rPr lang="en-US" sz="900" b="1" dirty="0">
                          <a:solidFill>
                            <a:schemeClr val="tx2"/>
                          </a:solidFill>
                          <a:latin typeface="Inter" panose="02000503000000020004" pitchFamily="2" charset="0"/>
                          <a:ea typeface="Inter" panose="02000503000000020004" pitchFamily="2" charset="0"/>
                        </a:rPr>
                        <a:t>Financial Services </a:t>
                      </a:r>
                      <a:r>
                        <a:rPr lang="en-US" sz="900" dirty="0">
                          <a:solidFill>
                            <a:schemeClr val="tx2"/>
                          </a:solidFill>
                          <a:latin typeface="Inter" panose="02000503000000020004" pitchFamily="2" charset="0"/>
                          <a:ea typeface="Inter" panose="02000503000000020004" pitchFamily="2" charset="0"/>
                        </a:rPr>
                        <a:t>business provides customers with a suite of financing solutions for projects that aim to accelerate a new era of energy. It has deployed sizeable capital into energy projects globally through development financing, direct equity investments, and capital raising from private and public financial institutions.</a:t>
                      </a:r>
                    </a:p>
                  </a:txBody>
                  <a:tcPr marT="91440" marB="91440">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84121"/>
                  </a:ext>
                </a:extLst>
              </a:tr>
            </a:tbl>
          </a:graphicData>
        </a:graphic>
      </p:graphicFrame>
      <p:graphicFrame>
        <p:nvGraphicFramePr>
          <p:cNvPr id="19" name="Table 5">
            <a:extLst>
              <a:ext uri="{FF2B5EF4-FFF2-40B4-BE49-F238E27FC236}">
                <a16:creationId xmlns:a16="http://schemas.microsoft.com/office/drawing/2014/main" id="{12802FDE-A1FA-0930-84DE-833363C0CB58}"/>
              </a:ext>
            </a:extLst>
          </p:cNvPr>
          <p:cNvGraphicFramePr>
            <a:graphicFrameLocks noGrp="1"/>
          </p:cNvGraphicFramePr>
          <p:nvPr>
            <p:extLst>
              <p:ext uri="{D42A27DB-BD31-4B8C-83A1-F6EECF244321}">
                <p14:modId xmlns:p14="http://schemas.microsoft.com/office/powerpoint/2010/main" val="3331293932"/>
              </p:ext>
            </p:extLst>
          </p:nvPr>
        </p:nvGraphicFramePr>
        <p:xfrm>
          <a:off x="3112545" y="1253765"/>
          <a:ext cx="3017520" cy="5262880"/>
        </p:xfrm>
        <a:graphic>
          <a:graphicData uri="http://schemas.openxmlformats.org/drawingml/2006/table">
            <a:tbl>
              <a:tblPr bandRow="1" bandCol="1"/>
              <a:tblGrid>
                <a:gridCol w="3017520">
                  <a:extLst>
                    <a:ext uri="{9D8B030D-6E8A-4147-A177-3AD203B41FA5}">
                      <a16:colId xmlns:a16="http://schemas.microsoft.com/office/drawing/2014/main" val="1936356102"/>
                    </a:ext>
                  </a:extLst>
                </a:gridCol>
              </a:tblGrid>
              <a:tr h="977265">
                <a:tc>
                  <a:txBody>
                    <a:body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HYDRO power</a:t>
                      </a:r>
                    </a:p>
                    <a:p>
                      <a:pPr marL="0" marR="0" lvl="0" indent="0" algn="l"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GE </a:t>
                      </a:r>
                      <a:r>
                        <a:rPr kumimoji="0" lang="en-US" sz="900" b="0" i="0" u="none" strike="noStrike" kern="1200" cap="none" spc="0" normalizeH="0" baseline="0" noProof="0" dirty="0" err="1">
                          <a:ln>
                            <a:noFill/>
                          </a:ln>
                          <a:solidFill>
                            <a:srgbClr val="212121"/>
                          </a:solidFill>
                          <a:effectLst/>
                          <a:uLnTx/>
                          <a:uFillTx/>
                          <a:latin typeface="Inter" panose="02000503000000020004" pitchFamily="2" charset="0"/>
                          <a:ea typeface="Inter" panose="02000503000000020004" pitchFamily="2" charset="0"/>
                          <a:cs typeface="+mn-cs"/>
                        </a:rPr>
                        <a:t>Vernova’s</a:t>
                      </a:r>
                      <a:r>
                        <a:rPr kumimoji="0" lang="en-US" sz="900" b="0"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 Hydro Power business produces advanced technologies that harness the power of water to help deliver reliable power to some of the world's largest economies and remote communities.</a:t>
                      </a:r>
                    </a:p>
                  </a:txBody>
                  <a:tcPr marT="91440" marB="9144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803086"/>
                  </a:ext>
                </a:extLst>
              </a:tr>
              <a:tr h="1103515">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ONSHORE Wind</a:t>
                      </a:r>
                    </a:p>
                    <a:p>
                      <a:pPr marL="0" indent="0">
                        <a:lnSpc>
                          <a:spcPct val="100000"/>
                        </a:lnSpc>
                        <a:spcBef>
                          <a:spcPts val="200"/>
                        </a:spcBef>
                        <a:spcAft>
                          <a:spcPts val="0"/>
                        </a:spcAft>
                        <a:buFont typeface="Arial" panose="020B0604020202020204" pitchFamily="34" charset="0"/>
                        <a:buNone/>
                      </a:pPr>
                      <a:r>
                        <a:rPr lang="en-US" sz="900" b="0" dirty="0">
                          <a:solidFill>
                            <a:srgbClr val="212121"/>
                          </a:solidFill>
                          <a:latin typeface="Inter" panose="02000503000000020004" pitchFamily="2" charset="0"/>
                          <a:ea typeface="Inter" panose="02000503000000020004" pitchFamily="2" charset="0"/>
                        </a:rPr>
                        <a:t>GE </a:t>
                      </a:r>
                      <a:r>
                        <a:rPr lang="en-US" sz="900" b="0" dirty="0" err="1">
                          <a:solidFill>
                            <a:srgbClr val="212121"/>
                          </a:solidFill>
                          <a:latin typeface="Inter" panose="02000503000000020004" pitchFamily="2" charset="0"/>
                          <a:ea typeface="Inter" panose="02000503000000020004" pitchFamily="2" charset="0"/>
                        </a:rPr>
                        <a:t>Vernova’s</a:t>
                      </a:r>
                      <a:r>
                        <a:rPr lang="en-US" sz="900" b="0" dirty="0">
                          <a:solidFill>
                            <a:srgbClr val="212121"/>
                          </a:solidFill>
                          <a:latin typeface="Inter" panose="02000503000000020004" pitchFamily="2" charset="0"/>
                          <a:ea typeface="Inter" panose="02000503000000020004" pitchFamily="2" charset="0"/>
                        </a:rPr>
                        <a:t> Onshore Wind business is a world leader in onshore wind technology. With an installed base of approximately 55,000 turbines around the world, it offers a high-tech product portfolio of turbines for a broad range of site conditions.</a:t>
                      </a:r>
                    </a:p>
                  </a:txBody>
                  <a:tcPr marT="91440" marB="9144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6607357"/>
                  </a:ext>
                </a:extLst>
              </a:tr>
              <a:tr h="1356014">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a:solidFill>
                            <a:schemeClr val="tx1"/>
                          </a:solidFill>
                          <a:latin typeface="Sons Condensed Extrabold" panose="02060906060206060203" pitchFamily="18" charset="0"/>
                          <a:ea typeface="Inter" panose="02000503000000020004" pitchFamily="2" charset="0"/>
                          <a:cs typeface="+mn-cs"/>
                        </a:rPr>
                        <a:t>OFFSHORE Wind</a:t>
                      </a:r>
                    </a:p>
                    <a:p>
                      <a:pPr marL="0" indent="0">
                        <a:lnSpc>
                          <a:spcPct val="100000"/>
                        </a:lnSpc>
                        <a:spcBef>
                          <a:spcPts val="200"/>
                        </a:spcBef>
                        <a:spcAft>
                          <a:spcPts val="0"/>
                        </a:spcAft>
                        <a:buFont typeface="Arial" panose="020B0604020202020204" pitchFamily="34" charset="0"/>
                        <a:buNone/>
                      </a:pPr>
                      <a:r>
                        <a:rPr lang="en-US" sz="900" b="0">
                          <a:solidFill>
                            <a:srgbClr val="212121"/>
                          </a:solidFill>
                          <a:latin typeface="Inter" panose="02000503000000020004" pitchFamily="2" charset="0"/>
                          <a:ea typeface="Inter" panose="02000503000000020004" pitchFamily="2" charset="0"/>
                        </a:rPr>
                        <a:t>GE Vernova’s Offshore Wind business is one of the world’s leading offshore wind energy and services provider, with wind turbines capable of a proven performance up to 14 megawatts. We have installed approximately 1 GW of offshore wind turbines, with operating projects in Europe, Asia, and North America. </a:t>
                      </a:r>
                    </a:p>
                  </a:txBody>
                  <a:tcPr marT="91440" marB="9144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7144992"/>
                  </a:ext>
                </a:extLst>
              </a:tr>
              <a:tr h="1500967">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LM WIND POWER**</a:t>
                      </a:r>
                    </a:p>
                    <a:p>
                      <a:pPr marL="0" indent="0" algn="l" defTabSz="914400" rtl="0" eaLnBrk="1" latinLnBrk="0" hangingPunct="1">
                        <a:lnSpc>
                          <a:spcPct val="100000"/>
                        </a:lnSpc>
                        <a:spcBef>
                          <a:spcPts val="200"/>
                        </a:spcBef>
                        <a:spcAft>
                          <a:spcPts val="0"/>
                        </a:spcAft>
                        <a:buFont typeface="Arial" panose="020B0604020202020204" pitchFamily="34" charset="0"/>
                        <a:buNone/>
                      </a:pPr>
                      <a:r>
                        <a:rPr kumimoji="0" lang="en-US" sz="90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rPr>
                        <a:t>GE </a:t>
                      </a:r>
                      <a:r>
                        <a:rPr kumimoji="0" lang="en-US" sz="900" b="0" i="0" u="none" strike="noStrike" kern="1200" cap="none" spc="0" normalizeH="0" baseline="0" dirty="0" err="1">
                          <a:ln>
                            <a:noFill/>
                          </a:ln>
                          <a:solidFill>
                            <a:srgbClr val="212121"/>
                          </a:solidFill>
                          <a:effectLst/>
                          <a:uLnTx/>
                          <a:uFillTx/>
                          <a:latin typeface="Inter" panose="02000503000000020004" pitchFamily="2" charset="0"/>
                          <a:ea typeface="Inter" panose="02000503000000020004" pitchFamily="2" charset="0"/>
                          <a:cs typeface="+mn-cs"/>
                        </a:rPr>
                        <a:t>Vernova’s</a:t>
                      </a:r>
                      <a:r>
                        <a:rPr kumimoji="0" lang="en-US" sz="90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rPr>
                        <a:t> LM Wind Power business is an industry-leading developer and manufacturer of high-quality rotor blades for onshore and offshore wind turbines with blade services solutions and a global manufacturing footprint. </a:t>
                      </a:r>
                    </a:p>
                    <a:p>
                      <a:pPr marL="0" indent="0" algn="l" defTabSz="914400" rtl="0" eaLnBrk="1" latinLnBrk="0" hangingPunct="1">
                        <a:lnSpc>
                          <a:spcPct val="100000"/>
                        </a:lnSpc>
                        <a:spcBef>
                          <a:spcPts val="200"/>
                        </a:spcBef>
                        <a:spcAft>
                          <a:spcPts val="0"/>
                        </a:spcAft>
                        <a:buFont typeface="Arial" panose="020B0604020202020204" pitchFamily="34" charset="0"/>
                        <a:buNone/>
                      </a:pPr>
                      <a:r>
                        <a:rPr lang="en-US" sz="800" b="0" i="1" kern="1200" dirty="0">
                          <a:solidFill>
                            <a:schemeClr val="tx2"/>
                          </a:solidFill>
                          <a:latin typeface="Inter"/>
                          <a:ea typeface="+mn-ea"/>
                          <a:cs typeface="+mn-cs"/>
                        </a:rPr>
                        <a:t>**Non GEV  LM Wind Power specific press release boilerplate involving partnerships available upon request. </a:t>
                      </a:r>
                    </a:p>
                    <a:p>
                      <a:pPr marL="0" indent="0" algn="l" defTabSz="914400" rtl="0" eaLnBrk="1" latinLnBrk="0" hangingPunct="1">
                        <a:lnSpc>
                          <a:spcPct val="100000"/>
                        </a:lnSpc>
                        <a:spcBef>
                          <a:spcPts val="200"/>
                        </a:spcBef>
                        <a:spcAft>
                          <a:spcPts val="0"/>
                        </a:spcAft>
                        <a:buFont typeface="Arial" panose="020B0604020202020204" pitchFamily="34" charset="0"/>
                        <a:buNone/>
                      </a:pPr>
                      <a:endParaRPr kumimoji="0" lang="en-US" sz="900" b="0" i="0" u="none" strike="noStrike" kern="1200" cap="none" spc="0" normalizeH="0" baseline="0" dirty="0">
                        <a:ln>
                          <a:noFill/>
                        </a:ln>
                        <a:solidFill>
                          <a:srgbClr val="212121"/>
                        </a:solidFill>
                        <a:effectLst/>
                        <a:highlight>
                          <a:srgbClr val="FFFF00"/>
                        </a:highlight>
                        <a:uLnTx/>
                        <a:uFillTx/>
                        <a:latin typeface="Inter" panose="02000503000000020004" pitchFamily="2" charset="0"/>
                        <a:ea typeface="Inter" panose="02000503000000020004" pitchFamily="2" charset="0"/>
                        <a:cs typeface="+mn-cs"/>
                      </a:endParaRPr>
                    </a:p>
                  </a:txBody>
                  <a:tcPr marT="91440" marB="9144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84121"/>
                  </a:ext>
                </a:extLst>
              </a:tr>
            </a:tbl>
          </a:graphicData>
        </a:graphic>
      </p:graphicFrame>
      <p:graphicFrame>
        <p:nvGraphicFramePr>
          <p:cNvPr id="20" name="Table 5">
            <a:extLst>
              <a:ext uri="{FF2B5EF4-FFF2-40B4-BE49-F238E27FC236}">
                <a16:creationId xmlns:a16="http://schemas.microsoft.com/office/drawing/2014/main" id="{01C0B017-4702-224E-89E1-BFE3B688CDDB}"/>
              </a:ext>
            </a:extLst>
          </p:cNvPr>
          <p:cNvGraphicFramePr>
            <a:graphicFrameLocks noGrp="1"/>
          </p:cNvGraphicFramePr>
          <p:nvPr>
            <p:extLst>
              <p:ext uri="{D42A27DB-BD31-4B8C-83A1-F6EECF244321}">
                <p14:modId xmlns:p14="http://schemas.microsoft.com/office/powerpoint/2010/main" val="1697547407"/>
              </p:ext>
            </p:extLst>
          </p:nvPr>
        </p:nvGraphicFramePr>
        <p:xfrm>
          <a:off x="6243581" y="1253765"/>
          <a:ext cx="2834640" cy="5925097"/>
        </p:xfrm>
        <a:graphic>
          <a:graphicData uri="http://schemas.openxmlformats.org/drawingml/2006/table">
            <a:tbl>
              <a:tblPr bandRow="1" bandCol="1"/>
              <a:tblGrid>
                <a:gridCol w="2834640">
                  <a:extLst>
                    <a:ext uri="{9D8B030D-6E8A-4147-A177-3AD203B41FA5}">
                      <a16:colId xmlns:a16="http://schemas.microsoft.com/office/drawing/2014/main" val="2370186571"/>
                    </a:ext>
                  </a:extLst>
                </a:gridCol>
              </a:tblGrid>
              <a:tr h="1593303">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Electrification Systems </a:t>
                      </a:r>
                      <a:b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b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 GRID SOLUTIONS</a:t>
                      </a:r>
                      <a:endParaRPr kumimoji="0" lang="en-US" sz="2100" b="1" i="0" u="none" strike="noStrike" kern="1200" cap="none" spc="50" normalizeH="0" baseline="0" noProof="0" dirty="0">
                        <a:ln>
                          <a:noFill/>
                        </a:ln>
                        <a:solidFill>
                          <a:srgbClr val="212121"/>
                        </a:solidFill>
                        <a:effectLst/>
                        <a:uLnTx/>
                        <a:uFillTx/>
                        <a:latin typeface="Sons Condensed Extrabold" panose="02060906060206060203" pitchFamily="18" charset="0"/>
                        <a:ea typeface="Inter" panose="02000503000000020004" pitchFamily="2" charset="0"/>
                        <a:cs typeface="+mn-cs"/>
                      </a:endParaRPr>
                    </a:p>
                    <a:p>
                      <a:pPr marL="0" marR="0" lvl="0" indent="0" algn="l"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GE </a:t>
                      </a:r>
                      <a:r>
                        <a:rPr kumimoji="0" lang="en-US" sz="900" b="0" i="0" u="none" strike="noStrike" kern="1200" cap="none" spc="0" normalizeH="0" baseline="0" noProof="0" dirty="0" err="1">
                          <a:ln>
                            <a:noFill/>
                          </a:ln>
                          <a:solidFill>
                            <a:srgbClr val="212121"/>
                          </a:solidFill>
                          <a:effectLst/>
                          <a:uLnTx/>
                          <a:uFillTx/>
                          <a:latin typeface="Inter" panose="02000503000000020004" pitchFamily="2" charset="0"/>
                          <a:ea typeface="Inter" panose="02000503000000020004" pitchFamily="2" charset="0"/>
                          <a:cs typeface="+mn-cs"/>
                        </a:rPr>
                        <a:t>Vernova’s</a:t>
                      </a:r>
                      <a:r>
                        <a:rPr kumimoji="0" lang="en-US" sz="900" b="0"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 </a:t>
                      </a:r>
                      <a:r>
                        <a:rPr kumimoji="0" lang="en-US" sz="900" b="1"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Grid Solutions </a:t>
                      </a:r>
                      <a:r>
                        <a:rPr kumimoji="0" lang="en-US" sz="900" b="0"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business</a:t>
                      </a:r>
                      <a:r>
                        <a:rPr kumimoji="0" lang="en-US" sz="900" b="1"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 </a:t>
                      </a:r>
                      <a:r>
                        <a:rPr kumimoji="0" lang="en-US" sz="900" b="0" i="0" u="none" strike="noStrike" kern="1200" cap="none" spc="0" normalizeH="0" baseline="0" noProof="0" dirty="0">
                          <a:ln>
                            <a:noFill/>
                          </a:ln>
                          <a:solidFill>
                            <a:srgbClr val="212121"/>
                          </a:solidFill>
                          <a:effectLst/>
                          <a:uLnTx/>
                          <a:uFillTx/>
                          <a:latin typeface="Inter" panose="02000503000000020004" pitchFamily="2" charset="0"/>
                          <a:ea typeface="Inter" panose="02000503000000020004" pitchFamily="2" charset="0"/>
                          <a:cs typeface="+mn-cs"/>
                        </a:rPr>
                        <a:t>electrifies the world with advanced grid technologies and systems, enabling power transmission and distribution across the power grid, and supporting a decarbonized and secured energy transition.</a:t>
                      </a:r>
                    </a:p>
                  </a:txBody>
                  <a:tcPr marT="91440" marB="9144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7144992"/>
                  </a:ext>
                </a:extLst>
              </a:tr>
              <a:tr h="1593303">
                <a:tc>
                  <a:txBody>
                    <a:bodyPr/>
                    <a:lstStyle>
                      <a:lvl1pPr marL="0" algn="l" defTabSz="914400" rtl="0" eaLnBrk="1" latinLnBrk="0" hangingPunct="1">
                        <a:defRPr sz="1800" kern="1200">
                          <a:solidFill>
                            <a:schemeClr val="tx1"/>
                          </a:solidFill>
                          <a:latin typeface="Inter"/>
                        </a:defRPr>
                      </a:lvl1pPr>
                      <a:lvl2pPr marL="457200" algn="l" defTabSz="914400" rtl="0" eaLnBrk="1" latinLnBrk="0" hangingPunct="1">
                        <a:defRPr sz="1800" kern="1200">
                          <a:solidFill>
                            <a:schemeClr val="tx1"/>
                          </a:solidFill>
                          <a:latin typeface="Inter"/>
                        </a:defRPr>
                      </a:lvl2pPr>
                      <a:lvl3pPr marL="914400" algn="l" defTabSz="914400" rtl="0" eaLnBrk="1" latinLnBrk="0" hangingPunct="1">
                        <a:defRPr sz="1800" kern="1200">
                          <a:solidFill>
                            <a:schemeClr val="tx1"/>
                          </a:solidFill>
                          <a:latin typeface="Inter"/>
                        </a:defRPr>
                      </a:lvl3pPr>
                      <a:lvl4pPr marL="1371600" algn="l" defTabSz="914400" rtl="0" eaLnBrk="1" latinLnBrk="0" hangingPunct="1">
                        <a:defRPr sz="1800" kern="1200">
                          <a:solidFill>
                            <a:schemeClr val="tx1"/>
                          </a:solidFill>
                          <a:latin typeface="Inter"/>
                        </a:defRPr>
                      </a:lvl4pPr>
                      <a:lvl5pPr marL="1828800" algn="l" defTabSz="914400" rtl="0" eaLnBrk="1" latinLnBrk="0" hangingPunct="1">
                        <a:defRPr sz="1800" kern="1200">
                          <a:solidFill>
                            <a:schemeClr val="tx1"/>
                          </a:solidFill>
                          <a:latin typeface="Inter"/>
                        </a:defRPr>
                      </a:lvl5pPr>
                      <a:lvl6pPr marL="2286000" algn="l" defTabSz="914400" rtl="0" eaLnBrk="1" latinLnBrk="0" hangingPunct="1">
                        <a:defRPr sz="1800" kern="1200">
                          <a:solidFill>
                            <a:schemeClr val="tx1"/>
                          </a:solidFill>
                          <a:latin typeface="Inter"/>
                        </a:defRPr>
                      </a:lvl6pPr>
                      <a:lvl7pPr marL="2743200" algn="l" defTabSz="914400" rtl="0" eaLnBrk="1" latinLnBrk="0" hangingPunct="1">
                        <a:defRPr sz="1800" kern="1200">
                          <a:solidFill>
                            <a:schemeClr val="tx1"/>
                          </a:solidFill>
                          <a:latin typeface="Inter"/>
                        </a:defRPr>
                      </a:lvl7pPr>
                      <a:lvl8pPr marL="3200400" algn="l" defTabSz="914400" rtl="0" eaLnBrk="1" latinLnBrk="0" hangingPunct="1">
                        <a:defRPr sz="1800" kern="1200">
                          <a:solidFill>
                            <a:schemeClr val="tx1"/>
                          </a:solidFill>
                          <a:latin typeface="Inter"/>
                        </a:defRPr>
                      </a:lvl8pPr>
                      <a:lvl9pPr marL="3657600" algn="l" defTabSz="914400" rtl="0" eaLnBrk="1" latinLnBrk="0" hangingPunct="1">
                        <a:defRPr sz="1800" kern="1200">
                          <a:solidFill>
                            <a:schemeClr val="tx1"/>
                          </a:solidFill>
                          <a:latin typeface="Inter"/>
                        </a:defRPr>
                      </a:lvl9pPr>
                    </a:lstStyle>
                    <a:p>
                      <a:pPr marL="0" indent="0" algn="l" defTabSz="914400" rtl="0" eaLnBrk="1" latinLnBrk="0" hangingPunct="1">
                        <a:lnSpc>
                          <a:spcPts val="2200"/>
                        </a:lnSpc>
                        <a:spcBef>
                          <a:spcPts val="200"/>
                        </a:spcBef>
                        <a:spcAft>
                          <a:spcPts val="0"/>
                        </a:spcAft>
                        <a:buFont typeface="Arial" panose="020B0604020202020204" pitchFamily="34" charset="0"/>
                        <a:buNone/>
                      </a:pP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Electrification Systems </a:t>
                      </a:r>
                      <a:b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br>
                      <a:r>
                        <a:rPr lang="en-US" sz="2100" b="1" kern="1200" cap="all" spc="50" baseline="0" dirty="0">
                          <a:solidFill>
                            <a:schemeClr val="tx1"/>
                          </a:solidFill>
                          <a:latin typeface="Sons Condensed Extrabold" panose="02060906060206060203" pitchFamily="18" charset="0"/>
                          <a:ea typeface="Inter" panose="02000503000000020004" pitchFamily="2" charset="0"/>
                          <a:cs typeface="+mn-cs"/>
                        </a:rPr>
                        <a:t>- </a:t>
                      </a:r>
                      <a:r>
                        <a:rPr lang="en-US" sz="2100" b="1" kern="1200" cap="all" spc="50" baseline="0">
                          <a:solidFill>
                            <a:schemeClr val="tx1"/>
                          </a:solidFill>
                          <a:latin typeface="Sons Condensed Extrabold" panose="02060906060206060203" pitchFamily="18" charset="0"/>
                          <a:ea typeface="Inter" panose="02000503000000020004" pitchFamily="2" charset="0"/>
                          <a:cs typeface="+mn-cs"/>
                        </a:rPr>
                        <a:t>POWER CONVERSION &amp; STORAGE</a:t>
                      </a:r>
                      <a:endParaRPr lang="en-US" sz="2100" b="1" kern="1200" cap="all" spc="50" baseline="0" dirty="0">
                        <a:solidFill>
                          <a:schemeClr val="tx1"/>
                        </a:solidFill>
                        <a:latin typeface="Sons Condensed Extrabold" panose="02060906060206060203" pitchFamily="18" charset="0"/>
                        <a:ea typeface="Inter" panose="02000503000000020004" pitchFamily="2" charset="0"/>
                        <a:cs typeface="+mn-cs"/>
                      </a:endParaRPr>
                    </a:p>
                    <a:p>
                      <a:pPr marL="0" marR="0" lvl="0" indent="0" algn="l"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r>
                        <a:rPr lang="en-GB" sz="900" b="1" kern="1200" dirty="0">
                          <a:solidFill>
                            <a:schemeClr val="tx2"/>
                          </a:solidFill>
                          <a:effectLst/>
                          <a:latin typeface="Inter"/>
                          <a:ea typeface="+mn-ea"/>
                          <a:cs typeface="+mn-cs"/>
                        </a:rPr>
                        <a:t>GE Vernova’s Power Conversion &amp; Storage business</a:t>
                      </a:r>
                      <a:r>
                        <a:rPr lang="en-GB" sz="900" kern="1200" dirty="0">
                          <a:solidFill>
                            <a:schemeClr val="tx2"/>
                          </a:solidFill>
                          <a:effectLst/>
                          <a:latin typeface="Inter"/>
                          <a:ea typeface="+mn-ea"/>
                          <a:cs typeface="+mn-cs"/>
                        </a:rPr>
                        <a:t> combines advanced energy conversion and storage systems to meet the electrification needs of utilities and industries. With a focus on power stability, energy storage and industrial electrification solutions, Power Conversion &amp; Storage empowers customers by addressing their most complex electrification challenges and accelerating their transition to a sustainable, decarbonized future.</a:t>
                      </a:r>
                      <a:endParaRPr lang="en-US" sz="900" kern="1200" dirty="0">
                        <a:solidFill>
                          <a:schemeClr val="tx2"/>
                        </a:solidFill>
                        <a:effectLst/>
                        <a:latin typeface="Inter"/>
                        <a:ea typeface="+mn-ea"/>
                        <a:cs typeface="+mn-cs"/>
                      </a:endParaRPr>
                    </a:p>
                    <a:p>
                      <a:pPr marL="0" indent="0">
                        <a:lnSpc>
                          <a:spcPct val="100000"/>
                        </a:lnSpc>
                        <a:spcBef>
                          <a:spcPts val="200"/>
                        </a:spcBef>
                        <a:spcAft>
                          <a:spcPts val="0"/>
                        </a:spcAft>
                        <a:buFont typeface="Arial" panose="020B0604020202020204" pitchFamily="34" charset="0"/>
                        <a:buNone/>
                      </a:pPr>
                      <a:endParaRPr kumimoji="0" lang="en-US" sz="90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endParaRPr>
                    </a:p>
                  </a:txBody>
                  <a:tcPr marT="91440" marB="9144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784121"/>
                  </a:ext>
                </a:extLst>
              </a:tr>
              <a:tr h="1751154">
                <a:tc>
                  <a:txBody>
                    <a:bodyPr/>
                    <a:lstStyle/>
                    <a:p>
                      <a:pPr marL="0" indent="0">
                        <a:lnSpc>
                          <a:spcPct val="100000"/>
                        </a:lnSpc>
                        <a:spcBef>
                          <a:spcPts val="200"/>
                        </a:spcBef>
                        <a:spcAft>
                          <a:spcPts val="0"/>
                        </a:spcAft>
                        <a:buFont typeface="Arial" panose="020B0604020202020204" pitchFamily="34" charset="0"/>
                        <a:buNone/>
                      </a:pPr>
                      <a:endParaRPr kumimoji="0" lang="en-US" sz="900" b="0" i="0" u="none" strike="noStrike" kern="1200" cap="none" spc="0" normalizeH="0" baseline="0" dirty="0">
                        <a:ln>
                          <a:noFill/>
                        </a:ln>
                        <a:solidFill>
                          <a:srgbClr val="212121"/>
                        </a:solidFill>
                        <a:effectLst/>
                        <a:uLnTx/>
                        <a:uFillTx/>
                        <a:latin typeface="Inter" panose="02000503000000020004" pitchFamily="2" charset="0"/>
                        <a:ea typeface="Inter" panose="02000503000000020004" pitchFamily="2" charset="0"/>
                        <a:cs typeface="+mn-cs"/>
                      </a:endParaRPr>
                    </a:p>
                  </a:txBody>
                  <a:tcPr marT="91440" marB="9144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20773"/>
                  </a:ext>
                </a:extLst>
              </a:tr>
            </a:tbl>
          </a:graphicData>
        </a:graphic>
      </p:graphicFrame>
    </p:spTree>
    <p:extLst>
      <p:ext uri="{BB962C8B-B14F-4D97-AF65-F5344CB8AC3E}">
        <p14:creationId xmlns:p14="http://schemas.microsoft.com/office/powerpoint/2010/main" val="2391897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3B895C-F277-6847-BD5B-3930CA41FCDF}"/>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F5C82B2-3D55-DDF1-6DBE-9F82FF3DF32F}"/>
              </a:ext>
            </a:extLst>
          </p:cNvPr>
          <p:cNvSpPr>
            <a:spLocks noGrp="1"/>
          </p:cNvSpPr>
          <p:nvPr>
            <p:ph type="sldNum" sz="quarter" idx="12"/>
          </p:nvPr>
        </p:nvSpPr>
        <p:spPr/>
        <p:txBody>
          <a:bodyPr/>
          <a:lstStyle/>
          <a:p>
            <a:fld id="{7A7A97EF-C944-4447-B862-B593E9B4A0FF}" type="slidenum">
              <a:rPr lang="en-US" smtClean="0"/>
              <a:pPr/>
              <a:t>5</a:t>
            </a:fld>
            <a:endParaRPr lang="en-US" dirty="0"/>
          </a:p>
        </p:txBody>
      </p:sp>
      <p:sp>
        <p:nvSpPr>
          <p:cNvPr id="16" name="Title 3">
            <a:extLst>
              <a:ext uri="{FF2B5EF4-FFF2-40B4-BE49-F238E27FC236}">
                <a16:creationId xmlns:a16="http://schemas.microsoft.com/office/drawing/2014/main" id="{6342B6BE-C846-D693-F2AA-4243712E9F86}"/>
              </a:ext>
            </a:extLst>
          </p:cNvPr>
          <p:cNvSpPr>
            <a:spLocks noGrp="1"/>
          </p:cNvSpPr>
          <p:nvPr>
            <p:ph type="title"/>
          </p:nvPr>
        </p:nvSpPr>
        <p:spPr>
          <a:xfrm>
            <a:off x="419100" y="419101"/>
            <a:ext cx="9587542" cy="457020"/>
          </a:xfrm>
        </p:spPr>
        <p:txBody>
          <a:bodyPr/>
          <a:lstStyle/>
          <a:p>
            <a:r>
              <a:rPr lang="en-US" dirty="0"/>
              <a:t>GE Vernova Business Press Release Boilerplates</a:t>
            </a:r>
          </a:p>
        </p:txBody>
      </p:sp>
      <p:sp>
        <p:nvSpPr>
          <p:cNvPr id="20" name="Content Placeholder 5">
            <a:extLst>
              <a:ext uri="{FF2B5EF4-FFF2-40B4-BE49-F238E27FC236}">
                <a16:creationId xmlns:a16="http://schemas.microsoft.com/office/drawing/2014/main" id="{023B2A45-999C-25AD-F66A-43107178410F}"/>
              </a:ext>
            </a:extLst>
          </p:cNvPr>
          <p:cNvSpPr>
            <a:spLocks noGrp="1"/>
          </p:cNvSpPr>
          <p:nvPr>
            <p:ph idx="1"/>
          </p:nvPr>
        </p:nvSpPr>
        <p:spPr>
          <a:xfrm>
            <a:off x="429986" y="1419678"/>
            <a:ext cx="11353800" cy="4114800"/>
          </a:xfrm>
        </p:spPr>
        <p:txBody>
          <a:bodyPr/>
          <a:lstStyle/>
          <a:p>
            <a:pPr marL="0" lvl="1" indent="0">
              <a:buNone/>
            </a:pPr>
            <a:r>
              <a:rPr lang="en-US" b="1" dirty="0"/>
              <a:t>About GE Vernova</a:t>
            </a:r>
          </a:p>
          <a:p>
            <a:pPr marL="0" lvl="1" indent="0" algn="just">
              <a:buNone/>
            </a:pPr>
            <a:r>
              <a:rPr lang="en-US" dirty="0">
                <a:ea typeface="Inter" panose="02000503000000020004" pitchFamily="2" charset="0"/>
                <a:cs typeface="Segoe UI" panose="020B0502040204020203" pitchFamily="34" charset="0"/>
              </a:rPr>
              <a:t>GE Vernova Inc. (NYSE: GEV) is a purpose-built global energy company that includes Power, Wind, and Electrification segments and is supported by its accelerator businesses. Building on over 130 years of experience tackling the world’s challenges, GE Vernova is uniquely positioned to help lead the energy transition by continuing to electrify the world while simultaneously working to decarbonize it. GE Vernova helps customers power economies and deliver electricity that is vital to health, safety, security, and improved quality of life. GE Vernova is headquartered in Cambridge, Massachusetts, U.S., with approximately 75,000 employees across approximately 100 countries around the world. Supported by the Company’s purpose, The Energy to Change the World, GE Vernova technology helps deliver a more affordable, reliable, sustainable, and secure energy future. Learn more: </a:t>
            </a:r>
            <a:r>
              <a:rPr lang="en-US" dirty="0">
                <a:ea typeface="Inter" panose="02000503000000020004" pitchFamily="2" charset="0"/>
                <a:cs typeface="Segoe UI" panose="020B0502040204020203" pitchFamily="34" charset="0"/>
                <a:hlinkClick r:id="rId3"/>
              </a:rPr>
              <a:t>GE Vernova </a:t>
            </a:r>
            <a:r>
              <a:rPr lang="en-US" dirty="0">
                <a:ea typeface="Inter" panose="02000503000000020004" pitchFamily="2" charset="0"/>
                <a:cs typeface="Segoe UI" panose="020B0502040204020203" pitchFamily="34" charset="0"/>
              </a:rPr>
              <a:t>and </a:t>
            </a:r>
            <a:r>
              <a:rPr lang="en-US" dirty="0">
                <a:ea typeface="Inter" panose="02000503000000020004" pitchFamily="2" charset="0"/>
                <a:cs typeface="Segoe UI" panose="020B0502040204020203" pitchFamily="34" charset="0"/>
                <a:hlinkClick r:id="rId4"/>
              </a:rPr>
              <a:t>LinkedIn</a:t>
            </a:r>
            <a:r>
              <a:rPr lang="en-US" dirty="0">
                <a:ea typeface="Inter" panose="02000503000000020004" pitchFamily="2" charset="0"/>
                <a:cs typeface="Segoe UI" panose="020B0502040204020203" pitchFamily="34" charset="0"/>
              </a:rPr>
              <a:t>. GE Vernova’s </a:t>
            </a:r>
            <a:r>
              <a:rPr lang="en-US" b="1" dirty="0">
                <a:ea typeface="Inter" panose="02000503000000020004" pitchFamily="2" charset="0"/>
                <a:cs typeface="Segoe UI" panose="020B0502040204020203" pitchFamily="34" charset="0"/>
              </a:rPr>
              <a:t>Hydro Power </a:t>
            </a:r>
            <a:r>
              <a:rPr lang="en-US" dirty="0">
                <a:ea typeface="Inter" panose="02000503000000020004" pitchFamily="2" charset="0"/>
                <a:cs typeface="Segoe UI" panose="020B0502040204020203" pitchFamily="34" charset="0"/>
              </a:rPr>
              <a:t>business produces advanced technologies that harness the power of water to help deliver reliable power to some of the world's largest economies and remote communities.</a:t>
            </a:r>
          </a:p>
          <a:p>
            <a:pPr marL="0" lvl="1" indent="0">
              <a:buNone/>
            </a:pPr>
            <a:endParaRPr lang="en-US" dirty="0">
              <a:ea typeface="Inter" panose="02000503000000020004" pitchFamily="2" charset="0"/>
              <a:cs typeface="Segoe UI" panose="020B0502040204020203" pitchFamily="34" charset="0"/>
            </a:endParaRPr>
          </a:p>
          <a:p>
            <a:pPr marL="0" lvl="1" indent="0" algn="just">
              <a:buNone/>
            </a:pPr>
            <a:endParaRPr lang="en-GB" b="1" dirty="0">
              <a:ea typeface="Inter" panose="02000503000000020004" pitchFamily="2" charset="0"/>
              <a:cs typeface="Segoe UI" panose="020B0502040204020203" pitchFamily="34" charset="0"/>
            </a:endParaRPr>
          </a:p>
        </p:txBody>
      </p:sp>
      <p:sp>
        <p:nvSpPr>
          <p:cNvPr id="3" name="Text Placeholder 4">
            <a:extLst>
              <a:ext uri="{FF2B5EF4-FFF2-40B4-BE49-F238E27FC236}">
                <a16:creationId xmlns:a16="http://schemas.microsoft.com/office/drawing/2014/main" id="{5E4C3600-A482-CE6C-8EC5-D3628C10DBA6}"/>
              </a:ext>
            </a:extLst>
          </p:cNvPr>
          <p:cNvSpPr txBox="1">
            <a:spLocks/>
          </p:cNvSpPr>
          <p:nvPr/>
        </p:nvSpPr>
        <p:spPr>
          <a:xfrm>
            <a:off x="342898" y="889824"/>
            <a:ext cx="11353800" cy="513526"/>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b="1" dirty="0"/>
              <a:t>To be used for business press releases – below is a Hydro Power business example</a:t>
            </a:r>
          </a:p>
        </p:txBody>
      </p:sp>
    </p:spTree>
    <p:extLst>
      <p:ext uri="{BB962C8B-B14F-4D97-AF65-F5344CB8AC3E}">
        <p14:creationId xmlns:p14="http://schemas.microsoft.com/office/powerpoint/2010/main" val="2390821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DC5A1E7-A769-8E4E-9E0F-0524800483EF}"/>
              </a:ext>
            </a:extLst>
          </p:cNvPr>
          <p:cNvSpPr>
            <a:spLocks noGrp="1"/>
          </p:cNvSpPr>
          <p:nvPr>
            <p:ph type="ftr" sz="quarter" idx="11"/>
          </p:nvPr>
        </p:nvSpPr>
        <p:spPr/>
        <p:txBody>
          <a:bodyPr/>
          <a:lstStyle/>
          <a:p>
            <a:r>
              <a:rPr lang="en-US" dirty="0"/>
              <a:t>© 2023 GE Vernova and/or its affiliates. All rights reserved.</a:t>
            </a:r>
          </a:p>
        </p:txBody>
      </p:sp>
      <p:sp>
        <p:nvSpPr>
          <p:cNvPr id="4" name="Title 3">
            <a:extLst>
              <a:ext uri="{FF2B5EF4-FFF2-40B4-BE49-F238E27FC236}">
                <a16:creationId xmlns:a16="http://schemas.microsoft.com/office/drawing/2014/main" id="{E0490E16-E8BC-0543-926F-BB647BDB0755}"/>
              </a:ext>
            </a:extLst>
          </p:cNvPr>
          <p:cNvSpPr>
            <a:spLocks noGrp="1"/>
          </p:cNvSpPr>
          <p:nvPr>
            <p:ph type="title"/>
          </p:nvPr>
        </p:nvSpPr>
        <p:spPr/>
        <p:txBody>
          <a:bodyPr/>
          <a:lstStyle/>
          <a:p>
            <a:r>
              <a:rPr lang="en-US" dirty="0"/>
              <a:t>GE Vernova Reporting Segment Boilerplates </a:t>
            </a:r>
          </a:p>
        </p:txBody>
      </p:sp>
      <p:sp>
        <p:nvSpPr>
          <p:cNvPr id="8" name="Content Placeholder 7">
            <a:extLst>
              <a:ext uri="{FF2B5EF4-FFF2-40B4-BE49-F238E27FC236}">
                <a16:creationId xmlns:a16="http://schemas.microsoft.com/office/drawing/2014/main" id="{65D74FF6-0B4D-1F48-8A34-47E2B79AB666}"/>
              </a:ext>
            </a:extLst>
          </p:cNvPr>
          <p:cNvSpPr>
            <a:spLocks noGrp="1"/>
          </p:cNvSpPr>
          <p:nvPr>
            <p:ph idx="1"/>
          </p:nvPr>
        </p:nvSpPr>
        <p:spPr>
          <a:xfrm>
            <a:off x="418402" y="1315854"/>
            <a:ext cx="3559938" cy="4902701"/>
          </a:xfrm>
          <a:noFill/>
        </p:spPr>
        <p:txBody>
          <a:bodyPr/>
          <a:lstStyle/>
          <a:p>
            <a:r>
              <a:rPr lang="en-US" sz="3600" dirty="0">
                <a:solidFill>
                  <a:schemeClr val="tx1"/>
                </a:solidFill>
              </a:rPr>
              <a:t>ELECTRIFICATION</a:t>
            </a:r>
            <a:br>
              <a:rPr lang="en-US" sz="3600" dirty="0">
                <a:solidFill>
                  <a:schemeClr val="tx1"/>
                </a:solidFill>
              </a:rPr>
            </a:br>
            <a:r>
              <a:rPr lang="en-US" sz="3600" dirty="0">
                <a:solidFill>
                  <a:schemeClr val="tx1"/>
                </a:solidFill>
              </a:rPr>
              <a:t>SEGMENT</a:t>
            </a:r>
          </a:p>
          <a:p>
            <a:pPr>
              <a:lnSpc>
                <a:spcPct val="100000"/>
              </a:lnSpc>
              <a:spcAft>
                <a:spcPts val="600"/>
              </a:spcAft>
            </a:pPr>
            <a:r>
              <a:rPr lang="en-US" sz="1400" dirty="0">
                <a:solidFill>
                  <a:srgbClr val="212121"/>
                </a:solidFill>
                <a:latin typeface="+mn-lt"/>
              </a:rPr>
              <a:t>GE Vernova’s </a:t>
            </a:r>
            <a:r>
              <a:rPr lang="en-US" sz="1400" b="1" dirty="0">
                <a:solidFill>
                  <a:srgbClr val="212121"/>
                </a:solidFill>
                <a:latin typeface="+mn-lt"/>
              </a:rPr>
              <a:t>Electrification</a:t>
            </a:r>
            <a:r>
              <a:rPr lang="en-US" sz="1400" dirty="0">
                <a:solidFill>
                  <a:srgbClr val="212121"/>
                </a:solidFill>
                <a:latin typeface="+mn-lt"/>
              </a:rPr>
              <a:t> segment includes Grid Solutions, Power Conversion, Solar and Storage Solutions, —collectively referred to as Electrification Systems</a:t>
            </a:r>
            <a:r>
              <a:rPr lang="en-US" sz="1800" dirty="0">
                <a:effectLst/>
                <a:latin typeface="Calibri" panose="020F0502020204030204" pitchFamily="34" charset="0"/>
                <a:ea typeface="Calibri" panose="020F0502020204030204" pitchFamily="34" charset="0"/>
              </a:rPr>
              <a:t> —</a:t>
            </a:r>
            <a:r>
              <a:rPr lang="en-US" sz="1400" dirty="0">
                <a:solidFill>
                  <a:srgbClr val="212121"/>
                </a:solidFill>
                <a:latin typeface="+mn-lt"/>
              </a:rPr>
              <a:t>and digital technologies, referred to as Electrification Software. The solutions offered by this segment are essential for the transmission, distribution, conversion, storage, and orchestration of electricity from point of generation to point of consumption.</a:t>
            </a:r>
          </a:p>
        </p:txBody>
      </p:sp>
      <p:sp>
        <p:nvSpPr>
          <p:cNvPr id="9" name="Content Placeholder 8">
            <a:extLst>
              <a:ext uri="{FF2B5EF4-FFF2-40B4-BE49-F238E27FC236}">
                <a16:creationId xmlns:a16="http://schemas.microsoft.com/office/drawing/2014/main" id="{4163BD13-E42D-A54A-B2EB-DAFD5ACFFB0B}"/>
              </a:ext>
            </a:extLst>
          </p:cNvPr>
          <p:cNvSpPr>
            <a:spLocks noGrp="1"/>
          </p:cNvSpPr>
          <p:nvPr>
            <p:ph idx="18"/>
          </p:nvPr>
        </p:nvSpPr>
        <p:spPr>
          <a:xfrm>
            <a:off x="4231577" y="1313448"/>
            <a:ext cx="3502152" cy="4612507"/>
          </a:xfrm>
          <a:noFill/>
        </p:spPr>
        <p:txBody>
          <a:bodyPr/>
          <a:lstStyle/>
          <a:p>
            <a:r>
              <a:rPr lang="en-US" sz="3600" dirty="0">
                <a:solidFill>
                  <a:schemeClr val="tx1"/>
                </a:solidFill>
              </a:rPr>
              <a:t>WIND SEGMENT</a:t>
            </a:r>
          </a:p>
          <a:p>
            <a:pPr lvl="1"/>
            <a:r>
              <a:rPr lang="en-US" sz="1400" dirty="0">
                <a:latin typeface="+mn-lt"/>
              </a:rPr>
              <a:t>GE Vernova’s </a:t>
            </a:r>
            <a:r>
              <a:rPr lang="en-US" sz="1400" b="1" dirty="0">
                <a:latin typeface="+mn-lt"/>
              </a:rPr>
              <a:t>Wind</a:t>
            </a:r>
            <a:r>
              <a:rPr lang="en-US" sz="1400" dirty="0">
                <a:latin typeface="+mn-lt"/>
              </a:rPr>
              <a:t> segment is focused on delivering a suite of wind products and services to help accelerate a new era of energy by harnessing the power of wind. The business comprises the Offshore Wind, Onshore Wind, and LM Wind Power businesses. Technologies provided to customers include the Haliade-X platform, our offshore wind turbine, and the next generation high efficiency 3-megawatt onshore wind turbine, as well as maintenance solutions and life extension optionality.</a:t>
            </a:r>
          </a:p>
        </p:txBody>
      </p:sp>
      <p:sp>
        <p:nvSpPr>
          <p:cNvPr id="10" name="Content Placeholder 9">
            <a:extLst>
              <a:ext uri="{FF2B5EF4-FFF2-40B4-BE49-F238E27FC236}">
                <a16:creationId xmlns:a16="http://schemas.microsoft.com/office/drawing/2014/main" id="{873C85A9-30FF-0749-A50B-AA99E41CA23B}"/>
              </a:ext>
            </a:extLst>
          </p:cNvPr>
          <p:cNvSpPr>
            <a:spLocks noGrp="1"/>
          </p:cNvSpPr>
          <p:nvPr>
            <p:ph idx="19"/>
          </p:nvPr>
        </p:nvSpPr>
        <p:spPr>
          <a:xfrm>
            <a:off x="7997126" y="1323608"/>
            <a:ext cx="3502152" cy="4612507"/>
          </a:xfrm>
          <a:noFill/>
        </p:spPr>
        <p:txBody>
          <a:bodyPr/>
          <a:lstStyle/>
          <a:p>
            <a:r>
              <a:rPr lang="en-US" sz="3600" dirty="0">
                <a:solidFill>
                  <a:schemeClr val="tx1"/>
                </a:solidFill>
              </a:rPr>
              <a:t>POWER SEGMENT</a:t>
            </a:r>
          </a:p>
          <a:p>
            <a:pPr lvl="1"/>
            <a:r>
              <a:rPr lang="en-US" sz="1400" dirty="0">
                <a:latin typeface="+mn-lt"/>
              </a:rPr>
              <a:t>GE Vernova’s </a:t>
            </a:r>
            <a:r>
              <a:rPr lang="en-US" sz="1400" b="1" dirty="0">
                <a:latin typeface="+mn-lt"/>
              </a:rPr>
              <a:t>Power</a:t>
            </a:r>
            <a:r>
              <a:rPr lang="en-US" sz="1400" dirty="0">
                <a:latin typeface="+mn-lt"/>
              </a:rPr>
              <a:t> segment is focused on electrifying the world to accelerate a path to more reliable, affordable, and sustainable energy, while developing decarbonization solutions for a lower carbon future. The segment comprises the Gas Power, Nuclear Power, Hydro Power, and Steam Power businesses. Collectively, the businesses provide customers with efficient natural gas, small modular reactor &amp; nuclear power, hydro power, and steam technology, services, and solutions. </a:t>
            </a:r>
          </a:p>
        </p:txBody>
      </p:sp>
      <p:sp>
        <p:nvSpPr>
          <p:cNvPr id="11" name="Slide Number Placeholder 10">
            <a:extLst>
              <a:ext uri="{FF2B5EF4-FFF2-40B4-BE49-F238E27FC236}">
                <a16:creationId xmlns:a16="http://schemas.microsoft.com/office/drawing/2014/main" id="{23A5658F-37A5-AFBD-434D-2AA0473428DF}"/>
              </a:ext>
            </a:extLst>
          </p:cNvPr>
          <p:cNvSpPr>
            <a:spLocks noGrp="1"/>
          </p:cNvSpPr>
          <p:nvPr>
            <p:ph type="sldNum" sz="quarter" idx="12"/>
          </p:nvPr>
        </p:nvSpPr>
        <p:spPr/>
        <p:txBody>
          <a:bodyPr/>
          <a:lstStyle/>
          <a:p>
            <a:fld id="{7A7A97EF-C944-4447-B862-B593E9B4A0FF}" type="slidenum">
              <a:rPr lang="en-US" smtClean="0"/>
              <a:t>6</a:t>
            </a:fld>
            <a:endParaRPr lang="en-US" dirty="0"/>
          </a:p>
        </p:txBody>
      </p:sp>
      <p:sp>
        <p:nvSpPr>
          <p:cNvPr id="3" name="Text Placeholder 4">
            <a:extLst>
              <a:ext uri="{FF2B5EF4-FFF2-40B4-BE49-F238E27FC236}">
                <a16:creationId xmlns:a16="http://schemas.microsoft.com/office/drawing/2014/main" id="{10878E63-6824-9832-64B6-EE8CA384711F}"/>
              </a:ext>
            </a:extLst>
          </p:cNvPr>
          <p:cNvSpPr txBox="1">
            <a:spLocks/>
          </p:cNvSpPr>
          <p:nvPr/>
        </p:nvSpPr>
        <p:spPr>
          <a:xfrm>
            <a:off x="342099" y="889824"/>
            <a:ext cx="11353800" cy="513526"/>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b="1" dirty="0"/>
              <a:t>Intended for financial and investor press releases, reports, and supporting material</a:t>
            </a:r>
          </a:p>
        </p:txBody>
      </p:sp>
    </p:spTree>
    <p:extLst>
      <p:ext uri="{BB962C8B-B14F-4D97-AF65-F5344CB8AC3E}">
        <p14:creationId xmlns:p14="http://schemas.microsoft.com/office/powerpoint/2010/main" val="28485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DC5A1E7-A769-8E4E-9E0F-0524800483EF}"/>
              </a:ext>
            </a:extLst>
          </p:cNvPr>
          <p:cNvSpPr>
            <a:spLocks noGrp="1"/>
          </p:cNvSpPr>
          <p:nvPr>
            <p:ph type="ftr" sz="quarter" idx="11"/>
          </p:nvPr>
        </p:nvSpPr>
        <p:spPr/>
        <p:txBody>
          <a:bodyPr/>
          <a:lstStyle/>
          <a:p>
            <a:r>
              <a:rPr lang="en-US" dirty="0"/>
              <a:t>© 2023 GE Vernova and/or its affiliates. All rights reserved.</a:t>
            </a:r>
          </a:p>
        </p:txBody>
      </p:sp>
      <p:sp>
        <p:nvSpPr>
          <p:cNvPr id="4" name="Title 3">
            <a:extLst>
              <a:ext uri="{FF2B5EF4-FFF2-40B4-BE49-F238E27FC236}">
                <a16:creationId xmlns:a16="http://schemas.microsoft.com/office/drawing/2014/main" id="{E0490E16-E8BC-0543-926F-BB647BDB0755}"/>
              </a:ext>
            </a:extLst>
          </p:cNvPr>
          <p:cNvSpPr>
            <a:spLocks noGrp="1"/>
          </p:cNvSpPr>
          <p:nvPr>
            <p:ph type="title"/>
          </p:nvPr>
        </p:nvSpPr>
        <p:spPr/>
        <p:txBody>
          <a:bodyPr/>
          <a:lstStyle/>
          <a:p>
            <a:r>
              <a:rPr lang="en-US" dirty="0"/>
              <a:t>GE Vernova Accelerator Boilerplates</a:t>
            </a:r>
          </a:p>
        </p:txBody>
      </p:sp>
      <p:sp>
        <p:nvSpPr>
          <p:cNvPr id="8" name="Content Placeholder 7">
            <a:extLst>
              <a:ext uri="{FF2B5EF4-FFF2-40B4-BE49-F238E27FC236}">
                <a16:creationId xmlns:a16="http://schemas.microsoft.com/office/drawing/2014/main" id="{65D74FF6-0B4D-1F48-8A34-47E2B79AB666}"/>
              </a:ext>
            </a:extLst>
          </p:cNvPr>
          <p:cNvSpPr>
            <a:spLocks noGrp="1"/>
          </p:cNvSpPr>
          <p:nvPr>
            <p:ph idx="1"/>
          </p:nvPr>
        </p:nvSpPr>
        <p:spPr>
          <a:xfrm>
            <a:off x="419100" y="1597794"/>
            <a:ext cx="3502152" cy="4612507"/>
          </a:xfrm>
        </p:spPr>
        <p:txBody>
          <a:bodyPr/>
          <a:lstStyle/>
          <a:p>
            <a:r>
              <a:rPr lang="en-US" sz="4500" dirty="0"/>
              <a:t>FINANCIAL </a:t>
            </a:r>
            <a:br>
              <a:rPr lang="en-US" sz="4500" dirty="0"/>
            </a:br>
            <a:r>
              <a:rPr lang="en-US" sz="4500" dirty="0"/>
              <a:t>SERVICES</a:t>
            </a:r>
          </a:p>
          <a:p>
            <a:pPr>
              <a:lnSpc>
                <a:spcPct val="100000"/>
              </a:lnSpc>
              <a:spcAft>
                <a:spcPts val="600"/>
              </a:spcAft>
            </a:pPr>
            <a:r>
              <a:rPr lang="en-US" sz="1400" dirty="0">
                <a:solidFill>
                  <a:srgbClr val="212121"/>
                </a:solidFill>
                <a:latin typeface="+mn-lt"/>
              </a:rPr>
              <a:t>GE Vernova’s </a:t>
            </a:r>
            <a:r>
              <a:rPr lang="en-US" sz="1400" b="1" dirty="0">
                <a:solidFill>
                  <a:srgbClr val="212121"/>
                </a:solidFill>
                <a:latin typeface="+mn-lt"/>
              </a:rPr>
              <a:t>Financial Services </a:t>
            </a:r>
            <a:r>
              <a:rPr lang="en-US" sz="1400" dirty="0">
                <a:solidFill>
                  <a:srgbClr val="212121"/>
                </a:solidFill>
                <a:latin typeface="+mn-lt"/>
              </a:rPr>
              <a:t>business provides customers with a suite of financing solutions for projects that aim to accelerate a new era of energy. It has deployed sizeable capital into energy projects globally through development financing, direct equity investments, and capital raising from private and public financial institutions.</a:t>
            </a:r>
          </a:p>
          <a:p>
            <a:endParaRPr lang="en-US" sz="1400" dirty="0">
              <a:solidFill>
                <a:srgbClr val="212121"/>
              </a:solidFill>
              <a:latin typeface="+mn-lt"/>
            </a:endParaRPr>
          </a:p>
        </p:txBody>
      </p:sp>
      <p:sp>
        <p:nvSpPr>
          <p:cNvPr id="9" name="Content Placeholder 8">
            <a:extLst>
              <a:ext uri="{FF2B5EF4-FFF2-40B4-BE49-F238E27FC236}">
                <a16:creationId xmlns:a16="http://schemas.microsoft.com/office/drawing/2014/main" id="{4163BD13-E42D-A54A-B2EB-DAFD5ACFFB0B}"/>
              </a:ext>
            </a:extLst>
          </p:cNvPr>
          <p:cNvSpPr>
            <a:spLocks noGrp="1"/>
          </p:cNvSpPr>
          <p:nvPr>
            <p:ph idx="18"/>
          </p:nvPr>
        </p:nvSpPr>
        <p:spPr>
          <a:xfrm>
            <a:off x="4227195" y="1597794"/>
            <a:ext cx="3502152" cy="4612507"/>
          </a:xfrm>
        </p:spPr>
        <p:txBody>
          <a:bodyPr/>
          <a:lstStyle/>
          <a:p>
            <a:r>
              <a:rPr lang="en-US" sz="4500" dirty="0"/>
              <a:t>CONSULTING SERVICES</a:t>
            </a:r>
          </a:p>
          <a:p>
            <a:pPr lvl="1"/>
            <a:r>
              <a:rPr lang="en-US" sz="1400" dirty="0">
                <a:latin typeface="+mn-lt"/>
              </a:rPr>
              <a:t>GE Vernova’s </a:t>
            </a:r>
            <a:r>
              <a:rPr lang="en-US" sz="1400" b="1" dirty="0">
                <a:latin typeface="+mn-lt"/>
              </a:rPr>
              <a:t>Consulting Services </a:t>
            </a:r>
            <a:r>
              <a:rPr lang="en-US" sz="1400" dirty="0">
                <a:latin typeface="+mn-lt"/>
              </a:rPr>
              <a:t>business provides customers with a suite of energy consulting expertise focused on solving the world’s toughest technical and economic power system problems, enabling technology integration, and shaping the energy transition to help accelerate a new era of energy. With its cross-business resources, it can deliver power systems analysis, studies, and decarbonization pathways to serve a diverse global client base with a strong local presence. </a:t>
            </a:r>
          </a:p>
          <a:p>
            <a:pPr lvl="1"/>
            <a:endParaRPr lang="en-US" sz="1400" dirty="0">
              <a:latin typeface="+mn-lt"/>
            </a:endParaRPr>
          </a:p>
        </p:txBody>
      </p:sp>
      <p:sp>
        <p:nvSpPr>
          <p:cNvPr id="10" name="Content Placeholder 9">
            <a:extLst>
              <a:ext uri="{FF2B5EF4-FFF2-40B4-BE49-F238E27FC236}">
                <a16:creationId xmlns:a16="http://schemas.microsoft.com/office/drawing/2014/main" id="{873C85A9-30FF-0749-A50B-AA99E41CA23B}"/>
              </a:ext>
            </a:extLst>
          </p:cNvPr>
          <p:cNvSpPr>
            <a:spLocks noGrp="1"/>
          </p:cNvSpPr>
          <p:nvPr>
            <p:ph idx="19"/>
          </p:nvPr>
        </p:nvSpPr>
        <p:spPr>
          <a:xfrm>
            <a:off x="7995285" y="1597794"/>
            <a:ext cx="3502152" cy="4612507"/>
          </a:xfrm>
        </p:spPr>
        <p:txBody>
          <a:bodyPr/>
          <a:lstStyle/>
          <a:p>
            <a:r>
              <a:rPr lang="en-US" sz="4500" dirty="0"/>
              <a:t>ADVANCED RESEARCH</a:t>
            </a:r>
          </a:p>
          <a:p>
            <a:pPr lvl="1"/>
            <a:r>
              <a:rPr lang="en-US" sz="1400" dirty="0">
                <a:latin typeface="+mn-lt"/>
              </a:rPr>
              <a:t>GE Vernova’s </a:t>
            </a:r>
            <a:r>
              <a:rPr lang="en-US" sz="1400" b="1" dirty="0">
                <a:latin typeface="+mn-lt"/>
              </a:rPr>
              <a:t>Advanced Research </a:t>
            </a:r>
            <a:r>
              <a:rPr lang="en-US" sz="1400" dirty="0">
                <a:latin typeface="+mn-lt"/>
              </a:rPr>
              <a:t>business is an innovation powerhouse, operating at the intersection of science and creativity to turn cutting edge research into impactful realities. Advanced Research collaborates with GE Vernova’s businesses across a broad range of technical disciplines to accelerate the energy transition.</a:t>
            </a:r>
          </a:p>
          <a:p>
            <a:pPr lvl="1"/>
            <a:endParaRPr lang="en-US" sz="1400" dirty="0">
              <a:latin typeface="+mn-lt"/>
            </a:endParaRPr>
          </a:p>
        </p:txBody>
      </p:sp>
      <p:sp>
        <p:nvSpPr>
          <p:cNvPr id="11" name="Slide Number Placeholder 10">
            <a:extLst>
              <a:ext uri="{FF2B5EF4-FFF2-40B4-BE49-F238E27FC236}">
                <a16:creationId xmlns:a16="http://schemas.microsoft.com/office/drawing/2014/main" id="{23A5658F-37A5-AFBD-434D-2AA0473428DF}"/>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3" name="Text Placeholder 4">
            <a:extLst>
              <a:ext uri="{FF2B5EF4-FFF2-40B4-BE49-F238E27FC236}">
                <a16:creationId xmlns:a16="http://schemas.microsoft.com/office/drawing/2014/main" id="{28465B1D-761F-699D-D3DE-0FA546A29603}"/>
              </a:ext>
            </a:extLst>
          </p:cNvPr>
          <p:cNvSpPr txBox="1">
            <a:spLocks/>
          </p:cNvSpPr>
          <p:nvPr/>
        </p:nvSpPr>
        <p:spPr>
          <a:xfrm>
            <a:off x="342898" y="910268"/>
            <a:ext cx="11353800" cy="513526"/>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b="1" dirty="0"/>
              <a:t>For accelerator press releases please attach to the corporate boilerplate accordingly – either after or before the business add-on paragraph </a:t>
            </a:r>
          </a:p>
        </p:txBody>
      </p:sp>
    </p:spTree>
    <p:extLst>
      <p:ext uri="{BB962C8B-B14F-4D97-AF65-F5344CB8AC3E}">
        <p14:creationId xmlns:p14="http://schemas.microsoft.com/office/powerpoint/2010/main" val="217532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9DDFD0-D71A-344F-AA89-0486A8F58EAE}"/>
              </a:ext>
            </a:extLst>
          </p:cNvPr>
          <p:cNvSpPr>
            <a:spLocks noGrp="1"/>
          </p:cNvSpPr>
          <p:nvPr>
            <p:ph type="ftr" sz="quarter" idx="11"/>
          </p:nvPr>
        </p:nvSpPr>
        <p:spPr/>
        <p:txBody>
          <a:bodyPr/>
          <a:lstStyle/>
          <a:p>
            <a:r>
              <a:rPr lang="en-US" dirty="0"/>
              <a:t>© 2023 GE Vernova and/or its affiliates. All rights reserved.</a:t>
            </a:r>
          </a:p>
        </p:txBody>
      </p:sp>
      <p:sp>
        <p:nvSpPr>
          <p:cNvPr id="5" name="Content Placeholder 4">
            <a:extLst>
              <a:ext uri="{FF2B5EF4-FFF2-40B4-BE49-F238E27FC236}">
                <a16:creationId xmlns:a16="http://schemas.microsoft.com/office/drawing/2014/main" id="{D04C6507-7FCC-BF47-B082-A1C3E409E0AF}"/>
              </a:ext>
            </a:extLst>
          </p:cNvPr>
          <p:cNvSpPr>
            <a:spLocks noGrp="1"/>
          </p:cNvSpPr>
          <p:nvPr>
            <p:ph idx="1"/>
          </p:nvPr>
        </p:nvSpPr>
        <p:spPr>
          <a:xfrm>
            <a:off x="419100" y="2162175"/>
            <a:ext cx="11353800" cy="4048125"/>
          </a:xfrm>
        </p:spPr>
        <p:txBody>
          <a:bodyPr/>
          <a:lstStyle/>
          <a:p>
            <a:pPr algn="just"/>
            <a:r>
              <a:rPr lang="en-US" sz="1800" dirty="0">
                <a:effectLst/>
                <a:latin typeface="Inter" panose="02000503000000020004" pitchFamily="2" charset="0"/>
                <a:ea typeface="Calibri" panose="020F0502020204030204" pitchFamily="34" charset="0"/>
                <a:cs typeface="Arial" panose="020B0604020202020204" pitchFamily="34" charset="0"/>
              </a:rPr>
              <a:t>This document contains forward-looking statements – that is, statements related to future events that by their nature address matters that are, to different degrees, uncertain. These forward-looking statements often address GE Vernova’s expected future business and financial performance and financial condition, and the expected performance of its products, the impact of its services and the results they may generate or produce, and often contain words such as “expect,” “anticipate,” “intend,” “plan,” “believe,” “seek,” “see,” “will,” “would,” “estimate,” “forecast,” “target,” “preliminary,” or “range.” Forward-looking statements by their nature address matters that are, to different degrees, uncertain, such as statements about planned and potential transactions, investments or projects and their expected results and the impacts of macroeconomic and market conditions and volatility on the Company’s business operations, financial results and financial position and on the global supply chain and world economy.</a:t>
            </a:r>
          </a:p>
          <a:p>
            <a:pPr algn="just"/>
            <a:endParaRPr lang="en-GB" sz="1800" dirty="0">
              <a:effectLst/>
              <a:latin typeface="Calibri" panose="020F0502020204030204" pitchFamily="34" charset="0"/>
              <a:ea typeface="Calibri" panose="020F0502020204030204" pitchFamily="34" charset="0"/>
              <a:cs typeface="Arial" panose="020B0604020202020204" pitchFamily="34" charset="0"/>
            </a:endParaRPr>
          </a:p>
          <a:p>
            <a:pPr lvl="0"/>
            <a:endParaRPr lang="en-US" dirty="0"/>
          </a:p>
          <a:p>
            <a:pPr marL="457200" lvl="3" indent="0">
              <a:buNone/>
            </a:pPr>
            <a:endParaRPr lang="en-US" dirty="0"/>
          </a:p>
        </p:txBody>
      </p:sp>
      <p:sp>
        <p:nvSpPr>
          <p:cNvPr id="6" name="Slide Number Placeholder 5">
            <a:extLst>
              <a:ext uri="{FF2B5EF4-FFF2-40B4-BE49-F238E27FC236}">
                <a16:creationId xmlns:a16="http://schemas.microsoft.com/office/drawing/2014/main" id="{131A9F0C-33B5-84BD-B5C6-EB0D0CF7826B}"/>
              </a:ext>
            </a:extLst>
          </p:cNvPr>
          <p:cNvSpPr>
            <a:spLocks noGrp="1"/>
          </p:cNvSpPr>
          <p:nvPr>
            <p:ph type="sldNum" sz="quarter" idx="12"/>
          </p:nvPr>
        </p:nvSpPr>
        <p:spPr/>
        <p:txBody>
          <a:bodyPr/>
          <a:lstStyle/>
          <a:p>
            <a:fld id="{7A7A97EF-C944-4447-B862-B593E9B4A0FF}" type="slidenum">
              <a:rPr lang="en-US" smtClean="0"/>
              <a:pPr/>
              <a:t>8</a:t>
            </a:fld>
            <a:endParaRPr lang="en-US" dirty="0"/>
          </a:p>
        </p:txBody>
      </p:sp>
      <p:sp>
        <p:nvSpPr>
          <p:cNvPr id="9" name="Title 3">
            <a:extLst>
              <a:ext uri="{FF2B5EF4-FFF2-40B4-BE49-F238E27FC236}">
                <a16:creationId xmlns:a16="http://schemas.microsoft.com/office/drawing/2014/main" id="{5B5D617E-41FC-4C6F-3A4D-E72396527960}"/>
              </a:ext>
            </a:extLst>
          </p:cNvPr>
          <p:cNvSpPr>
            <a:spLocks noGrp="1"/>
          </p:cNvSpPr>
          <p:nvPr>
            <p:ph type="title"/>
          </p:nvPr>
        </p:nvSpPr>
        <p:spPr>
          <a:xfrm>
            <a:off x="419100" y="419101"/>
            <a:ext cx="9613421" cy="457020"/>
          </a:xfrm>
        </p:spPr>
        <p:txBody>
          <a:bodyPr/>
          <a:lstStyle/>
          <a:p>
            <a:r>
              <a:rPr lang="en-US" dirty="0"/>
              <a:t>GE Vernova Forward-Looking Disclaimer </a:t>
            </a:r>
          </a:p>
        </p:txBody>
      </p:sp>
      <p:sp>
        <p:nvSpPr>
          <p:cNvPr id="3" name="Text Placeholder 4">
            <a:extLst>
              <a:ext uri="{FF2B5EF4-FFF2-40B4-BE49-F238E27FC236}">
                <a16:creationId xmlns:a16="http://schemas.microsoft.com/office/drawing/2014/main" id="{77257292-954A-76F0-54E7-60D1E6633669}"/>
              </a:ext>
            </a:extLst>
          </p:cNvPr>
          <p:cNvSpPr txBox="1">
            <a:spLocks/>
          </p:cNvSpPr>
          <p:nvPr/>
        </p:nvSpPr>
        <p:spPr>
          <a:xfrm>
            <a:off x="342898" y="1295529"/>
            <a:ext cx="11353800" cy="513526"/>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b="1" dirty="0"/>
              <a:t>A forward-looking statement is required in press releases concerning expected results or outcomes. Always check w/ our </a:t>
            </a:r>
            <a:r>
              <a:rPr lang="en-US" b="1" dirty="0">
                <a:solidFill>
                  <a:srgbClr val="005E60"/>
                </a:solidFill>
              </a:rPr>
              <a:t>Corporate Securities Legal Team . </a:t>
            </a:r>
            <a:r>
              <a:rPr lang="en-US" b="1" dirty="0">
                <a:solidFill>
                  <a:schemeClr val="tx2"/>
                </a:solidFill>
              </a:rPr>
              <a:t>Add to </a:t>
            </a:r>
            <a:r>
              <a:rPr lang="en-US" b="1" i="1" dirty="0">
                <a:solidFill>
                  <a:schemeClr val="tx2"/>
                </a:solidFill>
              </a:rPr>
              <a:t>Notes to Editors </a:t>
            </a:r>
            <a:r>
              <a:rPr lang="en-US" b="1" dirty="0">
                <a:solidFill>
                  <a:schemeClr val="tx2"/>
                </a:solidFill>
              </a:rPr>
              <a:t>above GE Vernova’s boilerplate. </a:t>
            </a:r>
          </a:p>
        </p:txBody>
      </p:sp>
    </p:spTree>
    <p:extLst>
      <p:ext uri="{BB962C8B-B14F-4D97-AF65-F5344CB8AC3E}">
        <p14:creationId xmlns:p14="http://schemas.microsoft.com/office/powerpoint/2010/main" val="1898258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9DDFD0-D71A-344F-AA89-0486A8F58EAE}"/>
              </a:ext>
            </a:extLst>
          </p:cNvPr>
          <p:cNvSpPr>
            <a:spLocks noGrp="1"/>
          </p:cNvSpPr>
          <p:nvPr>
            <p:ph type="ftr" sz="quarter" idx="11"/>
          </p:nvPr>
        </p:nvSpPr>
        <p:spPr/>
        <p:txBody>
          <a:bodyPr/>
          <a:lstStyle/>
          <a:p>
            <a:r>
              <a:rPr lang="en-US" dirty="0"/>
              <a:t>© 2023 GE Vernova and/or its affiliates. All rights reserved.</a:t>
            </a:r>
          </a:p>
        </p:txBody>
      </p:sp>
      <p:sp>
        <p:nvSpPr>
          <p:cNvPr id="5" name="Content Placeholder 4">
            <a:extLst>
              <a:ext uri="{FF2B5EF4-FFF2-40B4-BE49-F238E27FC236}">
                <a16:creationId xmlns:a16="http://schemas.microsoft.com/office/drawing/2014/main" id="{D04C6507-7FCC-BF47-B082-A1C3E409E0AF}"/>
              </a:ext>
            </a:extLst>
          </p:cNvPr>
          <p:cNvSpPr>
            <a:spLocks noGrp="1"/>
          </p:cNvSpPr>
          <p:nvPr>
            <p:ph idx="1"/>
          </p:nvPr>
        </p:nvSpPr>
        <p:spPr/>
        <p:txBody>
          <a:bodyPr/>
          <a:lstStyle/>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The boilerplates are designed for external go-to-market communications e.g., press releases, press packs, biographies, reports, among other external material and assets.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To encourage one brand identity, one corporate boilerplate will be used globally with a business add-on for business specific press releases.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Reporting business boilerplates are only to be used for financial and investor communications for alignment to GE Vernova’s operating and reporting structure to the financial and investor community.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total figure of GE Vernova employees and not business figure for each business unless a legal requirement or to showcase local presence. </a:t>
            </a:r>
            <a:endParaRPr lang="en-GB" kern="1200" dirty="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Company headquarters reference only unless it is a legal requirement or to showcase local presence.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impersonal pronoun “it” vs first-person plural “we” in boilerplates.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Refer to the three Company reporting businesses as segments, Company accelerators as businesses and each of the 12 businesses as a business.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American English vs British English in the corporate boilerplate and adjust accordingly to British English outside of the U.S.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lvl="0"/>
            <a:endParaRPr lang="en-US" dirty="0"/>
          </a:p>
          <a:p>
            <a:pPr lvl="3"/>
            <a:endParaRPr lang="en-US" dirty="0"/>
          </a:p>
        </p:txBody>
      </p:sp>
      <p:sp>
        <p:nvSpPr>
          <p:cNvPr id="6" name="Slide Number Placeholder 5">
            <a:extLst>
              <a:ext uri="{FF2B5EF4-FFF2-40B4-BE49-F238E27FC236}">
                <a16:creationId xmlns:a16="http://schemas.microsoft.com/office/drawing/2014/main" id="{131A9F0C-33B5-84BD-B5C6-EB0D0CF7826B}"/>
              </a:ext>
            </a:extLst>
          </p:cNvPr>
          <p:cNvSpPr>
            <a:spLocks noGrp="1"/>
          </p:cNvSpPr>
          <p:nvPr>
            <p:ph type="sldNum" sz="quarter" idx="12"/>
          </p:nvPr>
        </p:nvSpPr>
        <p:spPr/>
        <p:txBody>
          <a:bodyPr/>
          <a:lstStyle/>
          <a:p>
            <a:fld id="{7A7A97EF-C944-4447-B862-B593E9B4A0FF}" type="slidenum">
              <a:rPr lang="en-US" smtClean="0"/>
              <a:pPr/>
              <a:t>9</a:t>
            </a:fld>
            <a:endParaRPr lang="en-US" dirty="0"/>
          </a:p>
        </p:txBody>
      </p:sp>
      <p:sp>
        <p:nvSpPr>
          <p:cNvPr id="9" name="Title 3">
            <a:extLst>
              <a:ext uri="{FF2B5EF4-FFF2-40B4-BE49-F238E27FC236}">
                <a16:creationId xmlns:a16="http://schemas.microsoft.com/office/drawing/2014/main" id="{5B5D617E-41FC-4C6F-3A4D-E72396527960}"/>
              </a:ext>
            </a:extLst>
          </p:cNvPr>
          <p:cNvSpPr>
            <a:spLocks noGrp="1"/>
          </p:cNvSpPr>
          <p:nvPr>
            <p:ph type="title"/>
          </p:nvPr>
        </p:nvSpPr>
        <p:spPr>
          <a:xfrm>
            <a:off x="419100" y="419101"/>
            <a:ext cx="9613421" cy="457020"/>
          </a:xfrm>
        </p:spPr>
        <p:txBody>
          <a:bodyPr/>
          <a:lstStyle/>
          <a:p>
            <a:r>
              <a:rPr lang="en-US" dirty="0"/>
              <a:t>GE Vernova Boilerplate Guidelines</a:t>
            </a:r>
          </a:p>
        </p:txBody>
      </p:sp>
    </p:spTree>
    <p:extLst>
      <p:ext uri="{BB962C8B-B14F-4D97-AF65-F5344CB8AC3E}">
        <p14:creationId xmlns:p14="http://schemas.microsoft.com/office/powerpoint/2010/main" val="3336633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9DDFD0-D71A-344F-AA89-0486A8F58EAE}"/>
              </a:ext>
            </a:extLst>
          </p:cNvPr>
          <p:cNvSpPr>
            <a:spLocks noGrp="1"/>
          </p:cNvSpPr>
          <p:nvPr>
            <p:ph type="ftr" sz="quarter" idx="11"/>
          </p:nvPr>
        </p:nvSpPr>
        <p:spPr/>
        <p:txBody>
          <a:bodyPr/>
          <a:lstStyle/>
          <a:p>
            <a:r>
              <a:rPr lang="en-US" dirty="0"/>
              <a:t>© 2023 GE Vernova and/or its affiliates. All rights reserved.</a:t>
            </a:r>
          </a:p>
        </p:txBody>
      </p:sp>
      <p:sp>
        <p:nvSpPr>
          <p:cNvPr id="5" name="Content Placeholder 4">
            <a:extLst>
              <a:ext uri="{FF2B5EF4-FFF2-40B4-BE49-F238E27FC236}">
                <a16:creationId xmlns:a16="http://schemas.microsoft.com/office/drawing/2014/main" id="{D04C6507-7FCC-BF47-B082-A1C3E409E0AF}"/>
              </a:ext>
            </a:extLst>
          </p:cNvPr>
          <p:cNvSpPr>
            <a:spLocks noGrp="1"/>
          </p:cNvSpPr>
          <p:nvPr>
            <p:ph idx="1"/>
          </p:nvPr>
        </p:nvSpPr>
        <p:spPr/>
        <p:txBody>
          <a:bodyPr/>
          <a:lstStyle/>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Oxford comma in the corporate boilerplate and adjust accordingly outside of the U.S.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GE Vernova website to direct traffic to the 12 businesses.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GE Vernova mission paragraph under the corporate boilerplate for the first 6-12 months post-spin to educate and inform external audience of new brand / company name.</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Regarding the company name, always show possession by using an apostrophe after the name e.g., GE Vernova’s Consulting Services or GE Vernova’s Grid Solutions business.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Use single line spacing for boilerplates in press releases and justify the text.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Acronyms of business lines are not permitted. </a:t>
            </a: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Do not deviate from the corporate and business add on boilerplates – they are standardized approved copy highlighting our company and core business information.</a:t>
            </a:r>
          </a:p>
          <a:p>
            <a:pPr marL="342900" indent="-342900">
              <a:buFont typeface="Symbol" panose="05050102010706020507" pitchFamily="18" charset="2"/>
              <a:buChar char=""/>
            </a:pPr>
            <a:r>
              <a:rPr lang="en-US" b="0" kern="1200" dirty="0">
                <a:effectLst/>
                <a:latin typeface="Inter" panose="02000503000000020004" pitchFamily="2" charset="0"/>
                <a:ea typeface="Inter" panose="02000503000000020004" pitchFamily="2" charset="0"/>
                <a:cs typeface="Times New Roman" panose="02020603050405020304" pitchFamily="18" charset="0"/>
              </a:rPr>
              <a:t>In the main body of a press release, capitalize “C” in Company when referring to GE Vernova for clarity. Use the full name and follow it by the defined term in parentheses and quotes e.g., GE Vernova (“Company”).</a:t>
            </a:r>
          </a:p>
          <a:p>
            <a:pPr marL="342900" indent="-342900">
              <a:buFont typeface="Symbol" panose="05050102010706020507" pitchFamily="18" charset="2"/>
              <a:buChar char=""/>
            </a:pPr>
            <a:r>
              <a:rPr lang="en-US" b="1" dirty="0">
                <a:ea typeface="Inter" panose="02000503000000020004" pitchFamily="2" charset="0"/>
                <a:cs typeface="Times New Roman" panose="02020603050405020304" pitchFamily="18" charset="0"/>
              </a:rPr>
              <a:t>NB</a:t>
            </a:r>
            <a:r>
              <a:rPr lang="en-US" dirty="0">
                <a:ea typeface="Inter" panose="02000503000000020004" pitchFamily="2" charset="0"/>
                <a:cs typeface="Times New Roman" panose="02020603050405020304" pitchFamily="18" charset="0"/>
              </a:rPr>
              <a:t> use </a:t>
            </a:r>
            <a:r>
              <a:rPr lang="en-US" b="1" dirty="0">
                <a:ea typeface="Inter" panose="02000503000000020004" pitchFamily="2" charset="0"/>
                <a:cs typeface="Times New Roman" panose="02020603050405020304" pitchFamily="18" charset="0"/>
              </a:rPr>
              <a:t>130</a:t>
            </a:r>
            <a:r>
              <a:rPr lang="en-US" dirty="0">
                <a:ea typeface="Inter" panose="02000503000000020004" pitchFamily="2" charset="0"/>
                <a:cs typeface="Times New Roman" panose="02020603050405020304" pitchFamily="18" charset="0"/>
              </a:rPr>
              <a:t> years of experience or years of history when referring to GE Vernova’s past in the boilerplate and other external press material. </a:t>
            </a:r>
            <a:r>
              <a:rPr lang="en-US" b="1" dirty="0">
                <a:ea typeface="Inter" panose="02000503000000020004" pitchFamily="2" charset="0"/>
                <a:cs typeface="Times New Roman" panose="02020603050405020304" pitchFamily="18" charset="0"/>
              </a:rPr>
              <a:t>140</a:t>
            </a:r>
            <a:r>
              <a:rPr lang="en-US" dirty="0">
                <a:ea typeface="Inter" panose="02000503000000020004" pitchFamily="2" charset="0"/>
                <a:cs typeface="Times New Roman" panose="02020603050405020304" pitchFamily="18" charset="0"/>
              </a:rPr>
              <a:t> years of experience is only specific to a history of innovation not the age of the company as referenced in Form 10 and Investor Day material. </a:t>
            </a:r>
            <a:endParaRPr lang="en-US" b="0" kern="1200" dirty="0">
              <a:effectLst/>
              <a:latin typeface="Inter" panose="02000503000000020004" pitchFamily="2" charset="0"/>
              <a:ea typeface="Inter" panose="02000503000000020004" pitchFamily="2" charset="0"/>
              <a:cs typeface="Times New Roman" panose="02020603050405020304" pitchFamily="18" charset="0"/>
            </a:endParaRPr>
          </a:p>
          <a:p>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lvl="0"/>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marL="342900" lvl="0" indent="-342900">
              <a:buFont typeface="Symbol" panose="05050102010706020507" pitchFamily="18" charset="2"/>
              <a:buChar char=""/>
            </a:pPr>
            <a:endParaRPr lang="en-GB" b="0" dirty="0">
              <a:effectLst/>
              <a:latin typeface="Inter" panose="02000503000000020004" pitchFamily="2" charset="0"/>
              <a:ea typeface="Inter" panose="02000503000000020004" pitchFamily="2" charset="0"/>
              <a:cs typeface="Times New Roman" panose="02020603050405020304" pitchFamily="18" charset="0"/>
            </a:endParaRPr>
          </a:p>
          <a:p>
            <a:pPr lvl="0"/>
            <a:endParaRPr lang="en-US" dirty="0"/>
          </a:p>
          <a:p>
            <a:pPr lvl="3"/>
            <a:endParaRPr lang="en-US" dirty="0"/>
          </a:p>
        </p:txBody>
      </p:sp>
      <p:sp>
        <p:nvSpPr>
          <p:cNvPr id="6" name="Slide Number Placeholder 5">
            <a:extLst>
              <a:ext uri="{FF2B5EF4-FFF2-40B4-BE49-F238E27FC236}">
                <a16:creationId xmlns:a16="http://schemas.microsoft.com/office/drawing/2014/main" id="{131A9F0C-33B5-84BD-B5C6-EB0D0CF7826B}"/>
              </a:ext>
            </a:extLst>
          </p:cNvPr>
          <p:cNvSpPr>
            <a:spLocks noGrp="1"/>
          </p:cNvSpPr>
          <p:nvPr>
            <p:ph type="sldNum" sz="quarter" idx="12"/>
          </p:nvPr>
        </p:nvSpPr>
        <p:spPr/>
        <p:txBody>
          <a:bodyPr/>
          <a:lstStyle/>
          <a:p>
            <a:fld id="{7A7A97EF-C944-4447-B862-B593E9B4A0FF}" type="slidenum">
              <a:rPr lang="en-US" smtClean="0"/>
              <a:pPr/>
              <a:t>10</a:t>
            </a:fld>
            <a:endParaRPr lang="en-US" dirty="0"/>
          </a:p>
        </p:txBody>
      </p:sp>
      <p:sp>
        <p:nvSpPr>
          <p:cNvPr id="9" name="Title 3">
            <a:extLst>
              <a:ext uri="{FF2B5EF4-FFF2-40B4-BE49-F238E27FC236}">
                <a16:creationId xmlns:a16="http://schemas.microsoft.com/office/drawing/2014/main" id="{5B5D617E-41FC-4C6F-3A4D-E72396527960}"/>
              </a:ext>
            </a:extLst>
          </p:cNvPr>
          <p:cNvSpPr>
            <a:spLocks noGrp="1"/>
          </p:cNvSpPr>
          <p:nvPr>
            <p:ph type="title"/>
          </p:nvPr>
        </p:nvSpPr>
        <p:spPr>
          <a:xfrm>
            <a:off x="419100" y="419101"/>
            <a:ext cx="9613421" cy="457020"/>
          </a:xfrm>
        </p:spPr>
        <p:txBody>
          <a:bodyPr/>
          <a:lstStyle/>
          <a:p>
            <a:r>
              <a:rPr lang="en-US" dirty="0"/>
              <a:t>GE Vernova Boilerplate Guidelines</a:t>
            </a:r>
          </a:p>
        </p:txBody>
      </p:sp>
    </p:spTree>
    <p:extLst>
      <p:ext uri="{BB962C8B-B14F-4D97-AF65-F5344CB8AC3E}">
        <p14:creationId xmlns:p14="http://schemas.microsoft.com/office/powerpoint/2010/main" val="1545425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69"/>
      </p:ext>
    </p:extLst>
  </p:cSld>
  <p:clrMapOvr>
    <a:masterClrMapping/>
  </p:clrMapOvr>
</p:sld>
</file>

<file path=ppt/theme/theme1.xml><?xml version="1.0" encoding="utf-8"?>
<a:theme xmlns:a="http://schemas.openxmlformats.org/drawingml/2006/main" name="GE Vernova">
  <a:themeElements>
    <a:clrScheme name="GE Vernova Palette">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GE Vernova">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tainless Steel">
      <a:srgbClr val="D2D2D2"/>
    </a:custClr>
    <a:custClr name="Aluminum">
      <a:srgbClr val="AEAEAE"/>
    </a:custClr>
    <a:custClr name="Titanium">
      <a:srgbClr val="969696"/>
    </a:custClr>
    <a:custClr name="Yellow">
      <a:srgbClr val="FFD400"/>
    </a:custClr>
    <a:custClr name="Orange">
      <a:srgbClr val="FF8400"/>
    </a:custClr>
    <a:custClr name="Red">
      <a:srgbClr val="FF1900"/>
    </a:custClr>
    <a:custClr name="Purple">
      <a:srgbClr val="8F00FF"/>
    </a:custClr>
    <a:custClr name="Fuschia">
      <a:srgbClr val="DE00F7"/>
    </a:custClr>
    <a:custClr name="Blue">
      <a:srgbClr val="3900F8"/>
    </a:custClr>
    <a:custClr name="Teal">
      <a:srgbClr val="00D0E1"/>
    </a:custClr>
  </a:custClrLst>
  <a:extLst>
    <a:ext uri="{05A4C25C-085E-4340-85A3-A5531E510DB2}">
      <thm15:themeFamily xmlns:thm15="http://schemas.microsoft.com/office/thememl/2012/main" name="GE Vernova_PPT_Template_7.25.23.pptx" id="{516FEC3C-F444-46DB-9625-154F7F727864}" vid="{D2D9C980-E8ED-4E5D-97D7-10B54BD9CC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60f4d75-da08-481c-93a0-a5d59f6ee71c">
      <Terms xmlns="http://schemas.microsoft.com/office/infopath/2007/PartnerControls"/>
    </lcf76f155ced4ddcb4097134ff3c332f>
    <TaxCatchAll xmlns="02d12187-754c-41a9-9e93-c3e1cfacc15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0987E64CCC7C941AA423E1ADF2491CC" ma:contentTypeVersion="18" ma:contentTypeDescription="Create a new document." ma:contentTypeScope="" ma:versionID="1e40539c746aebc5ca905ee2706e7d1b">
  <xsd:schema xmlns:xsd="http://www.w3.org/2001/XMLSchema" xmlns:xs="http://www.w3.org/2001/XMLSchema" xmlns:p="http://schemas.microsoft.com/office/2006/metadata/properties" xmlns:ns2="660f4d75-da08-481c-93a0-a5d59f6ee71c" xmlns:ns3="b402df0d-8178-4802-b8b9-ef402e68d744" xmlns:ns4="02d12187-754c-41a9-9e93-c3e1cfacc155" targetNamespace="http://schemas.microsoft.com/office/2006/metadata/properties" ma:root="true" ma:fieldsID="2dd0d1ad3efc741518aad11f398c5865" ns2:_="" ns3:_="" ns4:_="">
    <xsd:import namespace="660f4d75-da08-481c-93a0-a5d59f6ee71c"/>
    <xsd:import namespace="b402df0d-8178-4802-b8b9-ef402e68d744"/>
    <xsd:import namespace="02d12187-754c-41a9-9e93-c3e1cfacc15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4:TaxCatchAll"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0f4d75-da08-481c-93a0-a5d59f6ee7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6a257fb-28f5-49c4-92c3-d49665e8e1d3"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402df0d-8178-4802-b8b9-ef402e68d74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d12187-754c-41a9-9e93-c3e1cfacc155"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acdb1637-3b50-4ef3-b363-a9ca0300321e}" ma:internalName="TaxCatchAll" ma:showField="CatchAllData" ma:web="b402df0d-8178-4802-b8b9-ef402e68d7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A31001-A973-48D3-BF92-E4BBE4C78C38}">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660f4d75-da08-481c-93a0-a5d59f6ee71c"/>
    <ds:schemaRef ds:uri="http://www.w3.org/XML/1998/namespace"/>
    <ds:schemaRef ds:uri="http://purl.org/dc/elements/1.1/"/>
    <ds:schemaRef ds:uri="02d12187-754c-41a9-9e93-c3e1cfacc155"/>
    <ds:schemaRef ds:uri="b402df0d-8178-4802-b8b9-ef402e68d744"/>
    <ds:schemaRef ds:uri="http://schemas.microsoft.com/office/2006/metadata/properties"/>
  </ds:schemaRefs>
</ds:datastoreItem>
</file>

<file path=customXml/itemProps2.xml><?xml version="1.0" encoding="utf-8"?>
<ds:datastoreItem xmlns:ds="http://schemas.openxmlformats.org/officeDocument/2006/customXml" ds:itemID="{5D1214C9-2614-4841-8F75-517C46888F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0f4d75-da08-481c-93a0-a5d59f6ee71c"/>
    <ds:schemaRef ds:uri="b402df0d-8178-4802-b8b9-ef402e68d744"/>
    <ds:schemaRef ds:uri="02d12187-754c-41a9-9e93-c3e1cfacc1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E64E55-0318-435E-9885-1C7A491FCF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 Vernova_PPT_Template_7.25.23</Template>
  <TotalTime>11272</TotalTime>
  <Words>2408</Words>
  <Application>Microsoft Office PowerPoint</Application>
  <PresentationFormat>Widescreen</PresentationFormat>
  <Paragraphs>136</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Sons Condensed Extrabold</vt:lpstr>
      <vt:lpstr>Symbol</vt:lpstr>
      <vt:lpstr>Inter</vt:lpstr>
      <vt:lpstr>GE Vernova</vt:lpstr>
      <vt:lpstr>BOILERPLATES</vt:lpstr>
      <vt:lpstr>Content</vt:lpstr>
      <vt:lpstr>GE Vernova Corporate Boilerplate</vt:lpstr>
      <vt:lpstr>GE Vernova Business Add-on Boilerplates</vt:lpstr>
      <vt:lpstr>GE Vernova Business Press Release Boilerplates</vt:lpstr>
      <vt:lpstr>GE Vernova Reporting Segment Boilerplates </vt:lpstr>
      <vt:lpstr>GE Vernova Accelerator Boilerplates</vt:lpstr>
      <vt:lpstr>GE Vernova Forward-Looking Disclaimer </vt:lpstr>
      <vt:lpstr>GE Vernova Boilerplate Guidelines</vt:lpstr>
      <vt:lpstr>GE Vernova Boilerplate Guidelines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BOILERPLATES</dc:title>
  <dc:subject/>
  <dc:creator>Borda, Karol (GE Vernova, consultant)</dc:creator>
  <cp:keywords/>
  <dc:description/>
  <cp:lastModifiedBy>Van Reen, Rachael (GE Vernova)</cp:lastModifiedBy>
  <cp:revision>76</cp:revision>
  <dcterms:created xsi:type="dcterms:W3CDTF">2023-08-15T16:52:36Z</dcterms:created>
  <dcterms:modified xsi:type="dcterms:W3CDTF">2025-09-18T22:08:03Z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0x01010010987E64CCC7C941AA423E1ADF2491CC</vt:lpwstr>
  </property>
</Properties>
</file>