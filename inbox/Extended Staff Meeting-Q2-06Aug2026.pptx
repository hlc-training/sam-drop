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31_15EEF432.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3"/>
  </p:notesMasterIdLst>
  <p:handoutMasterIdLst>
    <p:handoutMasterId r:id="rId24"/>
  </p:handoutMasterIdLst>
  <p:sldIdLst>
    <p:sldId id="2147483599" r:id="rId5"/>
    <p:sldId id="2147483504" r:id="rId6"/>
    <p:sldId id="305" r:id="rId7"/>
    <p:sldId id="306" r:id="rId8"/>
    <p:sldId id="351" r:id="rId9"/>
    <p:sldId id="2147483610" r:id="rId10"/>
    <p:sldId id="313" r:id="rId11"/>
    <p:sldId id="353" r:id="rId12"/>
    <p:sldId id="256" r:id="rId13"/>
    <p:sldId id="2147483603" r:id="rId14"/>
    <p:sldId id="2147483607" r:id="rId15"/>
    <p:sldId id="2147483582" r:id="rId16"/>
    <p:sldId id="2147483592" r:id="rId17"/>
    <p:sldId id="2147483612" r:id="rId18"/>
    <p:sldId id="2147483602" r:id="rId19"/>
    <p:sldId id="257" r:id="rId20"/>
    <p:sldId id="2147483614" r:id="rId21"/>
    <p:sldId id="2147483606" r:id="rId22"/>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696"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B8D54C-8B90-DE6D-59DF-057C4474059D}" name="Galley, Lizlee Lepon (GE Vernova)" initials="LG" userId="S::223109692@ge.com::d15c49bf-3a30-4cd2-9f8b-f430d10922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5E"/>
    <a:srgbClr val="58984B"/>
    <a:srgbClr val="435800"/>
    <a:srgbClr val="CCCCCC"/>
    <a:srgbClr val="E3E3E3"/>
    <a:srgbClr val="212121"/>
    <a:srgbClr val="C7F863"/>
    <a:srgbClr val="005E60"/>
    <a:srgbClr val="439297"/>
    <a:srgbClr val="C7DBD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7FCF9B-4F7B-4525-BD9C-93EA8C383F02}" v="1" dt="2026-08-03T13:05:11.5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10" autoAdjust="0"/>
    <p:restoredTop sz="94404" autoAdjust="0"/>
  </p:normalViewPr>
  <p:slideViewPr>
    <p:cSldViewPr snapToGrid="0" snapToObjects="1" showGuides="1">
      <p:cViewPr varScale="1">
        <p:scale>
          <a:sx n="111" d="100"/>
          <a:sy n="111" d="100"/>
        </p:scale>
        <p:origin x="504" y="96"/>
      </p:cViewPr>
      <p:guideLst>
        <p:guide orient="horz" pos="2256"/>
        <p:guide pos="3696"/>
      </p:guideLst>
    </p:cSldViewPr>
  </p:slideViewPr>
  <p:outlineViewPr>
    <p:cViewPr>
      <p:scale>
        <a:sx n="33" d="100"/>
        <a:sy n="33" d="100"/>
      </p:scale>
      <p:origin x="0" y="-648"/>
    </p:cViewPr>
  </p:outlineViewPr>
  <p:notesTextViewPr>
    <p:cViewPr>
      <p:scale>
        <a:sx n="3" d="2"/>
        <a:sy n="3" d="2"/>
      </p:scale>
      <p:origin x="0" y="0"/>
    </p:cViewPr>
  </p:notesTextViewPr>
  <p:sorterViewPr>
    <p:cViewPr varScale="1">
      <p:scale>
        <a:sx n="1" d="1"/>
        <a:sy n="1" d="1"/>
      </p:scale>
      <p:origin x="0" y="0"/>
    </p:cViewPr>
  </p:sorterViewPr>
  <p:notesViewPr>
    <p:cSldViewPr snapToGrid="0" snapToObjects="1" showGuides="1">
      <p:cViewPr varScale="1">
        <p:scale>
          <a:sx n="76" d="100"/>
          <a:sy n="76" d="100"/>
        </p:scale>
        <p:origin x="3312" y="19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Wright" userId="05atAjoTX5HoO4mfvocLKORcqWpd44b61JobHBDbM8U=" providerId="None" clId="Web-{9C7FCF9B-4F7B-4525-BD9C-93EA8C383F02}"/>
    <pc:docChg chg="delSld">
      <pc:chgData name="Jen Wright" userId="05atAjoTX5HoO4mfvocLKORcqWpd44b61JobHBDbM8U=" providerId="None" clId="Web-{9C7FCF9B-4F7B-4525-BD9C-93EA8C383F02}" dt="2026-08-03T13:05:11.574" v="0"/>
      <pc:docMkLst>
        <pc:docMk/>
      </pc:docMkLst>
      <pc:sldChg chg="del">
        <pc:chgData name="Jen Wright" userId="05atAjoTX5HoO4mfvocLKORcqWpd44b61JobHBDbM8U=" providerId="None" clId="Web-{9C7FCF9B-4F7B-4525-BD9C-93EA8C383F02}" dt="2026-08-03T13:05:11.574" v="0"/>
        <pc:sldMkLst>
          <pc:docMk/>
          <pc:sldMk cId="2608954735" sldId="2147483584"/>
        </pc:sldMkLst>
      </pc:sldChg>
    </pc:docChg>
  </pc:docChgLst>
</pc:chgInfo>
</file>

<file path=ppt/comments/modernComment_131_15EEF432.xml><?xml version="1.0" encoding="utf-8"?>
<p188:cmLst xmlns:a="http://schemas.openxmlformats.org/drawingml/2006/main" xmlns:r="http://schemas.openxmlformats.org/officeDocument/2006/relationships" xmlns:p188="http://schemas.microsoft.com/office/powerpoint/2018/8/main">
  <p188:cm id="{D404530D-A876-4C04-BB15-239D4984CB23}" authorId="{1EB8D54C-8B90-DE6D-59DF-057C4474059D}" created="2026-01-05T20:45:30.091">
    <pc:sldMkLst xmlns:pc="http://schemas.microsoft.com/office/powerpoint/2013/main/command">
      <pc:docMk/>
      <pc:sldMk cId="4214910016" sldId="305"/>
    </pc:sldMkLst>
    <p188:txBody>
      <a:bodyPr/>
      <a:lstStyle/>
      <a:p>
        <a:r>
          <a:rPr lang="en-US"/>
          <a:t>Craft Training, estimated 250 were trained, 1100 Fes, ~5 to 10 contractors/Subcontractors, MOC change of personnel Facility Crew</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BFB6B6-4E7A-A445-A373-70EB82AD093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Inter" panose="02000503000000020004" pitchFamily="2" charset="0"/>
              <a:cs typeface="Arial" panose="020B0604020202020204" pitchFamily="34" charset="0"/>
            </a:endParaRPr>
          </a:p>
        </p:txBody>
      </p:sp>
      <p:sp>
        <p:nvSpPr>
          <p:cNvPr id="3" name="Date Placeholder 2">
            <a:extLst>
              <a:ext uri="{FF2B5EF4-FFF2-40B4-BE49-F238E27FC236}">
                <a16:creationId xmlns:a16="http://schemas.microsoft.com/office/drawing/2014/main" id="{2E9532A8-4888-A64E-B2D1-7642670E089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945F3F-4280-4241-A55C-C635F11CFA20}" type="datetimeFigureOut">
              <a:rPr lang="en-US">
                <a:latin typeface="Inter" panose="02000503000000020004" pitchFamily="2" charset="0"/>
                <a:cs typeface="Arial" panose="020B0604020202020204" pitchFamily="34" charset="0"/>
              </a:rPr>
              <a:t>8/4/2026</a:t>
            </a:fld>
            <a:endParaRPr lang="en-US" dirty="0">
              <a:latin typeface="Inter" panose="02000503000000020004" pitchFamily="2" charset="0"/>
              <a:cs typeface="Arial" panose="020B0604020202020204" pitchFamily="34" charset="0"/>
            </a:endParaRPr>
          </a:p>
        </p:txBody>
      </p:sp>
      <p:sp>
        <p:nvSpPr>
          <p:cNvPr id="4" name="Footer Placeholder 3">
            <a:extLst>
              <a:ext uri="{FF2B5EF4-FFF2-40B4-BE49-F238E27FC236}">
                <a16:creationId xmlns:a16="http://schemas.microsoft.com/office/drawing/2014/main" id="{832E0019-9C88-8740-9DC7-43CA22CBDD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Inter" panose="02000503000000020004" pitchFamily="2" charset="0"/>
              <a:cs typeface="Arial" panose="020B0604020202020204" pitchFamily="34" charset="0"/>
            </a:endParaRPr>
          </a:p>
        </p:txBody>
      </p:sp>
      <p:sp>
        <p:nvSpPr>
          <p:cNvPr id="5" name="Slide Number Placeholder 4">
            <a:extLst>
              <a:ext uri="{FF2B5EF4-FFF2-40B4-BE49-F238E27FC236}">
                <a16:creationId xmlns:a16="http://schemas.microsoft.com/office/drawing/2014/main" id="{ADAA7054-C658-7843-B285-432D0AAA0C2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57917D-67DC-8946-9800-8E4AAAAFFC67}" type="slidenum">
              <a:rPr lang="en-US">
                <a:latin typeface="Inter" panose="02000503000000020004" pitchFamily="2" charset="0"/>
                <a:cs typeface="Arial" panose="020B0604020202020204" pitchFamily="34" charset="0"/>
              </a:rPr>
              <a:t>‹#›</a:t>
            </a:fld>
            <a:endParaRPr lang="en-US" dirty="0">
              <a:latin typeface="Inter" panose="02000503000000020004" pitchFamily="2" charset="0"/>
              <a:cs typeface="Arial" panose="020B0604020202020204" pitchFamily="34" charset="0"/>
            </a:endParaRPr>
          </a:p>
        </p:txBody>
      </p:sp>
    </p:spTree>
    <p:extLst>
      <p:ext uri="{BB962C8B-B14F-4D97-AF65-F5344CB8AC3E}">
        <p14:creationId xmlns:p14="http://schemas.microsoft.com/office/powerpoint/2010/main" val="20666155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Inter" panose="02000503000000020004" pitchFamily="2"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Inter" panose="02000503000000020004" pitchFamily="2" charset="0"/>
              </a:defRPr>
            </a:lvl1pPr>
          </a:lstStyle>
          <a:p>
            <a:fld id="{FAC1BD85-E95E-8D4A-AD03-7D116C880F45}" type="datetimeFigureOut">
              <a:rPr lang="en-US" smtClean="0"/>
              <a:pPr/>
              <a:t>8/4/2026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Inter" panose="02000503000000020004" pitchFamily="2"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Inter" panose="02000503000000020004" pitchFamily="2" charset="0"/>
              </a:defRPr>
            </a:lvl1pPr>
          </a:lstStyle>
          <a:p>
            <a:fld id="{F4BFF387-9D57-4C4A-857D-AC6507407006}" type="slidenum">
              <a:rPr lang="en-US" smtClean="0"/>
              <a:pPr/>
              <a:t>‹#›</a:t>
            </a:fld>
            <a:endParaRPr lang="en-US" dirty="0"/>
          </a:p>
        </p:txBody>
      </p:sp>
    </p:spTree>
    <p:extLst>
      <p:ext uri="{BB962C8B-B14F-4D97-AF65-F5344CB8AC3E}">
        <p14:creationId xmlns:p14="http://schemas.microsoft.com/office/powerpoint/2010/main" val="2170517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Inter" panose="02000503000000020004" pitchFamily="2" charset="0"/>
        <a:ea typeface="+mn-ea"/>
        <a:cs typeface="+mn-cs"/>
      </a:defRPr>
    </a:lvl1pPr>
    <a:lvl2pPr marL="13716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2pPr>
    <a:lvl3pPr marL="274320" indent="-137160" algn="l" defTabSz="914400" rtl="0" eaLnBrk="1" latinLnBrk="0" hangingPunct="1">
      <a:buFont typeface="Arial"/>
      <a:buChar char="–"/>
      <a:tabLst/>
      <a:defRPr sz="1200" b="0" i="0" kern="1200">
        <a:solidFill>
          <a:schemeClr val="tx1"/>
        </a:solidFill>
        <a:latin typeface="Inter" panose="02000503000000020004" pitchFamily="2" charset="0"/>
        <a:ea typeface="+mn-ea"/>
        <a:cs typeface="+mn-cs"/>
      </a:defRPr>
    </a:lvl3pPr>
    <a:lvl4pPr marL="41148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4pPr>
    <a:lvl5pPr marL="548640" indent="-137160" algn="l" defTabSz="914400" rtl="0" eaLnBrk="1" latinLnBrk="0" hangingPunct="1">
      <a:buFont typeface="Arial"/>
      <a:buChar char="–"/>
      <a:defRPr sz="1200" b="0" i="0" kern="1200">
        <a:solidFill>
          <a:schemeClr val="tx1"/>
        </a:solidFill>
        <a:latin typeface="Inter" panose="02000503000000020004"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BFF387-9D57-4C4A-857D-AC6507407006}" type="slidenum">
              <a:rPr kumimoji="0" lang="en-US" sz="1200" b="0" i="0" u="none" strike="noStrike" kern="1200" cap="none" spc="0" normalizeH="0" baseline="0" noProof="0" smtClean="0">
                <a:ln>
                  <a:noFill/>
                </a:ln>
                <a:solidFill>
                  <a:prstClr val="black"/>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Inter" panose="02000503000000020004" pitchFamily="2" charset="0"/>
              <a:ea typeface="+mn-ea"/>
              <a:cs typeface="+mn-cs"/>
            </a:endParaRPr>
          </a:p>
        </p:txBody>
      </p:sp>
    </p:spTree>
    <p:extLst>
      <p:ext uri="{BB962C8B-B14F-4D97-AF65-F5344CB8AC3E}">
        <p14:creationId xmlns:p14="http://schemas.microsoft.com/office/powerpoint/2010/main" val="2849783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3</a:t>
            </a:fld>
            <a:endParaRPr lang="en-US" dirty="0"/>
          </a:p>
        </p:txBody>
      </p:sp>
    </p:spTree>
    <p:extLst>
      <p:ext uri="{BB962C8B-B14F-4D97-AF65-F5344CB8AC3E}">
        <p14:creationId xmlns:p14="http://schemas.microsoft.com/office/powerpoint/2010/main" val="1839303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4</a:t>
            </a:fld>
            <a:endParaRPr lang="en-US" dirty="0"/>
          </a:p>
        </p:txBody>
      </p:sp>
    </p:spTree>
    <p:extLst>
      <p:ext uri="{BB962C8B-B14F-4D97-AF65-F5344CB8AC3E}">
        <p14:creationId xmlns:p14="http://schemas.microsoft.com/office/powerpoint/2010/main" val="31465798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a:t>What we’re doing</a:t>
            </a:r>
          </a:p>
          <a:p>
            <a:pPr marL="171450" indent="-171450">
              <a:buFont typeface="Arial" panose="020B0604020202020204" pitchFamily="34" charset="0"/>
              <a:buChar char="•"/>
            </a:pPr>
            <a:r>
              <a:rPr lang="en-US" dirty="0"/>
              <a:t>Coordinating efforts globally</a:t>
            </a:r>
          </a:p>
          <a:p>
            <a:pPr marL="171450" indent="-171450">
              <a:buFont typeface="Arial" panose="020B0604020202020204" pitchFamily="34" charset="0"/>
              <a:buChar char="•"/>
            </a:pPr>
            <a:r>
              <a:rPr lang="en-US" dirty="0"/>
              <a:t>5S events every month, at every site.</a:t>
            </a:r>
          </a:p>
          <a:p>
            <a:pPr marL="171450" indent="-171450">
              <a:buFont typeface="Arial" panose="020B0604020202020204" pitchFamily="34" charset="0"/>
              <a:buChar char="•"/>
            </a:pPr>
            <a:r>
              <a:rPr lang="en-US" dirty="0"/>
              <a:t>Partnering with the Aero Alliance Lean Team, for training events to educate Engineers and Craft.</a:t>
            </a:r>
          </a:p>
          <a:p>
            <a:pPr marL="171450" indent="-171450">
              <a:buFont typeface="Arial" panose="020B0604020202020204" pitchFamily="34" charset="0"/>
              <a:buChar char="•"/>
            </a:pPr>
            <a:r>
              <a:rPr lang="en-US" dirty="0"/>
              <a:t>Directors, PLLs, Managers, Team leaders, Office/Facilities staff, Instructors, Students, Full-time Contractors. All are involved. </a:t>
            </a:r>
          </a:p>
          <a:p>
            <a:endParaRPr lang="en-US" dirty="0"/>
          </a:p>
          <a:p>
            <a:r>
              <a:rPr lang="en-US" dirty="0"/>
              <a:t>Through Gemba walks and lunch &amp; learn events we will reach our goal of 1000 </a:t>
            </a:r>
            <a:r>
              <a:rPr lang="en-US" b="1" dirty="0"/>
              <a:t>event attendees </a:t>
            </a:r>
            <a:r>
              <a:rPr lang="en-US" dirty="0"/>
              <a:t>in 2026</a:t>
            </a:r>
          </a:p>
          <a:p>
            <a:endParaRPr lang="en-US" dirty="0">
              <a:solidFill>
                <a:schemeClr val="bg1">
                  <a:lumMod val="10000"/>
                  <a:lumOff val="90000"/>
                </a:schemeClr>
              </a:solidFill>
            </a:endParaRPr>
          </a:p>
          <a:p>
            <a:r>
              <a:rPr lang="en-US" b="1" dirty="0">
                <a:solidFill>
                  <a:srgbClr val="FF0000"/>
                </a:solidFill>
              </a:rPr>
              <a:t>Staff attendance </a:t>
            </a:r>
            <a:r>
              <a:rPr lang="en-US" dirty="0">
                <a:solidFill>
                  <a:schemeClr val="bg1">
                    <a:lumMod val="10000"/>
                    <a:lumOff val="90000"/>
                  </a:schemeClr>
                </a:solidFill>
              </a:rPr>
              <a:t>has increased year over year from 11% to 54% and rising.</a:t>
            </a:r>
          </a:p>
          <a:p>
            <a:endParaRPr lang="en-US" dirty="0">
              <a:solidFill>
                <a:schemeClr val="bg1">
                  <a:lumMod val="10000"/>
                  <a:lumOff val="9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lumMod val="10000"/>
                    <a:lumOff val="90000"/>
                  </a:schemeClr>
                </a:solidFill>
              </a:rPr>
              <a:t>Culture scales when participation becomes visible. </a:t>
            </a:r>
          </a:p>
          <a:p>
            <a:pPr marL="171450" indent="-171450">
              <a:buFontTx/>
              <a:buChar char="-"/>
            </a:pPr>
            <a:r>
              <a:rPr lang="en-US" b="0" dirty="0">
                <a:solidFill>
                  <a:schemeClr val="bg1">
                    <a:lumMod val="10000"/>
                    <a:lumOff val="90000"/>
                  </a:schemeClr>
                </a:solidFill>
              </a:rPr>
              <a:t>What do I mean by that ? O</a:t>
            </a:r>
            <a:r>
              <a:rPr lang="en-US" dirty="0">
                <a:solidFill>
                  <a:schemeClr val="bg1">
                    <a:lumMod val="10000"/>
                    <a:lumOff val="90000"/>
                  </a:schemeClr>
                </a:solidFill>
              </a:rPr>
              <a:t>ur organization’s values, behaviors, and positive habits, spread more effectively when people can clearly </a:t>
            </a:r>
            <a:r>
              <a:rPr lang="en-US" b="0" dirty="0">
                <a:solidFill>
                  <a:schemeClr val="bg1">
                    <a:lumMod val="10000"/>
                    <a:lumOff val="90000"/>
                  </a:schemeClr>
                </a:solidFill>
              </a:rPr>
              <a:t>see others engaging in them</a:t>
            </a:r>
            <a:r>
              <a:rPr lang="en-US" dirty="0">
                <a:solidFill>
                  <a:schemeClr val="bg1">
                    <a:lumMod val="10000"/>
                    <a:lumOff val="90000"/>
                  </a:schemeClr>
                </a:solidFill>
              </a:rPr>
              <a:t>.</a:t>
            </a:r>
          </a:p>
          <a:p>
            <a:endParaRPr lang="en-US" dirty="0">
              <a:solidFill>
                <a:schemeClr val="bg1">
                  <a:lumMod val="10000"/>
                  <a:lumOff val="90000"/>
                </a:schemeClr>
              </a:solidFill>
            </a:endParaRPr>
          </a:p>
          <a:p>
            <a:pPr marL="0" indent="0">
              <a:buFont typeface="Arial" panose="020B0604020202020204" pitchFamily="34" charset="0"/>
              <a:buNone/>
            </a:pPr>
            <a:r>
              <a:rPr lang="en-US" b="1" dirty="0"/>
              <a:t>The take-away banner- </a:t>
            </a:r>
            <a:r>
              <a:rPr lang="en-US" b="0" dirty="0"/>
              <a:t>W</a:t>
            </a:r>
            <a:r>
              <a:rPr lang="en-US" dirty="0"/>
              <a:t>hat started as the next new thing, is transforming into the norm.</a:t>
            </a:r>
          </a:p>
          <a:p>
            <a:endParaRPr lang="en-US" dirty="0">
              <a:solidFill>
                <a:schemeClr val="bg1">
                  <a:lumMod val="10000"/>
                  <a:lumOff val="90000"/>
                </a:schemeClr>
              </a:solidFill>
            </a:endParaRPr>
          </a:p>
          <a:p>
            <a:endParaRPr lang="en-US" dirty="0">
              <a:solidFill>
                <a:schemeClr val="bg1">
                  <a:lumMod val="10000"/>
                  <a:lumOff val="90000"/>
                </a:schemeClr>
              </a:solidFill>
            </a:endParaRPr>
          </a:p>
          <a:p>
            <a:endParaRPr lang="en-US" dirty="0">
              <a:solidFill>
                <a:schemeClr val="bg1">
                  <a:lumMod val="10000"/>
                  <a:lumOff val="90000"/>
                </a:schemeClr>
              </a:solidFill>
            </a:endParaRPr>
          </a:p>
        </p:txBody>
      </p:sp>
      <p:sp>
        <p:nvSpPr>
          <p:cNvPr id="4" name="Slide Number Placeholder 3"/>
          <p:cNvSpPr>
            <a:spLocks noGrp="1"/>
          </p:cNvSpPr>
          <p:nvPr>
            <p:ph type="sldNum" sz="quarter" idx="5"/>
          </p:nvPr>
        </p:nvSpPr>
        <p:spPr/>
        <p:txBody>
          <a:bodyPr/>
          <a:lstStyle/>
          <a:p>
            <a:fld id="{F4BFF387-9D57-4C4A-857D-AC6507407006}" type="slidenum">
              <a:rPr lang="en-US" smtClean="0"/>
              <a:pPr/>
              <a:t>5</a:t>
            </a:fld>
            <a:endParaRPr lang="en-US" dirty="0"/>
          </a:p>
        </p:txBody>
      </p:sp>
    </p:spTree>
    <p:extLst>
      <p:ext uri="{BB962C8B-B14F-4D97-AF65-F5344CB8AC3E}">
        <p14:creationId xmlns:p14="http://schemas.microsoft.com/office/powerpoint/2010/main" val="236847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Leadership has high level KPIs. As you can see here, I have some low-level goals to drive progress.</a:t>
            </a:r>
          </a:p>
          <a:p>
            <a:r>
              <a:rPr lang="en-US" dirty="0"/>
              <a:t>We started strong, so now the aim is to surpass the original goals , then adjust accordingly for 2027.</a:t>
            </a:r>
          </a:p>
        </p:txBody>
      </p:sp>
      <p:sp>
        <p:nvSpPr>
          <p:cNvPr id="4" name="Slide Number Placeholder 3"/>
          <p:cNvSpPr>
            <a:spLocks noGrp="1"/>
          </p:cNvSpPr>
          <p:nvPr>
            <p:ph type="sldNum" sz="quarter" idx="5"/>
          </p:nvPr>
        </p:nvSpPr>
        <p:spPr/>
        <p:txBody>
          <a:bodyPr/>
          <a:lstStyle/>
          <a:p>
            <a:fld id="{F4BFF387-9D57-4C4A-857D-AC6507407006}" type="slidenum">
              <a:rPr lang="en-US" smtClean="0"/>
              <a:pPr/>
              <a:t>7</a:t>
            </a:fld>
            <a:endParaRPr lang="en-US" dirty="0"/>
          </a:p>
        </p:txBody>
      </p:sp>
    </p:spTree>
    <p:extLst>
      <p:ext uri="{BB962C8B-B14F-4D97-AF65-F5344CB8AC3E}">
        <p14:creationId xmlns:p14="http://schemas.microsoft.com/office/powerpoint/2010/main" val="38187550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If you are familiar with gardening, you understand the term root bound. That is when a plant has outgrown its container. Its root system will have covered every square inch of the pot it’s in. We needed </a:t>
            </a:r>
            <a:r>
              <a:rPr lang="en-US" b="1" dirty="0"/>
              <a:t>space</a:t>
            </a:r>
            <a:r>
              <a:rPr lang="en-US" dirty="0"/>
              <a:t> to spread everything out and decide what to keep. Just like cleaning out your garage. You might cover the entire driveway with items, then once you cull the unnecessary and organize what remains, a true transformation has occurred.</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b="1" dirty="0"/>
              <a:t>Time</a:t>
            </a:r>
            <a:r>
              <a:rPr lang="en-US" dirty="0"/>
              <a:t> is at a premium. With accelerating training demand, it is difficult to find the time we need. The teams stepped up and overcame the challenge. I don’t know how, but they make time. </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  Nothing worth doing is easy. The </a:t>
            </a:r>
            <a:r>
              <a:rPr lang="en-US" b="1" dirty="0"/>
              <a:t>effort</a:t>
            </a:r>
            <a:r>
              <a:rPr lang="en-US" dirty="0"/>
              <a:t> everyone has invested has and will continue to pay off.</a:t>
            </a:r>
          </a:p>
        </p:txBody>
      </p:sp>
      <p:sp>
        <p:nvSpPr>
          <p:cNvPr id="4" name="Slide Number Placeholder 3"/>
          <p:cNvSpPr>
            <a:spLocks noGrp="1"/>
          </p:cNvSpPr>
          <p:nvPr>
            <p:ph type="sldNum" sz="quarter" idx="5"/>
          </p:nvPr>
        </p:nvSpPr>
        <p:spPr/>
        <p:txBody>
          <a:bodyPr/>
          <a:lstStyle/>
          <a:p>
            <a:fld id="{F4BFF387-9D57-4C4A-857D-AC6507407006}" type="slidenum">
              <a:rPr lang="en-US" smtClean="0"/>
              <a:pPr/>
              <a:t>8</a:t>
            </a:fld>
            <a:endParaRPr lang="en-US" dirty="0"/>
          </a:p>
        </p:txBody>
      </p:sp>
    </p:spTree>
    <p:extLst>
      <p:ext uri="{BB962C8B-B14F-4D97-AF65-F5344CB8AC3E}">
        <p14:creationId xmlns:p14="http://schemas.microsoft.com/office/powerpoint/2010/main" val="328546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4 is where we found the space we needed. It was packed to the gills. </a:t>
            </a:r>
          </a:p>
          <a:p>
            <a:r>
              <a:rPr lang="en-US" dirty="0"/>
              <a:t>Phase 1 (Q1 and Q2) focused on removing items that were obviously no longer needed, as well as cataloging and gathering the necessary details to make informed decisions about the remaining items.</a:t>
            </a:r>
          </a:p>
          <a:p>
            <a:r>
              <a:rPr lang="en-US" dirty="0"/>
              <a:t>Phase 2 (Q3) we’ll have a leadership review and retention decisions for the remaining inventory.  </a:t>
            </a:r>
          </a:p>
          <a:p>
            <a:r>
              <a:rPr lang="en-US" dirty="0"/>
              <a:t>Phase 3 (Q4) create a digital inventory and introduce control process to protect the progress we’ve made. </a:t>
            </a:r>
          </a:p>
        </p:txBody>
      </p:sp>
      <p:sp>
        <p:nvSpPr>
          <p:cNvPr id="4" name="Slide Number Placeholder 3"/>
          <p:cNvSpPr>
            <a:spLocks noGrp="1"/>
          </p:cNvSpPr>
          <p:nvPr>
            <p:ph type="sldNum" sz="quarter" idx="5"/>
          </p:nvPr>
        </p:nvSpPr>
        <p:spPr/>
        <p:txBody>
          <a:bodyPr/>
          <a:lstStyle/>
          <a:p>
            <a:fld id="{F4BFF387-9D57-4C4A-857D-AC6507407006}" type="slidenum">
              <a:rPr lang="en-US" smtClean="0"/>
              <a:pPr/>
              <a:t>9</a:t>
            </a:fld>
            <a:endParaRPr lang="en-US" dirty="0"/>
          </a:p>
        </p:txBody>
      </p:sp>
    </p:spTree>
    <p:extLst>
      <p:ext uri="{BB962C8B-B14F-4D97-AF65-F5344CB8AC3E}">
        <p14:creationId xmlns:p14="http://schemas.microsoft.com/office/powerpoint/2010/main" val="3603298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14</a:t>
            </a:fld>
            <a:endParaRPr lang="en-US" dirty="0"/>
          </a:p>
        </p:txBody>
      </p:sp>
    </p:spTree>
    <p:extLst>
      <p:ext uri="{BB962C8B-B14F-4D97-AF65-F5344CB8AC3E}">
        <p14:creationId xmlns:p14="http://schemas.microsoft.com/office/powerpoint/2010/main" val="1085095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US" dirty="0"/>
              <a:t>My presentation notes:</a:t>
            </a:r>
          </a:p>
          <a:p>
            <a:pPr marL="0" marR="0" lvl="0" indent="0" algn="l" defTabSz="914400" rtl="0" eaLnBrk="1" fontAlgn="t"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You may have noticed the title </a:t>
            </a:r>
            <a:r>
              <a:rPr lang="en-US" sz="1200" b="0" i="0" kern="1200" dirty="0" err="1">
                <a:solidFill>
                  <a:schemeClr val="tx1"/>
                </a:solidFill>
                <a:effectLst/>
                <a:latin typeface="+mn-lt"/>
                <a:ea typeface="+mn-ea"/>
                <a:cs typeface="+mn-cs"/>
              </a:rPr>
              <a:t>says'Xyleme</a:t>
            </a:r>
            <a:r>
              <a:rPr lang="en-US" sz="1200" b="0" i="0" kern="1200" dirty="0">
                <a:solidFill>
                  <a:schemeClr val="tx1"/>
                </a:solidFill>
                <a:effectLst/>
                <a:latin typeface="+mn-lt"/>
                <a:ea typeface="+mn-ea"/>
                <a:cs typeface="+mn-cs"/>
              </a:rPr>
              <a:t> Update: Excitation ELT Complete.’ but now you see something else. That was intentional. Before diving into the details, I wanted to highlight some statistics: 39 courses migrated, 82 exams enabled, and 100% online exam delivery through Xyleme. Those numbers speak for themselves.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Let's take a moment to celebrate this milestone. We've successfully completed the migration of the entire Excitation ELT curriculum into Xyleme, giving us one global source of truth for our </a:t>
            </a:r>
            <a:r>
              <a:rPr lang="en-US" sz="1200" b="0" i="0" kern="1200" dirty="0" err="1">
                <a:solidFill>
                  <a:schemeClr val="tx1"/>
                </a:solidFill>
                <a:effectLst/>
                <a:latin typeface="+mn-lt"/>
                <a:ea typeface="+mn-ea"/>
                <a:cs typeface="+mn-cs"/>
              </a:rPr>
              <a:t>content.This</a:t>
            </a:r>
            <a:r>
              <a:rPr lang="en-US" sz="1200" b="0" i="0" kern="1200" dirty="0">
                <a:solidFill>
                  <a:schemeClr val="tx1"/>
                </a:solidFill>
                <a:effectLst/>
                <a:latin typeface="+mn-lt"/>
                <a:ea typeface="+mn-ea"/>
                <a:cs typeface="+mn-cs"/>
              </a:rPr>
              <a:t> was a true One Team effort, bringing together instructors, instructional designers, and training leadership. The result is content that is searchable, reusable, and standardized, allowing us to deliver a more consistent learning experience around the world. </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As we move forward, there is still work to do. Some existing materials will require cleanup before they can be transferred to the CT team for migration into Xyleme.</a:t>
            </a:r>
          </a:p>
          <a:p>
            <a:pPr fontAlgn="t"/>
            <a:r>
              <a:rPr lang="en-US" sz="1200" b="0" i="0" kern="1200" dirty="0">
                <a:solidFill>
                  <a:schemeClr val="tx1"/>
                </a:solidFill>
                <a:effectLst/>
                <a:latin typeface="+mn-lt"/>
                <a:ea typeface="+mn-ea"/>
                <a:cs typeface="+mn-cs"/>
              </a:rPr>
              <a:t>The good news is that Xyleme is a living resource. Content can be updated and improved over time, so we're not locked into static materials.</a:t>
            </a:r>
          </a:p>
          <a:p>
            <a:pPr fontAlgn="t"/>
            <a:endParaRPr lang="en-US" sz="1200" b="0" i="0" kern="1200" dirty="0">
              <a:solidFill>
                <a:schemeClr val="tx1"/>
              </a:solidFill>
              <a:effectLst/>
              <a:latin typeface="+mn-lt"/>
              <a:ea typeface="+mn-ea"/>
              <a:cs typeface="+mn-cs"/>
            </a:endParaRP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Your help is needed. Please upload content that you want to be transferred as IS to the designated Box folder and submit the Intake Request form. The same process applies for exam-only transfers using the Exams intake process.</a:t>
            </a:r>
          </a:p>
          <a:p>
            <a:pPr fontAlgn="t"/>
            <a:r>
              <a:rPr lang="en-US" sz="1200" b="0" i="0" kern="1200" dirty="0">
                <a:solidFill>
                  <a:schemeClr val="tx1"/>
                </a:solidFill>
                <a:effectLst/>
                <a:latin typeface="+mn-lt"/>
                <a:ea typeface="+mn-ea"/>
                <a:cs typeface="+mn-cs"/>
              </a:rPr>
              <a:t>Links are included.</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I'd also like to recognize the positive feedback from Julio who delivered the EELT course among others via Xyleme, and echo </a:t>
            </a:r>
            <a:r>
              <a:rPr lang="en-US" sz="1200" b="0" i="0" kern="1200" dirty="0" err="1">
                <a:solidFill>
                  <a:schemeClr val="tx1"/>
                </a:solidFill>
                <a:effectLst/>
                <a:latin typeface="+mn-lt"/>
                <a:ea typeface="+mn-ea"/>
                <a:cs typeface="+mn-cs"/>
              </a:rPr>
              <a:t>Cal’smessage</a:t>
            </a:r>
            <a:r>
              <a:rPr lang="en-US" sz="1200" b="0" i="0" kern="1200" dirty="0">
                <a:solidFill>
                  <a:schemeClr val="tx1"/>
                </a:solidFill>
                <a:effectLst/>
                <a:latin typeface="+mn-lt"/>
                <a:ea typeface="+mn-ea"/>
                <a:cs typeface="+mn-cs"/>
              </a:rPr>
              <a:t> that this is a major step forward in training standardization.</a:t>
            </a:r>
          </a:p>
          <a:p>
            <a:pPr fontAlgn="t"/>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Let’s see what Julio wants to share with us!</a:t>
            </a:r>
            <a:br>
              <a:rPr lang="en-US" sz="1200" b="0" i="0" kern="1200" dirty="0">
                <a:solidFill>
                  <a:schemeClr val="tx1"/>
                </a:solidFill>
                <a:effectLst/>
                <a:latin typeface="+mn-lt"/>
                <a:ea typeface="+mn-ea"/>
                <a:cs typeface="+mn-cs"/>
              </a:rPr>
            </a:br>
            <a:endParaRPr lang="en-US" sz="1200" b="0" i="0" kern="1200" dirty="0">
              <a:solidFill>
                <a:schemeClr val="tx1"/>
              </a:solidFill>
              <a:effectLst/>
              <a:latin typeface="+mn-lt"/>
              <a:ea typeface="+mn-ea"/>
              <a:cs typeface="+mn-cs"/>
            </a:endParaRPr>
          </a:p>
          <a:p>
            <a:pPr marL="0" marR="0" lvl="0" indent="0" algn="l" defTabSz="914400" rtl="0" eaLnBrk="1" fontAlgn="t" latinLnBrk="0" hangingPunct="1">
              <a:lnSpc>
                <a:spcPct val="100000"/>
              </a:lnSpc>
              <a:spcBef>
                <a:spcPts val="0"/>
              </a:spcBef>
              <a:spcAft>
                <a:spcPts val="0"/>
              </a:spcAft>
              <a:buClrTx/>
              <a:buSzTx/>
              <a:buFontTx/>
              <a:buNone/>
              <a:tabLst/>
              <a:defRPr/>
            </a:pPr>
            <a:r>
              <a:rPr lang="en-US" dirty="0"/>
              <a:t>Click the Link to the video</a:t>
            </a:r>
          </a:p>
          <a:p>
            <a:pPr fontAlgn="t"/>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A057A5A7-E8F4-44AA-A7AC-F683EA012BE4}" type="slidenum">
              <a:rPr lang="en-US" smtClean="0"/>
              <a:t>16</a:t>
            </a:fld>
            <a:endParaRPr lang="en-US"/>
          </a:p>
        </p:txBody>
      </p:sp>
    </p:spTree>
    <p:extLst>
      <p:ext uri="{BB962C8B-B14F-4D97-AF65-F5344CB8AC3E}">
        <p14:creationId xmlns:p14="http://schemas.microsoft.com/office/powerpoint/2010/main" val="20261939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Notes:</a:t>
            </a:r>
            <a:br>
              <a:rPr lang="en-CH" dirty="0"/>
            </a:br>
            <a:r>
              <a:rPr lang="en-CH" dirty="0"/>
              <a:t>All 3D GLB content is aligned to industrial standards and classifications enabling complex functionality with minimum computer processing power needed – mobile phones, tablets, AR glasses.</a:t>
            </a:r>
          </a:p>
          <a:p>
            <a:r>
              <a:rPr lang="en-CH" dirty="0"/>
              <a:t>All our standard publishing package files are now centralized ensuring simple maintenance and instant updates.</a:t>
            </a:r>
          </a:p>
          <a:p>
            <a:r>
              <a:rPr lang="en-CH" dirty="0"/>
              <a:t>Working Instructions and Guidelines for these standards have been completed.</a:t>
            </a:r>
          </a:p>
          <a:p>
            <a:endParaRPr lang="en-CH" dirty="0"/>
          </a:p>
          <a:p>
            <a:r>
              <a:rPr lang="en-CH" dirty="0"/>
              <a:t>D&amp;D News Letter...</a:t>
            </a:r>
            <a:br>
              <a:rPr lang="en-CH" dirty="0"/>
            </a:br>
            <a:r>
              <a:rPr lang="en-CH" dirty="0"/>
              <a:t>Waiting for some good model releases – we haven’t forgotten you.</a:t>
            </a:r>
            <a:br>
              <a:rPr lang="en-CH" dirty="0"/>
            </a:br>
            <a:r>
              <a:rPr lang="en-CH" dirty="0"/>
              <a:t>And AERO – we haven’t forgotten you too – traction is now picking up on the TM2500 and LM6000!</a:t>
            </a:r>
            <a:br>
              <a:rPr lang="en-CH" dirty="0"/>
            </a:br>
            <a:endParaRPr lang="en-GB" dirty="0"/>
          </a:p>
        </p:txBody>
      </p:sp>
      <p:sp>
        <p:nvSpPr>
          <p:cNvPr id="4" name="Slide Number Placeholder 3"/>
          <p:cNvSpPr>
            <a:spLocks noGrp="1"/>
          </p:cNvSpPr>
          <p:nvPr>
            <p:ph type="sldNum" sz="quarter" idx="5"/>
          </p:nvPr>
        </p:nvSpPr>
        <p:spPr/>
        <p:txBody>
          <a:bodyPr/>
          <a:lstStyle/>
          <a:p>
            <a:fld id="{F4BFF387-9D57-4C4A-857D-AC6507407006}" type="slidenum">
              <a:rPr lang="en-US" smtClean="0"/>
              <a:pPr/>
              <a:t>17</a:t>
            </a:fld>
            <a:endParaRPr lang="en-US" dirty="0"/>
          </a:p>
        </p:txBody>
      </p:sp>
    </p:spTree>
    <p:extLst>
      <p:ext uri="{BB962C8B-B14F-4D97-AF65-F5344CB8AC3E}">
        <p14:creationId xmlns:p14="http://schemas.microsoft.com/office/powerpoint/2010/main" val="27527181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bg>
      <p:bgPr>
        <a:solidFill>
          <a:srgbClr val="005E60"/>
        </a:solidFill>
        <a:effectLst/>
      </p:bgPr>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D752991F-DE20-9C56-71CE-00C693FCEC71}"/>
              </a:ext>
            </a:extLst>
          </p:cNvPr>
          <p:cNvPicPr>
            <a:picLocks noChangeAspect="1"/>
          </p:cNvPicPr>
          <p:nvPr userDrawn="1"/>
        </p:nvPicPr>
        <p:blipFill>
          <a:blip r:embed="rId2"/>
          <a:stretch>
            <a:fillRect/>
          </a:stretch>
        </p:blipFill>
        <p:spPr>
          <a:xfrm>
            <a:off x="268025"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506380"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C8FF08"/>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104121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596771" y="6492875"/>
            <a:ext cx="5397112" cy="365125"/>
          </a:xfrm>
        </p:spPr>
        <p:txBody>
          <a:bodyPr/>
          <a:lstStyle>
            <a:lvl1pPr>
              <a:defRPr>
                <a:solidFill>
                  <a:srgbClr val="FAFAFA"/>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596771" y="2481592"/>
            <a:ext cx="10706100" cy="1861808"/>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596771"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10" name="Picture 9" descr="Text&#10;&#10;Description automatically generated">
            <a:extLst>
              <a:ext uri="{FF2B5EF4-FFF2-40B4-BE49-F238E27FC236}">
                <a16:creationId xmlns:a16="http://schemas.microsoft.com/office/drawing/2014/main" id="{404FB6B5-AF11-DEA2-266C-D4A71FA4E0A7}"/>
              </a:ext>
            </a:extLst>
          </p:cNvPr>
          <p:cNvPicPr>
            <a:picLocks noChangeAspect="1"/>
          </p:cNvPicPr>
          <p:nvPr userDrawn="1"/>
        </p:nvPicPr>
        <p:blipFill>
          <a:blip r:embed="rId2"/>
          <a:stretch>
            <a:fillRect/>
          </a:stretch>
        </p:blipFill>
        <p:spPr>
          <a:xfrm>
            <a:off x="268025" y="272267"/>
            <a:ext cx="2606040" cy="814067"/>
          </a:xfrm>
          <a:prstGeom prst="rect">
            <a:avLst/>
          </a:prstGeom>
        </p:spPr>
      </p:pic>
      <p:cxnSp>
        <p:nvCxnSpPr>
          <p:cNvPr id="4" name="Straight Connector 3">
            <a:extLst>
              <a:ext uri="{FF2B5EF4-FFF2-40B4-BE49-F238E27FC236}">
                <a16:creationId xmlns:a16="http://schemas.microsoft.com/office/drawing/2014/main" id="{7CEC064B-505B-2B8A-CC1B-FFEE37B6694E}"/>
              </a:ext>
            </a:extLst>
          </p:cNvPr>
          <p:cNvCxnSpPr>
            <a:cxnSpLocks/>
          </p:cNvCxnSpPr>
          <p:nvPr userDrawn="1"/>
        </p:nvCxnSpPr>
        <p:spPr>
          <a:xfrm>
            <a:off x="444366" y="2444249"/>
            <a:ext cx="0" cy="447992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31907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3" orient="horz" pos="273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3 Light Photo Background">
    <p:bg>
      <p:bgPr>
        <a:solidFill>
          <a:schemeClr val="tx1"/>
        </a:solidFill>
        <a:effectLst/>
      </p:bgPr>
    </p:bg>
    <p:spTree>
      <p:nvGrpSpPr>
        <p:cNvPr id="1" name=""/>
        <p:cNvGrpSpPr/>
        <p:nvPr/>
      </p:nvGrpSpPr>
      <p:grpSpPr>
        <a:xfrm>
          <a:off x="0" y="0"/>
          <a:ext cx="0" cy="0"/>
          <a:chOff x="0" y="0"/>
          <a:chExt cx="0" cy="0"/>
        </a:xfrm>
      </p:grpSpPr>
      <p:pic>
        <p:nvPicPr>
          <p:cNvPr id="6" name="Picture 5" descr="Text&#10;&#10;Description automatically generated">
            <a:extLst>
              <a:ext uri="{FF2B5EF4-FFF2-40B4-BE49-F238E27FC236}">
                <a16:creationId xmlns:a16="http://schemas.microsoft.com/office/drawing/2014/main" id="{D9E1DC37-7617-9EED-CD74-B8909A49A546}"/>
              </a:ext>
            </a:extLst>
          </p:cNvPr>
          <p:cNvPicPr>
            <a:picLocks noChangeAspect="1"/>
          </p:cNvPicPr>
          <p:nvPr userDrawn="1"/>
        </p:nvPicPr>
        <p:blipFill>
          <a:blip r:embed="rId2"/>
          <a:stretch>
            <a:fillRect/>
          </a:stretch>
        </p:blipFill>
        <p:spPr>
          <a:xfrm>
            <a:off x="279519" y="272267"/>
            <a:ext cx="2606040" cy="814067"/>
          </a:xfrm>
          <a:prstGeom prst="rect">
            <a:avLst/>
          </a:prstGeom>
        </p:spPr>
      </p:pic>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431618" cy="365125"/>
          </a:xfrm>
        </p:spPr>
        <p:txBody>
          <a:bodyPr/>
          <a:lstStyle>
            <a:lvl1pPr>
              <a:defRPr>
                <a:solidFill>
                  <a:srgbClr val="21212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rgbClr val="005E60"/>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rgbClr val="21212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21049648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4 Dark Photo Background">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54370033-E5A1-7B48-AE34-D9C6694ED55E}"/>
              </a:ext>
            </a:extLst>
          </p:cNvPr>
          <p:cNvSpPr>
            <a:spLocks noGrp="1"/>
          </p:cNvSpPr>
          <p:nvPr>
            <p:ph type="ftr" sz="quarter" idx="11"/>
          </p:nvPr>
        </p:nvSpPr>
        <p:spPr>
          <a:xfrm>
            <a:off x="419100" y="6492875"/>
            <a:ext cx="5345354" cy="365125"/>
          </a:xfrm>
        </p:spPr>
        <p:txBody>
          <a:bodyPr/>
          <a:lstStyle>
            <a:lvl1pPr>
              <a:defRPr>
                <a:solidFill>
                  <a:schemeClr val="tx1"/>
                </a:solidFill>
              </a:defRPr>
            </a:lvl1pPr>
          </a:lstStyle>
          <a:p>
            <a:r>
              <a:rPr lang="en-US" dirty="0"/>
              <a:t>© 2023 GE Vernova and/or its affiliates. All rights reserved.</a:t>
            </a:r>
          </a:p>
        </p:txBody>
      </p:sp>
      <p:sp>
        <p:nvSpPr>
          <p:cNvPr id="2" name="Title 1">
            <a:extLst>
              <a:ext uri="{FF2B5EF4-FFF2-40B4-BE49-F238E27FC236}">
                <a16:creationId xmlns:a16="http://schemas.microsoft.com/office/drawing/2014/main" id="{9A14E021-5666-C143-A40F-6113F80F8FE3}"/>
              </a:ext>
            </a:extLst>
          </p:cNvPr>
          <p:cNvSpPr>
            <a:spLocks noGrp="1"/>
          </p:cNvSpPr>
          <p:nvPr>
            <p:ph type="ctrTitle" hasCustomPrompt="1"/>
          </p:nvPr>
        </p:nvSpPr>
        <p:spPr>
          <a:xfrm>
            <a:off x="419100" y="2378075"/>
            <a:ext cx="10706100" cy="1965325"/>
          </a:xfrm>
        </p:spPr>
        <p:txBody>
          <a:bodyPr anchor="t" anchorCtr="0"/>
          <a:lstStyle>
            <a:lvl1pPr algn="l">
              <a:lnSpc>
                <a:spcPts val="6500"/>
              </a:lnSpc>
              <a:defRPr sz="7200" cap="all" baseline="0">
                <a:solidFill>
                  <a:schemeClr val="tx1"/>
                </a:solidFill>
                <a:latin typeface="Sons Condensed Extrabold" panose="02060906060206060203" pitchFamily="18" charset="0"/>
              </a:defRPr>
            </a:lvl1pPr>
          </a:lstStyle>
          <a:p>
            <a:r>
              <a:rPr lang="en-US" dirty="0"/>
              <a:t>CLICK HERE TO EDIT MASTER TITLE STYLE</a:t>
            </a:r>
          </a:p>
        </p:txBody>
      </p:sp>
      <p:sp>
        <p:nvSpPr>
          <p:cNvPr id="3" name="Subtitle 2">
            <a:extLst>
              <a:ext uri="{FF2B5EF4-FFF2-40B4-BE49-F238E27FC236}">
                <a16:creationId xmlns:a16="http://schemas.microsoft.com/office/drawing/2014/main" id="{2A2F35A6-FF25-0745-8AB1-FA8EE7D66779}"/>
              </a:ext>
            </a:extLst>
          </p:cNvPr>
          <p:cNvSpPr>
            <a:spLocks noGrp="1"/>
          </p:cNvSpPr>
          <p:nvPr>
            <p:ph type="subTitle" idx="1"/>
          </p:nvPr>
        </p:nvSpPr>
        <p:spPr>
          <a:xfrm>
            <a:off x="419100" y="4343399"/>
            <a:ext cx="10706100" cy="974725"/>
          </a:xfrm>
        </p:spPr>
        <p:txBody>
          <a:bodyPr>
            <a:noAutofit/>
          </a:bodyPr>
          <a:lstStyle>
            <a:lvl1pPr marL="0" indent="0" algn="l">
              <a:spcAft>
                <a:spcPts val="400"/>
              </a:spcAft>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descr="Text&#10;&#10;Description automatically generated">
            <a:extLst>
              <a:ext uri="{FF2B5EF4-FFF2-40B4-BE49-F238E27FC236}">
                <a16:creationId xmlns:a16="http://schemas.microsoft.com/office/drawing/2014/main" id="{FD57314C-3D95-C279-F04B-2D532302ED36}"/>
              </a:ext>
            </a:extLst>
          </p:cNvPr>
          <p:cNvPicPr>
            <a:picLocks noChangeAspect="1"/>
          </p:cNvPicPr>
          <p:nvPr userDrawn="1"/>
        </p:nvPicPr>
        <p:blipFill>
          <a:blip r:embed="rId2"/>
          <a:stretch>
            <a:fillRect/>
          </a:stretch>
        </p:blipFill>
        <p:spPr>
          <a:xfrm>
            <a:off x="259641" y="272267"/>
            <a:ext cx="2606040" cy="814067"/>
          </a:xfrm>
          <a:prstGeom prst="rect">
            <a:avLst/>
          </a:prstGeom>
        </p:spPr>
      </p:pic>
    </p:spTree>
    <p:extLst>
      <p:ext uri="{BB962C8B-B14F-4D97-AF65-F5344CB8AC3E}">
        <p14:creationId xmlns:p14="http://schemas.microsoft.com/office/powerpoint/2010/main" val="3701466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3" orient="horz" pos="27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Heading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5ABF6-8160-8240-8064-B96381D0190E}"/>
              </a:ext>
            </a:extLst>
          </p:cNvPr>
          <p:cNvSpPr>
            <a:spLocks noGrp="1"/>
          </p:cNvSpPr>
          <p:nvPr>
            <p:ph type="title"/>
          </p:nvPr>
        </p:nvSpPr>
        <p:spPr>
          <a:xfrm>
            <a:off x="419100" y="419101"/>
            <a:ext cx="9578915" cy="457020"/>
          </a:xfrm>
        </p:spPr>
        <p:txBody>
          <a:bodyPr/>
          <a:lstStyle>
            <a:lvl1pPr>
              <a:defRPr>
                <a:solidFill>
                  <a:schemeClr val="tx1"/>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D981922-7652-D74D-9BCA-4EBCFEFB0217}"/>
              </a:ext>
            </a:extLst>
          </p:cNvPr>
          <p:cNvSpPr>
            <a:spLocks noGrp="1"/>
          </p:cNvSpPr>
          <p:nvPr>
            <p:ph type="ftr" sz="quarter" idx="11"/>
          </p:nvPr>
        </p:nvSpPr>
        <p:spPr/>
        <p:txBody>
          <a:bodyPr/>
          <a:lstStyle/>
          <a:p>
            <a:r>
              <a:rPr lang="en-US" dirty="0"/>
              <a:t>© 2023 GE Vernova and/or its affiliates. All rights reserved.</a:t>
            </a:r>
          </a:p>
        </p:txBody>
      </p:sp>
      <p:sp>
        <p:nvSpPr>
          <p:cNvPr id="5" name="Slide Number Placeholder 4">
            <a:extLst>
              <a:ext uri="{FF2B5EF4-FFF2-40B4-BE49-F238E27FC236}">
                <a16:creationId xmlns:a16="http://schemas.microsoft.com/office/drawing/2014/main" id="{7C6A052B-6959-D543-893E-8089B7EFDAA8}"/>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27CC28C8-137F-49C5-0CB3-B14B3F589E4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4176268"/>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099" y="419101"/>
            <a:ext cx="9622047"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p:txBody>
          <a:bodyPr/>
          <a:lstStyle>
            <a:lvl1pPr>
              <a:defRPr>
                <a:solidFill>
                  <a:srgbClr val="212121"/>
                </a:solidFill>
              </a:defRPr>
            </a:lvl1pPr>
            <a:lvl2pPr marL="285750" indent="-285750">
              <a:buFont typeface="Arial" panose="020B0604020202020204" pitchFamily="34" charset="0"/>
              <a:buChar char="•"/>
              <a:defRPr>
                <a:solidFill>
                  <a:srgbClr val="212121"/>
                </a:solidFill>
              </a:defRPr>
            </a:lvl2pPr>
            <a:lvl3pPr marL="517525" indent="-228600">
              <a:defRPr>
                <a:solidFill>
                  <a:srgbClr val="212121"/>
                </a:solidFill>
              </a:defRPr>
            </a:lvl3pPr>
            <a:lvl4pPr marL="685800" indent="-228600">
              <a:defRPr>
                <a:solidFill>
                  <a:srgbClr val="212121"/>
                </a:solidFill>
              </a:defRPr>
            </a:lvl4pPr>
            <a:lvl5pPr marL="914400" indent="-228600">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40C80CBD-F9C2-7B04-2F2E-A2E50A534F5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886635505"/>
      </p:ext>
    </p:extLst>
  </p:cSld>
  <p:clrMapOvr>
    <a:masterClrMapping/>
  </p:clrMapOvr>
  <p:extLst>
    <p:ext uri="{DCECCB84-F9BA-43D5-87BE-67443E8EF086}">
      <p15:sldGuideLst xmlns:p15="http://schemas.microsoft.com/office/powerpoint/2012/main">
        <p15:guide id="1" orient="horz" pos="8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1" name="Text Placeholder 10">
            <a:extLst>
              <a:ext uri="{FF2B5EF4-FFF2-40B4-BE49-F238E27FC236}">
                <a16:creationId xmlns:a16="http://schemas.microsoft.com/office/drawing/2014/main" id="{FBB168A5-C2D7-FC4B-8832-1F289E900E7C}"/>
              </a:ext>
            </a:extLst>
          </p:cNvPr>
          <p:cNvSpPr>
            <a:spLocks noGrp="1"/>
          </p:cNvSpPr>
          <p:nvPr>
            <p:ph type="body" sz="quarter" idx="13"/>
          </p:nvPr>
        </p:nvSpPr>
        <p:spPr>
          <a:xfrm>
            <a:off x="419100" y="889824"/>
            <a:ext cx="11353800" cy="513526"/>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0"/>
            <a:ext cx="11353800" cy="4114800"/>
          </a:xfrm>
        </p:spPr>
        <p:txBody>
          <a:bodyPr/>
          <a:lstStyle>
            <a:lvl1pPr>
              <a:defRPr b="0">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568E85E5-0FFC-6287-3929-5E229826C13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04126460"/>
      </p:ext>
    </p:extLst>
  </p:cSld>
  <p:clrMapOvr>
    <a:masterClrMapping/>
  </p:clrMapOvr>
  <p:extLst>
    <p:ext uri="{DCECCB84-F9BA-43D5-87BE-67443E8EF086}">
      <p15:sldGuideLst xmlns:p15="http://schemas.microsoft.com/office/powerpoint/2012/main">
        <p15:guide id="1" orient="horz" pos="1320" userDrawn="1">
          <p15:clr>
            <a:srgbClr val="FBAE40"/>
          </p15:clr>
        </p15:guide>
        <p15:guide id="2" orient="horz" pos="69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2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04794"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B906FF28-9E6E-FCE7-887B-D290AB8F5D7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72142078"/>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D6DDDB0A-C694-6D4F-95F6-714A8D0B4F22}"/>
              </a:ext>
            </a:extLst>
          </p:cNvPr>
          <p:cNvSpPr>
            <a:spLocks noGrp="1"/>
          </p:cNvSpPr>
          <p:nvPr>
            <p:ph type="body" sz="quarter" idx="14"/>
          </p:nvPr>
        </p:nvSpPr>
        <p:spPr>
          <a:xfrm>
            <a:off x="419099"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8D926142-7B75-6D42-854B-61C11884F2E4}"/>
              </a:ext>
            </a:extLst>
          </p:cNvPr>
          <p:cNvSpPr>
            <a:spLocks noGrp="1"/>
          </p:cNvSpPr>
          <p:nvPr>
            <p:ph type="body" sz="quarter" idx="15"/>
          </p:nvPr>
        </p:nvSpPr>
        <p:spPr>
          <a:xfrm>
            <a:off x="6096000" y="1403350"/>
            <a:ext cx="5394960"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5394960"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2095501"/>
            <a:ext cx="5394960"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2F437117-8BD0-3579-70B3-FCB0F41D60C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562102217"/>
      </p:ext>
    </p:extLst>
  </p:cSld>
  <p:clrMapOvr>
    <a:masterClrMapping/>
  </p:clrMapOvr>
  <p:extLst>
    <p:ext uri="{DCECCB84-F9BA-43D5-87BE-67443E8EF086}">
      <p15:sldGuideLst xmlns:p15="http://schemas.microsoft.com/office/powerpoint/2012/main">
        <p15:guide id="1" orient="horz" pos="1320" userDrawn="1">
          <p15:clr>
            <a:srgbClr val="FBAE40"/>
          </p15:clr>
        </p15:guide>
        <p15:guide id="2" pos="3840" userDrawn="1">
          <p15:clr>
            <a:srgbClr val="FBAE40"/>
          </p15:clr>
        </p15:guide>
        <p15:guide id="3" orient="horz" pos="88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 Asy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2"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1450" indent="-171450">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F4792C0-9FE2-4931-3650-4B59AD3104E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9946922"/>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 Asymetrical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7290905"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56ABEBD3-24BE-15F7-DEF9-9F5230BECA90}"/>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18048575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Asymmetrical 2">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44409"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E22151AB-5731-BAC5-7B55-0CB75965C41C}"/>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290989164"/>
      </p:ext>
    </p:extLst>
  </p:cSld>
  <p:clrMapOvr>
    <a:masterClrMapping/>
  </p:clrMapOvr>
  <p:extLst>
    <p:ext uri="{DCECCB84-F9BA-43D5-87BE-67443E8EF086}">
      <p15:sldGuideLst xmlns:p15="http://schemas.microsoft.com/office/powerpoint/2012/main">
        <p15:guide id="2" pos="5030">
          <p15:clr>
            <a:srgbClr val="FBAE40"/>
          </p15:clr>
        </p15:guide>
        <p15:guide id="3" orient="horz" pos="88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 Asymmetrical 2 - Bar">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6" cy="457020"/>
          </a:xfrm>
        </p:spPr>
        <p:txBody>
          <a:bodyPr/>
          <a:lstStyle>
            <a:lvl1pPr>
              <a:defRPr>
                <a:solidFill>
                  <a:srgbClr val="005E60"/>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02C79C54-276E-80B9-1B8A-4B6BBAC71B29}"/>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7BBA13F7-1863-C7F2-A83F-768EA305A30E}"/>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743160294"/>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3-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78915"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404E15B6-0BA0-84E6-A568-FC29C85E61F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364173188"/>
      </p:ext>
    </p:extLst>
  </p:cSld>
  <p:clrMapOvr>
    <a:masterClrMapping/>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3-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1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4404"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33408C86-D3E9-F3C1-4977-859065B75513}"/>
              </a:ext>
            </a:extLst>
          </p:cNvPr>
          <p:cNvCxnSpPr>
            <a:cxnSpLocks/>
          </p:cNvCxnSpPr>
          <p:nvPr userDrawn="1"/>
        </p:nvCxnSpPr>
        <p:spPr>
          <a:xfrm>
            <a:off x="4062828"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2DC5277-B38B-BFA5-234F-37E859463D25}"/>
              </a:ext>
            </a:extLst>
          </p:cNvPr>
          <p:cNvCxnSpPr>
            <a:cxnSpLocks/>
          </p:cNvCxnSpPr>
          <p:nvPr userDrawn="1"/>
        </p:nvCxnSpPr>
        <p:spPr>
          <a:xfrm>
            <a:off x="7848132"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0" name="Picture 9" descr="Text&#10;&#10;Description automatically generated">
            <a:extLst>
              <a:ext uri="{FF2B5EF4-FFF2-40B4-BE49-F238E27FC236}">
                <a16:creationId xmlns:a16="http://schemas.microsoft.com/office/drawing/2014/main" id="{6F06206D-1B55-79AD-7D01-D0EB3C4108C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821405647"/>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4 Column">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5CB7DF46-A9CC-4BD9-D472-6BF977C64294}"/>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62642070"/>
      </p:ext>
    </p:extLst>
  </p:cSld>
  <p:clrMapOvr>
    <a:masterClrMapping/>
  </p:clrMapOvr>
  <p:extLst>
    <p:ext uri="{DCECCB84-F9BA-43D5-87BE-67443E8EF086}">
      <p15:sldGuideLst xmlns:p15="http://schemas.microsoft.com/office/powerpoint/2012/main">
        <p15:guide id="1" pos="2056">
          <p15:clr>
            <a:srgbClr val="FBAE40"/>
          </p15:clr>
        </p15:guide>
        <p15:guide id="2" pos="5628">
          <p15:clr>
            <a:srgbClr val="FBAE40"/>
          </p15:clr>
        </p15:guide>
        <p15:guide id="3" pos="3840">
          <p15:clr>
            <a:srgbClr val="FBAE40"/>
          </p15:clr>
        </p15:guide>
        <p15:guide id="4" orient="horz" pos="8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4 Column - Ba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87540"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57549" y="1403349"/>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5999"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71E6CAA3-D2BE-B7A9-9C26-22C4F1F5EDDD}"/>
              </a:ext>
            </a:extLst>
          </p:cNvPr>
          <p:cNvCxnSpPr>
            <a:cxnSpLocks/>
          </p:cNvCxnSpPr>
          <p:nvPr userDrawn="1"/>
        </p:nvCxnSpPr>
        <p:spPr>
          <a:xfrm>
            <a:off x="3123056" y="1402915"/>
            <a:ext cx="0" cy="2432238"/>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865847-B1DD-F900-9C6C-8E3E630784E8}"/>
              </a:ext>
            </a:extLst>
          </p:cNvPr>
          <p:cNvCxnSpPr>
            <a:cxnSpLocks/>
          </p:cNvCxnSpPr>
          <p:nvPr userDrawn="1"/>
        </p:nvCxnSpPr>
        <p:spPr>
          <a:xfrm>
            <a:off x="5961506" y="1402915"/>
            <a:ext cx="0" cy="2432238"/>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BCFFAC-C9D0-7B24-E424-D791DC86FA9A}"/>
              </a:ext>
            </a:extLst>
          </p:cNvPr>
          <p:cNvCxnSpPr>
            <a:cxnSpLocks/>
          </p:cNvCxnSpPr>
          <p:nvPr userDrawn="1"/>
        </p:nvCxnSpPr>
        <p:spPr>
          <a:xfrm>
            <a:off x="8799956" y="1402915"/>
            <a:ext cx="0" cy="2432238"/>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12" name="Picture 11" descr="Text&#10;&#10;Description automatically generated">
            <a:extLst>
              <a:ext uri="{FF2B5EF4-FFF2-40B4-BE49-F238E27FC236}">
                <a16:creationId xmlns:a16="http://schemas.microsoft.com/office/drawing/2014/main" id="{F179F5EF-F643-19DD-3442-114B11F58335}"/>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66450991"/>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3 and 1/3-Column Subtitl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466769" cy="457020"/>
          </a:xfrm>
        </p:spPr>
        <p:txBody>
          <a:bodyPr/>
          <a:lstStyle>
            <a:lvl1pPr>
              <a:defRPr>
                <a:solidFill>
                  <a:srgbClr val="005E60"/>
                </a:solidFill>
              </a:defRPr>
            </a:lvl1pPr>
          </a:lstStyle>
          <a:p>
            <a:r>
              <a:rPr lang="en-US"/>
              <a:t>Click to edit Master title style</a:t>
            </a:r>
            <a:endParaRPr lang="en-US" dirty="0"/>
          </a:p>
        </p:txBody>
      </p:sp>
      <p:sp>
        <p:nvSpPr>
          <p:cNvPr id="10" name="Text Placeholder 10">
            <a:extLst>
              <a:ext uri="{FF2B5EF4-FFF2-40B4-BE49-F238E27FC236}">
                <a16:creationId xmlns:a16="http://schemas.microsoft.com/office/drawing/2014/main" id="{6A24B364-E635-8148-9DBE-C364F1D3BC53}"/>
              </a:ext>
            </a:extLst>
          </p:cNvPr>
          <p:cNvSpPr>
            <a:spLocks noGrp="1"/>
          </p:cNvSpPr>
          <p:nvPr>
            <p:ph type="body" sz="quarter" idx="13"/>
          </p:nvPr>
        </p:nvSpPr>
        <p:spPr>
          <a:xfrm>
            <a:off x="419099" y="1403350"/>
            <a:ext cx="7296912" cy="692150"/>
          </a:xfrm>
        </p:spPr>
        <p:txBody>
          <a:bodyPr/>
          <a:lstStyle>
            <a:lvl1pPr>
              <a:spcAft>
                <a:spcPts val="0"/>
              </a:spcAft>
              <a:defRPr b="1">
                <a:solidFill>
                  <a:srgbClr val="212121"/>
                </a:solidFill>
              </a:defRPr>
            </a:lvl1pPr>
          </a:lstStyle>
          <a:p>
            <a:pPr lvl="0"/>
            <a:r>
              <a:rPr lang="en-US"/>
              <a:t>Click to edit Master text styles</a:t>
            </a:r>
          </a:p>
        </p:txBody>
      </p:sp>
      <p:sp>
        <p:nvSpPr>
          <p:cNvPr id="11" name="Text Placeholder 10">
            <a:extLst>
              <a:ext uri="{FF2B5EF4-FFF2-40B4-BE49-F238E27FC236}">
                <a16:creationId xmlns:a16="http://schemas.microsoft.com/office/drawing/2014/main" id="{F265EA83-2EC6-BE4F-96E1-74D20B473B4D}"/>
              </a:ext>
            </a:extLst>
          </p:cNvPr>
          <p:cNvSpPr>
            <a:spLocks noGrp="1"/>
          </p:cNvSpPr>
          <p:nvPr>
            <p:ph type="body" sz="quarter" idx="15"/>
          </p:nvPr>
        </p:nvSpPr>
        <p:spPr>
          <a:xfrm>
            <a:off x="8000999" y="1403350"/>
            <a:ext cx="3787133"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2095501"/>
            <a:ext cx="7296912" cy="4114799"/>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8000997" y="2095501"/>
            <a:ext cx="3771899" cy="4114800"/>
          </a:xfrm>
        </p:spPr>
        <p:txBody>
          <a:bodyPr/>
          <a:lstStyle>
            <a:lvl1pPr>
              <a:defRPr>
                <a:solidFill>
                  <a:srgbClr val="212121"/>
                </a:solidFill>
              </a:defRPr>
            </a:lvl1pPr>
            <a:lvl2pPr marL="174625" indent="-174625">
              <a:buFont typeface="Arial" panose="020B0604020202020204" pitchFamily="34" charset="0"/>
              <a:buChar char="•"/>
              <a:defRPr>
                <a:solidFill>
                  <a:srgbClr val="212121"/>
                </a:solidFill>
              </a:defRPr>
            </a:lvl2pPr>
            <a:lvl3pPr>
              <a:defRPr>
                <a:solidFill>
                  <a:srgbClr val="212121"/>
                </a:solidFill>
              </a:defRPr>
            </a:lvl3pPr>
            <a:lvl4pP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cxnSp>
        <p:nvCxnSpPr>
          <p:cNvPr id="4" name="Straight Connector 3">
            <a:extLst>
              <a:ext uri="{FF2B5EF4-FFF2-40B4-BE49-F238E27FC236}">
                <a16:creationId xmlns:a16="http://schemas.microsoft.com/office/drawing/2014/main" id="{1A5C9CC5-B8DE-1A0B-AEAF-078158CE873D}"/>
              </a:ext>
            </a:extLst>
          </p:cNvPr>
          <p:cNvCxnSpPr>
            <a:cxnSpLocks/>
          </p:cNvCxnSpPr>
          <p:nvPr userDrawn="1"/>
        </p:nvCxnSpPr>
        <p:spPr>
          <a:xfrm>
            <a:off x="785089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pic>
        <p:nvPicPr>
          <p:cNvPr id="7" name="Picture 6" descr="Text&#10;&#10;Description automatically generated">
            <a:extLst>
              <a:ext uri="{FF2B5EF4-FFF2-40B4-BE49-F238E27FC236}">
                <a16:creationId xmlns:a16="http://schemas.microsoft.com/office/drawing/2014/main" id="{C287820B-9605-1150-C001-4792D5A7E407}"/>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4106879767"/>
      </p:ext>
    </p:extLst>
  </p:cSld>
  <p:clrMapOvr>
    <a:masterClrMapping/>
  </p:clrMapOvr>
  <p:extLst>
    <p:ext uri="{DCECCB84-F9BA-43D5-87BE-67443E8EF086}">
      <p15:sldGuideLst xmlns:p15="http://schemas.microsoft.com/office/powerpoint/2012/main">
        <p15:guide id="2" pos="504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1-Column Photo Backgroun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3C0532-DBFF-2022-5F35-01DC75E41C0E}"/>
              </a:ext>
            </a:extLst>
          </p:cNvPr>
          <p:cNvSpPr/>
          <p:nvPr userDrawn="1"/>
        </p:nvSpPr>
        <p:spPr>
          <a:xfrm>
            <a:off x="0" y="1402915"/>
            <a:ext cx="121920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13421"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353800" cy="4806951"/>
          </a:xfrm>
          <a:noFill/>
        </p:spPr>
        <p:txBody>
          <a:bodyPr lIns="0" tIns="182880" rIns="0" bIns="0">
            <a:noAutofit/>
          </a:bodyPr>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rgbClr val="C8FF08"/>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8" name="Picture 7" descr="Text&#10;&#10;Description automatically generated">
            <a:extLst>
              <a:ext uri="{FF2B5EF4-FFF2-40B4-BE49-F238E27FC236}">
                <a16:creationId xmlns:a16="http://schemas.microsoft.com/office/drawing/2014/main" id="{DCECCD58-6B53-F6DC-FD8A-F86F07E65273}"/>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0866178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110718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257206721"/>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1_2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77323" cy="4570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394960" cy="4806951"/>
          </a:xfrm>
          <a:solidFill>
            <a:srgbClr val="E3E3E3"/>
          </a:solidFill>
        </p:spPr>
        <p:txBody>
          <a:bodyPr lIns="182880" tIns="182880" rIns="182880" bIns="182880"/>
          <a:lstStyle>
            <a:lvl2pPr marL="174625" indent="-174625">
              <a:buClr>
                <a:schemeClr val="tx2"/>
              </a:buClr>
              <a:buFont typeface="Arial" panose="020B0604020202020204" pitchFamily="34" charset="0"/>
              <a:buChar char="•"/>
              <a:defRPr/>
            </a:lvl2pPr>
            <a:lvl3pPr>
              <a:buClr>
                <a:schemeClr val="tx2"/>
              </a:buClr>
              <a:defRPr/>
            </a:lvl3pPr>
            <a:lvl4pPr>
              <a:buClr>
                <a:schemeClr val="tx2"/>
              </a:buClr>
              <a:defRPr/>
            </a:lvl4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pic>
        <p:nvPicPr>
          <p:cNvPr id="4" name="Picture 3" descr="Text&#10;&#10;Description automatically generated">
            <a:extLst>
              <a:ext uri="{FF2B5EF4-FFF2-40B4-BE49-F238E27FC236}">
                <a16:creationId xmlns:a16="http://schemas.microsoft.com/office/drawing/2014/main" id="{2C2A4A3E-D4B8-672E-E828-A2571A7B04D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739847199"/>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3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682432"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50"/>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4206539"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1"/>
            <a:ext cx="3502152" cy="4806950"/>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6EE8FD0A-8C5E-E7DE-4656-7844FF43109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81804034"/>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88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4 Column Boxe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3263899" y="1403349"/>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D1F40F60-BBD9-9E4F-84D2-0B668EDB1695}"/>
              </a:ext>
            </a:extLst>
          </p:cNvPr>
          <p:cNvSpPr>
            <a:spLocks noGrp="1"/>
          </p:cNvSpPr>
          <p:nvPr>
            <p:ph idx="14" hasCustomPrompt="1"/>
          </p:nvPr>
        </p:nvSpPr>
        <p:spPr>
          <a:xfrm>
            <a:off x="609600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9" name="Content Placeholder 2">
            <a:extLst>
              <a:ext uri="{FF2B5EF4-FFF2-40B4-BE49-F238E27FC236}">
                <a16:creationId xmlns:a16="http://schemas.microsoft.com/office/drawing/2014/main" id="{3AA94E17-ACE2-234E-94FB-6DBEE6BAF77B}"/>
              </a:ext>
            </a:extLst>
          </p:cNvPr>
          <p:cNvSpPr>
            <a:spLocks noGrp="1"/>
          </p:cNvSpPr>
          <p:nvPr>
            <p:ph idx="15" hasCustomPrompt="1"/>
          </p:nvPr>
        </p:nvSpPr>
        <p:spPr>
          <a:xfrm>
            <a:off x="8934450" y="1403350"/>
            <a:ext cx="2569464"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A126E61B-5B00-C74E-A14F-005A2D3E23E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1758873889"/>
      </p:ext>
    </p:extLst>
  </p:cSld>
  <p:clrMapOvr>
    <a:masterClrMapping/>
  </p:clrMapOvr>
  <p:extLst>
    <p:ext uri="{DCECCB84-F9BA-43D5-87BE-67443E8EF086}">
      <p15:sldGuideLst xmlns:p15="http://schemas.microsoft.com/office/powerpoint/2012/main">
        <p15:guide id="1" pos="2056" userDrawn="1">
          <p15:clr>
            <a:srgbClr val="FBAE40"/>
          </p15:clr>
        </p15:guide>
        <p15:guide id="2" pos="5628" userDrawn="1">
          <p15:clr>
            <a:srgbClr val="FBAE40"/>
          </p15:clr>
        </p15:guide>
        <p15:guide id="3" pos="3840" userDrawn="1">
          <p15:clr>
            <a:srgbClr val="FBAE40"/>
          </p15:clr>
        </p15:guide>
        <p15:guide id="4" orient="horz" pos="88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 Boxed Asymmetrical">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89076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099" y="1403349"/>
            <a:ext cx="7292975"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8" name="Content Placeholder 2">
            <a:extLst>
              <a:ext uri="{FF2B5EF4-FFF2-40B4-BE49-F238E27FC236}">
                <a16:creationId xmlns:a16="http://schemas.microsoft.com/office/drawing/2014/main" id="{5C934C23-704D-AE40-866D-BF6B0DCFEA7C}"/>
              </a:ext>
            </a:extLst>
          </p:cNvPr>
          <p:cNvSpPr>
            <a:spLocks noGrp="1"/>
          </p:cNvSpPr>
          <p:nvPr>
            <p:ph idx="14" hasCustomPrompt="1"/>
          </p:nvPr>
        </p:nvSpPr>
        <p:spPr>
          <a:xfrm>
            <a:off x="7989707" y="1403350"/>
            <a:ext cx="3502152" cy="4806951"/>
          </a:xfrm>
          <a:solidFill>
            <a:srgbClr val="E3E3E3"/>
          </a:solidFill>
        </p:spPr>
        <p:txBody>
          <a:bodyPr lIns="182880" tIns="182880" rIns="182880" bIns="182880"/>
          <a:lstStyle>
            <a:lvl2pPr marL="174625" indent="-174625">
              <a:buClrTx/>
              <a:buFont typeface="Arial" panose="020B0604020202020204" pitchFamily="34" charset="0"/>
              <a:buChar char="•"/>
              <a:defRPr/>
            </a:lvl2pPr>
            <a:lvl3pPr>
              <a:buClrTx/>
              <a:defRPr/>
            </a:lvl3pPr>
            <a:lvl4pPr>
              <a:buClrTx/>
              <a:defRPr/>
            </a:lvl4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4" name="Picture 3" descr="Text&#10;&#10;Description automatically generated">
            <a:extLst>
              <a:ext uri="{FF2B5EF4-FFF2-40B4-BE49-F238E27FC236}">
                <a16:creationId xmlns:a16="http://schemas.microsoft.com/office/drawing/2014/main" id="{1321A8AC-94BF-D6B2-1376-53BEE47F726B}"/>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085943709"/>
      </p:ext>
    </p:extLst>
  </p:cSld>
  <p:clrMapOvr>
    <a:masterClrMapping/>
  </p:clrMapOvr>
  <p:extLst>
    <p:ext uri="{DCECCB84-F9BA-43D5-87BE-67443E8EF086}">
      <p15:sldGuideLst xmlns:p15="http://schemas.microsoft.com/office/powerpoint/2012/main">
        <p15:guide id="2" pos="5030" userDrawn="1">
          <p15:clr>
            <a:srgbClr val="FBAE40"/>
          </p15:clr>
        </p15:guide>
        <p15:guide id="3" orient="horz" pos="884"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vider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rgbClr val="C8FF08"/>
                </a:solidFill>
                <a:latin typeface="Sons Condensed Extrabold" panose="02060906060206060203" pitchFamily="18" charset="0"/>
              </a:defRPr>
            </a:lvl1pPr>
          </a:lstStyle>
          <a:p>
            <a:r>
              <a:rPr lang="en-US" dirty="0"/>
              <a:t>CLICK TO EDIT MASTER TITLE STYLE</a:t>
            </a:r>
          </a:p>
        </p:txBody>
      </p:sp>
      <p:pic>
        <p:nvPicPr>
          <p:cNvPr id="7" name="Picture 6" descr="Text&#10;&#10;Description automatically generated">
            <a:extLst>
              <a:ext uri="{FF2B5EF4-FFF2-40B4-BE49-F238E27FC236}">
                <a16:creationId xmlns:a16="http://schemas.microsoft.com/office/drawing/2014/main" id="{C821F4BE-79DE-EBCE-62E2-F24155984D9E}"/>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Section Number">
            <a:extLst>
              <a:ext uri="{FF2B5EF4-FFF2-40B4-BE49-F238E27FC236}">
                <a16:creationId xmlns:a16="http://schemas.microsoft.com/office/drawing/2014/main" id="{107E2ABA-1900-FC00-3E5B-96B0338B47BC}"/>
              </a:ext>
            </a:extLst>
          </p:cNvPr>
          <p:cNvSpPr>
            <a:spLocks noGrp="1"/>
          </p:cNvSpPr>
          <p:nvPr>
            <p:ph type="body" sz="quarter" idx="13" hasCustomPrompt="1"/>
          </p:nvPr>
        </p:nvSpPr>
        <p:spPr>
          <a:xfrm>
            <a:off x="419100" y="1922078"/>
            <a:ext cx="2660530" cy="365760"/>
          </a:xfrm>
          <a:noFill/>
        </p:spPr>
        <p:txBody>
          <a:bodyPr wrap="none">
            <a:noAutofit/>
          </a:bodyPr>
          <a:lstStyle>
            <a:lvl1pPr>
              <a:spcAft>
                <a:spcPts val="0"/>
              </a:spcAft>
              <a:defRPr sz="1600" cap="all" baseline="0">
                <a:solidFill>
                  <a:schemeClr val="tx1"/>
                </a:solidFill>
              </a:defRPr>
            </a:lvl1pPr>
          </a:lstStyle>
          <a:p>
            <a:pPr lvl="0"/>
            <a:r>
              <a:rPr lang="en-US" dirty="0"/>
              <a:t>[Optional section ##]</a:t>
            </a:r>
          </a:p>
        </p:txBody>
      </p:sp>
    </p:spTree>
    <p:extLst>
      <p:ext uri="{BB962C8B-B14F-4D97-AF65-F5344CB8AC3E}">
        <p14:creationId xmlns:p14="http://schemas.microsoft.com/office/powerpoint/2010/main" val="12632917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userDrawn="1">
          <p15:clr>
            <a:srgbClr val="FBAE40"/>
          </p15:clr>
        </p15:guide>
        <p15:guide id="4" orient="horz" pos="273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19100" y="1922078"/>
            <a:ext cx="2608772" cy="365760"/>
          </a:xfrm>
          <a:noFill/>
        </p:spPr>
        <p:txBody>
          <a:bodyPr wrap="none">
            <a:noAutofit/>
          </a:bodyPr>
          <a:lstStyle>
            <a:lvl1pPr>
              <a:spcAft>
                <a:spcPts val="0"/>
              </a:spcAft>
              <a:defRPr sz="1600" cap="all" baseline="0">
                <a:solidFill>
                  <a:schemeClr val="tx2"/>
                </a:solidFill>
              </a:defRPr>
            </a:lvl1pPr>
          </a:lstStyle>
          <a:p>
            <a:pPr lvl="0"/>
            <a:r>
              <a:rPr lang="en-US" dirty="0"/>
              <a:t>[Optional section ##]</a:t>
            </a:r>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itle 1">
            <a:extLst>
              <a:ext uri="{FF2B5EF4-FFF2-40B4-BE49-F238E27FC236}">
                <a16:creationId xmlns:a16="http://schemas.microsoft.com/office/drawing/2014/main" id="{B449274D-327F-3626-5718-4266E3B0BCE4}"/>
              </a:ext>
            </a:extLst>
          </p:cNvPr>
          <p:cNvSpPr>
            <a:spLocks noGrp="1"/>
          </p:cNvSpPr>
          <p:nvPr>
            <p:ph type="title" hasCustomPrompt="1"/>
          </p:nvPr>
        </p:nvSpPr>
        <p:spPr>
          <a:xfrm>
            <a:off x="427383" y="2378075"/>
            <a:ext cx="6875785" cy="1965325"/>
          </a:xfrm>
        </p:spPr>
        <p:txBody>
          <a:bodyPr anchor="t" anchorCtr="0"/>
          <a:lstStyle>
            <a:lvl1pPr>
              <a:lnSpc>
                <a:spcPts val="5400"/>
              </a:lnSpc>
              <a:defRPr sz="6000" cap="all" baseline="0">
                <a:solidFill>
                  <a:schemeClr val="tx1"/>
                </a:solidFill>
                <a:latin typeface="Sons Condensed Extrabold" panose="02060906060206060203" pitchFamily="18" charset="0"/>
              </a:defRPr>
            </a:lvl1pPr>
          </a:lstStyle>
          <a:p>
            <a:r>
              <a:rPr lang="en-US" dirty="0"/>
              <a:t>CLICK TO EDIT MASTER TITLE STYLE</a:t>
            </a:r>
          </a:p>
        </p:txBody>
      </p:sp>
    </p:spTree>
    <p:extLst>
      <p:ext uri="{BB962C8B-B14F-4D97-AF65-F5344CB8AC3E}">
        <p14:creationId xmlns:p14="http://schemas.microsoft.com/office/powerpoint/2010/main" val="42288924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19100" y="2378075"/>
            <a:ext cx="6896100" cy="1965325"/>
          </a:xfrm>
        </p:spPr>
        <p:txBody>
          <a:bodyPr anchor="t" anchorCtr="0"/>
          <a:lstStyle>
            <a:lvl1pPr>
              <a:lnSpc>
                <a:spcPts val="5400"/>
              </a:lnSpc>
              <a:defRPr sz="6000" cap="all" baseline="0">
                <a:solidFill>
                  <a:srgbClr val="005E60"/>
                </a:solidFill>
                <a:latin typeface="Sons Condensed Extrabold" panose="02060906060206060203" pitchFamily="18" charset="0"/>
              </a:defRPr>
            </a:lvl1pPr>
          </a:lstStyle>
          <a:p>
            <a:r>
              <a:rPr lang="en-US" dirty="0"/>
              <a:t>CLICK TO EDIT MASTER TITLE STYLE</a:t>
            </a:r>
          </a:p>
        </p:txBody>
      </p:sp>
      <p:pic>
        <p:nvPicPr>
          <p:cNvPr id="3" name="Picture 2" descr="Text&#10;&#10;Description automatically generated">
            <a:extLst>
              <a:ext uri="{FF2B5EF4-FFF2-40B4-BE49-F238E27FC236}">
                <a16:creationId xmlns:a16="http://schemas.microsoft.com/office/drawing/2014/main" id="{2F5188B4-2B91-7D7A-D602-95ABB4BAA002}"/>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Section Number">
            <a:extLst>
              <a:ext uri="{FF2B5EF4-FFF2-40B4-BE49-F238E27FC236}">
                <a16:creationId xmlns:a16="http://schemas.microsoft.com/office/drawing/2014/main" id="{1C20CF72-79D7-2D57-1E9C-4C8386102CFA}"/>
              </a:ext>
            </a:extLst>
          </p:cNvPr>
          <p:cNvSpPr>
            <a:spLocks noGrp="1"/>
          </p:cNvSpPr>
          <p:nvPr>
            <p:ph type="body" sz="quarter" idx="14" hasCustomPrompt="1"/>
          </p:nvPr>
        </p:nvSpPr>
        <p:spPr>
          <a:xfrm>
            <a:off x="419100" y="1922078"/>
            <a:ext cx="3273006" cy="365760"/>
          </a:xfrm>
          <a:noFill/>
        </p:spPr>
        <p:txBody>
          <a:bodyPr wrap="none">
            <a:noAutofit/>
          </a:bodyPr>
          <a:lstStyle>
            <a:lvl1pPr>
              <a:spcAft>
                <a:spcPts val="0"/>
              </a:spcAft>
              <a:defRPr lang="en-US" sz="1600" kern="1200" cap="all" baseline="0" dirty="0">
                <a:solidFill>
                  <a:srgbClr val="212121"/>
                </a:solidFill>
                <a:latin typeface="Inter" panose="02000503000000020004" pitchFamily="2" charset="0"/>
                <a:ea typeface="+mn-ea"/>
                <a:cs typeface="+mn-cs"/>
              </a:defRPr>
            </a:lvl1pPr>
          </a:lstStyle>
          <a:p>
            <a:pPr marL="0" lvl="0" indent="0" algn="l" defTabSz="914400" rtl="0" eaLnBrk="1" latinLnBrk="0" hangingPunct="1">
              <a:lnSpc>
                <a:spcPct val="100000"/>
              </a:lnSpc>
              <a:spcBef>
                <a:spcPts val="0"/>
              </a:spcBef>
              <a:spcAft>
                <a:spcPts val="0"/>
              </a:spcAft>
              <a:buClr>
                <a:schemeClr val="tx1"/>
              </a:buClr>
              <a:buFont typeface="Arial" panose="020B0604020202020204" pitchFamily="34" charset="0"/>
              <a:buNone/>
            </a:pPr>
            <a:r>
              <a:rPr lang="en-US" dirty="0"/>
              <a:t>[Optional section ##]</a:t>
            </a:r>
          </a:p>
        </p:txBody>
      </p:sp>
    </p:spTree>
    <p:extLst>
      <p:ext uri="{BB962C8B-B14F-4D97-AF65-F5344CB8AC3E}">
        <p14:creationId xmlns:p14="http://schemas.microsoft.com/office/powerpoint/2010/main" val="197147223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4">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pic>
        <p:nvPicPr>
          <p:cNvPr id="4" name="Picture 3" descr="Text&#10;&#10;Description automatically generated">
            <a:extLst>
              <a:ext uri="{FF2B5EF4-FFF2-40B4-BE49-F238E27FC236}">
                <a16:creationId xmlns:a16="http://schemas.microsoft.com/office/drawing/2014/main" id="{592B45FF-A1AE-61C0-351C-FC46C4660695}"/>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484835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1498">
          <p15:clr>
            <a:srgbClr val="FBAE40"/>
          </p15:clr>
        </p15:guide>
        <p15:guide id="4"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fographics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716938" cy="457020"/>
          </a:xfrm>
        </p:spPr>
        <p:txBody>
          <a:bodyPr/>
          <a:lstStyle>
            <a:lvl1pPr>
              <a:defRPr>
                <a:solidFill>
                  <a:schemeClr val="tx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Arial"/>
              <a:buChar char="–"/>
              <a:tabLst/>
              <a:defRPr sz="1000">
                <a:solidFill>
                  <a:schemeClr val="tx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FD051AE3-C2A3-6884-82E8-0091361DC8B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2631165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pos="1248" userDrawn="1">
          <p15:clr>
            <a:srgbClr val="FBAE40"/>
          </p15:clr>
        </p15:guide>
        <p15:guide id="3" pos="4128" userDrawn="1">
          <p15:clr>
            <a:srgbClr val="FBAE40"/>
          </p15:clr>
        </p15:guide>
        <p15:guide id="4" pos="4824" userDrawn="1">
          <p15:clr>
            <a:srgbClr val="FBAE40"/>
          </p15:clr>
        </p15:guide>
        <p15:guide id="5" orient="horz" pos="884" userDrawn="1">
          <p15:clr>
            <a:srgbClr val="FBAE40"/>
          </p15:clr>
        </p15:guide>
        <p15:guide id="6" orient="horz" pos="1498" userDrawn="1">
          <p15:clr>
            <a:srgbClr val="FBAE40"/>
          </p15:clr>
        </p15:guide>
        <p15:guide id="7" orient="horz" pos="2116" userDrawn="1">
          <p15:clr>
            <a:srgbClr val="FBAE40"/>
          </p15:clr>
        </p15:guide>
        <p15:guide id="8" orient="horz" pos="2736" userDrawn="1">
          <p15:clr>
            <a:srgbClr val="FBAE40"/>
          </p15:clr>
        </p15:guide>
        <p15:guide id="9" orient="horz" pos="3350" userDrawn="1">
          <p15:clr>
            <a:srgbClr val="FBAE40"/>
          </p15:clr>
        </p15:guide>
        <p15:guide id="10" pos="55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nfographics 3">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rgbClr val="005E60"/>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chemeClr val="tx2"/>
                </a:solidFill>
                <a:latin typeface="Sons Condensed Extrabold" panose="02060906060206060203" pitchFamily="18" charset="0"/>
              </a:defRPr>
            </a:lvl1pPr>
          </a:lstStyle>
          <a:p>
            <a:pPr lvl="0"/>
            <a:r>
              <a:rPr lang="en-US" dirty="0"/>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26751"/>
            <a:ext cx="3840480" cy="892175"/>
          </a:xfrm>
        </p:spPr>
        <p:txBody>
          <a:bodyPr/>
          <a:lstStyle>
            <a:lvl1pPr>
              <a:lnSpc>
                <a:spcPct val="100000"/>
              </a:lnSpc>
              <a:spcAft>
                <a:spcPts val="0"/>
              </a:spcAft>
              <a:defRPr sz="1200" b="1">
                <a:solidFill>
                  <a:srgbClr val="212121"/>
                </a:solidFill>
              </a:defRPr>
            </a:lvl1pPr>
            <a:lvl2pPr marL="0" indent="0">
              <a:spcAft>
                <a:spcPts val="0"/>
              </a:spcAft>
              <a:buNone/>
              <a:defRPr sz="1200">
                <a:solidFill>
                  <a:srgbClr val="212121"/>
                </a:solidFill>
              </a:defRPr>
            </a:lvl2pPr>
            <a:lvl3pPr marL="3175" indent="0">
              <a:spcAft>
                <a:spcPts val="0"/>
              </a:spcAft>
              <a:buNone/>
              <a:tabLst/>
              <a:defRPr sz="1200">
                <a:solidFill>
                  <a:srgbClr val="212121"/>
                </a:solidFill>
              </a:defRPr>
            </a:lvl3pPr>
            <a:lvl4pPr marL="109728" indent="-109728">
              <a:spcAft>
                <a:spcPts val="200"/>
              </a:spcAft>
              <a:buClr>
                <a:schemeClr val="bg2"/>
              </a:buClr>
              <a:buFont typeface="Arial"/>
              <a:buChar char="–"/>
              <a:tabLst/>
              <a:defRPr sz="1000">
                <a:solidFill>
                  <a:srgbClr val="212121"/>
                </a:solidFill>
              </a:defRPr>
            </a:lvl4pPr>
            <a:lvl5pPr marL="219456" indent="-109728">
              <a:spcAft>
                <a:spcPts val="200"/>
              </a:spcAft>
              <a:buClr>
                <a:schemeClr val="tx1"/>
              </a:buClr>
              <a:buFont typeface="Arial"/>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3" name="Picture 2" descr="Text&#10;&#10;Description automatically generated">
            <a:extLst>
              <a:ext uri="{FF2B5EF4-FFF2-40B4-BE49-F238E27FC236}">
                <a16:creationId xmlns:a16="http://schemas.microsoft.com/office/drawing/2014/main" id="{F3C8E8B6-15B9-92DE-0C5F-40F6A4CCD98A}"/>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1841040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2" userDrawn="1">
          <p15:clr>
            <a:srgbClr val="FBAE40"/>
          </p15:clr>
        </p15:guide>
        <p15:guide id="8" orient="horz" pos="2736">
          <p15:clr>
            <a:srgbClr val="FBAE40"/>
          </p15:clr>
        </p15:guide>
        <p15:guide id="9" orient="horz" pos="33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enters">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24" name="Picture Placeholder 13">
            <a:extLst>
              <a:ext uri="{FF2B5EF4-FFF2-40B4-BE49-F238E27FC236}">
                <a16:creationId xmlns:a16="http://schemas.microsoft.com/office/drawing/2014/main" id="{03A9CFF3-144D-F242-AB37-45B8D1EA02D3}"/>
              </a:ext>
            </a:extLst>
          </p:cNvPr>
          <p:cNvSpPr>
            <a:spLocks noGrp="1"/>
          </p:cNvSpPr>
          <p:nvPr>
            <p:ph type="pic" sz="quarter" idx="29"/>
          </p:nvPr>
        </p:nvSpPr>
        <p:spPr>
          <a:xfrm>
            <a:off x="80010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2" name="Picture Placeholder 13">
            <a:extLst>
              <a:ext uri="{FF2B5EF4-FFF2-40B4-BE49-F238E27FC236}">
                <a16:creationId xmlns:a16="http://schemas.microsoft.com/office/drawing/2014/main" id="{D30E5EF1-DEED-0E4E-842C-164ECBEB862E}"/>
              </a:ext>
            </a:extLst>
          </p:cNvPr>
          <p:cNvSpPr>
            <a:spLocks noGrp="1"/>
          </p:cNvSpPr>
          <p:nvPr>
            <p:ph type="pic" sz="quarter" idx="27"/>
          </p:nvPr>
        </p:nvSpPr>
        <p:spPr>
          <a:xfrm>
            <a:off x="4206875"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20" name="Picture Placeholder 13">
            <a:extLst>
              <a:ext uri="{FF2B5EF4-FFF2-40B4-BE49-F238E27FC236}">
                <a16:creationId xmlns:a16="http://schemas.microsoft.com/office/drawing/2014/main" id="{35166569-9518-9B41-8B53-AA608D40024E}"/>
              </a:ext>
            </a:extLst>
          </p:cNvPr>
          <p:cNvSpPr>
            <a:spLocks noGrp="1"/>
          </p:cNvSpPr>
          <p:nvPr>
            <p:ph type="pic" sz="quarter" idx="25"/>
          </p:nvPr>
        </p:nvSpPr>
        <p:spPr>
          <a:xfrm>
            <a:off x="419100" y="3838584"/>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8" name="Picture Placeholder 13">
            <a:extLst>
              <a:ext uri="{FF2B5EF4-FFF2-40B4-BE49-F238E27FC236}">
                <a16:creationId xmlns:a16="http://schemas.microsoft.com/office/drawing/2014/main" id="{E7959487-FA6F-9442-8793-172CFAE0C4DD}"/>
              </a:ext>
            </a:extLst>
          </p:cNvPr>
          <p:cNvSpPr>
            <a:spLocks noGrp="1"/>
          </p:cNvSpPr>
          <p:nvPr>
            <p:ph type="pic" sz="quarter" idx="23"/>
          </p:nvPr>
        </p:nvSpPr>
        <p:spPr>
          <a:xfrm>
            <a:off x="80010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6" name="Picture Placeholder 13">
            <a:extLst>
              <a:ext uri="{FF2B5EF4-FFF2-40B4-BE49-F238E27FC236}">
                <a16:creationId xmlns:a16="http://schemas.microsoft.com/office/drawing/2014/main" id="{22F3E836-EB9D-0A44-8CBF-55C02225AF98}"/>
              </a:ext>
            </a:extLst>
          </p:cNvPr>
          <p:cNvSpPr>
            <a:spLocks noGrp="1"/>
          </p:cNvSpPr>
          <p:nvPr>
            <p:ph type="pic" sz="quarter" idx="21"/>
          </p:nvPr>
        </p:nvSpPr>
        <p:spPr>
          <a:xfrm>
            <a:off x="4206875"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4" name="Picture Placeholder 13">
            <a:extLst>
              <a:ext uri="{FF2B5EF4-FFF2-40B4-BE49-F238E27FC236}">
                <a16:creationId xmlns:a16="http://schemas.microsoft.com/office/drawing/2014/main" id="{C88ED419-5FB1-1040-9DD4-AB69170FDA91}"/>
              </a:ext>
            </a:extLst>
          </p:cNvPr>
          <p:cNvSpPr>
            <a:spLocks noGrp="1"/>
          </p:cNvSpPr>
          <p:nvPr>
            <p:ph type="pic" sz="quarter" idx="19"/>
          </p:nvPr>
        </p:nvSpPr>
        <p:spPr>
          <a:xfrm>
            <a:off x="419100" y="1403350"/>
            <a:ext cx="1138238" cy="1463040"/>
          </a:xfrm>
          <a:solidFill>
            <a:schemeClr val="accent3"/>
          </a:solidFill>
        </p:spPr>
        <p:txBody>
          <a:bodyPr/>
          <a:lstStyle>
            <a:lvl1pPr>
              <a:defRPr sz="1400">
                <a:solidFill>
                  <a:schemeClr val="tx2"/>
                </a:solidFill>
              </a:defRPr>
            </a:lvl1pPr>
          </a:lstStyle>
          <a:p>
            <a:r>
              <a:rPr lang="en-US" dirty="0"/>
              <a:t>Click icon to add picture</a:t>
            </a:r>
          </a:p>
        </p:txBody>
      </p:sp>
      <p:sp>
        <p:nvSpPr>
          <p:cNvPr id="12" name="Text Placeholder 11">
            <a:extLst>
              <a:ext uri="{FF2B5EF4-FFF2-40B4-BE49-F238E27FC236}">
                <a16:creationId xmlns:a16="http://schemas.microsoft.com/office/drawing/2014/main" id="{57559BAC-92F4-B744-9836-450C4A90B309}"/>
              </a:ext>
            </a:extLst>
          </p:cNvPr>
          <p:cNvSpPr>
            <a:spLocks noGrp="1"/>
          </p:cNvSpPr>
          <p:nvPr>
            <p:ph type="body" sz="quarter" idx="18"/>
          </p:nvPr>
        </p:nvSpPr>
        <p:spPr>
          <a:xfrm>
            <a:off x="17145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5" name="Text Placeholder 11">
            <a:extLst>
              <a:ext uri="{FF2B5EF4-FFF2-40B4-BE49-F238E27FC236}">
                <a16:creationId xmlns:a16="http://schemas.microsoft.com/office/drawing/2014/main" id="{34D8682B-ACC9-614A-8FC5-30E2225A0263}"/>
              </a:ext>
            </a:extLst>
          </p:cNvPr>
          <p:cNvSpPr>
            <a:spLocks noGrp="1"/>
          </p:cNvSpPr>
          <p:nvPr>
            <p:ph type="body" sz="quarter" idx="20"/>
          </p:nvPr>
        </p:nvSpPr>
        <p:spPr>
          <a:xfrm>
            <a:off x="5500689"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7" name="Text Placeholder 11">
            <a:extLst>
              <a:ext uri="{FF2B5EF4-FFF2-40B4-BE49-F238E27FC236}">
                <a16:creationId xmlns:a16="http://schemas.microsoft.com/office/drawing/2014/main" id="{A9DF087C-13B0-8044-B147-F99E711E3B8D}"/>
              </a:ext>
            </a:extLst>
          </p:cNvPr>
          <p:cNvSpPr>
            <a:spLocks noGrp="1"/>
          </p:cNvSpPr>
          <p:nvPr>
            <p:ph type="body" sz="quarter" idx="22"/>
          </p:nvPr>
        </p:nvSpPr>
        <p:spPr>
          <a:xfrm>
            <a:off x="9296400" y="1403350"/>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19" name="Text Placeholder 11">
            <a:extLst>
              <a:ext uri="{FF2B5EF4-FFF2-40B4-BE49-F238E27FC236}">
                <a16:creationId xmlns:a16="http://schemas.microsoft.com/office/drawing/2014/main" id="{B68F9AA8-58C0-BD45-A206-0D15796A4D36}"/>
              </a:ext>
            </a:extLst>
          </p:cNvPr>
          <p:cNvSpPr>
            <a:spLocks noGrp="1"/>
          </p:cNvSpPr>
          <p:nvPr>
            <p:ph type="body" sz="quarter" idx="24"/>
          </p:nvPr>
        </p:nvSpPr>
        <p:spPr>
          <a:xfrm>
            <a:off x="17145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1" name="Text Placeholder 11">
            <a:extLst>
              <a:ext uri="{FF2B5EF4-FFF2-40B4-BE49-F238E27FC236}">
                <a16:creationId xmlns:a16="http://schemas.microsoft.com/office/drawing/2014/main" id="{5655B9A0-5BD5-4B4C-87A7-8A7BC98C3663}"/>
              </a:ext>
            </a:extLst>
          </p:cNvPr>
          <p:cNvSpPr>
            <a:spLocks noGrp="1"/>
          </p:cNvSpPr>
          <p:nvPr>
            <p:ph type="body" sz="quarter" idx="26"/>
          </p:nvPr>
        </p:nvSpPr>
        <p:spPr>
          <a:xfrm>
            <a:off x="5500689"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sp>
        <p:nvSpPr>
          <p:cNvPr id="23" name="Text Placeholder 11">
            <a:extLst>
              <a:ext uri="{FF2B5EF4-FFF2-40B4-BE49-F238E27FC236}">
                <a16:creationId xmlns:a16="http://schemas.microsoft.com/office/drawing/2014/main" id="{F2FB16EA-50E6-7147-BF52-0D186E431275}"/>
              </a:ext>
            </a:extLst>
          </p:cNvPr>
          <p:cNvSpPr>
            <a:spLocks noGrp="1"/>
          </p:cNvSpPr>
          <p:nvPr>
            <p:ph type="body" sz="quarter" idx="28"/>
          </p:nvPr>
        </p:nvSpPr>
        <p:spPr>
          <a:xfrm>
            <a:off x="9296400" y="3838584"/>
            <a:ext cx="2194560" cy="1955800"/>
          </a:xfrm>
        </p:spPr>
        <p:txBody>
          <a:bodyPr/>
          <a:lstStyle>
            <a:lvl1pPr>
              <a:spcAft>
                <a:spcPts val="200"/>
              </a:spcAft>
              <a:defRPr sz="1400" b="1">
                <a:solidFill>
                  <a:srgbClr val="212121"/>
                </a:solidFill>
              </a:defRPr>
            </a:lvl1pPr>
            <a:lvl2pPr marL="0" indent="0">
              <a:buNone/>
              <a:defRPr sz="1400" i="1">
                <a:solidFill>
                  <a:srgbClr val="212121"/>
                </a:solidFill>
              </a:defRPr>
            </a:lvl2pPr>
            <a:lvl3pPr marL="12700" indent="0">
              <a:buNone/>
              <a:tabLst/>
              <a:defRPr sz="1400">
                <a:solidFill>
                  <a:srgbClr val="212121"/>
                </a:solidFill>
              </a:defRPr>
            </a:lvl3pPr>
            <a:lvl4pPr>
              <a:defRPr sz="1400"/>
            </a:lvl4pPr>
            <a:lvl5pPr>
              <a:defRPr sz="1400"/>
            </a:lvl5pPr>
          </a:lstStyle>
          <a:p>
            <a:pPr lvl="0"/>
            <a:r>
              <a:rPr lang="en-US"/>
              <a:t>Click to edit Master text styles</a:t>
            </a:r>
          </a:p>
          <a:p>
            <a:pPr lvl="1"/>
            <a:r>
              <a:rPr lang="en-US"/>
              <a:t>Second level</a:t>
            </a:r>
          </a:p>
          <a:p>
            <a:pPr lvl="2"/>
            <a:r>
              <a:rPr lang="en-US"/>
              <a:t>Third level</a:t>
            </a:r>
          </a:p>
        </p:txBody>
      </p:sp>
      <p:pic>
        <p:nvPicPr>
          <p:cNvPr id="3" name="Picture 2" descr="Text&#10;&#10;Description automatically generated">
            <a:extLst>
              <a:ext uri="{FF2B5EF4-FFF2-40B4-BE49-F238E27FC236}">
                <a16:creationId xmlns:a16="http://schemas.microsoft.com/office/drawing/2014/main" id="{FFDD0E8E-1442-D1CD-FDD6-6F1C4CD12602}"/>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367970595"/>
      </p:ext>
    </p:extLst>
  </p:cSld>
  <p:clrMapOvr>
    <a:masterClrMapping/>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2400" userDrawn="1">
          <p15:clr>
            <a:srgbClr val="FBAE40"/>
          </p15:clr>
        </p15:guide>
        <p15:guide id="4" pos="1080" userDrawn="1">
          <p15:clr>
            <a:srgbClr val="FBAE40"/>
          </p15:clr>
        </p15:guide>
        <p15:guide id="5" pos="3465" userDrawn="1">
          <p15:clr>
            <a:srgbClr val="FBAE40"/>
          </p15:clr>
        </p15:guide>
        <p15:guide id="6" pos="5856" userDrawn="1">
          <p15:clr>
            <a:srgbClr val="FBAE40"/>
          </p15:clr>
        </p15:guide>
        <p15:guide id="7" orient="horz" pos="884"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Righ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5814060" y="0"/>
            <a:ext cx="6377940"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400300"/>
            <a:ext cx="5155223" cy="3810000"/>
          </a:xfrm>
        </p:spPr>
        <p:txBody>
          <a:bodyPr/>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294D2D73-EE0E-202C-17A0-7C9C2608BD70}"/>
              </a:ext>
            </a:extLst>
          </p:cNvPr>
          <p:cNvSpPr>
            <a:spLocks noGrp="1"/>
          </p:cNvSpPr>
          <p:nvPr>
            <p:ph type="title"/>
          </p:nvPr>
        </p:nvSpPr>
        <p:spPr>
          <a:xfrm>
            <a:off x="419100" y="419100"/>
            <a:ext cx="5155223"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284725704"/>
      </p:ext>
    </p:extLst>
  </p:cSld>
  <p:clrMapOvr>
    <a:masterClrMapping/>
  </p:clrMapOvr>
  <p:extLst>
    <p:ext uri="{DCECCB84-F9BA-43D5-87BE-67443E8EF086}">
      <p15:sldGuideLst xmlns:p15="http://schemas.microsoft.com/office/powerpoint/2012/main">
        <p15:guide id="2" orient="horz" pos="1512"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icture Lef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2E5A1687-B173-3C4B-B080-DF7BBD030F6B}"/>
              </a:ext>
            </a:extLst>
          </p:cNvPr>
          <p:cNvSpPr>
            <a:spLocks noGrp="1"/>
          </p:cNvSpPr>
          <p:nvPr>
            <p:ph type="pic" sz="quarter" idx="13"/>
          </p:nvPr>
        </p:nvSpPr>
        <p:spPr>
          <a:xfrm>
            <a:off x="0" y="0"/>
            <a:ext cx="5829301" cy="6857999"/>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6362700" y="2400300"/>
            <a:ext cx="5410200" cy="3810000"/>
          </a:xfrm>
        </p:spPr>
        <p:txBody>
          <a:bodyPr/>
          <a:lstStyle>
            <a:lvl1pP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4" name="Title 1">
            <a:extLst>
              <a:ext uri="{FF2B5EF4-FFF2-40B4-BE49-F238E27FC236}">
                <a16:creationId xmlns:a16="http://schemas.microsoft.com/office/drawing/2014/main" id="{4334DEC1-5B42-CB2D-AE33-3E247803673F}"/>
              </a:ext>
            </a:extLst>
          </p:cNvPr>
          <p:cNvSpPr>
            <a:spLocks noGrp="1"/>
          </p:cNvSpPr>
          <p:nvPr>
            <p:ph type="title"/>
          </p:nvPr>
        </p:nvSpPr>
        <p:spPr>
          <a:xfrm>
            <a:off x="6371897" y="419100"/>
            <a:ext cx="5410200" cy="1777561"/>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667974532"/>
      </p:ext>
    </p:extLst>
  </p:cSld>
  <p:clrMapOvr>
    <a:masterClrMapping/>
  </p:clrMapOvr>
  <p:extLst>
    <p:ext uri="{DCECCB84-F9BA-43D5-87BE-67443E8EF086}">
      <p15:sldGuideLst xmlns:p15="http://schemas.microsoft.com/office/powerpoint/2012/main">
        <p15:guide id="2" pos="4008" userDrawn="1">
          <p15:clr>
            <a:srgbClr val="FBAE40"/>
          </p15:clr>
        </p15:guide>
        <p15:guide id="4" orient="horz" pos="1512"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CBB3E71-68E9-0C42-A1F5-AAC39EAA6DE7}"/>
              </a:ext>
            </a:extLst>
          </p:cNvPr>
          <p:cNvSpPr>
            <a:spLocks noGrp="1"/>
          </p:cNvSpPr>
          <p:nvPr>
            <p:ph type="pic" sz="quarter" idx="13"/>
          </p:nvPr>
        </p:nvSpPr>
        <p:spPr>
          <a:xfrm>
            <a:off x="0" y="1403350"/>
            <a:ext cx="12192000" cy="5454650"/>
          </a:xfrm>
          <a:solidFill>
            <a:schemeClr val="accent3"/>
          </a:solidFill>
        </p:spPr>
        <p:txBody>
          <a:bodyPr/>
          <a:lstStyle>
            <a:lvl1pPr>
              <a:defRPr>
                <a:solidFill>
                  <a:schemeClr val="tx2"/>
                </a:solidFill>
              </a:defRPr>
            </a:lvl1pPr>
          </a:lstStyle>
          <a:p>
            <a:r>
              <a:rPr lang="en-US" dirty="0"/>
              <a:t>Click icon to add picture</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pic>
        <p:nvPicPr>
          <p:cNvPr id="3" name="Picture 2" descr="Text&#10;&#10;Description automatically generated">
            <a:extLst>
              <a:ext uri="{FF2B5EF4-FFF2-40B4-BE49-F238E27FC236}">
                <a16:creationId xmlns:a16="http://schemas.microsoft.com/office/drawing/2014/main" id="{A54797B6-7C2A-BA00-35CD-550A44C0D1B7}"/>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4" name="Title 1">
            <a:extLst>
              <a:ext uri="{FF2B5EF4-FFF2-40B4-BE49-F238E27FC236}">
                <a16:creationId xmlns:a16="http://schemas.microsoft.com/office/drawing/2014/main" id="{226AA1CE-AC18-9C55-AAB8-CEA1D2493C62}"/>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4093796265"/>
      </p:ext>
    </p:extLst>
  </p:cSld>
  <p:clrMapOvr>
    <a:masterClrMapping/>
  </p:clrMapOvr>
  <p:extLst>
    <p:ext uri="{DCECCB84-F9BA-43D5-87BE-67443E8EF086}">
      <p15:sldGuideLst xmlns:p15="http://schemas.microsoft.com/office/powerpoint/2012/main">
        <p15:guide id="1" orient="horz" pos="88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Side-by-Side 1">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402915"/>
            <a:ext cx="6515100" cy="545508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4" name="Rectangle 3">
            <a:extLst>
              <a:ext uri="{FF2B5EF4-FFF2-40B4-BE49-F238E27FC236}">
                <a16:creationId xmlns:a16="http://schemas.microsoft.com/office/drawing/2014/main" id="{AE7B5E4C-27FE-36D0-B175-6C8108EB67C1}"/>
              </a:ext>
            </a:extLst>
          </p:cNvPr>
          <p:cNvSpPr/>
          <p:nvPr userDrawn="1"/>
        </p:nvSpPr>
        <p:spPr>
          <a:xfrm>
            <a:off x="0" y="1402915"/>
            <a:ext cx="5676900" cy="5455085"/>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96168"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a:p>
            <a:pPr lvl="4"/>
            <a:endParaRPr lang="en-US" dirty="0"/>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rgbClr val="212121"/>
                </a:solidFill>
              </a:defRPr>
            </a:lvl1pPr>
            <a:lvl2pPr marL="174625" indent="-174625">
              <a:buClr>
                <a:schemeClr val="tx2"/>
              </a:buClr>
              <a:buFont typeface="Arial" panose="020B0604020202020204" pitchFamily="34" charset="0"/>
              <a:buChar char="•"/>
              <a:defRPr>
                <a:solidFill>
                  <a:srgbClr val="212121"/>
                </a:solidFill>
              </a:defRPr>
            </a:lvl2pPr>
            <a:lvl3pPr>
              <a:buClr>
                <a:schemeClr val="tx2"/>
              </a:buClr>
              <a:defRPr>
                <a:solidFill>
                  <a:srgbClr val="212121"/>
                </a:solidFill>
              </a:defRPr>
            </a:lvl3pPr>
            <a:lvl4pPr>
              <a:buClr>
                <a:schemeClr val="tx2"/>
              </a:buClr>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E5F8CA6B-89DC-9D64-DE2A-574599892E86}"/>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80262322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88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Side-by-Side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37D6BA0-372E-9EFE-3877-BEEE0D21C7B3}"/>
              </a:ext>
            </a:extLst>
          </p:cNvPr>
          <p:cNvSpPr/>
          <p:nvPr userDrawn="1"/>
        </p:nvSpPr>
        <p:spPr>
          <a:xfrm>
            <a:off x="5676900" y="1"/>
            <a:ext cx="65151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dirty="0">
              <a:solidFill>
                <a:schemeClr val="tx1"/>
              </a:solidFill>
              <a:latin typeface="Inter" panose="02000503000000020004" pitchFamily="2" charset="0"/>
            </a:endParaRP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2"/>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1" y="419101"/>
            <a:ext cx="4838700" cy="457020"/>
          </a:xfrm>
        </p:spPr>
        <p:txBody>
          <a:bodyPr/>
          <a:lstStyle>
            <a:lvl1pPr>
              <a:defRPr>
                <a:solidFill>
                  <a:schemeClr val="tx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1403349"/>
            <a:ext cx="4838700" cy="4806951"/>
          </a:xfrm>
          <a:noFill/>
        </p:spPr>
        <p:txBody>
          <a:bodyPr lIns="0" tIns="182880" rIns="182880" bIns="182880"/>
          <a:lstStyle>
            <a:lvl1pPr>
              <a:buClr>
                <a:schemeClr val="bg1"/>
              </a:buClr>
              <a:defRPr>
                <a:solidFill>
                  <a:srgbClr val="212121"/>
                </a:solidFill>
              </a:defRPr>
            </a:lvl1pPr>
            <a:lvl2pPr marL="174625" indent="-174625">
              <a:buClrTx/>
              <a:buFont typeface="Arial" panose="020B0604020202020204" pitchFamily="34" charset="0"/>
              <a:buChar char="•"/>
              <a:defRPr>
                <a:solidFill>
                  <a:srgbClr val="212121"/>
                </a:solidFill>
              </a:defRPr>
            </a:lvl2pPr>
            <a:lvl3pPr>
              <a:buClrTx/>
              <a:defRPr>
                <a:solidFill>
                  <a:srgbClr val="212121"/>
                </a:solidFill>
              </a:defRPr>
            </a:lvl3pPr>
            <a:lvl4pPr>
              <a:buClrTx/>
              <a:defRPr>
                <a:solidFill>
                  <a:srgbClr val="212121"/>
                </a:solidFill>
              </a:defRPr>
            </a:lvl4pPr>
            <a:lvl5pPr>
              <a:buClr>
                <a:schemeClr val="bg1"/>
              </a:buClr>
              <a:defRPr>
                <a:solidFill>
                  <a:srgbClr val="21212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sp>
        <p:nvSpPr>
          <p:cNvPr id="7" name="Content Placeholder 2">
            <a:extLst>
              <a:ext uri="{FF2B5EF4-FFF2-40B4-BE49-F238E27FC236}">
                <a16:creationId xmlns:a16="http://schemas.microsoft.com/office/drawing/2014/main" id="{F48D7D23-A4AE-A948-B404-C89F45ED35B7}"/>
              </a:ext>
            </a:extLst>
          </p:cNvPr>
          <p:cNvSpPr>
            <a:spLocks noGrp="1"/>
          </p:cNvSpPr>
          <p:nvPr>
            <p:ph idx="13" hasCustomPrompt="1"/>
          </p:nvPr>
        </p:nvSpPr>
        <p:spPr>
          <a:xfrm>
            <a:off x="6096000" y="1403349"/>
            <a:ext cx="5676900" cy="4806951"/>
          </a:xfrm>
          <a:noFill/>
        </p:spPr>
        <p:txBody>
          <a:bodyPr lIns="0" tIns="182880" rIns="182880" bIns="182880"/>
          <a:lstStyle>
            <a:lvl1pPr>
              <a:defRPr>
                <a:solidFill>
                  <a:schemeClr val="bg1"/>
                </a:solidFill>
              </a:defRPr>
            </a:lvl1pPr>
            <a:lvl2pPr marL="174625" indent="-174625">
              <a:buClr>
                <a:schemeClr val="bg1"/>
              </a:buClr>
              <a:buFont typeface="Arial" panose="020B0604020202020204" pitchFamily="34" charset="0"/>
              <a:buChar cha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Level 1 text</a:t>
            </a:r>
          </a:p>
          <a:p>
            <a:pPr lvl="1"/>
            <a:r>
              <a:rPr lang="en-US" dirty="0"/>
              <a:t>Level 2 text</a:t>
            </a:r>
          </a:p>
          <a:p>
            <a:pPr lvl="2"/>
            <a:r>
              <a:rPr lang="en-US" dirty="0"/>
              <a:t>Level 3 text</a:t>
            </a:r>
          </a:p>
          <a:p>
            <a:pPr lvl="3"/>
            <a:r>
              <a:rPr lang="en-US" dirty="0"/>
              <a:t>Level 4 text</a:t>
            </a:r>
          </a:p>
        </p:txBody>
      </p:sp>
      <p:pic>
        <p:nvPicPr>
          <p:cNvPr id="9" name="Picture 8" descr="Text&#10;&#10;Description automatically generated">
            <a:extLst>
              <a:ext uri="{FF2B5EF4-FFF2-40B4-BE49-F238E27FC236}">
                <a16:creationId xmlns:a16="http://schemas.microsoft.com/office/drawing/2014/main" id="{DCA04741-1558-2ADE-D887-5A373050980D}"/>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579359531"/>
      </p:ext>
    </p:extLst>
  </p:cSld>
  <p:clrMapOvr>
    <a:masterClrMapping/>
  </p:clrMapOvr>
  <p:extLst>
    <p:ext uri="{DCECCB84-F9BA-43D5-87BE-67443E8EF086}">
      <p15:sldGuideLst xmlns:p15="http://schemas.microsoft.com/office/powerpoint/2012/main">
        <p15:guide id="2" orient="horz" userDrawn="1">
          <p15:clr>
            <a:srgbClr val="FBAE40"/>
          </p15:clr>
        </p15:guide>
        <p15:guide id="4" orient="horz" pos="456"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Quote Statement 1">
    <p:bg>
      <p:bgPr>
        <a:solidFill>
          <a:srgbClr val="005E60"/>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chemeClr val="tx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1" y="615950"/>
            <a:ext cx="5494420" cy="5486400"/>
          </a:xfrm>
        </p:spPr>
        <p:txBody>
          <a:bodyPr anchor="t" anchorCtr="0"/>
          <a:lstStyle>
            <a:lvl1pPr marL="0" indent="0">
              <a:lnSpc>
                <a:spcPct val="85000"/>
              </a:lnSpc>
              <a:spcAft>
                <a:spcPts val="1000"/>
              </a:spcAft>
              <a:defRPr sz="5000" cap="all" baseline="0">
                <a:solidFill>
                  <a:schemeClr val="tx1"/>
                </a:solidFill>
                <a:latin typeface="Sons Condensed Extrabold" panose="02060906060206060203" pitchFamily="18" charset="0"/>
              </a:defRPr>
            </a:lvl1pPr>
            <a:lvl2pPr marL="0" indent="0">
              <a:lnSpc>
                <a:spcPct val="100000"/>
              </a:lnSpc>
              <a:buFont typeface="Arial"/>
              <a:buNone/>
              <a:defRPr>
                <a:solidFill>
                  <a:schemeClr val="tx1"/>
                </a:solidFill>
              </a:defRPr>
            </a:lvl2pPr>
            <a:lvl3pPr marL="0" indent="0">
              <a:lnSpc>
                <a:spcPct val="85000"/>
              </a:lnSpc>
              <a:buNone/>
              <a:defRPr sz="5000">
                <a:solidFill>
                  <a:schemeClr val="tx1"/>
                </a:solidFill>
              </a:defRPr>
            </a:lvl3pPr>
            <a:lvl4pPr marL="0" indent="0">
              <a:lnSpc>
                <a:spcPct val="90000"/>
              </a:lnSpc>
              <a:buNone/>
              <a:defRPr sz="3200">
                <a:solidFill>
                  <a:schemeClr val="tx1"/>
                </a:solidFill>
              </a:defRPr>
            </a:lvl4pPr>
            <a:lvl5pPr marL="0" indent="0">
              <a:lnSpc>
                <a:spcPct val="100000"/>
              </a:lnSpc>
              <a:buClr>
                <a:schemeClr val="accent4"/>
              </a:buClr>
              <a:buFont typeface="Arial"/>
              <a:buNone/>
              <a:defRPr sz="1400">
                <a:solidFill>
                  <a:schemeClr val="tx1"/>
                </a:solidFill>
              </a:defRPr>
            </a:lvl5pPr>
          </a:lstStyle>
          <a:p>
            <a:pPr lvl="0"/>
            <a:r>
              <a:rPr lang="en-US" dirty="0"/>
              <a:t>CLICK TO EDIT MASTER TEXT STYLES</a:t>
            </a:r>
          </a:p>
        </p:txBody>
      </p:sp>
      <p:cxnSp>
        <p:nvCxnSpPr>
          <p:cNvPr id="2" name="Straight Connector 1">
            <a:extLst>
              <a:ext uri="{FF2B5EF4-FFF2-40B4-BE49-F238E27FC236}">
                <a16:creationId xmlns:a16="http://schemas.microsoft.com/office/drawing/2014/main" id="{21459A54-2B36-0597-98AB-2AD5027C3A5A}"/>
              </a:ext>
            </a:extLst>
          </p:cNvPr>
          <p:cNvCxnSpPr>
            <a:cxnSpLocks/>
          </p:cNvCxnSpPr>
          <p:nvPr userDrawn="1"/>
        </p:nvCxnSpPr>
        <p:spPr>
          <a:xfrm>
            <a:off x="2946446" y="640174"/>
            <a:ext cx="0" cy="5486400"/>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6" name="Picture 5" descr="Text&#10;&#10;Description automatically generated">
            <a:extLst>
              <a:ext uri="{FF2B5EF4-FFF2-40B4-BE49-F238E27FC236}">
                <a16:creationId xmlns:a16="http://schemas.microsoft.com/office/drawing/2014/main" id="{3144293E-2C00-D4C2-B60A-12BE7EAB8F5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4051882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Quote Statement 3">
    <p:bg>
      <p:bgPr>
        <a:solidFill>
          <a:schemeClr val="tx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FC2E251-1249-1447-8D56-F6A4533673E3}"/>
              </a:ext>
            </a:extLst>
          </p:cNvPr>
          <p:cNvSpPr>
            <a:spLocks noGrp="1"/>
          </p:cNvSpPr>
          <p:nvPr>
            <p:ph type="ftr" sz="quarter" idx="10"/>
          </p:nvPr>
        </p:nvSpPr>
        <p:spPr/>
        <p:txBody>
          <a:bodyPr/>
          <a:lstStyle>
            <a:lvl1pPr>
              <a:defRPr>
                <a:solidFill>
                  <a:srgbClr val="212121"/>
                </a:solidFill>
              </a:defRPr>
            </a:lvl1pPr>
          </a:lstStyle>
          <a:p>
            <a:r>
              <a:rPr lang="en-US" dirty="0"/>
              <a:t>© 2023 GE Vernova and/or its affiliates. All rights reserved.</a:t>
            </a:r>
          </a:p>
        </p:txBody>
      </p:sp>
      <p:sp>
        <p:nvSpPr>
          <p:cNvPr id="4" name="Slide Number Placeholder 3">
            <a:extLst>
              <a:ext uri="{FF2B5EF4-FFF2-40B4-BE49-F238E27FC236}">
                <a16:creationId xmlns:a16="http://schemas.microsoft.com/office/drawing/2014/main" id="{EB59930B-38D7-924C-B6F1-36FF815DB247}"/>
              </a:ext>
            </a:extLst>
          </p:cNvPr>
          <p:cNvSpPr>
            <a:spLocks noGrp="1"/>
          </p:cNvSpPr>
          <p:nvPr>
            <p:ph type="sldNum" sz="quarter" idx="11"/>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8" name="Text Placeholder 7">
            <a:extLst>
              <a:ext uri="{FF2B5EF4-FFF2-40B4-BE49-F238E27FC236}">
                <a16:creationId xmlns:a16="http://schemas.microsoft.com/office/drawing/2014/main" id="{1AA982C6-876D-DD40-A175-F032C52F2D95}"/>
              </a:ext>
            </a:extLst>
          </p:cNvPr>
          <p:cNvSpPr>
            <a:spLocks noGrp="1"/>
          </p:cNvSpPr>
          <p:nvPr>
            <p:ph type="body" sz="quarter" idx="12" hasCustomPrompt="1"/>
          </p:nvPr>
        </p:nvSpPr>
        <p:spPr>
          <a:xfrm>
            <a:off x="3048000" y="615950"/>
            <a:ext cx="5313947" cy="5486400"/>
          </a:xfrm>
        </p:spPr>
        <p:txBody>
          <a:bodyPr anchor="t" anchorCtr="0"/>
          <a:lstStyle>
            <a:lvl1pPr marL="0" indent="0">
              <a:lnSpc>
                <a:spcPct val="85000"/>
              </a:lnSpc>
              <a:spcAft>
                <a:spcPts val="0"/>
              </a:spcAft>
              <a:defRPr sz="5000" cap="all" baseline="0">
                <a:solidFill>
                  <a:srgbClr val="005E60"/>
                </a:solidFill>
                <a:latin typeface="Sons Condensed Extrabold" panose="02060906060206060203" pitchFamily="18" charset="0"/>
              </a:defRPr>
            </a:lvl1pPr>
            <a:lvl2pPr marL="0" indent="0">
              <a:lnSpc>
                <a:spcPct val="100000"/>
              </a:lnSpc>
              <a:buFont typeface="Arial"/>
              <a:buNone/>
              <a:defRPr>
                <a:solidFill>
                  <a:srgbClr val="005E60"/>
                </a:solidFill>
              </a:defRPr>
            </a:lvl2pPr>
            <a:lvl3pPr marL="0" indent="0">
              <a:lnSpc>
                <a:spcPct val="85000"/>
              </a:lnSpc>
              <a:buNone/>
              <a:defRPr sz="5000">
                <a:solidFill>
                  <a:srgbClr val="005E60"/>
                </a:solidFill>
              </a:defRPr>
            </a:lvl3pPr>
            <a:lvl4pPr marL="0" indent="0">
              <a:lnSpc>
                <a:spcPct val="90000"/>
              </a:lnSpc>
              <a:buNone/>
              <a:defRPr sz="3200">
                <a:solidFill>
                  <a:srgbClr val="005E60"/>
                </a:solidFill>
              </a:defRPr>
            </a:lvl4pPr>
            <a:lvl5pPr marL="0" indent="0">
              <a:lnSpc>
                <a:spcPct val="100000"/>
              </a:lnSpc>
              <a:buClr>
                <a:schemeClr val="accent4"/>
              </a:buClr>
              <a:buFont typeface="Arial"/>
              <a:buNone/>
              <a:defRPr sz="1400">
                <a:solidFill>
                  <a:srgbClr val="005E60"/>
                </a:solidFill>
              </a:defRPr>
            </a:lvl5pPr>
          </a:lstStyle>
          <a:p>
            <a:pPr lvl="0"/>
            <a:r>
              <a:rPr lang="en-US" dirty="0"/>
              <a:t>CLICK TO EDIT MASTER TEXT STYLES</a:t>
            </a:r>
          </a:p>
        </p:txBody>
      </p:sp>
      <p:cxnSp>
        <p:nvCxnSpPr>
          <p:cNvPr id="5" name="Straight Connector 4">
            <a:extLst>
              <a:ext uri="{FF2B5EF4-FFF2-40B4-BE49-F238E27FC236}">
                <a16:creationId xmlns:a16="http://schemas.microsoft.com/office/drawing/2014/main" id="{3F938A19-85FE-D7E0-BB2C-F157A4FE6AEC}"/>
              </a:ext>
            </a:extLst>
          </p:cNvPr>
          <p:cNvCxnSpPr>
            <a:cxnSpLocks/>
          </p:cNvCxnSpPr>
          <p:nvPr userDrawn="1"/>
        </p:nvCxnSpPr>
        <p:spPr>
          <a:xfrm>
            <a:off x="2946446" y="640174"/>
            <a:ext cx="0" cy="54864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1" descr="Text&#10;&#10;Description automatically generated">
            <a:extLst>
              <a:ext uri="{FF2B5EF4-FFF2-40B4-BE49-F238E27FC236}">
                <a16:creationId xmlns:a16="http://schemas.microsoft.com/office/drawing/2014/main" id="{16A940B9-7959-1BE5-1C1F-30DC7A96DB8F}"/>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247158358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19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 Statistics">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p>
            <a:fld id="{7A7A97EF-C944-4447-B862-B593E9B4A0FF}" type="slidenum">
              <a:r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rgbClr val="21212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None/>
              <a:defRPr>
                <a:solidFill>
                  <a:srgbClr val="212121"/>
                </a:solidFill>
              </a:defRPr>
            </a:lvl2pPr>
            <a:lvl3pPr marL="174625" indent="-174625">
              <a:buClrTx/>
              <a:buFont typeface="Arial" panose="020B0604020202020204" pitchFamily="34" charset="0"/>
              <a:buChar char="•"/>
              <a:defRPr>
                <a:solidFill>
                  <a:schemeClr val="tx2"/>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defRPr sz="7200">
                <a:solidFill>
                  <a:srgbClr val="005E60"/>
                </a:solidFill>
                <a:latin typeface="Sons Condensed Extrabold" panose="02060906060206060203" pitchFamily="18" charset="0"/>
              </a:defRPr>
            </a:lvl1pPr>
            <a:lvl2pPr marL="0" indent="0">
              <a:buClrTx/>
              <a:buNone/>
              <a:defRPr>
                <a:solidFill>
                  <a:srgbClr val="212121"/>
                </a:solidFill>
              </a:defRPr>
            </a:lvl2pPr>
            <a:lvl3pPr marL="174625" indent="-174625">
              <a:buClrTx/>
              <a:buFont typeface="Arial" panose="020B0604020202020204" pitchFamily="34" charset="0"/>
              <a:buChar char="•"/>
              <a:defRPr>
                <a:solidFill>
                  <a:srgbClr val="212121"/>
                </a:solidFill>
              </a:defRPr>
            </a:lvl3pPr>
            <a:lvl4pPr marL="365760" indent="-182880">
              <a:buClrTx/>
              <a:buFont typeface="Arial"/>
              <a:buChar char="–"/>
              <a:defRPr>
                <a:solidFill>
                  <a:srgbClr val="212121"/>
                </a:solidFill>
              </a:defRPr>
            </a:lvl4pPr>
            <a:lvl5pPr marL="548640">
              <a:buClrTx/>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pic>
        <p:nvPicPr>
          <p:cNvPr id="8" name="Picture 7" descr="Text&#10;&#10;Description automatically generated">
            <a:extLst>
              <a:ext uri="{FF2B5EF4-FFF2-40B4-BE49-F238E27FC236}">
                <a16:creationId xmlns:a16="http://schemas.microsoft.com/office/drawing/2014/main" id="{4B5C3D82-E702-BE2A-C612-2CB61FE360F7}"/>
              </a:ext>
            </a:extLst>
          </p:cNvPr>
          <p:cNvPicPr>
            <a:picLocks noChangeAspect="1"/>
          </p:cNvPicPr>
          <p:nvPr userDrawn="1"/>
        </p:nvPicPr>
        <p:blipFill>
          <a:blip r:embed="rId2"/>
          <a:stretch>
            <a:fillRect/>
          </a:stretch>
        </p:blipFill>
        <p:spPr>
          <a:xfrm>
            <a:off x="10309860" y="339154"/>
            <a:ext cx="1553486" cy="485273"/>
          </a:xfrm>
          <a:prstGeom prst="rect">
            <a:avLst/>
          </a:prstGeom>
        </p:spPr>
      </p:pic>
      <p:cxnSp>
        <p:nvCxnSpPr>
          <p:cNvPr id="9" name="Straight Connector 8">
            <a:extLst>
              <a:ext uri="{FF2B5EF4-FFF2-40B4-BE49-F238E27FC236}">
                <a16:creationId xmlns:a16="http://schemas.microsoft.com/office/drawing/2014/main" id="{7DEE471C-5A57-358B-365F-A3A68CF40A1F}"/>
              </a:ext>
            </a:extLst>
          </p:cNvPr>
          <p:cNvCxnSpPr>
            <a:cxnSpLocks/>
          </p:cNvCxnSpPr>
          <p:nvPr userDrawn="1"/>
        </p:nvCxnSpPr>
        <p:spPr>
          <a:xfrm>
            <a:off x="4062828" y="1631512"/>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650989A1-4498-FC27-B0F6-071BB240FD74}"/>
              </a:ext>
            </a:extLst>
          </p:cNvPr>
          <p:cNvCxnSpPr>
            <a:cxnSpLocks/>
          </p:cNvCxnSpPr>
          <p:nvPr userDrawn="1"/>
        </p:nvCxnSpPr>
        <p:spPr>
          <a:xfrm>
            <a:off x="7848132" y="1631512"/>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148507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userDrawn="1">
          <p15:clr>
            <a:srgbClr val="FBAE40"/>
          </p15:clr>
        </p15:guide>
        <p15:guide id="2" pos="5030" userDrawn="1">
          <p15:clr>
            <a:srgbClr val="FBAE40"/>
          </p15:clr>
        </p15:guide>
        <p15:guide id="3" orient="horz" pos="1320" userDrawn="1">
          <p15:clr>
            <a:srgbClr val="FBAE40"/>
          </p15:clr>
        </p15:guide>
        <p15:guide id="4" orient="horz" pos="884"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3 Statistics - 2">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
        <p:nvSpPr>
          <p:cNvPr id="12" name="Text Placeholder 10">
            <a:extLst>
              <a:ext uri="{FF2B5EF4-FFF2-40B4-BE49-F238E27FC236}">
                <a16:creationId xmlns:a16="http://schemas.microsoft.com/office/drawing/2014/main" id="{56C95D67-F3C4-3D4F-B32A-CBAC6F0CB332}"/>
              </a:ext>
            </a:extLst>
          </p:cNvPr>
          <p:cNvSpPr>
            <a:spLocks noGrp="1"/>
          </p:cNvSpPr>
          <p:nvPr>
            <p:ph type="body" sz="quarter" idx="15"/>
          </p:nvPr>
        </p:nvSpPr>
        <p:spPr>
          <a:xfrm>
            <a:off x="419100"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3" name="Text Placeholder 10">
            <a:extLst>
              <a:ext uri="{FF2B5EF4-FFF2-40B4-BE49-F238E27FC236}">
                <a16:creationId xmlns:a16="http://schemas.microsoft.com/office/drawing/2014/main" id="{D582616C-16AA-D245-94C9-5BE602638B4E}"/>
              </a:ext>
            </a:extLst>
          </p:cNvPr>
          <p:cNvSpPr>
            <a:spLocks noGrp="1"/>
          </p:cNvSpPr>
          <p:nvPr>
            <p:ph type="body" sz="quarter" idx="16"/>
          </p:nvPr>
        </p:nvSpPr>
        <p:spPr>
          <a:xfrm>
            <a:off x="4206875"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14" name="Text Placeholder 10">
            <a:extLst>
              <a:ext uri="{FF2B5EF4-FFF2-40B4-BE49-F238E27FC236}">
                <a16:creationId xmlns:a16="http://schemas.microsoft.com/office/drawing/2014/main" id="{8A9A19A4-818C-F14A-B5DE-B0DB0C798CB7}"/>
              </a:ext>
            </a:extLst>
          </p:cNvPr>
          <p:cNvSpPr>
            <a:spLocks noGrp="1"/>
          </p:cNvSpPr>
          <p:nvPr>
            <p:ph type="body" sz="quarter" idx="17"/>
          </p:nvPr>
        </p:nvSpPr>
        <p:spPr>
          <a:xfrm>
            <a:off x="7989707" y="1403350"/>
            <a:ext cx="3502152" cy="692150"/>
          </a:xfrm>
        </p:spPr>
        <p:txBody>
          <a:bodyPr/>
          <a:lstStyle>
            <a:lvl1pPr>
              <a:spcAft>
                <a:spcPts val="0"/>
              </a:spcAft>
              <a:defRPr b="1">
                <a:solidFill>
                  <a:schemeClr val="bg1"/>
                </a:solidFill>
              </a:defRPr>
            </a:lvl1pPr>
          </a:lstStyle>
          <a:p>
            <a:pPr lvl="0"/>
            <a:r>
              <a:rPr lang="en-US"/>
              <a:t>Click to edit Master text styles</a:t>
            </a:r>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419100" y="2095501"/>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8" name="Content Placeholder 2">
            <a:extLst>
              <a:ext uri="{FF2B5EF4-FFF2-40B4-BE49-F238E27FC236}">
                <a16:creationId xmlns:a16="http://schemas.microsoft.com/office/drawing/2014/main" id="{8BB63C1B-3209-284E-B44A-E799A58B17A6}"/>
              </a:ext>
            </a:extLst>
          </p:cNvPr>
          <p:cNvSpPr>
            <a:spLocks noGrp="1"/>
          </p:cNvSpPr>
          <p:nvPr>
            <p:ph idx="18" hasCustomPrompt="1"/>
          </p:nvPr>
        </p:nvSpPr>
        <p:spPr>
          <a:xfrm>
            <a:off x="420687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sp>
        <p:nvSpPr>
          <p:cNvPr id="19" name="Content Placeholder 2">
            <a:extLst>
              <a:ext uri="{FF2B5EF4-FFF2-40B4-BE49-F238E27FC236}">
                <a16:creationId xmlns:a16="http://schemas.microsoft.com/office/drawing/2014/main" id="{412F81C6-976F-8E46-9726-C1199B9E693F}"/>
              </a:ext>
            </a:extLst>
          </p:cNvPr>
          <p:cNvSpPr>
            <a:spLocks noGrp="1"/>
          </p:cNvSpPr>
          <p:nvPr>
            <p:ph idx="19" hasCustomPrompt="1"/>
          </p:nvPr>
        </p:nvSpPr>
        <p:spPr>
          <a:xfrm>
            <a:off x="7985125" y="2095503"/>
            <a:ext cx="3502152" cy="4114798"/>
          </a:xfrm>
        </p:spPr>
        <p:txBody>
          <a:bodyPr/>
          <a:lstStyle>
            <a:lvl1pPr>
              <a:lnSpc>
                <a:spcPct val="85000"/>
              </a:lnSpc>
              <a:spcAft>
                <a:spcPts val="2400"/>
              </a:spcAft>
              <a:buClr>
                <a:srgbClr val="C8FF08"/>
              </a:buClr>
              <a:defRPr sz="7200">
                <a:solidFill>
                  <a:srgbClr val="C8FF08"/>
                </a:solidFill>
                <a:latin typeface="Sons Condensed Extrabold" panose="02060906060206060203" pitchFamily="18" charset="0"/>
              </a:defRPr>
            </a:lvl1pPr>
            <a:lvl2pPr marL="0" indent="0">
              <a:buClr>
                <a:srgbClr val="C8FF08"/>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4" name="Straight Connector 3">
            <a:extLst>
              <a:ext uri="{FF2B5EF4-FFF2-40B4-BE49-F238E27FC236}">
                <a16:creationId xmlns:a16="http://schemas.microsoft.com/office/drawing/2014/main" id="{DB938AA9-AA7F-CA72-4172-840511A5C2E9}"/>
              </a:ext>
            </a:extLst>
          </p:cNvPr>
          <p:cNvCxnSpPr>
            <a:cxnSpLocks/>
          </p:cNvCxnSpPr>
          <p:nvPr userDrawn="1"/>
        </p:nvCxnSpPr>
        <p:spPr>
          <a:xfrm>
            <a:off x="4062828"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476105A-C9A5-9304-6A7E-4ABF0C6AAB07}"/>
              </a:ext>
            </a:extLst>
          </p:cNvPr>
          <p:cNvCxnSpPr>
            <a:cxnSpLocks/>
          </p:cNvCxnSpPr>
          <p:nvPr userDrawn="1"/>
        </p:nvCxnSpPr>
        <p:spPr>
          <a:xfrm>
            <a:off x="7848132"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pic>
        <p:nvPicPr>
          <p:cNvPr id="8" name="Picture 7" descr="Text&#10;&#10;Description automatically generated">
            <a:extLst>
              <a:ext uri="{FF2B5EF4-FFF2-40B4-BE49-F238E27FC236}">
                <a16:creationId xmlns:a16="http://schemas.microsoft.com/office/drawing/2014/main" id="{0D252868-F7F1-C0A1-E4BB-8630DDD8758E}"/>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24907409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2650">
          <p15:clr>
            <a:srgbClr val="FBAE40"/>
          </p15:clr>
        </p15:guide>
        <p15:guide id="2" pos="5030">
          <p15:clr>
            <a:srgbClr val="FBAE40"/>
          </p15:clr>
        </p15:guide>
        <p15:guide id="3" orient="horz" pos="888"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Medium Stat 1">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5" cy="457020"/>
          </a:xfrm>
        </p:spPr>
        <p:txBody>
          <a:bodyPr/>
          <a:lstStyle>
            <a:lvl1pP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defRPr sz="9600">
                <a:solidFill>
                  <a:srgbClr val="C8FF08"/>
                </a:solidFill>
                <a:latin typeface="Sons Condensed Extrabold" panose="02060906060206060203" pitchFamily="18" charset="0"/>
              </a:defRPr>
            </a:lvl1pPr>
            <a:lvl2pPr marL="0" indent="0">
              <a:buClr>
                <a:schemeClr val="bg1"/>
              </a:buClr>
              <a:buNone/>
              <a:defRPr>
                <a:solidFill>
                  <a:schemeClr val="bg1"/>
                </a:solidFill>
              </a:defRPr>
            </a:lvl2pPr>
            <a:lvl3pPr marL="174625" indent="-174625">
              <a:buClr>
                <a:schemeClr val="bg1"/>
              </a:buClr>
              <a:buFont typeface="Arial" panose="020B0604020202020204" pitchFamily="34" charset="0"/>
              <a:buChar char="•"/>
              <a:defRPr>
                <a:solidFill>
                  <a:schemeClr val="bg1"/>
                </a:solidFill>
              </a:defRPr>
            </a:lvl3pPr>
            <a:lvl4pPr marL="365760" indent="-182880">
              <a:buClr>
                <a:schemeClr val="bg1"/>
              </a:buClr>
              <a:buFont typeface="Arial"/>
              <a:buChar char="–"/>
              <a:defRPr>
                <a:solidFill>
                  <a:schemeClr val="bg1"/>
                </a:solidFill>
              </a:defRPr>
            </a:lvl4pPr>
            <a:lvl5pPr marL="548640">
              <a:buClr>
                <a:schemeClr val="bg1"/>
              </a:buClr>
              <a:defRPr>
                <a:solidFill>
                  <a:schemeClr val="bg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chemeClr val="bg1"/>
                </a:solidFill>
              </a:defRPr>
            </a:lvl1pPr>
          </a:lstStyle>
          <a:p>
            <a:pPr lvl="0"/>
            <a:r>
              <a:rPr lang="en-US"/>
              <a:t>Click to edit Master text styles</a:t>
            </a:r>
          </a:p>
        </p:txBody>
      </p:sp>
      <p:pic>
        <p:nvPicPr>
          <p:cNvPr id="4" name="Picture 3" descr="Text&#10;&#10;Description automatically generated">
            <a:extLst>
              <a:ext uri="{FF2B5EF4-FFF2-40B4-BE49-F238E27FC236}">
                <a16:creationId xmlns:a16="http://schemas.microsoft.com/office/drawing/2014/main" id="{CC81F1F2-00A2-8A73-11A9-FF59CE240F80}"/>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10" name="Picture Placeholder 6">
            <a:extLst>
              <a:ext uri="{FF2B5EF4-FFF2-40B4-BE49-F238E27FC236}">
                <a16:creationId xmlns:a16="http://schemas.microsoft.com/office/drawing/2014/main" id="{71A28561-E9BE-F7BE-7CA1-61B13B003AE0}"/>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14162257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edium Stat 3">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321247" cy="457020"/>
          </a:xfrm>
        </p:spPr>
        <p:txBody>
          <a:bodyPr/>
          <a:lstStyle>
            <a:lvl1pPr>
              <a:defRPr>
                <a:solidFill>
                  <a:srgbClr val="005E60"/>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85B5BA6-6E37-D642-969A-D710BEC27905}"/>
              </a:ext>
            </a:extLst>
          </p:cNvPr>
          <p:cNvSpPr>
            <a:spLocks noGrp="1"/>
          </p:cNvSpPr>
          <p:nvPr>
            <p:ph idx="1" hasCustomPrompt="1"/>
          </p:nvPr>
        </p:nvSpPr>
        <p:spPr>
          <a:xfrm>
            <a:off x="560675" y="2095501"/>
            <a:ext cx="3502152" cy="4114799"/>
          </a:xfrm>
        </p:spPr>
        <p:txBody>
          <a:bodyPr/>
          <a:lstStyle>
            <a:lvl1pPr>
              <a:lnSpc>
                <a:spcPct val="85000"/>
              </a:lnSpc>
              <a:spcAft>
                <a:spcPts val="2400"/>
              </a:spcAft>
              <a:buClr>
                <a:srgbClr val="212121"/>
              </a:buClr>
              <a:defRPr sz="9600">
                <a:solidFill>
                  <a:srgbClr val="005E60"/>
                </a:solidFill>
                <a:latin typeface="Sons Condensed Extrabold" panose="02060906060206060203" pitchFamily="18" charset="0"/>
              </a:defRPr>
            </a:lvl1pPr>
            <a:lvl2pPr marL="0" indent="0">
              <a:buClr>
                <a:srgbClr val="212121"/>
              </a:buClr>
              <a:buNone/>
              <a:defRPr>
                <a:solidFill>
                  <a:srgbClr val="212121"/>
                </a:solidFill>
              </a:defRPr>
            </a:lvl2pPr>
            <a:lvl3pPr marL="174625" indent="-174625">
              <a:buClr>
                <a:srgbClr val="212121"/>
              </a:buClr>
              <a:buFont typeface="Arial" panose="020B0604020202020204" pitchFamily="34" charset="0"/>
              <a:buChar char="•"/>
              <a:defRPr>
                <a:solidFill>
                  <a:srgbClr val="212121"/>
                </a:solidFill>
              </a:defRPr>
            </a:lvl3pPr>
            <a:lvl4pPr marL="365760" indent="-182880">
              <a:buClr>
                <a:srgbClr val="212121"/>
              </a:buClr>
              <a:buFont typeface="Arial"/>
              <a:buChar char="–"/>
              <a:defRPr>
                <a:solidFill>
                  <a:srgbClr val="212121"/>
                </a:solidFill>
              </a:defRPr>
            </a:lvl4pPr>
            <a:lvl5pPr marL="548640">
              <a:buClr>
                <a:srgbClr val="212121"/>
              </a:buClr>
              <a:defRPr>
                <a:solidFill>
                  <a:srgbClr val="212121"/>
                </a:solidFill>
              </a:defRPr>
            </a:lvl5pPr>
          </a:lstStyle>
          <a:p>
            <a:pPr lvl="0"/>
            <a:r>
              <a:rPr lang="en-US" dirty="0"/>
              <a:t>##</a:t>
            </a:r>
          </a:p>
          <a:p>
            <a:pPr lvl="1"/>
            <a:r>
              <a:rPr lang="en-US" dirty="0"/>
              <a:t>Level 1 text</a:t>
            </a:r>
          </a:p>
          <a:p>
            <a:pPr lvl="2"/>
            <a:r>
              <a:rPr lang="en-US" dirty="0"/>
              <a:t>Level 2 text</a:t>
            </a:r>
          </a:p>
          <a:p>
            <a:pPr lvl="3"/>
            <a:r>
              <a:rPr lang="en-US" dirty="0"/>
              <a:t>Level 3 text</a:t>
            </a:r>
          </a:p>
          <a:p>
            <a:pPr lvl="4"/>
            <a:r>
              <a:rPr lang="en-US" dirty="0"/>
              <a:t>Level 4 text</a:t>
            </a:r>
          </a:p>
          <a:p>
            <a:pPr lvl="4"/>
            <a:endParaRPr lang="en-US" dirty="0"/>
          </a:p>
        </p:txBody>
      </p:sp>
      <p:cxnSp>
        <p:nvCxnSpPr>
          <p:cNvPr id="8" name="Straight Connector 7">
            <a:extLst>
              <a:ext uri="{FF2B5EF4-FFF2-40B4-BE49-F238E27FC236}">
                <a16:creationId xmlns:a16="http://schemas.microsoft.com/office/drawing/2014/main" id="{361B55D1-80E8-FE17-86A3-84686B81A692}"/>
              </a:ext>
            </a:extLst>
          </p:cNvPr>
          <p:cNvCxnSpPr>
            <a:cxnSpLocks/>
          </p:cNvCxnSpPr>
          <p:nvPr userDrawn="1"/>
        </p:nvCxnSpPr>
        <p:spPr>
          <a:xfrm>
            <a:off x="419100" y="1402915"/>
            <a:ext cx="0" cy="4807385"/>
          </a:xfrm>
          <a:prstGeom prst="line">
            <a:avLst/>
          </a:prstGeom>
          <a:ln w="19050">
            <a:solidFill>
              <a:srgbClr val="005E60"/>
            </a:solidFill>
          </a:ln>
        </p:spPr>
        <p:style>
          <a:lnRef idx="1">
            <a:schemeClr val="accent1"/>
          </a:lnRef>
          <a:fillRef idx="0">
            <a:schemeClr val="accent1"/>
          </a:fillRef>
          <a:effectRef idx="0">
            <a:schemeClr val="accent1"/>
          </a:effectRef>
          <a:fontRef idx="minor">
            <a:schemeClr val="tx1"/>
          </a:fontRef>
        </p:style>
      </p:cxnSp>
      <p:sp>
        <p:nvSpPr>
          <p:cNvPr id="9" name="Text Placeholder 10">
            <a:extLst>
              <a:ext uri="{FF2B5EF4-FFF2-40B4-BE49-F238E27FC236}">
                <a16:creationId xmlns:a16="http://schemas.microsoft.com/office/drawing/2014/main" id="{4AFF6E11-C545-F91D-9E64-2C4D90D894F1}"/>
              </a:ext>
            </a:extLst>
          </p:cNvPr>
          <p:cNvSpPr>
            <a:spLocks noGrp="1"/>
          </p:cNvSpPr>
          <p:nvPr>
            <p:ph type="body" sz="quarter" idx="17"/>
          </p:nvPr>
        </p:nvSpPr>
        <p:spPr>
          <a:xfrm>
            <a:off x="560675" y="1403350"/>
            <a:ext cx="3502152" cy="692150"/>
          </a:xfrm>
        </p:spPr>
        <p:txBody>
          <a:bodyPr/>
          <a:lstStyle>
            <a:lvl1pPr>
              <a:spcAft>
                <a:spcPts val="0"/>
              </a:spcAft>
              <a:defRPr b="1">
                <a:solidFill>
                  <a:srgbClr val="212121"/>
                </a:solidFill>
              </a:defRPr>
            </a:lvl1pPr>
          </a:lstStyle>
          <a:p>
            <a:pPr lvl="0"/>
            <a:r>
              <a:rPr lang="en-US"/>
              <a:t>Click to edit Master text styles</a:t>
            </a:r>
          </a:p>
        </p:txBody>
      </p:sp>
      <p:pic>
        <p:nvPicPr>
          <p:cNvPr id="7" name="Picture 6" descr="Text&#10;&#10;Description automatically generated">
            <a:extLst>
              <a:ext uri="{FF2B5EF4-FFF2-40B4-BE49-F238E27FC236}">
                <a16:creationId xmlns:a16="http://schemas.microsoft.com/office/drawing/2014/main" id="{AAF6CB12-6043-6858-0E99-4D0C63CFABAD}"/>
              </a:ext>
            </a:extLst>
          </p:cNvPr>
          <p:cNvPicPr>
            <a:picLocks noChangeAspect="1"/>
          </p:cNvPicPr>
          <p:nvPr userDrawn="1"/>
        </p:nvPicPr>
        <p:blipFill>
          <a:blip r:embed="rId2"/>
          <a:stretch>
            <a:fillRect/>
          </a:stretch>
        </p:blipFill>
        <p:spPr>
          <a:xfrm>
            <a:off x="10309860" y="339154"/>
            <a:ext cx="1553486" cy="485273"/>
          </a:xfrm>
          <a:prstGeom prst="rect">
            <a:avLst/>
          </a:prstGeom>
        </p:spPr>
      </p:pic>
      <p:sp>
        <p:nvSpPr>
          <p:cNvPr id="11" name="Picture Placeholder 6">
            <a:extLst>
              <a:ext uri="{FF2B5EF4-FFF2-40B4-BE49-F238E27FC236}">
                <a16:creationId xmlns:a16="http://schemas.microsoft.com/office/drawing/2014/main" id="{D31B6C8E-F2DD-F24A-E739-15C9300FE423}"/>
              </a:ext>
            </a:extLst>
          </p:cNvPr>
          <p:cNvSpPr>
            <a:spLocks noGrp="1"/>
          </p:cNvSpPr>
          <p:nvPr>
            <p:ph type="pic" sz="quarter" idx="13"/>
          </p:nvPr>
        </p:nvSpPr>
        <p:spPr>
          <a:xfrm>
            <a:off x="4409575" y="1403350"/>
            <a:ext cx="7363326" cy="4806950"/>
          </a:xfrm>
          <a:solidFill>
            <a:schemeClr val="accent3"/>
          </a:solidFill>
        </p:spPr>
        <p:txBody>
          <a:bodyPr/>
          <a:lstStyle>
            <a:lvl1pPr>
              <a:defRPr>
                <a:solidFill>
                  <a:schemeClr val="tx2"/>
                </a:solidFill>
              </a:defRPr>
            </a:lvl1pPr>
          </a:lstStyle>
          <a:p>
            <a:r>
              <a:rPr lang="en-US" dirty="0"/>
              <a:t>Click icon to add picture</a:t>
            </a:r>
          </a:p>
        </p:txBody>
      </p:sp>
    </p:spTree>
    <p:extLst>
      <p:ext uri="{BB962C8B-B14F-4D97-AF65-F5344CB8AC3E}">
        <p14:creationId xmlns:p14="http://schemas.microsoft.com/office/powerpoint/2010/main" val="22607089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rge Stat 1">
    <p:bg>
      <p:bgPr>
        <a:solidFill>
          <a:schemeClr val="bg1"/>
        </a:solidFill>
        <a:effectLst/>
      </p:bgPr>
    </p:bg>
    <p:spTree>
      <p:nvGrpSpPr>
        <p:cNvPr id="1" name=""/>
        <p:cNvGrpSpPr/>
        <p:nvPr/>
      </p:nvGrpSpPr>
      <p:grpSpPr>
        <a:xfrm>
          <a:off x="0" y="0"/>
          <a:ext cx="0" cy="0"/>
          <a:chOff x="0" y="0"/>
          <a:chExt cx="0" cy="0"/>
        </a:xfrm>
      </p:grpSpPr>
      <p:sp>
        <p:nvSpPr>
          <p:cNvPr id="4" name="Text Placeholder 4">
            <a:extLst>
              <a:ext uri="{FF2B5EF4-FFF2-40B4-BE49-F238E27FC236}">
                <a16:creationId xmlns:a16="http://schemas.microsoft.com/office/drawing/2014/main" id="{AABF08DC-CB35-0F04-05DA-1827B5142E5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rgbClr val="21212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rgbClr val="21212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29970" cy="457020"/>
          </a:xfrm>
        </p:spPr>
        <p:txBody>
          <a:bodyPr/>
          <a:lstStyle>
            <a:lvl1pPr>
              <a:defRPr>
                <a:solidFill>
                  <a:schemeClr val="tx1"/>
                </a:solidFill>
              </a:defRPr>
            </a:lvl1pPr>
          </a:lstStyle>
          <a:p>
            <a:r>
              <a:rPr lang="en-US"/>
              <a:t>Click to edit Master title style</a:t>
            </a:r>
            <a:endParaRPr lang="en-US" dirty="0"/>
          </a:p>
        </p:txBody>
      </p:sp>
      <p:pic>
        <p:nvPicPr>
          <p:cNvPr id="3" name="Picture 2" descr="Text&#10;&#10;Description automatically generated">
            <a:extLst>
              <a:ext uri="{FF2B5EF4-FFF2-40B4-BE49-F238E27FC236}">
                <a16:creationId xmlns:a16="http://schemas.microsoft.com/office/drawing/2014/main" id="{1814A848-6923-A1BC-E08A-7728C5A4BCCD}"/>
              </a:ext>
            </a:extLst>
          </p:cNvPr>
          <p:cNvPicPr>
            <a:picLocks noChangeAspect="1"/>
          </p:cNvPicPr>
          <p:nvPr userDrawn="1"/>
        </p:nvPicPr>
        <p:blipFill>
          <a:blip r:embed="rId2"/>
          <a:stretch>
            <a:fillRect/>
          </a:stretch>
        </p:blipFill>
        <p:spPr>
          <a:xfrm>
            <a:off x="10309860" y="339154"/>
            <a:ext cx="1553486" cy="485273"/>
          </a:xfrm>
          <a:prstGeom prst="rect">
            <a:avLst/>
          </a:prstGeom>
        </p:spPr>
      </p:pic>
    </p:spTree>
    <p:extLst>
      <p:ext uri="{BB962C8B-B14F-4D97-AF65-F5344CB8AC3E}">
        <p14:creationId xmlns:p14="http://schemas.microsoft.com/office/powerpoint/2010/main" val="34200066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orient="horz" pos="88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Large Stat 2">
    <p:bg>
      <p:bgPr>
        <a:solidFill>
          <a:schemeClr val="tx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bg1"/>
                </a:solidFill>
              </a:defRPr>
            </a:lvl1pPr>
          </a:lstStyle>
          <a:p>
            <a:r>
              <a:rPr lang="en-US" dirty="0"/>
              <a:t>© 2023 GE Vernova and/or its affiliates.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bg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a:xfrm>
            <a:off x="419100" y="419101"/>
            <a:ext cx="9569726" cy="457020"/>
          </a:xfrm>
          <a:noFill/>
        </p:spPr>
        <p:txBody>
          <a:bodyPr/>
          <a:lstStyle>
            <a:lvl1pPr>
              <a:defRPr>
                <a:solidFill>
                  <a:schemeClr val="bg1"/>
                </a:solidFill>
              </a:defRPr>
            </a:lvl1pPr>
          </a:lstStyle>
          <a:p>
            <a:r>
              <a:rPr lang="en-US"/>
              <a:t>Click to edit Master title style</a:t>
            </a:r>
            <a:endParaRPr lang="en-US" dirty="0"/>
          </a:p>
        </p:txBody>
      </p:sp>
      <p:pic>
        <p:nvPicPr>
          <p:cNvPr id="7" name="Picture 6" descr="Text&#10;&#10;Description automatically generated">
            <a:extLst>
              <a:ext uri="{FF2B5EF4-FFF2-40B4-BE49-F238E27FC236}">
                <a16:creationId xmlns:a16="http://schemas.microsoft.com/office/drawing/2014/main" id="{60FA68EB-1DE5-F3BC-29A5-0AAC8831E29A}"/>
              </a:ext>
            </a:extLst>
          </p:cNvPr>
          <p:cNvPicPr>
            <a:picLocks noChangeAspect="1"/>
          </p:cNvPicPr>
          <p:nvPr userDrawn="1"/>
        </p:nvPicPr>
        <p:blipFill>
          <a:blip r:embed="rId2"/>
          <a:stretch>
            <a:fillRect/>
          </a:stretch>
        </p:blipFill>
        <p:spPr>
          <a:xfrm>
            <a:off x="10309857" y="339154"/>
            <a:ext cx="1553489" cy="485273"/>
          </a:xfrm>
          <a:prstGeom prst="rect">
            <a:avLst/>
          </a:prstGeom>
        </p:spPr>
      </p:pic>
      <p:sp>
        <p:nvSpPr>
          <p:cNvPr id="3" name="Text Placeholder 4">
            <a:extLst>
              <a:ext uri="{FF2B5EF4-FFF2-40B4-BE49-F238E27FC236}">
                <a16:creationId xmlns:a16="http://schemas.microsoft.com/office/drawing/2014/main" id="{8005F10C-0E79-4A3F-86CA-73848D7D1732}"/>
              </a:ext>
            </a:extLst>
          </p:cNvPr>
          <p:cNvSpPr>
            <a:spLocks noGrp="1"/>
          </p:cNvSpPr>
          <p:nvPr>
            <p:ph type="body" sz="quarter" idx="4294967295" hasCustomPrompt="1"/>
          </p:nvPr>
        </p:nvSpPr>
        <p:spPr>
          <a:xfrm>
            <a:off x="429039" y="2405291"/>
            <a:ext cx="11353800" cy="4033608"/>
          </a:xfrm>
        </p:spPr>
        <p:txBody>
          <a:bodyPr anchor="t"/>
          <a:lstStyle>
            <a:lvl1pPr>
              <a:lnSpc>
                <a:spcPts val="40000"/>
              </a:lnSpc>
              <a:spcAft>
                <a:spcPts val="0"/>
              </a:spcAft>
              <a:defRPr sz="49600">
                <a:solidFill>
                  <a:schemeClr val="bg2"/>
                </a:solidFill>
                <a:latin typeface="Sons Condensed Extrabold" panose="02060906060206060203" pitchFamily="18" charset="0"/>
              </a:defRPr>
            </a:lvl1pPr>
          </a:lstStyle>
          <a:p>
            <a:r>
              <a:rPr lang="en-US" dirty="0"/>
              <a:t>##</a:t>
            </a:r>
          </a:p>
        </p:txBody>
      </p:sp>
    </p:spTree>
    <p:extLst>
      <p:ext uri="{BB962C8B-B14F-4D97-AF65-F5344CB8AC3E}">
        <p14:creationId xmlns:p14="http://schemas.microsoft.com/office/powerpoint/2010/main" val="227624679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1320">
          <p15:clr>
            <a:srgbClr val="FBAE40"/>
          </p15:clr>
        </p15:guide>
        <p15:guide id="4" orient="horz" pos="884">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Sign-off">
    <p:bg>
      <p:bgRef idx="1001">
        <a:schemeClr val="bg1"/>
      </p:bgRef>
    </p:bg>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A7A56CA2-D329-EF33-C456-27ECDB40249C}"/>
              </a:ext>
            </a:extLst>
          </p:cNvPr>
          <p:cNvPicPr>
            <a:picLocks noChangeAspect="1"/>
          </p:cNvPicPr>
          <p:nvPr userDrawn="1"/>
        </p:nvPicPr>
        <p:blipFill>
          <a:blip r:embed="rId2"/>
          <a:stretch>
            <a:fillRect/>
          </a:stretch>
        </p:blipFill>
        <p:spPr>
          <a:xfrm>
            <a:off x="2598420" y="2336437"/>
            <a:ext cx="6995160" cy="2185127"/>
          </a:xfrm>
          <a:prstGeom prst="rect">
            <a:avLst/>
          </a:prstGeom>
        </p:spPr>
      </p:pic>
    </p:spTree>
    <p:extLst>
      <p:ext uri="{BB962C8B-B14F-4D97-AF65-F5344CB8AC3E}">
        <p14:creationId xmlns:p14="http://schemas.microsoft.com/office/powerpoint/2010/main" val="184882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blank" preserve="1">
  <p:cSld name="Sign-off 2">
    <p:bg>
      <p:bgPr>
        <a:solidFill>
          <a:srgbClr val="005E60"/>
        </a:solidFill>
        <a:effectLst/>
      </p:bgPr>
    </p:bg>
    <p:spTree>
      <p:nvGrpSpPr>
        <p:cNvPr id="1" name=""/>
        <p:cNvGrpSpPr/>
        <p:nvPr/>
      </p:nvGrpSpPr>
      <p:grpSpPr>
        <a:xfrm>
          <a:off x="0" y="0"/>
          <a:ext cx="0" cy="0"/>
          <a:chOff x="0" y="0"/>
          <a:chExt cx="0" cy="0"/>
        </a:xfrm>
      </p:grpSpPr>
      <p:pic>
        <p:nvPicPr>
          <p:cNvPr id="2" name="Picture 1" descr="Text&#10;&#10;Description automatically generated">
            <a:extLst>
              <a:ext uri="{FF2B5EF4-FFF2-40B4-BE49-F238E27FC236}">
                <a16:creationId xmlns:a16="http://schemas.microsoft.com/office/drawing/2014/main" id="{F9CD72FB-B974-3D99-2541-287114550180}"/>
              </a:ext>
            </a:extLst>
          </p:cNvPr>
          <p:cNvPicPr>
            <a:picLocks noChangeAspect="1"/>
          </p:cNvPicPr>
          <p:nvPr userDrawn="1"/>
        </p:nvPicPr>
        <p:blipFill>
          <a:blip r:embed="rId2"/>
          <a:stretch>
            <a:fillRect/>
          </a:stretch>
        </p:blipFill>
        <p:spPr>
          <a:xfrm>
            <a:off x="2598420" y="2336437"/>
            <a:ext cx="6995161" cy="2185127"/>
          </a:xfrm>
          <a:prstGeom prst="rect">
            <a:avLst/>
          </a:prstGeom>
        </p:spPr>
      </p:pic>
    </p:spTree>
    <p:extLst>
      <p:ext uri="{BB962C8B-B14F-4D97-AF65-F5344CB8AC3E}">
        <p14:creationId xmlns:p14="http://schemas.microsoft.com/office/powerpoint/2010/main" val="325759493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7D06D1D-EF91-9A71-DC72-361C3A57114D}"/>
              </a:ext>
            </a:extLst>
          </p:cNvPr>
          <p:cNvSpPr>
            <a:spLocks noGrp="1"/>
          </p:cNvSpPr>
          <p:nvPr>
            <p:ph type="ftr" sz="quarter" idx="10"/>
          </p:nvPr>
        </p:nvSpPr>
        <p:spPr/>
        <p:txBody>
          <a:bodyPr/>
          <a:lstStyle/>
          <a:p>
            <a:r>
              <a:rPr lang="en-US"/>
              <a:t>© 2024 GE Vernova and/or its affiliates. All rights reserved.</a:t>
            </a:r>
            <a:endParaRPr lang="en-US" dirty="0"/>
          </a:p>
        </p:txBody>
      </p:sp>
      <p:sp>
        <p:nvSpPr>
          <p:cNvPr id="4" name="Slide Number Placeholder 3">
            <a:extLst>
              <a:ext uri="{FF2B5EF4-FFF2-40B4-BE49-F238E27FC236}">
                <a16:creationId xmlns:a16="http://schemas.microsoft.com/office/drawing/2014/main" id="{56D7CB75-22E3-2AF9-CEE8-D734A570F7A5}"/>
              </a:ext>
            </a:extLst>
          </p:cNvPr>
          <p:cNvSpPr>
            <a:spLocks noGrp="1"/>
          </p:cNvSpPr>
          <p:nvPr>
            <p:ph type="sldNum" sz="quarter" idx="11"/>
          </p:nvPr>
        </p:nvSpPr>
        <p:spPr/>
        <p:txBody>
          <a:bodyPr/>
          <a:lstStyle/>
          <a:p>
            <a:fld id="{7A7A97EF-C944-4447-B862-B593E9B4A0FF}" type="slidenum">
              <a:rPr lang="en-US" smtClean="0"/>
              <a:pPr/>
              <a:t>‹#›</a:t>
            </a:fld>
            <a:endParaRPr lang="en-US" dirty="0"/>
          </a:p>
        </p:txBody>
      </p:sp>
      <p:sp>
        <p:nvSpPr>
          <p:cNvPr id="5" name="Rectangle 4">
            <a:extLst>
              <a:ext uri="{FF2B5EF4-FFF2-40B4-BE49-F238E27FC236}">
                <a16:creationId xmlns:a16="http://schemas.microsoft.com/office/drawing/2014/main" id="{DB359327-5636-FB51-EDD9-D66D18DE53FA}"/>
              </a:ext>
            </a:extLst>
          </p:cNvPr>
          <p:cNvSpPr/>
          <p:nvPr userDrawn="1"/>
        </p:nvSpPr>
        <p:spPr>
          <a:xfrm>
            <a:off x="495300" y="806450"/>
            <a:ext cx="7607300" cy="5778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6" name="Rectangle 5">
            <a:extLst>
              <a:ext uri="{FF2B5EF4-FFF2-40B4-BE49-F238E27FC236}">
                <a16:creationId xmlns:a16="http://schemas.microsoft.com/office/drawing/2014/main" id="{4C055A0F-787F-23D2-613E-EDDF44DBAC60}"/>
              </a:ext>
            </a:extLst>
          </p:cNvPr>
          <p:cNvSpPr/>
          <p:nvPr userDrawn="1"/>
        </p:nvSpPr>
        <p:spPr>
          <a:xfrm>
            <a:off x="495300" y="228600"/>
            <a:ext cx="9417050" cy="40005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H"/>
          </a:p>
        </p:txBody>
      </p:sp>
    </p:spTree>
    <p:extLst>
      <p:ext uri="{BB962C8B-B14F-4D97-AF65-F5344CB8AC3E}">
        <p14:creationId xmlns:p14="http://schemas.microsoft.com/office/powerpoint/2010/main" val="25482317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Divider 1 Blue">
    <p:bg>
      <p:bgPr>
        <a:solidFill>
          <a:srgbClr val="005E60"/>
        </a:solidFill>
        <a:effectLst/>
      </p:bgPr>
    </p:bg>
    <p:spTree>
      <p:nvGrpSpPr>
        <p:cNvPr id="1" name=""/>
        <p:cNvGrpSpPr/>
        <p:nvPr/>
      </p:nvGrpSpPr>
      <p:grpSpPr>
        <a:xfrm>
          <a:off x="0" y="0"/>
          <a:ext cx="0" cy="0"/>
          <a:chOff x="0" y="0"/>
          <a:chExt cx="0" cy="0"/>
        </a:xfrm>
      </p:grpSpPr>
      <p:pic>
        <p:nvPicPr>
          <p:cNvPr id="9" name="Picture 8" descr="GE Vernova_KeyArt_Animation_Still_FocusA_230414">
            <a:extLst>
              <a:ext uri="{FF2B5EF4-FFF2-40B4-BE49-F238E27FC236}">
                <a16:creationId xmlns:a16="http://schemas.microsoft.com/office/drawing/2014/main" id="{A5602646-4D5B-1DA9-B074-EAFCDEEE3BF1}"/>
              </a:ext>
            </a:extLst>
          </p:cNvPr>
          <p:cNvPicPr>
            <a:picLocks noGrp="1" noChangeAspect="1"/>
          </p:cNvPicPr>
          <p:nvPr isPhoto="1" userDrawn="1"/>
        </p:nvPicPr>
        <p:blipFill rotWithShape="1">
          <a:blip r:embed="rId2" cstate="print">
            <a:lum/>
            <a:extLst>
              <a:ext uri="{28A0092B-C50C-407E-A947-70E740481C1C}">
                <a14:useLocalDpi xmlns:a14="http://schemas.microsoft.com/office/drawing/2010/main"/>
              </a:ext>
            </a:extLst>
          </a:blip>
          <a:srcRect l="1" t="30694" r="35291" b="4598"/>
          <a:stretch/>
        </p:blipFill>
        <p:spPr>
          <a:xfrm flipV="1">
            <a:off x="0" y="0"/>
            <a:ext cx="12192000" cy="6858000"/>
          </a:xfrm>
          <a:prstGeom prst="rect">
            <a:avLst/>
          </a:prstGeom>
        </p:spPr>
      </p:pic>
      <p:sp>
        <p:nvSpPr>
          <p:cNvPr id="5" name="Footer Placeholder 4">
            <a:extLst>
              <a:ext uri="{FF2B5EF4-FFF2-40B4-BE49-F238E27FC236}">
                <a16:creationId xmlns:a16="http://schemas.microsoft.com/office/drawing/2014/main" id="{16808260-87F5-684E-B4AE-F4EFAA65FF4F}"/>
              </a:ext>
            </a:extLst>
          </p:cNvPr>
          <p:cNvSpPr>
            <a:spLocks noGrp="1"/>
          </p:cNvSpPr>
          <p:nvPr>
            <p:ph type="ftr" sz="quarter" idx="11"/>
          </p:nvPr>
        </p:nvSpPr>
        <p:spPr/>
        <p:txBody>
          <a:bodyPr/>
          <a:lstStyle>
            <a:lvl1pPr>
              <a:defRPr>
                <a:solidFill>
                  <a:schemeClr val="tx1"/>
                </a:solidFill>
              </a:defRPr>
            </a:lvl1pPr>
          </a:lstStyle>
          <a:p>
            <a:pPr defTabSz="457063" eaLnBrk="0" hangingPunct="0"/>
            <a:r>
              <a:rPr lang="en-US" dirty="0"/>
              <a:t>© GE Vernova, 2023. All rights reserved.</a:t>
            </a:r>
          </a:p>
        </p:txBody>
      </p:sp>
      <p:sp>
        <p:nvSpPr>
          <p:cNvPr id="6" name="Slide Number Placeholder 5">
            <a:extLst>
              <a:ext uri="{FF2B5EF4-FFF2-40B4-BE49-F238E27FC236}">
                <a16:creationId xmlns:a16="http://schemas.microsoft.com/office/drawing/2014/main" id="{BADAAE3E-8C1F-854F-A5B6-DE2B8F20033B}"/>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10" name="Section Number">
            <a:extLst>
              <a:ext uri="{FF2B5EF4-FFF2-40B4-BE49-F238E27FC236}">
                <a16:creationId xmlns:a16="http://schemas.microsoft.com/office/drawing/2014/main" id="{E0E81EB4-471C-3F45-B7C7-3BCA82925019}"/>
              </a:ext>
            </a:extLst>
          </p:cNvPr>
          <p:cNvSpPr>
            <a:spLocks noGrp="1"/>
          </p:cNvSpPr>
          <p:nvPr>
            <p:ph type="body" sz="quarter" idx="13" hasCustomPrompt="1"/>
          </p:nvPr>
        </p:nvSpPr>
        <p:spPr>
          <a:xfrm>
            <a:off x="457200" y="2012315"/>
            <a:ext cx="2011680" cy="365760"/>
          </a:xfrm>
          <a:noFill/>
        </p:spPr>
        <p:txBody>
          <a:bodyPr wrap="none">
            <a:noAutofit/>
          </a:bodyPr>
          <a:lstStyle>
            <a:lvl1pPr>
              <a:spcAft>
                <a:spcPts val="0"/>
              </a:spcAft>
              <a:defRPr sz="1600">
                <a:solidFill>
                  <a:schemeClr val="tx1"/>
                </a:solidFill>
              </a:defRPr>
            </a:lvl1pPr>
          </a:lstStyle>
          <a:p>
            <a:pPr lvl="0"/>
            <a:r>
              <a:rPr lang="en-US"/>
              <a:t>[Optional section ##]</a:t>
            </a:r>
          </a:p>
        </p:txBody>
      </p:sp>
      <p:sp>
        <p:nvSpPr>
          <p:cNvPr id="2" name="Title 1">
            <a:extLst>
              <a:ext uri="{FF2B5EF4-FFF2-40B4-BE49-F238E27FC236}">
                <a16:creationId xmlns:a16="http://schemas.microsoft.com/office/drawing/2014/main" id="{8DF85884-5EEF-2342-9652-061EE3FFEC7D}"/>
              </a:ext>
            </a:extLst>
          </p:cNvPr>
          <p:cNvSpPr>
            <a:spLocks noGrp="1"/>
          </p:cNvSpPr>
          <p:nvPr>
            <p:ph type="title" hasCustomPrompt="1"/>
          </p:nvPr>
        </p:nvSpPr>
        <p:spPr>
          <a:xfrm>
            <a:off x="457200" y="2378075"/>
            <a:ext cx="9601200" cy="1965325"/>
          </a:xfrm>
        </p:spPr>
        <p:txBody>
          <a:bodyPr anchor="t" anchorCtr="0"/>
          <a:lstStyle>
            <a:lvl1pPr>
              <a:defRPr sz="6000">
                <a:solidFill>
                  <a:srgbClr val="C8FF08"/>
                </a:solidFill>
                <a:latin typeface="Sons Condensed Extrabold" panose="02060906060206060203" pitchFamily="18" charset="0"/>
              </a:defRPr>
            </a:lvl1pPr>
          </a:lstStyle>
          <a:p>
            <a:r>
              <a:rPr lang="en-US" dirty="0"/>
              <a:t>CLICK TO EDIT MASTER TITLE STYLE</a:t>
            </a:r>
          </a:p>
        </p:txBody>
      </p:sp>
      <p:pic>
        <p:nvPicPr>
          <p:cNvPr id="13" name="Picture 12" descr="Text&#10;&#10;Description automatically generated">
            <a:extLst>
              <a:ext uri="{FF2B5EF4-FFF2-40B4-BE49-F238E27FC236}">
                <a16:creationId xmlns:a16="http://schemas.microsoft.com/office/drawing/2014/main" id="{F110DA1C-8044-3987-64C5-EA018EA848A8}"/>
              </a:ext>
            </a:extLst>
          </p:cNvPr>
          <p:cNvPicPr>
            <a:picLocks noChangeAspect="1"/>
          </p:cNvPicPr>
          <p:nvPr userDrawn="1"/>
        </p:nvPicPr>
        <p:blipFill>
          <a:blip r:embed="rId3"/>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17915986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76">
          <p15:clr>
            <a:srgbClr val="FBAE40"/>
          </p15:clr>
        </p15:guide>
        <p15:guide id="2" orient="horz" pos="1498">
          <p15:clr>
            <a:srgbClr val="FBAE40"/>
          </p15:clr>
        </p15:guide>
        <p15:guide id="3" pos="356">
          <p15:clr>
            <a:srgbClr val="FBAE40"/>
          </p15:clr>
        </p15:guide>
        <p15:guide id="4" orient="horz" pos="273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Agenda 1 Blue">
    <p:bg>
      <p:bgPr>
        <a:solidFill>
          <a:srgbClr val="005E60"/>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EC8514C-8B9F-2747-A1ED-3FA7A6D9CE54}"/>
              </a:ext>
            </a:extLst>
          </p:cNvPr>
          <p:cNvSpPr>
            <a:spLocks noGrp="1"/>
          </p:cNvSpPr>
          <p:nvPr>
            <p:ph type="ftr" sz="quarter" idx="11"/>
          </p:nvPr>
        </p:nvSpPr>
        <p:spPr/>
        <p:txBody>
          <a:bodyPr/>
          <a:lstStyle>
            <a:lvl1pPr>
              <a:defRPr>
                <a:solidFill>
                  <a:schemeClr val="tx1"/>
                </a:solidFill>
              </a:defRPr>
            </a:lvl1pPr>
          </a:lstStyle>
          <a:p>
            <a:pPr defTabSz="457063" eaLnBrk="0" hangingPunct="0"/>
            <a:r>
              <a:rPr lang="en-US" dirty="0"/>
              <a:t>© GE Vernova, 2023. All rights reserved.</a:t>
            </a:r>
          </a:p>
        </p:txBody>
      </p:sp>
      <p:sp>
        <p:nvSpPr>
          <p:cNvPr id="6" name="Slide Number Placeholder 5">
            <a:extLst>
              <a:ext uri="{FF2B5EF4-FFF2-40B4-BE49-F238E27FC236}">
                <a16:creationId xmlns:a16="http://schemas.microsoft.com/office/drawing/2014/main" id="{1CB80EA9-85B3-704C-873E-F0BF0BF1C855}"/>
              </a:ext>
            </a:extLst>
          </p:cNvPr>
          <p:cNvSpPr>
            <a:spLocks noGrp="1"/>
          </p:cNvSpPr>
          <p:nvPr>
            <p:ph type="sldNum" sz="quarter" idx="12"/>
          </p:nvPr>
        </p:nvSpPr>
        <p:spPr/>
        <p:txBody>
          <a:bodyPr/>
          <a:lstStyle>
            <a:lvl1pPr>
              <a:defRPr>
                <a:solidFill>
                  <a:schemeClr val="tx1"/>
                </a:solidFill>
              </a:defRPr>
            </a:lvl1pPr>
          </a:lstStyle>
          <a:p>
            <a:fld id="{7A7A97EF-C944-4447-B862-B593E9B4A0FF}" type="slidenum">
              <a:rPr lang="en-US" smtClean="0"/>
              <a:pPr/>
              <a:t>‹#›</a:t>
            </a:fld>
            <a:endParaRPr lang="en-US" dirty="0"/>
          </a:p>
        </p:txBody>
      </p:sp>
      <p:sp>
        <p:nvSpPr>
          <p:cNvPr id="2" name="Title 1">
            <a:extLst>
              <a:ext uri="{FF2B5EF4-FFF2-40B4-BE49-F238E27FC236}">
                <a16:creationId xmlns:a16="http://schemas.microsoft.com/office/drawing/2014/main" id="{68F3A8C4-D9AF-D346-82F3-87CDA097C19A}"/>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0" name="Text Placeholder 9">
            <a:extLst>
              <a:ext uri="{FF2B5EF4-FFF2-40B4-BE49-F238E27FC236}">
                <a16:creationId xmlns:a16="http://schemas.microsoft.com/office/drawing/2014/main" id="{F4F0CB69-A8C9-3148-BE3D-A492C022E5FA}"/>
              </a:ext>
            </a:extLst>
          </p:cNvPr>
          <p:cNvSpPr>
            <a:spLocks noGrp="1"/>
          </p:cNvSpPr>
          <p:nvPr>
            <p:ph type="body" sz="quarter" idx="13" hasCustomPrompt="1"/>
          </p:nvPr>
        </p:nvSpPr>
        <p:spPr>
          <a:xfrm>
            <a:off x="876300" y="1403350"/>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dirty="0"/>
              <a:t>##</a:t>
            </a:r>
          </a:p>
        </p:txBody>
      </p:sp>
      <p:sp>
        <p:nvSpPr>
          <p:cNvPr id="11" name="Text Placeholder 9">
            <a:extLst>
              <a:ext uri="{FF2B5EF4-FFF2-40B4-BE49-F238E27FC236}">
                <a16:creationId xmlns:a16="http://schemas.microsoft.com/office/drawing/2014/main" id="{73263E97-D3AD-CB4D-A38F-E36DBD10B2B0}"/>
              </a:ext>
            </a:extLst>
          </p:cNvPr>
          <p:cNvSpPr>
            <a:spLocks noGrp="1"/>
          </p:cNvSpPr>
          <p:nvPr>
            <p:ph type="body" sz="quarter" idx="14" hasCustomPrompt="1"/>
          </p:nvPr>
        </p:nvSpPr>
        <p:spPr>
          <a:xfrm>
            <a:off x="876300" y="2378075"/>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dirty="0"/>
              <a:t>##</a:t>
            </a:r>
          </a:p>
        </p:txBody>
      </p:sp>
      <p:sp>
        <p:nvSpPr>
          <p:cNvPr id="12" name="Text Placeholder 9">
            <a:extLst>
              <a:ext uri="{FF2B5EF4-FFF2-40B4-BE49-F238E27FC236}">
                <a16:creationId xmlns:a16="http://schemas.microsoft.com/office/drawing/2014/main" id="{40C84B42-6275-4644-86D4-ECD146789AA4}"/>
              </a:ext>
            </a:extLst>
          </p:cNvPr>
          <p:cNvSpPr>
            <a:spLocks noGrp="1"/>
          </p:cNvSpPr>
          <p:nvPr>
            <p:ph type="body" sz="quarter" idx="15" hasCustomPrompt="1"/>
          </p:nvPr>
        </p:nvSpPr>
        <p:spPr>
          <a:xfrm>
            <a:off x="876300" y="3359150"/>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13" name="Text Placeholder 9">
            <a:extLst>
              <a:ext uri="{FF2B5EF4-FFF2-40B4-BE49-F238E27FC236}">
                <a16:creationId xmlns:a16="http://schemas.microsoft.com/office/drawing/2014/main" id="{C0F8B490-4361-CC4A-9F61-79B2E81AFCDE}"/>
              </a:ext>
            </a:extLst>
          </p:cNvPr>
          <p:cNvSpPr>
            <a:spLocks noGrp="1"/>
          </p:cNvSpPr>
          <p:nvPr>
            <p:ph type="body" sz="quarter" idx="16" hasCustomPrompt="1"/>
          </p:nvPr>
        </p:nvSpPr>
        <p:spPr>
          <a:xfrm>
            <a:off x="876300" y="4343399"/>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14" name="Text Placeholder 9">
            <a:extLst>
              <a:ext uri="{FF2B5EF4-FFF2-40B4-BE49-F238E27FC236}">
                <a16:creationId xmlns:a16="http://schemas.microsoft.com/office/drawing/2014/main" id="{73CABFCA-A501-7E4D-9263-58563C08AE0E}"/>
              </a:ext>
            </a:extLst>
          </p:cNvPr>
          <p:cNvSpPr>
            <a:spLocks noGrp="1"/>
          </p:cNvSpPr>
          <p:nvPr>
            <p:ph type="body" sz="quarter" idx="17" hasCustomPrompt="1"/>
          </p:nvPr>
        </p:nvSpPr>
        <p:spPr>
          <a:xfrm>
            <a:off x="876300" y="5318126"/>
            <a:ext cx="1104900" cy="892175"/>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17" name="Text Placeholder 9">
            <a:extLst>
              <a:ext uri="{FF2B5EF4-FFF2-40B4-BE49-F238E27FC236}">
                <a16:creationId xmlns:a16="http://schemas.microsoft.com/office/drawing/2014/main" id="{6AC87837-1EA6-2349-931C-E6FFFB8DBB27}"/>
              </a:ext>
            </a:extLst>
          </p:cNvPr>
          <p:cNvSpPr>
            <a:spLocks noGrp="1"/>
          </p:cNvSpPr>
          <p:nvPr>
            <p:ph type="body" sz="quarter" idx="18" hasCustomPrompt="1"/>
          </p:nvPr>
        </p:nvSpPr>
        <p:spPr>
          <a:xfrm>
            <a:off x="6553200" y="1403350"/>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18" name="Text Placeholder 9">
            <a:extLst>
              <a:ext uri="{FF2B5EF4-FFF2-40B4-BE49-F238E27FC236}">
                <a16:creationId xmlns:a16="http://schemas.microsoft.com/office/drawing/2014/main" id="{36138EAC-7695-894D-BBD4-055459A09359}"/>
              </a:ext>
            </a:extLst>
          </p:cNvPr>
          <p:cNvSpPr>
            <a:spLocks noGrp="1"/>
          </p:cNvSpPr>
          <p:nvPr>
            <p:ph type="body" sz="quarter" idx="19" hasCustomPrompt="1"/>
          </p:nvPr>
        </p:nvSpPr>
        <p:spPr>
          <a:xfrm>
            <a:off x="6553200" y="2378075"/>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19" name="Text Placeholder 9">
            <a:extLst>
              <a:ext uri="{FF2B5EF4-FFF2-40B4-BE49-F238E27FC236}">
                <a16:creationId xmlns:a16="http://schemas.microsoft.com/office/drawing/2014/main" id="{C737E5CF-1F7C-5649-A592-CC25861D2D5B}"/>
              </a:ext>
            </a:extLst>
          </p:cNvPr>
          <p:cNvSpPr>
            <a:spLocks noGrp="1"/>
          </p:cNvSpPr>
          <p:nvPr>
            <p:ph type="body" sz="quarter" idx="20" hasCustomPrompt="1"/>
          </p:nvPr>
        </p:nvSpPr>
        <p:spPr>
          <a:xfrm>
            <a:off x="6553200" y="3359150"/>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20" name="Text Placeholder 9">
            <a:extLst>
              <a:ext uri="{FF2B5EF4-FFF2-40B4-BE49-F238E27FC236}">
                <a16:creationId xmlns:a16="http://schemas.microsoft.com/office/drawing/2014/main" id="{0070BC90-9746-8846-93B3-5F5CE932FF9B}"/>
              </a:ext>
            </a:extLst>
          </p:cNvPr>
          <p:cNvSpPr>
            <a:spLocks noGrp="1"/>
          </p:cNvSpPr>
          <p:nvPr>
            <p:ph type="body" sz="quarter" idx="21" hasCustomPrompt="1"/>
          </p:nvPr>
        </p:nvSpPr>
        <p:spPr>
          <a:xfrm>
            <a:off x="6553200" y="4343399"/>
            <a:ext cx="1104900" cy="914400"/>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21" name="Text Placeholder 9">
            <a:extLst>
              <a:ext uri="{FF2B5EF4-FFF2-40B4-BE49-F238E27FC236}">
                <a16:creationId xmlns:a16="http://schemas.microsoft.com/office/drawing/2014/main" id="{60960AB0-B647-2C4E-AAFE-66E5B8F1A5C6}"/>
              </a:ext>
            </a:extLst>
          </p:cNvPr>
          <p:cNvSpPr>
            <a:spLocks noGrp="1"/>
          </p:cNvSpPr>
          <p:nvPr>
            <p:ph type="body" sz="quarter" idx="22" hasCustomPrompt="1"/>
          </p:nvPr>
        </p:nvSpPr>
        <p:spPr>
          <a:xfrm>
            <a:off x="6553200" y="5318126"/>
            <a:ext cx="1104900" cy="892175"/>
          </a:xfrm>
        </p:spPr>
        <p:txBody>
          <a:bodyPr/>
          <a:lstStyle>
            <a:lvl1pPr>
              <a:lnSpc>
                <a:spcPct val="80000"/>
              </a:lnSpc>
              <a:spcAft>
                <a:spcPts val="0"/>
              </a:spcAft>
              <a:defRPr sz="5700">
                <a:solidFill>
                  <a:srgbClr val="C8FF08"/>
                </a:solidFill>
                <a:latin typeface="Impact" panose="020B0806030902050204" pitchFamily="34" charset="0"/>
              </a:defRPr>
            </a:lvl1pPr>
          </a:lstStyle>
          <a:p>
            <a:pPr lvl="0"/>
            <a:r>
              <a:rPr lang="en-US"/>
              <a:t>##</a:t>
            </a:r>
          </a:p>
        </p:txBody>
      </p:sp>
      <p:sp>
        <p:nvSpPr>
          <p:cNvPr id="25" name="Text Placeholder 24">
            <a:extLst>
              <a:ext uri="{FF2B5EF4-FFF2-40B4-BE49-F238E27FC236}">
                <a16:creationId xmlns:a16="http://schemas.microsoft.com/office/drawing/2014/main" id="{4247BEE3-7D76-F644-BDAB-16ED5A8288C2}"/>
              </a:ext>
            </a:extLst>
          </p:cNvPr>
          <p:cNvSpPr>
            <a:spLocks noGrp="1"/>
          </p:cNvSpPr>
          <p:nvPr>
            <p:ph type="body" sz="quarter" idx="23"/>
          </p:nvPr>
        </p:nvSpPr>
        <p:spPr>
          <a:xfrm>
            <a:off x="1981200" y="140335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321EEC92-A39E-E94D-B2E6-F86BAE8543AF}"/>
              </a:ext>
            </a:extLst>
          </p:cNvPr>
          <p:cNvSpPr>
            <a:spLocks noGrp="1"/>
          </p:cNvSpPr>
          <p:nvPr>
            <p:ph type="body" sz="quarter" idx="24"/>
          </p:nvPr>
        </p:nvSpPr>
        <p:spPr>
          <a:xfrm>
            <a:off x="1981200" y="2378075"/>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05A623ED-65B4-834F-8518-DA9B1269F13D}"/>
              </a:ext>
            </a:extLst>
          </p:cNvPr>
          <p:cNvSpPr>
            <a:spLocks noGrp="1"/>
          </p:cNvSpPr>
          <p:nvPr>
            <p:ph type="body" sz="quarter" idx="25"/>
          </p:nvPr>
        </p:nvSpPr>
        <p:spPr>
          <a:xfrm>
            <a:off x="1981200" y="335915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9" name="Text Placeholder 24">
            <a:extLst>
              <a:ext uri="{FF2B5EF4-FFF2-40B4-BE49-F238E27FC236}">
                <a16:creationId xmlns:a16="http://schemas.microsoft.com/office/drawing/2014/main" id="{27D82EA8-413C-D24C-A022-A5076609146A}"/>
              </a:ext>
            </a:extLst>
          </p:cNvPr>
          <p:cNvSpPr>
            <a:spLocks noGrp="1"/>
          </p:cNvSpPr>
          <p:nvPr>
            <p:ph type="body" sz="quarter" idx="26"/>
          </p:nvPr>
        </p:nvSpPr>
        <p:spPr>
          <a:xfrm>
            <a:off x="1981200" y="434340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Text Placeholder 24">
            <a:extLst>
              <a:ext uri="{FF2B5EF4-FFF2-40B4-BE49-F238E27FC236}">
                <a16:creationId xmlns:a16="http://schemas.microsoft.com/office/drawing/2014/main" id="{37E7239D-DEAC-7F4E-BAF6-9D7D97413F9A}"/>
              </a:ext>
            </a:extLst>
          </p:cNvPr>
          <p:cNvSpPr>
            <a:spLocks noGrp="1"/>
          </p:cNvSpPr>
          <p:nvPr>
            <p:ph type="body" sz="quarter" idx="27"/>
          </p:nvPr>
        </p:nvSpPr>
        <p:spPr>
          <a:xfrm>
            <a:off x="1981200" y="5318125"/>
            <a:ext cx="3840480" cy="892175"/>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1" name="Text Placeholder 24">
            <a:extLst>
              <a:ext uri="{FF2B5EF4-FFF2-40B4-BE49-F238E27FC236}">
                <a16:creationId xmlns:a16="http://schemas.microsoft.com/office/drawing/2014/main" id="{B11C7D85-DC2F-A745-ADB8-A7CA8256E3D0}"/>
              </a:ext>
            </a:extLst>
          </p:cNvPr>
          <p:cNvSpPr>
            <a:spLocks noGrp="1"/>
          </p:cNvSpPr>
          <p:nvPr>
            <p:ph type="body" sz="quarter" idx="28"/>
          </p:nvPr>
        </p:nvSpPr>
        <p:spPr>
          <a:xfrm>
            <a:off x="7658100" y="140335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2" name="Text Placeholder 24">
            <a:extLst>
              <a:ext uri="{FF2B5EF4-FFF2-40B4-BE49-F238E27FC236}">
                <a16:creationId xmlns:a16="http://schemas.microsoft.com/office/drawing/2014/main" id="{EB74C912-DD8C-AF45-9C63-8F7BBF3C01EA}"/>
              </a:ext>
            </a:extLst>
          </p:cNvPr>
          <p:cNvSpPr>
            <a:spLocks noGrp="1"/>
          </p:cNvSpPr>
          <p:nvPr>
            <p:ph type="body" sz="quarter" idx="29"/>
          </p:nvPr>
        </p:nvSpPr>
        <p:spPr>
          <a:xfrm>
            <a:off x="7658100" y="2378075"/>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3" name="Text Placeholder 24">
            <a:extLst>
              <a:ext uri="{FF2B5EF4-FFF2-40B4-BE49-F238E27FC236}">
                <a16:creationId xmlns:a16="http://schemas.microsoft.com/office/drawing/2014/main" id="{5E8DBD9B-A278-BC4A-920C-02E365359351}"/>
              </a:ext>
            </a:extLst>
          </p:cNvPr>
          <p:cNvSpPr>
            <a:spLocks noGrp="1"/>
          </p:cNvSpPr>
          <p:nvPr>
            <p:ph type="body" sz="quarter" idx="30"/>
          </p:nvPr>
        </p:nvSpPr>
        <p:spPr>
          <a:xfrm>
            <a:off x="7658100" y="335915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Text Placeholder 24">
            <a:extLst>
              <a:ext uri="{FF2B5EF4-FFF2-40B4-BE49-F238E27FC236}">
                <a16:creationId xmlns:a16="http://schemas.microsoft.com/office/drawing/2014/main" id="{FF9FB30C-3AED-7D45-A24D-38F4A99E19BA}"/>
              </a:ext>
            </a:extLst>
          </p:cNvPr>
          <p:cNvSpPr>
            <a:spLocks noGrp="1"/>
          </p:cNvSpPr>
          <p:nvPr>
            <p:ph type="body" sz="quarter" idx="31"/>
          </p:nvPr>
        </p:nvSpPr>
        <p:spPr>
          <a:xfrm>
            <a:off x="7658100" y="4343400"/>
            <a:ext cx="3840480" cy="914400"/>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5" name="Text Placeholder 24">
            <a:extLst>
              <a:ext uri="{FF2B5EF4-FFF2-40B4-BE49-F238E27FC236}">
                <a16:creationId xmlns:a16="http://schemas.microsoft.com/office/drawing/2014/main" id="{612DBE41-3DAD-064C-BC23-5C041B16A221}"/>
              </a:ext>
            </a:extLst>
          </p:cNvPr>
          <p:cNvSpPr>
            <a:spLocks noGrp="1"/>
          </p:cNvSpPr>
          <p:nvPr>
            <p:ph type="body" sz="quarter" idx="32"/>
          </p:nvPr>
        </p:nvSpPr>
        <p:spPr>
          <a:xfrm>
            <a:off x="7658100" y="5318125"/>
            <a:ext cx="3840480" cy="892175"/>
          </a:xfrm>
        </p:spPr>
        <p:txBody>
          <a:bodyPr/>
          <a:lstStyle>
            <a:lvl1pPr>
              <a:lnSpc>
                <a:spcPct val="100000"/>
              </a:lnSpc>
              <a:spcAft>
                <a:spcPts val="0"/>
              </a:spcAft>
              <a:defRPr sz="1200" b="1">
                <a:solidFill>
                  <a:schemeClr val="tx1"/>
                </a:solidFill>
              </a:defRPr>
            </a:lvl1pPr>
            <a:lvl2pPr marL="0" indent="0">
              <a:spcAft>
                <a:spcPts val="400"/>
              </a:spcAft>
              <a:buNone/>
              <a:defRPr sz="1200">
                <a:solidFill>
                  <a:schemeClr val="tx1"/>
                </a:solidFill>
              </a:defRPr>
            </a:lvl2pPr>
            <a:lvl3pPr marL="3175" indent="0">
              <a:spcAft>
                <a:spcPts val="0"/>
              </a:spcAft>
              <a:buNone/>
              <a:tabLst/>
              <a:defRPr sz="1200">
                <a:solidFill>
                  <a:schemeClr val="tx1"/>
                </a:solidFill>
              </a:defRPr>
            </a:lvl3pPr>
            <a:lvl4pPr marL="109728" indent="-109728">
              <a:spcAft>
                <a:spcPts val="200"/>
              </a:spcAft>
              <a:buClr>
                <a:schemeClr val="tx1"/>
              </a:buClr>
              <a:buFont typeface="System Font Regular"/>
              <a:buChar char="–"/>
              <a:tabLst/>
              <a:defRPr sz="1000">
                <a:solidFill>
                  <a:schemeClr val="tx1"/>
                </a:solidFill>
              </a:defRPr>
            </a:lvl4pPr>
            <a:lvl5pPr marL="219456" indent="-109728">
              <a:spcAft>
                <a:spcPts val="200"/>
              </a:spcAft>
              <a:buClr>
                <a:schemeClr val="tx1"/>
              </a:buClr>
              <a:buFont typeface="System Font Regular"/>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pic>
        <p:nvPicPr>
          <p:cNvPr id="4" name="Picture 3" descr="Text&#10;&#10;Description automatically generated">
            <a:extLst>
              <a:ext uri="{FF2B5EF4-FFF2-40B4-BE49-F238E27FC236}">
                <a16:creationId xmlns:a16="http://schemas.microsoft.com/office/drawing/2014/main" id="{4FCED360-0C43-B7AD-3BF5-A0877A5A5F20}"/>
              </a:ext>
            </a:extLst>
          </p:cNvPr>
          <p:cNvPicPr>
            <a:picLocks noChangeAspect="1"/>
          </p:cNvPicPr>
          <p:nvPr userDrawn="1"/>
        </p:nvPicPr>
        <p:blipFill>
          <a:blip r:embed="rId2"/>
          <a:stretch>
            <a:fillRect/>
          </a:stretch>
        </p:blipFill>
        <p:spPr>
          <a:xfrm>
            <a:off x="10309857" y="339154"/>
            <a:ext cx="1553489" cy="485273"/>
          </a:xfrm>
          <a:prstGeom prst="rect">
            <a:avLst/>
          </a:prstGeom>
        </p:spPr>
      </p:pic>
    </p:spTree>
    <p:extLst>
      <p:ext uri="{BB962C8B-B14F-4D97-AF65-F5344CB8AC3E}">
        <p14:creationId xmlns:p14="http://schemas.microsoft.com/office/powerpoint/2010/main" val="39389759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552">
          <p15:clr>
            <a:srgbClr val="FBAE40"/>
          </p15:clr>
        </p15:guide>
        <p15:guide id="2" pos="1248">
          <p15:clr>
            <a:srgbClr val="FBAE40"/>
          </p15:clr>
        </p15:guide>
        <p15:guide id="3" pos="4128">
          <p15:clr>
            <a:srgbClr val="FBAE40"/>
          </p15:clr>
        </p15:guide>
        <p15:guide id="4" pos="4824">
          <p15:clr>
            <a:srgbClr val="FBAE40"/>
          </p15:clr>
        </p15:guide>
        <p15:guide id="5" orient="horz" pos="884">
          <p15:clr>
            <a:srgbClr val="FBAE40"/>
          </p15:clr>
        </p15:guide>
        <p15:guide id="6" orient="horz" pos="1498">
          <p15:clr>
            <a:srgbClr val="FBAE40"/>
          </p15:clr>
        </p15:guide>
        <p15:guide id="7" orient="horz" pos="2116">
          <p15:clr>
            <a:srgbClr val="FBAE40"/>
          </p15:clr>
        </p15:guide>
        <p15:guide id="8" orient="horz" pos="2736">
          <p15:clr>
            <a:srgbClr val="FBAE40"/>
          </p15:clr>
        </p15:guide>
        <p15:guide id="9" orient="horz" pos="3350">
          <p15:clr>
            <a:srgbClr val="FBAE40"/>
          </p15:clr>
        </p15:guide>
        <p15:guide id="10" pos="3840">
          <p15:clr>
            <a:srgbClr val="FBAE40"/>
          </p15:clr>
        </p15:guide>
        <p15:guide id="11" orient="horz" pos="3912">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D6649-52B6-684D-5FDB-76A4F14951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45EE8F-36A0-A5D9-FB20-26031C3478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6F612E-039F-2E41-9055-B40534751C2F}"/>
              </a:ext>
            </a:extLst>
          </p:cNvPr>
          <p:cNvSpPr>
            <a:spLocks noGrp="1"/>
          </p:cNvSpPr>
          <p:nvPr>
            <p:ph type="dt" sz="half" idx="10"/>
          </p:nvPr>
        </p:nvSpPr>
        <p:spPr/>
        <p:txBody>
          <a:bodyPr/>
          <a:lstStyle/>
          <a:p>
            <a:fld id="{3987604F-F003-41A8-9393-97B73488E7E1}" type="datetimeFigureOut">
              <a:rPr lang="en-US" smtClean="0"/>
              <a:t>8/4/2026</a:t>
            </a:fld>
            <a:endParaRPr lang="en-US"/>
          </a:p>
        </p:txBody>
      </p:sp>
      <p:sp>
        <p:nvSpPr>
          <p:cNvPr id="5" name="Footer Placeholder 4">
            <a:extLst>
              <a:ext uri="{FF2B5EF4-FFF2-40B4-BE49-F238E27FC236}">
                <a16:creationId xmlns:a16="http://schemas.microsoft.com/office/drawing/2014/main" id="{5AC6695E-B483-5E75-77F2-0F4D60738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24B1C-B619-41FF-6665-D05B70D82F52}"/>
              </a:ext>
            </a:extLst>
          </p:cNvPr>
          <p:cNvSpPr>
            <a:spLocks noGrp="1"/>
          </p:cNvSpPr>
          <p:nvPr>
            <p:ph type="sldNum" sz="quarter" idx="12"/>
          </p:nvPr>
        </p:nvSpPr>
        <p:spPr/>
        <p:txBody>
          <a:bodyPr/>
          <a:lstStyle/>
          <a:p>
            <a:fld id="{7DBF4809-5EC2-4B80-9942-9AB49B74D6ED}" type="slidenum">
              <a:rPr lang="en-US" smtClean="0"/>
              <a:t>‹#›</a:t>
            </a:fld>
            <a:endParaRPr lang="en-US"/>
          </a:p>
        </p:txBody>
      </p:sp>
    </p:spTree>
    <p:extLst>
      <p:ext uri="{BB962C8B-B14F-4D97-AF65-F5344CB8AC3E}">
        <p14:creationId xmlns:p14="http://schemas.microsoft.com/office/powerpoint/2010/main" val="234503643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A06021D6-6421-7F41-A534-39EA22A630F1}"/>
              </a:ext>
            </a:extLst>
          </p:cNvPr>
          <p:cNvSpPr>
            <a:spLocks noGrp="1"/>
          </p:cNvSpPr>
          <p:nvPr>
            <p:ph type="ftr" sz="quarter" idx="3"/>
          </p:nvPr>
        </p:nvSpPr>
        <p:spPr>
          <a:xfrm>
            <a:off x="419100" y="6492875"/>
            <a:ext cx="10248900" cy="244653"/>
          </a:xfrm>
          <a:prstGeom prst="rect">
            <a:avLst/>
          </a:prstGeom>
        </p:spPr>
        <p:txBody>
          <a:bodyPr vert="horz" lIns="0" tIns="0" rIns="0" bIns="0" rtlCol="0" anchor="t" anchorCtr="0"/>
          <a:lstStyle>
            <a:lvl1pPr algn="l">
              <a:defRPr sz="800">
                <a:solidFill>
                  <a:srgbClr val="212121"/>
                </a:solidFill>
                <a:latin typeface="Inter" panose="02000503000000020004" pitchFamily="2" charset="0"/>
              </a:defRPr>
            </a:lvl1pPr>
          </a:lstStyle>
          <a:p>
            <a:r>
              <a:rPr lang="en-US" dirty="0"/>
              <a:t>© 2026 GE Vernova and/or its affiliates. All rights reserved.</a:t>
            </a:r>
          </a:p>
        </p:txBody>
      </p:sp>
      <p:sp>
        <p:nvSpPr>
          <p:cNvPr id="6" name="Slide Number Placeholder 5">
            <a:extLst>
              <a:ext uri="{FF2B5EF4-FFF2-40B4-BE49-F238E27FC236}">
                <a16:creationId xmlns:a16="http://schemas.microsoft.com/office/drawing/2014/main" id="{ADA382ED-C79F-1C4C-93EA-8B7E3CF99412}"/>
              </a:ext>
            </a:extLst>
          </p:cNvPr>
          <p:cNvSpPr>
            <a:spLocks noGrp="1"/>
          </p:cNvSpPr>
          <p:nvPr>
            <p:ph type="sldNum" sz="quarter" idx="4"/>
          </p:nvPr>
        </p:nvSpPr>
        <p:spPr>
          <a:xfrm>
            <a:off x="11222182" y="6492875"/>
            <a:ext cx="550718" cy="365125"/>
          </a:xfrm>
          <a:prstGeom prst="rect">
            <a:avLst/>
          </a:prstGeom>
        </p:spPr>
        <p:txBody>
          <a:bodyPr vert="horz" lIns="0" tIns="0" rIns="0" bIns="0" rtlCol="0" anchor="t" anchorCtr="0"/>
          <a:lstStyle>
            <a:lvl1pPr algn="r">
              <a:defRPr sz="800">
                <a:solidFill>
                  <a:srgbClr val="212121"/>
                </a:solidFill>
                <a:latin typeface="Inter" panose="02000503000000020004" pitchFamily="2" charset="0"/>
              </a:defRPr>
            </a:lvl1pPr>
          </a:lstStyle>
          <a:p>
            <a:fld id="{7A7A97EF-C944-4447-B862-B593E9B4A0FF}" type="slidenum">
              <a:rPr lang="en-US" smtClean="0"/>
              <a:pPr/>
              <a:t>‹#›</a:t>
            </a:fld>
            <a:endParaRPr lang="en-US" dirty="0"/>
          </a:p>
        </p:txBody>
      </p:sp>
      <p:sp>
        <p:nvSpPr>
          <p:cNvPr id="2" name="Title Placeholder 1">
            <a:extLst>
              <a:ext uri="{FF2B5EF4-FFF2-40B4-BE49-F238E27FC236}">
                <a16:creationId xmlns:a16="http://schemas.microsoft.com/office/drawing/2014/main" id="{33201E47-C943-F44B-9CD7-62EF3F532401}"/>
              </a:ext>
            </a:extLst>
          </p:cNvPr>
          <p:cNvSpPr>
            <a:spLocks noGrp="1"/>
          </p:cNvSpPr>
          <p:nvPr>
            <p:ph type="title"/>
          </p:nvPr>
        </p:nvSpPr>
        <p:spPr>
          <a:xfrm>
            <a:off x="419100" y="419101"/>
            <a:ext cx="9044077" cy="45702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F542F5A-6368-8D4D-90C8-17B76FDD3681}"/>
              </a:ext>
            </a:extLst>
          </p:cNvPr>
          <p:cNvSpPr>
            <a:spLocks noGrp="1"/>
          </p:cNvSpPr>
          <p:nvPr>
            <p:ph type="body" idx="1"/>
          </p:nvPr>
        </p:nvSpPr>
        <p:spPr>
          <a:xfrm>
            <a:off x="419100" y="1403349"/>
            <a:ext cx="11353800" cy="480695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05397866"/>
      </p:ext>
    </p:extLst>
  </p:cSld>
  <p:clrMap bg1="lt1" tx1="dk1" bg2="lt2" tx2="dk2" accent1="accent1" accent2="accent2" accent3="accent3" accent4="accent4" accent5="accent5" accent6="accent6" hlink="hlink" folHlink="folHlink"/>
  <p:sldLayoutIdLst>
    <p:sldLayoutId id="2147483714" r:id="rId1"/>
    <p:sldLayoutId id="2147483649" r:id="rId2"/>
    <p:sldLayoutId id="2147483705" r:id="rId3"/>
    <p:sldLayoutId id="2147483706" r:id="rId4"/>
    <p:sldLayoutId id="2147483654" r:id="rId5"/>
    <p:sldLayoutId id="2147483650" r:id="rId6"/>
    <p:sldLayoutId id="2147483668" r:id="rId7"/>
    <p:sldLayoutId id="2147483664" r:id="rId8"/>
    <p:sldLayoutId id="2147483669" r:id="rId9"/>
    <p:sldLayoutId id="2147483739" r:id="rId10"/>
    <p:sldLayoutId id="2147483731" r:id="rId11"/>
    <p:sldLayoutId id="2147483740" r:id="rId12"/>
    <p:sldLayoutId id="2147483667" r:id="rId13"/>
    <p:sldLayoutId id="2147483738" r:id="rId14"/>
    <p:sldLayoutId id="2147483665" r:id="rId15"/>
    <p:sldLayoutId id="2147483741" r:id="rId16"/>
    <p:sldLayoutId id="2147483666" r:id="rId17"/>
    <p:sldLayoutId id="2147483672" r:id="rId18"/>
    <p:sldLayoutId id="2147483673" r:id="rId19"/>
    <p:sldLayoutId id="2147483674" r:id="rId20"/>
    <p:sldLayoutId id="2147483743" r:id="rId21"/>
    <p:sldLayoutId id="2147483675" r:id="rId22"/>
    <p:sldLayoutId id="2147483676" r:id="rId23"/>
    <p:sldLayoutId id="2147483677" r:id="rId24"/>
    <p:sldLayoutId id="2147483651" r:id="rId25"/>
    <p:sldLayoutId id="2147483715" r:id="rId26"/>
    <p:sldLayoutId id="2147483719" r:id="rId27"/>
    <p:sldLayoutId id="2147483742" r:id="rId28"/>
    <p:sldLayoutId id="2147483701" r:id="rId29"/>
    <p:sldLayoutId id="2147483720" r:id="rId30"/>
    <p:sldLayoutId id="2147483684" r:id="rId31"/>
    <p:sldLayoutId id="2147483685" r:id="rId32"/>
    <p:sldLayoutId id="2147483686" r:id="rId33"/>
    <p:sldLayoutId id="2147483689" r:id="rId34"/>
    <p:sldLayoutId id="2147483687" r:id="rId35"/>
    <p:sldLayoutId id="2147483732" r:id="rId36"/>
    <p:sldLayoutId id="2147483692" r:id="rId37"/>
    <p:sldLayoutId id="2147483726" r:id="rId38"/>
    <p:sldLayoutId id="2147483695" r:id="rId39"/>
    <p:sldLayoutId id="2147483723" r:id="rId40"/>
    <p:sldLayoutId id="2147483697" r:id="rId41"/>
    <p:sldLayoutId id="2147483724" r:id="rId42"/>
    <p:sldLayoutId id="2147483733" r:id="rId43"/>
    <p:sldLayoutId id="2147483734" r:id="rId44"/>
    <p:sldLayoutId id="2147483699" r:id="rId45"/>
    <p:sldLayoutId id="2147483725" r:id="rId46"/>
    <p:sldLayoutId id="2147483752" r:id="rId47"/>
    <p:sldLayoutId id="2147483756" r:id="rId48"/>
    <p:sldLayoutId id="2147483757" r:id="rId49"/>
    <p:sldLayoutId id="2147483758" r:id="rId50"/>
  </p:sldLayoutIdLst>
  <p:hf hdr="0" dt="0"/>
  <p:txStyles>
    <p:title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p:titleStyle>
    <p:body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4" userDrawn="1">
          <p15:clr>
            <a:srgbClr val="F26B43"/>
          </p15:clr>
        </p15:guide>
        <p15:guide id="2" pos="264" userDrawn="1">
          <p15:clr>
            <a:srgbClr val="F26B43"/>
          </p15:clr>
        </p15:guide>
        <p15:guide id="3" pos="741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8.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31_15EEF432.xml"/><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0.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hlc-training.github.io/command-board/" TargetMode="Externa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slideLayout" Target="../slideLayouts/slideLayout50.xml"/><Relationship Id="rId1" Type="http://schemas.openxmlformats.org/officeDocument/2006/relationships/tags" Target="../tags/tag3.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svg"/></Relationships>
</file>

<file path=ppt/slides/_rels/slide16.xml.rels><?xml version="1.0" encoding="UTF-8" standalone="yes"?>
<Relationships xmlns="http://schemas.openxmlformats.org/package/2006/relationships"><Relationship Id="rId8" Type="http://schemas.openxmlformats.org/officeDocument/2006/relationships/hyperlink" Target="https://app.smartsheet.com/b/form/019cf61b4e9b76caa625c60f09d258fa" TargetMode="External"/><Relationship Id="rId3" Type="http://schemas.openxmlformats.org/officeDocument/2006/relationships/notesSlide" Target="../notesSlides/notesSlide9.xml"/><Relationship Id="rId7" Type="http://schemas.openxmlformats.org/officeDocument/2006/relationships/hyperlink" Target="https://gevernova.box.com/s/olavdaqz3bbwr7eu68m9eyb7clt4mauq" TargetMode="External"/><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35.svg"/><Relationship Id="rId11" Type="http://schemas.openxmlformats.org/officeDocument/2006/relationships/hyperlink" Target="https://app.smartsheet.com/b/form/019e4f8b3b497addb68cb0b1fb385690" TargetMode="External"/><Relationship Id="rId5" Type="http://schemas.openxmlformats.org/officeDocument/2006/relationships/image" Target="../media/image34.png"/><Relationship Id="rId10" Type="http://schemas.openxmlformats.org/officeDocument/2006/relationships/hyperlink" Target="https://gevernova.box.com/s/eqgfsv88opzefer9ixh87r229dkp7cfo" TargetMode="External"/><Relationship Id="rId4" Type="http://schemas.openxmlformats.org/officeDocument/2006/relationships/hyperlink" Target="https://gevernova.box.com/s/0jk9a97fl0ulsnldjrk9j0yf1w0akxl5" TargetMode="External"/><Relationship Id="rId9" Type="http://schemas.openxmlformats.org/officeDocument/2006/relationships/image" Target="../media/image36.svg"/></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slideLayout" Target="../slideLayouts/slideLayout8.xml"/><Relationship Id="rId7" Type="http://schemas.openxmlformats.org/officeDocument/2006/relationships/image" Target="../media/image39.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8.gif"/><Relationship Id="rId5" Type="http://schemas.openxmlformats.org/officeDocument/2006/relationships/image" Target="../media/image37.gif"/><Relationship Id="rId4" Type="http://schemas.openxmlformats.org/officeDocument/2006/relationships/notesSlide" Target="../notesSlides/notesSlide10.xml"/><Relationship Id="rId9" Type="http://schemas.openxmlformats.org/officeDocument/2006/relationships/image" Target="../media/image4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0582155F-07E9-4CE8-2C59-3DEBECE2C1AE}"/>
              </a:ext>
            </a:extLst>
          </p:cNvPr>
          <p:cNvSpPr>
            <a:spLocks noGrp="1"/>
          </p:cNvSpPr>
          <p:nvPr>
            <p:ph type="title"/>
          </p:nvPr>
        </p:nvSpPr>
        <p:spPr>
          <a:xfrm>
            <a:off x="742950" y="429486"/>
            <a:ext cx="6064250" cy="963325"/>
          </a:xfrm>
        </p:spPr>
        <p:txBody>
          <a:bodyPr/>
          <a:lstStyle/>
          <a:p>
            <a:r>
              <a:rPr lang="en-US" sz="9600" spc="100" dirty="0">
                <a:latin typeface="Sons Condensed Extrabold" panose="02060906060206060203" pitchFamily="18" charset="0"/>
              </a:rPr>
              <a:t>DEVELOPING </a:t>
            </a:r>
            <a:br>
              <a:rPr lang="en-US" sz="9600" spc="100" dirty="0"/>
            </a:br>
            <a:r>
              <a:rPr lang="en-US" sz="9600" spc="100" dirty="0"/>
              <a:t>THE FUTURE</a:t>
            </a:r>
            <a:br>
              <a:rPr lang="en-US" sz="9600" spc="100" dirty="0"/>
            </a:br>
            <a:r>
              <a:rPr lang="en-US" sz="9600" spc="100" dirty="0"/>
              <a:t>OF ENERGY</a:t>
            </a:r>
            <a:endParaRPr lang="en-US" sz="9600" spc="100" dirty="0">
              <a:latin typeface="Sons Condensed Extrabold" panose="02060906060206060203" pitchFamily="18" charset="0"/>
            </a:endParaRPr>
          </a:p>
        </p:txBody>
      </p:sp>
      <p:sp>
        <p:nvSpPr>
          <p:cNvPr id="9" name="Footer Placeholder 2">
            <a:extLst>
              <a:ext uri="{FF2B5EF4-FFF2-40B4-BE49-F238E27FC236}">
                <a16:creationId xmlns:a16="http://schemas.microsoft.com/office/drawing/2014/main" id="{74E0B87B-D743-806E-C9DD-96A54D570A6D}"/>
              </a:ext>
            </a:extLst>
          </p:cNvPr>
          <p:cNvSpPr>
            <a:spLocks noGrp="1"/>
          </p:cNvSpPr>
          <p:nvPr>
            <p:ph type="ftr" sz="quarter" idx="11"/>
          </p:nvPr>
        </p:nvSpPr>
        <p:spPr>
          <a:xfrm>
            <a:off x="419100" y="6492875"/>
            <a:ext cx="10248900" cy="24465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FFFFFF"/>
                </a:solidFill>
                <a:effectLst/>
                <a:uLnTx/>
                <a:uFillTx/>
                <a:latin typeface="Inter" panose="02000503000000020004" pitchFamily="2" charset="0"/>
                <a:ea typeface="+mn-ea"/>
                <a:cs typeface="+mn-cs"/>
              </a:rPr>
              <a:t>© 2026 GE Vernova and/or its affiliates. All rights reserved.</a:t>
            </a:r>
          </a:p>
        </p:txBody>
      </p:sp>
      <p:sp>
        <p:nvSpPr>
          <p:cNvPr id="10" name="Slide Number Placeholder 3">
            <a:extLst>
              <a:ext uri="{FF2B5EF4-FFF2-40B4-BE49-F238E27FC236}">
                <a16:creationId xmlns:a16="http://schemas.microsoft.com/office/drawing/2014/main" id="{86868C42-20A4-2F01-1540-C4418E80D612}"/>
              </a:ext>
            </a:extLst>
          </p:cNvPr>
          <p:cNvSpPr>
            <a:spLocks noGrp="1"/>
          </p:cNvSpPr>
          <p:nvPr>
            <p:ph type="sldNum" sz="quarter" idx="12"/>
          </p:nvPr>
        </p:nvSpPr>
        <p:spPr>
          <a:xfrm>
            <a:off x="11222182" y="6492875"/>
            <a:ext cx="550718"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A7A97EF-C944-4447-B862-B593E9B4A0FF}" type="slidenum">
              <a:rPr kumimoji="0" lang="en-US" sz="800" b="0" i="0" u="none" strike="noStrike" kern="1200" cap="none" spc="0" normalizeH="0" baseline="0" noProof="0" smtClean="0">
                <a:ln>
                  <a:noFill/>
                </a:ln>
                <a:solidFill>
                  <a:srgbClr val="FFFFFF"/>
                </a:solidFill>
                <a:effectLst/>
                <a:uLnTx/>
                <a:uFillTx/>
                <a:latin typeface="Inter" panose="02000503000000020004"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FFFFFF"/>
              </a:solidFill>
              <a:effectLst/>
              <a:uLnTx/>
              <a:uFillTx/>
              <a:latin typeface="Inter" panose="02000503000000020004" pitchFamily="2" charset="0"/>
              <a:ea typeface="+mn-ea"/>
              <a:cs typeface="+mn-cs"/>
            </a:endParaRPr>
          </a:p>
        </p:txBody>
      </p:sp>
      <p:sp>
        <p:nvSpPr>
          <p:cNvPr id="2" name="Title 4">
            <a:extLst>
              <a:ext uri="{FF2B5EF4-FFF2-40B4-BE49-F238E27FC236}">
                <a16:creationId xmlns:a16="http://schemas.microsoft.com/office/drawing/2014/main" id="{E4B19052-EF35-1751-7504-3BD591181306}"/>
              </a:ext>
            </a:extLst>
          </p:cNvPr>
          <p:cNvSpPr txBox="1">
            <a:spLocks/>
          </p:cNvSpPr>
          <p:nvPr/>
        </p:nvSpPr>
        <p:spPr>
          <a:xfrm>
            <a:off x="791441" y="4996192"/>
            <a:ext cx="10706100" cy="186180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6000" kern="1200">
                <a:solidFill>
                  <a:srgbClr val="C8FF08"/>
                </a:solidFill>
                <a:latin typeface="Sons Condensed Extrabold" panose="02060906060206060203" pitchFamily="18" charset="0"/>
                <a:ea typeface="+mj-ea"/>
                <a:cs typeface="+mj-cs"/>
              </a:defRPr>
            </a:lvl1pPr>
          </a:lstStyle>
          <a:p>
            <a:r>
              <a:rPr lang="en-US" sz="4800" spc="80" dirty="0">
                <a:solidFill>
                  <a:schemeClr val="tx1"/>
                </a:solidFill>
                <a:latin typeface="Sons Condensed Semibold" panose="02060706060206060203" pitchFamily="18" charset="0"/>
              </a:rPr>
              <a:t>OFS TRAINING ALL EMPLOYEES MEETING</a:t>
            </a:r>
            <a:br>
              <a:rPr lang="en-US" sz="2800" spc="80" dirty="0">
                <a:solidFill>
                  <a:schemeClr val="tx1"/>
                </a:solidFill>
              </a:rPr>
            </a:br>
            <a:r>
              <a:rPr lang="en-US" sz="2800" spc="80" dirty="0">
                <a:solidFill>
                  <a:schemeClr val="tx1"/>
                </a:solidFill>
              </a:rPr>
              <a:t>August 2026</a:t>
            </a:r>
          </a:p>
        </p:txBody>
      </p:sp>
    </p:spTree>
    <p:custDataLst>
      <p:tags r:id="rId1"/>
    </p:custDataLst>
    <p:extLst>
      <p:ext uri="{BB962C8B-B14F-4D97-AF65-F5344CB8AC3E}">
        <p14:creationId xmlns:p14="http://schemas.microsoft.com/office/powerpoint/2010/main" val="2967169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BB853C5-F494-6C11-4704-9BEA0B9B1333}"/>
              </a:ext>
            </a:extLst>
          </p:cNvPr>
          <p:cNvSpPr/>
          <p:nvPr/>
        </p:nvSpPr>
        <p:spPr>
          <a:xfrm>
            <a:off x="0" y="1415918"/>
            <a:ext cx="12192000" cy="54420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35" name="Title 34">
            <a:extLst>
              <a:ext uri="{FF2B5EF4-FFF2-40B4-BE49-F238E27FC236}">
                <a16:creationId xmlns:a16="http://schemas.microsoft.com/office/drawing/2014/main" id="{9F51804B-5410-8E49-8385-06EA65D8FD3A}"/>
              </a:ext>
            </a:extLst>
          </p:cNvPr>
          <p:cNvSpPr>
            <a:spLocks noGrp="1"/>
          </p:cNvSpPr>
          <p:nvPr>
            <p:ph type="title"/>
          </p:nvPr>
        </p:nvSpPr>
        <p:spPr>
          <a:xfrm>
            <a:off x="419100" y="153089"/>
            <a:ext cx="2887618" cy="1027051"/>
          </a:xfrm>
        </p:spPr>
        <p:txBody>
          <a:bodyPr/>
          <a:lstStyle/>
          <a:p>
            <a:r>
              <a:rPr lang="en-US" sz="8800" spc="100" dirty="0">
                <a:latin typeface="Sons Condensed Semibold" panose="02060706060206060203" pitchFamily="18" charset="0"/>
              </a:rPr>
              <a:t>AGENDA</a:t>
            </a:r>
          </a:p>
        </p:txBody>
      </p:sp>
      <p:sp>
        <p:nvSpPr>
          <p:cNvPr id="2" name="Text Placeholder 35">
            <a:extLst>
              <a:ext uri="{FF2B5EF4-FFF2-40B4-BE49-F238E27FC236}">
                <a16:creationId xmlns:a16="http://schemas.microsoft.com/office/drawing/2014/main" id="{31F5194A-5914-002C-AC99-A87087289FF2}"/>
              </a:ext>
            </a:extLst>
          </p:cNvPr>
          <p:cNvSpPr txBox="1">
            <a:spLocks/>
          </p:cNvSpPr>
          <p:nvPr/>
        </p:nvSpPr>
        <p:spPr>
          <a:xfrm>
            <a:off x="756876" y="2034735"/>
            <a:ext cx="2637293" cy="457020"/>
          </a:xfrm>
          <a:prstGeom prst="rect">
            <a:avLst/>
          </a:prstGeom>
        </p:spPr>
        <p:txBody>
          <a:bodyPr vert="horz" lIns="0" tIns="0" rIns="0" bIns="0" rtlCol="0" anchor="ctr">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8288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2pPr>
            <a:lvl3pPr marL="36576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3pPr>
            <a:lvl4pPr marL="54864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4pPr>
            <a:lvl5pPr marL="731520" indent="-182880" algn="l" defTabSz="914400" rtl="0" eaLnBrk="1" latinLnBrk="0" hangingPunct="1">
              <a:lnSpc>
                <a:spcPct val="100000"/>
              </a:lnSpc>
              <a:spcBef>
                <a:spcPts val="0"/>
              </a:spcBef>
              <a:spcAft>
                <a:spcPts val="600"/>
              </a:spcAft>
              <a:buClr>
                <a:schemeClr val="tx1"/>
              </a:buClr>
              <a:buFont typeface="System Font Regular"/>
              <a:buChar char="–"/>
              <a:defRPr sz="1800" kern="1200">
                <a:solidFill>
                  <a:srgbClr val="21212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
                <a:srgbClr val="FFFFFF"/>
              </a:buClr>
              <a:buSzTx/>
              <a:buFont typeface="Arial" panose="020B0604020202020204" pitchFamily="34" charset="0"/>
              <a:buNone/>
              <a:tabLst/>
              <a:defRPr/>
            </a:pPr>
            <a:r>
              <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rPr>
              <a:t>SAFETY MOMENT</a:t>
            </a:r>
          </a:p>
        </p:txBody>
      </p:sp>
      <p:sp>
        <p:nvSpPr>
          <p:cNvPr id="5" name="Text Placeholder 45">
            <a:extLst>
              <a:ext uri="{FF2B5EF4-FFF2-40B4-BE49-F238E27FC236}">
                <a16:creationId xmlns:a16="http://schemas.microsoft.com/office/drawing/2014/main" id="{7E3ABD62-65B2-A674-3042-7D3F1A23EECA}"/>
              </a:ext>
            </a:extLst>
          </p:cNvPr>
          <p:cNvSpPr txBox="1">
            <a:spLocks/>
          </p:cNvSpPr>
          <p:nvPr/>
        </p:nvSpPr>
        <p:spPr>
          <a:xfrm>
            <a:off x="756877" y="2468159"/>
            <a:ext cx="3548042" cy="3870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400"/>
              </a:spcAft>
              <a:buClr>
                <a:schemeClr val="tx1"/>
              </a:buClr>
              <a:buFont typeface="System Font Regular"/>
              <a:buNone/>
              <a:defRPr sz="1200" kern="1200">
                <a:solidFill>
                  <a:schemeClr val="tx1"/>
                </a:solidFill>
                <a:latin typeface="+mn-lt"/>
                <a:ea typeface="+mn-ea"/>
                <a:cs typeface="+mn-cs"/>
              </a:defRPr>
            </a:lvl2pPr>
            <a:lvl3pPr marL="3175" indent="0" algn="l" defTabSz="914400" rtl="0" eaLnBrk="1" latinLnBrk="0" hangingPunct="1">
              <a:lnSpc>
                <a:spcPct val="100000"/>
              </a:lnSpc>
              <a:spcBef>
                <a:spcPts val="0"/>
              </a:spcBef>
              <a:spcAft>
                <a:spcPts val="0"/>
              </a:spcAft>
              <a:buClr>
                <a:schemeClr val="tx1"/>
              </a:buClr>
              <a:buFont typeface="System Font Regular"/>
              <a:buNone/>
              <a:tabLst/>
              <a:defRPr sz="1200" kern="1200">
                <a:solidFill>
                  <a:schemeClr val="tx1"/>
                </a:solidFill>
                <a:latin typeface="+mn-lt"/>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System Font Regular"/>
              <a:buChar char="–"/>
              <a:tabLst/>
              <a:defRPr sz="1000" kern="1200">
                <a:solidFill>
                  <a:schemeClr val="tx1"/>
                </a:solidFill>
                <a:latin typeface="+mn-lt"/>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System Font Regular"/>
              <a:buChar char="–"/>
              <a:defRPr sz="12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r>
              <a:rPr lang="en-US" sz="1800" b="0" dirty="0">
                <a:solidFill>
                  <a:srgbClr val="FFFFFF"/>
                </a:solidFill>
                <a:latin typeface="Inter" panose="02000503000000020004" pitchFamily="2" charset="0"/>
                <a:ea typeface="Inter" panose="02000503000000020004" pitchFamily="2" charset="0"/>
              </a:rPr>
              <a:t>Lizlee Galley</a:t>
            </a:r>
            <a:endPar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cxnSp>
        <p:nvCxnSpPr>
          <p:cNvPr id="17" name="Straight Connector 16">
            <a:extLst>
              <a:ext uri="{FF2B5EF4-FFF2-40B4-BE49-F238E27FC236}">
                <a16:creationId xmlns:a16="http://schemas.microsoft.com/office/drawing/2014/main" id="{F109AFB0-16FD-128F-00B4-C90B4F692E7A}"/>
              </a:ext>
            </a:extLst>
          </p:cNvPr>
          <p:cNvCxnSpPr>
            <a:cxnSpLocks/>
          </p:cNvCxnSpPr>
          <p:nvPr/>
        </p:nvCxnSpPr>
        <p:spPr>
          <a:xfrm>
            <a:off x="611724" y="2056001"/>
            <a:ext cx="0" cy="3993568"/>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0C4103-8E0A-1FBC-DD0D-9CC43E268CC1}"/>
              </a:ext>
            </a:extLst>
          </p:cNvPr>
          <p:cNvCxnSpPr>
            <a:cxnSpLocks/>
          </p:cNvCxnSpPr>
          <p:nvPr/>
        </p:nvCxnSpPr>
        <p:spPr>
          <a:xfrm>
            <a:off x="4877693" y="2056001"/>
            <a:ext cx="0" cy="3993568"/>
          </a:xfrm>
          <a:prstGeom prst="line">
            <a:avLst/>
          </a:prstGeom>
          <a:ln w="19050">
            <a:solidFill>
              <a:srgbClr val="C8FF08"/>
            </a:solidFill>
          </a:ln>
        </p:spPr>
        <p:style>
          <a:lnRef idx="1">
            <a:schemeClr val="accent1"/>
          </a:lnRef>
          <a:fillRef idx="0">
            <a:schemeClr val="accent1"/>
          </a:fillRef>
          <a:effectRef idx="0">
            <a:schemeClr val="accent1"/>
          </a:effectRef>
          <a:fontRef idx="minor">
            <a:schemeClr val="tx1"/>
          </a:fontRef>
        </p:style>
      </p:cxnSp>
      <p:sp>
        <p:nvSpPr>
          <p:cNvPr id="30" name="Text Placeholder 45">
            <a:extLst>
              <a:ext uri="{FF2B5EF4-FFF2-40B4-BE49-F238E27FC236}">
                <a16:creationId xmlns:a16="http://schemas.microsoft.com/office/drawing/2014/main" id="{4BC513E6-4ED8-1184-64AE-F655159A7E07}"/>
              </a:ext>
            </a:extLst>
          </p:cNvPr>
          <p:cNvSpPr txBox="1">
            <a:spLocks/>
          </p:cNvSpPr>
          <p:nvPr/>
        </p:nvSpPr>
        <p:spPr>
          <a:xfrm>
            <a:off x="6265438" y="4242555"/>
            <a:ext cx="4046423" cy="98779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400"/>
              </a:spcAft>
              <a:buClr>
                <a:schemeClr val="tx1"/>
              </a:buClr>
              <a:buFont typeface="System Font Regular"/>
              <a:buNone/>
              <a:defRPr sz="1200" kern="1200">
                <a:solidFill>
                  <a:schemeClr val="tx1"/>
                </a:solidFill>
                <a:latin typeface="+mn-lt"/>
                <a:ea typeface="+mn-ea"/>
                <a:cs typeface="+mn-cs"/>
              </a:defRPr>
            </a:lvl2pPr>
            <a:lvl3pPr marL="3175" indent="0" algn="l" defTabSz="914400" rtl="0" eaLnBrk="1" latinLnBrk="0" hangingPunct="1">
              <a:lnSpc>
                <a:spcPct val="100000"/>
              </a:lnSpc>
              <a:spcBef>
                <a:spcPts val="0"/>
              </a:spcBef>
              <a:spcAft>
                <a:spcPts val="0"/>
              </a:spcAft>
              <a:buClr>
                <a:schemeClr val="tx1"/>
              </a:buClr>
              <a:buFont typeface="System Font Regular"/>
              <a:buNone/>
              <a:tabLst/>
              <a:defRPr sz="1200" kern="1200">
                <a:solidFill>
                  <a:schemeClr val="tx1"/>
                </a:solidFill>
                <a:latin typeface="+mn-lt"/>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System Font Regular"/>
              <a:buChar char="–"/>
              <a:tabLst/>
              <a:defRPr sz="1000" kern="1200">
                <a:solidFill>
                  <a:schemeClr val="tx1"/>
                </a:solidFill>
                <a:latin typeface="+mn-lt"/>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System Font Regular"/>
              <a:buChar char="–"/>
              <a:defRPr sz="12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kumimoji="0" lang="en-US" sz="1800" b="1"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sp>
        <p:nvSpPr>
          <p:cNvPr id="31" name="Text Placeholder 37">
            <a:extLst>
              <a:ext uri="{FF2B5EF4-FFF2-40B4-BE49-F238E27FC236}">
                <a16:creationId xmlns:a16="http://schemas.microsoft.com/office/drawing/2014/main" id="{36060F32-4F95-F88D-9040-5F2AAC96E53E}"/>
              </a:ext>
            </a:extLst>
          </p:cNvPr>
          <p:cNvSpPr txBox="1">
            <a:spLocks/>
          </p:cNvSpPr>
          <p:nvPr/>
        </p:nvSpPr>
        <p:spPr>
          <a:xfrm>
            <a:off x="5132396" y="5121268"/>
            <a:ext cx="2024650" cy="469312"/>
          </a:xfrm>
          <a:prstGeom prst="rect">
            <a:avLst/>
          </a:prstGeom>
        </p:spPr>
        <p:txBody>
          <a:bodyPr vert="horz" lIns="0" tIns="0" rIns="0" bIns="0" rtlCol="0" anchor="ctr">
            <a:noAutofit/>
          </a:bodyPr>
          <a:lstStyle>
            <a:lvl1pPr marL="0" indent="0" algn="l" defTabSz="914400" rtl="0" eaLnBrk="1" latinLnBrk="0" hangingPunct="1">
              <a:lnSpc>
                <a:spcPct val="80000"/>
              </a:lnSpc>
              <a:spcBef>
                <a:spcPts val="600"/>
              </a:spcBef>
              <a:spcAft>
                <a:spcPts val="0"/>
              </a:spcAft>
              <a:buSzPct val="100000"/>
              <a:buFontTx/>
              <a:buNone/>
              <a:defRPr sz="5700" kern="1200">
                <a:solidFill>
                  <a:srgbClr val="C8FF08"/>
                </a:solidFill>
                <a:latin typeface="Impact" panose="020B0806030902050204" pitchFamily="34" charset="0"/>
                <a:ea typeface="+mn-ea"/>
                <a:cs typeface="+mn-cs"/>
              </a:defRPr>
            </a:lvl1pPr>
            <a:lvl2pPr marL="190500" indent="-149225" algn="l" defTabSz="914400" rtl="0" eaLnBrk="1" latinLnBrk="0" hangingPunct="1">
              <a:lnSpc>
                <a:spcPct val="100000"/>
              </a:lnSpc>
              <a:spcBef>
                <a:spcPts val="600"/>
              </a:spcBef>
              <a:spcAft>
                <a:spcPts val="0"/>
              </a:spcAft>
              <a:buClr>
                <a:schemeClr val="bg2"/>
              </a:buClr>
              <a:buSzPct val="100000"/>
              <a:buFont typeface="GE Inspira Sans" panose="020B0604020202020204" pitchFamily="34" charset="0"/>
              <a:buChar char="•"/>
              <a:tabLst/>
              <a:defRPr sz="2400" kern="1200">
                <a:solidFill>
                  <a:schemeClr val="tx1"/>
                </a:solidFill>
                <a:latin typeface="+mn-lt"/>
                <a:ea typeface="+mn-ea"/>
                <a:cs typeface="+mn-cs"/>
              </a:defRPr>
            </a:lvl2pPr>
            <a:lvl3pPr marL="404813" indent="-163513" algn="l" defTabSz="914400" rtl="0" eaLnBrk="1" latinLnBrk="0" hangingPunct="1">
              <a:lnSpc>
                <a:spcPct val="100000"/>
              </a:lnSpc>
              <a:spcBef>
                <a:spcPts val="400"/>
              </a:spcBef>
              <a:spcAft>
                <a:spcPts val="0"/>
              </a:spcAft>
              <a:buClr>
                <a:schemeClr val="bg2"/>
              </a:buClr>
              <a:buSzPct val="46000"/>
              <a:buFont typeface="Wingdings 2" panose="05020102010507070707" pitchFamily="18" charset="2"/>
              <a:buChar char=""/>
              <a:tabLst/>
              <a:defRPr sz="2000" kern="1200">
                <a:solidFill>
                  <a:schemeClr val="tx1"/>
                </a:solidFill>
                <a:latin typeface="+mn-lt"/>
                <a:ea typeface="+mn-ea"/>
                <a:cs typeface="+mn-cs"/>
              </a:defRPr>
            </a:lvl3pPr>
            <a:lvl4pPr marL="617538" indent="-155575" algn="l" defTabSz="914400" rtl="0" eaLnBrk="1" latinLnBrk="0" hangingPunct="1">
              <a:lnSpc>
                <a:spcPct val="100000"/>
              </a:lnSpc>
              <a:spcBef>
                <a:spcPts val="300"/>
              </a:spcBef>
              <a:spcAft>
                <a:spcPts val="0"/>
              </a:spcAft>
              <a:buSzPct val="100000"/>
              <a:buFont typeface="GE Inspira Sans" panose="020B0604020202020204" pitchFamily="34" charset="0"/>
              <a:buChar char="•"/>
              <a:tabLst/>
              <a:defRPr sz="1800" b="0" kern="1200">
                <a:solidFill>
                  <a:schemeClr val="tx1"/>
                </a:solidFill>
                <a:latin typeface="+mn-lt"/>
                <a:ea typeface="+mn-ea"/>
                <a:cs typeface="+mn-cs"/>
              </a:defRPr>
            </a:lvl4pPr>
            <a:lvl5pPr marL="812800" indent="-146050" algn="l" defTabSz="914400" rtl="0" eaLnBrk="1" latinLnBrk="0" hangingPunct="1">
              <a:lnSpc>
                <a:spcPct val="100000"/>
              </a:lnSpc>
              <a:spcBef>
                <a:spcPts val="200"/>
              </a:spcBef>
              <a:spcAft>
                <a:spcPts val="0"/>
              </a:spcAft>
              <a:buSzPct val="46000"/>
              <a:buFont typeface="Wingdings 2" panose="05020102010507070707" pitchFamily="18" charset="2"/>
              <a:buChar char=""/>
              <a:tabLst/>
              <a:defRPr sz="1600" kern="1200">
                <a:solidFill>
                  <a:schemeClr val="tx1"/>
                </a:solidFill>
                <a:latin typeface="+mn-lt"/>
                <a:ea typeface="+mn-ea"/>
                <a:cs typeface="+mn-cs"/>
              </a:defRPr>
            </a:lvl5pPr>
            <a:lvl6pPr marL="533400" indent="-177800" algn="l" defTabSz="914400" rtl="0" eaLnBrk="1" latinLnBrk="0" hangingPunct="1">
              <a:lnSpc>
                <a:spcPct val="90000"/>
              </a:lnSpc>
              <a:spcBef>
                <a:spcPts val="500"/>
              </a:spcBef>
              <a:buFont typeface="GE Inspira Sans"/>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600"/>
              </a:spcBef>
              <a:spcAft>
                <a:spcPts val="0"/>
              </a:spcAft>
              <a:buClrTx/>
              <a:buSzPct val="100000"/>
              <a:buFontTx/>
              <a:buNone/>
              <a:tabLst/>
              <a:defRPr/>
            </a:pPr>
            <a:r>
              <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rPr>
              <a:t>Q &amp; A</a:t>
            </a:r>
          </a:p>
        </p:txBody>
      </p:sp>
      <p:sp>
        <p:nvSpPr>
          <p:cNvPr id="32" name="Text Placeholder 45">
            <a:extLst>
              <a:ext uri="{FF2B5EF4-FFF2-40B4-BE49-F238E27FC236}">
                <a16:creationId xmlns:a16="http://schemas.microsoft.com/office/drawing/2014/main" id="{95D6F820-4990-9D51-F8CF-F87F7E25BFBD}"/>
              </a:ext>
            </a:extLst>
          </p:cNvPr>
          <p:cNvSpPr txBox="1">
            <a:spLocks/>
          </p:cNvSpPr>
          <p:nvPr/>
        </p:nvSpPr>
        <p:spPr>
          <a:xfrm>
            <a:off x="5132395" y="5594948"/>
            <a:ext cx="3653921" cy="385805"/>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400"/>
              </a:spcAft>
              <a:buClr>
                <a:schemeClr val="tx1"/>
              </a:buClr>
              <a:buFont typeface="System Font Regular"/>
              <a:buNone/>
              <a:defRPr sz="1200" kern="1200">
                <a:solidFill>
                  <a:schemeClr val="tx1"/>
                </a:solidFill>
                <a:latin typeface="+mn-lt"/>
                <a:ea typeface="+mn-ea"/>
                <a:cs typeface="+mn-cs"/>
              </a:defRPr>
            </a:lvl2pPr>
            <a:lvl3pPr marL="3175" indent="0" algn="l" defTabSz="914400" rtl="0" eaLnBrk="1" latinLnBrk="0" hangingPunct="1">
              <a:lnSpc>
                <a:spcPct val="100000"/>
              </a:lnSpc>
              <a:spcBef>
                <a:spcPts val="0"/>
              </a:spcBef>
              <a:spcAft>
                <a:spcPts val="0"/>
              </a:spcAft>
              <a:buClr>
                <a:schemeClr val="tx1"/>
              </a:buClr>
              <a:buFont typeface="System Font Regular"/>
              <a:buNone/>
              <a:tabLst/>
              <a:defRPr sz="1200" kern="1200">
                <a:solidFill>
                  <a:schemeClr val="tx1"/>
                </a:solidFill>
                <a:latin typeface="+mn-lt"/>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System Font Regular"/>
              <a:buChar char="–"/>
              <a:tabLst/>
              <a:defRPr sz="1000" kern="1200">
                <a:solidFill>
                  <a:schemeClr val="tx1"/>
                </a:solidFill>
                <a:latin typeface="+mn-lt"/>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System Font Regular"/>
              <a:buChar char="–"/>
              <a:defRPr sz="12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rPr>
              <a:t>Enter your questions in the Chat</a:t>
            </a:r>
          </a:p>
        </p:txBody>
      </p:sp>
      <p:sp>
        <p:nvSpPr>
          <p:cNvPr id="18" name="Text Placeholder 37">
            <a:extLst>
              <a:ext uri="{FF2B5EF4-FFF2-40B4-BE49-F238E27FC236}">
                <a16:creationId xmlns:a16="http://schemas.microsoft.com/office/drawing/2014/main" id="{A31BC379-2A03-E96C-0B81-FABE8FF7D93B}"/>
              </a:ext>
            </a:extLst>
          </p:cNvPr>
          <p:cNvSpPr txBox="1">
            <a:spLocks/>
          </p:cNvSpPr>
          <p:nvPr/>
        </p:nvSpPr>
        <p:spPr>
          <a:xfrm>
            <a:off x="735820" y="3134498"/>
            <a:ext cx="4347707" cy="469312"/>
          </a:xfrm>
          <a:prstGeom prst="rect">
            <a:avLst/>
          </a:prstGeom>
        </p:spPr>
        <p:txBody>
          <a:bodyPr vert="horz" lIns="0" tIns="0" rIns="0" bIns="0" rtlCol="0" anchor="ctr">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
                <a:srgbClr val="FFFFFF"/>
              </a:buClr>
              <a:buSzTx/>
              <a:buFont typeface="Arial" panose="020B0604020202020204" pitchFamily="34" charset="0"/>
              <a:buNone/>
              <a:tabLst/>
              <a:defRPr/>
            </a:pPr>
            <a:r>
              <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rPr>
              <a:t>5S Moment</a:t>
            </a:r>
          </a:p>
        </p:txBody>
      </p:sp>
      <p:sp>
        <p:nvSpPr>
          <p:cNvPr id="19" name="Text Placeholder 10">
            <a:extLst>
              <a:ext uri="{FF2B5EF4-FFF2-40B4-BE49-F238E27FC236}">
                <a16:creationId xmlns:a16="http://schemas.microsoft.com/office/drawing/2014/main" id="{8DDEBE26-997C-AD9C-76A1-BE6C437E7FF6}"/>
              </a:ext>
            </a:extLst>
          </p:cNvPr>
          <p:cNvSpPr txBox="1">
            <a:spLocks/>
          </p:cNvSpPr>
          <p:nvPr/>
        </p:nvSpPr>
        <p:spPr>
          <a:xfrm>
            <a:off x="727762" y="3618149"/>
            <a:ext cx="4854143" cy="402714"/>
          </a:xfrm>
          <a:prstGeom prst="rect">
            <a:avLst/>
          </a:prstGeom>
        </p:spPr>
        <p:txBody>
          <a:bodyPr vert="horz" lIns="0" tIns="0" rIns="0" bIns="0" rtlCol="0" anchor="t">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r>
              <a:rPr lang="en-US" sz="1800" dirty="0">
                <a:solidFill>
                  <a:srgbClr val="FFFFFF"/>
                </a:solidFill>
                <a:latin typeface="Inter" panose="02000503000000020004" pitchFamily="2" charset="0"/>
                <a:ea typeface="Inter" panose="02000503000000020004" pitchFamily="2" charset="0"/>
              </a:rPr>
              <a:t>Andrew Samples</a:t>
            </a: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lang="en-US" sz="1800" dirty="0">
              <a:solidFill>
                <a:srgbClr val="FFFFFF"/>
              </a:solidFill>
              <a:latin typeface="Inter" panose="02000503000000020004" pitchFamily="2" charset="0"/>
              <a:ea typeface="Inter" panose="02000503000000020004" pitchFamily="2" charset="0"/>
            </a:endParaRP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pic>
        <p:nvPicPr>
          <p:cNvPr id="22" name="Picture 21" descr="Text&#10;&#10;Description automatically generated">
            <a:extLst>
              <a:ext uri="{FF2B5EF4-FFF2-40B4-BE49-F238E27FC236}">
                <a16:creationId xmlns:a16="http://schemas.microsoft.com/office/drawing/2014/main" id="{44F1B956-5FF2-60D1-61DB-29375D8BFA52}"/>
              </a:ext>
            </a:extLst>
          </p:cNvPr>
          <p:cNvPicPr>
            <a:picLocks noChangeAspect="1"/>
          </p:cNvPicPr>
          <p:nvPr/>
        </p:nvPicPr>
        <p:blipFill>
          <a:blip r:embed="rId3"/>
          <a:stretch>
            <a:fillRect/>
          </a:stretch>
        </p:blipFill>
        <p:spPr>
          <a:xfrm>
            <a:off x="10309860" y="339154"/>
            <a:ext cx="1553486" cy="485273"/>
          </a:xfrm>
          <a:prstGeom prst="rect">
            <a:avLst/>
          </a:prstGeom>
        </p:spPr>
      </p:pic>
      <p:sp>
        <p:nvSpPr>
          <p:cNvPr id="7" name="Text Placeholder 37">
            <a:extLst>
              <a:ext uri="{FF2B5EF4-FFF2-40B4-BE49-F238E27FC236}">
                <a16:creationId xmlns:a16="http://schemas.microsoft.com/office/drawing/2014/main" id="{9ADCF9F9-6BE3-1919-3F94-EABC84097C63}"/>
              </a:ext>
            </a:extLst>
          </p:cNvPr>
          <p:cNvSpPr txBox="1">
            <a:spLocks/>
          </p:cNvSpPr>
          <p:nvPr/>
        </p:nvSpPr>
        <p:spPr>
          <a:xfrm>
            <a:off x="743878" y="4191952"/>
            <a:ext cx="4347707" cy="469312"/>
          </a:xfrm>
          <a:prstGeom prst="rect">
            <a:avLst/>
          </a:prstGeom>
        </p:spPr>
        <p:txBody>
          <a:bodyPr vert="horz" lIns="0" tIns="0" rIns="0" bIns="0" rtlCol="0" anchor="ctr">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
                <a:srgbClr val="FFFFFF"/>
              </a:buClr>
              <a:buSzTx/>
              <a:buFont typeface="Arial" panose="020B0604020202020204" pitchFamily="34" charset="0"/>
              <a:buNone/>
              <a:tabLst/>
              <a:defRPr/>
            </a:pPr>
            <a:r>
              <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rPr>
              <a:t>Business Update</a:t>
            </a:r>
          </a:p>
        </p:txBody>
      </p:sp>
      <p:sp>
        <p:nvSpPr>
          <p:cNvPr id="10" name="Text Placeholder 10">
            <a:extLst>
              <a:ext uri="{FF2B5EF4-FFF2-40B4-BE49-F238E27FC236}">
                <a16:creationId xmlns:a16="http://schemas.microsoft.com/office/drawing/2014/main" id="{B3C1C198-2B3F-D517-B274-261FD949FA9E}"/>
              </a:ext>
            </a:extLst>
          </p:cNvPr>
          <p:cNvSpPr txBox="1">
            <a:spLocks/>
          </p:cNvSpPr>
          <p:nvPr/>
        </p:nvSpPr>
        <p:spPr>
          <a:xfrm>
            <a:off x="735820" y="4675603"/>
            <a:ext cx="4854143" cy="402714"/>
          </a:xfrm>
          <a:prstGeom prst="rect">
            <a:avLst/>
          </a:prstGeom>
        </p:spPr>
        <p:txBody>
          <a:bodyPr vert="horz" lIns="0" tIns="0" rIns="0" bIns="0" rtlCol="0" anchor="t">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r>
              <a:rPr lang="en-US" sz="1800" dirty="0">
                <a:solidFill>
                  <a:srgbClr val="FFFFFF"/>
                </a:solidFill>
                <a:latin typeface="Inter" panose="02000503000000020004" pitchFamily="2" charset="0"/>
                <a:ea typeface="Inter" panose="02000503000000020004" pitchFamily="2" charset="0"/>
              </a:rPr>
              <a:t>Cal McGinley</a:t>
            </a: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lang="en-US" sz="1800" dirty="0">
              <a:solidFill>
                <a:srgbClr val="FFFFFF"/>
              </a:solidFill>
              <a:latin typeface="Inter" panose="02000503000000020004" pitchFamily="2" charset="0"/>
              <a:ea typeface="Inter" panose="02000503000000020004" pitchFamily="2" charset="0"/>
            </a:endParaRP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sp>
        <p:nvSpPr>
          <p:cNvPr id="11" name="Text Placeholder 37">
            <a:extLst>
              <a:ext uri="{FF2B5EF4-FFF2-40B4-BE49-F238E27FC236}">
                <a16:creationId xmlns:a16="http://schemas.microsoft.com/office/drawing/2014/main" id="{38A12DE9-5B87-B825-B032-BA4A66C4697D}"/>
              </a:ext>
            </a:extLst>
          </p:cNvPr>
          <p:cNvSpPr txBox="1">
            <a:spLocks/>
          </p:cNvSpPr>
          <p:nvPr/>
        </p:nvSpPr>
        <p:spPr>
          <a:xfrm>
            <a:off x="5140454" y="2052773"/>
            <a:ext cx="4347707" cy="469312"/>
          </a:xfrm>
          <a:prstGeom prst="rect">
            <a:avLst/>
          </a:prstGeom>
        </p:spPr>
        <p:txBody>
          <a:bodyPr vert="horz" lIns="0" tIns="0" rIns="0" bIns="0" rtlCol="0" anchor="ctr">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0"/>
              </a:spcBef>
              <a:spcAft>
                <a:spcPts val="0"/>
              </a:spcAft>
              <a:buClr>
                <a:srgbClr val="FFFFFF"/>
              </a:buClr>
              <a:buSzTx/>
              <a:buFont typeface="Arial" panose="020B0604020202020204" pitchFamily="34" charset="0"/>
              <a:buNone/>
              <a:tabLst/>
              <a:defRPr/>
            </a:pPr>
            <a:r>
              <a:rPr lang="en-US" sz="3600" spc="100" dirty="0">
                <a:latin typeface="Sons Condensed Semibold" panose="02060706060206060203" pitchFamily="18" charset="0"/>
              </a:rPr>
              <a:t>Team Updates</a:t>
            </a:r>
            <a:endPar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endParaRPr>
          </a:p>
        </p:txBody>
      </p:sp>
      <p:sp>
        <p:nvSpPr>
          <p:cNvPr id="12" name="Text Placeholder 10">
            <a:extLst>
              <a:ext uri="{FF2B5EF4-FFF2-40B4-BE49-F238E27FC236}">
                <a16:creationId xmlns:a16="http://schemas.microsoft.com/office/drawing/2014/main" id="{2A27E4C6-529F-C2B4-5D6A-DCD6242F2918}"/>
              </a:ext>
            </a:extLst>
          </p:cNvPr>
          <p:cNvSpPr txBox="1">
            <a:spLocks/>
          </p:cNvSpPr>
          <p:nvPr/>
        </p:nvSpPr>
        <p:spPr>
          <a:xfrm>
            <a:off x="5132396" y="2536423"/>
            <a:ext cx="4854143" cy="1484439"/>
          </a:xfrm>
          <a:prstGeom prst="rect">
            <a:avLst/>
          </a:prstGeom>
        </p:spPr>
        <p:txBody>
          <a:bodyPr vert="horz" lIns="0" tIns="0" rIns="0" bIns="0" rtlCol="0" anchor="t">
            <a:noAutofit/>
          </a:bodyPr>
          <a:lstStyle>
            <a:lvl1pPr marL="0" indent="0" algn="l" defTabSz="914400" rtl="0" eaLnBrk="1" latinLnBrk="0" hangingPunct="1">
              <a:lnSpc>
                <a:spcPct val="80000"/>
              </a:lnSpc>
              <a:spcBef>
                <a:spcPts val="0"/>
              </a:spcBef>
              <a:spcAft>
                <a:spcPts val="0"/>
              </a:spcAft>
              <a:buClr>
                <a:schemeClr val="tx1"/>
              </a:buClr>
              <a:buFont typeface="Arial" panose="020B0604020202020204" pitchFamily="34" charset="0"/>
              <a:buNone/>
              <a:defRPr sz="5700" kern="1200">
                <a:solidFill>
                  <a:srgbClr val="C8FF08"/>
                </a:solidFill>
                <a:latin typeface="Impact" panose="020B0806030902050204" pitchFamily="34"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nSpc>
                <a:spcPct val="100000"/>
              </a:lnSpc>
              <a:spcAft>
                <a:spcPts val="100"/>
              </a:spcAft>
              <a:buClr>
                <a:srgbClr val="FFFFFF"/>
              </a:buClr>
              <a:defRPr/>
            </a:pPr>
            <a:r>
              <a:rPr lang="en-US" sz="1800" dirty="0">
                <a:solidFill>
                  <a:srgbClr val="FFFFFF"/>
                </a:solidFill>
                <a:latin typeface="Inter" panose="02000503000000020004" pitchFamily="2" charset="0"/>
                <a:ea typeface="Inter" panose="02000503000000020004" pitchFamily="2" charset="0"/>
              </a:rPr>
              <a:t>Leonardo Monzo</a:t>
            </a:r>
          </a:p>
          <a:p>
            <a:pPr>
              <a:lnSpc>
                <a:spcPct val="100000"/>
              </a:lnSpc>
              <a:spcAft>
                <a:spcPts val="100"/>
              </a:spcAft>
              <a:buClr>
                <a:srgbClr val="FFFFFF"/>
              </a:buClr>
              <a:defRPr/>
            </a:pPr>
            <a:r>
              <a:rPr lang="en-US" sz="1800" dirty="0">
                <a:solidFill>
                  <a:srgbClr val="FFFFFF"/>
                </a:solidFill>
                <a:latin typeface="Inter" panose="02000503000000020004" pitchFamily="2" charset="0"/>
                <a:ea typeface="Inter" panose="02000503000000020004" pitchFamily="2" charset="0"/>
              </a:rPr>
              <a:t>Johann Daxer</a:t>
            </a:r>
          </a:p>
          <a:p>
            <a:pPr>
              <a:lnSpc>
                <a:spcPct val="100000"/>
              </a:lnSpc>
              <a:spcAft>
                <a:spcPts val="100"/>
              </a:spcAft>
              <a:buClr>
                <a:srgbClr val="FFFFFF"/>
              </a:buClr>
              <a:defRPr/>
            </a:pPr>
            <a:r>
              <a:rPr lang="en-US" sz="1800" dirty="0">
                <a:solidFill>
                  <a:srgbClr val="FFFFFF"/>
                </a:solidFill>
                <a:latin typeface="Inter"/>
                <a:ea typeface="Inter" panose="02000503000000020004" pitchFamily="2" charset="0"/>
              </a:rPr>
              <a:t>Julieta Ponce</a:t>
            </a:r>
            <a:endParaRPr lang="en-US" sz="1800" dirty="0">
              <a:solidFill>
                <a:srgbClr val="FFFFFF"/>
              </a:solidFill>
              <a:latin typeface="Inter" panose="02000503000000020004" pitchFamily="2" charset="0"/>
              <a:ea typeface="Inter" panose="02000503000000020004" pitchFamily="2" charset="0"/>
            </a:endParaRPr>
          </a:p>
          <a:p>
            <a:pPr lvl="0">
              <a:lnSpc>
                <a:spcPct val="100000"/>
              </a:lnSpc>
              <a:spcAft>
                <a:spcPts val="100"/>
              </a:spcAft>
              <a:buClr>
                <a:srgbClr val="FFFFFF"/>
              </a:buClr>
              <a:defRPr/>
            </a:pPr>
            <a:r>
              <a:rPr lang="en-US" sz="1800" dirty="0">
                <a:solidFill>
                  <a:srgbClr val="FFFFFF"/>
                </a:solidFill>
                <a:latin typeface="Inter" panose="02000503000000020004" pitchFamily="2" charset="0"/>
                <a:ea typeface="Inter" panose="02000503000000020004" pitchFamily="2" charset="0"/>
              </a:rPr>
              <a:t>Jim Rosen</a:t>
            </a:r>
          </a:p>
          <a:p>
            <a:pPr lvl="0">
              <a:lnSpc>
                <a:spcPct val="100000"/>
              </a:lnSpc>
              <a:spcAft>
                <a:spcPts val="100"/>
              </a:spcAft>
              <a:buClr>
                <a:srgbClr val="FFFFFF"/>
              </a:buClr>
              <a:defRPr/>
            </a:pPr>
            <a:r>
              <a:rPr lang="en-US" sz="1800" dirty="0">
                <a:solidFill>
                  <a:srgbClr val="FFFFFF"/>
                </a:solidFill>
                <a:latin typeface="Inter" panose="02000503000000020004" pitchFamily="2" charset="0"/>
                <a:ea typeface="Inter" panose="02000503000000020004" pitchFamily="2" charset="0"/>
              </a:rPr>
              <a:t>Jen Wright</a:t>
            </a: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lang="en-US" sz="1800" dirty="0">
              <a:solidFill>
                <a:srgbClr val="FFFFFF"/>
              </a:solidFill>
              <a:latin typeface="Inter" panose="02000503000000020004" pitchFamily="2" charset="0"/>
              <a:ea typeface="Inter" panose="02000503000000020004" pitchFamily="2" charset="0"/>
            </a:endParaRPr>
          </a:p>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endPar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endParaRPr>
          </a:p>
        </p:txBody>
      </p:sp>
      <p:sp>
        <p:nvSpPr>
          <p:cNvPr id="13" name="Text Placeholder 37">
            <a:extLst>
              <a:ext uri="{FF2B5EF4-FFF2-40B4-BE49-F238E27FC236}">
                <a16:creationId xmlns:a16="http://schemas.microsoft.com/office/drawing/2014/main" id="{B48CA38C-6219-9FF8-B9FA-1CE6FAA798C3}"/>
              </a:ext>
            </a:extLst>
          </p:cNvPr>
          <p:cNvSpPr txBox="1">
            <a:spLocks/>
          </p:cNvSpPr>
          <p:nvPr/>
        </p:nvSpPr>
        <p:spPr>
          <a:xfrm>
            <a:off x="5091584" y="4150203"/>
            <a:ext cx="2537379" cy="469312"/>
          </a:xfrm>
          <a:prstGeom prst="rect">
            <a:avLst/>
          </a:prstGeom>
        </p:spPr>
        <p:txBody>
          <a:bodyPr vert="horz" lIns="0" tIns="0" rIns="0" bIns="0" rtlCol="0" anchor="ctr">
            <a:noAutofit/>
          </a:bodyPr>
          <a:lstStyle>
            <a:lvl1pPr marL="0" indent="0" algn="l" defTabSz="914400" rtl="0" eaLnBrk="1" latinLnBrk="0" hangingPunct="1">
              <a:lnSpc>
                <a:spcPct val="80000"/>
              </a:lnSpc>
              <a:spcBef>
                <a:spcPts val="600"/>
              </a:spcBef>
              <a:spcAft>
                <a:spcPts val="0"/>
              </a:spcAft>
              <a:buSzPct val="100000"/>
              <a:buFontTx/>
              <a:buNone/>
              <a:defRPr sz="5700" kern="1200">
                <a:solidFill>
                  <a:srgbClr val="C8FF08"/>
                </a:solidFill>
                <a:latin typeface="Impact" panose="020B0806030902050204" pitchFamily="34" charset="0"/>
                <a:ea typeface="+mn-ea"/>
                <a:cs typeface="+mn-cs"/>
              </a:defRPr>
            </a:lvl1pPr>
            <a:lvl2pPr marL="190500" indent="-149225" algn="l" defTabSz="914400" rtl="0" eaLnBrk="1" latinLnBrk="0" hangingPunct="1">
              <a:lnSpc>
                <a:spcPct val="100000"/>
              </a:lnSpc>
              <a:spcBef>
                <a:spcPts val="600"/>
              </a:spcBef>
              <a:spcAft>
                <a:spcPts val="0"/>
              </a:spcAft>
              <a:buClr>
                <a:schemeClr val="bg2"/>
              </a:buClr>
              <a:buSzPct val="100000"/>
              <a:buFont typeface="GE Inspira Sans" panose="020B0604020202020204" pitchFamily="34" charset="0"/>
              <a:buChar char="•"/>
              <a:tabLst/>
              <a:defRPr sz="2400" kern="1200">
                <a:solidFill>
                  <a:schemeClr val="tx1"/>
                </a:solidFill>
                <a:latin typeface="+mn-lt"/>
                <a:ea typeface="+mn-ea"/>
                <a:cs typeface="+mn-cs"/>
              </a:defRPr>
            </a:lvl2pPr>
            <a:lvl3pPr marL="404813" indent="-163513" algn="l" defTabSz="914400" rtl="0" eaLnBrk="1" latinLnBrk="0" hangingPunct="1">
              <a:lnSpc>
                <a:spcPct val="100000"/>
              </a:lnSpc>
              <a:spcBef>
                <a:spcPts val="400"/>
              </a:spcBef>
              <a:spcAft>
                <a:spcPts val="0"/>
              </a:spcAft>
              <a:buClr>
                <a:schemeClr val="bg2"/>
              </a:buClr>
              <a:buSzPct val="46000"/>
              <a:buFont typeface="Wingdings 2" panose="05020102010507070707" pitchFamily="18" charset="2"/>
              <a:buChar char=""/>
              <a:tabLst/>
              <a:defRPr sz="2000" kern="1200">
                <a:solidFill>
                  <a:schemeClr val="tx1"/>
                </a:solidFill>
                <a:latin typeface="+mn-lt"/>
                <a:ea typeface="+mn-ea"/>
                <a:cs typeface="+mn-cs"/>
              </a:defRPr>
            </a:lvl3pPr>
            <a:lvl4pPr marL="617538" indent="-155575" algn="l" defTabSz="914400" rtl="0" eaLnBrk="1" latinLnBrk="0" hangingPunct="1">
              <a:lnSpc>
                <a:spcPct val="100000"/>
              </a:lnSpc>
              <a:spcBef>
                <a:spcPts val="300"/>
              </a:spcBef>
              <a:spcAft>
                <a:spcPts val="0"/>
              </a:spcAft>
              <a:buSzPct val="100000"/>
              <a:buFont typeface="GE Inspira Sans" panose="020B0604020202020204" pitchFamily="34" charset="0"/>
              <a:buChar char="•"/>
              <a:tabLst/>
              <a:defRPr sz="1800" b="0" kern="1200">
                <a:solidFill>
                  <a:schemeClr val="tx1"/>
                </a:solidFill>
                <a:latin typeface="+mn-lt"/>
                <a:ea typeface="+mn-ea"/>
                <a:cs typeface="+mn-cs"/>
              </a:defRPr>
            </a:lvl4pPr>
            <a:lvl5pPr marL="812800" indent="-146050" algn="l" defTabSz="914400" rtl="0" eaLnBrk="1" latinLnBrk="0" hangingPunct="1">
              <a:lnSpc>
                <a:spcPct val="100000"/>
              </a:lnSpc>
              <a:spcBef>
                <a:spcPts val="200"/>
              </a:spcBef>
              <a:spcAft>
                <a:spcPts val="0"/>
              </a:spcAft>
              <a:buSzPct val="46000"/>
              <a:buFont typeface="Wingdings 2" panose="05020102010507070707" pitchFamily="18" charset="2"/>
              <a:buChar char=""/>
              <a:tabLst/>
              <a:defRPr sz="1600" kern="1200">
                <a:solidFill>
                  <a:schemeClr val="tx1"/>
                </a:solidFill>
                <a:latin typeface="+mn-lt"/>
                <a:ea typeface="+mn-ea"/>
                <a:cs typeface="+mn-cs"/>
              </a:defRPr>
            </a:lvl5pPr>
            <a:lvl6pPr marL="533400" indent="-177800" algn="l" defTabSz="914400" rtl="0" eaLnBrk="1" latinLnBrk="0" hangingPunct="1">
              <a:lnSpc>
                <a:spcPct val="90000"/>
              </a:lnSpc>
              <a:spcBef>
                <a:spcPts val="500"/>
              </a:spcBef>
              <a:buFont typeface="GE Inspira Sans"/>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80000"/>
              </a:lnSpc>
              <a:spcBef>
                <a:spcPts val="600"/>
              </a:spcBef>
              <a:spcAft>
                <a:spcPts val="0"/>
              </a:spcAft>
              <a:buClrTx/>
              <a:buSzPct val="100000"/>
              <a:buFontTx/>
              <a:buNone/>
              <a:tabLst/>
              <a:defRPr/>
            </a:pPr>
            <a:r>
              <a:rPr kumimoji="0" lang="en-US" sz="3600" b="0" i="0" u="none" strike="noStrike" kern="1200" cap="none" spc="100" normalizeH="0" baseline="0" noProof="0" dirty="0">
                <a:ln>
                  <a:noFill/>
                </a:ln>
                <a:solidFill>
                  <a:srgbClr val="C8FF08"/>
                </a:solidFill>
                <a:effectLst/>
                <a:uLnTx/>
                <a:uFillTx/>
                <a:latin typeface="Sons Condensed Semibold" panose="02060706060206060203" pitchFamily="18" charset="0"/>
                <a:ea typeface="+mn-ea"/>
                <a:cs typeface="+mn-cs"/>
              </a:rPr>
              <a:t>Work Anniversaries</a:t>
            </a:r>
          </a:p>
        </p:txBody>
      </p:sp>
      <p:sp>
        <p:nvSpPr>
          <p:cNvPr id="14" name="Text Placeholder 45">
            <a:extLst>
              <a:ext uri="{FF2B5EF4-FFF2-40B4-BE49-F238E27FC236}">
                <a16:creationId xmlns:a16="http://schemas.microsoft.com/office/drawing/2014/main" id="{2132363C-7A1E-8857-9A29-9D75BA7E9ABC}"/>
              </a:ext>
            </a:extLst>
          </p:cNvPr>
          <p:cNvSpPr txBox="1">
            <a:spLocks/>
          </p:cNvSpPr>
          <p:nvPr/>
        </p:nvSpPr>
        <p:spPr>
          <a:xfrm>
            <a:off x="5091584" y="4623883"/>
            <a:ext cx="3653921" cy="385805"/>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0"/>
              </a:spcAft>
              <a:buClr>
                <a:schemeClr val="tx1"/>
              </a:buClr>
              <a:buFont typeface="Arial" panose="020B0604020202020204" pitchFamily="34" charset="0"/>
              <a:buNone/>
              <a:defRPr sz="1200" b="1" kern="1200">
                <a:solidFill>
                  <a:schemeClr val="tx1"/>
                </a:solidFill>
                <a:latin typeface="+mn-lt"/>
                <a:ea typeface="+mn-ea"/>
                <a:cs typeface="+mn-cs"/>
              </a:defRPr>
            </a:lvl1pPr>
            <a:lvl2pPr marL="0" indent="0" algn="l" defTabSz="914400" rtl="0" eaLnBrk="1" latinLnBrk="0" hangingPunct="1">
              <a:lnSpc>
                <a:spcPct val="100000"/>
              </a:lnSpc>
              <a:spcBef>
                <a:spcPts val="0"/>
              </a:spcBef>
              <a:spcAft>
                <a:spcPts val="400"/>
              </a:spcAft>
              <a:buClr>
                <a:schemeClr val="tx1"/>
              </a:buClr>
              <a:buFont typeface="System Font Regular"/>
              <a:buNone/>
              <a:defRPr sz="1200" kern="1200">
                <a:solidFill>
                  <a:schemeClr val="tx1"/>
                </a:solidFill>
                <a:latin typeface="+mn-lt"/>
                <a:ea typeface="+mn-ea"/>
                <a:cs typeface="+mn-cs"/>
              </a:defRPr>
            </a:lvl2pPr>
            <a:lvl3pPr marL="3175" indent="0" algn="l" defTabSz="914400" rtl="0" eaLnBrk="1" latinLnBrk="0" hangingPunct="1">
              <a:lnSpc>
                <a:spcPct val="100000"/>
              </a:lnSpc>
              <a:spcBef>
                <a:spcPts val="0"/>
              </a:spcBef>
              <a:spcAft>
                <a:spcPts val="0"/>
              </a:spcAft>
              <a:buClr>
                <a:schemeClr val="tx1"/>
              </a:buClr>
              <a:buFont typeface="System Font Regular"/>
              <a:buNone/>
              <a:tabLst/>
              <a:defRPr sz="1200" kern="1200">
                <a:solidFill>
                  <a:schemeClr val="tx1"/>
                </a:solidFill>
                <a:latin typeface="+mn-lt"/>
                <a:ea typeface="+mn-ea"/>
                <a:cs typeface="+mn-cs"/>
              </a:defRPr>
            </a:lvl3pPr>
            <a:lvl4pPr marL="109728" indent="-109728" algn="l" defTabSz="914400" rtl="0" eaLnBrk="1" latinLnBrk="0" hangingPunct="1">
              <a:lnSpc>
                <a:spcPct val="100000"/>
              </a:lnSpc>
              <a:spcBef>
                <a:spcPts val="0"/>
              </a:spcBef>
              <a:spcAft>
                <a:spcPts val="200"/>
              </a:spcAft>
              <a:buClr>
                <a:schemeClr val="tx1"/>
              </a:buClr>
              <a:buFont typeface="System Font Regular"/>
              <a:buChar char="–"/>
              <a:tabLst/>
              <a:defRPr sz="1000" kern="1200">
                <a:solidFill>
                  <a:schemeClr val="tx1"/>
                </a:solidFill>
                <a:latin typeface="+mn-lt"/>
                <a:ea typeface="+mn-ea"/>
                <a:cs typeface="+mn-cs"/>
              </a:defRPr>
            </a:lvl4pPr>
            <a:lvl5pPr marL="219456" indent="-109728" algn="l" defTabSz="914400" rtl="0" eaLnBrk="1" latinLnBrk="0" hangingPunct="1">
              <a:lnSpc>
                <a:spcPct val="100000"/>
              </a:lnSpc>
              <a:spcBef>
                <a:spcPts val="0"/>
              </a:spcBef>
              <a:spcAft>
                <a:spcPts val="200"/>
              </a:spcAft>
              <a:buClr>
                <a:schemeClr val="tx1"/>
              </a:buClr>
              <a:buFont typeface="System Font Regular"/>
              <a:buChar char="–"/>
              <a:defRPr sz="1200" kern="1200">
                <a:solidFill>
                  <a:schemeClr val="tx1"/>
                </a:solidFill>
                <a:latin typeface="+mn-lt"/>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System Font Regular"/>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100"/>
              </a:spcAft>
              <a:buClr>
                <a:srgbClr val="FFFFFF"/>
              </a:buClr>
              <a:buSzTx/>
              <a:buFont typeface="Arial" panose="020B0604020202020204" pitchFamily="34" charset="0"/>
              <a:buNone/>
              <a:tabLst/>
              <a:defRPr/>
            </a:pPr>
            <a:r>
              <a:rPr kumimoji="0" lang="en-US" sz="1800" b="0" i="0" u="none" strike="noStrike" kern="1200" cap="none" spc="0" normalizeH="0" baseline="0" noProof="0" dirty="0">
                <a:ln>
                  <a:noFill/>
                </a:ln>
                <a:solidFill>
                  <a:srgbClr val="FFFFFF"/>
                </a:solidFill>
                <a:effectLst/>
                <a:uLnTx/>
                <a:uFillTx/>
                <a:latin typeface="Inter" panose="02000503000000020004" pitchFamily="2" charset="0"/>
                <a:ea typeface="Inter" panose="02000503000000020004" pitchFamily="2" charset="0"/>
                <a:cs typeface="+mn-cs"/>
              </a:rPr>
              <a:t>Cal McGinley</a:t>
            </a:r>
          </a:p>
        </p:txBody>
      </p:sp>
      <p:sp>
        <p:nvSpPr>
          <p:cNvPr id="3" name="TextBox 2">
            <a:extLst>
              <a:ext uri="{FF2B5EF4-FFF2-40B4-BE49-F238E27FC236}">
                <a16:creationId xmlns:a16="http://schemas.microsoft.com/office/drawing/2014/main" id="{CE06371B-5B05-565E-34D5-0ED3EB1DC4D9}"/>
              </a:ext>
            </a:extLst>
          </p:cNvPr>
          <p:cNvSpPr txBox="1"/>
          <p:nvPr/>
        </p:nvSpPr>
        <p:spPr>
          <a:xfrm>
            <a:off x="10076156" y="70701"/>
            <a:ext cx="1906836" cy="241236"/>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lnSpcReduction="10000"/>
          </a:bodyPr>
          <a:lstStyle/>
          <a:p>
            <a:pPr algn="r">
              <a:spcAft>
                <a:spcPts val="600"/>
              </a:spcAft>
              <a:buClr>
                <a:schemeClr val="tx1"/>
              </a:buClr>
            </a:pPr>
            <a:r>
              <a:rPr lang="en-US" sz="1600" b="1" i="1" kern="1200" dirty="0">
                <a:latin typeface="Inter" panose="02000503000000020004" pitchFamily="2" charset="0"/>
                <a:ea typeface="+mn-ea"/>
                <a:cs typeface="+mn-cs"/>
              </a:rPr>
              <a:t>McGinley</a:t>
            </a:r>
          </a:p>
        </p:txBody>
      </p:sp>
    </p:spTree>
    <p:extLst>
      <p:ext uri="{BB962C8B-B14F-4D97-AF65-F5344CB8AC3E}">
        <p14:creationId xmlns:p14="http://schemas.microsoft.com/office/powerpoint/2010/main" val="1447250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8102614-CC16-3E4B-90EA-ECBB4BA32F95}"/>
              </a:ext>
            </a:extLst>
          </p:cNvPr>
          <p:cNvSpPr>
            <a:spLocks noGrp="1"/>
          </p:cNvSpPr>
          <p:nvPr>
            <p:ph type="title"/>
          </p:nvPr>
        </p:nvSpPr>
        <p:spPr/>
        <p:txBody>
          <a:bodyPr/>
          <a:lstStyle/>
          <a:p>
            <a:r>
              <a:rPr lang="en-US" b="1" dirty="0"/>
              <a:t>Q1 2026: EHS By The NUMBERS </a:t>
            </a:r>
          </a:p>
        </p:txBody>
      </p:sp>
      <p:sp>
        <p:nvSpPr>
          <p:cNvPr id="7" name="Slide Number Placeholder 6">
            <a:extLst>
              <a:ext uri="{FF2B5EF4-FFF2-40B4-BE49-F238E27FC236}">
                <a16:creationId xmlns:a16="http://schemas.microsoft.com/office/drawing/2014/main" id="{B335711B-394C-A92B-8632-0E25F3AF24E3}"/>
              </a:ext>
            </a:extLst>
          </p:cNvPr>
          <p:cNvSpPr>
            <a:spLocks noGrp="1"/>
          </p:cNvSpPr>
          <p:nvPr>
            <p:ph type="sldNum" sz="quarter" idx="12"/>
          </p:nvPr>
        </p:nvSpPr>
        <p:spPr/>
        <p:txBody>
          <a:bodyPr/>
          <a:lstStyle/>
          <a:p>
            <a:fld id="{7A7A97EF-C944-4447-B862-B593E9B4A0FF}" type="slidenum">
              <a:rPr lang="en-US" smtClean="0"/>
              <a:pPr/>
              <a:t>3</a:t>
            </a:fld>
            <a:endParaRPr lang="en-US" dirty="0"/>
          </a:p>
        </p:txBody>
      </p:sp>
      <p:pic>
        <p:nvPicPr>
          <p:cNvPr id="3" name="Picture 2">
            <a:extLst>
              <a:ext uri="{FF2B5EF4-FFF2-40B4-BE49-F238E27FC236}">
                <a16:creationId xmlns:a16="http://schemas.microsoft.com/office/drawing/2014/main" id="{0C8258C7-AE2C-F084-E37A-E624AEB875A7}"/>
              </a:ext>
            </a:extLst>
          </p:cNvPr>
          <p:cNvPicPr>
            <a:picLocks noChangeAspect="1"/>
          </p:cNvPicPr>
          <p:nvPr/>
        </p:nvPicPr>
        <p:blipFill>
          <a:blip r:embed="rId4"/>
          <a:stretch>
            <a:fillRect/>
          </a:stretch>
        </p:blipFill>
        <p:spPr>
          <a:xfrm>
            <a:off x="6176356" y="954935"/>
            <a:ext cx="4771470" cy="5720502"/>
          </a:xfrm>
          <a:prstGeom prst="rect">
            <a:avLst/>
          </a:prstGeom>
          <a:ln>
            <a:noFill/>
          </a:ln>
          <a:effectLst>
            <a:outerShdw blurRad="292100" dist="139700" dir="2700000" algn="tl" rotWithShape="0">
              <a:srgbClr val="333333">
                <a:alpha val="65000"/>
              </a:srgbClr>
            </a:outerShdw>
          </a:effectLst>
        </p:spPr>
      </p:pic>
      <p:sp>
        <p:nvSpPr>
          <p:cNvPr id="2" name="TextBox 1">
            <a:extLst>
              <a:ext uri="{FF2B5EF4-FFF2-40B4-BE49-F238E27FC236}">
                <a16:creationId xmlns:a16="http://schemas.microsoft.com/office/drawing/2014/main" id="{DC55FF49-FCD7-79AC-D844-C711269352D9}"/>
              </a:ext>
            </a:extLst>
          </p:cNvPr>
          <p:cNvSpPr txBox="1"/>
          <p:nvPr/>
        </p:nvSpPr>
        <p:spPr>
          <a:xfrm>
            <a:off x="83127" y="1438101"/>
            <a:ext cx="5544589" cy="4937128"/>
          </a:xfrm>
          <a:prstGeom prst="rect">
            <a:avLst/>
          </a:prstGeom>
          <a:noFill/>
        </p:spPr>
        <p:txBody>
          <a:bodyPr wrap="square" lIns="0" tIns="0" rIns="0" bIns="0" rtlCol="0">
            <a:noAutofit/>
          </a:bodyPr>
          <a:lstStyle/>
          <a:p>
            <a:pPr algn="l">
              <a:spcAft>
                <a:spcPts val="600"/>
              </a:spcAft>
            </a:pPr>
            <a:r>
              <a:rPr lang="en-US" sz="1600" b="1" dirty="0">
                <a:solidFill>
                  <a:schemeClr val="bg1"/>
                </a:solidFill>
              </a:rPr>
              <a:t>Summary: Safety performance remained stable.</a:t>
            </a:r>
          </a:p>
          <a:p>
            <a:pPr marL="742950" lvl="1" indent="-285750">
              <a:spcAft>
                <a:spcPts val="600"/>
              </a:spcAft>
              <a:buFont typeface="Arial" panose="020B0604020202020204" pitchFamily="34" charset="0"/>
              <a:buChar char="•"/>
            </a:pPr>
            <a:r>
              <a:rPr lang="en-US" sz="1200" b="1" dirty="0">
                <a:solidFill>
                  <a:schemeClr val="bg1"/>
                </a:solidFill>
              </a:rPr>
              <a:t>Incidence &amp; Illness (I&amp;I) rate change from 0.40 to 0.00</a:t>
            </a:r>
          </a:p>
          <a:p>
            <a:pPr marL="742950" lvl="1" indent="-285750">
              <a:spcAft>
                <a:spcPts val="600"/>
              </a:spcAft>
              <a:buFont typeface="Arial" panose="020B0604020202020204" pitchFamily="34" charset="0"/>
              <a:buChar char="•"/>
            </a:pPr>
            <a:r>
              <a:rPr lang="en-US" sz="1200" b="1" dirty="0">
                <a:solidFill>
                  <a:schemeClr val="bg1"/>
                </a:solidFill>
              </a:rPr>
              <a:t> Near Misses (NM): 2 reported vs. zero in 2025</a:t>
            </a:r>
          </a:p>
          <a:p>
            <a:pPr marL="742950" lvl="1" indent="-285750">
              <a:spcAft>
                <a:spcPts val="600"/>
              </a:spcAft>
              <a:buFont typeface="Arial" panose="020B0604020202020204" pitchFamily="34" charset="0"/>
              <a:buChar char="•"/>
            </a:pPr>
            <a:r>
              <a:rPr lang="en-US" sz="1200" b="1" dirty="0">
                <a:solidFill>
                  <a:schemeClr val="bg1"/>
                </a:solidFill>
              </a:rPr>
              <a:t>First Aid Injury (FAI): 1 vs zero in 2025.</a:t>
            </a:r>
          </a:p>
          <a:p>
            <a:pPr>
              <a:spcAft>
                <a:spcPts val="600"/>
              </a:spcAft>
            </a:pPr>
            <a:r>
              <a:rPr lang="en-US" sz="1600" b="1" dirty="0">
                <a:solidFill>
                  <a:schemeClr val="bg1"/>
                </a:solidFill>
              </a:rPr>
              <a:t>Incident Overview:</a:t>
            </a:r>
          </a:p>
          <a:p>
            <a:pPr marL="742950" lvl="1" indent="-285750">
              <a:spcAft>
                <a:spcPts val="600"/>
              </a:spcAft>
              <a:buFont typeface="Arial" panose="020B0604020202020204" pitchFamily="34" charset="0"/>
              <a:buChar char="•"/>
            </a:pPr>
            <a:r>
              <a:rPr lang="en-US" sz="1200" b="1" dirty="0">
                <a:solidFill>
                  <a:schemeClr val="bg1"/>
                </a:solidFill>
              </a:rPr>
              <a:t>Dropped objects involving rigging equipment from lifting operations</a:t>
            </a:r>
          </a:p>
          <a:p>
            <a:pPr marL="742950" lvl="1" indent="-285750">
              <a:spcAft>
                <a:spcPts val="600"/>
              </a:spcAft>
              <a:buFont typeface="Arial" panose="020B0604020202020204" pitchFamily="34" charset="0"/>
              <a:buChar char="•"/>
            </a:pPr>
            <a:r>
              <a:rPr lang="en-US" sz="1200" b="1" dirty="0">
                <a:solidFill>
                  <a:schemeClr val="bg1"/>
                </a:solidFill>
              </a:rPr>
              <a:t>Use of mechanical tool VS non-powered hand tools.</a:t>
            </a:r>
          </a:p>
          <a:p>
            <a:pPr>
              <a:spcAft>
                <a:spcPts val="600"/>
              </a:spcAft>
            </a:pPr>
            <a:r>
              <a:rPr lang="en-US" sz="1600" b="1" dirty="0">
                <a:solidFill>
                  <a:schemeClr val="bg1"/>
                </a:solidFill>
              </a:rPr>
              <a:t>Areas to improve:</a:t>
            </a:r>
          </a:p>
          <a:p>
            <a:pPr marL="742950" lvl="1" indent="-285750">
              <a:spcAft>
                <a:spcPts val="600"/>
              </a:spcAft>
              <a:buFont typeface="Arial" panose="020B0604020202020204" pitchFamily="34" charset="0"/>
              <a:buChar char="•"/>
            </a:pPr>
            <a:r>
              <a:rPr lang="en-US" sz="1200" dirty="0">
                <a:solidFill>
                  <a:schemeClr val="bg1"/>
                </a:solidFill>
              </a:rPr>
              <a:t>Supervision during active operation of task/hands on training e.g., in a position to observe, intervene, immediately stop incorrect actions, challenge concerning decisions, or immediately able to control of the task/operation to prevent harm.</a:t>
            </a:r>
          </a:p>
          <a:p>
            <a:pPr marL="742950" lvl="1" indent="-285750">
              <a:spcAft>
                <a:spcPts val="600"/>
              </a:spcAft>
              <a:buFont typeface="Arial" panose="020B0604020202020204" pitchFamily="34" charset="0"/>
              <a:buChar char="•"/>
            </a:pPr>
            <a:r>
              <a:rPr lang="en-US" sz="1200" dirty="0">
                <a:solidFill>
                  <a:schemeClr val="bg1"/>
                </a:solidFill>
              </a:rPr>
              <a:t>Compliance: forms reviewed by instructors not just checking the box.</a:t>
            </a:r>
          </a:p>
          <a:p>
            <a:pPr marL="742950" lvl="1" indent="-285750">
              <a:spcAft>
                <a:spcPts val="600"/>
              </a:spcAft>
              <a:buFont typeface="Arial" panose="020B0604020202020204" pitchFamily="34" charset="0"/>
              <a:buChar char="•"/>
            </a:pPr>
            <a:endParaRPr lang="en-US" sz="1200" dirty="0">
              <a:solidFill>
                <a:schemeClr val="bg1"/>
              </a:solidFill>
            </a:endParaRPr>
          </a:p>
          <a:p>
            <a:pPr>
              <a:spcAft>
                <a:spcPts val="600"/>
              </a:spcAft>
            </a:pPr>
            <a:endParaRPr lang="en-US" sz="1200" b="1" dirty="0">
              <a:solidFill>
                <a:schemeClr val="bg1"/>
              </a:solidFill>
            </a:endParaRPr>
          </a:p>
          <a:p>
            <a:pPr marL="742950" lvl="1" indent="-285750">
              <a:spcAft>
                <a:spcPts val="600"/>
              </a:spcAft>
              <a:buFont typeface="Arial" panose="020B0604020202020204" pitchFamily="34" charset="0"/>
              <a:buChar char="•"/>
            </a:pPr>
            <a:endParaRPr lang="en-US" b="1" dirty="0">
              <a:solidFill>
                <a:schemeClr val="bg1"/>
              </a:solidFill>
            </a:endParaRPr>
          </a:p>
          <a:p>
            <a:pPr>
              <a:spcAft>
                <a:spcPts val="600"/>
              </a:spcAft>
            </a:pPr>
            <a:endParaRPr lang="en-US" b="1" dirty="0">
              <a:solidFill>
                <a:schemeClr val="bg1"/>
              </a:solidFill>
            </a:endParaRPr>
          </a:p>
          <a:p>
            <a:pPr marL="742950" lvl="1" indent="-285750">
              <a:spcAft>
                <a:spcPts val="600"/>
              </a:spcAft>
              <a:buFont typeface="Arial" panose="020B0604020202020204" pitchFamily="34" charset="0"/>
              <a:buChar char="•"/>
            </a:pPr>
            <a:endParaRPr lang="en-US" b="1" dirty="0">
              <a:solidFill>
                <a:schemeClr val="bg1"/>
              </a:solidFill>
            </a:endParaRPr>
          </a:p>
        </p:txBody>
      </p:sp>
      <p:pic>
        <p:nvPicPr>
          <p:cNvPr id="10" name="Picture 9">
            <a:extLst>
              <a:ext uri="{FF2B5EF4-FFF2-40B4-BE49-F238E27FC236}">
                <a16:creationId xmlns:a16="http://schemas.microsoft.com/office/drawing/2014/main" id="{1D0522A8-48F8-92D6-B668-A9CBB99E6954}"/>
              </a:ext>
            </a:extLst>
          </p:cNvPr>
          <p:cNvPicPr>
            <a:picLocks noChangeAspect="1"/>
          </p:cNvPicPr>
          <p:nvPr/>
        </p:nvPicPr>
        <p:blipFill>
          <a:blip r:embed="rId5"/>
          <a:stretch>
            <a:fillRect/>
          </a:stretch>
        </p:blipFill>
        <p:spPr>
          <a:xfrm>
            <a:off x="3865877" y="5105099"/>
            <a:ext cx="1075857" cy="1570338"/>
          </a:xfrm>
          <a:prstGeom prst="rect">
            <a:avLst/>
          </a:prstGeom>
        </p:spPr>
      </p:pic>
      <p:pic>
        <p:nvPicPr>
          <p:cNvPr id="12" name="Picture 11">
            <a:extLst>
              <a:ext uri="{FF2B5EF4-FFF2-40B4-BE49-F238E27FC236}">
                <a16:creationId xmlns:a16="http://schemas.microsoft.com/office/drawing/2014/main" id="{B5870263-D00B-0A03-8D93-F503E08CC9B1}"/>
              </a:ext>
            </a:extLst>
          </p:cNvPr>
          <p:cNvPicPr>
            <a:picLocks noChangeAspect="1"/>
          </p:cNvPicPr>
          <p:nvPr/>
        </p:nvPicPr>
        <p:blipFill>
          <a:blip r:embed="rId6"/>
          <a:stretch>
            <a:fillRect/>
          </a:stretch>
        </p:blipFill>
        <p:spPr>
          <a:xfrm>
            <a:off x="2359321" y="5016843"/>
            <a:ext cx="1141760" cy="1634095"/>
          </a:xfrm>
          <a:prstGeom prst="rect">
            <a:avLst/>
          </a:prstGeom>
        </p:spPr>
      </p:pic>
      <p:pic>
        <p:nvPicPr>
          <p:cNvPr id="14" name="Picture 13">
            <a:extLst>
              <a:ext uri="{FF2B5EF4-FFF2-40B4-BE49-F238E27FC236}">
                <a16:creationId xmlns:a16="http://schemas.microsoft.com/office/drawing/2014/main" id="{E70D4492-C28B-1709-5985-126222D8C68E}"/>
              </a:ext>
            </a:extLst>
          </p:cNvPr>
          <p:cNvPicPr>
            <a:picLocks noChangeAspect="1"/>
          </p:cNvPicPr>
          <p:nvPr/>
        </p:nvPicPr>
        <p:blipFill>
          <a:blip r:embed="rId7"/>
          <a:stretch>
            <a:fillRect/>
          </a:stretch>
        </p:blipFill>
        <p:spPr>
          <a:xfrm>
            <a:off x="880130" y="5132075"/>
            <a:ext cx="1204835" cy="1518863"/>
          </a:xfrm>
          <a:prstGeom prst="rect">
            <a:avLst/>
          </a:prstGeom>
        </p:spPr>
      </p:pic>
      <p:sp>
        <p:nvSpPr>
          <p:cNvPr id="5" name="TextBox 4">
            <a:extLst>
              <a:ext uri="{FF2B5EF4-FFF2-40B4-BE49-F238E27FC236}">
                <a16:creationId xmlns:a16="http://schemas.microsoft.com/office/drawing/2014/main" id="{2019FB16-DB06-C685-1AA6-D2A6332F94BE}"/>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Galley</a:t>
            </a:r>
          </a:p>
        </p:txBody>
      </p:sp>
      <p:sp>
        <p:nvSpPr>
          <p:cNvPr id="6" name="TextBox 5">
            <a:extLst>
              <a:ext uri="{FF2B5EF4-FFF2-40B4-BE49-F238E27FC236}">
                <a16:creationId xmlns:a16="http://schemas.microsoft.com/office/drawing/2014/main" id="{607BCD58-AE18-F993-0333-531E7024F9CB}"/>
              </a:ext>
            </a:extLst>
          </p:cNvPr>
          <p:cNvSpPr txBox="1"/>
          <p:nvPr/>
        </p:nvSpPr>
        <p:spPr>
          <a:xfrm rot="20254641">
            <a:off x="3317708" y="168836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tx2"/>
                </a:solidFill>
              </a:rPr>
              <a:t>Update this</a:t>
            </a:r>
          </a:p>
        </p:txBody>
      </p:sp>
    </p:spTree>
    <p:extLst>
      <p:ext uri="{BB962C8B-B14F-4D97-AF65-F5344CB8AC3E}">
        <p14:creationId xmlns:p14="http://schemas.microsoft.com/office/powerpoint/2010/main" val="36798161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67419BE-FAE6-88F8-F8FA-345384C80EF5}"/>
              </a:ext>
            </a:extLst>
          </p:cNvPr>
          <p:cNvSpPr>
            <a:spLocks noGrp="1"/>
          </p:cNvSpPr>
          <p:nvPr>
            <p:ph type="sldNum" sz="quarter" idx="12"/>
          </p:nvPr>
        </p:nvSpPr>
        <p:spPr/>
        <p:txBody>
          <a:bodyPr/>
          <a:lstStyle/>
          <a:p>
            <a:fld id="{7A7A97EF-C944-4447-B862-B593E9B4A0FF}" type="slidenum">
              <a:rPr lang="en-US" smtClean="0"/>
              <a:pPr/>
              <a:t>4</a:t>
            </a:fld>
            <a:endParaRPr lang="en-US" dirty="0"/>
          </a:p>
        </p:txBody>
      </p:sp>
      <p:sp>
        <p:nvSpPr>
          <p:cNvPr id="3" name="Footer Placeholder 2">
            <a:extLst>
              <a:ext uri="{FF2B5EF4-FFF2-40B4-BE49-F238E27FC236}">
                <a16:creationId xmlns:a16="http://schemas.microsoft.com/office/drawing/2014/main" id="{CAA76DCD-2F23-26E4-27F2-D25360B31BEF}"/>
              </a:ext>
            </a:extLst>
          </p:cNvPr>
          <p:cNvSpPr>
            <a:spLocks noGrp="1"/>
          </p:cNvSpPr>
          <p:nvPr>
            <p:ph type="ftr" sz="quarter" idx="4294967295"/>
          </p:nvPr>
        </p:nvSpPr>
        <p:spPr/>
        <p:txBody>
          <a:bodyPr/>
          <a:lstStyle/>
          <a:p>
            <a:pPr defTabSz="914126"/>
            <a:r>
              <a:rPr lang="en-US" sz="800">
                <a:ea typeface="Inter" panose="02000503000000020004" pitchFamily="2" charset="0"/>
              </a:rPr>
              <a:t>© 2025 GE Vernova and/or its affiliates. All rights reserved.</a:t>
            </a:r>
            <a:endParaRPr lang="en-US" sz="800" dirty="0"/>
          </a:p>
        </p:txBody>
      </p:sp>
      <p:pic>
        <p:nvPicPr>
          <p:cNvPr id="4" name="Picture 3">
            <a:extLst>
              <a:ext uri="{FF2B5EF4-FFF2-40B4-BE49-F238E27FC236}">
                <a16:creationId xmlns:a16="http://schemas.microsoft.com/office/drawing/2014/main" id="{9AFC214E-1CE6-D44A-8108-86DF4A638D19}"/>
              </a:ext>
            </a:extLst>
          </p:cNvPr>
          <p:cNvPicPr>
            <a:picLocks noChangeAspect="1"/>
          </p:cNvPicPr>
          <p:nvPr/>
        </p:nvPicPr>
        <p:blipFill>
          <a:blip r:embed="rId3"/>
          <a:stretch>
            <a:fillRect/>
          </a:stretch>
        </p:blipFill>
        <p:spPr>
          <a:xfrm>
            <a:off x="0" y="0"/>
            <a:ext cx="12119956" cy="6737527"/>
          </a:xfrm>
          <a:prstGeom prst="rect">
            <a:avLst/>
          </a:prstGeom>
        </p:spPr>
      </p:pic>
      <p:sp>
        <p:nvSpPr>
          <p:cNvPr id="5" name="TextBox 4">
            <a:extLst>
              <a:ext uri="{FF2B5EF4-FFF2-40B4-BE49-F238E27FC236}">
                <a16:creationId xmlns:a16="http://schemas.microsoft.com/office/drawing/2014/main" id="{87D14B61-0CAA-DF31-5BC3-54042D9F6BDB}"/>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Galley</a:t>
            </a:r>
          </a:p>
        </p:txBody>
      </p:sp>
      <p:sp>
        <p:nvSpPr>
          <p:cNvPr id="6" name="TextBox 5">
            <a:extLst>
              <a:ext uri="{FF2B5EF4-FFF2-40B4-BE49-F238E27FC236}">
                <a16:creationId xmlns:a16="http://schemas.microsoft.com/office/drawing/2014/main" id="{D75160FD-EC56-3502-8550-09AA6185D280}"/>
              </a:ext>
            </a:extLst>
          </p:cNvPr>
          <p:cNvSpPr txBox="1"/>
          <p:nvPr/>
        </p:nvSpPr>
        <p:spPr>
          <a:xfrm rot="20254641">
            <a:off x="3317708" y="168836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bg2"/>
                </a:solidFill>
              </a:rPr>
              <a:t>Update this</a:t>
            </a:r>
          </a:p>
        </p:txBody>
      </p:sp>
    </p:spTree>
    <p:extLst>
      <p:ext uri="{BB962C8B-B14F-4D97-AF65-F5344CB8AC3E}">
        <p14:creationId xmlns:p14="http://schemas.microsoft.com/office/powerpoint/2010/main" val="19292750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15C66889-9787-6BE3-8816-AEAC6CD6FE26}"/>
              </a:ext>
            </a:extLst>
          </p:cNvPr>
          <p:cNvSpPr/>
          <p:nvPr/>
        </p:nvSpPr>
        <p:spPr>
          <a:xfrm>
            <a:off x="494524" y="2402383"/>
            <a:ext cx="5355531" cy="2494760"/>
          </a:xfrm>
          <a:prstGeom prst="roundRect">
            <a:avLst/>
          </a:prstGeom>
          <a:solidFill>
            <a:schemeClr val="tx1">
              <a:lumMod val="9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r>
              <a:rPr lang="en-US" sz="2400" dirty="0">
                <a:solidFill>
                  <a:schemeClr val="accent3">
                    <a:lumMod val="25000"/>
                  </a:schemeClr>
                </a:solidFill>
              </a:rPr>
              <a:t>WHAT WE’RE DOING</a:t>
            </a:r>
          </a:p>
          <a:p>
            <a:pPr marL="285750" indent="-285750" algn="l">
              <a:spcAft>
                <a:spcPts val="600"/>
              </a:spcAft>
              <a:buFont typeface="Arial" panose="020B0604020202020204" pitchFamily="34" charset="0"/>
              <a:buChar char="•"/>
            </a:pPr>
            <a:r>
              <a:rPr lang="en-US" sz="2400" dirty="0">
                <a:solidFill>
                  <a:schemeClr val="accent3">
                    <a:lumMod val="25000"/>
                  </a:schemeClr>
                </a:solidFill>
              </a:rPr>
              <a:t>Unified global deployment</a:t>
            </a:r>
          </a:p>
          <a:p>
            <a:pPr marL="285750" indent="-285750" algn="l">
              <a:spcAft>
                <a:spcPts val="600"/>
              </a:spcAft>
              <a:buFont typeface="Arial" panose="020B0604020202020204" pitchFamily="34" charset="0"/>
              <a:buChar char="•"/>
            </a:pPr>
            <a:r>
              <a:rPr lang="en-US" sz="2400" dirty="0">
                <a:solidFill>
                  <a:schemeClr val="accent3">
                    <a:lumMod val="25000"/>
                  </a:schemeClr>
                </a:solidFill>
              </a:rPr>
              <a:t>Monthly 5S events </a:t>
            </a:r>
          </a:p>
          <a:p>
            <a:pPr marL="285750" indent="-285750" algn="l">
              <a:spcAft>
                <a:spcPts val="600"/>
              </a:spcAft>
              <a:buFont typeface="Arial" panose="020B0604020202020204" pitchFamily="34" charset="0"/>
              <a:buChar char="•"/>
            </a:pPr>
            <a:r>
              <a:rPr lang="en-US" sz="2400" dirty="0">
                <a:solidFill>
                  <a:schemeClr val="accent3">
                    <a:lumMod val="25000"/>
                  </a:schemeClr>
                </a:solidFill>
              </a:rPr>
              <a:t>Quarterly training sessions </a:t>
            </a:r>
          </a:p>
          <a:p>
            <a:pPr marL="285750" indent="-285750" algn="l">
              <a:spcAft>
                <a:spcPts val="600"/>
              </a:spcAft>
              <a:buFont typeface="Arial" panose="020B0604020202020204" pitchFamily="34" charset="0"/>
              <a:buChar char="•"/>
            </a:pPr>
            <a:r>
              <a:rPr lang="en-US" sz="2400" dirty="0">
                <a:solidFill>
                  <a:schemeClr val="accent3">
                    <a:lumMod val="25000"/>
                  </a:schemeClr>
                </a:solidFill>
              </a:rPr>
              <a:t>Cross-functional participation</a:t>
            </a:r>
          </a:p>
          <a:p>
            <a:pPr algn="l">
              <a:spcAft>
                <a:spcPts val="600"/>
              </a:spcAft>
            </a:pPr>
            <a:endParaRPr lang="en-US" sz="2000" dirty="0">
              <a:solidFill>
                <a:schemeClr val="accent3">
                  <a:lumMod val="25000"/>
                </a:schemeClr>
              </a:solidFill>
            </a:endParaRPr>
          </a:p>
        </p:txBody>
      </p:sp>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r>
              <a:rPr lang="en-US" dirty="0"/>
              <a:t>© 2023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1778120" y="376929"/>
            <a:ext cx="10706100" cy="1115442"/>
          </a:xfrm>
        </p:spPr>
        <p:txBody>
          <a:bodyPr/>
          <a:lstStyle/>
          <a:p>
            <a:pPr algn="ctr">
              <a:lnSpc>
                <a:spcPts val="6000"/>
              </a:lnSpc>
            </a:pPr>
            <a:r>
              <a:rPr lang="en-US" sz="6000" dirty="0"/>
              <a:t>5S | Enterprise Momentum </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1830776" y="1133117"/>
            <a:ext cx="9896167" cy="290242"/>
          </a:xfrm>
        </p:spPr>
        <p:txBody>
          <a:bodyPr/>
          <a:lstStyle/>
          <a:p>
            <a:r>
              <a:rPr lang="en-US" sz="1600" dirty="0"/>
              <a:t>A disciplined operating system accelerating SAFETY, EFFICIENCY, and CULTURAL OWNERSHIP</a:t>
            </a:r>
          </a:p>
        </p:txBody>
      </p:sp>
      <p:sp>
        <p:nvSpPr>
          <p:cNvPr id="7" name="Rectangle: Rounded Corners 6">
            <a:extLst>
              <a:ext uri="{FF2B5EF4-FFF2-40B4-BE49-F238E27FC236}">
                <a16:creationId xmlns:a16="http://schemas.microsoft.com/office/drawing/2014/main" id="{E4B9200E-A292-E6D0-E8B7-EC234A2D6826}"/>
              </a:ext>
            </a:extLst>
          </p:cNvPr>
          <p:cNvSpPr/>
          <p:nvPr/>
        </p:nvSpPr>
        <p:spPr>
          <a:xfrm>
            <a:off x="8471664" y="1963500"/>
            <a:ext cx="3368750" cy="550313"/>
          </a:xfrm>
          <a:prstGeom prst="roundRect">
            <a:avLst/>
          </a:prstGeom>
          <a:solidFill>
            <a:schemeClr val="bg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Aft>
                <a:spcPts val="600"/>
              </a:spcAft>
            </a:pPr>
            <a:r>
              <a:rPr lang="en-US" sz="2400" dirty="0">
                <a:solidFill>
                  <a:schemeClr val="accent6">
                    <a:lumMod val="50000"/>
                  </a:schemeClr>
                </a:solidFill>
              </a:rPr>
              <a:t>529 Event Attendees</a:t>
            </a:r>
          </a:p>
        </p:txBody>
      </p:sp>
      <p:sp>
        <p:nvSpPr>
          <p:cNvPr id="8" name="Rectangle: Rounded Corners 7">
            <a:extLst>
              <a:ext uri="{FF2B5EF4-FFF2-40B4-BE49-F238E27FC236}">
                <a16:creationId xmlns:a16="http://schemas.microsoft.com/office/drawing/2014/main" id="{82466E7B-D13F-F367-7332-62D781C9E065}"/>
              </a:ext>
            </a:extLst>
          </p:cNvPr>
          <p:cNvSpPr/>
          <p:nvPr/>
        </p:nvSpPr>
        <p:spPr>
          <a:xfrm>
            <a:off x="7656828" y="4713600"/>
            <a:ext cx="4183586" cy="766132"/>
          </a:xfrm>
          <a:prstGeom prst="roundRect">
            <a:avLst/>
          </a:prstGeom>
          <a:solidFill>
            <a:srgbClr val="439297"/>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Aft>
                <a:spcPts val="600"/>
              </a:spcAft>
            </a:pPr>
            <a:r>
              <a:rPr lang="en-US" sz="2000" dirty="0">
                <a:solidFill>
                  <a:schemeClr val="bg1">
                    <a:lumMod val="10000"/>
                    <a:lumOff val="90000"/>
                  </a:schemeClr>
                </a:solidFill>
              </a:rPr>
              <a:t>Culture scales when participation becomes visible</a:t>
            </a:r>
          </a:p>
        </p:txBody>
      </p:sp>
      <p:sp>
        <p:nvSpPr>
          <p:cNvPr id="9" name="Rectangle 8">
            <a:extLst>
              <a:ext uri="{FF2B5EF4-FFF2-40B4-BE49-F238E27FC236}">
                <a16:creationId xmlns:a16="http://schemas.microsoft.com/office/drawing/2014/main" id="{E9B7AC14-9CAA-C4BE-43AD-973E1D36F4BF}"/>
              </a:ext>
            </a:extLst>
          </p:cNvPr>
          <p:cNvSpPr/>
          <p:nvPr/>
        </p:nvSpPr>
        <p:spPr>
          <a:xfrm>
            <a:off x="0" y="5991404"/>
            <a:ext cx="12192000" cy="45702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1600" dirty="0">
                <a:solidFill>
                  <a:schemeClr val="accent3">
                    <a:lumMod val="25000"/>
                  </a:schemeClr>
                </a:solidFill>
              </a:rPr>
              <a:t>5S has moved beyond events and into an operating rhythm.</a:t>
            </a:r>
            <a:endParaRPr lang="en-US" dirty="0">
              <a:solidFill>
                <a:schemeClr val="accent3">
                  <a:lumMod val="25000"/>
                </a:schemeClr>
              </a:solidFill>
            </a:endParaRPr>
          </a:p>
        </p:txBody>
      </p:sp>
      <p:sp>
        <p:nvSpPr>
          <p:cNvPr id="11" name="Rectangle: Rounded Corners 10">
            <a:extLst>
              <a:ext uri="{FF2B5EF4-FFF2-40B4-BE49-F238E27FC236}">
                <a16:creationId xmlns:a16="http://schemas.microsoft.com/office/drawing/2014/main" id="{184B498D-88CF-37E6-07A5-B1AE00D2BDD5}"/>
              </a:ext>
            </a:extLst>
          </p:cNvPr>
          <p:cNvSpPr/>
          <p:nvPr/>
        </p:nvSpPr>
        <p:spPr>
          <a:xfrm>
            <a:off x="7014420" y="3434349"/>
            <a:ext cx="1457244" cy="457021"/>
          </a:xfrm>
          <a:prstGeom prst="roundRect">
            <a:avLst/>
          </a:prstGeom>
          <a:solidFill>
            <a:schemeClr val="bg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600"/>
              </a:spcAft>
            </a:pPr>
            <a:r>
              <a:rPr lang="en-US" sz="2000" dirty="0">
                <a:solidFill>
                  <a:schemeClr val="bg1"/>
                </a:solidFill>
              </a:rPr>
              <a:t>2025 11%</a:t>
            </a:r>
          </a:p>
        </p:txBody>
      </p:sp>
      <p:sp>
        <p:nvSpPr>
          <p:cNvPr id="13" name="Rectangle: Rounded Corners 12">
            <a:extLst>
              <a:ext uri="{FF2B5EF4-FFF2-40B4-BE49-F238E27FC236}">
                <a16:creationId xmlns:a16="http://schemas.microsoft.com/office/drawing/2014/main" id="{460EF4AD-1671-9BF5-13AE-DD9A3EDD2A2E}"/>
              </a:ext>
            </a:extLst>
          </p:cNvPr>
          <p:cNvSpPr/>
          <p:nvPr/>
        </p:nvSpPr>
        <p:spPr>
          <a:xfrm>
            <a:off x="6886516" y="2750548"/>
            <a:ext cx="3368750" cy="550313"/>
          </a:xfrm>
          <a:prstGeom prst="roundRect">
            <a:avLst/>
          </a:prstGeom>
          <a:solidFill>
            <a:schemeClr val="tx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spcAft>
                <a:spcPts val="600"/>
              </a:spcAft>
            </a:pPr>
            <a:r>
              <a:rPr lang="en-US" sz="2400" dirty="0">
                <a:solidFill>
                  <a:schemeClr val="accent6">
                    <a:lumMod val="50000"/>
                  </a:schemeClr>
                </a:solidFill>
              </a:rPr>
              <a:t>Staff Attendance</a:t>
            </a:r>
          </a:p>
        </p:txBody>
      </p:sp>
      <p:sp>
        <p:nvSpPr>
          <p:cNvPr id="14" name="Rectangle: Rounded Corners 13">
            <a:extLst>
              <a:ext uri="{FF2B5EF4-FFF2-40B4-BE49-F238E27FC236}">
                <a16:creationId xmlns:a16="http://schemas.microsoft.com/office/drawing/2014/main" id="{158D7C62-6AFF-35C6-A907-97EE8AEFE8AC}"/>
              </a:ext>
            </a:extLst>
          </p:cNvPr>
          <p:cNvSpPr/>
          <p:nvPr/>
        </p:nvSpPr>
        <p:spPr>
          <a:xfrm>
            <a:off x="8627776" y="3429000"/>
            <a:ext cx="1546371" cy="457021"/>
          </a:xfrm>
          <a:prstGeom prst="roundRect">
            <a:avLst/>
          </a:prstGeom>
          <a:solidFill>
            <a:schemeClr val="bg1">
              <a:lumMod val="25000"/>
              <a:lumOff val="75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spcAft>
                <a:spcPts val="600"/>
              </a:spcAft>
            </a:pPr>
            <a:r>
              <a:rPr lang="en-US" sz="2000" b="1" dirty="0">
                <a:solidFill>
                  <a:schemeClr val="bg1"/>
                </a:solidFill>
              </a:rPr>
              <a:t>2026 54%</a:t>
            </a:r>
          </a:p>
        </p:txBody>
      </p:sp>
      <p:sp>
        <p:nvSpPr>
          <p:cNvPr id="5" name="TextBox 4">
            <a:extLst>
              <a:ext uri="{FF2B5EF4-FFF2-40B4-BE49-F238E27FC236}">
                <a16:creationId xmlns:a16="http://schemas.microsoft.com/office/drawing/2014/main" id="{23D5631C-7F3C-97B6-0130-A417150A3AEE}"/>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latin typeface="Inter" panose="02000503000000020004" pitchFamily="2" charset="0"/>
                <a:ea typeface="+mn-ea"/>
                <a:cs typeface="+mn-cs"/>
              </a:rPr>
              <a:t>Samples</a:t>
            </a:r>
          </a:p>
        </p:txBody>
      </p:sp>
      <p:sp>
        <p:nvSpPr>
          <p:cNvPr id="10" name="TextBox 9">
            <a:extLst>
              <a:ext uri="{FF2B5EF4-FFF2-40B4-BE49-F238E27FC236}">
                <a16:creationId xmlns:a16="http://schemas.microsoft.com/office/drawing/2014/main" id="{37648121-6801-97C0-D441-34FEDB5ECF07}"/>
              </a:ext>
            </a:extLst>
          </p:cNvPr>
          <p:cNvSpPr txBox="1"/>
          <p:nvPr/>
        </p:nvSpPr>
        <p:spPr>
          <a:xfrm rot="20254641">
            <a:off x="3317708" y="168836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bg2"/>
                </a:solidFill>
              </a:rPr>
              <a:t>Update this</a:t>
            </a:r>
          </a:p>
        </p:txBody>
      </p:sp>
    </p:spTree>
    <p:extLst>
      <p:ext uri="{BB962C8B-B14F-4D97-AF65-F5344CB8AC3E}">
        <p14:creationId xmlns:p14="http://schemas.microsoft.com/office/powerpoint/2010/main" val="72132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EF0B10-B11A-23D1-2923-D5E5BED019FB}"/>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3" name="Slide Number Placeholder 2">
            <a:extLst>
              <a:ext uri="{FF2B5EF4-FFF2-40B4-BE49-F238E27FC236}">
                <a16:creationId xmlns:a16="http://schemas.microsoft.com/office/drawing/2014/main" id="{3C2A2E91-41A8-5553-A85B-AA2041B02182}"/>
              </a:ext>
            </a:extLst>
          </p:cNvPr>
          <p:cNvSpPr>
            <a:spLocks noGrp="1"/>
          </p:cNvSpPr>
          <p:nvPr>
            <p:ph type="sldNum" sz="quarter" idx="12"/>
          </p:nvPr>
        </p:nvSpPr>
        <p:spPr/>
        <p:txBody>
          <a:bodyPr/>
          <a:lstStyle/>
          <a:p>
            <a:fld id="{7A7A97EF-C944-4447-B862-B593E9B4A0FF}" type="slidenum">
              <a:rPr lang="en-US" smtClean="0"/>
              <a:pPr/>
              <a:t>6</a:t>
            </a:fld>
            <a:endParaRPr lang="en-US" dirty="0"/>
          </a:p>
        </p:txBody>
      </p:sp>
      <p:sp>
        <p:nvSpPr>
          <p:cNvPr id="4" name="Title 3">
            <a:extLst>
              <a:ext uri="{FF2B5EF4-FFF2-40B4-BE49-F238E27FC236}">
                <a16:creationId xmlns:a16="http://schemas.microsoft.com/office/drawing/2014/main" id="{097AD523-74B3-CC90-E574-66531E38DB00}"/>
              </a:ext>
            </a:extLst>
          </p:cNvPr>
          <p:cNvSpPr>
            <a:spLocks noGrp="1"/>
          </p:cNvSpPr>
          <p:nvPr>
            <p:ph type="title"/>
          </p:nvPr>
        </p:nvSpPr>
        <p:spPr/>
        <p:txBody>
          <a:bodyPr/>
          <a:lstStyle/>
          <a:p>
            <a:r>
              <a:rPr lang="en-US" dirty="0"/>
              <a:t>Stop Work Recognition</a:t>
            </a:r>
          </a:p>
        </p:txBody>
      </p:sp>
      <p:sp>
        <p:nvSpPr>
          <p:cNvPr id="5" name="Content Placeholder 4">
            <a:extLst>
              <a:ext uri="{FF2B5EF4-FFF2-40B4-BE49-F238E27FC236}">
                <a16:creationId xmlns:a16="http://schemas.microsoft.com/office/drawing/2014/main" id="{1C655565-FDDC-3081-DF4A-8AAD4F0CB2C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305167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F0DBFFA-BB6B-3C52-9A7A-C8FBA829D8BC}"/>
              </a:ext>
            </a:extLst>
          </p:cNvPr>
          <p:cNvSpPr/>
          <p:nvPr/>
        </p:nvSpPr>
        <p:spPr>
          <a:xfrm>
            <a:off x="5120657" y="1248358"/>
            <a:ext cx="6278137" cy="457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2" name="Title 1">
            <a:extLst>
              <a:ext uri="{FF2B5EF4-FFF2-40B4-BE49-F238E27FC236}">
                <a16:creationId xmlns:a16="http://schemas.microsoft.com/office/drawing/2014/main" id="{2ADDC58A-85EA-2C4E-A284-9B7340CA7ECF}"/>
              </a:ext>
            </a:extLst>
          </p:cNvPr>
          <p:cNvSpPr>
            <a:spLocks noGrp="1"/>
          </p:cNvSpPr>
          <p:nvPr>
            <p:ph type="title"/>
          </p:nvPr>
        </p:nvSpPr>
        <p:spPr/>
        <p:txBody>
          <a:bodyPr/>
          <a:lstStyle/>
          <a:p>
            <a:r>
              <a:rPr lang="en-US" b="1" dirty="0"/>
              <a:t>5S </a:t>
            </a:r>
            <a:r>
              <a:rPr lang="en-US" sz="2000" b="1" dirty="0"/>
              <a:t>(micro) </a:t>
            </a:r>
            <a:r>
              <a:rPr lang="en-US" b="1" dirty="0"/>
              <a:t>KPI Dashboard</a:t>
            </a:r>
          </a:p>
        </p:txBody>
      </p:sp>
      <p:sp>
        <p:nvSpPr>
          <p:cNvPr id="3" name="Footer Placeholder 2">
            <a:extLst>
              <a:ext uri="{FF2B5EF4-FFF2-40B4-BE49-F238E27FC236}">
                <a16:creationId xmlns:a16="http://schemas.microsoft.com/office/drawing/2014/main" id="{6D674D20-27A5-3047-A29B-AE3848DEE9B3}"/>
              </a:ext>
            </a:extLst>
          </p:cNvPr>
          <p:cNvSpPr>
            <a:spLocks noGrp="1"/>
          </p:cNvSpPr>
          <p:nvPr>
            <p:ph type="ftr" sz="quarter" idx="11"/>
          </p:nvPr>
        </p:nvSpPr>
        <p:spPr/>
        <p:txBody>
          <a:bodyPr/>
          <a:lstStyle/>
          <a:p>
            <a:r>
              <a:rPr lang="en-US" dirty="0"/>
              <a:t>© 2023 GE Vernova and/or its affiliates. All rights reserved.</a:t>
            </a:r>
          </a:p>
        </p:txBody>
      </p:sp>
      <p:sp>
        <p:nvSpPr>
          <p:cNvPr id="6" name="Rectangle 5">
            <a:extLst>
              <a:ext uri="{FF2B5EF4-FFF2-40B4-BE49-F238E27FC236}">
                <a16:creationId xmlns:a16="http://schemas.microsoft.com/office/drawing/2014/main" id="{52B2293E-01AD-AE47-5956-A692C51C985B}"/>
              </a:ext>
            </a:extLst>
          </p:cNvPr>
          <p:cNvSpPr/>
          <p:nvPr/>
        </p:nvSpPr>
        <p:spPr>
          <a:xfrm>
            <a:off x="0" y="5614793"/>
            <a:ext cx="12192000" cy="457020"/>
          </a:xfrm>
          <a:prstGeom prst="rect">
            <a:avLst/>
          </a:prstGeom>
          <a:solidFill>
            <a:srgbClr val="458A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solidFill>
                  <a:schemeClr val="bg1"/>
                </a:solidFill>
                <a:latin typeface="Inter" panose="02000503000000020004" pitchFamily="2" charset="0"/>
                <a:ea typeface="Inter" panose="02000503000000020004" pitchFamily="2" charset="0"/>
              </a:rPr>
              <a:t>Progress is on-track to exceed expectations </a:t>
            </a:r>
            <a:endParaRPr lang="en-US" dirty="0">
              <a:solidFill>
                <a:schemeClr val="bg1"/>
              </a:solidFill>
              <a:latin typeface="Inter" panose="02000503000000020004" pitchFamily="2" charset="0"/>
              <a:ea typeface="Inter" panose="02000503000000020004" pitchFamily="2" charset="0"/>
            </a:endParaRPr>
          </a:p>
        </p:txBody>
      </p:sp>
      <p:sp>
        <p:nvSpPr>
          <p:cNvPr id="7" name="Slide Number Placeholder 6">
            <a:extLst>
              <a:ext uri="{FF2B5EF4-FFF2-40B4-BE49-F238E27FC236}">
                <a16:creationId xmlns:a16="http://schemas.microsoft.com/office/drawing/2014/main" id="{50514A31-B8CC-C094-1EC6-0BE799E3A81E}"/>
              </a:ext>
            </a:extLst>
          </p:cNvPr>
          <p:cNvSpPr>
            <a:spLocks noGrp="1"/>
          </p:cNvSpPr>
          <p:nvPr>
            <p:ph type="sldNum" sz="quarter" idx="12"/>
          </p:nvPr>
        </p:nvSpPr>
        <p:spPr/>
        <p:txBody>
          <a:bodyPr/>
          <a:lstStyle/>
          <a:p>
            <a:fld id="{7A7A97EF-C944-4447-B862-B593E9B4A0FF}" type="slidenum">
              <a:rPr lang="en-US" smtClean="0"/>
              <a:t>7</a:t>
            </a:fld>
            <a:endParaRPr lang="en-US" dirty="0"/>
          </a:p>
        </p:txBody>
      </p:sp>
      <p:sp>
        <p:nvSpPr>
          <p:cNvPr id="4" name="Rectangle 3">
            <a:extLst>
              <a:ext uri="{FF2B5EF4-FFF2-40B4-BE49-F238E27FC236}">
                <a16:creationId xmlns:a16="http://schemas.microsoft.com/office/drawing/2014/main" id="{DBC4D368-BD4A-56A0-29F1-3C049A6FE65E}"/>
              </a:ext>
            </a:extLst>
          </p:cNvPr>
          <p:cNvSpPr/>
          <p:nvPr/>
        </p:nvSpPr>
        <p:spPr>
          <a:xfrm>
            <a:off x="316374" y="1307518"/>
            <a:ext cx="2912399" cy="369332"/>
          </a:xfrm>
          <a:prstGeom prst="rect">
            <a:avLst/>
          </a:prstGeom>
          <a:noFill/>
        </p:spPr>
        <p:txBody>
          <a:bodyPr wrap="none" lIns="91440" tIns="45720" rIns="91440" bIns="45720">
            <a:spAutoFit/>
          </a:bodyPr>
          <a:lstStyle/>
          <a:p>
            <a:pPr algn="ctr"/>
            <a:r>
              <a:rPr lang="en-US" b="1" cap="none" spc="50" dirty="0">
                <a:ln w="0"/>
                <a:solidFill>
                  <a:schemeClr val="tx2"/>
                </a:solidFill>
                <a:effectLst>
                  <a:innerShdw blurRad="63500" dist="50800" dir="13500000">
                    <a:srgbClr val="000000">
                      <a:alpha val="50000"/>
                    </a:srgbClr>
                  </a:innerShdw>
                </a:effectLst>
              </a:rPr>
              <a:t>Gemba Walks   </a:t>
            </a:r>
            <a:r>
              <a:rPr lang="en-US" sz="1600" cap="none" spc="50" dirty="0">
                <a:ln w="0"/>
                <a:solidFill>
                  <a:schemeClr val="tx2"/>
                </a:solidFill>
                <a:effectLst>
                  <a:innerShdw blurRad="63500" dist="50800" dir="13500000">
                    <a:srgbClr val="000000">
                      <a:alpha val="50000"/>
                    </a:srgbClr>
                  </a:innerShdw>
                </a:effectLst>
              </a:rPr>
              <a:t>151/500</a:t>
            </a:r>
            <a:endParaRPr lang="en-US" sz="2000" cap="none" spc="50" dirty="0">
              <a:ln w="0"/>
              <a:solidFill>
                <a:schemeClr val="tx2"/>
              </a:solidFill>
              <a:effectLst>
                <a:innerShdw blurRad="63500" dist="50800" dir="13500000">
                  <a:srgbClr val="000000">
                    <a:alpha val="50000"/>
                  </a:srgbClr>
                </a:innerShdw>
              </a:effectLst>
            </a:endParaRPr>
          </a:p>
        </p:txBody>
      </p:sp>
      <p:sp>
        <p:nvSpPr>
          <p:cNvPr id="5" name="Rectangle 4">
            <a:extLst>
              <a:ext uri="{FF2B5EF4-FFF2-40B4-BE49-F238E27FC236}">
                <a16:creationId xmlns:a16="http://schemas.microsoft.com/office/drawing/2014/main" id="{9F1F7F20-363D-E36E-2D14-5C6447E1C82D}"/>
              </a:ext>
            </a:extLst>
          </p:cNvPr>
          <p:cNvSpPr/>
          <p:nvPr/>
        </p:nvSpPr>
        <p:spPr>
          <a:xfrm>
            <a:off x="316374" y="2369076"/>
            <a:ext cx="3445687" cy="369332"/>
          </a:xfrm>
          <a:prstGeom prst="rect">
            <a:avLst/>
          </a:prstGeom>
          <a:noFill/>
        </p:spPr>
        <p:txBody>
          <a:bodyPr wrap="none" lIns="91440" tIns="45720" rIns="91440" bIns="45720">
            <a:spAutoFit/>
          </a:bodyPr>
          <a:lstStyle/>
          <a:p>
            <a:pPr algn="ctr"/>
            <a:r>
              <a:rPr lang="en-US" b="1" cap="none" spc="50" dirty="0">
                <a:ln w="0"/>
                <a:solidFill>
                  <a:schemeClr val="tx2"/>
                </a:solidFill>
                <a:effectLst>
                  <a:innerShdw blurRad="63500" dist="50800" dir="13500000">
                    <a:srgbClr val="000000">
                      <a:alpha val="50000"/>
                    </a:srgbClr>
                  </a:innerShdw>
                </a:effectLst>
              </a:rPr>
              <a:t>Completed Projects  </a:t>
            </a:r>
            <a:r>
              <a:rPr lang="en-US" sz="1600" cap="none" spc="50" dirty="0">
                <a:ln w="0"/>
                <a:solidFill>
                  <a:schemeClr val="tx2"/>
                </a:solidFill>
                <a:effectLst>
                  <a:innerShdw blurRad="63500" dist="50800" dir="13500000">
                    <a:srgbClr val="000000">
                      <a:alpha val="50000"/>
                    </a:srgbClr>
                  </a:innerShdw>
                </a:effectLst>
              </a:rPr>
              <a:t>85/150</a:t>
            </a:r>
            <a:endParaRPr lang="en-US" cap="none" spc="50" dirty="0">
              <a:ln w="0"/>
              <a:solidFill>
                <a:schemeClr val="tx2"/>
              </a:solidFill>
              <a:effectLst>
                <a:innerShdw blurRad="63500" dist="50800" dir="13500000">
                  <a:srgbClr val="000000">
                    <a:alpha val="50000"/>
                  </a:srgbClr>
                </a:innerShdw>
              </a:effectLst>
            </a:endParaRPr>
          </a:p>
        </p:txBody>
      </p:sp>
      <p:sp>
        <p:nvSpPr>
          <p:cNvPr id="8" name="Rectangle 7">
            <a:extLst>
              <a:ext uri="{FF2B5EF4-FFF2-40B4-BE49-F238E27FC236}">
                <a16:creationId xmlns:a16="http://schemas.microsoft.com/office/drawing/2014/main" id="{A3CB9484-17BF-2938-956F-166FE652DD1E}"/>
              </a:ext>
            </a:extLst>
          </p:cNvPr>
          <p:cNvSpPr/>
          <p:nvPr/>
        </p:nvSpPr>
        <p:spPr>
          <a:xfrm>
            <a:off x="389634" y="3515137"/>
            <a:ext cx="4440190" cy="369332"/>
          </a:xfrm>
          <a:prstGeom prst="rect">
            <a:avLst/>
          </a:prstGeom>
          <a:noFill/>
        </p:spPr>
        <p:txBody>
          <a:bodyPr wrap="none" lIns="91440" tIns="45720" rIns="91440" bIns="45720">
            <a:spAutoFit/>
          </a:bodyPr>
          <a:lstStyle/>
          <a:p>
            <a:pPr algn="ctr"/>
            <a:r>
              <a:rPr lang="en-US" b="1" cap="none" spc="50" dirty="0">
                <a:ln w="0"/>
                <a:solidFill>
                  <a:schemeClr val="tx2"/>
                </a:solidFill>
                <a:effectLst>
                  <a:innerShdw blurRad="63500" dist="50800" dir="13500000">
                    <a:srgbClr val="000000">
                      <a:alpha val="50000"/>
                    </a:srgbClr>
                  </a:innerShdw>
                </a:effectLst>
              </a:rPr>
              <a:t>Dead weight removed </a:t>
            </a:r>
            <a:r>
              <a:rPr lang="en-US" sz="1600" cap="none" spc="50" dirty="0">
                <a:ln w="0"/>
                <a:solidFill>
                  <a:schemeClr val="tx2"/>
                </a:solidFill>
                <a:effectLst>
                  <a:innerShdw blurRad="63500" dist="50800" dir="13500000">
                    <a:srgbClr val="000000">
                      <a:alpha val="50000"/>
                    </a:srgbClr>
                  </a:innerShdw>
                </a:effectLst>
              </a:rPr>
              <a:t>47 tons/60 tons</a:t>
            </a:r>
            <a:endParaRPr lang="en-US" cap="none" spc="50" dirty="0">
              <a:ln w="0"/>
              <a:solidFill>
                <a:schemeClr val="tx2"/>
              </a:solidFill>
              <a:effectLst>
                <a:innerShdw blurRad="63500" dist="50800" dir="13500000">
                  <a:srgbClr val="000000">
                    <a:alpha val="50000"/>
                  </a:srgbClr>
                </a:innerShdw>
              </a:effectLst>
            </a:endParaRPr>
          </a:p>
        </p:txBody>
      </p:sp>
      <p:sp>
        <p:nvSpPr>
          <p:cNvPr id="9" name="Rectangle 8">
            <a:extLst>
              <a:ext uri="{FF2B5EF4-FFF2-40B4-BE49-F238E27FC236}">
                <a16:creationId xmlns:a16="http://schemas.microsoft.com/office/drawing/2014/main" id="{83871F1F-9259-8DFC-A222-CCF2BD44EB4B}"/>
              </a:ext>
            </a:extLst>
          </p:cNvPr>
          <p:cNvSpPr/>
          <p:nvPr/>
        </p:nvSpPr>
        <p:spPr>
          <a:xfrm>
            <a:off x="114297" y="4570558"/>
            <a:ext cx="4011644" cy="369332"/>
          </a:xfrm>
          <a:prstGeom prst="rect">
            <a:avLst/>
          </a:prstGeom>
          <a:noFill/>
        </p:spPr>
        <p:txBody>
          <a:bodyPr wrap="square" lIns="91440" tIns="45720" rIns="91440" bIns="45720">
            <a:spAutoFit/>
          </a:bodyPr>
          <a:lstStyle/>
          <a:p>
            <a:pPr algn="ctr"/>
            <a:r>
              <a:rPr lang="en-US" b="1" cap="none" spc="50" dirty="0">
                <a:ln w="0"/>
                <a:solidFill>
                  <a:schemeClr val="tx2"/>
                </a:solidFill>
                <a:effectLst>
                  <a:innerShdw blurRad="63500" dist="50800" dir="13500000">
                    <a:srgbClr val="000000">
                      <a:alpha val="50000"/>
                    </a:srgbClr>
                  </a:innerShdw>
                </a:effectLst>
              </a:rPr>
              <a:t>Liberated Space </a:t>
            </a:r>
            <a:r>
              <a:rPr lang="en-US" sz="1600" cap="none" spc="50" dirty="0">
                <a:ln w="0"/>
                <a:solidFill>
                  <a:schemeClr val="tx2"/>
                </a:solidFill>
                <a:effectLst>
                  <a:innerShdw blurRad="63500" dist="50800" dir="13500000">
                    <a:srgbClr val="000000">
                      <a:alpha val="50000"/>
                    </a:srgbClr>
                  </a:innerShdw>
                </a:effectLst>
              </a:rPr>
              <a:t>7k SF/8k SF</a:t>
            </a:r>
            <a:endParaRPr lang="en-US" cap="none" spc="50" dirty="0">
              <a:ln w="0"/>
              <a:solidFill>
                <a:schemeClr val="tx2"/>
              </a:solidFill>
              <a:effectLst>
                <a:innerShdw blurRad="63500" dist="50800" dir="13500000">
                  <a:srgbClr val="000000">
                    <a:alpha val="50000"/>
                  </a:srgbClr>
                </a:innerShdw>
              </a:effectLst>
            </a:endParaRPr>
          </a:p>
        </p:txBody>
      </p:sp>
      <p:sp>
        <p:nvSpPr>
          <p:cNvPr id="10" name="Rectangle 9">
            <a:extLst>
              <a:ext uri="{FF2B5EF4-FFF2-40B4-BE49-F238E27FC236}">
                <a16:creationId xmlns:a16="http://schemas.microsoft.com/office/drawing/2014/main" id="{BA80DAFA-FF38-65C2-3717-9054F7E29C25}"/>
              </a:ext>
            </a:extLst>
          </p:cNvPr>
          <p:cNvSpPr/>
          <p:nvPr/>
        </p:nvSpPr>
        <p:spPr>
          <a:xfrm>
            <a:off x="5120661" y="1248358"/>
            <a:ext cx="1962615" cy="457020"/>
          </a:xfrm>
          <a:prstGeom prst="rect">
            <a:avLst/>
          </a:prstGeom>
          <a:solidFill>
            <a:schemeClr val="bg2"/>
          </a:solidFill>
          <a:ln>
            <a:noFill/>
          </a:ln>
          <a:effectLst>
            <a:outerShdw blurRad="139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2" name="Rectangle 11">
            <a:extLst>
              <a:ext uri="{FF2B5EF4-FFF2-40B4-BE49-F238E27FC236}">
                <a16:creationId xmlns:a16="http://schemas.microsoft.com/office/drawing/2014/main" id="{E5219ED5-7E79-8F70-0E48-AFF9D046A180}"/>
              </a:ext>
            </a:extLst>
          </p:cNvPr>
          <p:cNvSpPr/>
          <p:nvPr/>
        </p:nvSpPr>
        <p:spPr>
          <a:xfrm>
            <a:off x="5120655" y="2325232"/>
            <a:ext cx="6278137" cy="457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3" name="Rectangle 12">
            <a:extLst>
              <a:ext uri="{FF2B5EF4-FFF2-40B4-BE49-F238E27FC236}">
                <a16:creationId xmlns:a16="http://schemas.microsoft.com/office/drawing/2014/main" id="{B3A74638-917B-089D-FDFC-09044D3A6228}"/>
              </a:ext>
            </a:extLst>
          </p:cNvPr>
          <p:cNvSpPr/>
          <p:nvPr/>
        </p:nvSpPr>
        <p:spPr>
          <a:xfrm>
            <a:off x="5120656" y="3438636"/>
            <a:ext cx="6278137" cy="457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4" name="Rectangle 13">
            <a:extLst>
              <a:ext uri="{FF2B5EF4-FFF2-40B4-BE49-F238E27FC236}">
                <a16:creationId xmlns:a16="http://schemas.microsoft.com/office/drawing/2014/main" id="{24CA15C0-B512-B0FD-B29C-1FF26878015E}"/>
              </a:ext>
            </a:extLst>
          </p:cNvPr>
          <p:cNvSpPr/>
          <p:nvPr/>
        </p:nvSpPr>
        <p:spPr>
          <a:xfrm>
            <a:off x="5120661" y="4529060"/>
            <a:ext cx="6278137" cy="457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5" name="Rectangle 14">
            <a:extLst>
              <a:ext uri="{FF2B5EF4-FFF2-40B4-BE49-F238E27FC236}">
                <a16:creationId xmlns:a16="http://schemas.microsoft.com/office/drawing/2014/main" id="{AA4581DF-84EC-1F05-CB4E-518F25D35F89}"/>
              </a:ext>
            </a:extLst>
          </p:cNvPr>
          <p:cNvSpPr/>
          <p:nvPr/>
        </p:nvSpPr>
        <p:spPr>
          <a:xfrm>
            <a:off x="5120652" y="2325232"/>
            <a:ext cx="3432331" cy="457020"/>
          </a:xfrm>
          <a:prstGeom prst="rect">
            <a:avLst/>
          </a:prstGeom>
          <a:solidFill>
            <a:schemeClr val="bg2"/>
          </a:solidFill>
          <a:ln>
            <a:noFill/>
          </a:ln>
          <a:effectLst>
            <a:outerShdw blurRad="139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6" name="Rectangle 15">
            <a:extLst>
              <a:ext uri="{FF2B5EF4-FFF2-40B4-BE49-F238E27FC236}">
                <a16:creationId xmlns:a16="http://schemas.microsoft.com/office/drawing/2014/main" id="{3D00B423-F271-3776-AAC1-90810FE8A74D}"/>
              </a:ext>
            </a:extLst>
          </p:cNvPr>
          <p:cNvSpPr/>
          <p:nvPr/>
        </p:nvSpPr>
        <p:spPr>
          <a:xfrm>
            <a:off x="5120661" y="3438636"/>
            <a:ext cx="4877354" cy="457020"/>
          </a:xfrm>
          <a:prstGeom prst="rect">
            <a:avLst/>
          </a:prstGeom>
          <a:solidFill>
            <a:schemeClr val="bg2"/>
          </a:solidFill>
          <a:ln>
            <a:noFill/>
          </a:ln>
          <a:effectLst>
            <a:outerShdw blurRad="139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7" name="Rectangle 16">
            <a:extLst>
              <a:ext uri="{FF2B5EF4-FFF2-40B4-BE49-F238E27FC236}">
                <a16:creationId xmlns:a16="http://schemas.microsoft.com/office/drawing/2014/main" id="{DD3BA872-3AE9-9C46-1F26-D79E3F109E28}"/>
              </a:ext>
            </a:extLst>
          </p:cNvPr>
          <p:cNvSpPr/>
          <p:nvPr/>
        </p:nvSpPr>
        <p:spPr>
          <a:xfrm>
            <a:off x="5120652" y="4526714"/>
            <a:ext cx="5383797" cy="457020"/>
          </a:xfrm>
          <a:prstGeom prst="rect">
            <a:avLst/>
          </a:prstGeom>
          <a:solidFill>
            <a:schemeClr val="bg2"/>
          </a:solidFill>
          <a:ln>
            <a:noFill/>
          </a:ln>
          <a:effectLst>
            <a:outerShdw blurRad="1397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18" name="Rectangle 17">
            <a:extLst>
              <a:ext uri="{FF2B5EF4-FFF2-40B4-BE49-F238E27FC236}">
                <a16:creationId xmlns:a16="http://schemas.microsoft.com/office/drawing/2014/main" id="{F166CFE7-63DA-7F24-C655-AD2CA21C581A}"/>
              </a:ext>
            </a:extLst>
          </p:cNvPr>
          <p:cNvSpPr/>
          <p:nvPr/>
        </p:nvSpPr>
        <p:spPr>
          <a:xfrm>
            <a:off x="10791592" y="2331768"/>
            <a:ext cx="1962615" cy="461665"/>
          </a:xfrm>
          <a:prstGeom prst="rect">
            <a:avLst/>
          </a:prstGeom>
          <a:noFill/>
        </p:spPr>
        <p:txBody>
          <a:bodyPr wrap="square" lIns="91440" tIns="45720" rIns="91440" bIns="45720">
            <a:spAutoFit/>
          </a:bodyPr>
          <a:lstStyle/>
          <a:p>
            <a:pPr algn="ct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57</a:t>
            </a:r>
            <a:r>
              <a:rPr lang="en-US" sz="2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p>
        </p:txBody>
      </p:sp>
      <p:sp>
        <p:nvSpPr>
          <p:cNvPr id="19" name="Rectangle 18">
            <a:extLst>
              <a:ext uri="{FF2B5EF4-FFF2-40B4-BE49-F238E27FC236}">
                <a16:creationId xmlns:a16="http://schemas.microsoft.com/office/drawing/2014/main" id="{7AA07E1D-F7FB-80A4-AD19-CC4A277BF21E}"/>
              </a:ext>
            </a:extLst>
          </p:cNvPr>
          <p:cNvSpPr/>
          <p:nvPr/>
        </p:nvSpPr>
        <p:spPr>
          <a:xfrm>
            <a:off x="10791592" y="3435702"/>
            <a:ext cx="1962615" cy="461665"/>
          </a:xfrm>
          <a:prstGeom prst="rect">
            <a:avLst/>
          </a:prstGeom>
          <a:noFill/>
        </p:spPr>
        <p:txBody>
          <a:bodyPr wrap="square" lIns="91440" tIns="45720" rIns="91440" bIns="45720">
            <a:spAutoFit/>
          </a:bodyPr>
          <a:lstStyle/>
          <a:p>
            <a:pPr algn="ct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78</a:t>
            </a:r>
            <a:r>
              <a:rPr lang="en-US" sz="2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p>
        </p:txBody>
      </p:sp>
      <p:sp>
        <p:nvSpPr>
          <p:cNvPr id="20" name="Rectangle 19">
            <a:extLst>
              <a:ext uri="{FF2B5EF4-FFF2-40B4-BE49-F238E27FC236}">
                <a16:creationId xmlns:a16="http://schemas.microsoft.com/office/drawing/2014/main" id="{6B42668F-700F-0F96-099E-A75C6731B922}"/>
              </a:ext>
            </a:extLst>
          </p:cNvPr>
          <p:cNvSpPr/>
          <p:nvPr/>
        </p:nvSpPr>
        <p:spPr>
          <a:xfrm>
            <a:off x="10791591" y="4529060"/>
            <a:ext cx="1962615" cy="461665"/>
          </a:xfrm>
          <a:prstGeom prst="rect">
            <a:avLst/>
          </a:prstGeom>
          <a:noFill/>
        </p:spPr>
        <p:txBody>
          <a:bodyPr wrap="square" lIns="91440" tIns="45720" rIns="91440" bIns="45720">
            <a:spAutoFit/>
          </a:bodyPr>
          <a:lstStyle/>
          <a:p>
            <a:pPr algn="ctr"/>
            <a:r>
              <a:rPr lang="en-US" sz="2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88</a:t>
            </a:r>
            <a:r>
              <a:rPr lang="en-US" sz="2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a:t>
            </a:r>
          </a:p>
        </p:txBody>
      </p:sp>
      <p:sp>
        <p:nvSpPr>
          <p:cNvPr id="21" name="Rectangle 20">
            <a:extLst>
              <a:ext uri="{FF2B5EF4-FFF2-40B4-BE49-F238E27FC236}">
                <a16:creationId xmlns:a16="http://schemas.microsoft.com/office/drawing/2014/main" id="{3C0133AA-8263-6292-AA8E-C21F0C84BEA7}"/>
              </a:ext>
            </a:extLst>
          </p:cNvPr>
          <p:cNvSpPr/>
          <p:nvPr/>
        </p:nvSpPr>
        <p:spPr>
          <a:xfrm>
            <a:off x="10791590" y="1261351"/>
            <a:ext cx="2054615" cy="461665"/>
          </a:xfrm>
          <a:prstGeom prst="rect">
            <a:avLst/>
          </a:prstGeom>
          <a:noFill/>
        </p:spPr>
        <p:txBody>
          <a:bodyPr wrap="square" lIns="91440" tIns="45720" rIns="91440" bIns="45720">
            <a:spAutoFit/>
          </a:bodyPr>
          <a:lstStyle/>
          <a:p>
            <a:pPr algn="ctr"/>
            <a:r>
              <a:rPr lang="en-US" sz="2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30%</a:t>
            </a:r>
          </a:p>
        </p:txBody>
      </p:sp>
      <p:sp>
        <p:nvSpPr>
          <p:cNvPr id="22" name="TextBox 21">
            <a:extLst>
              <a:ext uri="{FF2B5EF4-FFF2-40B4-BE49-F238E27FC236}">
                <a16:creationId xmlns:a16="http://schemas.microsoft.com/office/drawing/2014/main" id="{3ECED3B6-4BD9-6E12-C1DD-93C984771447}"/>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latin typeface="Inter" panose="02000503000000020004" pitchFamily="2" charset="0"/>
                <a:ea typeface="+mn-ea"/>
                <a:cs typeface="+mn-cs"/>
              </a:rPr>
              <a:t>Samples</a:t>
            </a:r>
          </a:p>
        </p:txBody>
      </p:sp>
      <p:sp>
        <p:nvSpPr>
          <p:cNvPr id="23" name="TextBox 22">
            <a:extLst>
              <a:ext uri="{FF2B5EF4-FFF2-40B4-BE49-F238E27FC236}">
                <a16:creationId xmlns:a16="http://schemas.microsoft.com/office/drawing/2014/main" id="{B7A4298A-622E-DBB1-E5D3-9C75A57367BE}"/>
              </a:ext>
            </a:extLst>
          </p:cNvPr>
          <p:cNvSpPr txBox="1"/>
          <p:nvPr/>
        </p:nvSpPr>
        <p:spPr>
          <a:xfrm rot="20254641">
            <a:off x="1927321" y="1688361"/>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tx2"/>
                </a:solidFill>
              </a:rPr>
              <a:t>Update this</a:t>
            </a:r>
          </a:p>
        </p:txBody>
      </p:sp>
    </p:spTree>
    <p:extLst>
      <p:ext uri="{BB962C8B-B14F-4D97-AF65-F5344CB8AC3E}">
        <p14:creationId xmlns:p14="http://schemas.microsoft.com/office/powerpoint/2010/main" val="4089095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1" presetClass="entr" presetSubtype="0" fill="hold" grpId="0" nodeType="afterEffect">
                                  <p:stCondLst>
                                    <p:cond delay="100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500"/>
                                        <p:tgtEl>
                                          <p:spTgt spid="15"/>
                                        </p:tgtEl>
                                      </p:cBhvr>
                                    </p:animEffec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500"/>
                                        <p:tgtEl>
                                          <p:spTgt spid="16"/>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left)">
                                      <p:cBhvr>
                                        <p:cTn id="31" dur="500"/>
                                        <p:tgtEl>
                                          <p:spTgt spid="17"/>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6" grpId="0" animBg="1"/>
      <p:bldP spid="17" grpId="0" animBg="1"/>
      <p:bldP spid="18" grpId="0"/>
      <p:bldP spid="19"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E4881DC-58A2-8E18-732E-99389594B1F4}"/>
              </a:ext>
            </a:extLst>
          </p:cNvPr>
          <p:cNvSpPr>
            <a:spLocks noGrp="1"/>
          </p:cNvSpPr>
          <p:nvPr>
            <p:ph type="ftr" sz="quarter" idx="11"/>
          </p:nvPr>
        </p:nvSpPr>
        <p:spPr/>
        <p:txBody>
          <a:bodyPr/>
          <a:lstStyle/>
          <a:p>
            <a:r>
              <a:rPr lang="en-US" dirty="0"/>
              <a:t>© 2023 GE Vernova and/or its affiliates. All rights reserved.</a:t>
            </a:r>
          </a:p>
        </p:txBody>
      </p:sp>
      <p:sp>
        <p:nvSpPr>
          <p:cNvPr id="3" name="Title 2">
            <a:extLst>
              <a:ext uri="{FF2B5EF4-FFF2-40B4-BE49-F238E27FC236}">
                <a16:creationId xmlns:a16="http://schemas.microsoft.com/office/drawing/2014/main" id="{F8A1C700-35F7-8B6A-270F-1B40174ADA87}"/>
              </a:ext>
            </a:extLst>
          </p:cNvPr>
          <p:cNvSpPr>
            <a:spLocks noGrp="1"/>
          </p:cNvSpPr>
          <p:nvPr>
            <p:ph type="ctrTitle"/>
          </p:nvPr>
        </p:nvSpPr>
        <p:spPr>
          <a:xfrm>
            <a:off x="2742543" y="1684392"/>
            <a:ext cx="6706914" cy="1965325"/>
          </a:xfrm>
        </p:spPr>
        <p:txBody>
          <a:bodyPr/>
          <a:lstStyle/>
          <a:p>
            <a:r>
              <a:rPr lang="en-US" dirty="0"/>
              <a:t>The price of progress</a:t>
            </a:r>
          </a:p>
        </p:txBody>
      </p:sp>
      <p:sp>
        <p:nvSpPr>
          <p:cNvPr id="4" name="Subtitle 3">
            <a:extLst>
              <a:ext uri="{FF2B5EF4-FFF2-40B4-BE49-F238E27FC236}">
                <a16:creationId xmlns:a16="http://schemas.microsoft.com/office/drawing/2014/main" id="{6EF2BFB9-83C4-225B-0C30-B2B304808DF3}"/>
              </a:ext>
            </a:extLst>
          </p:cNvPr>
          <p:cNvSpPr>
            <a:spLocks noGrp="1"/>
          </p:cNvSpPr>
          <p:nvPr>
            <p:ph type="subTitle" idx="1"/>
          </p:nvPr>
        </p:nvSpPr>
        <p:spPr>
          <a:xfrm>
            <a:off x="5243349" y="3856036"/>
            <a:ext cx="2465990" cy="974725"/>
          </a:xfrm>
        </p:spPr>
        <p:txBody>
          <a:bodyPr/>
          <a:lstStyle/>
          <a:p>
            <a:pPr marL="285750" indent="-285750">
              <a:buFont typeface="Arial" panose="020B0604020202020204" pitchFamily="34" charset="0"/>
              <a:buChar char="•"/>
            </a:pPr>
            <a:r>
              <a:rPr lang="en-US" sz="3200" b="1" dirty="0">
                <a:latin typeface="Grotesque" panose="020F0502020204030204" pitchFamily="34" charset="0"/>
              </a:rPr>
              <a:t>Space</a:t>
            </a:r>
          </a:p>
          <a:p>
            <a:pPr marL="285750" indent="-285750">
              <a:buFont typeface="Arial" panose="020B0604020202020204" pitchFamily="34" charset="0"/>
              <a:buChar char="•"/>
            </a:pPr>
            <a:r>
              <a:rPr lang="en-US" sz="3200" b="1" dirty="0">
                <a:latin typeface="Grotesque" panose="020F0502020204030204" pitchFamily="34" charset="0"/>
              </a:rPr>
              <a:t>Time</a:t>
            </a:r>
          </a:p>
          <a:p>
            <a:pPr marL="285750" indent="-285750">
              <a:buFont typeface="Arial" panose="020B0604020202020204" pitchFamily="34" charset="0"/>
              <a:buChar char="•"/>
            </a:pPr>
            <a:r>
              <a:rPr lang="en-US" sz="3200" b="1" dirty="0">
                <a:latin typeface="Grotesque" panose="020F0502020204030204" pitchFamily="34" charset="0"/>
              </a:rPr>
              <a:t>Effort</a:t>
            </a:r>
          </a:p>
        </p:txBody>
      </p:sp>
      <p:sp>
        <p:nvSpPr>
          <p:cNvPr id="5" name="TextBox 4">
            <a:extLst>
              <a:ext uri="{FF2B5EF4-FFF2-40B4-BE49-F238E27FC236}">
                <a16:creationId xmlns:a16="http://schemas.microsoft.com/office/drawing/2014/main" id="{BC4DA2BB-B802-ABF9-5020-E4DB87D31BFE}"/>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latin typeface="Inter" panose="02000503000000020004" pitchFamily="2" charset="0"/>
                <a:ea typeface="+mn-ea"/>
                <a:cs typeface="+mn-cs"/>
              </a:rPr>
              <a:t>Samples</a:t>
            </a:r>
          </a:p>
        </p:txBody>
      </p:sp>
      <p:sp>
        <p:nvSpPr>
          <p:cNvPr id="6" name="TextBox 5">
            <a:extLst>
              <a:ext uri="{FF2B5EF4-FFF2-40B4-BE49-F238E27FC236}">
                <a16:creationId xmlns:a16="http://schemas.microsoft.com/office/drawing/2014/main" id="{70D3BC37-6012-5A93-4587-811B1EC8D7EA}"/>
              </a:ext>
            </a:extLst>
          </p:cNvPr>
          <p:cNvSpPr txBox="1"/>
          <p:nvPr/>
        </p:nvSpPr>
        <p:spPr>
          <a:xfrm rot="20254641">
            <a:off x="2546743" y="314739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bg2"/>
                </a:solidFill>
              </a:rPr>
              <a:t>Update this</a:t>
            </a:r>
          </a:p>
        </p:txBody>
      </p:sp>
    </p:spTree>
    <p:extLst>
      <p:ext uri="{BB962C8B-B14F-4D97-AF65-F5344CB8AC3E}">
        <p14:creationId xmlns:p14="http://schemas.microsoft.com/office/powerpoint/2010/main" val="2820487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7826835-2159-9805-AADF-94DF386688B6}"/>
              </a:ext>
            </a:extLst>
          </p:cNvPr>
          <p:cNvSpPr/>
          <p:nvPr/>
        </p:nvSpPr>
        <p:spPr>
          <a:xfrm>
            <a:off x="9698504" y="1486"/>
            <a:ext cx="2493496" cy="10809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pic>
        <p:nvPicPr>
          <p:cNvPr id="5" name="Graphic 4" descr="Camera with solid fill">
            <a:extLst>
              <a:ext uri="{FF2B5EF4-FFF2-40B4-BE49-F238E27FC236}">
                <a16:creationId xmlns:a16="http://schemas.microsoft.com/office/drawing/2014/main" id="{8A6F0C4F-AEC2-2ADE-F90C-459EE5C3014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30965" y="4608821"/>
            <a:ext cx="638174" cy="638174"/>
          </a:xfrm>
          <a:prstGeom prst="rect">
            <a:avLst/>
          </a:prstGeom>
        </p:spPr>
      </p:pic>
      <p:pic>
        <p:nvPicPr>
          <p:cNvPr id="6" name="Picture 5">
            <a:extLst>
              <a:ext uri="{FF2B5EF4-FFF2-40B4-BE49-F238E27FC236}">
                <a16:creationId xmlns:a16="http://schemas.microsoft.com/office/drawing/2014/main" id="{E8CF6845-0D4F-3A5C-1DAE-5E10318560C3}"/>
              </a:ext>
            </a:extLst>
          </p:cNvPr>
          <p:cNvPicPr>
            <a:picLocks noChangeAspect="1"/>
          </p:cNvPicPr>
          <p:nvPr/>
        </p:nvPicPr>
        <p:blipFill>
          <a:blip r:embed="rId4"/>
          <a:stretch>
            <a:fillRect/>
          </a:stretch>
        </p:blipFill>
        <p:spPr>
          <a:xfrm>
            <a:off x="5267687" y="53184"/>
            <a:ext cx="1651410" cy="1639087"/>
          </a:xfrm>
          <a:prstGeom prst="rect">
            <a:avLst/>
          </a:prstGeom>
          <a:effectLst>
            <a:outerShdw blurRad="50800" dist="38100" dir="5400000" algn="t" rotWithShape="0">
              <a:prstClr val="black">
                <a:alpha val="40000"/>
              </a:prstClr>
            </a:outerShdw>
          </a:effectLst>
        </p:spPr>
      </p:pic>
      <p:sp>
        <p:nvSpPr>
          <p:cNvPr id="11" name="Rectangle 10">
            <a:extLst>
              <a:ext uri="{FF2B5EF4-FFF2-40B4-BE49-F238E27FC236}">
                <a16:creationId xmlns:a16="http://schemas.microsoft.com/office/drawing/2014/main" id="{3EE946DE-5A24-8353-6C7D-EBD00D6D2DC8}"/>
              </a:ext>
            </a:extLst>
          </p:cNvPr>
          <p:cNvSpPr/>
          <p:nvPr/>
        </p:nvSpPr>
        <p:spPr>
          <a:xfrm>
            <a:off x="2300948" y="2861822"/>
            <a:ext cx="1907062" cy="369332"/>
          </a:xfrm>
          <a:prstGeom prst="rect">
            <a:avLst/>
          </a:prstGeom>
          <a:noFill/>
        </p:spPr>
        <p:txBody>
          <a:bodyPr wrap="none" lIns="91440" tIns="45720" rIns="91440" bIns="45720">
            <a:spAutoFit/>
          </a:bodyPr>
          <a:lstStyle/>
          <a:p>
            <a:pPr algn="ctr"/>
            <a:r>
              <a:rPr lang="en-US" b="0" cap="none" spc="0" dirty="0">
                <a:ln w="0"/>
                <a:solidFill>
                  <a:srgbClr val="FF0000"/>
                </a:solidFill>
                <a:effectLst>
                  <a:outerShdw blurRad="38100" dist="25400" dir="5400000" algn="ctr" rotWithShape="0">
                    <a:srgbClr val="6E747A">
                      <a:alpha val="43000"/>
                    </a:srgbClr>
                  </a:outerShdw>
                </a:effectLst>
              </a:rPr>
              <a:t>As Found Photo</a:t>
            </a:r>
          </a:p>
        </p:txBody>
      </p:sp>
      <p:sp>
        <p:nvSpPr>
          <p:cNvPr id="13" name="Rectangle 12">
            <a:extLst>
              <a:ext uri="{FF2B5EF4-FFF2-40B4-BE49-F238E27FC236}">
                <a16:creationId xmlns:a16="http://schemas.microsoft.com/office/drawing/2014/main" id="{00CCB9FA-E942-9E1D-2F97-0AF47A4A8043}"/>
              </a:ext>
            </a:extLst>
          </p:cNvPr>
          <p:cNvSpPr/>
          <p:nvPr/>
        </p:nvSpPr>
        <p:spPr>
          <a:xfrm>
            <a:off x="7827697" y="2873320"/>
            <a:ext cx="2137445" cy="369332"/>
          </a:xfrm>
          <a:prstGeom prst="rect">
            <a:avLst/>
          </a:prstGeom>
          <a:noFill/>
        </p:spPr>
        <p:txBody>
          <a:bodyPr wrap="none" lIns="91440" tIns="45720" rIns="91440" bIns="45720">
            <a:spAutoFit/>
          </a:bodyPr>
          <a:lstStyle/>
          <a:p>
            <a:pPr algn="ctr"/>
            <a:r>
              <a:rPr lang="en-US" b="0" cap="none" spc="0" dirty="0">
                <a:ln w="0"/>
                <a:solidFill>
                  <a:srgbClr val="FF0000"/>
                </a:solidFill>
                <a:effectLst>
                  <a:outerShdw blurRad="38100" dist="25400" dir="5400000" algn="ctr" rotWithShape="0">
                    <a:srgbClr val="6E747A">
                      <a:alpha val="43000"/>
                    </a:srgbClr>
                  </a:outerShdw>
                </a:effectLst>
              </a:rPr>
              <a:t>Completion Photo</a:t>
            </a:r>
          </a:p>
        </p:txBody>
      </p:sp>
      <p:sp>
        <p:nvSpPr>
          <p:cNvPr id="14" name="Rectangle 13">
            <a:extLst>
              <a:ext uri="{FF2B5EF4-FFF2-40B4-BE49-F238E27FC236}">
                <a16:creationId xmlns:a16="http://schemas.microsoft.com/office/drawing/2014/main" id="{8B75C9D6-1FCD-33C0-C89B-FBDE5952A1F9}"/>
              </a:ext>
            </a:extLst>
          </p:cNvPr>
          <p:cNvSpPr/>
          <p:nvPr/>
        </p:nvSpPr>
        <p:spPr>
          <a:xfrm>
            <a:off x="294389" y="323235"/>
            <a:ext cx="1755865" cy="369332"/>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Title: </a:t>
            </a:r>
            <a:r>
              <a:rPr lang="en-US" sz="1600" b="0" cap="none" spc="0" dirty="0">
                <a:ln w="0"/>
                <a:solidFill>
                  <a:schemeClr val="tx1"/>
                </a:solidFill>
                <a:effectLst>
                  <a:outerShdw blurRad="38100" dist="19050" dir="2700000" algn="tl" rotWithShape="0">
                    <a:schemeClr val="dk1">
                      <a:alpha val="40000"/>
                    </a:schemeClr>
                  </a:outerShdw>
                </a:effectLst>
              </a:rPr>
              <a:t>Bldg.4 purge</a:t>
            </a:r>
            <a:endParaRPr lang="en-US" sz="2400" b="0" cap="none" spc="0" dirty="0">
              <a:ln w="0"/>
              <a:solidFill>
                <a:schemeClr val="tx1"/>
              </a:solidFill>
              <a:effectLst>
                <a:outerShdw blurRad="38100" dist="19050" dir="2700000" algn="tl" rotWithShape="0">
                  <a:schemeClr val="dk1">
                    <a:alpha val="40000"/>
                  </a:schemeClr>
                </a:outerShdw>
              </a:effectLst>
            </a:endParaRPr>
          </a:p>
        </p:txBody>
      </p:sp>
      <p:cxnSp>
        <p:nvCxnSpPr>
          <p:cNvPr id="16" name="Straight Connector 15">
            <a:extLst>
              <a:ext uri="{FF2B5EF4-FFF2-40B4-BE49-F238E27FC236}">
                <a16:creationId xmlns:a16="http://schemas.microsoft.com/office/drawing/2014/main" id="{DA7FB166-B420-ACF9-10C1-76C19125DE87}"/>
              </a:ext>
            </a:extLst>
          </p:cNvPr>
          <p:cNvCxnSpPr/>
          <p:nvPr/>
        </p:nvCxnSpPr>
        <p:spPr>
          <a:xfrm>
            <a:off x="855228" y="620549"/>
            <a:ext cx="2399251" cy="0"/>
          </a:xfrm>
          <a:prstGeom prst="line">
            <a:avLst/>
          </a:prstGeom>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7D8A552F-58F7-459C-1ABA-EE768E42C6E3}"/>
              </a:ext>
            </a:extLst>
          </p:cNvPr>
          <p:cNvSpPr/>
          <p:nvPr/>
        </p:nvSpPr>
        <p:spPr>
          <a:xfrm>
            <a:off x="262815" y="637250"/>
            <a:ext cx="2361031" cy="461665"/>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Owner</a:t>
            </a:r>
            <a:r>
              <a:rPr lang="en-US" sz="2400" b="0" cap="none" spc="0" dirty="0">
                <a:ln w="0"/>
                <a:solidFill>
                  <a:schemeClr val="tx1"/>
                </a:solidFill>
                <a:effectLst>
                  <a:outerShdw blurRad="38100" dist="19050" dir="2700000" algn="tl" rotWithShape="0">
                    <a:schemeClr val="dk1">
                      <a:alpha val="40000"/>
                    </a:schemeClr>
                  </a:outerShdw>
                </a:effectLst>
              </a:rPr>
              <a:t>: </a:t>
            </a:r>
            <a:r>
              <a:rPr lang="en-US" sz="1600" b="0" cap="none" spc="0" dirty="0">
                <a:ln w="0"/>
                <a:solidFill>
                  <a:schemeClr val="tx1"/>
                </a:solidFill>
                <a:effectLst>
                  <a:outerShdw blurRad="38100" dist="19050" dir="2700000" algn="tl" rotWithShape="0">
                    <a:schemeClr val="dk1">
                      <a:alpha val="40000"/>
                    </a:schemeClr>
                  </a:outerShdw>
                </a:effectLst>
              </a:rPr>
              <a:t>Andrew Samples</a:t>
            </a:r>
            <a:endParaRPr lang="en-US" sz="2400" b="0" cap="none" spc="0" dirty="0">
              <a:ln w="0"/>
              <a:solidFill>
                <a:schemeClr val="tx1"/>
              </a:solidFill>
              <a:effectLst>
                <a:outerShdw blurRad="38100" dist="19050" dir="2700000" algn="tl" rotWithShape="0">
                  <a:schemeClr val="dk1">
                    <a:alpha val="40000"/>
                  </a:schemeClr>
                </a:outerShdw>
              </a:effectLst>
            </a:endParaRPr>
          </a:p>
        </p:txBody>
      </p:sp>
      <p:cxnSp>
        <p:nvCxnSpPr>
          <p:cNvPr id="21" name="Straight Connector 20">
            <a:extLst>
              <a:ext uri="{FF2B5EF4-FFF2-40B4-BE49-F238E27FC236}">
                <a16:creationId xmlns:a16="http://schemas.microsoft.com/office/drawing/2014/main" id="{F1187137-C784-B189-242B-A36830AD59F9}"/>
              </a:ext>
            </a:extLst>
          </p:cNvPr>
          <p:cNvCxnSpPr/>
          <p:nvPr/>
        </p:nvCxnSpPr>
        <p:spPr>
          <a:xfrm>
            <a:off x="1082679" y="998216"/>
            <a:ext cx="2399251" cy="0"/>
          </a:xfrm>
          <a:prstGeom prst="line">
            <a:avLst/>
          </a:prstGeom>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5519622A-B6C8-63B0-E472-0285BDBD0A4B}"/>
              </a:ext>
            </a:extLst>
          </p:cNvPr>
          <p:cNvCxnSpPr/>
          <p:nvPr/>
        </p:nvCxnSpPr>
        <p:spPr>
          <a:xfrm>
            <a:off x="1951896" y="1385681"/>
            <a:ext cx="2399251" cy="0"/>
          </a:xfrm>
          <a:prstGeom prst="line">
            <a:avLst/>
          </a:prstGeom>
        </p:spPr>
        <p:style>
          <a:lnRef idx="1">
            <a:schemeClr val="dk1"/>
          </a:lnRef>
          <a:fillRef idx="0">
            <a:schemeClr val="dk1"/>
          </a:fillRef>
          <a:effectRef idx="0">
            <a:schemeClr val="dk1"/>
          </a:effectRef>
          <a:fontRef idx="minor">
            <a:schemeClr val="tx1"/>
          </a:fontRef>
        </p:style>
      </p:cxnSp>
      <p:sp>
        <p:nvSpPr>
          <p:cNvPr id="24" name="Rectangle 23">
            <a:extLst>
              <a:ext uri="{FF2B5EF4-FFF2-40B4-BE49-F238E27FC236}">
                <a16:creationId xmlns:a16="http://schemas.microsoft.com/office/drawing/2014/main" id="{D71F2532-040E-1EDF-E1D9-6BF8528E5614}"/>
              </a:ext>
            </a:extLst>
          </p:cNvPr>
          <p:cNvSpPr/>
          <p:nvPr/>
        </p:nvSpPr>
        <p:spPr>
          <a:xfrm>
            <a:off x="236322" y="1030275"/>
            <a:ext cx="2996205" cy="461665"/>
          </a:xfrm>
          <a:prstGeom prst="rect">
            <a:avLst/>
          </a:prstGeom>
          <a:noFill/>
        </p:spPr>
        <p:txBody>
          <a:bodyPr wrap="none" lIns="91440" tIns="45720" rIns="91440" bIns="45720">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Date Completed</a:t>
            </a:r>
            <a:r>
              <a:rPr lang="en-US" sz="2400" b="0" cap="none" spc="0" dirty="0">
                <a:ln w="0"/>
                <a:solidFill>
                  <a:schemeClr val="tx1"/>
                </a:solidFill>
                <a:effectLst>
                  <a:outerShdw blurRad="38100" dist="19050" dir="2700000" algn="tl" rotWithShape="0">
                    <a:schemeClr val="dk1">
                      <a:alpha val="40000"/>
                    </a:schemeClr>
                  </a:outerShdw>
                </a:effectLst>
              </a:rPr>
              <a:t>:   </a:t>
            </a:r>
            <a:r>
              <a:rPr lang="en-US" sz="1600" b="0" cap="none" spc="0" dirty="0">
                <a:ln w="0"/>
                <a:solidFill>
                  <a:schemeClr val="tx1"/>
                </a:solidFill>
                <a:effectLst>
                  <a:outerShdw blurRad="38100" dist="19050" dir="2700000" algn="tl" rotWithShape="0">
                    <a:schemeClr val="dk1">
                      <a:alpha val="40000"/>
                    </a:schemeClr>
                  </a:outerShdw>
                </a:effectLst>
              </a:rPr>
              <a:t>March 2026</a:t>
            </a:r>
            <a:endParaRPr lang="en-US" sz="2400" b="0" cap="none" spc="0" dirty="0">
              <a:ln w="0"/>
              <a:solidFill>
                <a:schemeClr val="tx1"/>
              </a:solidFill>
              <a:effectLst>
                <a:outerShdw blurRad="38100" dist="19050" dir="2700000" algn="tl" rotWithShape="0">
                  <a:schemeClr val="dk1">
                    <a:alpha val="40000"/>
                  </a:schemeClr>
                </a:outerShdw>
              </a:effectLst>
            </a:endParaRPr>
          </a:p>
        </p:txBody>
      </p:sp>
      <p:sp>
        <p:nvSpPr>
          <p:cNvPr id="26" name="TextBox 25">
            <a:extLst>
              <a:ext uri="{FF2B5EF4-FFF2-40B4-BE49-F238E27FC236}">
                <a16:creationId xmlns:a16="http://schemas.microsoft.com/office/drawing/2014/main" id="{6EC1909B-FA2A-D308-D826-B0D8EFE88408}"/>
              </a:ext>
            </a:extLst>
          </p:cNvPr>
          <p:cNvSpPr txBox="1"/>
          <p:nvPr/>
        </p:nvSpPr>
        <p:spPr>
          <a:xfrm>
            <a:off x="262815" y="1673349"/>
            <a:ext cx="2813760" cy="461665"/>
          </a:xfrm>
          <a:prstGeom prst="rect">
            <a:avLst/>
          </a:prstGeom>
          <a:noFill/>
        </p:spPr>
        <p:txBody>
          <a:bodyPr wrap="square">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Problem Statement</a:t>
            </a:r>
            <a:r>
              <a:rPr lang="en-US" sz="2400" b="0" cap="none" spc="0" dirty="0">
                <a:ln w="0"/>
                <a:solidFill>
                  <a:schemeClr val="tx1"/>
                </a:solidFill>
                <a:effectLst>
                  <a:outerShdw blurRad="38100" dist="19050" dir="2700000" algn="tl" rotWithShape="0">
                    <a:schemeClr val="dk1">
                      <a:alpha val="40000"/>
                    </a:schemeClr>
                  </a:outerShdw>
                </a:effectLst>
              </a:rPr>
              <a:t>:</a:t>
            </a:r>
          </a:p>
        </p:txBody>
      </p:sp>
      <p:sp>
        <p:nvSpPr>
          <p:cNvPr id="36" name="TextBox 35">
            <a:extLst>
              <a:ext uri="{FF2B5EF4-FFF2-40B4-BE49-F238E27FC236}">
                <a16:creationId xmlns:a16="http://schemas.microsoft.com/office/drawing/2014/main" id="{69B6ADE0-6E68-1BD8-CA53-9772C9B67F27}"/>
              </a:ext>
            </a:extLst>
          </p:cNvPr>
          <p:cNvSpPr txBox="1"/>
          <p:nvPr/>
        </p:nvSpPr>
        <p:spPr>
          <a:xfrm>
            <a:off x="6093392" y="1618798"/>
            <a:ext cx="2669488" cy="461665"/>
          </a:xfrm>
          <a:prstGeom prst="rect">
            <a:avLst/>
          </a:prstGeom>
          <a:noFill/>
        </p:spPr>
        <p:txBody>
          <a:bodyPr wrap="square">
            <a:spAutoFit/>
          </a:bodyPr>
          <a:lstStyle/>
          <a:p>
            <a:pPr algn="ctr"/>
            <a:r>
              <a:rPr lang="en-US" b="0" cap="none" spc="0" dirty="0">
                <a:ln w="0"/>
                <a:solidFill>
                  <a:schemeClr val="tx1"/>
                </a:solidFill>
                <a:effectLst>
                  <a:outerShdw blurRad="38100" dist="19050" dir="2700000" algn="tl" rotWithShape="0">
                    <a:schemeClr val="dk1">
                      <a:alpha val="40000"/>
                    </a:schemeClr>
                  </a:outerShdw>
                </a:effectLst>
              </a:rPr>
              <a:t>Corrective Action</a:t>
            </a:r>
            <a:r>
              <a:rPr lang="en-US" sz="2400" b="0" cap="none" spc="0" dirty="0">
                <a:ln w="0"/>
                <a:solidFill>
                  <a:schemeClr val="tx1"/>
                </a:solidFill>
                <a:effectLst>
                  <a:outerShdw blurRad="38100" dist="19050" dir="2700000" algn="tl" rotWithShape="0">
                    <a:schemeClr val="dk1">
                      <a:alpha val="40000"/>
                    </a:schemeClr>
                  </a:outerShdw>
                </a:effectLst>
              </a:rPr>
              <a:t>:</a:t>
            </a:r>
          </a:p>
        </p:txBody>
      </p:sp>
      <p:sp>
        <p:nvSpPr>
          <p:cNvPr id="3" name="Rectangle 2">
            <a:extLst>
              <a:ext uri="{FF2B5EF4-FFF2-40B4-BE49-F238E27FC236}">
                <a16:creationId xmlns:a16="http://schemas.microsoft.com/office/drawing/2014/main" id="{1B7DA69E-1125-5906-02D4-D637AB5FBF50}"/>
              </a:ext>
            </a:extLst>
          </p:cNvPr>
          <p:cNvSpPr/>
          <p:nvPr/>
        </p:nvSpPr>
        <p:spPr>
          <a:xfrm>
            <a:off x="6581523" y="3167405"/>
            <a:ext cx="4864231" cy="3542255"/>
          </a:xfrm>
          <a:prstGeom prst="rect">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en-US" dirty="0"/>
          </a:p>
        </p:txBody>
      </p:sp>
      <p:pic>
        <p:nvPicPr>
          <p:cNvPr id="4" name="Graphic 3" descr="Camera with solid fill">
            <a:extLst>
              <a:ext uri="{FF2B5EF4-FFF2-40B4-BE49-F238E27FC236}">
                <a16:creationId xmlns:a16="http://schemas.microsoft.com/office/drawing/2014/main" id="{734A9671-1037-F550-97B9-5EB7F98D287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94551" y="4619445"/>
            <a:ext cx="638174" cy="638174"/>
          </a:xfrm>
          <a:prstGeom prst="rect">
            <a:avLst/>
          </a:prstGeom>
        </p:spPr>
      </p:pic>
      <p:pic>
        <p:nvPicPr>
          <p:cNvPr id="1027" name="C858D532-532C-4AD6-8D78-C476A8E79A50" descr="IMG_4303.jpeg">
            <a:extLst>
              <a:ext uri="{FF2B5EF4-FFF2-40B4-BE49-F238E27FC236}">
                <a16:creationId xmlns:a16="http://schemas.microsoft.com/office/drawing/2014/main" id="{BCB621D7-7577-DC91-890A-4A914A5C43E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3877" y="3167405"/>
            <a:ext cx="5076939" cy="359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961E4A30-0D75-46ED-AFD2-B0FA11D677E2" descr="IMG_4344.jpeg">
            <a:extLst>
              <a:ext uri="{FF2B5EF4-FFF2-40B4-BE49-F238E27FC236}">
                <a16:creationId xmlns:a16="http://schemas.microsoft.com/office/drawing/2014/main" id="{D64E615C-BE63-5094-6100-3190E3A827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61185" y="3167405"/>
            <a:ext cx="4984569" cy="3593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119E26A3-4A9C-0690-EF9F-4D3983B0AA6D}"/>
              </a:ext>
            </a:extLst>
          </p:cNvPr>
          <p:cNvSpPr txBox="1"/>
          <p:nvPr/>
        </p:nvSpPr>
        <p:spPr>
          <a:xfrm>
            <a:off x="330669" y="1799478"/>
            <a:ext cx="5076939" cy="1077218"/>
          </a:xfrm>
          <a:prstGeom prst="rect">
            <a:avLst/>
          </a:prstGeom>
          <a:noFill/>
        </p:spPr>
        <p:txBody>
          <a:bodyPr wrap="square" rtlCol="0">
            <a:spAutoFit/>
          </a:bodyPr>
          <a:lstStyle/>
          <a:p>
            <a:r>
              <a:rPr lang="en-US" sz="1600" dirty="0"/>
              <a:t>                                         </a:t>
            </a:r>
            <a:r>
              <a:rPr lang="en-US" sz="1600" dirty="0">
                <a:solidFill>
                  <a:schemeClr val="tx2"/>
                </a:solidFill>
              </a:rPr>
              <a:t>Bldg. 4 had become clogged with thousands of items. We had no immediate use for many of them. Some items had been stored for more than 9 years.</a:t>
            </a:r>
          </a:p>
        </p:txBody>
      </p:sp>
      <p:sp>
        <p:nvSpPr>
          <p:cNvPr id="9" name="TextBox 8">
            <a:extLst>
              <a:ext uri="{FF2B5EF4-FFF2-40B4-BE49-F238E27FC236}">
                <a16:creationId xmlns:a16="http://schemas.microsoft.com/office/drawing/2014/main" id="{453ECCFB-F2A9-EBBC-7651-0EF4CE99B92B}"/>
              </a:ext>
            </a:extLst>
          </p:cNvPr>
          <p:cNvSpPr txBox="1"/>
          <p:nvPr/>
        </p:nvSpPr>
        <p:spPr>
          <a:xfrm>
            <a:off x="6461185" y="1692271"/>
            <a:ext cx="5561942" cy="1354217"/>
          </a:xfrm>
          <a:prstGeom prst="rect">
            <a:avLst/>
          </a:prstGeom>
          <a:noFill/>
        </p:spPr>
        <p:txBody>
          <a:bodyPr wrap="square" rtlCol="0">
            <a:spAutoFit/>
          </a:bodyPr>
          <a:lstStyle/>
          <a:p>
            <a:r>
              <a:rPr lang="en-US" dirty="0"/>
              <a:t>                              </a:t>
            </a:r>
            <a:r>
              <a:rPr lang="en-US" sz="1600" dirty="0">
                <a:solidFill>
                  <a:schemeClr val="tx2"/>
                </a:solidFill>
              </a:rPr>
              <a:t>We engaged all site teams, gathered information about each item, then disposition them accordingly. *Phase 1, we removed 47 tons of and cleared 7k sq.ft of space. *Phase 2 will occur this quarter and generate additional gains</a:t>
            </a:r>
            <a:r>
              <a:rPr lang="en-US" sz="1600" dirty="0">
                <a:solidFill>
                  <a:schemeClr val="accent1">
                    <a:lumMod val="50000"/>
                  </a:schemeClr>
                </a:solidFill>
              </a:rPr>
              <a:t>.</a:t>
            </a:r>
            <a:endParaRPr lang="en-US" dirty="0">
              <a:solidFill>
                <a:schemeClr val="accent1">
                  <a:lumMod val="50000"/>
                </a:schemeClr>
              </a:solidFill>
            </a:endParaRPr>
          </a:p>
        </p:txBody>
      </p:sp>
      <p:pic>
        <p:nvPicPr>
          <p:cNvPr id="10" name="Picture 9">
            <a:extLst>
              <a:ext uri="{FF2B5EF4-FFF2-40B4-BE49-F238E27FC236}">
                <a16:creationId xmlns:a16="http://schemas.microsoft.com/office/drawing/2014/main" id="{0CF610AC-5848-BFC2-81E5-F706909DBED9}"/>
              </a:ext>
            </a:extLst>
          </p:cNvPr>
          <p:cNvPicPr>
            <a:picLocks noChangeAspect="1"/>
          </p:cNvPicPr>
          <p:nvPr/>
        </p:nvPicPr>
        <p:blipFill>
          <a:blip r:embed="rId7"/>
          <a:stretch>
            <a:fillRect/>
          </a:stretch>
        </p:blipFill>
        <p:spPr>
          <a:xfrm>
            <a:off x="9753389" y="1486"/>
            <a:ext cx="2438611" cy="1028789"/>
          </a:xfrm>
          <a:prstGeom prst="rect">
            <a:avLst/>
          </a:prstGeom>
          <a:effectLst/>
        </p:spPr>
      </p:pic>
      <p:sp>
        <p:nvSpPr>
          <p:cNvPr id="2" name="TextBox 1">
            <a:extLst>
              <a:ext uri="{FF2B5EF4-FFF2-40B4-BE49-F238E27FC236}">
                <a16:creationId xmlns:a16="http://schemas.microsoft.com/office/drawing/2014/main" id="{CC10F035-8060-2EF9-F1CC-418746E4FA6C}"/>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chemeClr val="bg1"/>
                </a:solidFill>
                <a:latin typeface="Inter" panose="02000503000000020004" pitchFamily="2" charset="0"/>
                <a:ea typeface="+mn-ea"/>
                <a:cs typeface="+mn-cs"/>
              </a:rPr>
              <a:t>Samples</a:t>
            </a:r>
          </a:p>
        </p:txBody>
      </p:sp>
      <p:sp>
        <p:nvSpPr>
          <p:cNvPr id="7" name="TextBox 6">
            <a:extLst>
              <a:ext uri="{FF2B5EF4-FFF2-40B4-BE49-F238E27FC236}">
                <a16:creationId xmlns:a16="http://schemas.microsoft.com/office/drawing/2014/main" id="{E1368AF3-8622-7279-C4F2-2B856987734E}"/>
              </a:ext>
            </a:extLst>
          </p:cNvPr>
          <p:cNvSpPr txBox="1"/>
          <p:nvPr/>
        </p:nvSpPr>
        <p:spPr>
          <a:xfrm rot="20254641">
            <a:off x="3317708" y="168836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tx2"/>
                </a:solidFill>
              </a:rPr>
              <a:t>Update this</a:t>
            </a:r>
          </a:p>
        </p:txBody>
      </p:sp>
    </p:spTree>
    <p:extLst>
      <p:ext uri="{BB962C8B-B14F-4D97-AF65-F5344CB8AC3E}">
        <p14:creationId xmlns:p14="http://schemas.microsoft.com/office/powerpoint/2010/main" val="1295648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0CC74FE-8CE3-BE2C-C70E-C0B5C0C30419}"/>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3" name="Slide Number Placeholder 2">
            <a:extLst>
              <a:ext uri="{FF2B5EF4-FFF2-40B4-BE49-F238E27FC236}">
                <a16:creationId xmlns:a16="http://schemas.microsoft.com/office/drawing/2014/main" id="{5ADB28CD-6854-5FF5-9131-903B31FF975B}"/>
              </a:ext>
            </a:extLst>
          </p:cNvPr>
          <p:cNvSpPr>
            <a:spLocks noGrp="1"/>
          </p:cNvSpPr>
          <p:nvPr>
            <p:ph type="sldNum" sz="quarter" idx="12"/>
          </p:nvPr>
        </p:nvSpPr>
        <p:spPr/>
        <p:txBody>
          <a:bodyPr/>
          <a:lstStyle/>
          <a:p>
            <a:fld id="{7A7A97EF-C944-4447-B862-B593E9B4A0FF}" type="slidenum">
              <a:rPr lang="en-US" smtClean="0"/>
              <a:pPr/>
              <a:t>10</a:t>
            </a:fld>
            <a:endParaRPr lang="en-US" dirty="0"/>
          </a:p>
        </p:txBody>
      </p:sp>
      <p:sp>
        <p:nvSpPr>
          <p:cNvPr id="4" name="Title 3">
            <a:extLst>
              <a:ext uri="{FF2B5EF4-FFF2-40B4-BE49-F238E27FC236}">
                <a16:creationId xmlns:a16="http://schemas.microsoft.com/office/drawing/2014/main" id="{91FA7BAC-9873-0A36-DD6E-603BF72A873E}"/>
              </a:ext>
            </a:extLst>
          </p:cNvPr>
          <p:cNvSpPr>
            <a:spLocks noGrp="1"/>
          </p:cNvSpPr>
          <p:nvPr>
            <p:ph type="title"/>
          </p:nvPr>
        </p:nvSpPr>
        <p:spPr/>
        <p:txBody>
          <a:bodyPr/>
          <a:lstStyle/>
          <a:p>
            <a:r>
              <a:rPr lang="en-US" dirty="0"/>
              <a:t>Business Update: Investor Call</a:t>
            </a:r>
            <a:br>
              <a:rPr lang="en-US" dirty="0"/>
            </a:br>
            <a:endParaRPr lang="en-US" dirty="0"/>
          </a:p>
        </p:txBody>
      </p:sp>
      <p:sp>
        <p:nvSpPr>
          <p:cNvPr id="5" name="Content Placeholder 4">
            <a:extLst>
              <a:ext uri="{FF2B5EF4-FFF2-40B4-BE49-F238E27FC236}">
                <a16:creationId xmlns:a16="http://schemas.microsoft.com/office/drawing/2014/main" id="{F3301F1A-D1FA-9C99-A43A-BA54DE95C132}"/>
              </a:ext>
            </a:extLst>
          </p:cNvPr>
          <p:cNvSpPr>
            <a:spLocks noGrp="1"/>
          </p:cNvSpPr>
          <p:nvPr>
            <p:ph idx="1"/>
          </p:nvPr>
        </p:nvSpPr>
        <p:spPr/>
        <p:txBody>
          <a:bodyPr/>
          <a:lstStyle/>
          <a:p>
            <a:endParaRPr lang="en-US"/>
          </a:p>
        </p:txBody>
      </p:sp>
      <p:sp>
        <p:nvSpPr>
          <p:cNvPr id="6" name="Content Placeholder 5">
            <a:extLst>
              <a:ext uri="{FF2B5EF4-FFF2-40B4-BE49-F238E27FC236}">
                <a16:creationId xmlns:a16="http://schemas.microsoft.com/office/drawing/2014/main" id="{6CBFD746-F327-FE4E-2299-2C67AFAC1A6A}"/>
              </a:ext>
            </a:extLst>
          </p:cNvPr>
          <p:cNvSpPr>
            <a:spLocks noGrp="1"/>
          </p:cNvSpPr>
          <p:nvPr>
            <p:ph idx="13"/>
          </p:nvPr>
        </p:nvSpPr>
        <p:spPr/>
        <p:txBody>
          <a:bodyPr/>
          <a:lstStyle/>
          <a:p>
            <a:endParaRPr lang="en-US"/>
          </a:p>
        </p:txBody>
      </p:sp>
      <p:sp>
        <p:nvSpPr>
          <p:cNvPr id="9" name="TextBox 8">
            <a:extLst>
              <a:ext uri="{FF2B5EF4-FFF2-40B4-BE49-F238E27FC236}">
                <a16:creationId xmlns:a16="http://schemas.microsoft.com/office/drawing/2014/main" id="{DC4F018D-4292-6FB8-DE62-E0B99F0E21B9}"/>
              </a:ext>
            </a:extLst>
          </p:cNvPr>
          <p:cNvSpPr txBox="1"/>
          <p:nvPr/>
        </p:nvSpPr>
        <p:spPr>
          <a:xfrm>
            <a:off x="7056408" y="508958"/>
            <a:ext cx="914400" cy="914400"/>
          </a:xfrm>
          <a:prstGeom prst="rect">
            <a:avLst/>
          </a:prstGeom>
          <a:noFill/>
        </p:spPr>
        <p:txBody>
          <a:bodyPr wrap="none" lIns="0" tIns="0" rIns="0" bIns="0" rtlCol="0">
            <a:noAutofit/>
          </a:bodyPr>
          <a:lstStyle/>
          <a:p>
            <a:pPr algn="l">
              <a:spcAft>
                <a:spcPts val="600"/>
              </a:spcAft>
            </a:pPr>
            <a:endParaRPr lang="en-US" dirty="0"/>
          </a:p>
        </p:txBody>
      </p:sp>
      <p:sp>
        <p:nvSpPr>
          <p:cNvPr id="7" name="TextBox 6">
            <a:extLst>
              <a:ext uri="{FF2B5EF4-FFF2-40B4-BE49-F238E27FC236}">
                <a16:creationId xmlns:a16="http://schemas.microsoft.com/office/drawing/2014/main" id="{C5DC55F7-58D8-53B8-B04A-53EE80765050}"/>
              </a:ext>
            </a:extLst>
          </p:cNvPr>
          <p:cNvSpPr txBox="1"/>
          <p:nvPr/>
        </p:nvSpPr>
        <p:spPr>
          <a:xfrm>
            <a:off x="10076156" y="70701"/>
            <a:ext cx="1906836" cy="241236"/>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lnSpcReduction="10000"/>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McGinley</a:t>
            </a:r>
          </a:p>
        </p:txBody>
      </p:sp>
      <p:pic>
        <p:nvPicPr>
          <p:cNvPr id="12" name="Picture 11">
            <a:extLst>
              <a:ext uri="{FF2B5EF4-FFF2-40B4-BE49-F238E27FC236}">
                <a16:creationId xmlns:a16="http://schemas.microsoft.com/office/drawing/2014/main" id="{3E45DFD4-40D6-D81A-1135-5A1FBCD9A33C}"/>
              </a:ext>
            </a:extLst>
          </p:cNvPr>
          <p:cNvPicPr>
            <a:picLocks noChangeAspect="1"/>
          </p:cNvPicPr>
          <p:nvPr/>
        </p:nvPicPr>
        <p:blipFill>
          <a:blip r:embed="rId2"/>
          <a:srcRect t="13042"/>
          <a:stretch>
            <a:fillRect/>
          </a:stretch>
        </p:blipFill>
        <p:spPr>
          <a:xfrm>
            <a:off x="32491" y="965978"/>
            <a:ext cx="12127017" cy="5830579"/>
          </a:xfrm>
          <a:prstGeom prst="rect">
            <a:avLst/>
          </a:prstGeom>
        </p:spPr>
      </p:pic>
    </p:spTree>
    <p:extLst>
      <p:ext uri="{BB962C8B-B14F-4D97-AF65-F5344CB8AC3E}">
        <p14:creationId xmlns:p14="http://schemas.microsoft.com/office/powerpoint/2010/main" val="306028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F24DDD5-2657-6ADA-EC62-5310E73239CF}"/>
              </a:ext>
            </a:extLst>
          </p:cNvPr>
          <p:cNvSpPr>
            <a:spLocks noGrp="1"/>
          </p:cNvSpPr>
          <p:nvPr>
            <p:ph type="ftr" sz="quarter" idx="11"/>
          </p:nvPr>
        </p:nvSpPr>
        <p:spPr/>
        <p:txBody>
          <a:bodyPr/>
          <a:lstStyle/>
          <a:p>
            <a:r>
              <a:rPr lang="en-US"/>
              <a:t>© 2023 GE Vernova and/or its affiliates. All rights reserved.</a:t>
            </a:r>
            <a:endParaRPr lang="en-US" dirty="0"/>
          </a:p>
        </p:txBody>
      </p:sp>
      <p:sp>
        <p:nvSpPr>
          <p:cNvPr id="3" name="Slide Number Placeholder 2">
            <a:extLst>
              <a:ext uri="{FF2B5EF4-FFF2-40B4-BE49-F238E27FC236}">
                <a16:creationId xmlns:a16="http://schemas.microsoft.com/office/drawing/2014/main" id="{15FF8EA4-8994-B594-15DC-AAE9B091A244}"/>
              </a:ext>
            </a:extLst>
          </p:cNvPr>
          <p:cNvSpPr>
            <a:spLocks noGrp="1"/>
          </p:cNvSpPr>
          <p:nvPr>
            <p:ph type="sldNum" sz="quarter" idx="12"/>
          </p:nvPr>
        </p:nvSpPr>
        <p:spPr/>
        <p:txBody>
          <a:bodyPr/>
          <a:lstStyle/>
          <a:p>
            <a:fld id="{7A7A97EF-C944-4447-B862-B593E9B4A0FF}" type="slidenum">
              <a:rPr lang="en-US" smtClean="0"/>
              <a:pPr/>
              <a:t>11</a:t>
            </a:fld>
            <a:endParaRPr lang="en-US" dirty="0"/>
          </a:p>
        </p:txBody>
      </p:sp>
      <p:sp>
        <p:nvSpPr>
          <p:cNvPr id="4" name="Title 3">
            <a:extLst>
              <a:ext uri="{FF2B5EF4-FFF2-40B4-BE49-F238E27FC236}">
                <a16:creationId xmlns:a16="http://schemas.microsoft.com/office/drawing/2014/main" id="{E091DAB2-0096-677D-5177-333C84BB2087}"/>
              </a:ext>
            </a:extLst>
          </p:cNvPr>
          <p:cNvSpPr>
            <a:spLocks noGrp="1"/>
          </p:cNvSpPr>
          <p:nvPr>
            <p:ph type="title"/>
          </p:nvPr>
        </p:nvSpPr>
        <p:spPr/>
        <p:txBody>
          <a:bodyPr/>
          <a:lstStyle/>
          <a:p>
            <a:r>
              <a:rPr lang="en-US" dirty="0"/>
              <a:t>Other Business Stuff</a:t>
            </a:r>
          </a:p>
        </p:txBody>
      </p:sp>
      <p:sp>
        <p:nvSpPr>
          <p:cNvPr id="5" name="Content Placeholder 4">
            <a:extLst>
              <a:ext uri="{FF2B5EF4-FFF2-40B4-BE49-F238E27FC236}">
                <a16:creationId xmlns:a16="http://schemas.microsoft.com/office/drawing/2014/main" id="{5A8F435C-A17A-CEF2-7377-A773A8D005AE}"/>
              </a:ext>
            </a:extLst>
          </p:cNvPr>
          <p:cNvSpPr>
            <a:spLocks noGrp="1"/>
          </p:cNvSpPr>
          <p:nvPr>
            <p:ph idx="1"/>
          </p:nvPr>
        </p:nvSpPr>
        <p:spPr/>
        <p:txBody>
          <a:bodyPr/>
          <a:lstStyle/>
          <a:p>
            <a:r>
              <a:rPr lang="en-US" dirty="0"/>
              <a:t>Workday Transition</a:t>
            </a:r>
          </a:p>
          <a:p>
            <a:pPr marL="285750" indent="-285750">
              <a:buFont typeface="Arial" panose="020B0604020202020204" pitchFamily="34" charset="0"/>
              <a:buChar char="•"/>
            </a:pPr>
            <a:r>
              <a:rPr lang="en-US" dirty="0"/>
              <a:t>Effects all FC employees</a:t>
            </a:r>
          </a:p>
          <a:p>
            <a:pPr marL="285750" indent="-285750">
              <a:buFont typeface="Arial" panose="020B0604020202020204" pitchFamily="34" charset="0"/>
              <a:buChar char="•"/>
            </a:pPr>
            <a:r>
              <a:rPr lang="en-US" dirty="0"/>
              <a:t>Band Mapping calls today please attend</a:t>
            </a:r>
          </a:p>
          <a:p>
            <a:endParaRPr lang="en-US" dirty="0"/>
          </a:p>
          <a:p>
            <a:endParaRPr lang="en-US" dirty="0"/>
          </a:p>
          <a:p>
            <a:r>
              <a:rPr lang="en-US" dirty="0"/>
              <a:t>Budget Cycle - Key Dates</a:t>
            </a:r>
          </a:p>
          <a:p>
            <a:pPr marL="285750" indent="-285750">
              <a:buFont typeface="Arial" panose="020B0604020202020204" pitchFamily="34" charset="0"/>
              <a:buChar char="•"/>
            </a:pPr>
            <a:r>
              <a:rPr lang="en-US" dirty="0"/>
              <a:t>OPEX final submissions – August 13</a:t>
            </a:r>
            <a:r>
              <a:rPr lang="en-US" baseline="30000" dirty="0"/>
              <a:t>th</a:t>
            </a:r>
            <a:r>
              <a:rPr lang="en-US" dirty="0"/>
              <a:t> </a:t>
            </a:r>
          </a:p>
          <a:p>
            <a:pPr marL="285750" indent="-285750">
              <a:buFont typeface="Arial" panose="020B0604020202020204" pitchFamily="34" charset="0"/>
              <a:buChar char="•"/>
            </a:pPr>
            <a:r>
              <a:rPr lang="en-US" dirty="0"/>
              <a:t>CAPEX final Submissions – August 28</a:t>
            </a:r>
            <a:r>
              <a:rPr lang="en-US" baseline="30000" dirty="0"/>
              <a:t>th</a:t>
            </a:r>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p:txBody>
      </p:sp>
      <p:sp>
        <p:nvSpPr>
          <p:cNvPr id="6" name="Content Placeholder 5">
            <a:extLst>
              <a:ext uri="{FF2B5EF4-FFF2-40B4-BE49-F238E27FC236}">
                <a16:creationId xmlns:a16="http://schemas.microsoft.com/office/drawing/2014/main" id="{6F2C1CEF-846E-D1FC-D959-1BE3A84FE4C8}"/>
              </a:ext>
            </a:extLst>
          </p:cNvPr>
          <p:cNvSpPr>
            <a:spLocks noGrp="1"/>
          </p:cNvSpPr>
          <p:nvPr>
            <p:ph idx="13"/>
          </p:nvPr>
        </p:nvSpPr>
        <p:spPr/>
        <p:txBody>
          <a:bodyPr/>
          <a:lstStyle/>
          <a:p>
            <a:r>
              <a:rPr lang="en-US" dirty="0"/>
              <a:t>OFS Training Delivery Command board is now live</a:t>
            </a:r>
          </a:p>
          <a:p>
            <a:r>
              <a:rPr lang="en-US" dirty="0">
                <a:hlinkClick r:id="rId2"/>
              </a:rPr>
              <a:t>OFS Training Delivery Command Board</a:t>
            </a:r>
            <a:endParaRPr lang="en-US" dirty="0"/>
          </a:p>
          <a:p>
            <a:endParaRPr lang="en-US" dirty="0"/>
          </a:p>
        </p:txBody>
      </p:sp>
      <p:sp>
        <p:nvSpPr>
          <p:cNvPr id="8" name="TextBox 7">
            <a:extLst>
              <a:ext uri="{FF2B5EF4-FFF2-40B4-BE49-F238E27FC236}">
                <a16:creationId xmlns:a16="http://schemas.microsoft.com/office/drawing/2014/main" id="{CE05166F-E2A9-7B15-6754-232CB09AD613}"/>
              </a:ext>
            </a:extLst>
          </p:cNvPr>
          <p:cNvSpPr txBox="1"/>
          <p:nvPr/>
        </p:nvSpPr>
        <p:spPr>
          <a:xfrm>
            <a:off x="10076156" y="70701"/>
            <a:ext cx="1906836" cy="241236"/>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lnSpcReduction="10000"/>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McGinley</a:t>
            </a:r>
          </a:p>
        </p:txBody>
      </p:sp>
      <p:pic>
        <p:nvPicPr>
          <p:cNvPr id="9" name="Picture 8">
            <a:extLst>
              <a:ext uri="{FF2B5EF4-FFF2-40B4-BE49-F238E27FC236}">
                <a16:creationId xmlns:a16="http://schemas.microsoft.com/office/drawing/2014/main" id="{7E524077-0526-6C96-7C87-2132B798115B}"/>
              </a:ext>
            </a:extLst>
          </p:cNvPr>
          <p:cNvPicPr>
            <a:picLocks noChangeAspect="1"/>
          </p:cNvPicPr>
          <p:nvPr/>
        </p:nvPicPr>
        <p:blipFill>
          <a:blip r:embed="rId3"/>
          <a:stretch>
            <a:fillRect/>
          </a:stretch>
        </p:blipFill>
        <p:spPr>
          <a:xfrm>
            <a:off x="5530327" y="2123034"/>
            <a:ext cx="6242573" cy="3122927"/>
          </a:xfrm>
          <a:prstGeom prst="rect">
            <a:avLst/>
          </a:prstGeom>
        </p:spPr>
      </p:pic>
    </p:spTree>
    <p:extLst>
      <p:ext uri="{BB962C8B-B14F-4D97-AF65-F5344CB8AC3E}">
        <p14:creationId xmlns:p14="http://schemas.microsoft.com/office/powerpoint/2010/main" val="641469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16DDB6-B731-1DDC-A94E-4AFAB4D95951}"/>
              </a:ext>
            </a:extLst>
          </p:cNvPr>
          <p:cNvSpPr txBox="1">
            <a:spLocks/>
          </p:cNvSpPr>
          <p:nvPr/>
        </p:nvSpPr>
        <p:spPr>
          <a:xfrm>
            <a:off x="419099" y="419101"/>
            <a:ext cx="9622047" cy="45702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2800" kern="1200">
                <a:solidFill>
                  <a:schemeClr val="tx1"/>
                </a:solidFill>
                <a:latin typeface="Inter" panose="02000503000000020004" pitchFamily="2" charset="0"/>
                <a:ea typeface="+mj-ea"/>
                <a:cs typeface="+mj-cs"/>
              </a:defRPr>
            </a:lvl1pPr>
          </a:lstStyle>
          <a:p>
            <a:r>
              <a:rPr lang="en-US" dirty="0"/>
              <a:t>Internal Training Q2 2026</a:t>
            </a:r>
          </a:p>
        </p:txBody>
      </p:sp>
      <p:sp>
        <p:nvSpPr>
          <p:cNvPr id="12" name="Slide Number Placeholder 2">
            <a:extLst>
              <a:ext uri="{FF2B5EF4-FFF2-40B4-BE49-F238E27FC236}">
                <a16:creationId xmlns:a16="http://schemas.microsoft.com/office/drawing/2014/main" id="{599306C5-C9D3-5335-85DF-1B7582702911}"/>
              </a:ext>
            </a:extLst>
          </p:cNvPr>
          <p:cNvSpPr>
            <a:spLocks noGrp="1"/>
          </p:cNvSpPr>
          <p:nvPr>
            <p:ph type="sldNum" sz="quarter" idx="12"/>
          </p:nvPr>
        </p:nvSpPr>
        <p:spPr>
          <a:xfrm>
            <a:off x="11222182" y="6492875"/>
            <a:ext cx="550718" cy="365125"/>
          </a:xfrm>
        </p:spPr>
        <p:txBody>
          <a:bodyPr/>
          <a:lstStyle/>
          <a:p>
            <a:fld id="{7A7A97EF-C944-4447-B862-B593E9B4A0FF}" type="slidenum">
              <a:rPr lang="en-US" smtClean="0"/>
              <a:pPr/>
              <a:t>12</a:t>
            </a:fld>
            <a:endParaRPr lang="en-US" dirty="0"/>
          </a:p>
        </p:txBody>
      </p:sp>
      <p:sp>
        <p:nvSpPr>
          <p:cNvPr id="3" name="Content Placeholder 7">
            <a:extLst>
              <a:ext uri="{FF2B5EF4-FFF2-40B4-BE49-F238E27FC236}">
                <a16:creationId xmlns:a16="http://schemas.microsoft.com/office/drawing/2014/main" id="{ACF642D6-B16C-F368-5409-BD0A3D5D9A32}"/>
              </a:ext>
            </a:extLst>
          </p:cNvPr>
          <p:cNvSpPr txBox="1">
            <a:spLocks/>
          </p:cNvSpPr>
          <p:nvPr/>
        </p:nvSpPr>
        <p:spPr>
          <a:xfrm>
            <a:off x="4194978" y="1707502"/>
            <a:ext cx="3274913" cy="461261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4625" indent="-17462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lvl="1"/>
            <a:endParaRPr lang="en-US" dirty="0">
              <a:solidFill>
                <a:schemeClr val="tx1"/>
              </a:solidFill>
            </a:endParaRPr>
          </a:p>
          <a:p>
            <a:pPr lvl="1"/>
            <a:r>
              <a:rPr lang="en-US" dirty="0">
                <a:solidFill>
                  <a:schemeClr val="tx1"/>
                </a:solidFill>
              </a:rPr>
              <a:t>FEP Cycle Time Optimization</a:t>
            </a:r>
          </a:p>
          <a:p>
            <a:pPr lvl="2"/>
            <a:r>
              <a:rPr lang="en-US" dirty="0">
                <a:solidFill>
                  <a:schemeClr val="accent4"/>
                </a:solidFill>
              </a:rPr>
              <a:t>We continually audit our processes, successfully identifying waste and reducing cycle times. These improvements are fully implemented, ensuring we are optimized to meet high demand.</a:t>
            </a:r>
          </a:p>
          <a:p>
            <a:pPr lvl="1"/>
            <a:r>
              <a:rPr lang="en-US" dirty="0">
                <a:solidFill>
                  <a:schemeClr val="tx1"/>
                </a:solidFill>
              </a:rPr>
              <a:t>OJT Feedback Process</a:t>
            </a:r>
          </a:p>
          <a:p>
            <a:pPr lvl="2"/>
            <a:r>
              <a:rPr lang="en-US" dirty="0">
                <a:solidFill>
                  <a:schemeClr val="accent4"/>
                </a:solidFill>
              </a:rPr>
              <a:t>We implemented a new OJT feedback loop, empowering mentees to help us optimize the training experience,  particularly within the FEP program.</a:t>
            </a:r>
          </a:p>
        </p:txBody>
      </p:sp>
      <p:sp>
        <p:nvSpPr>
          <p:cNvPr id="5" name="TextBox 4">
            <a:extLst>
              <a:ext uri="{FF2B5EF4-FFF2-40B4-BE49-F238E27FC236}">
                <a16:creationId xmlns:a16="http://schemas.microsoft.com/office/drawing/2014/main" id="{2ACEB90B-913F-6376-56A2-608FD9BECC45}"/>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spcAft>
                <a:spcPts val="600"/>
              </a:spcAft>
              <a:buClr>
                <a:schemeClr val="tx1"/>
              </a:buClr>
            </a:pPr>
            <a:r>
              <a:rPr lang="en-US" sz="1600" b="1" i="1" kern="1200" dirty="0">
                <a:solidFill>
                  <a:srgbClr val="212121"/>
                </a:solidFill>
                <a:latin typeface="Inter" panose="02000503000000020004" pitchFamily="2" charset="0"/>
                <a:ea typeface="+mn-ea"/>
                <a:cs typeface="+mn-cs"/>
              </a:rPr>
              <a:t>Pedroza</a:t>
            </a:r>
          </a:p>
        </p:txBody>
      </p:sp>
      <p:sp>
        <p:nvSpPr>
          <p:cNvPr id="6" name="Content Placeholder 6">
            <a:extLst>
              <a:ext uri="{FF2B5EF4-FFF2-40B4-BE49-F238E27FC236}">
                <a16:creationId xmlns:a16="http://schemas.microsoft.com/office/drawing/2014/main" id="{72EF0392-C684-6E0C-A76F-F44BF2DF18E0}"/>
              </a:ext>
            </a:extLst>
          </p:cNvPr>
          <p:cNvSpPr txBox="1">
            <a:spLocks/>
          </p:cNvSpPr>
          <p:nvPr/>
        </p:nvSpPr>
        <p:spPr>
          <a:xfrm>
            <a:off x="419101" y="1707502"/>
            <a:ext cx="3387790" cy="461261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4625" indent="-17462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lvl="1"/>
            <a:endParaRPr lang="en-US" dirty="0">
              <a:solidFill>
                <a:schemeClr val="tx1"/>
              </a:solidFill>
            </a:endParaRPr>
          </a:p>
          <a:p>
            <a:pPr lvl="1"/>
            <a:r>
              <a:rPr lang="en-US" dirty="0">
                <a:solidFill>
                  <a:schemeClr val="tx1"/>
                </a:solidFill>
              </a:rPr>
              <a:t>Summer Preparations</a:t>
            </a:r>
          </a:p>
          <a:p>
            <a:pPr lvl="3"/>
            <a:r>
              <a:rPr lang="en-US" dirty="0">
                <a:solidFill>
                  <a:schemeClr val="accent4"/>
                </a:solidFill>
              </a:rPr>
              <a:t>We have successfully aligned our logistics for upcoming major events and classes across the world.</a:t>
            </a:r>
          </a:p>
          <a:p>
            <a:pPr lvl="1"/>
            <a:r>
              <a:rPr lang="en-US" dirty="0">
                <a:solidFill>
                  <a:schemeClr val="tx1"/>
                </a:solidFill>
              </a:rPr>
              <a:t>Lean new tools development</a:t>
            </a:r>
          </a:p>
          <a:p>
            <a:pPr lvl="3"/>
            <a:r>
              <a:rPr lang="en-US" dirty="0">
                <a:solidFill>
                  <a:schemeClr val="accent4"/>
                </a:solidFill>
              </a:rPr>
              <a:t>Legislative Training in EU - Cost tracking</a:t>
            </a:r>
          </a:p>
          <a:p>
            <a:pPr lvl="3"/>
            <a:r>
              <a:rPr lang="en-US" dirty="0">
                <a:solidFill>
                  <a:schemeClr val="accent4"/>
                </a:solidFill>
              </a:rPr>
              <a:t>Document &amp; Standardize Vendor Certificate Tracking &amp; Processes Globally</a:t>
            </a:r>
          </a:p>
          <a:p>
            <a:pPr lvl="3"/>
            <a:r>
              <a:rPr lang="en-US" dirty="0">
                <a:solidFill>
                  <a:schemeClr val="accent4"/>
                </a:solidFill>
              </a:rPr>
              <a:t>Repairs Support Consolidation</a:t>
            </a:r>
          </a:p>
          <a:p>
            <a:pPr lvl="3"/>
            <a:r>
              <a:rPr lang="en-US" dirty="0">
                <a:solidFill>
                  <a:schemeClr val="accent4"/>
                </a:solidFill>
              </a:rPr>
              <a:t>Tools definition for each Training</a:t>
            </a:r>
          </a:p>
        </p:txBody>
      </p:sp>
      <p:sp>
        <p:nvSpPr>
          <p:cNvPr id="7" name="Content Placeholder 7">
            <a:extLst>
              <a:ext uri="{FF2B5EF4-FFF2-40B4-BE49-F238E27FC236}">
                <a16:creationId xmlns:a16="http://schemas.microsoft.com/office/drawing/2014/main" id="{5889CCBE-A0A4-33C8-9BEA-318F446DD9EE}"/>
              </a:ext>
            </a:extLst>
          </p:cNvPr>
          <p:cNvSpPr txBox="1">
            <a:spLocks/>
          </p:cNvSpPr>
          <p:nvPr/>
        </p:nvSpPr>
        <p:spPr>
          <a:xfrm>
            <a:off x="7980281" y="1707502"/>
            <a:ext cx="3502152" cy="4612616"/>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4625" indent="-17462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lvl="1"/>
            <a:endParaRPr lang="en-US" dirty="0">
              <a:solidFill>
                <a:schemeClr val="tx1"/>
              </a:solidFill>
            </a:endParaRPr>
          </a:p>
          <a:p>
            <a:pPr lvl="1"/>
            <a:r>
              <a:rPr lang="en-US" dirty="0">
                <a:solidFill>
                  <a:schemeClr val="tx1"/>
                </a:solidFill>
              </a:rPr>
              <a:t>2027 Blueprint in process</a:t>
            </a:r>
          </a:p>
          <a:p>
            <a:pPr lvl="2"/>
            <a:r>
              <a:rPr lang="en-US" dirty="0">
                <a:solidFill>
                  <a:schemeClr val="accent4"/>
                </a:solidFill>
              </a:rPr>
              <a:t>All regions are actively gathering demand, analyzing performance gaps, and centralizing data to provide Finance with the insights needed for next year’s budget. </a:t>
            </a:r>
          </a:p>
          <a:p>
            <a:pPr lvl="2"/>
            <a:r>
              <a:rPr lang="en-US" dirty="0">
                <a:solidFill>
                  <a:schemeClr val="accent4"/>
                </a:solidFill>
              </a:rPr>
              <a:t>To ensure we secure the necessary funding for your team's new initiatives and prevent future course cancellations, please coordinate closely with the TDM team regarding any specific resource requirements.</a:t>
            </a:r>
          </a:p>
        </p:txBody>
      </p:sp>
      <p:sp>
        <p:nvSpPr>
          <p:cNvPr id="8" name="Rectangle: Rounded Corners 7">
            <a:extLst>
              <a:ext uri="{FF2B5EF4-FFF2-40B4-BE49-F238E27FC236}">
                <a16:creationId xmlns:a16="http://schemas.microsoft.com/office/drawing/2014/main" id="{82D04889-C1F4-3623-5AA3-AFC8E8AA2AB3}"/>
              </a:ext>
            </a:extLst>
          </p:cNvPr>
          <p:cNvSpPr/>
          <p:nvPr/>
        </p:nvSpPr>
        <p:spPr>
          <a:xfrm>
            <a:off x="1446245" y="1176352"/>
            <a:ext cx="1399592" cy="457020"/>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2400" dirty="0">
                <a:solidFill>
                  <a:schemeClr val="accent5"/>
                </a:solidFill>
                <a:latin typeface="Sons Condensed Extrabold" panose="02060906060206060203" pitchFamily="18" charset="0"/>
              </a:rPr>
              <a:t>CRAFT</a:t>
            </a:r>
          </a:p>
        </p:txBody>
      </p:sp>
      <p:sp>
        <p:nvSpPr>
          <p:cNvPr id="9" name="Rectangle: Rounded Corners 8">
            <a:extLst>
              <a:ext uri="{FF2B5EF4-FFF2-40B4-BE49-F238E27FC236}">
                <a16:creationId xmlns:a16="http://schemas.microsoft.com/office/drawing/2014/main" id="{566DF1F2-97AF-2B8A-6B4F-5181D94827E0}"/>
              </a:ext>
            </a:extLst>
          </p:cNvPr>
          <p:cNvSpPr/>
          <p:nvPr/>
        </p:nvSpPr>
        <p:spPr>
          <a:xfrm>
            <a:off x="5246258" y="1175853"/>
            <a:ext cx="1399592" cy="457020"/>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2400" dirty="0">
                <a:solidFill>
                  <a:schemeClr val="bg1"/>
                </a:solidFill>
                <a:latin typeface="Sons Condensed Extrabold" panose="02060906060206060203" pitchFamily="18" charset="0"/>
              </a:rPr>
              <a:t>FE</a:t>
            </a:r>
          </a:p>
        </p:txBody>
      </p:sp>
      <p:sp>
        <p:nvSpPr>
          <p:cNvPr id="10" name="Rectangle: Rounded Corners 9">
            <a:extLst>
              <a:ext uri="{FF2B5EF4-FFF2-40B4-BE49-F238E27FC236}">
                <a16:creationId xmlns:a16="http://schemas.microsoft.com/office/drawing/2014/main" id="{FA3917D6-3D88-4D3C-B5D0-C59D56E30219}"/>
              </a:ext>
            </a:extLst>
          </p:cNvPr>
          <p:cNvSpPr/>
          <p:nvPr/>
        </p:nvSpPr>
        <p:spPr>
          <a:xfrm>
            <a:off x="9031561" y="1175853"/>
            <a:ext cx="1399592" cy="457020"/>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spcAft>
                <a:spcPts val="600"/>
              </a:spcAft>
            </a:pPr>
            <a:r>
              <a:rPr lang="en-US" sz="2400" dirty="0">
                <a:solidFill>
                  <a:schemeClr val="bg1"/>
                </a:solidFill>
                <a:latin typeface="Sons Condensed Extrabold" panose="02060906060206060203" pitchFamily="18" charset="0"/>
              </a:rPr>
              <a:t>ALL</a:t>
            </a:r>
          </a:p>
        </p:txBody>
      </p:sp>
      <p:cxnSp>
        <p:nvCxnSpPr>
          <p:cNvPr id="24" name="Straight Connector 23">
            <a:extLst>
              <a:ext uri="{FF2B5EF4-FFF2-40B4-BE49-F238E27FC236}">
                <a16:creationId xmlns:a16="http://schemas.microsoft.com/office/drawing/2014/main" id="{48181029-417D-9684-BF6C-4B836FE974A9}"/>
              </a:ext>
            </a:extLst>
          </p:cNvPr>
          <p:cNvCxnSpPr/>
          <p:nvPr/>
        </p:nvCxnSpPr>
        <p:spPr>
          <a:xfrm>
            <a:off x="4034118" y="1927412"/>
            <a:ext cx="0" cy="4294094"/>
          </a:xfrm>
          <a:prstGeom prst="line">
            <a:avLst/>
          </a:prstGeom>
          <a:ln w="1905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9D49631-1BDB-5845-0083-8AAC606C0C62}"/>
              </a:ext>
            </a:extLst>
          </p:cNvPr>
          <p:cNvCxnSpPr>
            <a:cxnSpLocks/>
            <a:stCxn id="3" idx="3"/>
            <a:endCxn id="7" idx="1"/>
          </p:cNvCxnSpPr>
          <p:nvPr/>
        </p:nvCxnSpPr>
        <p:spPr>
          <a:xfrm>
            <a:off x="7469891" y="4013810"/>
            <a:ext cx="51039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73D29-FFAC-FBBA-3986-211882A5C51C}"/>
              </a:ext>
            </a:extLst>
          </p:cNvPr>
          <p:cNvCxnSpPr>
            <a:cxnSpLocks/>
            <a:stCxn id="6" idx="3"/>
            <a:endCxn id="3" idx="1"/>
          </p:cNvCxnSpPr>
          <p:nvPr/>
        </p:nvCxnSpPr>
        <p:spPr>
          <a:xfrm>
            <a:off x="3806891" y="4013810"/>
            <a:ext cx="388087"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CF1CE45-EDF7-164F-1CC0-2E7FE23BD892}"/>
              </a:ext>
            </a:extLst>
          </p:cNvPr>
          <p:cNvCxnSpPr>
            <a:cxnSpLocks/>
          </p:cNvCxnSpPr>
          <p:nvPr/>
        </p:nvCxnSpPr>
        <p:spPr>
          <a:xfrm>
            <a:off x="7697119" y="1927412"/>
            <a:ext cx="11" cy="4294094"/>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95880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C45D11-6DDB-6B4B-9BD4-495C1960C721}"/>
              </a:ext>
            </a:extLst>
          </p:cNvPr>
          <p:cNvSpPr/>
          <p:nvPr/>
        </p:nvSpPr>
        <p:spPr>
          <a:xfrm>
            <a:off x="11568684" y="202701"/>
            <a:ext cx="578846" cy="28651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H"/>
          </a:p>
        </p:txBody>
      </p:sp>
      <p:sp>
        <p:nvSpPr>
          <p:cNvPr id="9" name="Title 1">
            <a:extLst>
              <a:ext uri="{FF2B5EF4-FFF2-40B4-BE49-F238E27FC236}">
                <a16:creationId xmlns:a16="http://schemas.microsoft.com/office/drawing/2014/main" id="{F40E1667-4970-356F-2CB5-AB4C69D0474B}"/>
              </a:ext>
            </a:extLst>
          </p:cNvPr>
          <p:cNvSpPr txBox="1">
            <a:spLocks/>
          </p:cNvSpPr>
          <p:nvPr/>
        </p:nvSpPr>
        <p:spPr>
          <a:xfrm>
            <a:off x="393547" y="303658"/>
            <a:ext cx="10408701" cy="715556"/>
          </a:xfrm>
          <a:prstGeom prst="rect">
            <a:avLst/>
          </a:prstGeom>
        </p:spPr>
        <p:txBody>
          <a:bodyPr vert="horz" lIns="0" tIns="0" rIns="0" bIns="0" rtlCol="0" anchor="t" anchorCtr="0">
            <a:noAutofit/>
          </a:bodyPr>
          <a:lstStyle>
            <a:lvl1pPr defTabSz="685800">
              <a:lnSpc>
                <a:spcPct val="90000"/>
              </a:lnSpc>
              <a:spcBef>
                <a:spcPct val="0"/>
              </a:spcBef>
              <a:buNone/>
              <a:defRPr sz="3200">
                <a:solidFill>
                  <a:srgbClr val="63666A"/>
                </a:solidFill>
                <a:latin typeface="GE Inspira Sans"/>
                <a:ea typeface="+mj-ea"/>
                <a:cs typeface="+mj-cs"/>
              </a:defRPr>
            </a:lvl1pPr>
          </a:lstStyle>
          <a:p>
            <a:r>
              <a:rPr lang="en-CH" sz="4000" dirty="0">
                <a:solidFill>
                  <a:srgbClr val="005E60"/>
                </a:solidFill>
                <a:latin typeface="+mj-lt"/>
                <a:cs typeface="Arial" panose="020B0604020202020204" pitchFamily="34" charset="0"/>
              </a:rPr>
              <a:t>Customer Training</a:t>
            </a:r>
            <a:endParaRPr lang="en-US" sz="4000" dirty="0">
              <a:solidFill>
                <a:srgbClr val="005E60"/>
              </a:solidFill>
              <a:latin typeface="+mj-lt"/>
              <a:cs typeface="Arial" panose="020B0604020202020204" pitchFamily="34" charset="0"/>
            </a:endParaRPr>
          </a:p>
        </p:txBody>
      </p:sp>
      <p:pic>
        <p:nvPicPr>
          <p:cNvPr id="1032" name="Picture 1031">
            <a:extLst>
              <a:ext uri="{FF2B5EF4-FFF2-40B4-BE49-F238E27FC236}">
                <a16:creationId xmlns:a16="http://schemas.microsoft.com/office/drawing/2014/main" id="{BD55B698-5657-E894-D52C-8A78EAD8EEF6}"/>
              </a:ext>
            </a:extLst>
          </p:cNvPr>
          <p:cNvPicPr>
            <a:picLocks noChangeAspect="1"/>
          </p:cNvPicPr>
          <p:nvPr/>
        </p:nvPicPr>
        <p:blipFill>
          <a:blip r:embed="rId2"/>
          <a:stretch>
            <a:fillRect/>
          </a:stretch>
        </p:blipFill>
        <p:spPr>
          <a:xfrm>
            <a:off x="4863830" y="344692"/>
            <a:ext cx="6843356" cy="1386253"/>
          </a:xfrm>
          <a:prstGeom prst="rect">
            <a:avLst/>
          </a:prstGeom>
        </p:spPr>
      </p:pic>
      <p:grpSp>
        <p:nvGrpSpPr>
          <p:cNvPr id="3" name="Group 2">
            <a:extLst>
              <a:ext uri="{FF2B5EF4-FFF2-40B4-BE49-F238E27FC236}">
                <a16:creationId xmlns:a16="http://schemas.microsoft.com/office/drawing/2014/main" id="{86B48FC2-3823-E10C-BE6F-C76E5D242242}"/>
              </a:ext>
            </a:extLst>
          </p:cNvPr>
          <p:cNvGrpSpPr/>
          <p:nvPr/>
        </p:nvGrpSpPr>
        <p:grpSpPr>
          <a:xfrm>
            <a:off x="473875" y="1520993"/>
            <a:ext cx="2885873" cy="1841770"/>
            <a:chOff x="804153" y="1115438"/>
            <a:chExt cx="3916758" cy="2393006"/>
          </a:xfrm>
        </p:grpSpPr>
        <p:pic>
          <p:nvPicPr>
            <p:cNvPr id="6" name="Picture 5">
              <a:extLst>
                <a:ext uri="{FF2B5EF4-FFF2-40B4-BE49-F238E27FC236}">
                  <a16:creationId xmlns:a16="http://schemas.microsoft.com/office/drawing/2014/main" id="{295A47CE-9EAB-9299-98C3-EE971BF65E3C}"/>
                </a:ext>
              </a:extLst>
            </p:cNvPr>
            <p:cNvPicPr>
              <a:picLocks noChangeAspect="1"/>
            </p:cNvPicPr>
            <p:nvPr/>
          </p:nvPicPr>
          <p:blipFill>
            <a:blip r:embed="rId3"/>
            <a:stretch>
              <a:fillRect/>
            </a:stretch>
          </p:blipFill>
          <p:spPr>
            <a:xfrm>
              <a:off x="807642" y="1115438"/>
              <a:ext cx="3913269" cy="2393006"/>
            </a:xfrm>
            <a:prstGeom prst="rect">
              <a:avLst/>
            </a:prstGeom>
          </p:spPr>
        </p:pic>
        <p:sp>
          <p:nvSpPr>
            <p:cNvPr id="5" name="Rectangle: Rounded Corners 4">
              <a:extLst>
                <a:ext uri="{FF2B5EF4-FFF2-40B4-BE49-F238E27FC236}">
                  <a16:creationId xmlns:a16="http://schemas.microsoft.com/office/drawing/2014/main" id="{4775A053-B809-896D-7817-B62ABB325DD0}"/>
                </a:ext>
              </a:extLst>
            </p:cNvPr>
            <p:cNvSpPr/>
            <p:nvPr/>
          </p:nvSpPr>
          <p:spPr>
            <a:xfrm>
              <a:off x="804153" y="1154349"/>
              <a:ext cx="894945" cy="622570"/>
            </a:xfrm>
            <a:prstGeom prst="round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CH">
                <a:solidFill>
                  <a:schemeClr val="tx1"/>
                </a:solidFill>
              </a:endParaRPr>
            </a:p>
          </p:txBody>
        </p:sp>
        <p:sp>
          <p:nvSpPr>
            <p:cNvPr id="7" name="Rectangle: Rounded Corners 6">
              <a:extLst>
                <a:ext uri="{FF2B5EF4-FFF2-40B4-BE49-F238E27FC236}">
                  <a16:creationId xmlns:a16="http://schemas.microsoft.com/office/drawing/2014/main" id="{9088035D-2FC8-1C26-CDAF-1E836B2FF898}"/>
                </a:ext>
              </a:extLst>
            </p:cNvPr>
            <p:cNvSpPr/>
            <p:nvPr/>
          </p:nvSpPr>
          <p:spPr>
            <a:xfrm>
              <a:off x="2457852" y="1511029"/>
              <a:ext cx="680939" cy="265889"/>
            </a:xfrm>
            <a:prstGeom prst="round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CH">
                <a:solidFill>
                  <a:schemeClr val="tx1"/>
                </a:solidFill>
              </a:endParaRPr>
            </a:p>
          </p:txBody>
        </p:sp>
        <p:sp>
          <p:nvSpPr>
            <p:cNvPr id="8" name="Rectangle: Rounded Corners 7">
              <a:extLst>
                <a:ext uri="{FF2B5EF4-FFF2-40B4-BE49-F238E27FC236}">
                  <a16:creationId xmlns:a16="http://schemas.microsoft.com/office/drawing/2014/main" id="{858E9091-B137-23E3-D8CF-EDB3A176A6B9}"/>
                </a:ext>
              </a:extLst>
            </p:cNvPr>
            <p:cNvSpPr/>
            <p:nvPr/>
          </p:nvSpPr>
          <p:spPr>
            <a:xfrm>
              <a:off x="2966933" y="2804808"/>
              <a:ext cx="680939" cy="265889"/>
            </a:xfrm>
            <a:prstGeom prst="round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CH">
                <a:solidFill>
                  <a:schemeClr val="tx1"/>
                </a:solidFill>
              </a:endParaRPr>
            </a:p>
          </p:txBody>
        </p:sp>
      </p:grpSp>
      <p:pic>
        <p:nvPicPr>
          <p:cNvPr id="26" name="Picture 25">
            <a:extLst>
              <a:ext uri="{FF2B5EF4-FFF2-40B4-BE49-F238E27FC236}">
                <a16:creationId xmlns:a16="http://schemas.microsoft.com/office/drawing/2014/main" id="{06588AE3-E95A-8336-E13C-C1C632AB3A95}"/>
              </a:ext>
            </a:extLst>
          </p:cNvPr>
          <p:cNvPicPr>
            <a:picLocks noChangeAspect="1"/>
          </p:cNvPicPr>
          <p:nvPr/>
        </p:nvPicPr>
        <p:blipFill>
          <a:blip r:embed="rId4"/>
          <a:stretch>
            <a:fillRect/>
          </a:stretch>
        </p:blipFill>
        <p:spPr>
          <a:xfrm>
            <a:off x="525046" y="3001995"/>
            <a:ext cx="4326541" cy="3235551"/>
          </a:xfrm>
          <a:prstGeom prst="rect">
            <a:avLst/>
          </a:prstGeom>
        </p:spPr>
      </p:pic>
      <p:grpSp>
        <p:nvGrpSpPr>
          <p:cNvPr id="43" name="Group 42">
            <a:extLst>
              <a:ext uri="{FF2B5EF4-FFF2-40B4-BE49-F238E27FC236}">
                <a16:creationId xmlns:a16="http://schemas.microsoft.com/office/drawing/2014/main" id="{A965C484-DE6D-A4C7-118D-A322EA7C56DC}"/>
              </a:ext>
            </a:extLst>
          </p:cNvPr>
          <p:cNvGrpSpPr/>
          <p:nvPr/>
        </p:nvGrpSpPr>
        <p:grpSpPr>
          <a:xfrm>
            <a:off x="5139397" y="1936326"/>
            <a:ext cx="6827193" cy="2125712"/>
            <a:chOff x="5139397" y="1936326"/>
            <a:chExt cx="6827193" cy="2125712"/>
          </a:xfrm>
        </p:grpSpPr>
        <p:pic>
          <p:nvPicPr>
            <p:cNvPr id="28" name="Picture 27">
              <a:extLst>
                <a:ext uri="{FF2B5EF4-FFF2-40B4-BE49-F238E27FC236}">
                  <a16:creationId xmlns:a16="http://schemas.microsoft.com/office/drawing/2014/main" id="{DD8E1E95-8BC2-1135-45E0-1942F544DEB0}"/>
                </a:ext>
              </a:extLst>
            </p:cNvPr>
            <p:cNvPicPr>
              <a:picLocks noChangeAspect="1"/>
            </p:cNvPicPr>
            <p:nvPr/>
          </p:nvPicPr>
          <p:blipFill>
            <a:blip r:embed="rId5"/>
            <a:stretch>
              <a:fillRect/>
            </a:stretch>
          </p:blipFill>
          <p:spPr>
            <a:xfrm>
              <a:off x="5139397" y="1936326"/>
              <a:ext cx="3349607" cy="2125712"/>
            </a:xfrm>
            <a:prstGeom prst="rect">
              <a:avLst/>
            </a:prstGeom>
          </p:spPr>
        </p:pic>
        <p:sp>
          <p:nvSpPr>
            <p:cNvPr id="34" name="Content Placeholder 4">
              <a:extLst>
                <a:ext uri="{FF2B5EF4-FFF2-40B4-BE49-F238E27FC236}">
                  <a16:creationId xmlns:a16="http://schemas.microsoft.com/office/drawing/2014/main" id="{32B84BE2-2B4F-3C9D-F39F-F4470B40CD44}"/>
                </a:ext>
              </a:extLst>
            </p:cNvPr>
            <p:cNvSpPr txBox="1">
              <a:spLocks/>
            </p:cNvSpPr>
            <p:nvPr/>
          </p:nvSpPr>
          <p:spPr>
            <a:xfrm>
              <a:off x="8489004" y="1936326"/>
              <a:ext cx="3477586" cy="2024436"/>
            </a:xfrm>
            <a:prstGeom prst="rect">
              <a:avLst/>
            </a:prstGeom>
            <a:ln>
              <a:noFill/>
            </a:ln>
          </p:spPr>
          <p:txBody>
            <a:bodyPr/>
            <a:lstStyle>
              <a:lvl1pPr marL="0" indent="0" algn="l" defTabSz="914400" rtl="0" eaLnBrk="1" latinLnBrk="0" hangingPunct="1">
                <a:lnSpc>
                  <a:spcPct val="100000"/>
                </a:lnSpc>
                <a:spcBef>
                  <a:spcPts val="600"/>
                </a:spcBef>
                <a:spcAft>
                  <a:spcPts val="0"/>
                </a:spcAft>
                <a:buSzPct val="100000"/>
                <a:buFontTx/>
                <a:buNone/>
                <a:defRPr sz="2800" kern="1200">
                  <a:solidFill>
                    <a:schemeClr val="tx1"/>
                  </a:solidFill>
                  <a:latin typeface="+mn-lt"/>
                  <a:ea typeface="+mn-ea"/>
                  <a:cs typeface="+mn-cs"/>
                </a:defRPr>
              </a:lvl1pPr>
              <a:lvl2pPr marL="190500" indent="-149225" algn="l" defTabSz="914400" rtl="0" eaLnBrk="1" latinLnBrk="0" hangingPunct="1">
                <a:lnSpc>
                  <a:spcPct val="100000"/>
                </a:lnSpc>
                <a:spcBef>
                  <a:spcPts val="600"/>
                </a:spcBef>
                <a:spcAft>
                  <a:spcPts val="0"/>
                </a:spcAft>
                <a:buClr>
                  <a:schemeClr val="bg2"/>
                </a:buClr>
                <a:buSzPct val="100000"/>
                <a:buFont typeface="GE Inspira Sans" panose="020B0604020202020204" pitchFamily="34" charset="0"/>
                <a:buChar char="•"/>
                <a:tabLst/>
                <a:defRPr sz="2400" kern="1200">
                  <a:solidFill>
                    <a:schemeClr val="tx1"/>
                  </a:solidFill>
                  <a:latin typeface="+mn-lt"/>
                  <a:ea typeface="+mn-ea"/>
                  <a:cs typeface="+mn-cs"/>
                </a:defRPr>
              </a:lvl2pPr>
              <a:lvl3pPr marL="404813" indent="-163513" algn="l" defTabSz="914400" rtl="0" eaLnBrk="1" latinLnBrk="0" hangingPunct="1">
                <a:lnSpc>
                  <a:spcPct val="100000"/>
                </a:lnSpc>
                <a:spcBef>
                  <a:spcPts val="400"/>
                </a:spcBef>
                <a:spcAft>
                  <a:spcPts val="0"/>
                </a:spcAft>
                <a:buClr>
                  <a:schemeClr val="bg2"/>
                </a:buClr>
                <a:buSzPct val="46000"/>
                <a:buFont typeface="Wingdings 2" panose="05020102010507070707" pitchFamily="18" charset="2"/>
                <a:buChar char=""/>
                <a:tabLst/>
                <a:defRPr sz="2000" kern="1200">
                  <a:solidFill>
                    <a:schemeClr val="tx1"/>
                  </a:solidFill>
                  <a:latin typeface="+mn-lt"/>
                  <a:ea typeface="+mn-ea"/>
                  <a:cs typeface="+mn-cs"/>
                </a:defRPr>
              </a:lvl3pPr>
              <a:lvl4pPr marL="617538" indent="-155575" algn="l" defTabSz="914400" rtl="0" eaLnBrk="1" latinLnBrk="0" hangingPunct="1">
                <a:lnSpc>
                  <a:spcPct val="100000"/>
                </a:lnSpc>
                <a:spcBef>
                  <a:spcPts val="300"/>
                </a:spcBef>
                <a:spcAft>
                  <a:spcPts val="0"/>
                </a:spcAft>
                <a:buSzPct val="100000"/>
                <a:buFont typeface="GE Inspira Sans" panose="020B0604020202020204" pitchFamily="34" charset="0"/>
                <a:buChar char="•"/>
                <a:tabLst/>
                <a:defRPr sz="1800" b="0" kern="1200">
                  <a:solidFill>
                    <a:schemeClr val="tx1"/>
                  </a:solidFill>
                  <a:latin typeface="+mn-lt"/>
                  <a:ea typeface="+mn-ea"/>
                  <a:cs typeface="+mn-cs"/>
                </a:defRPr>
              </a:lvl4pPr>
              <a:lvl5pPr marL="812800" indent="-146050" algn="l" defTabSz="914400" rtl="0" eaLnBrk="1" latinLnBrk="0" hangingPunct="1">
                <a:lnSpc>
                  <a:spcPct val="100000"/>
                </a:lnSpc>
                <a:spcBef>
                  <a:spcPts val="200"/>
                </a:spcBef>
                <a:spcAft>
                  <a:spcPts val="0"/>
                </a:spcAft>
                <a:buSzPct val="46000"/>
                <a:buFont typeface="Wingdings 2" panose="05020102010507070707" pitchFamily="18" charset="2"/>
                <a:buChar char=""/>
                <a:tabLst/>
                <a:defRPr sz="1600" kern="1200">
                  <a:solidFill>
                    <a:schemeClr val="tx1"/>
                  </a:solidFill>
                  <a:latin typeface="+mn-lt"/>
                  <a:ea typeface="+mn-ea"/>
                  <a:cs typeface="+mn-cs"/>
                </a:defRPr>
              </a:lvl5pPr>
              <a:lvl6pPr marL="533400" indent="-177800" algn="l" defTabSz="914400" rtl="0" eaLnBrk="1" latinLnBrk="0" hangingPunct="1">
                <a:lnSpc>
                  <a:spcPct val="90000"/>
                </a:lnSpc>
                <a:spcBef>
                  <a:spcPts val="500"/>
                </a:spcBef>
                <a:buFont typeface="GE Inspira Sans"/>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9pPr>
            </a:lstStyle>
            <a:p>
              <a:pPr marL="0" lvl="1" indent="0">
                <a:buClr>
                  <a:schemeClr val="tx2"/>
                </a:buClr>
                <a:buFont typeface="GE Inspira Sans" panose="020B0604020202020204" pitchFamily="34" charset="0"/>
                <a:buNone/>
              </a:pPr>
              <a:r>
                <a:rPr lang="en-US" sz="1600" b="1" dirty="0">
                  <a:solidFill>
                    <a:schemeClr val="accent5"/>
                  </a:solidFill>
                  <a:latin typeface="+mj-lt"/>
                </a:rPr>
                <a:t>Increasing backlog trend: ~ +70%</a:t>
              </a:r>
            </a:p>
            <a:p>
              <a:pPr marL="285750" lvl="1" indent="-285750">
                <a:buClr>
                  <a:schemeClr val="tx2"/>
                </a:buClr>
              </a:pPr>
              <a:r>
                <a:rPr lang="en-US" sz="1400" b="1" dirty="0">
                  <a:solidFill>
                    <a:schemeClr val="accent5"/>
                  </a:solidFill>
                  <a:latin typeface="+mj-lt"/>
                </a:rPr>
                <a:t>Main driving regions: North America and Middle East</a:t>
              </a:r>
            </a:p>
            <a:p>
              <a:pPr marL="285750" lvl="1" indent="-285750">
                <a:buClr>
                  <a:schemeClr val="tx2"/>
                </a:buClr>
              </a:pPr>
              <a:r>
                <a:rPr lang="en-US" sz="1400" b="1" dirty="0">
                  <a:solidFill>
                    <a:schemeClr val="accent5"/>
                  </a:solidFill>
                  <a:latin typeface="+mj-lt"/>
                </a:rPr>
                <a:t>Latin America is increasing too</a:t>
              </a:r>
            </a:p>
            <a:p>
              <a:pPr marL="285750" lvl="1" indent="-285750">
                <a:buClr>
                  <a:schemeClr val="tx2"/>
                </a:buClr>
              </a:pPr>
              <a:r>
                <a:rPr lang="en-US" sz="1400" b="1" dirty="0">
                  <a:solidFill>
                    <a:schemeClr val="accent5"/>
                  </a:solidFill>
                  <a:latin typeface="+mj-lt"/>
                </a:rPr>
                <a:t>Asia and Europe on a constantly high level</a:t>
              </a:r>
            </a:p>
          </p:txBody>
        </p:sp>
      </p:grpSp>
      <p:grpSp>
        <p:nvGrpSpPr>
          <p:cNvPr id="44" name="Group 43">
            <a:extLst>
              <a:ext uri="{FF2B5EF4-FFF2-40B4-BE49-F238E27FC236}">
                <a16:creationId xmlns:a16="http://schemas.microsoft.com/office/drawing/2014/main" id="{B4D2B8BD-D8A3-7C0E-3B64-5A36F6F9394D}"/>
              </a:ext>
            </a:extLst>
          </p:cNvPr>
          <p:cNvGrpSpPr/>
          <p:nvPr/>
        </p:nvGrpSpPr>
        <p:grpSpPr>
          <a:xfrm>
            <a:off x="5652555" y="4063780"/>
            <a:ext cx="6054631" cy="1878021"/>
            <a:chOff x="5652555" y="4063780"/>
            <a:chExt cx="6054631" cy="1878021"/>
          </a:xfrm>
        </p:grpSpPr>
        <p:pic>
          <p:nvPicPr>
            <p:cNvPr id="29" name="Picture 28">
              <a:extLst>
                <a:ext uri="{FF2B5EF4-FFF2-40B4-BE49-F238E27FC236}">
                  <a16:creationId xmlns:a16="http://schemas.microsoft.com/office/drawing/2014/main" id="{414EB9C5-9326-E5AE-00B0-AAD759F11166}"/>
                </a:ext>
              </a:extLst>
            </p:cNvPr>
            <p:cNvPicPr>
              <a:picLocks noChangeAspect="1"/>
            </p:cNvPicPr>
            <p:nvPr/>
          </p:nvPicPr>
          <p:blipFill>
            <a:blip r:embed="rId6"/>
            <a:stretch>
              <a:fillRect/>
            </a:stretch>
          </p:blipFill>
          <p:spPr>
            <a:xfrm>
              <a:off x="8229600" y="4063780"/>
              <a:ext cx="3477586" cy="1878021"/>
            </a:xfrm>
            <a:prstGeom prst="rect">
              <a:avLst/>
            </a:prstGeom>
          </p:spPr>
        </p:pic>
        <p:sp>
          <p:nvSpPr>
            <p:cNvPr id="39" name="Content Placeholder 4">
              <a:extLst>
                <a:ext uri="{FF2B5EF4-FFF2-40B4-BE49-F238E27FC236}">
                  <a16:creationId xmlns:a16="http://schemas.microsoft.com/office/drawing/2014/main" id="{D0E1E2F6-08B0-07EF-AE0D-1C92566451FE}"/>
                </a:ext>
              </a:extLst>
            </p:cNvPr>
            <p:cNvSpPr txBox="1">
              <a:spLocks/>
            </p:cNvSpPr>
            <p:nvPr/>
          </p:nvSpPr>
          <p:spPr>
            <a:xfrm>
              <a:off x="5652555" y="4121659"/>
              <a:ext cx="2632953" cy="1107667"/>
            </a:xfrm>
            <a:prstGeom prst="rect">
              <a:avLst/>
            </a:prstGeom>
            <a:ln>
              <a:noFill/>
            </a:ln>
          </p:spPr>
          <p:txBody>
            <a:bodyPr/>
            <a:lstStyle>
              <a:lvl1pPr marL="0" indent="0" algn="l" defTabSz="914400" rtl="0" eaLnBrk="1" latinLnBrk="0" hangingPunct="1">
                <a:lnSpc>
                  <a:spcPct val="100000"/>
                </a:lnSpc>
                <a:spcBef>
                  <a:spcPts val="600"/>
                </a:spcBef>
                <a:spcAft>
                  <a:spcPts val="0"/>
                </a:spcAft>
                <a:buSzPct val="100000"/>
                <a:buFontTx/>
                <a:buNone/>
                <a:defRPr sz="2800" kern="1200">
                  <a:solidFill>
                    <a:schemeClr val="tx1"/>
                  </a:solidFill>
                  <a:latin typeface="+mn-lt"/>
                  <a:ea typeface="+mn-ea"/>
                  <a:cs typeface="+mn-cs"/>
                </a:defRPr>
              </a:lvl1pPr>
              <a:lvl2pPr marL="190500" indent="-149225" algn="l" defTabSz="914400" rtl="0" eaLnBrk="1" latinLnBrk="0" hangingPunct="1">
                <a:lnSpc>
                  <a:spcPct val="100000"/>
                </a:lnSpc>
                <a:spcBef>
                  <a:spcPts val="600"/>
                </a:spcBef>
                <a:spcAft>
                  <a:spcPts val="0"/>
                </a:spcAft>
                <a:buClr>
                  <a:schemeClr val="bg2"/>
                </a:buClr>
                <a:buSzPct val="100000"/>
                <a:buFont typeface="GE Inspira Sans" panose="020B0604020202020204" pitchFamily="34" charset="0"/>
                <a:buChar char="•"/>
                <a:tabLst/>
                <a:defRPr sz="2400" kern="1200">
                  <a:solidFill>
                    <a:schemeClr val="tx1"/>
                  </a:solidFill>
                  <a:latin typeface="+mn-lt"/>
                  <a:ea typeface="+mn-ea"/>
                  <a:cs typeface="+mn-cs"/>
                </a:defRPr>
              </a:lvl2pPr>
              <a:lvl3pPr marL="404813" indent="-163513" algn="l" defTabSz="914400" rtl="0" eaLnBrk="1" latinLnBrk="0" hangingPunct="1">
                <a:lnSpc>
                  <a:spcPct val="100000"/>
                </a:lnSpc>
                <a:spcBef>
                  <a:spcPts val="400"/>
                </a:spcBef>
                <a:spcAft>
                  <a:spcPts val="0"/>
                </a:spcAft>
                <a:buClr>
                  <a:schemeClr val="bg2"/>
                </a:buClr>
                <a:buSzPct val="46000"/>
                <a:buFont typeface="Wingdings 2" panose="05020102010507070707" pitchFamily="18" charset="2"/>
                <a:buChar char=""/>
                <a:tabLst/>
                <a:defRPr sz="2000" kern="1200">
                  <a:solidFill>
                    <a:schemeClr val="tx1"/>
                  </a:solidFill>
                  <a:latin typeface="+mn-lt"/>
                  <a:ea typeface="+mn-ea"/>
                  <a:cs typeface="+mn-cs"/>
                </a:defRPr>
              </a:lvl3pPr>
              <a:lvl4pPr marL="617538" indent="-155575" algn="l" defTabSz="914400" rtl="0" eaLnBrk="1" latinLnBrk="0" hangingPunct="1">
                <a:lnSpc>
                  <a:spcPct val="100000"/>
                </a:lnSpc>
                <a:spcBef>
                  <a:spcPts val="300"/>
                </a:spcBef>
                <a:spcAft>
                  <a:spcPts val="0"/>
                </a:spcAft>
                <a:buSzPct val="100000"/>
                <a:buFont typeface="GE Inspira Sans" panose="020B0604020202020204" pitchFamily="34" charset="0"/>
                <a:buChar char="•"/>
                <a:tabLst/>
                <a:defRPr sz="1800" b="0" kern="1200">
                  <a:solidFill>
                    <a:schemeClr val="tx1"/>
                  </a:solidFill>
                  <a:latin typeface="+mn-lt"/>
                  <a:ea typeface="+mn-ea"/>
                  <a:cs typeface="+mn-cs"/>
                </a:defRPr>
              </a:lvl4pPr>
              <a:lvl5pPr marL="812800" indent="-146050" algn="l" defTabSz="914400" rtl="0" eaLnBrk="1" latinLnBrk="0" hangingPunct="1">
                <a:lnSpc>
                  <a:spcPct val="100000"/>
                </a:lnSpc>
                <a:spcBef>
                  <a:spcPts val="200"/>
                </a:spcBef>
                <a:spcAft>
                  <a:spcPts val="0"/>
                </a:spcAft>
                <a:buSzPct val="46000"/>
                <a:buFont typeface="Wingdings 2" panose="05020102010507070707" pitchFamily="18" charset="2"/>
                <a:buChar char=""/>
                <a:tabLst/>
                <a:defRPr sz="1600" kern="1200">
                  <a:solidFill>
                    <a:schemeClr val="tx1"/>
                  </a:solidFill>
                  <a:latin typeface="+mn-lt"/>
                  <a:ea typeface="+mn-ea"/>
                  <a:cs typeface="+mn-cs"/>
                </a:defRPr>
              </a:lvl5pPr>
              <a:lvl6pPr marL="533400" indent="-177800" algn="l" defTabSz="914400" rtl="0" eaLnBrk="1" latinLnBrk="0" hangingPunct="1">
                <a:lnSpc>
                  <a:spcPct val="90000"/>
                </a:lnSpc>
                <a:spcBef>
                  <a:spcPts val="500"/>
                </a:spcBef>
                <a:buFont typeface="GE Inspira Sans"/>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9pPr>
            </a:lstStyle>
            <a:p>
              <a:pPr marL="0" lvl="1" indent="0">
                <a:buClr>
                  <a:schemeClr val="tx2"/>
                </a:buClr>
                <a:buFont typeface="GE Inspira Sans" panose="020B0604020202020204" pitchFamily="34" charset="0"/>
                <a:buNone/>
              </a:pPr>
              <a:r>
                <a:rPr lang="en-US" sz="1600" b="1" dirty="0">
                  <a:solidFill>
                    <a:schemeClr val="accent5"/>
                  </a:solidFill>
                  <a:latin typeface="+mj-lt"/>
                </a:rPr>
                <a:t>Strong Simulator Growth </a:t>
              </a:r>
              <a:r>
                <a:rPr lang="en-US" sz="1400" b="1" dirty="0">
                  <a:solidFill>
                    <a:schemeClr val="accent5"/>
                  </a:solidFill>
                  <a:latin typeface="+mj-lt"/>
                </a:rPr>
                <a:t>w/ potential to accelerate once we offer Simulator supported Operator OJT</a:t>
              </a:r>
            </a:p>
          </p:txBody>
        </p:sp>
      </p:grpSp>
      <p:pic>
        <p:nvPicPr>
          <p:cNvPr id="40" name="Picture 39">
            <a:extLst>
              <a:ext uri="{FF2B5EF4-FFF2-40B4-BE49-F238E27FC236}">
                <a16:creationId xmlns:a16="http://schemas.microsoft.com/office/drawing/2014/main" id="{F5FA4829-1DCD-0D6A-0FCD-CEBF4E251A0C}"/>
              </a:ext>
            </a:extLst>
          </p:cNvPr>
          <p:cNvPicPr>
            <a:picLocks noChangeAspect="1"/>
          </p:cNvPicPr>
          <p:nvPr/>
        </p:nvPicPr>
        <p:blipFill>
          <a:blip r:embed="rId7"/>
          <a:stretch>
            <a:fillRect/>
          </a:stretch>
        </p:blipFill>
        <p:spPr>
          <a:xfrm>
            <a:off x="5217217" y="5318630"/>
            <a:ext cx="2792494" cy="636885"/>
          </a:xfrm>
          <a:prstGeom prst="rect">
            <a:avLst/>
          </a:prstGeom>
        </p:spPr>
      </p:pic>
      <p:grpSp>
        <p:nvGrpSpPr>
          <p:cNvPr id="41" name="Group 40">
            <a:extLst>
              <a:ext uri="{FF2B5EF4-FFF2-40B4-BE49-F238E27FC236}">
                <a16:creationId xmlns:a16="http://schemas.microsoft.com/office/drawing/2014/main" id="{E1E18178-6E84-D292-5BCB-37899C4A563F}"/>
              </a:ext>
            </a:extLst>
          </p:cNvPr>
          <p:cNvGrpSpPr/>
          <p:nvPr/>
        </p:nvGrpSpPr>
        <p:grpSpPr>
          <a:xfrm>
            <a:off x="478541" y="6044819"/>
            <a:ext cx="12023593" cy="794717"/>
            <a:chOff x="478541" y="6044819"/>
            <a:chExt cx="12023593" cy="794717"/>
          </a:xfrm>
        </p:grpSpPr>
        <p:sp>
          <p:nvSpPr>
            <p:cNvPr id="32" name="Rectangle 31">
              <a:extLst>
                <a:ext uri="{FF2B5EF4-FFF2-40B4-BE49-F238E27FC236}">
                  <a16:creationId xmlns:a16="http://schemas.microsoft.com/office/drawing/2014/main" id="{67256B51-5DB1-2870-9B0F-32A5B5BA4848}"/>
                </a:ext>
              </a:extLst>
            </p:cNvPr>
            <p:cNvSpPr/>
            <p:nvPr/>
          </p:nvSpPr>
          <p:spPr>
            <a:xfrm>
              <a:off x="478541" y="6044819"/>
              <a:ext cx="11234201" cy="575970"/>
            </a:xfrm>
            <a:prstGeom prst="rect">
              <a:avLst/>
            </a:prstGeom>
            <a:solidFill>
              <a:srgbClr val="005E60"/>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251999" rtlCol="0" anchor="t" anchorCtr="0"/>
            <a:lstStyle/>
            <a:p>
              <a:endParaRPr lang="en-US" sz="700" b="1" cap="all" spc="200" dirty="0">
                <a:solidFill>
                  <a:schemeClr val="bg1"/>
                </a:solidFill>
                <a:latin typeface="GE Inspira Sans" panose="020B0503060000000003" pitchFamily="34" charset="77"/>
              </a:endParaRPr>
            </a:p>
          </p:txBody>
        </p:sp>
        <p:sp>
          <p:nvSpPr>
            <p:cNvPr id="25" name="Title 1">
              <a:extLst>
                <a:ext uri="{FF2B5EF4-FFF2-40B4-BE49-F238E27FC236}">
                  <a16:creationId xmlns:a16="http://schemas.microsoft.com/office/drawing/2014/main" id="{B8E03766-906A-FC90-1E4B-75988EC5760F}"/>
                </a:ext>
              </a:extLst>
            </p:cNvPr>
            <p:cNvSpPr txBox="1">
              <a:spLocks/>
            </p:cNvSpPr>
            <p:nvPr/>
          </p:nvSpPr>
          <p:spPr>
            <a:xfrm>
              <a:off x="566151" y="6123980"/>
              <a:ext cx="11935983" cy="715556"/>
            </a:xfrm>
            <a:prstGeom prst="rect">
              <a:avLst/>
            </a:prstGeom>
            <a:noFill/>
          </p:spPr>
          <p:txBody>
            <a:bodyPr vert="horz" lIns="0" tIns="0" rIns="0" bIns="0" rtlCol="0" anchor="t" anchorCtr="0">
              <a:noAutofit/>
            </a:bodyPr>
            <a:lstStyle>
              <a:lvl1pPr defTabSz="685800">
                <a:lnSpc>
                  <a:spcPct val="90000"/>
                </a:lnSpc>
                <a:spcBef>
                  <a:spcPct val="0"/>
                </a:spcBef>
                <a:buNone/>
                <a:defRPr sz="3200">
                  <a:solidFill>
                    <a:srgbClr val="63666A"/>
                  </a:solidFill>
                  <a:latin typeface="GE Inspira Sans"/>
                  <a:ea typeface="+mj-ea"/>
                  <a:cs typeface="+mj-cs"/>
                </a:defRPr>
              </a:lvl1pPr>
            </a:lstStyle>
            <a:p>
              <a:r>
                <a:rPr lang="en-US" dirty="0">
                  <a:solidFill>
                    <a:schemeClr val="bg1"/>
                  </a:solidFill>
                  <a:latin typeface="+mj-lt"/>
                  <a:cs typeface="Arial" panose="020B0604020202020204" pitchFamily="34" charset="0"/>
                </a:rPr>
                <a:t>THANK YOU ALL FOR SUPPORTING &amp; ENABLING US </a:t>
              </a:r>
              <a:r>
                <a:rPr lang="en-US" dirty="0">
                  <a:solidFill>
                    <a:schemeClr val="bg1"/>
                  </a:solidFill>
                  <a:latin typeface="+mj-lt"/>
                  <a:cs typeface="Arial" panose="020B0604020202020204" pitchFamily="34" charset="0"/>
                  <a:sym typeface="Wingdings" panose="05000000000000000000" pitchFamily="2" charset="2"/>
                </a:rPr>
                <a:t></a:t>
              </a:r>
              <a:endParaRPr lang="en-US" dirty="0">
                <a:solidFill>
                  <a:schemeClr val="bg1"/>
                </a:solidFill>
                <a:latin typeface="+mj-lt"/>
                <a:cs typeface="Arial" panose="020B0604020202020204" pitchFamily="34" charset="0"/>
              </a:endParaRPr>
            </a:p>
          </p:txBody>
        </p:sp>
      </p:grpSp>
      <p:sp>
        <p:nvSpPr>
          <p:cNvPr id="42" name="Content Placeholder 4">
            <a:extLst>
              <a:ext uri="{FF2B5EF4-FFF2-40B4-BE49-F238E27FC236}">
                <a16:creationId xmlns:a16="http://schemas.microsoft.com/office/drawing/2014/main" id="{937DDF85-AEE4-581A-ADC3-32F45ECF38F7}"/>
              </a:ext>
            </a:extLst>
          </p:cNvPr>
          <p:cNvSpPr txBox="1">
            <a:spLocks/>
          </p:cNvSpPr>
          <p:nvPr/>
        </p:nvSpPr>
        <p:spPr>
          <a:xfrm>
            <a:off x="393547" y="1177111"/>
            <a:ext cx="4326541" cy="1107667"/>
          </a:xfrm>
          <a:prstGeom prst="rect">
            <a:avLst/>
          </a:prstGeom>
          <a:ln>
            <a:noFill/>
          </a:ln>
        </p:spPr>
        <p:txBody>
          <a:bodyPr/>
          <a:lstStyle>
            <a:lvl1pPr marL="0" indent="0" algn="l" defTabSz="914400" rtl="0" eaLnBrk="1" latinLnBrk="0" hangingPunct="1">
              <a:lnSpc>
                <a:spcPct val="100000"/>
              </a:lnSpc>
              <a:spcBef>
                <a:spcPts val="600"/>
              </a:spcBef>
              <a:spcAft>
                <a:spcPts val="0"/>
              </a:spcAft>
              <a:buSzPct val="100000"/>
              <a:buFontTx/>
              <a:buNone/>
              <a:defRPr sz="2800" kern="1200">
                <a:solidFill>
                  <a:schemeClr val="tx1"/>
                </a:solidFill>
                <a:latin typeface="+mn-lt"/>
                <a:ea typeface="+mn-ea"/>
                <a:cs typeface="+mn-cs"/>
              </a:defRPr>
            </a:lvl1pPr>
            <a:lvl2pPr marL="190500" indent="-149225" algn="l" defTabSz="914400" rtl="0" eaLnBrk="1" latinLnBrk="0" hangingPunct="1">
              <a:lnSpc>
                <a:spcPct val="100000"/>
              </a:lnSpc>
              <a:spcBef>
                <a:spcPts val="600"/>
              </a:spcBef>
              <a:spcAft>
                <a:spcPts val="0"/>
              </a:spcAft>
              <a:buClr>
                <a:schemeClr val="bg2"/>
              </a:buClr>
              <a:buSzPct val="100000"/>
              <a:buFont typeface="GE Inspira Sans" panose="020B0604020202020204" pitchFamily="34" charset="0"/>
              <a:buChar char="•"/>
              <a:tabLst/>
              <a:defRPr sz="2400" kern="1200">
                <a:solidFill>
                  <a:schemeClr val="tx1"/>
                </a:solidFill>
                <a:latin typeface="+mn-lt"/>
                <a:ea typeface="+mn-ea"/>
                <a:cs typeface="+mn-cs"/>
              </a:defRPr>
            </a:lvl2pPr>
            <a:lvl3pPr marL="404813" indent="-163513" algn="l" defTabSz="914400" rtl="0" eaLnBrk="1" latinLnBrk="0" hangingPunct="1">
              <a:lnSpc>
                <a:spcPct val="100000"/>
              </a:lnSpc>
              <a:spcBef>
                <a:spcPts val="400"/>
              </a:spcBef>
              <a:spcAft>
                <a:spcPts val="0"/>
              </a:spcAft>
              <a:buClr>
                <a:schemeClr val="bg2"/>
              </a:buClr>
              <a:buSzPct val="46000"/>
              <a:buFont typeface="Wingdings 2" panose="05020102010507070707" pitchFamily="18" charset="2"/>
              <a:buChar char=""/>
              <a:tabLst/>
              <a:defRPr sz="2000" kern="1200">
                <a:solidFill>
                  <a:schemeClr val="tx1"/>
                </a:solidFill>
                <a:latin typeface="+mn-lt"/>
                <a:ea typeface="+mn-ea"/>
                <a:cs typeface="+mn-cs"/>
              </a:defRPr>
            </a:lvl3pPr>
            <a:lvl4pPr marL="617538" indent="-155575" algn="l" defTabSz="914400" rtl="0" eaLnBrk="1" latinLnBrk="0" hangingPunct="1">
              <a:lnSpc>
                <a:spcPct val="100000"/>
              </a:lnSpc>
              <a:spcBef>
                <a:spcPts val="300"/>
              </a:spcBef>
              <a:spcAft>
                <a:spcPts val="0"/>
              </a:spcAft>
              <a:buSzPct val="100000"/>
              <a:buFont typeface="GE Inspira Sans" panose="020B0604020202020204" pitchFamily="34" charset="0"/>
              <a:buChar char="•"/>
              <a:tabLst/>
              <a:defRPr sz="1800" b="0" kern="1200">
                <a:solidFill>
                  <a:schemeClr val="tx1"/>
                </a:solidFill>
                <a:latin typeface="+mn-lt"/>
                <a:ea typeface="+mn-ea"/>
                <a:cs typeface="+mn-cs"/>
              </a:defRPr>
            </a:lvl4pPr>
            <a:lvl5pPr marL="812800" indent="-146050" algn="l" defTabSz="914400" rtl="0" eaLnBrk="1" latinLnBrk="0" hangingPunct="1">
              <a:lnSpc>
                <a:spcPct val="100000"/>
              </a:lnSpc>
              <a:spcBef>
                <a:spcPts val="200"/>
              </a:spcBef>
              <a:spcAft>
                <a:spcPts val="0"/>
              </a:spcAft>
              <a:buSzPct val="46000"/>
              <a:buFont typeface="Wingdings 2" panose="05020102010507070707" pitchFamily="18" charset="2"/>
              <a:buChar char=""/>
              <a:tabLst/>
              <a:defRPr sz="1600" kern="1200">
                <a:solidFill>
                  <a:schemeClr val="tx1"/>
                </a:solidFill>
                <a:latin typeface="+mn-lt"/>
                <a:ea typeface="+mn-ea"/>
                <a:cs typeface="+mn-cs"/>
              </a:defRPr>
            </a:lvl5pPr>
            <a:lvl6pPr marL="533400" indent="-177800" algn="l" defTabSz="914400" rtl="0" eaLnBrk="1" latinLnBrk="0" hangingPunct="1">
              <a:lnSpc>
                <a:spcPct val="90000"/>
              </a:lnSpc>
              <a:spcBef>
                <a:spcPts val="500"/>
              </a:spcBef>
              <a:buFont typeface="GE Inspira Sans"/>
              <a:buChar char="–"/>
              <a:tabLst/>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GE Inspira Sans" panose="020B0604020202020204" pitchFamily="34" charset="0"/>
              <a:buChar char="•"/>
              <a:defRPr sz="1800" kern="1200">
                <a:solidFill>
                  <a:schemeClr val="tx1"/>
                </a:solidFill>
                <a:latin typeface="+mn-lt"/>
                <a:ea typeface="+mn-ea"/>
                <a:cs typeface="+mn-cs"/>
              </a:defRPr>
            </a:lvl9pPr>
          </a:lstStyle>
          <a:p>
            <a:pPr marL="0" lvl="1" indent="0">
              <a:buClr>
                <a:schemeClr val="tx2"/>
              </a:buClr>
              <a:buFont typeface="GE Inspira Sans" panose="020B0604020202020204" pitchFamily="34" charset="0"/>
              <a:buNone/>
            </a:pPr>
            <a:r>
              <a:rPr lang="en-US" sz="1600" b="1" dirty="0">
                <a:solidFill>
                  <a:schemeClr val="accent5"/>
                </a:solidFill>
                <a:latin typeface="+mj-lt"/>
              </a:rPr>
              <a:t>Web presence @ GEV site</a:t>
            </a:r>
            <a:endParaRPr lang="en-US" sz="1400" b="1" dirty="0">
              <a:solidFill>
                <a:schemeClr val="accent5"/>
              </a:solidFill>
              <a:latin typeface="+mj-lt"/>
            </a:endParaRPr>
          </a:p>
        </p:txBody>
      </p:sp>
      <p:sp>
        <p:nvSpPr>
          <p:cNvPr id="10" name="TextBox 9">
            <a:extLst>
              <a:ext uri="{FF2B5EF4-FFF2-40B4-BE49-F238E27FC236}">
                <a16:creationId xmlns:a16="http://schemas.microsoft.com/office/drawing/2014/main" id="{B7E06E9F-5D6E-6B9A-BFD5-A91A10543B1A}"/>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Daxer</a:t>
            </a:r>
          </a:p>
        </p:txBody>
      </p:sp>
      <p:sp>
        <p:nvSpPr>
          <p:cNvPr id="4" name="TextBox 3">
            <a:extLst>
              <a:ext uri="{FF2B5EF4-FFF2-40B4-BE49-F238E27FC236}">
                <a16:creationId xmlns:a16="http://schemas.microsoft.com/office/drawing/2014/main" id="{62951814-5775-5756-8D99-57C4A3F262E7}"/>
              </a:ext>
            </a:extLst>
          </p:cNvPr>
          <p:cNvSpPr txBox="1"/>
          <p:nvPr/>
        </p:nvSpPr>
        <p:spPr>
          <a:xfrm rot="20254641">
            <a:off x="3317708" y="1688362"/>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tx2"/>
                </a:solidFill>
              </a:rPr>
              <a:t>Update this</a:t>
            </a:r>
          </a:p>
        </p:txBody>
      </p:sp>
    </p:spTree>
    <p:extLst>
      <p:ext uri="{BB962C8B-B14F-4D97-AF65-F5344CB8AC3E}">
        <p14:creationId xmlns:p14="http://schemas.microsoft.com/office/powerpoint/2010/main" val="198007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p:cTn id="7" dur="1000" fill="hold"/>
                                        <p:tgtEl>
                                          <p:spTgt spid="43"/>
                                        </p:tgtEl>
                                        <p:attrNameLst>
                                          <p:attrName>ppt_w</p:attrName>
                                        </p:attrNameLst>
                                      </p:cBhvr>
                                      <p:tavLst>
                                        <p:tav tm="0">
                                          <p:val>
                                            <p:fltVal val="0"/>
                                          </p:val>
                                        </p:tav>
                                        <p:tav tm="100000">
                                          <p:val>
                                            <p:strVal val="#ppt_w"/>
                                          </p:val>
                                        </p:tav>
                                      </p:tavLst>
                                    </p:anim>
                                    <p:anim calcmode="lin" valueType="num">
                                      <p:cBhvr>
                                        <p:cTn id="8" dur="1000" fill="hold"/>
                                        <p:tgtEl>
                                          <p:spTgt spid="43"/>
                                        </p:tgtEl>
                                        <p:attrNameLst>
                                          <p:attrName>ppt_h</p:attrName>
                                        </p:attrNameLst>
                                      </p:cBhvr>
                                      <p:tavLst>
                                        <p:tav tm="0">
                                          <p:val>
                                            <p:fltVal val="0"/>
                                          </p:val>
                                        </p:tav>
                                        <p:tav tm="100000">
                                          <p:val>
                                            <p:strVal val="#ppt_h"/>
                                          </p:val>
                                        </p:tav>
                                      </p:tavLst>
                                    </p:anim>
                                    <p:anim calcmode="lin" valueType="num">
                                      <p:cBhvr>
                                        <p:cTn id="9" dur="1000" fill="hold"/>
                                        <p:tgtEl>
                                          <p:spTgt spid="43"/>
                                        </p:tgtEl>
                                        <p:attrNameLst>
                                          <p:attrName>style.rotation</p:attrName>
                                        </p:attrNameLst>
                                      </p:cBhvr>
                                      <p:tavLst>
                                        <p:tav tm="0">
                                          <p:val>
                                            <p:fltVal val="90"/>
                                          </p:val>
                                        </p:tav>
                                        <p:tav tm="100000">
                                          <p:val>
                                            <p:fltVal val="0"/>
                                          </p:val>
                                        </p:tav>
                                      </p:tavLst>
                                    </p:anim>
                                    <p:animEffect transition="in" filter="fade">
                                      <p:cBhvr>
                                        <p:cTn id="10" dur="1000"/>
                                        <p:tgtEl>
                                          <p:spTgt spid="4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 calcmode="lin" valueType="num">
                                      <p:cBhvr>
                                        <p:cTn id="15" dur="1000" fill="hold"/>
                                        <p:tgtEl>
                                          <p:spTgt spid="44"/>
                                        </p:tgtEl>
                                        <p:attrNameLst>
                                          <p:attrName>ppt_w</p:attrName>
                                        </p:attrNameLst>
                                      </p:cBhvr>
                                      <p:tavLst>
                                        <p:tav tm="0">
                                          <p:val>
                                            <p:fltVal val="0"/>
                                          </p:val>
                                        </p:tav>
                                        <p:tav tm="100000">
                                          <p:val>
                                            <p:strVal val="#ppt_w"/>
                                          </p:val>
                                        </p:tav>
                                      </p:tavLst>
                                    </p:anim>
                                    <p:anim calcmode="lin" valueType="num">
                                      <p:cBhvr>
                                        <p:cTn id="16" dur="1000" fill="hold"/>
                                        <p:tgtEl>
                                          <p:spTgt spid="44"/>
                                        </p:tgtEl>
                                        <p:attrNameLst>
                                          <p:attrName>ppt_h</p:attrName>
                                        </p:attrNameLst>
                                      </p:cBhvr>
                                      <p:tavLst>
                                        <p:tav tm="0">
                                          <p:val>
                                            <p:fltVal val="0"/>
                                          </p:val>
                                        </p:tav>
                                        <p:tav tm="100000">
                                          <p:val>
                                            <p:strVal val="#ppt_h"/>
                                          </p:val>
                                        </p:tav>
                                      </p:tavLst>
                                    </p:anim>
                                    <p:anim calcmode="lin" valueType="num">
                                      <p:cBhvr>
                                        <p:cTn id="17" dur="1000" fill="hold"/>
                                        <p:tgtEl>
                                          <p:spTgt spid="44"/>
                                        </p:tgtEl>
                                        <p:attrNameLst>
                                          <p:attrName>style.rotation</p:attrName>
                                        </p:attrNameLst>
                                      </p:cBhvr>
                                      <p:tavLst>
                                        <p:tav tm="0">
                                          <p:val>
                                            <p:fltVal val="90"/>
                                          </p:val>
                                        </p:tav>
                                        <p:tav tm="100000">
                                          <p:val>
                                            <p:fltVal val="0"/>
                                          </p:val>
                                        </p:tav>
                                      </p:tavLst>
                                    </p:anim>
                                    <p:animEffect transition="in" filter="fade">
                                      <p:cBhvr>
                                        <p:cTn id="18" dur="100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p:cTn id="23" dur="1000" fill="hold"/>
                                        <p:tgtEl>
                                          <p:spTgt spid="40"/>
                                        </p:tgtEl>
                                        <p:attrNameLst>
                                          <p:attrName>ppt_w</p:attrName>
                                        </p:attrNameLst>
                                      </p:cBhvr>
                                      <p:tavLst>
                                        <p:tav tm="0">
                                          <p:val>
                                            <p:fltVal val="0"/>
                                          </p:val>
                                        </p:tav>
                                        <p:tav tm="100000">
                                          <p:val>
                                            <p:strVal val="#ppt_w"/>
                                          </p:val>
                                        </p:tav>
                                      </p:tavLst>
                                    </p:anim>
                                    <p:anim calcmode="lin" valueType="num">
                                      <p:cBhvr>
                                        <p:cTn id="24" dur="1000" fill="hold"/>
                                        <p:tgtEl>
                                          <p:spTgt spid="40"/>
                                        </p:tgtEl>
                                        <p:attrNameLst>
                                          <p:attrName>ppt_h</p:attrName>
                                        </p:attrNameLst>
                                      </p:cBhvr>
                                      <p:tavLst>
                                        <p:tav tm="0">
                                          <p:val>
                                            <p:fltVal val="0"/>
                                          </p:val>
                                        </p:tav>
                                        <p:tav tm="100000">
                                          <p:val>
                                            <p:strVal val="#ppt_h"/>
                                          </p:val>
                                        </p:tav>
                                      </p:tavLst>
                                    </p:anim>
                                    <p:anim calcmode="lin" valueType="num">
                                      <p:cBhvr>
                                        <p:cTn id="25" dur="1000" fill="hold"/>
                                        <p:tgtEl>
                                          <p:spTgt spid="40"/>
                                        </p:tgtEl>
                                        <p:attrNameLst>
                                          <p:attrName>style.rotation</p:attrName>
                                        </p:attrNameLst>
                                      </p:cBhvr>
                                      <p:tavLst>
                                        <p:tav tm="0">
                                          <p:val>
                                            <p:fltVal val="90"/>
                                          </p:val>
                                        </p:tav>
                                        <p:tav tm="100000">
                                          <p:val>
                                            <p:fltVal val="0"/>
                                          </p:val>
                                        </p:tav>
                                      </p:tavLst>
                                    </p:anim>
                                    <p:animEffect transition="in" filter="fade">
                                      <p:cBhvr>
                                        <p:cTn id="26" dur="1000"/>
                                        <p:tgtEl>
                                          <p:spTgt spid="40"/>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anim calcmode="lin" valueType="num">
                                      <p:cBhvr>
                                        <p:cTn id="31" dur="1000" fill="hold"/>
                                        <p:tgtEl>
                                          <p:spTgt spid="41"/>
                                        </p:tgtEl>
                                        <p:attrNameLst>
                                          <p:attrName>ppt_w</p:attrName>
                                        </p:attrNameLst>
                                      </p:cBhvr>
                                      <p:tavLst>
                                        <p:tav tm="0">
                                          <p:val>
                                            <p:fltVal val="0"/>
                                          </p:val>
                                        </p:tav>
                                        <p:tav tm="100000">
                                          <p:val>
                                            <p:strVal val="#ppt_w"/>
                                          </p:val>
                                        </p:tav>
                                      </p:tavLst>
                                    </p:anim>
                                    <p:anim calcmode="lin" valueType="num">
                                      <p:cBhvr>
                                        <p:cTn id="32" dur="1000" fill="hold"/>
                                        <p:tgtEl>
                                          <p:spTgt spid="41"/>
                                        </p:tgtEl>
                                        <p:attrNameLst>
                                          <p:attrName>ppt_h</p:attrName>
                                        </p:attrNameLst>
                                      </p:cBhvr>
                                      <p:tavLst>
                                        <p:tav tm="0">
                                          <p:val>
                                            <p:fltVal val="0"/>
                                          </p:val>
                                        </p:tav>
                                        <p:tav tm="100000">
                                          <p:val>
                                            <p:strVal val="#ppt_h"/>
                                          </p:val>
                                        </p:tav>
                                      </p:tavLst>
                                    </p:anim>
                                    <p:anim calcmode="lin" valueType="num">
                                      <p:cBhvr>
                                        <p:cTn id="33" dur="1000" fill="hold"/>
                                        <p:tgtEl>
                                          <p:spTgt spid="41"/>
                                        </p:tgtEl>
                                        <p:attrNameLst>
                                          <p:attrName>style.rotation</p:attrName>
                                        </p:attrNameLst>
                                      </p:cBhvr>
                                      <p:tavLst>
                                        <p:tav tm="0">
                                          <p:val>
                                            <p:fltVal val="90"/>
                                          </p:val>
                                        </p:tav>
                                        <p:tav tm="100000">
                                          <p:val>
                                            <p:fltVal val="0"/>
                                          </p:val>
                                        </p:tav>
                                      </p:tavLst>
                                    </p:anim>
                                    <p:animEffect transition="in" filter="fade">
                                      <p:cBhvr>
                                        <p:cTn id="34"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68E72F86-C093-3F26-6F6E-E3C1E0CB5BBF}"/>
              </a:ext>
            </a:extLst>
          </p:cNvPr>
          <p:cNvGrpSpPr/>
          <p:nvPr/>
        </p:nvGrpSpPr>
        <p:grpSpPr>
          <a:xfrm>
            <a:off x="7978948" y="904129"/>
            <a:ext cx="4050552" cy="4147446"/>
            <a:chOff x="7978948" y="959781"/>
            <a:chExt cx="4050552" cy="4147446"/>
          </a:xfrm>
        </p:grpSpPr>
        <p:pic>
          <p:nvPicPr>
            <p:cNvPr id="4" name="Content Placeholder 14">
              <a:extLst>
                <a:ext uri="{FF2B5EF4-FFF2-40B4-BE49-F238E27FC236}">
                  <a16:creationId xmlns:a16="http://schemas.microsoft.com/office/drawing/2014/main" id="{1C93A2E1-EE5F-A298-9C7A-9F12365A63EC}"/>
                </a:ext>
              </a:extLst>
            </p:cNvPr>
            <p:cNvPicPr>
              <a:picLocks noChangeAspect="1"/>
            </p:cNvPicPr>
            <p:nvPr/>
          </p:nvPicPr>
          <p:blipFill>
            <a:blip r:embed="rId3"/>
            <a:srcRect t="15253"/>
            <a:stretch>
              <a:fillRect/>
            </a:stretch>
          </p:blipFill>
          <p:spPr>
            <a:xfrm>
              <a:off x="7978948" y="959781"/>
              <a:ext cx="4024191" cy="1533813"/>
            </a:xfrm>
            <a:prstGeom prst="rect">
              <a:avLst/>
            </a:prstGeom>
          </p:spPr>
        </p:pic>
        <p:pic>
          <p:nvPicPr>
            <p:cNvPr id="5" name="Picture 4">
              <a:extLst>
                <a:ext uri="{FF2B5EF4-FFF2-40B4-BE49-F238E27FC236}">
                  <a16:creationId xmlns:a16="http://schemas.microsoft.com/office/drawing/2014/main" id="{7CA3C48B-72DA-3524-65A0-13C1DD35A826}"/>
                </a:ext>
              </a:extLst>
            </p:cNvPr>
            <p:cNvPicPr>
              <a:picLocks noChangeAspect="1"/>
            </p:cNvPicPr>
            <p:nvPr/>
          </p:nvPicPr>
          <p:blipFill>
            <a:blip r:embed="rId4"/>
            <a:stretch>
              <a:fillRect/>
            </a:stretch>
          </p:blipFill>
          <p:spPr>
            <a:xfrm>
              <a:off x="7995567" y="1908583"/>
              <a:ext cx="1686315" cy="1686315"/>
            </a:xfrm>
            <a:prstGeom prst="rect">
              <a:avLst/>
            </a:prstGeom>
          </p:spPr>
        </p:pic>
        <p:pic>
          <p:nvPicPr>
            <p:cNvPr id="6" name="Picture 5">
              <a:extLst>
                <a:ext uri="{FF2B5EF4-FFF2-40B4-BE49-F238E27FC236}">
                  <a16:creationId xmlns:a16="http://schemas.microsoft.com/office/drawing/2014/main" id="{B5EE5560-E43D-3E9B-FE1F-7C21883F2A90}"/>
                </a:ext>
              </a:extLst>
            </p:cNvPr>
            <p:cNvPicPr>
              <a:picLocks noChangeAspect="1"/>
            </p:cNvPicPr>
            <p:nvPr/>
          </p:nvPicPr>
          <p:blipFill>
            <a:blip r:embed="rId5"/>
            <a:stretch>
              <a:fillRect/>
            </a:stretch>
          </p:blipFill>
          <p:spPr>
            <a:xfrm>
              <a:off x="9490854" y="2773704"/>
              <a:ext cx="2538646" cy="1449592"/>
            </a:xfrm>
            <a:prstGeom prst="rect">
              <a:avLst/>
            </a:prstGeom>
          </p:spPr>
        </p:pic>
        <p:pic>
          <p:nvPicPr>
            <p:cNvPr id="7" name="Picture 6">
              <a:extLst>
                <a:ext uri="{FF2B5EF4-FFF2-40B4-BE49-F238E27FC236}">
                  <a16:creationId xmlns:a16="http://schemas.microsoft.com/office/drawing/2014/main" id="{5396DCD9-442F-6EF6-D76C-D8FE20E49254}"/>
                </a:ext>
              </a:extLst>
            </p:cNvPr>
            <p:cNvPicPr>
              <a:picLocks noChangeAspect="1"/>
            </p:cNvPicPr>
            <p:nvPr/>
          </p:nvPicPr>
          <p:blipFill>
            <a:blip r:embed="rId6"/>
            <a:stretch>
              <a:fillRect/>
            </a:stretch>
          </p:blipFill>
          <p:spPr>
            <a:xfrm>
              <a:off x="8004532" y="4122781"/>
              <a:ext cx="3884209" cy="984446"/>
            </a:xfrm>
            <a:prstGeom prst="rect">
              <a:avLst/>
            </a:prstGeom>
          </p:spPr>
        </p:pic>
      </p:grpSp>
      <p:pic>
        <p:nvPicPr>
          <p:cNvPr id="29" name="Content Placeholder 28">
            <a:extLst>
              <a:ext uri="{FF2B5EF4-FFF2-40B4-BE49-F238E27FC236}">
                <a16:creationId xmlns:a16="http://schemas.microsoft.com/office/drawing/2014/main" id="{45C8D8AB-4F8B-5EA4-A7E2-8574AF8A6701}"/>
              </a:ext>
            </a:extLst>
          </p:cNvPr>
          <p:cNvPicPr>
            <a:picLocks noGrp="1" noChangeAspect="1"/>
          </p:cNvPicPr>
          <p:nvPr>
            <p:ph idx="1"/>
          </p:nvPr>
        </p:nvPicPr>
        <p:blipFill>
          <a:blip r:embed="rId7"/>
          <a:srcRect l="3627" t="5437" r="5246" b="7460"/>
          <a:stretch>
            <a:fillRect/>
          </a:stretch>
        </p:blipFill>
        <p:spPr>
          <a:xfrm>
            <a:off x="377121" y="980365"/>
            <a:ext cx="7368384" cy="3961722"/>
          </a:xfrm>
          <a:prstGeom prst="rect">
            <a:avLst/>
          </a:prstGeom>
        </p:spPr>
      </p:pic>
      <p:sp>
        <p:nvSpPr>
          <p:cNvPr id="2" name="Footer Placeholder 1">
            <a:extLst>
              <a:ext uri="{FF2B5EF4-FFF2-40B4-BE49-F238E27FC236}">
                <a16:creationId xmlns:a16="http://schemas.microsoft.com/office/drawing/2014/main" id="{20B8BAF0-8794-36C4-EABB-A465BB4AF6D6}"/>
              </a:ext>
            </a:extLst>
          </p:cNvPr>
          <p:cNvSpPr>
            <a:spLocks noGrp="1"/>
          </p:cNvSpPr>
          <p:nvPr>
            <p:ph type="ftr" sz="quarter" idx="11"/>
          </p:nvPr>
        </p:nvSpPr>
        <p:spPr/>
        <p:txBody>
          <a:bodyPr/>
          <a:lstStyle/>
          <a:p>
            <a:r>
              <a:rPr lang="en-US" dirty="0"/>
              <a:t>© 2026 GE Vernova and/or its affiliates. All rights reserved.</a:t>
            </a:r>
          </a:p>
        </p:txBody>
      </p:sp>
      <p:sp>
        <p:nvSpPr>
          <p:cNvPr id="3" name="Slide Number Placeholder 2">
            <a:extLst>
              <a:ext uri="{FF2B5EF4-FFF2-40B4-BE49-F238E27FC236}">
                <a16:creationId xmlns:a16="http://schemas.microsoft.com/office/drawing/2014/main" id="{1576E708-A63C-0CC0-3B73-E53C9D72EA35}"/>
              </a:ext>
            </a:extLst>
          </p:cNvPr>
          <p:cNvSpPr>
            <a:spLocks noGrp="1"/>
          </p:cNvSpPr>
          <p:nvPr>
            <p:ph type="sldNum" sz="quarter" idx="12"/>
          </p:nvPr>
        </p:nvSpPr>
        <p:spPr/>
        <p:txBody>
          <a:bodyPr/>
          <a:lstStyle/>
          <a:p>
            <a:fld id="{7A7A97EF-C944-4447-B862-B593E9B4A0FF}" type="slidenum">
              <a:rPr lang="en-US" smtClean="0"/>
              <a:pPr/>
              <a:t>14</a:t>
            </a:fld>
            <a:endParaRPr lang="en-US" dirty="0"/>
          </a:p>
        </p:txBody>
      </p:sp>
      <p:sp>
        <p:nvSpPr>
          <p:cNvPr id="9" name="Title 3">
            <a:extLst>
              <a:ext uri="{FF2B5EF4-FFF2-40B4-BE49-F238E27FC236}">
                <a16:creationId xmlns:a16="http://schemas.microsoft.com/office/drawing/2014/main" id="{CA14CA7A-455E-0FB4-E915-7E6386E89AA6}"/>
              </a:ext>
            </a:extLst>
          </p:cNvPr>
          <p:cNvSpPr>
            <a:spLocks noGrp="1"/>
          </p:cNvSpPr>
          <p:nvPr>
            <p:ph type="title"/>
          </p:nvPr>
        </p:nvSpPr>
        <p:spPr>
          <a:xfrm>
            <a:off x="186019" y="203948"/>
            <a:ext cx="9587542" cy="457020"/>
          </a:xfrm>
        </p:spPr>
        <p:txBody>
          <a:bodyPr vert="horz" lIns="0" tIns="0" rIns="0" bIns="0" rtlCol="0" anchor="t" anchorCtr="0">
            <a:normAutofit fontScale="90000"/>
          </a:bodyPr>
          <a:lstStyle/>
          <a:p>
            <a:pPr>
              <a:lnSpc>
                <a:spcPts val="3100"/>
              </a:lnSpc>
            </a:pPr>
            <a:r>
              <a:rPr lang="en-US" kern="1200" dirty="0"/>
              <a:t>Programs &amp; Competencies:</a:t>
            </a:r>
            <a:br>
              <a:rPr lang="en-US" kern="1200" dirty="0"/>
            </a:br>
            <a:r>
              <a:rPr lang="en-US" sz="2700" b="1" kern="1200" dirty="0">
                <a:solidFill>
                  <a:schemeClr val="tx1">
                    <a:lumMod val="90000"/>
                    <a:lumOff val="10000"/>
                  </a:schemeClr>
                </a:solidFill>
              </a:rPr>
              <a:t>2026 O&amp;M Roadmap and New Training Dashboard</a:t>
            </a:r>
          </a:p>
        </p:txBody>
      </p:sp>
      <p:sp>
        <p:nvSpPr>
          <p:cNvPr id="10" name="TextBox 9">
            <a:extLst>
              <a:ext uri="{FF2B5EF4-FFF2-40B4-BE49-F238E27FC236}">
                <a16:creationId xmlns:a16="http://schemas.microsoft.com/office/drawing/2014/main" id="{D601A0F3-5A2B-55FA-7EEC-039967F92832}"/>
              </a:ext>
            </a:extLst>
          </p:cNvPr>
          <p:cNvSpPr txBox="1"/>
          <p:nvPr/>
        </p:nvSpPr>
        <p:spPr>
          <a:xfrm>
            <a:off x="10291483" y="101511"/>
            <a:ext cx="1720466" cy="262473"/>
          </a:xfrm>
          <a:prstGeom prst="rect">
            <a:avLst/>
          </a:prstGeom>
        </p:spPr>
        <p:txBody>
          <a:bodyPr rot="0" spcFirstLastPara="0" vertOverflow="overflow" horzOverflow="overflow" vert="horz" lIns="0" tIns="0" rIns="0" bIns="0" numCol="1" spcCol="0" rtlCol="0" fromWordArt="0" anchor="t"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a:rPr>
              <a:t>Ponce</a:t>
            </a:r>
          </a:p>
        </p:txBody>
      </p:sp>
      <p:sp>
        <p:nvSpPr>
          <p:cNvPr id="30" name="Rectangle 29">
            <a:extLst>
              <a:ext uri="{FF2B5EF4-FFF2-40B4-BE49-F238E27FC236}">
                <a16:creationId xmlns:a16="http://schemas.microsoft.com/office/drawing/2014/main" id="{D81E0901-BDAC-63FD-72BE-6E1EBAAA6282}"/>
              </a:ext>
            </a:extLst>
          </p:cNvPr>
          <p:cNvSpPr/>
          <p:nvPr/>
        </p:nvSpPr>
        <p:spPr>
          <a:xfrm>
            <a:off x="377121" y="980365"/>
            <a:ext cx="1792338" cy="3283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32" name="Rectangle 31">
            <a:extLst>
              <a:ext uri="{FF2B5EF4-FFF2-40B4-BE49-F238E27FC236}">
                <a16:creationId xmlns:a16="http://schemas.microsoft.com/office/drawing/2014/main" id="{A65C2C5E-B9C2-4106-A3F6-E3F78129734B}"/>
              </a:ext>
            </a:extLst>
          </p:cNvPr>
          <p:cNvSpPr/>
          <p:nvPr/>
        </p:nvSpPr>
        <p:spPr>
          <a:xfrm>
            <a:off x="6978073" y="980365"/>
            <a:ext cx="830186" cy="2446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grpSp>
        <p:nvGrpSpPr>
          <p:cNvPr id="54" name="Group 53">
            <a:extLst>
              <a:ext uri="{FF2B5EF4-FFF2-40B4-BE49-F238E27FC236}">
                <a16:creationId xmlns:a16="http://schemas.microsoft.com/office/drawing/2014/main" id="{3B16734C-D410-B7FC-156C-29C7BA3B04AE}"/>
              </a:ext>
            </a:extLst>
          </p:cNvPr>
          <p:cNvGrpSpPr/>
          <p:nvPr/>
        </p:nvGrpSpPr>
        <p:grpSpPr>
          <a:xfrm>
            <a:off x="233082" y="5082986"/>
            <a:ext cx="7512423" cy="1330208"/>
            <a:chOff x="233082" y="5082986"/>
            <a:chExt cx="7512423" cy="1330208"/>
          </a:xfrm>
        </p:grpSpPr>
        <p:sp>
          <p:nvSpPr>
            <p:cNvPr id="33" name="Rectangle 32">
              <a:extLst>
                <a:ext uri="{FF2B5EF4-FFF2-40B4-BE49-F238E27FC236}">
                  <a16:creationId xmlns:a16="http://schemas.microsoft.com/office/drawing/2014/main" id="{B6EBDEF5-A0BA-8976-CA7B-11F3991A30F0}"/>
                </a:ext>
              </a:extLst>
            </p:cNvPr>
            <p:cNvSpPr/>
            <p:nvPr/>
          </p:nvSpPr>
          <p:spPr>
            <a:xfrm>
              <a:off x="233082" y="5082986"/>
              <a:ext cx="7512423" cy="1330208"/>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35" name="TextBox 34">
              <a:extLst>
                <a:ext uri="{FF2B5EF4-FFF2-40B4-BE49-F238E27FC236}">
                  <a16:creationId xmlns:a16="http://schemas.microsoft.com/office/drawing/2014/main" id="{AC83E5EE-4E98-1A2D-9D40-EEDBAEF2B9DE}"/>
                </a:ext>
              </a:extLst>
            </p:cNvPr>
            <p:cNvSpPr txBox="1"/>
            <p:nvPr/>
          </p:nvSpPr>
          <p:spPr>
            <a:xfrm>
              <a:off x="247693" y="5107227"/>
              <a:ext cx="2002448" cy="300531"/>
            </a:xfrm>
            <a:prstGeom prst="rect">
              <a:avLst/>
            </a:prstGeom>
            <a:noFill/>
          </p:spPr>
          <p:txBody>
            <a:bodyPr wrap="square" rtlCol="0">
              <a:spAutoFit/>
            </a:bodyPr>
            <a:lstStyle/>
            <a:p>
              <a:pPr defTabSz="914217">
                <a:lnSpc>
                  <a:spcPts val="1800"/>
                </a:lnSpc>
              </a:pPr>
              <a:r>
                <a:rPr lang="en-US" sz="1200" b="1" spc="-15" dirty="0">
                  <a:solidFill>
                    <a:schemeClr val="bg1"/>
                  </a:solidFill>
                  <a:latin typeface="72" panose="020B0503030000000003" pitchFamily="34" charset="0"/>
                  <a:cs typeface="72" panose="020B0503030000000003" pitchFamily="34" charset="0"/>
                </a:rPr>
                <a:t>Key Initiatives:</a:t>
              </a:r>
            </a:p>
          </p:txBody>
        </p:sp>
        <p:sp>
          <p:nvSpPr>
            <p:cNvPr id="41" name="TextBox 40">
              <a:extLst>
                <a:ext uri="{FF2B5EF4-FFF2-40B4-BE49-F238E27FC236}">
                  <a16:creationId xmlns:a16="http://schemas.microsoft.com/office/drawing/2014/main" id="{A5008DA2-8652-E78F-6EE9-D0E18FBB54C9}"/>
                </a:ext>
              </a:extLst>
            </p:cNvPr>
            <p:cNvSpPr txBox="1"/>
            <p:nvPr/>
          </p:nvSpPr>
          <p:spPr>
            <a:xfrm>
              <a:off x="1374784" y="5324325"/>
              <a:ext cx="6012134" cy="1015663"/>
            </a:xfrm>
            <a:prstGeom prst="rect">
              <a:avLst/>
            </a:prstGeom>
            <a:noFill/>
          </p:spPr>
          <p:txBody>
            <a:bodyPr wrap="square" rtlCol="0">
              <a:spAutoFit/>
            </a:bodyPr>
            <a:lstStyle/>
            <a:p>
              <a:pPr marL="171450" indent="-171450" defTabSz="914217">
                <a:buFont typeface="Arial" panose="020B0604020202020204" pitchFamily="34" charset="0"/>
                <a:buChar char="•"/>
              </a:pPr>
              <a:r>
                <a:rPr lang="en-US" sz="1200" spc="-15" dirty="0">
                  <a:solidFill>
                    <a:schemeClr val="tx1">
                      <a:lumMod val="50000"/>
                      <a:lumOff val="50000"/>
                    </a:schemeClr>
                  </a:solidFill>
                  <a:cs typeface="72" panose="020B0503030000000003" pitchFamily="34" charset="0"/>
                </a:rPr>
                <a:t>OT Cybersecurity curriculum update - Assigned to 316 GP employees across 37 sites  + 78 FC employees across 6 sites (80% Completion)</a:t>
              </a:r>
            </a:p>
            <a:p>
              <a:pPr marL="171450" indent="-171450" defTabSz="914217">
                <a:buFont typeface="Arial" panose="020B0604020202020204" pitchFamily="34" charset="0"/>
                <a:buChar char="•"/>
              </a:pPr>
              <a:r>
                <a:rPr lang="en-US" sz="1200" spc="-15" dirty="0">
                  <a:solidFill>
                    <a:schemeClr val="bg1"/>
                  </a:solidFill>
                  <a:cs typeface="72" panose="020B0503030000000003" pitchFamily="34" charset="0"/>
                </a:rPr>
                <a:t>HRSG Inspection Virtual Course - Budget approval pending</a:t>
              </a:r>
            </a:p>
            <a:p>
              <a:pPr marL="171450" indent="-171450" defTabSz="914217">
                <a:buFont typeface="Arial" panose="020B0604020202020204" pitchFamily="34" charset="0"/>
                <a:buChar char="•"/>
              </a:pPr>
              <a:r>
                <a:rPr lang="en-US" sz="1200" spc="-15" dirty="0">
                  <a:solidFill>
                    <a:schemeClr val="bg1"/>
                  </a:solidFill>
                  <a:cs typeface="72" panose="020B0503030000000003" pitchFamily="34" charset="0"/>
                </a:rPr>
                <a:t>Warehouse &amp; Logistics Program - 21 Sites surveyed </a:t>
              </a:r>
            </a:p>
            <a:p>
              <a:pPr marL="171450" indent="-171450" defTabSz="914217">
                <a:buFont typeface="Arial" panose="020B0604020202020204" pitchFamily="34" charset="0"/>
                <a:buChar char="•"/>
              </a:pPr>
              <a:r>
                <a:rPr lang="en-US" sz="1200" spc="-15" dirty="0">
                  <a:solidFill>
                    <a:schemeClr val="bg1"/>
                  </a:solidFill>
                  <a:cs typeface="72" panose="020B0503030000000003" pitchFamily="34" charset="0"/>
                </a:rPr>
                <a:t>Simulator VILT - Target audience: 200 operators across 23 sites</a:t>
              </a:r>
            </a:p>
          </p:txBody>
        </p:sp>
      </p:grpSp>
      <p:cxnSp>
        <p:nvCxnSpPr>
          <p:cNvPr id="45" name="Straight Connector 44">
            <a:extLst>
              <a:ext uri="{FF2B5EF4-FFF2-40B4-BE49-F238E27FC236}">
                <a16:creationId xmlns:a16="http://schemas.microsoft.com/office/drawing/2014/main" id="{32F770E7-AB82-D54C-F541-FC5FF0BF81AA}"/>
              </a:ext>
            </a:extLst>
          </p:cNvPr>
          <p:cNvCxnSpPr>
            <a:cxnSpLocks/>
          </p:cNvCxnSpPr>
          <p:nvPr/>
        </p:nvCxnSpPr>
        <p:spPr>
          <a:xfrm>
            <a:off x="7853084" y="905621"/>
            <a:ext cx="0" cy="5507573"/>
          </a:xfrm>
          <a:prstGeom prst="line">
            <a:avLst/>
          </a:prstGeom>
          <a:ln w="19050">
            <a:solidFill>
              <a:schemeClr val="accent6">
                <a:lumMod val="50000"/>
              </a:schemeClr>
            </a:solidFill>
          </a:ln>
        </p:spPr>
        <p:style>
          <a:lnRef idx="3">
            <a:schemeClr val="dk1"/>
          </a:lnRef>
          <a:fillRef idx="0">
            <a:schemeClr val="dk1"/>
          </a:fillRef>
          <a:effectRef idx="2">
            <a:schemeClr val="dk1"/>
          </a:effectRef>
          <a:fontRef idx="minor">
            <a:schemeClr val="tx1"/>
          </a:fontRef>
        </p:style>
      </p:cxnSp>
      <p:grpSp>
        <p:nvGrpSpPr>
          <p:cNvPr id="55" name="Group 54">
            <a:extLst>
              <a:ext uri="{FF2B5EF4-FFF2-40B4-BE49-F238E27FC236}">
                <a16:creationId xmlns:a16="http://schemas.microsoft.com/office/drawing/2014/main" id="{F7F9A0EF-33DF-A6C4-EDAB-482214D367A4}"/>
              </a:ext>
            </a:extLst>
          </p:cNvPr>
          <p:cNvGrpSpPr/>
          <p:nvPr/>
        </p:nvGrpSpPr>
        <p:grpSpPr>
          <a:xfrm>
            <a:off x="7978948" y="5195494"/>
            <a:ext cx="4050552" cy="1217699"/>
            <a:chOff x="7978948" y="5195494"/>
            <a:chExt cx="4050552" cy="1217699"/>
          </a:xfrm>
        </p:grpSpPr>
        <p:sp>
          <p:nvSpPr>
            <p:cNvPr id="37" name="Rectangle 36">
              <a:extLst>
                <a:ext uri="{FF2B5EF4-FFF2-40B4-BE49-F238E27FC236}">
                  <a16:creationId xmlns:a16="http://schemas.microsoft.com/office/drawing/2014/main" id="{6D684C6A-94D4-0538-ED28-5EC6BBB837F7}"/>
                </a:ext>
              </a:extLst>
            </p:cNvPr>
            <p:cNvSpPr/>
            <p:nvPr/>
          </p:nvSpPr>
          <p:spPr>
            <a:xfrm>
              <a:off x="7978948" y="5195494"/>
              <a:ext cx="4050552" cy="1217699"/>
            </a:xfrm>
            <a:prstGeom prst="rect">
              <a:avLst/>
            </a:prstGeom>
            <a:solidFill>
              <a:schemeClr val="tx1">
                <a:lumMod val="90000"/>
                <a:lumOff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39" name="TextBox 38">
              <a:extLst>
                <a:ext uri="{FF2B5EF4-FFF2-40B4-BE49-F238E27FC236}">
                  <a16:creationId xmlns:a16="http://schemas.microsoft.com/office/drawing/2014/main" id="{9A9EE0E3-684E-8D43-25E7-F5B440B216D3}"/>
                </a:ext>
              </a:extLst>
            </p:cNvPr>
            <p:cNvSpPr txBox="1"/>
            <p:nvPr/>
          </p:nvSpPr>
          <p:spPr>
            <a:xfrm>
              <a:off x="7978948" y="5195495"/>
              <a:ext cx="2002448" cy="306302"/>
            </a:xfrm>
            <a:prstGeom prst="rect">
              <a:avLst/>
            </a:prstGeom>
            <a:noFill/>
          </p:spPr>
          <p:txBody>
            <a:bodyPr wrap="square" rtlCol="0">
              <a:spAutoFit/>
            </a:bodyPr>
            <a:lstStyle/>
            <a:p>
              <a:pPr defTabSz="914217">
                <a:lnSpc>
                  <a:spcPts val="1800"/>
                </a:lnSpc>
              </a:pPr>
              <a:r>
                <a:rPr lang="en-US" sz="1200" b="1" spc="-15" dirty="0">
                  <a:solidFill>
                    <a:schemeClr val="bg1"/>
                  </a:solidFill>
                  <a:latin typeface="72" panose="020B0503030000000003" pitchFamily="34" charset="0"/>
                  <a:cs typeface="72" panose="020B0503030000000003" pitchFamily="34" charset="0"/>
                </a:rPr>
                <a:t>Special THANK YOU!</a:t>
              </a:r>
            </a:p>
          </p:txBody>
        </p:sp>
        <p:sp>
          <p:nvSpPr>
            <p:cNvPr id="51" name="TextBox 50">
              <a:extLst>
                <a:ext uri="{FF2B5EF4-FFF2-40B4-BE49-F238E27FC236}">
                  <a16:creationId xmlns:a16="http://schemas.microsoft.com/office/drawing/2014/main" id="{46675EFD-5A0D-0E22-4693-6701D0208941}"/>
                </a:ext>
              </a:extLst>
            </p:cNvPr>
            <p:cNvSpPr txBox="1"/>
            <p:nvPr/>
          </p:nvSpPr>
          <p:spPr>
            <a:xfrm>
              <a:off x="9681882" y="5520390"/>
              <a:ext cx="1606069" cy="646331"/>
            </a:xfrm>
            <a:prstGeom prst="rect">
              <a:avLst/>
            </a:prstGeom>
            <a:noFill/>
          </p:spPr>
          <p:txBody>
            <a:bodyPr wrap="square" rtlCol="0">
              <a:spAutoFit/>
            </a:bodyPr>
            <a:lstStyle/>
            <a:p>
              <a:pPr defTabSz="914217"/>
              <a:r>
                <a:rPr lang="en-US" b="1" spc="-15" dirty="0">
                  <a:solidFill>
                    <a:schemeClr val="tx1">
                      <a:lumMod val="50000"/>
                      <a:lumOff val="50000"/>
                    </a:schemeClr>
                  </a:solidFill>
                  <a:cs typeface="72" panose="020B0503030000000003" pitchFamily="34" charset="0"/>
                </a:rPr>
                <a:t>Daniel Barrera</a:t>
              </a:r>
              <a:endParaRPr lang="en-US" b="1" spc="-15" dirty="0">
                <a:solidFill>
                  <a:schemeClr val="bg1"/>
                </a:solidFill>
                <a:cs typeface="72" panose="020B0503030000000003" pitchFamily="34" charset="0"/>
              </a:endParaRPr>
            </a:p>
          </p:txBody>
        </p:sp>
        <p:pic>
          <p:nvPicPr>
            <p:cNvPr id="53" name="Picture 52">
              <a:extLst>
                <a:ext uri="{FF2B5EF4-FFF2-40B4-BE49-F238E27FC236}">
                  <a16:creationId xmlns:a16="http://schemas.microsoft.com/office/drawing/2014/main" id="{93CB880B-5A52-C1AF-0D7F-6CFAA12BCD45}"/>
                </a:ext>
              </a:extLst>
            </p:cNvPr>
            <p:cNvPicPr>
              <a:picLocks noChangeAspect="1"/>
            </p:cNvPicPr>
            <p:nvPr/>
          </p:nvPicPr>
          <p:blipFill>
            <a:blip r:embed="rId8"/>
            <a:stretch>
              <a:fillRect/>
            </a:stretch>
          </p:blipFill>
          <p:spPr>
            <a:xfrm>
              <a:off x="10851445" y="5438655"/>
              <a:ext cx="765922" cy="787002"/>
            </a:xfrm>
            <a:prstGeom prst="ellipse">
              <a:avLst/>
            </a:prstGeom>
          </p:spPr>
        </p:pic>
      </p:grpSp>
      <p:grpSp>
        <p:nvGrpSpPr>
          <p:cNvPr id="67" name="Group 66">
            <a:extLst>
              <a:ext uri="{FF2B5EF4-FFF2-40B4-BE49-F238E27FC236}">
                <a16:creationId xmlns:a16="http://schemas.microsoft.com/office/drawing/2014/main" id="{98BEB522-3247-017A-B5A4-794C576F4B21}"/>
              </a:ext>
            </a:extLst>
          </p:cNvPr>
          <p:cNvGrpSpPr/>
          <p:nvPr/>
        </p:nvGrpSpPr>
        <p:grpSpPr>
          <a:xfrm>
            <a:off x="8081238" y="1098756"/>
            <a:ext cx="3304518" cy="553290"/>
            <a:chOff x="8081238" y="1098756"/>
            <a:chExt cx="3304518" cy="553290"/>
          </a:xfrm>
        </p:grpSpPr>
        <p:sp>
          <p:nvSpPr>
            <p:cNvPr id="62" name="Rectangle 61">
              <a:extLst>
                <a:ext uri="{FF2B5EF4-FFF2-40B4-BE49-F238E27FC236}">
                  <a16:creationId xmlns:a16="http://schemas.microsoft.com/office/drawing/2014/main" id="{67E13FE3-6998-21E9-3CE8-2E26EBD86C7A}"/>
                </a:ext>
              </a:extLst>
            </p:cNvPr>
            <p:cNvSpPr/>
            <p:nvPr/>
          </p:nvSpPr>
          <p:spPr>
            <a:xfrm>
              <a:off x="8081238" y="1098756"/>
              <a:ext cx="3304518" cy="55329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US">
                <a:solidFill>
                  <a:schemeClr val="tx1"/>
                </a:solidFill>
              </a:endParaRPr>
            </a:p>
          </p:txBody>
        </p:sp>
        <p:sp>
          <p:nvSpPr>
            <p:cNvPr id="47" name="Rectangle 46">
              <a:extLst>
                <a:ext uri="{FF2B5EF4-FFF2-40B4-BE49-F238E27FC236}">
                  <a16:creationId xmlns:a16="http://schemas.microsoft.com/office/drawing/2014/main" id="{F09CAD32-7ADE-8404-D351-BED25D94AE08}"/>
                </a:ext>
              </a:extLst>
            </p:cNvPr>
            <p:cNvSpPr/>
            <p:nvPr/>
          </p:nvSpPr>
          <p:spPr>
            <a:xfrm>
              <a:off x="8152481" y="1152721"/>
              <a:ext cx="1508760" cy="447042"/>
            </a:xfrm>
            <a:prstGeom prst="rect">
              <a:avLst/>
            </a:prstGeom>
            <a:solidFill>
              <a:srgbClr val="737572">
                <a:lumMod val="20000"/>
                <a:lumOff val="80000"/>
              </a:srgbClr>
            </a:solidFill>
            <a:ln w="12700" cap="flat" cmpd="sng" algn="ctr">
              <a:noFill/>
              <a:prstDash val="solid"/>
              <a:miter lim="800000"/>
            </a:ln>
            <a:effectLst/>
          </p:spPr>
          <p:txBody>
            <a:bodyPr rtlCol="0" anchor="ctr"/>
            <a:lstStyle/>
            <a:p>
              <a:pPr marL="0" marR="0" lvl="0" indent="0" algn="ctr" defTabSz="91421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Lato Light" panose="020F0502020204030203" pitchFamily="34" charset="0"/>
                <a:ea typeface="+mn-ea"/>
                <a:cs typeface="+mn-cs"/>
              </a:endParaRPr>
            </a:p>
          </p:txBody>
        </p:sp>
        <p:sp>
          <p:nvSpPr>
            <p:cNvPr id="48" name="Rectangle 47">
              <a:extLst>
                <a:ext uri="{FF2B5EF4-FFF2-40B4-BE49-F238E27FC236}">
                  <a16:creationId xmlns:a16="http://schemas.microsoft.com/office/drawing/2014/main" id="{3BF57879-FE85-2D3A-11B2-7A7C2F661E96}"/>
                </a:ext>
              </a:extLst>
            </p:cNvPr>
            <p:cNvSpPr/>
            <p:nvPr/>
          </p:nvSpPr>
          <p:spPr>
            <a:xfrm>
              <a:off x="9766747" y="1152721"/>
              <a:ext cx="1508760" cy="447042"/>
            </a:xfrm>
            <a:prstGeom prst="rect">
              <a:avLst/>
            </a:prstGeom>
            <a:solidFill>
              <a:srgbClr val="737572">
                <a:lumMod val="20000"/>
                <a:lumOff val="80000"/>
              </a:srgbClr>
            </a:solidFill>
            <a:ln w="12700" cap="flat" cmpd="sng" algn="ctr">
              <a:noFill/>
              <a:prstDash val="solid"/>
              <a:miter lim="800000"/>
            </a:ln>
            <a:effectLst/>
          </p:spPr>
          <p:txBody>
            <a:bodyPr rtlCol="0" anchor="ctr"/>
            <a:lstStyle/>
            <a:p>
              <a:pPr marL="0" marR="0" lvl="0" indent="0" algn="ctr" defTabSz="91421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Lato Light" panose="020F0502020204030203" pitchFamily="34" charset="0"/>
                <a:ea typeface="+mn-ea"/>
                <a:cs typeface="+mn-cs"/>
              </a:endParaRPr>
            </a:p>
          </p:txBody>
        </p:sp>
        <p:sp>
          <p:nvSpPr>
            <p:cNvPr id="49" name="Oval 48">
              <a:extLst>
                <a:ext uri="{FF2B5EF4-FFF2-40B4-BE49-F238E27FC236}">
                  <a16:creationId xmlns:a16="http://schemas.microsoft.com/office/drawing/2014/main" id="{7F71B13C-56ED-24BE-58AC-363949474EA2}"/>
                </a:ext>
              </a:extLst>
            </p:cNvPr>
            <p:cNvSpPr/>
            <p:nvPr/>
          </p:nvSpPr>
          <p:spPr>
            <a:xfrm>
              <a:off x="8234206" y="1233747"/>
              <a:ext cx="284988" cy="284989"/>
            </a:xfrm>
            <a:prstGeom prst="ellipse">
              <a:avLst/>
            </a:prstGeom>
            <a:solidFill>
              <a:srgbClr val="229DCE"/>
            </a:solidFill>
            <a:ln w="12700" cap="flat" cmpd="sng" algn="ctr">
              <a:noFill/>
              <a:prstDash val="solid"/>
              <a:miter lim="800000"/>
            </a:ln>
            <a:effectLst/>
          </p:spPr>
          <p:txBody>
            <a:bodyPr rtlCol="0" anchor="ctr"/>
            <a:lstStyle/>
            <a:p>
              <a:pPr marL="0" marR="0" lvl="0" indent="0" algn="ctr" defTabSz="91421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Lato Light" panose="020F0502020204030203" pitchFamily="34" charset="0"/>
                <a:ea typeface="+mn-ea"/>
                <a:cs typeface="+mn-cs"/>
              </a:endParaRPr>
            </a:p>
          </p:txBody>
        </p:sp>
        <p:sp>
          <p:nvSpPr>
            <p:cNvPr id="50" name="Oval 49">
              <a:extLst>
                <a:ext uri="{FF2B5EF4-FFF2-40B4-BE49-F238E27FC236}">
                  <a16:creationId xmlns:a16="http://schemas.microsoft.com/office/drawing/2014/main" id="{8355313F-BC50-5F1B-BA75-9D10AA6D9508}"/>
                </a:ext>
              </a:extLst>
            </p:cNvPr>
            <p:cNvSpPr/>
            <p:nvPr/>
          </p:nvSpPr>
          <p:spPr>
            <a:xfrm>
              <a:off x="9849270" y="1233747"/>
              <a:ext cx="284988" cy="284989"/>
            </a:xfrm>
            <a:prstGeom prst="ellipse">
              <a:avLst/>
            </a:prstGeom>
            <a:solidFill>
              <a:srgbClr val="37A7B6"/>
            </a:solidFill>
            <a:ln w="12700" cap="flat" cmpd="sng" algn="ctr">
              <a:noFill/>
              <a:prstDash val="solid"/>
              <a:miter lim="800000"/>
            </a:ln>
            <a:effectLst/>
          </p:spPr>
          <p:txBody>
            <a:bodyPr rtlCol="0" anchor="ctr"/>
            <a:lstStyle/>
            <a:p>
              <a:pPr marL="0" marR="0" lvl="0" indent="0" algn="ctr" defTabSz="91421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FFFF"/>
                </a:solidFill>
                <a:effectLst/>
                <a:uLnTx/>
                <a:uFillTx/>
                <a:latin typeface="Lato Light" panose="020F0502020204030203" pitchFamily="34" charset="0"/>
                <a:ea typeface="+mn-ea"/>
                <a:cs typeface="+mn-cs"/>
              </a:endParaRPr>
            </a:p>
          </p:txBody>
        </p:sp>
        <p:sp>
          <p:nvSpPr>
            <p:cNvPr id="57" name="TextBox 56">
              <a:extLst>
                <a:ext uri="{FF2B5EF4-FFF2-40B4-BE49-F238E27FC236}">
                  <a16:creationId xmlns:a16="http://schemas.microsoft.com/office/drawing/2014/main" id="{1C8A09B8-2A52-D7EF-A672-D733A62FE955}"/>
                </a:ext>
              </a:extLst>
            </p:cNvPr>
            <p:cNvSpPr txBox="1"/>
            <p:nvPr/>
          </p:nvSpPr>
          <p:spPr>
            <a:xfrm>
              <a:off x="8555839" y="1184502"/>
              <a:ext cx="696024" cy="200055"/>
            </a:xfrm>
            <a:prstGeom prst="rect">
              <a:avLst/>
            </a:prstGeom>
            <a:noFill/>
          </p:spPr>
          <p:txBody>
            <a:bodyPr wrap="none" rtlCol="0" anchor="ctr" anchorCtr="0">
              <a:spAutoFit/>
            </a:bodyPr>
            <a:lstStyle/>
            <a:p>
              <a:pPr defTabSz="914217"/>
              <a:r>
                <a:rPr lang="en-US" sz="700" b="1" dirty="0">
                  <a:solidFill>
                    <a:srgbClr val="445469"/>
                  </a:solidFill>
                  <a:latin typeface="Poppins" pitchFamily="2" charset="77"/>
                  <a:ea typeface="League Spartan" charset="0"/>
                  <a:cs typeface="Poppins" pitchFamily="2" charset="77"/>
                </a:rPr>
                <a:t>EMPLOYEES</a:t>
              </a:r>
            </a:p>
          </p:txBody>
        </p:sp>
        <p:sp>
          <p:nvSpPr>
            <p:cNvPr id="58" name="TextBox 57">
              <a:extLst>
                <a:ext uri="{FF2B5EF4-FFF2-40B4-BE49-F238E27FC236}">
                  <a16:creationId xmlns:a16="http://schemas.microsoft.com/office/drawing/2014/main" id="{E7378A6F-58AC-878B-F22C-EB6123A49DC6}"/>
                </a:ext>
              </a:extLst>
            </p:cNvPr>
            <p:cNvSpPr txBox="1"/>
            <p:nvPr/>
          </p:nvSpPr>
          <p:spPr>
            <a:xfrm>
              <a:off x="10170903" y="1184502"/>
              <a:ext cx="375744" cy="200055"/>
            </a:xfrm>
            <a:prstGeom prst="rect">
              <a:avLst/>
            </a:prstGeom>
            <a:noFill/>
          </p:spPr>
          <p:txBody>
            <a:bodyPr wrap="none" lIns="45720" rtlCol="0" anchor="ctr" anchorCtr="0">
              <a:spAutoFit/>
            </a:bodyPr>
            <a:lstStyle/>
            <a:p>
              <a:pPr defTabSz="914217"/>
              <a:r>
                <a:rPr lang="en-US" sz="700" b="1" dirty="0">
                  <a:solidFill>
                    <a:srgbClr val="445469"/>
                  </a:solidFill>
                  <a:latin typeface="Poppins" pitchFamily="2" charset="77"/>
                  <a:ea typeface="League Spartan" charset="0"/>
                  <a:cs typeface="Poppins" pitchFamily="2" charset="77"/>
                </a:rPr>
                <a:t>SITES</a:t>
              </a:r>
            </a:p>
          </p:txBody>
        </p:sp>
        <p:sp>
          <p:nvSpPr>
            <p:cNvPr id="59" name="TextBox 58">
              <a:extLst>
                <a:ext uri="{FF2B5EF4-FFF2-40B4-BE49-F238E27FC236}">
                  <a16:creationId xmlns:a16="http://schemas.microsoft.com/office/drawing/2014/main" id="{6F4F9EFC-7683-5E64-0690-FC1EAD9983A1}"/>
                </a:ext>
              </a:extLst>
            </p:cNvPr>
            <p:cNvSpPr txBox="1"/>
            <p:nvPr/>
          </p:nvSpPr>
          <p:spPr>
            <a:xfrm>
              <a:off x="8556204" y="1293148"/>
              <a:ext cx="482824" cy="307777"/>
            </a:xfrm>
            <a:prstGeom prst="rect">
              <a:avLst/>
            </a:prstGeom>
            <a:noFill/>
          </p:spPr>
          <p:txBody>
            <a:bodyPr wrap="none" rtlCol="0" anchor="ctr" anchorCtr="0">
              <a:spAutoFit/>
            </a:bodyPr>
            <a:lstStyle/>
            <a:p>
              <a:pPr defTabSz="914217"/>
              <a:r>
                <a:rPr lang="en-US" sz="1400" b="1" dirty="0">
                  <a:solidFill>
                    <a:srgbClr val="229DCE"/>
                  </a:solidFill>
                  <a:latin typeface="Poppins" pitchFamily="2" charset="77"/>
                  <a:ea typeface="League Spartan" charset="0"/>
                  <a:cs typeface="Poppins" pitchFamily="2" charset="77"/>
                </a:rPr>
                <a:t>615</a:t>
              </a:r>
            </a:p>
          </p:txBody>
        </p:sp>
        <p:sp>
          <p:nvSpPr>
            <p:cNvPr id="60" name="TextBox 59">
              <a:extLst>
                <a:ext uri="{FF2B5EF4-FFF2-40B4-BE49-F238E27FC236}">
                  <a16:creationId xmlns:a16="http://schemas.microsoft.com/office/drawing/2014/main" id="{9EAA1B56-C70A-4BEC-7EF3-6B1F0B958E32}"/>
                </a:ext>
              </a:extLst>
            </p:cNvPr>
            <p:cNvSpPr txBox="1"/>
            <p:nvPr/>
          </p:nvSpPr>
          <p:spPr>
            <a:xfrm>
              <a:off x="10170105" y="1293148"/>
              <a:ext cx="404278" cy="307777"/>
            </a:xfrm>
            <a:prstGeom prst="rect">
              <a:avLst/>
            </a:prstGeom>
            <a:noFill/>
          </p:spPr>
          <p:txBody>
            <a:bodyPr wrap="none" rtlCol="0" anchor="ctr" anchorCtr="0">
              <a:spAutoFit/>
            </a:bodyPr>
            <a:lstStyle/>
            <a:p>
              <a:pPr defTabSz="914217"/>
              <a:r>
                <a:rPr lang="en-US" sz="1400" b="1" dirty="0">
                  <a:solidFill>
                    <a:srgbClr val="37A7B6"/>
                  </a:solidFill>
                  <a:latin typeface="Poppins" pitchFamily="2" charset="77"/>
                  <a:ea typeface="League Spartan" charset="0"/>
                  <a:cs typeface="Poppins" pitchFamily="2" charset="77"/>
                </a:rPr>
                <a:t>39</a:t>
              </a:r>
            </a:p>
          </p:txBody>
        </p:sp>
        <p:sp>
          <p:nvSpPr>
            <p:cNvPr id="64" name="Freeform 1047">
              <a:extLst>
                <a:ext uri="{FF2B5EF4-FFF2-40B4-BE49-F238E27FC236}">
                  <a16:creationId xmlns:a16="http://schemas.microsoft.com/office/drawing/2014/main" id="{5C0AA6D2-C583-C0B7-4025-344EE141059F}"/>
                </a:ext>
              </a:extLst>
            </p:cNvPr>
            <p:cNvSpPr>
              <a:spLocks noChangeAspect="1" noChangeArrowheads="1"/>
            </p:cNvSpPr>
            <p:nvPr/>
          </p:nvSpPr>
          <p:spPr bwMode="auto">
            <a:xfrm>
              <a:off x="8286560" y="1278782"/>
              <a:ext cx="181729" cy="180622"/>
            </a:xfrm>
            <a:custGeom>
              <a:avLst/>
              <a:gdLst>
                <a:gd name="T0" fmla="*/ 757768 w 286977"/>
                <a:gd name="T1" fmla="*/ 831883 h 285393"/>
                <a:gd name="T2" fmla="*/ 741955 w 286977"/>
                <a:gd name="T3" fmla="*/ 946958 h 285393"/>
                <a:gd name="T4" fmla="*/ 727364 w 286977"/>
                <a:gd name="T5" fmla="*/ 831883 h 285393"/>
                <a:gd name="T6" fmla="*/ 208926 w 286977"/>
                <a:gd name="T7" fmla="*/ 816462 h 285393"/>
                <a:gd name="T8" fmla="*/ 225380 w 286977"/>
                <a:gd name="T9" fmla="*/ 932725 h 285393"/>
                <a:gd name="T10" fmla="*/ 195017 w 286977"/>
                <a:gd name="T11" fmla="*/ 932725 h 285393"/>
                <a:gd name="T12" fmla="*/ 208926 w 286977"/>
                <a:gd name="T13" fmla="*/ 816462 h 285393"/>
                <a:gd name="T14" fmla="*/ 499776 w 286977"/>
                <a:gd name="T15" fmla="*/ 640445 h 285393"/>
                <a:gd name="T16" fmla="*/ 661571 w 286977"/>
                <a:gd name="T17" fmla="*/ 602279 h 285393"/>
                <a:gd name="T18" fmla="*/ 341572 w 286977"/>
                <a:gd name="T19" fmla="*/ 567692 h 285393"/>
                <a:gd name="T20" fmla="*/ 366735 w 286977"/>
                <a:gd name="T21" fmla="*/ 716777 h 285393"/>
                <a:gd name="T22" fmla="*/ 341572 w 286977"/>
                <a:gd name="T23" fmla="*/ 567692 h 285393"/>
                <a:gd name="T24" fmla="*/ 366735 w 286977"/>
                <a:gd name="T25" fmla="*/ 522372 h 285393"/>
                <a:gd name="T26" fmla="*/ 475804 w 286977"/>
                <a:gd name="T27" fmla="*/ 621363 h 285393"/>
                <a:gd name="T28" fmla="*/ 584866 w 286977"/>
                <a:gd name="T29" fmla="*/ 522372 h 285393"/>
                <a:gd name="T30" fmla="*/ 475804 w 286977"/>
                <a:gd name="T31" fmla="*/ 517601 h 285393"/>
                <a:gd name="T32" fmla="*/ 552509 w 286977"/>
                <a:gd name="T33" fmla="*/ 127606 h 285393"/>
                <a:gd name="T34" fmla="*/ 542918 w 286977"/>
                <a:gd name="T35" fmla="*/ 174126 h 285393"/>
                <a:gd name="T36" fmla="*/ 287636 w 286977"/>
                <a:gd name="T37" fmla="*/ 147888 h 285393"/>
                <a:gd name="T38" fmla="*/ 475804 w 286977"/>
                <a:gd name="T39" fmla="*/ 488979 h 285393"/>
                <a:gd name="T40" fmla="*/ 655578 w 286977"/>
                <a:gd name="T41" fmla="*/ 128811 h 285393"/>
                <a:gd name="T42" fmla="*/ 593259 w 286977"/>
                <a:gd name="T43" fmla="*/ 152661 h 285393"/>
                <a:gd name="T44" fmla="*/ 475804 w 286977"/>
                <a:gd name="T45" fmla="*/ 29810 h 285393"/>
                <a:gd name="T46" fmla="*/ 523743 w 286977"/>
                <a:gd name="T47" fmla="*/ 149074 h 285393"/>
                <a:gd name="T48" fmla="*/ 530935 w 286977"/>
                <a:gd name="T49" fmla="*/ 89448 h 285393"/>
                <a:gd name="T50" fmla="*/ 602845 w 286977"/>
                <a:gd name="T51" fmla="*/ 124035 h 285393"/>
                <a:gd name="T52" fmla="*/ 475804 w 286977"/>
                <a:gd name="T53" fmla="*/ 29810 h 285393"/>
                <a:gd name="T54" fmla="*/ 709510 w 286977"/>
                <a:gd name="T55" fmla="*/ 238524 h 285393"/>
                <a:gd name="T56" fmla="*/ 613626 w 286977"/>
                <a:gd name="T57" fmla="*/ 514027 h 285393"/>
                <a:gd name="T58" fmla="*/ 812586 w 286977"/>
                <a:gd name="T59" fmla="*/ 601085 h 285393"/>
                <a:gd name="T60" fmla="*/ 952803 w 286977"/>
                <a:gd name="T61" fmla="*/ 932641 h 285393"/>
                <a:gd name="T62" fmla="*/ 922847 w 286977"/>
                <a:gd name="T63" fmla="*/ 932641 h 285393"/>
                <a:gd name="T64" fmla="*/ 806591 w 286977"/>
                <a:gd name="T65" fmla="*/ 629711 h 285393"/>
                <a:gd name="T66" fmla="*/ 599252 w 286977"/>
                <a:gd name="T67" fmla="*/ 745396 h 285393"/>
                <a:gd name="T68" fmla="*/ 588464 w 286977"/>
                <a:gd name="T69" fmla="*/ 751360 h 285393"/>
                <a:gd name="T70" fmla="*/ 490183 w 286977"/>
                <a:gd name="T71" fmla="*/ 670262 h 285393"/>
                <a:gd name="T72" fmla="*/ 475804 w 286977"/>
                <a:gd name="T73" fmla="*/ 946951 h 285393"/>
                <a:gd name="T74" fmla="*/ 461417 w 286977"/>
                <a:gd name="T75" fmla="*/ 670262 h 285393"/>
                <a:gd name="T76" fmla="*/ 363146 w 286977"/>
                <a:gd name="T77" fmla="*/ 751360 h 285393"/>
                <a:gd name="T78" fmla="*/ 351158 w 286977"/>
                <a:gd name="T79" fmla="*/ 745396 h 285393"/>
                <a:gd name="T80" fmla="*/ 145017 w 286977"/>
                <a:gd name="T81" fmla="*/ 629711 h 285393"/>
                <a:gd name="T82" fmla="*/ 28764 w 286977"/>
                <a:gd name="T83" fmla="*/ 932641 h 285393"/>
                <a:gd name="T84" fmla="*/ 0 w 286977"/>
                <a:gd name="T85" fmla="*/ 932641 h 285393"/>
                <a:gd name="T86" fmla="*/ 140217 w 286977"/>
                <a:gd name="T87" fmla="*/ 601085 h 285393"/>
                <a:gd name="T88" fmla="*/ 337978 w 286977"/>
                <a:gd name="T89" fmla="*/ 514027 h 285393"/>
                <a:gd name="T90" fmla="*/ 243293 w 286977"/>
                <a:gd name="T91" fmla="*/ 238524 h 28539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286977" h="285393">
                  <a:moveTo>
                    <a:pt x="223471" y="246063"/>
                  </a:moveTo>
                  <a:cubicBezTo>
                    <a:pt x="226036" y="246063"/>
                    <a:pt x="228234" y="248208"/>
                    <a:pt x="228234" y="250711"/>
                  </a:cubicBezTo>
                  <a:lnTo>
                    <a:pt x="228234" y="281102"/>
                  </a:lnTo>
                  <a:cubicBezTo>
                    <a:pt x="228234" y="283247"/>
                    <a:pt x="226036" y="285393"/>
                    <a:pt x="223471" y="285393"/>
                  </a:cubicBezTo>
                  <a:cubicBezTo>
                    <a:pt x="221273" y="285393"/>
                    <a:pt x="219075" y="283247"/>
                    <a:pt x="219075" y="281102"/>
                  </a:cubicBezTo>
                  <a:lnTo>
                    <a:pt x="219075" y="250711"/>
                  </a:lnTo>
                  <a:cubicBezTo>
                    <a:pt x="219075" y="248208"/>
                    <a:pt x="221273" y="246063"/>
                    <a:pt x="223471" y="246063"/>
                  </a:cubicBezTo>
                  <a:close/>
                  <a:moveTo>
                    <a:pt x="62929" y="246063"/>
                  </a:moveTo>
                  <a:cubicBezTo>
                    <a:pt x="65596" y="246063"/>
                    <a:pt x="67882" y="248208"/>
                    <a:pt x="67882" y="250711"/>
                  </a:cubicBezTo>
                  <a:lnTo>
                    <a:pt x="67882" y="281102"/>
                  </a:lnTo>
                  <a:cubicBezTo>
                    <a:pt x="67882" y="283247"/>
                    <a:pt x="65596" y="285393"/>
                    <a:pt x="62929" y="285393"/>
                  </a:cubicBezTo>
                  <a:cubicBezTo>
                    <a:pt x="61024" y="285393"/>
                    <a:pt x="58738" y="283247"/>
                    <a:pt x="58738" y="281102"/>
                  </a:cubicBezTo>
                  <a:lnTo>
                    <a:pt x="58738" y="250711"/>
                  </a:lnTo>
                  <a:cubicBezTo>
                    <a:pt x="58738" y="248208"/>
                    <a:pt x="61024" y="246063"/>
                    <a:pt x="62929" y="246063"/>
                  </a:cubicBezTo>
                  <a:close/>
                  <a:moveTo>
                    <a:pt x="183376" y="171090"/>
                  </a:moveTo>
                  <a:lnTo>
                    <a:pt x="150528" y="193016"/>
                  </a:lnTo>
                  <a:lnTo>
                    <a:pt x="176518" y="216020"/>
                  </a:lnTo>
                  <a:lnTo>
                    <a:pt x="199259" y="181514"/>
                  </a:lnTo>
                  <a:cubicBezTo>
                    <a:pt x="193123" y="180076"/>
                    <a:pt x="188069" y="176122"/>
                    <a:pt x="183376" y="171090"/>
                  </a:cubicBezTo>
                  <a:close/>
                  <a:moveTo>
                    <a:pt x="102878" y="171090"/>
                  </a:moveTo>
                  <a:cubicBezTo>
                    <a:pt x="98908" y="176122"/>
                    <a:pt x="93132" y="180076"/>
                    <a:pt x="86995" y="181514"/>
                  </a:cubicBezTo>
                  <a:lnTo>
                    <a:pt x="110459" y="216020"/>
                  </a:lnTo>
                  <a:lnTo>
                    <a:pt x="136088" y="193016"/>
                  </a:lnTo>
                  <a:lnTo>
                    <a:pt x="102878" y="171090"/>
                  </a:lnTo>
                  <a:close/>
                  <a:moveTo>
                    <a:pt x="112986" y="147368"/>
                  </a:moveTo>
                  <a:lnTo>
                    <a:pt x="110459" y="157432"/>
                  </a:lnTo>
                  <a:cubicBezTo>
                    <a:pt x="110098" y="159588"/>
                    <a:pt x="108654" y="161745"/>
                    <a:pt x="107932" y="163902"/>
                  </a:cubicBezTo>
                  <a:lnTo>
                    <a:pt x="143308" y="187265"/>
                  </a:lnTo>
                  <a:lnTo>
                    <a:pt x="179045" y="163902"/>
                  </a:lnTo>
                  <a:cubicBezTo>
                    <a:pt x="177601" y="161745"/>
                    <a:pt x="176879" y="159588"/>
                    <a:pt x="176157" y="157432"/>
                  </a:cubicBezTo>
                  <a:lnTo>
                    <a:pt x="173630" y="147368"/>
                  </a:lnTo>
                  <a:cubicBezTo>
                    <a:pt x="164245" y="152759"/>
                    <a:pt x="154137" y="155994"/>
                    <a:pt x="143308" y="155994"/>
                  </a:cubicBezTo>
                  <a:cubicBezTo>
                    <a:pt x="132479" y="155994"/>
                    <a:pt x="122371" y="152759"/>
                    <a:pt x="112986" y="147368"/>
                  </a:cubicBezTo>
                  <a:close/>
                  <a:moveTo>
                    <a:pt x="166411" y="38459"/>
                  </a:moveTo>
                  <a:lnTo>
                    <a:pt x="166411" y="48164"/>
                  </a:lnTo>
                  <a:cubicBezTo>
                    <a:pt x="166411" y="50321"/>
                    <a:pt x="164967" y="52118"/>
                    <a:pt x="163523" y="52477"/>
                  </a:cubicBezTo>
                  <a:cubicBezTo>
                    <a:pt x="151249" y="56071"/>
                    <a:pt x="140420" y="57509"/>
                    <a:pt x="130674" y="57509"/>
                  </a:cubicBezTo>
                  <a:cubicBezTo>
                    <a:pt x="108654" y="57509"/>
                    <a:pt x="93493" y="49961"/>
                    <a:pt x="86635" y="44570"/>
                  </a:cubicBezTo>
                  <a:cubicBezTo>
                    <a:pt x="83386" y="52837"/>
                    <a:pt x="81942" y="61822"/>
                    <a:pt x="81942" y="71887"/>
                  </a:cubicBezTo>
                  <a:cubicBezTo>
                    <a:pt x="81942" y="113221"/>
                    <a:pt x="109376" y="147368"/>
                    <a:pt x="143308" y="147368"/>
                  </a:cubicBezTo>
                  <a:cubicBezTo>
                    <a:pt x="177240" y="147368"/>
                    <a:pt x="205035" y="113221"/>
                    <a:pt x="205035" y="71887"/>
                  </a:cubicBezTo>
                  <a:cubicBezTo>
                    <a:pt x="205035" y="59306"/>
                    <a:pt x="202147" y="48164"/>
                    <a:pt x="197455" y="38819"/>
                  </a:cubicBezTo>
                  <a:cubicBezTo>
                    <a:pt x="191318" y="43132"/>
                    <a:pt x="182654" y="46007"/>
                    <a:pt x="182294" y="46367"/>
                  </a:cubicBezTo>
                  <a:cubicBezTo>
                    <a:pt x="180850" y="46726"/>
                    <a:pt x="179767" y="46367"/>
                    <a:pt x="178684" y="46007"/>
                  </a:cubicBezTo>
                  <a:lnTo>
                    <a:pt x="166411" y="38459"/>
                  </a:lnTo>
                  <a:close/>
                  <a:moveTo>
                    <a:pt x="143308" y="8986"/>
                  </a:moveTo>
                  <a:cubicBezTo>
                    <a:pt x="118761" y="8986"/>
                    <a:pt x="100713" y="19050"/>
                    <a:pt x="89883" y="37021"/>
                  </a:cubicBezTo>
                  <a:cubicBezTo>
                    <a:pt x="97825" y="42054"/>
                    <a:pt x="120927" y="55712"/>
                    <a:pt x="157747" y="44929"/>
                  </a:cubicBezTo>
                  <a:lnTo>
                    <a:pt x="157747" y="30911"/>
                  </a:lnTo>
                  <a:cubicBezTo>
                    <a:pt x="157747" y="29114"/>
                    <a:pt x="158469" y="27676"/>
                    <a:pt x="159913" y="26957"/>
                  </a:cubicBezTo>
                  <a:cubicBezTo>
                    <a:pt x="161357" y="26238"/>
                    <a:pt x="163162" y="26238"/>
                    <a:pt x="164245" y="26957"/>
                  </a:cubicBezTo>
                  <a:lnTo>
                    <a:pt x="181572" y="37381"/>
                  </a:lnTo>
                  <a:cubicBezTo>
                    <a:pt x="184459" y="35943"/>
                    <a:pt x="189152" y="34146"/>
                    <a:pt x="192762" y="31630"/>
                  </a:cubicBezTo>
                  <a:cubicBezTo>
                    <a:pt x="182654" y="16893"/>
                    <a:pt x="164967" y="8986"/>
                    <a:pt x="143308" y="8986"/>
                  </a:cubicBezTo>
                  <a:close/>
                  <a:moveTo>
                    <a:pt x="143308" y="0"/>
                  </a:moveTo>
                  <a:cubicBezTo>
                    <a:pt x="185542" y="0"/>
                    <a:pt x="213699" y="28754"/>
                    <a:pt x="213699" y="71887"/>
                  </a:cubicBezTo>
                  <a:cubicBezTo>
                    <a:pt x="213699" y="101001"/>
                    <a:pt x="200703" y="127239"/>
                    <a:pt x="181572" y="142336"/>
                  </a:cubicBezTo>
                  <a:lnTo>
                    <a:pt x="184820" y="154916"/>
                  </a:lnTo>
                  <a:cubicBezTo>
                    <a:pt x="186986" y="164980"/>
                    <a:pt x="195650" y="173247"/>
                    <a:pt x="206118" y="174685"/>
                  </a:cubicBezTo>
                  <a:lnTo>
                    <a:pt x="244743" y="181154"/>
                  </a:lnTo>
                  <a:cubicBezTo>
                    <a:pt x="268928" y="185468"/>
                    <a:pt x="286977" y="206674"/>
                    <a:pt x="286977" y="230756"/>
                  </a:cubicBezTo>
                  <a:lnTo>
                    <a:pt x="286977" y="281078"/>
                  </a:lnTo>
                  <a:cubicBezTo>
                    <a:pt x="286977" y="283234"/>
                    <a:pt x="284811" y="285391"/>
                    <a:pt x="282284" y="285391"/>
                  </a:cubicBezTo>
                  <a:cubicBezTo>
                    <a:pt x="279758" y="285391"/>
                    <a:pt x="277953" y="283234"/>
                    <a:pt x="277953" y="281078"/>
                  </a:cubicBezTo>
                  <a:lnTo>
                    <a:pt x="277953" y="230756"/>
                  </a:lnTo>
                  <a:cubicBezTo>
                    <a:pt x="277953" y="210628"/>
                    <a:pt x="263153" y="193375"/>
                    <a:pt x="242938" y="189781"/>
                  </a:cubicBezTo>
                  <a:lnTo>
                    <a:pt x="208645" y="184030"/>
                  </a:lnTo>
                  <a:lnTo>
                    <a:pt x="180489" y="224646"/>
                  </a:lnTo>
                  <a:cubicBezTo>
                    <a:pt x="180128" y="225724"/>
                    <a:pt x="179045" y="226443"/>
                    <a:pt x="177601" y="226443"/>
                  </a:cubicBezTo>
                  <a:cubicBezTo>
                    <a:pt x="177240" y="226443"/>
                    <a:pt x="177240" y="226443"/>
                    <a:pt x="177240" y="226443"/>
                  </a:cubicBezTo>
                  <a:cubicBezTo>
                    <a:pt x="176157" y="226443"/>
                    <a:pt x="175435" y="226443"/>
                    <a:pt x="174352" y="225724"/>
                  </a:cubicBezTo>
                  <a:lnTo>
                    <a:pt x="147640" y="202002"/>
                  </a:lnTo>
                  <a:lnTo>
                    <a:pt x="147640" y="281078"/>
                  </a:lnTo>
                  <a:cubicBezTo>
                    <a:pt x="147640" y="283234"/>
                    <a:pt x="145835" y="285391"/>
                    <a:pt x="143308" y="285391"/>
                  </a:cubicBezTo>
                  <a:cubicBezTo>
                    <a:pt x="141142" y="285391"/>
                    <a:pt x="138976" y="283234"/>
                    <a:pt x="138976" y="281078"/>
                  </a:cubicBezTo>
                  <a:lnTo>
                    <a:pt x="138976" y="202002"/>
                  </a:lnTo>
                  <a:lnTo>
                    <a:pt x="112264" y="225724"/>
                  </a:lnTo>
                  <a:cubicBezTo>
                    <a:pt x="111542" y="226443"/>
                    <a:pt x="110459" y="226443"/>
                    <a:pt x="109376" y="226443"/>
                  </a:cubicBezTo>
                  <a:cubicBezTo>
                    <a:pt x="109015" y="226443"/>
                    <a:pt x="109015" y="226443"/>
                    <a:pt x="108654" y="226443"/>
                  </a:cubicBezTo>
                  <a:cubicBezTo>
                    <a:pt x="107571" y="226443"/>
                    <a:pt x="106127" y="225724"/>
                    <a:pt x="105766" y="224646"/>
                  </a:cubicBezTo>
                  <a:lnTo>
                    <a:pt x="77610" y="184030"/>
                  </a:lnTo>
                  <a:lnTo>
                    <a:pt x="43678" y="189781"/>
                  </a:lnTo>
                  <a:cubicBezTo>
                    <a:pt x="23463" y="193375"/>
                    <a:pt x="8663" y="210628"/>
                    <a:pt x="8663" y="230756"/>
                  </a:cubicBezTo>
                  <a:lnTo>
                    <a:pt x="8663" y="281078"/>
                  </a:lnTo>
                  <a:cubicBezTo>
                    <a:pt x="8663" y="283234"/>
                    <a:pt x="6859" y="285391"/>
                    <a:pt x="4693" y="285391"/>
                  </a:cubicBezTo>
                  <a:cubicBezTo>
                    <a:pt x="2166" y="285391"/>
                    <a:pt x="0" y="283234"/>
                    <a:pt x="0" y="281078"/>
                  </a:cubicBezTo>
                  <a:lnTo>
                    <a:pt x="0" y="230756"/>
                  </a:lnTo>
                  <a:cubicBezTo>
                    <a:pt x="0" y="206674"/>
                    <a:pt x="17688" y="185468"/>
                    <a:pt x="42234" y="181154"/>
                  </a:cubicBezTo>
                  <a:lnTo>
                    <a:pt x="80498" y="174685"/>
                  </a:lnTo>
                  <a:cubicBezTo>
                    <a:pt x="90605" y="173247"/>
                    <a:pt x="99269" y="164980"/>
                    <a:pt x="101796" y="154916"/>
                  </a:cubicBezTo>
                  <a:lnTo>
                    <a:pt x="105044" y="142336"/>
                  </a:lnTo>
                  <a:cubicBezTo>
                    <a:pt x="85913" y="127239"/>
                    <a:pt x="73278" y="101001"/>
                    <a:pt x="73278" y="71887"/>
                  </a:cubicBezTo>
                  <a:cubicBezTo>
                    <a:pt x="73278" y="28754"/>
                    <a:pt x="101435" y="0"/>
                    <a:pt x="143308" y="0"/>
                  </a:cubicBezTo>
                  <a:close/>
                </a:path>
              </a:pathLst>
            </a:custGeom>
            <a:solidFill>
              <a:schemeClr val="bg1"/>
            </a:solidFill>
            <a:ln w="3175" cap="flat">
              <a:noFill/>
              <a:bevel/>
              <a:headEnd/>
              <a:tailEnd/>
            </a:ln>
            <a:effectLst/>
          </p:spPr>
          <p:txBody>
            <a:bodyPr anchor="ctr"/>
            <a:lstStyle/>
            <a:p>
              <a:endParaRPr lang="en-US" dirty="0">
                <a:solidFill>
                  <a:schemeClr val="bg1"/>
                </a:solidFill>
                <a:latin typeface="Lato Light" panose="020F0502020204030203" pitchFamily="34" charset="0"/>
              </a:endParaRPr>
            </a:p>
          </p:txBody>
        </p:sp>
        <p:sp>
          <p:nvSpPr>
            <p:cNvPr id="66" name="Freeform 1013">
              <a:extLst>
                <a:ext uri="{FF2B5EF4-FFF2-40B4-BE49-F238E27FC236}">
                  <a16:creationId xmlns:a16="http://schemas.microsoft.com/office/drawing/2014/main" id="{D310831C-4D13-142E-6997-0DFC49E6E8EF}"/>
                </a:ext>
              </a:extLst>
            </p:cNvPr>
            <p:cNvSpPr>
              <a:spLocks noChangeAspect="1" noChangeArrowheads="1"/>
            </p:cNvSpPr>
            <p:nvPr/>
          </p:nvSpPr>
          <p:spPr bwMode="auto">
            <a:xfrm>
              <a:off x="9887099" y="1261782"/>
              <a:ext cx="209879" cy="209879"/>
            </a:xfrm>
            <a:custGeom>
              <a:avLst/>
              <a:gdLst>
                <a:gd name="T0" fmla="*/ 764868 w 290152"/>
                <a:gd name="T1" fmla="*/ 869894 h 290151"/>
                <a:gd name="T2" fmla="*/ 633820 w 290152"/>
                <a:gd name="T3" fmla="*/ 740029 h 290151"/>
                <a:gd name="T4" fmla="*/ 398583 w 290152"/>
                <a:gd name="T5" fmla="*/ 555759 h 290151"/>
                <a:gd name="T6" fmla="*/ 594568 w 290152"/>
                <a:gd name="T7" fmla="*/ 613036 h 290151"/>
                <a:gd name="T8" fmla="*/ 479842 w 290152"/>
                <a:gd name="T9" fmla="*/ 397060 h 290151"/>
                <a:gd name="T10" fmla="*/ 479842 w 290152"/>
                <a:gd name="T11" fmla="*/ 397060 h 290151"/>
                <a:gd name="T12" fmla="*/ 568275 w 290152"/>
                <a:gd name="T13" fmla="*/ 547407 h 290151"/>
                <a:gd name="T14" fmla="*/ 683006 w 290152"/>
                <a:gd name="T15" fmla="*/ 307568 h 290151"/>
                <a:gd name="T16" fmla="*/ 663880 w 290152"/>
                <a:gd name="T17" fmla="*/ 286086 h 290151"/>
                <a:gd name="T18" fmla="*/ 255177 w 290152"/>
                <a:gd name="T19" fmla="*/ 622582 h 290151"/>
                <a:gd name="T20" fmla="*/ 465503 w 290152"/>
                <a:gd name="T21" fmla="*/ 213299 h 290151"/>
                <a:gd name="T22" fmla="*/ 899307 w 290152"/>
                <a:gd name="T23" fmla="*/ 603489 h 290151"/>
                <a:gd name="T24" fmla="*/ 571864 w 290152"/>
                <a:gd name="T25" fmla="*/ 751453 h 290151"/>
                <a:gd name="T26" fmla="*/ 957864 w 290152"/>
                <a:gd name="T27" fmla="*/ 780088 h 290151"/>
                <a:gd name="T28" fmla="*/ 184660 w 290152"/>
                <a:gd name="T29" fmla="*/ 479395 h 290151"/>
                <a:gd name="T30" fmla="*/ 555330 w 290152"/>
                <a:gd name="T31" fmla="*/ 38373 h 290151"/>
                <a:gd name="T32" fmla="*/ 664480 w 290152"/>
                <a:gd name="T33" fmla="*/ 43176 h 290151"/>
                <a:gd name="T34" fmla="*/ 767626 w 290152"/>
                <a:gd name="T35" fmla="*/ 134333 h 290151"/>
                <a:gd name="T36" fmla="*/ 859984 w 290152"/>
                <a:gd name="T37" fmla="*/ 193107 h 290151"/>
                <a:gd name="T38" fmla="*/ 859984 w 290152"/>
                <a:gd name="T39" fmla="*/ 349033 h 290151"/>
                <a:gd name="T40" fmla="*/ 964330 w 290152"/>
                <a:gd name="T41" fmla="*/ 516956 h 290151"/>
                <a:gd name="T42" fmla="*/ 883974 w 290152"/>
                <a:gd name="T43" fmla="*/ 526549 h 290151"/>
                <a:gd name="T44" fmla="*/ 925950 w 290152"/>
                <a:gd name="T45" fmla="*/ 437792 h 290151"/>
                <a:gd name="T46" fmla="*/ 834800 w 290152"/>
                <a:gd name="T47" fmla="*/ 329842 h 290151"/>
                <a:gd name="T48" fmla="*/ 851588 w 290152"/>
                <a:gd name="T49" fmla="*/ 221889 h 290151"/>
                <a:gd name="T50" fmla="*/ 714858 w 290152"/>
                <a:gd name="T51" fmla="*/ 191906 h 290151"/>
                <a:gd name="T52" fmla="*/ 738846 w 290152"/>
                <a:gd name="T53" fmla="*/ 106745 h 290151"/>
                <a:gd name="T54" fmla="*/ 634494 w 290152"/>
                <a:gd name="T55" fmla="*/ 129541 h 290151"/>
                <a:gd name="T56" fmla="*/ 526549 w 290152"/>
                <a:gd name="T57" fmla="*/ 38373 h 290151"/>
                <a:gd name="T58" fmla="*/ 437782 w 290152"/>
                <a:gd name="T59" fmla="*/ 100754 h 290151"/>
                <a:gd name="T60" fmla="*/ 298654 w 290152"/>
                <a:gd name="T61" fmla="*/ 75554 h 290151"/>
                <a:gd name="T62" fmla="*/ 221888 w 290152"/>
                <a:gd name="T63" fmla="*/ 118746 h 290151"/>
                <a:gd name="T64" fmla="*/ 173910 w 290152"/>
                <a:gd name="T65" fmla="*/ 253078 h 290151"/>
                <a:gd name="T66" fmla="*/ 73156 w 290152"/>
                <a:gd name="T67" fmla="*/ 285463 h 290151"/>
                <a:gd name="T68" fmla="*/ 116352 w 290152"/>
                <a:gd name="T69" fmla="*/ 425796 h 290151"/>
                <a:gd name="T70" fmla="*/ 28789 w 290152"/>
                <a:gd name="T71" fmla="*/ 516956 h 290151"/>
                <a:gd name="T72" fmla="*/ 136729 w 290152"/>
                <a:gd name="T73" fmla="*/ 616506 h 290151"/>
                <a:gd name="T74" fmla="*/ 73156 w 290152"/>
                <a:gd name="T75" fmla="*/ 677681 h 290151"/>
                <a:gd name="T76" fmla="*/ 173910 w 290152"/>
                <a:gd name="T77" fmla="*/ 711267 h 290151"/>
                <a:gd name="T78" fmla="*/ 221888 w 290152"/>
                <a:gd name="T79" fmla="*/ 844400 h 290151"/>
                <a:gd name="T80" fmla="*/ 329840 w 290152"/>
                <a:gd name="T81" fmla="*/ 833606 h 290151"/>
                <a:gd name="T82" fmla="*/ 437782 w 290152"/>
                <a:gd name="T83" fmla="*/ 925961 h 290151"/>
                <a:gd name="T84" fmla="*/ 526549 w 290152"/>
                <a:gd name="T85" fmla="*/ 882782 h 290151"/>
                <a:gd name="T86" fmla="*/ 516952 w 290152"/>
                <a:gd name="T87" fmla="*/ 964341 h 290151"/>
                <a:gd name="T88" fmla="*/ 349029 w 290152"/>
                <a:gd name="T89" fmla="*/ 858792 h 290151"/>
                <a:gd name="T90" fmla="*/ 196708 w 290152"/>
                <a:gd name="T91" fmla="*/ 831207 h 290151"/>
                <a:gd name="T92" fmla="*/ 105556 w 290152"/>
                <a:gd name="T93" fmla="*/ 771236 h 290151"/>
                <a:gd name="T94" fmla="*/ 61171 w 290152"/>
                <a:gd name="T95" fmla="*/ 640496 h 290151"/>
                <a:gd name="T96" fmla="*/ 0 w 290152"/>
                <a:gd name="T97" fmla="*/ 516956 h 290151"/>
                <a:gd name="T98" fmla="*/ 105556 w 290152"/>
                <a:gd name="T99" fmla="*/ 349033 h 290151"/>
                <a:gd name="T100" fmla="*/ 105556 w 290152"/>
                <a:gd name="T101" fmla="*/ 193107 h 290151"/>
                <a:gd name="T102" fmla="*/ 196708 w 290152"/>
                <a:gd name="T103" fmla="*/ 134333 h 290151"/>
                <a:gd name="T104" fmla="*/ 323842 w 290152"/>
                <a:gd name="T105" fmla="*/ 59974 h 290151"/>
                <a:gd name="T106" fmla="*/ 447382 w 290152"/>
                <a:gd name="T107" fmla="*/ 0 h 29015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90152" h="290151">
                  <a:moveTo>
                    <a:pt x="281039" y="198284"/>
                  </a:moveTo>
                  <a:cubicBezTo>
                    <a:pt x="282473" y="196850"/>
                    <a:pt x="285341" y="196850"/>
                    <a:pt x="287133" y="198284"/>
                  </a:cubicBezTo>
                  <a:cubicBezTo>
                    <a:pt x="288567" y="200076"/>
                    <a:pt x="288567" y="202586"/>
                    <a:pt x="287133" y="204378"/>
                  </a:cubicBezTo>
                  <a:lnTo>
                    <a:pt x="230137" y="261733"/>
                  </a:lnTo>
                  <a:cubicBezTo>
                    <a:pt x="229061" y="262450"/>
                    <a:pt x="227986" y="263167"/>
                    <a:pt x="226911" y="263167"/>
                  </a:cubicBezTo>
                  <a:cubicBezTo>
                    <a:pt x="225835" y="263167"/>
                    <a:pt x="224401" y="262450"/>
                    <a:pt x="223684" y="261733"/>
                  </a:cubicBezTo>
                  <a:lnTo>
                    <a:pt x="190706" y="228754"/>
                  </a:lnTo>
                  <a:cubicBezTo>
                    <a:pt x="188913" y="226962"/>
                    <a:pt x="188913" y="224094"/>
                    <a:pt x="190706" y="222660"/>
                  </a:cubicBezTo>
                  <a:cubicBezTo>
                    <a:pt x="192498" y="220868"/>
                    <a:pt x="195366" y="220868"/>
                    <a:pt x="196800" y="222660"/>
                  </a:cubicBezTo>
                  <a:lnTo>
                    <a:pt x="226911" y="252413"/>
                  </a:lnTo>
                  <a:lnTo>
                    <a:pt x="281039" y="198284"/>
                  </a:lnTo>
                  <a:close/>
                  <a:moveTo>
                    <a:pt x="119926" y="167217"/>
                  </a:moveTo>
                  <a:lnTo>
                    <a:pt x="81811" y="194502"/>
                  </a:lnTo>
                  <a:cubicBezTo>
                    <a:pt x="96554" y="212813"/>
                    <a:pt x="119207" y="224302"/>
                    <a:pt x="144377" y="224302"/>
                  </a:cubicBezTo>
                  <a:cubicBezTo>
                    <a:pt x="151209" y="224302"/>
                    <a:pt x="157322" y="223584"/>
                    <a:pt x="163434" y="222148"/>
                  </a:cubicBezTo>
                  <a:cubicBezTo>
                    <a:pt x="164153" y="207787"/>
                    <a:pt x="169907" y="194862"/>
                    <a:pt x="178896" y="184450"/>
                  </a:cubicBezTo>
                  <a:lnTo>
                    <a:pt x="164873" y="170807"/>
                  </a:lnTo>
                  <a:cubicBezTo>
                    <a:pt x="159119" y="175115"/>
                    <a:pt x="152288" y="177629"/>
                    <a:pt x="144377" y="177629"/>
                  </a:cubicBezTo>
                  <a:cubicBezTo>
                    <a:pt x="134669" y="177629"/>
                    <a:pt x="126039" y="173679"/>
                    <a:pt x="119926" y="167217"/>
                  </a:cubicBezTo>
                  <a:close/>
                  <a:moveTo>
                    <a:pt x="144377" y="119467"/>
                  </a:moveTo>
                  <a:cubicBezTo>
                    <a:pt x="130713" y="119467"/>
                    <a:pt x="119567" y="130597"/>
                    <a:pt x="119567" y="144240"/>
                  </a:cubicBezTo>
                  <a:cubicBezTo>
                    <a:pt x="119567" y="157882"/>
                    <a:pt x="130713" y="169012"/>
                    <a:pt x="144377" y="169012"/>
                  </a:cubicBezTo>
                  <a:cubicBezTo>
                    <a:pt x="158041" y="169012"/>
                    <a:pt x="169187" y="157882"/>
                    <a:pt x="169187" y="144240"/>
                  </a:cubicBezTo>
                  <a:cubicBezTo>
                    <a:pt x="169187" y="130597"/>
                    <a:pt x="158041" y="119467"/>
                    <a:pt x="144377" y="119467"/>
                  </a:cubicBezTo>
                  <a:close/>
                  <a:moveTo>
                    <a:pt x="205505" y="92541"/>
                  </a:moveTo>
                  <a:lnTo>
                    <a:pt x="171704" y="124494"/>
                  </a:lnTo>
                  <a:cubicBezTo>
                    <a:pt x="175660" y="129879"/>
                    <a:pt x="178177" y="137059"/>
                    <a:pt x="178177" y="144240"/>
                  </a:cubicBezTo>
                  <a:cubicBezTo>
                    <a:pt x="178177" y="151779"/>
                    <a:pt x="175300" y="158960"/>
                    <a:pt x="170985" y="164704"/>
                  </a:cubicBezTo>
                  <a:lnTo>
                    <a:pt x="185009" y="178706"/>
                  </a:lnTo>
                  <a:cubicBezTo>
                    <a:pt x="195077" y="169730"/>
                    <a:pt x="208022" y="164345"/>
                    <a:pt x="222404" y="163268"/>
                  </a:cubicBezTo>
                  <a:cubicBezTo>
                    <a:pt x="223843" y="157164"/>
                    <a:pt x="224921" y="151061"/>
                    <a:pt x="224921" y="144240"/>
                  </a:cubicBezTo>
                  <a:cubicBezTo>
                    <a:pt x="224921" y="124494"/>
                    <a:pt x="217730" y="106543"/>
                    <a:pt x="205505" y="92541"/>
                  </a:cubicBezTo>
                  <a:close/>
                  <a:moveTo>
                    <a:pt x="148692" y="64178"/>
                  </a:moveTo>
                  <a:lnTo>
                    <a:pt x="148692" y="110851"/>
                  </a:lnTo>
                  <a:cubicBezTo>
                    <a:pt x="155164" y="111928"/>
                    <a:pt x="160917" y="114441"/>
                    <a:pt x="165592" y="118031"/>
                  </a:cubicBezTo>
                  <a:lnTo>
                    <a:pt x="199751" y="86078"/>
                  </a:lnTo>
                  <a:cubicBezTo>
                    <a:pt x="186087" y="73154"/>
                    <a:pt x="168468" y="65255"/>
                    <a:pt x="148692" y="64178"/>
                  </a:cubicBezTo>
                  <a:close/>
                  <a:moveTo>
                    <a:pt x="140062" y="64178"/>
                  </a:moveTo>
                  <a:cubicBezTo>
                    <a:pt x="97992" y="66691"/>
                    <a:pt x="64192" y="101516"/>
                    <a:pt x="64192" y="144240"/>
                  </a:cubicBezTo>
                  <a:cubicBezTo>
                    <a:pt x="64192" y="160037"/>
                    <a:pt x="68867" y="175115"/>
                    <a:pt x="76777" y="187322"/>
                  </a:cubicBezTo>
                  <a:lnTo>
                    <a:pt x="114892" y="160037"/>
                  </a:lnTo>
                  <a:cubicBezTo>
                    <a:pt x="112375" y="155369"/>
                    <a:pt x="110937" y="149984"/>
                    <a:pt x="110937" y="144240"/>
                  </a:cubicBezTo>
                  <a:cubicBezTo>
                    <a:pt x="110937" y="127366"/>
                    <a:pt x="123522" y="113005"/>
                    <a:pt x="140062" y="110851"/>
                  </a:cubicBezTo>
                  <a:lnTo>
                    <a:pt x="140062" y="64178"/>
                  </a:lnTo>
                  <a:close/>
                  <a:moveTo>
                    <a:pt x="144377" y="55562"/>
                  </a:moveTo>
                  <a:cubicBezTo>
                    <a:pt x="193639" y="55562"/>
                    <a:pt x="233551" y="95413"/>
                    <a:pt x="233551" y="144240"/>
                  </a:cubicBezTo>
                  <a:cubicBezTo>
                    <a:pt x="233551" y="151061"/>
                    <a:pt x="232472" y="157164"/>
                    <a:pt x="231394" y="163627"/>
                  </a:cubicBezTo>
                  <a:cubicBezTo>
                    <a:pt x="246136" y="164704"/>
                    <a:pt x="259800" y="170807"/>
                    <a:pt x="270587" y="181578"/>
                  </a:cubicBezTo>
                  <a:cubicBezTo>
                    <a:pt x="272025" y="183014"/>
                    <a:pt x="272025" y="185886"/>
                    <a:pt x="270587" y="187681"/>
                  </a:cubicBezTo>
                  <a:cubicBezTo>
                    <a:pt x="268789" y="189117"/>
                    <a:pt x="265553" y="189117"/>
                    <a:pt x="264115" y="187681"/>
                  </a:cubicBezTo>
                  <a:cubicBezTo>
                    <a:pt x="254047" y="177270"/>
                    <a:pt x="240383" y="171884"/>
                    <a:pt x="226000" y="171884"/>
                  </a:cubicBezTo>
                  <a:cubicBezTo>
                    <a:pt x="196156" y="171884"/>
                    <a:pt x="172064" y="196298"/>
                    <a:pt x="172064" y="226097"/>
                  </a:cubicBezTo>
                  <a:cubicBezTo>
                    <a:pt x="172064" y="255895"/>
                    <a:pt x="196156" y="279591"/>
                    <a:pt x="226000" y="279591"/>
                  </a:cubicBezTo>
                  <a:cubicBezTo>
                    <a:pt x="252968" y="279591"/>
                    <a:pt x="275981" y="259845"/>
                    <a:pt x="279576" y="233277"/>
                  </a:cubicBezTo>
                  <a:cubicBezTo>
                    <a:pt x="279936" y="231123"/>
                    <a:pt x="282093" y="229328"/>
                    <a:pt x="284610" y="229687"/>
                  </a:cubicBezTo>
                  <a:cubicBezTo>
                    <a:pt x="286768" y="230046"/>
                    <a:pt x="288566" y="232200"/>
                    <a:pt x="288206" y="234713"/>
                  </a:cubicBezTo>
                  <a:cubicBezTo>
                    <a:pt x="283891" y="265230"/>
                    <a:pt x="257283" y="288566"/>
                    <a:pt x="226000" y="288566"/>
                  </a:cubicBezTo>
                  <a:cubicBezTo>
                    <a:pt x="192920" y="288566"/>
                    <a:pt x="165951" y="263435"/>
                    <a:pt x="163434" y="231123"/>
                  </a:cubicBezTo>
                  <a:cubicBezTo>
                    <a:pt x="157322" y="232559"/>
                    <a:pt x="151209" y="233277"/>
                    <a:pt x="144377" y="233277"/>
                  </a:cubicBezTo>
                  <a:cubicBezTo>
                    <a:pt x="95475" y="233277"/>
                    <a:pt x="55563" y="193425"/>
                    <a:pt x="55563" y="144240"/>
                  </a:cubicBezTo>
                  <a:cubicBezTo>
                    <a:pt x="55563" y="95413"/>
                    <a:pt x="95475" y="55562"/>
                    <a:pt x="144377" y="55562"/>
                  </a:cubicBezTo>
                  <a:close/>
                  <a:moveTo>
                    <a:pt x="134610" y="0"/>
                  </a:moveTo>
                  <a:lnTo>
                    <a:pt x="155542" y="0"/>
                  </a:lnTo>
                  <a:cubicBezTo>
                    <a:pt x="162037" y="0"/>
                    <a:pt x="167090" y="5052"/>
                    <a:pt x="167090" y="11548"/>
                  </a:cubicBezTo>
                  <a:lnTo>
                    <a:pt x="167090" y="26705"/>
                  </a:lnTo>
                  <a:cubicBezTo>
                    <a:pt x="173225" y="27788"/>
                    <a:pt x="179360" y="29592"/>
                    <a:pt x="185495" y="31397"/>
                  </a:cubicBezTo>
                  <a:lnTo>
                    <a:pt x="193074" y="18044"/>
                  </a:lnTo>
                  <a:cubicBezTo>
                    <a:pt x="194518" y="15879"/>
                    <a:pt x="197044" y="13713"/>
                    <a:pt x="199931" y="12992"/>
                  </a:cubicBezTo>
                  <a:cubicBezTo>
                    <a:pt x="202818" y="12270"/>
                    <a:pt x="205705" y="12631"/>
                    <a:pt x="208592" y="14074"/>
                  </a:cubicBezTo>
                  <a:lnTo>
                    <a:pt x="226636" y="24540"/>
                  </a:lnTo>
                  <a:cubicBezTo>
                    <a:pt x="229524" y="26344"/>
                    <a:pt x="231328" y="28510"/>
                    <a:pt x="232050" y="31397"/>
                  </a:cubicBezTo>
                  <a:cubicBezTo>
                    <a:pt x="233132" y="34645"/>
                    <a:pt x="232772" y="37893"/>
                    <a:pt x="230967" y="40419"/>
                  </a:cubicBezTo>
                  <a:lnTo>
                    <a:pt x="223388" y="53411"/>
                  </a:lnTo>
                  <a:cubicBezTo>
                    <a:pt x="228080" y="57741"/>
                    <a:pt x="232772" y="62072"/>
                    <a:pt x="236741" y="66763"/>
                  </a:cubicBezTo>
                  <a:lnTo>
                    <a:pt x="250094" y="59185"/>
                  </a:lnTo>
                  <a:cubicBezTo>
                    <a:pt x="252620" y="57741"/>
                    <a:pt x="255507" y="57019"/>
                    <a:pt x="258755" y="58102"/>
                  </a:cubicBezTo>
                  <a:cubicBezTo>
                    <a:pt x="261642" y="58824"/>
                    <a:pt x="263808" y="60628"/>
                    <a:pt x="265612" y="63515"/>
                  </a:cubicBezTo>
                  <a:lnTo>
                    <a:pt x="276078" y="81560"/>
                  </a:lnTo>
                  <a:cubicBezTo>
                    <a:pt x="279326" y="86973"/>
                    <a:pt x="277160" y="94191"/>
                    <a:pt x="271747" y="97439"/>
                  </a:cubicBezTo>
                  <a:lnTo>
                    <a:pt x="258755" y="105017"/>
                  </a:lnTo>
                  <a:cubicBezTo>
                    <a:pt x="260921" y="110791"/>
                    <a:pt x="262364" y="116926"/>
                    <a:pt x="263447" y="123061"/>
                  </a:cubicBezTo>
                  <a:lnTo>
                    <a:pt x="278604" y="123061"/>
                  </a:lnTo>
                  <a:cubicBezTo>
                    <a:pt x="285100" y="123061"/>
                    <a:pt x="290152" y="128114"/>
                    <a:pt x="290152" y="134610"/>
                  </a:cubicBezTo>
                  <a:lnTo>
                    <a:pt x="290152" y="155541"/>
                  </a:lnTo>
                  <a:cubicBezTo>
                    <a:pt x="290152" y="162037"/>
                    <a:pt x="285100" y="167089"/>
                    <a:pt x="278604" y="167089"/>
                  </a:cubicBezTo>
                  <a:lnTo>
                    <a:pt x="265973" y="167089"/>
                  </a:lnTo>
                  <a:cubicBezTo>
                    <a:pt x="263086" y="167089"/>
                    <a:pt x="261281" y="165285"/>
                    <a:pt x="261281" y="162398"/>
                  </a:cubicBezTo>
                  <a:cubicBezTo>
                    <a:pt x="261281" y="160232"/>
                    <a:pt x="263086" y="158428"/>
                    <a:pt x="265973" y="158428"/>
                  </a:cubicBezTo>
                  <a:lnTo>
                    <a:pt x="278604" y="158428"/>
                  </a:lnTo>
                  <a:cubicBezTo>
                    <a:pt x="280408" y="158428"/>
                    <a:pt x="281491" y="156985"/>
                    <a:pt x="281491" y="155541"/>
                  </a:cubicBezTo>
                  <a:lnTo>
                    <a:pt x="281491" y="134610"/>
                  </a:lnTo>
                  <a:cubicBezTo>
                    <a:pt x="281491" y="133166"/>
                    <a:pt x="280408" y="131723"/>
                    <a:pt x="278604" y="131723"/>
                  </a:cubicBezTo>
                  <a:lnTo>
                    <a:pt x="259838" y="131723"/>
                  </a:lnTo>
                  <a:cubicBezTo>
                    <a:pt x="257673" y="131723"/>
                    <a:pt x="255868" y="130279"/>
                    <a:pt x="255507" y="128114"/>
                  </a:cubicBezTo>
                  <a:cubicBezTo>
                    <a:pt x="254425" y="120174"/>
                    <a:pt x="252259" y="112235"/>
                    <a:pt x="249011" y="104656"/>
                  </a:cubicBezTo>
                  <a:cubicBezTo>
                    <a:pt x="248290" y="102491"/>
                    <a:pt x="249372" y="100326"/>
                    <a:pt x="251177" y="99243"/>
                  </a:cubicBezTo>
                  <a:lnTo>
                    <a:pt x="267417" y="89499"/>
                  </a:lnTo>
                  <a:cubicBezTo>
                    <a:pt x="268860" y="89138"/>
                    <a:pt x="269221" y="87334"/>
                    <a:pt x="268499" y="85890"/>
                  </a:cubicBezTo>
                  <a:lnTo>
                    <a:pt x="258034" y="67846"/>
                  </a:lnTo>
                  <a:cubicBezTo>
                    <a:pt x="257673" y="67124"/>
                    <a:pt x="256951" y="66763"/>
                    <a:pt x="256229" y="66763"/>
                  </a:cubicBezTo>
                  <a:cubicBezTo>
                    <a:pt x="255507" y="66402"/>
                    <a:pt x="254786" y="66763"/>
                    <a:pt x="254425" y="66763"/>
                  </a:cubicBezTo>
                  <a:lnTo>
                    <a:pt x="237824" y="76146"/>
                  </a:lnTo>
                  <a:cubicBezTo>
                    <a:pt x="236019" y="77229"/>
                    <a:pt x="233493" y="76868"/>
                    <a:pt x="232411" y="75064"/>
                  </a:cubicBezTo>
                  <a:cubicBezTo>
                    <a:pt x="226997" y="68929"/>
                    <a:pt x="221223" y="63155"/>
                    <a:pt x="215088" y="57741"/>
                  </a:cubicBezTo>
                  <a:cubicBezTo>
                    <a:pt x="213284" y="56659"/>
                    <a:pt x="212923" y="54132"/>
                    <a:pt x="214005" y="52328"/>
                  </a:cubicBezTo>
                  <a:lnTo>
                    <a:pt x="223388" y="35727"/>
                  </a:lnTo>
                  <a:cubicBezTo>
                    <a:pt x="223749" y="35006"/>
                    <a:pt x="223749" y="34645"/>
                    <a:pt x="223749" y="33923"/>
                  </a:cubicBezTo>
                  <a:cubicBezTo>
                    <a:pt x="223388" y="33201"/>
                    <a:pt x="223028" y="32479"/>
                    <a:pt x="222306" y="32118"/>
                  </a:cubicBezTo>
                  <a:lnTo>
                    <a:pt x="204262" y="21653"/>
                  </a:lnTo>
                  <a:cubicBezTo>
                    <a:pt x="203540" y="21292"/>
                    <a:pt x="202818" y="21292"/>
                    <a:pt x="202096" y="21292"/>
                  </a:cubicBezTo>
                  <a:cubicBezTo>
                    <a:pt x="201374" y="21653"/>
                    <a:pt x="201014" y="22014"/>
                    <a:pt x="200653" y="22735"/>
                  </a:cubicBezTo>
                  <a:lnTo>
                    <a:pt x="190909" y="38975"/>
                  </a:lnTo>
                  <a:cubicBezTo>
                    <a:pt x="189826" y="40780"/>
                    <a:pt x="187660" y="41862"/>
                    <a:pt x="185856" y="40780"/>
                  </a:cubicBezTo>
                  <a:cubicBezTo>
                    <a:pt x="178277" y="37893"/>
                    <a:pt x="169977" y="35727"/>
                    <a:pt x="162037" y="34645"/>
                  </a:cubicBezTo>
                  <a:cubicBezTo>
                    <a:pt x="159872" y="34284"/>
                    <a:pt x="158429" y="32479"/>
                    <a:pt x="158429" y="30314"/>
                  </a:cubicBezTo>
                  <a:lnTo>
                    <a:pt x="158429" y="11548"/>
                  </a:lnTo>
                  <a:cubicBezTo>
                    <a:pt x="158429" y="9744"/>
                    <a:pt x="156985" y="8661"/>
                    <a:pt x="155542" y="8661"/>
                  </a:cubicBezTo>
                  <a:lnTo>
                    <a:pt x="134610" y="8661"/>
                  </a:lnTo>
                  <a:cubicBezTo>
                    <a:pt x="133167" y="8661"/>
                    <a:pt x="131723" y="9744"/>
                    <a:pt x="131723" y="11548"/>
                  </a:cubicBezTo>
                  <a:lnTo>
                    <a:pt x="131723" y="30314"/>
                  </a:lnTo>
                  <a:cubicBezTo>
                    <a:pt x="131723" y="32479"/>
                    <a:pt x="130279" y="34284"/>
                    <a:pt x="128114" y="34645"/>
                  </a:cubicBezTo>
                  <a:cubicBezTo>
                    <a:pt x="120175" y="35727"/>
                    <a:pt x="112235" y="37893"/>
                    <a:pt x="104657" y="40780"/>
                  </a:cubicBezTo>
                  <a:cubicBezTo>
                    <a:pt x="102491" y="41862"/>
                    <a:pt x="100326" y="40780"/>
                    <a:pt x="99243" y="38975"/>
                  </a:cubicBezTo>
                  <a:lnTo>
                    <a:pt x="89860" y="22735"/>
                  </a:lnTo>
                  <a:cubicBezTo>
                    <a:pt x="89139" y="21292"/>
                    <a:pt x="87334" y="20931"/>
                    <a:pt x="86251" y="21653"/>
                  </a:cubicBezTo>
                  <a:lnTo>
                    <a:pt x="67846" y="32118"/>
                  </a:lnTo>
                  <a:cubicBezTo>
                    <a:pt x="67124" y="32479"/>
                    <a:pt x="66764" y="33201"/>
                    <a:pt x="66764" y="33923"/>
                  </a:cubicBezTo>
                  <a:cubicBezTo>
                    <a:pt x="66403" y="34645"/>
                    <a:pt x="66764" y="35006"/>
                    <a:pt x="66764" y="35727"/>
                  </a:cubicBezTo>
                  <a:lnTo>
                    <a:pt x="76508" y="52328"/>
                  </a:lnTo>
                  <a:cubicBezTo>
                    <a:pt x="77229" y="54132"/>
                    <a:pt x="76868" y="56659"/>
                    <a:pt x="75425" y="57741"/>
                  </a:cubicBezTo>
                  <a:cubicBezTo>
                    <a:pt x="68929" y="63155"/>
                    <a:pt x="63155" y="68929"/>
                    <a:pt x="57741" y="75064"/>
                  </a:cubicBezTo>
                  <a:cubicBezTo>
                    <a:pt x="56659" y="76868"/>
                    <a:pt x="54133" y="77229"/>
                    <a:pt x="52328" y="76146"/>
                  </a:cubicBezTo>
                  <a:lnTo>
                    <a:pt x="36088" y="66763"/>
                  </a:lnTo>
                  <a:cubicBezTo>
                    <a:pt x="35367" y="66763"/>
                    <a:pt x="34645" y="66402"/>
                    <a:pt x="33923" y="66763"/>
                  </a:cubicBezTo>
                  <a:cubicBezTo>
                    <a:pt x="33201" y="66763"/>
                    <a:pt x="32840" y="67124"/>
                    <a:pt x="32119" y="67846"/>
                  </a:cubicBezTo>
                  <a:lnTo>
                    <a:pt x="22014" y="85890"/>
                  </a:lnTo>
                  <a:cubicBezTo>
                    <a:pt x="20931" y="87334"/>
                    <a:pt x="21292" y="89138"/>
                    <a:pt x="22736" y="89499"/>
                  </a:cubicBezTo>
                  <a:lnTo>
                    <a:pt x="39336" y="99243"/>
                  </a:lnTo>
                  <a:cubicBezTo>
                    <a:pt x="40780" y="100326"/>
                    <a:pt x="41862" y="102491"/>
                    <a:pt x="41141" y="104656"/>
                  </a:cubicBezTo>
                  <a:cubicBezTo>
                    <a:pt x="37893" y="112235"/>
                    <a:pt x="35727" y="120174"/>
                    <a:pt x="35006" y="128114"/>
                  </a:cubicBezTo>
                  <a:cubicBezTo>
                    <a:pt x="34284" y="130279"/>
                    <a:pt x="32479" y="131723"/>
                    <a:pt x="30314" y="131723"/>
                  </a:cubicBezTo>
                  <a:lnTo>
                    <a:pt x="11548" y="131723"/>
                  </a:lnTo>
                  <a:cubicBezTo>
                    <a:pt x="10105" y="131723"/>
                    <a:pt x="8661" y="133166"/>
                    <a:pt x="8661" y="134610"/>
                  </a:cubicBezTo>
                  <a:lnTo>
                    <a:pt x="8661" y="155541"/>
                  </a:lnTo>
                  <a:cubicBezTo>
                    <a:pt x="8661" y="156985"/>
                    <a:pt x="10105" y="158428"/>
                    <a:pt x="11548" y="158428"/>
                  </a:cubicBezTo>
                  <a:lnTo>
                    <a:pt x="30314" y="158428"/>
                  </a:lnTo>
                  <a:cubicBezTo>
                    <a:pt x="32479" y="158428"/>
                    <a:pt x="34284" y="159872"/>
                    <a:pt x="35006" y="162037"/>
                  </a:cubicBezTo>
                  <a:cubicBezTo>
                    <a:pt x="35727" y="169976"/>
                    <a:pt x="37893" y="177916"/>
                    <a:pt x="41141" y="185494"/>
                  </a:cubicBezTo>
                  <a:cubicBezTo>
                    <a:pt x="41862" y="187660"/>
                    <a:pt x="40780" y="189825"/>
                    <a:pt x="39336" y="190908"/>
                  </a:cubicBezTo>
                  <a:lnTo>
                    <a:pt x="22736" y="200291"/>
                  </a:lnTo>
                  <a:cubicBezTo>
                    <a:pt x="22014" y="200652"/>
                    <a:pt x="21653" y="201374"/>
                    <a:pt x="21292" y="202096"/>
                  </a:cubicBezTo>
                  <a:cubicBezTo>
                    <a:pt x="21292" y="202817"/>
                    <a:pt x="21292" y="203539"/>
                    <a:pt x="22014" y="203900"/>
                  </a:cubicBezTo>
                  <a:lnTo>
                    <a:pt x="32119" y="222305"/>
                  </a:lnTo>
                  <a:cubicBezTo>
                    <a:pt x="32840" y="223027"/>
                    <a:pt x="33201" y="223388"/>
                    <a:pt x="33923" y="223749"/>
                  </a:cubicBezTo>
                  <a:cubicBezTo>
                    <a:pt x="34645" y="223749"/>
                    <a:pt x="35367" y="223749"/>
                    <a:pt x="36088" y="223388"/>
                  </a:cubicBezTo>
                  <a:lnTo>
                    <a:pt x="52328" y="214005"/>
                  </a:lnTo>
                  <a:cubicBezTo>
                    <a:pt x="54133" y="212922"/>
                    <a:pt x="56659" y="213283"/>
                    <a:pt x="57741" y="214727"/>
                  </a:cubicBezTo>
                  <a:cubicBezTo>
                    <a:pt x="63155" y="221222"/>
                    <a:pt x="68929" y="226997"/>
                    <a:pt x="75425" y="232049"/>
                  </a:cubicBezTo>
                  <a:cubicBezTo>
                    <a:pt x="76868" y="233492"/>
                    <a:pt x="77229" y="236019"/>
                    <a:pt x="76508" y="237823"/>
                  </a:cubicBezTo>
                  <a:lnTo>
                    <a:pt x="66764" y="254063"/>
                  </a:lnTo>
                  <a:cubicBezTo>
                    <a:pt x="66042" y="255506"/>
                    <a:pt x="66764" y="257311"/>
                    <a:pt x="67846" y="257672"/>
                  </a:cubicBezTo>
                  <a:lnTo>
                    <a:pt x="86251" y="268498"/>
                  </a:lnTo>
                  <a:cubicBezTo>
                    <a:pt x="87334" y="269220"/>
                    <a:pt x="89139" y="268859"/>
                    <a:pt x="89860" y="267416"/>
                  </a:cubicBezTo>
                  <a:lnTo>
                    <a:pt x="99243" y="250815"/>
                  </a:lnTo>
                  <a:cubicBezTo>
                    <a:pt x="100326" y="249011"/>
                    <a:pt x="102491" y="248289"/>
                    <a:pt x="104657" y="249011"/>
                  </a:cubicBezTo>
                  <a:cubicBezTo>
                    <a:pt x="112235" y="251898"/>
                    <a:pt x="120175" y="254424"/>
                    <a:pt x="128114" y="255506"/>
                  </a:cubicBezTo>
                  <a:cubicBezTo>
                    <a:pt x="130279" y="255867"/>
                    <a:pt x="131723" y="257672"/>
                    <a:pt x="131723" y="259837"/>
                  </a:cubicBezTo>
                  <a:lnTo>
                    <a:pt x="131723" y="278603"/>
                  </a:lnTo>
                  <a:cubicBezTo>
                    <a:pt x="131723" y="280047"/>
                    <a:pt x="133167" y="281129"/>
                    <a:pt x="134610" y="281129"/>
                  </a:cubicBezTo>
                  <a:lnTo>
                    <a:pt x="155542" y="281129"/>
                  </a:lnTo>
                  <a:cubicBezTo>
                    <a:pt x="156985" y="281129"/>
                    <a:pt x="158429" y="280047"/>
                    <a:pt x="158429" y="278603"/>
                  </a:cubicBezTo>
                  <a:lnTo>
                    <a:pt x="158429" y="265611"/>
                  </a:lnTo>
                  <a:cubicBezTo>
                    <a:pt x="158429" y="263085"/>
                    <a:pt x="160233" y="261281"/>
                    <a:pt x="162759" y="261281"/>
                  </a:cubicBezTo>
                  <a:cubicBezTo>
                    <a:pt x="165285" y="261281"/>
                    <a:pt x="167090" y="263085"/>
                    <a:pt x="167090" y="265611"/>
                  </a:cubicBezTo>
                  <a:lnTo>
                    <a:pt x="167090" y="278603"/>
                  </a:lnTo>
                  <a:cubicBezTo>
                    <a:pt x="167090" y="285099"/>
                    <a:pt x="162037" y="290151"/>
                    <a:pt x="155542" y="290151"/>
                  </a:cubicBezTo>
                  <a:lnTo>
                    <a:pt x="134610" y="290151"/>
                  </a:lnTo>
                  <a:cubicBezTo>
                    <a:pt x="128114" y="290151"/>
                    <a:pt x="123062" y="285099"/>
                    <a:pt x="123062" y="278603"/>
                  </a:cubicBezTo>
                  <a:lnTo>
                    <a:pt x="123062" y="263446"/>
                  </a:lnTo>
                  <a:cubicBezTo>
                    <a:pt x="116927" y="262363"/>
                    <a:pt x="110792" y="260920"/>
                    <a:pt x="105017" y="258394"/>
                  </a:cubicBezTo>
                  <a:lnTo>
                    <a:pt x="97439" y="271746"/>
                  </a:lnTo>
                  <a:cubicBezTo>
                    <a:pt x="94191" y="277160"/>
                    <a:pt x="87334" y="279325"/>
                    <a:pt x="81560" y="276077"/>
                  </a:cubicBezTo>
                  <a:lnTo>
                    <a:pt x="63516" y="265250"/>
                  </a:lnTo>
                  <a:cubicBezTo>
                    <a:pt x="57741" y="262002"/>
                    <a:pt x="56298" y="255146"/>
                    <a:pt x="59185" y="250093"/>
                  </a:cubicBezTo>
                  <a:lnTo>
                    <a:pt x="66764" y="236380"/>
                  </a:lnTo>
                  <a:cubicBezTo>
                    <a:pt x="62072" y="232410"/>
                    <a:pt x="57741" y="228079"/>
                    <a:pt x="53772" y="223388"/>
                  </a:cubicBezTo>
                  <a:lnTo>
                    <a:pt x="40419" y="230966"/>
                  </a:lnTo>
                  <a:cubicBezTo>
                    <a:pt x="37893" y="232410"/>
                    <a:pt x="34645" y="232771"/>
                    <a:pt x="31758" y="232049"/>
                  </a:cubicBezTo>
                  <a:cubicBezTo>
                    <a:pt x="28510" y="231327"/>
                    <a:pt x="26344" y="229162"/>
                    <a:pt x="24901" y="226636"/>
                  </a:cubicBezTo>
                  <a:lnTo>
                    <a:pt x="14074" y="208591"/>
                  </a:lnTo>
                  <a:cubicBezTo>
                    <a:pt x="12992" y="205704"/>
                    <a:pt x="12270" y="202817"/>
                    <a:pt x="12992" y="199930"/>
                  </a:cubicBezTo>
                  <a:cubicBezTo>
                    <a:pt x="13713" y="197043"/>
                    <a:pt x="15879" y="194516"/>
                    <a:pt x="18405" y="192712"/>
                  </a:cubicBezTo>
                  <a:lnTo>
                    <a:pt x="31758" y="185133"/>
                  </a:lnTo>
                  <a:cubicBezTo>
                    <a:pt x="29592" y="179359"/>
                    <a:pt x="27788" y="173224"/>
                    <a:pt x="26705" y="167089"/>
                  </a:cubicBezTo>
                  <a:lnTo>
                    <a:pt x="11548" y="167089"/>
                  </a:lnTo>
                  <a:cubicBezTo>
                    <a:pt x="5052" y="167089"/>
                    <a:pt x="0" y="162037"/>
                    <a:pt x="0" y="155541"/>
                  </a:cubicBezTo>
                  <a:lnTo>
                    <a:pt x="0" y="134610"/>
                  </a:lnTo>
                  <a:cubicBezTo>
                    <a:pt x="0" y="128114"/>
                    <a:pt x="5052" y="123061"/>
                    <a:pt x="11548" y="123061"/>
                  </a:cubicBezTo>
                  <a:lnTo>
                    <a:pt x="26705" y="123061"/>
                  </a:lnTo>
                  <a:cubicBezTo>
                    <a:pt x="27788" y="116926"/>
                    <a:pt x="29592" y="110791"/>
                    <a:pt x="31758" y="105017"/>
                  </a:cubicBezTo>
                  <a:lnTo>
                    <a:pt x="18405" y="97439"/>
                  </a:lnTo>
                  <a:cubicBezTo>
                    <a:pt x="12992" y="94191"/>
                    <a:pt x="11187" y="86973"/>
                    <a:pt x="14074" y="81560"/>
                  </a:cubicBezTo>
                  <a:lnTo>
                    <a:pt x="24901" y="63515"/>
                  </a:lnTo>
                  <a:cubicBezTo>
                    <a:pt x="26344" y="60628"/>
                    <a:pt x="28510" y="58824"/>
                    <a:pt x="31758" y="58102"/>
                  </a:cubicBezTo>
                  <a:cubicBezTo>
                    <a:pt x="34645" y="57019"/>
                    <a:pt x="37893" y="57741"/>
                    <a:pt x="40419" y="59185"/>
                  </a:cubicBezTo>
                  <a:lnTo>
                    <a:pt x="53772" y="66763"/>
                  </a:lnTo>
                  <a:cubicBezTo>
                    <a:pt x="57741" y="62072"/>
                    <a:pt x="62072" y="57741"/>
                    <a:pt x="66764" y="53411"/>
                  </a:cubicBezTo>
                  <a:lnTo>
                    <a:pt x="59185" y="40419"/>
                  </a:lnTo>
                  <a:cubicBezTo>
                    <a:pt x="57741" y="37893"/>
                    <a:pt x="57381" y="34645"/>
                    <a:pt x="58102" y="31397"/>
                  </a:cubicBezTo>
                  <a:cubicBezTo>
                    <a:pt x="58824" y="28510"/>
                    <a:pt x="60989" y="26344"/>
                    <a:pt x="63516" y="24540"/>
                  </a:cubicBezTo>
                  <a:lnTo>
                    <a:pt x="81560" y="14074"/>
                  </a:lnTo>
                  <a:cubicBezTo>
                    <a:pt x="87334" y="11187"/>
                    <a:pt x="94191" y="12992"/>
                    <a:pt x="97439" y="18044"/>
                  </a:cubicBezTo>
                  <a:lnTo>
                    <a:pt x="105017" y="31397"/>
                  </a:lnTo>
                  <a:cubicBezTo>
                    <a:pt x="110792" y="29592"/>
                    <a:pt x="116927" y="27788"/>
                    <a:pt x="123062" y="26705"/>
                  </a:cubicBezTo>
                  <a:lnTo>
                    <a:pt x="123062" y="11548"/>
                  </a:lnTo>
                  <a:cubicBezTo>
                    <a:pt x="123062" y="5052"/>
                    <a:pt x="128114" y="0"/>
                    <a:pt x="134610" y="0"/>
                  </a:cubicBezTo>
                  <a:close/>
                </a:path>
              </a:pathLst>
            </a:custGeom>
            <a:solidFill>
              <a:schemeClr val="bg1"/>
            </a:solidFill>
            <a:ln>
              <a:noFill/>
            </a:ln>
            <a:effectLst/>
          </p:spPr>
          <p:txBody>
            <a:bodyPr anchor="ctr"/>
            <a:lstStyle/>
            <a:p>
              <a:pPr defTabSz="914217"/>
              <a:endParaRPr lang="en-US" dirty="0">
                <a:solidFill>
                  <a:srgbClr val="737572"/>
                </a:solidFill>
                <a:latin typeface="Lato Light" panose="020F0502020204030203" pitchFamily="34" charset="0"/>
              </a:endParaRPr>
            </a:p>
          </p:txBody>
        </p:sp>
      </p:grpSp>
    </p:spTree>
    <p:extLst>
      <p:ext uri="{BB962C8B-B14F-4D97-AF65-F5344CB8AC3E}">
        <p14:creationId xmlns:p14="http://schemas.microsoft.com/office/powerpoint/2010/main" val="2165145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additive="base">
                                        <p:cTn id="7" dur="500" fill="hold"/>
                                        <p:tgtEl>
                                          <p:spTgt spid="54"/>
                                        </p:tgtEl>
                                        <p:attrNameLst>
                                          <p:attrName>ppt_x</p:attrName>
                                        </p:attrNameLst>
                                      </p:cBhvr>
                                      <p:tavLst>
                                        <p:tav tm="0">
                                          <p:val>
                                            <p:strVal val="#ppt_x"/>
                                          </p:val>
                                        </p:tav>
                                        <p:tav tm="100000">
                                          <p:val>
                                            <p:strVal val="#ppt_x"/>
                                          </p:val>
                                        </p:tav>
                                      </p:tavLst>
                                    </p:anim>
                                    <p:anim calcmode="lin" valueType="num">
                                      <p:cBhvr additive="base">
                                        <p:cTn id="8"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1+#ppt_w/2"/>
                                          </p:val>
                                        </p:tav>
                                        <p:tav tm="100000">
                                          <p:val>
                                            <p:strVal val="#ppt_x"/>
                                          </p:val>
                                        </p:tav>
                                      </p:tavLst>
                                    </p:anim>
                                    <p:anim calcmode="lin" valueType="num">
                                      <p:cBhvr additive="base">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anim calcmode="lin" valueType="num">
                                      <p:cBhvr additive="base">
                                        <p:cTn id="19" dur="500" fill="hold"/>
                                        <p:tgtEl>
                                          <p:spTgt spid="67"/>
                                        </p:tgtEl>
                                        <p:attrNameLst>
                                          <p:attrName>ppt_x</p:attrName>
                                        </p:attrNameLst>
                                      </p:cBhvr>
                                      <p:tavLst>
                                        <p:tav tm="0">
                                          <p:val>
                                            <p:strVal val="1+#ppt_w/2"/>
                                          </p:val>
                                        </p:tav>
                                        <p:tav tm="100000">
                                          <p:val>
                                            <p:strVal val="#ppt_x"/>
                                          </p:val>
                                        </p:tav>
                                      </p:tavLst>
                                    </p:anim>
                                    <p:anim calcmode="lin" valueType="num">
                                      <p:cBhvr additive="base">
                                        <p:cTn id="20" dur="500" fill="hold"/>
                                        <p:tgtEl>
                                          <p:spTgt spid="6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55"/>
                                        </p:tgtEl>
                                        <p:attrNameLst>
                                          <p:attrName>style.visibility</p:attrName>
                                        </p:attrNameLst>
                                      </p:cBhvr>
                                      <p:to>
                                        <p:strVal val="visible"/>
                                      </p:to>
                                    </p:set>
                                    <p:anim calcmode="lin" valueType="num">
                                      <p:cBhvr>
                                        <p:cTn id="25" dur="1000" fill="hold"/>
                                        <p:tgtEl>
                                          <p:spTgt spid="55"/>
                                        </p:tgtEl>
                                        <p:attrNameLst>
                                          <p:attrName>ppt_w</p:attrName>
                                        </p:attrNameLst>
                                      </p:cBhvr>
                                      <p:tavLst>
                                        <p:tav tm="0">
                                          <p:val>
                                            <p:fltVal val="0"/>
                                          </p:val>
                                        </p:tav>
                                        <p:tav tm="100000">
                                          <p:val>
                                            <p:strVal val="#ppt_w"/>
                                          </p:val>
                                        </p:tav>
                                      </p:tavLst>
                                    </p:anim>
                                    <p:anim calcmode="lin" valueType="num">
                                      <p:cBhvr>
                                        <p:cTn id="26" dur="1000" fill="hold"/>
                                        <p:tgtEl>
                                          <p:spTgt spid="55"/>
                                        </p:tgtEl>
                                        <p:attrNameLst>
                                          <p:attrName>ppt_h</p:attrName>
                                        </p:attrNameLst>
                                      </p:cBhvr>
                                      <p:tavLst>
                                        <p:tav tm="0">
                                          <p:val>
                                            <p:fltVal val="0"/>
                                          </p:val>
                                        </p:tav>
                                        <p:tav tm="100000">
                                          <p:val>
                                            <p:strVal val="#ppt_h"/>
                                          </p:val>
                                        </p:tav>
                                      </p:tavLst>
                                    </p:anim>
                                    <p:anim calcmode="lin" valueType="num">
                                      <p:cBhvr>
                                        <p:cTn id="27" dur="1000" fill="hold"/>
                                        <p:tgtEl>
                                          <p:spTgt spid="55"/>
                                        </p:tgtEl>
                                        <p:attrNameLst>
                                          <p:attrName>style.rotation</p:attrName>
                                        </p:attrNameLst>
                                      </p:cBhvr>
                                      <p:tavLst>
                                        <p:tav tm="0">
                                          <p:val>
                                            <p:fltVal val="90"/>
                                          </p:val>
                                        </p:tav>
                                        <p:tav tm="100000">
                                          <p:val>
                                            <p:fltVal val="0"/>
                                          </p:val>
                                        </p:tav>
                                      </p:tavLst>
                                    </p:anim>
                                    <p:animEffect transition="in" filter="fade">
                                      <p:cBhvr>
                                        <p:cTn id="28"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A086EB5B-929B-F71C-9B22-D48148D26CA6}"/>
              </a:ext>
            </a:extLst>
          </p:cNvPr>
          <p:cNvSpPr/>
          <p:nvPr/>
        </p:nvSpPr>
        <p:spPr>
          <a:xfrm>
            <a:off x="147392"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600" b="1" dirty="0">
                <a:solidFill>
                  <a:schemeClr val="bg1"/>
                </a:solidFill>
                <a:latin typeface="Inter" panose="020B0502030000000004" pitchFamily="34" charset="0"/>
                <a:ea typeface="Inter" panose="020B0502030000000004" pitchFamily="34" charset="0"/>
                <a:cs typeface="Inter" panose="020B0502030000000004" pitchFamily="34" charset="0"/>
              </a:rPr>
              <a:t>Delivery</a:t>
            </a:r>
          </a:p>
        </p:txBody>
      </p:sp>
      <p:sp>
        <p:nvSpPr>
          <p:cNvPr id="15" name="Freeform: Shape 14">
            <a:extLst>
              <a:ext uri="{FF2B5EF4-FFF2-40B4-BE49-F238E27FC236}">
                <a16:creationId xmlns:a16="http://schemas.microsoft.com/office/drawing/2014/main" id="{CB1CF3C9-0367-30A3-E636-62AFA0EFFF83}"/>
              </a:ext>
            </a:extLst>
          </p:cNvPr>
          <p:cNvSpPr/>
          <p:nvPr/>
        </p:nvSpPr>
        <p:spPr>
          <a:xfrm>
            <a:off x="93392" y="2038212"/>
            <a:ext cx="1800000" cy="3421299"/>
          </a:xfrm>
          <a:custGeom>
            <a:avLst/>
            <a:gdLst>
              <a:gd name="csX0" fmla="*/ 0 w 1800000"/>
              <a:gd name="csY0" fmla="*/ 0 h 3421299"/>
              <a:gd name="csX1" fmla="*/ 396000 w 1800000"/>
              <a:gd name="csY1" fmla="*/ 0 h 3421299"/>
              <a:gd name="csX2" fmla="*/ 864000 w 1800000"/>
              <a:gd name="csY2" fmla="*/ 0 h 3421299"/>
              <a:gd name="csX3" fmla="*/ 1332000 w 1800000"/>
              <a:gd name="csY3" fmla="*/ 0 h 3421299"/>
              <a:gd name="csX4" fmla="*/ 1800000 w 1800000"/>
              <a:gd name="csY4" fmla="*/ 0 h 3421299"/>
              <a:gd name="csX5" fmla="*/ 1800000 w 1800000"/>
              <a:gd name="csY5" fmla="*/ 604429 h 3421299"/>
              <a:gd name="csX6" fmla="*/ 1800000 w 1800000"/>
              <a:gd name="csY6" fmla="*/ 1243072 h 3421299"/>
              <a:gd name="csX7" fmla="*/ 1800000 w 1800000"/>
              <a:gd name="csY7" fmla="*/ 1710649 h 3421299"/>
              <a:gd name="csX8" fmla="*/ 1800000 w 1800000"/>
              <a:gd name="csY8" fmla="*/ 2280866 h 3421299"/>
              <a:gd name="csX9" fmla="*/ 1800000 w 1800000"/>
              <a:gd name="csY9" fmla="*/ 2851082 h 3421299"/>
              <a:gd name="csX10" fmla="*/ 1800000 w 1800000"/>
              <a:gd name="csY10" fmla="*/ 3421299 h 3421299"/>
              <a:gd name="csX11" fmla="*/ 1368000 w 1800000"/>
              <a:gd name="csY11" fmla="*/ 3421299 h 3421299"/>
              <a:gd name="csX12" fmla="*/ 900000 w 1800000"/>
              <a:gd name="csY12" fmla="*/ 3421299 h 3421299"/>
              <a:gd name="csX13" fmla="*/ 414000 w 1800000"/>
              <a:gd name="csY13" fmla="*/ 3421299 h 3421299"/>
              <a:gd name="csX14" fmla="*/ 0 w 1800000"/>
              <a:gd name="csY14" fmla="*/ 3421299 h 3421299"/>
              <a:gd name="csX15" fmla="*/ 0 w 1800000"/>
              <a:gd name="csY15" fmla="*/ 2851083 h 3421299"/>
              <a:gd name="csX16" fmla="*/ 0 w 1800000"/>
              <a:gd name="csY16" fmla="*/ 2246653 h 3421299"/>
              <a:gd name="csX17" fmla="*/ 0 w 1800000"/>
              <a:gd name="csY17" fmla="*/ 1676437 h 3421299"/>
              <a:gd name="csX18" fmla="*/ 0 w 1800000"/>
              <a:gd name="csY18" fmla="*/ 1037794 h 3421299"/>
              <a:gd name="csX19" fmla="*/ 0 w 1800000"/>
              <a:gd name="csY19" fmla="*/ 0 h 3421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00000" h="3421299" fill="none" extrusionOk="0">
                <a:moveTo>
                  <a:pt x="0" y="0"/>
                </a:moveTo>
                <a:cubicBezTo>
                  <a:pt x="140048" y="-6709"/>
                  <a:pt x="253334" y="7142"/>
                  <a:pt x="396000" y="0"/>
                </a:cubicBezTo>
                <a:cubicBezTo>
                  <a:pt x="538666" y="-7142"/>
                  <a:pt x="738163" y="12223"/>
                  <a:pt x="864000" y="0"/>
                </a:cubicBezTo>
                <a:cubicBezTo>
                  <a:pt x="989837" y="-12223"/>
                  <a:pt x="1145150" y="43358"/>
                  <a:pt x="1332000" y="0"/>
                </a:cubicBezTo>
                <a:cubicBezTo>
                  <a:pt x="1518850" y="-43358"/>
                  <a:pt x="1678327" y="44832"/>
                  <a:pt x="1800000" y="0"/>
                </a:cubicBezTo>
                <a:cubicBezTo>
                  <a:pt x="1863097" y="182934"/>
                  <a:pt x="1773952" y="435932"/>
                  <a:pt x="1800000" y="604429"/>
                </a:cubicBezTo>
                <a:cubicBezTo>
                  <a:pt x="1826048" y="772926"/>
                  <a:pt x="1759672" y="935096"/>
                  <a:pt x="1800000" y="1243072"/>
                </a:cubicBezTo>
                <a:cubicBezTo>
                  <a:pt x="1840328" y="1551048"/>
                  <a:pt x="1798249" y="1539957"/>
                  <a:pt x="1800000" y="1710649"/>
                </a:cubicBezTo>
                <a:cubicBezTo>
                  <a:pt x="1801751" y="1881341"/>
                  <a:pt x="1773772" y="2104672"/>
                  <a:pt x="1800000" y="2280866"/>
                </a:cubicBezTo>
                <a:cubicBezTo>
                  <a:pt x="1826228" y="2457060"/>
                  <a:pt x="1740118" y="2675213"/>
                  <a:pt x="1800000" y="2851082"/>
                </a:cubicBezTo>
                <a:cubicBezTo>
                  <a:pt x="1859882" y="3026951"/>
                  <a:pt x="1783463" y="3181810"/>
                  <a:pt x="1800000" y="3421299"/>
                </a:cubicBezTo>
                <a:cubicBezTo>
                  <a:pt x="1697286" y="3459572"/>
                  <a:pt x="1504442" y="3409399"/>
                  <a:pt x="1368000" y="3421299"/>
                </a:cubicBezTo>
                <a:cubicBezTo>
                  <a:pt x="1231558" y="3433199"/>
                  <a:pt x="1020259" y="3367045"/>
                  <a:pt x="900000" y="3421299"/>
                </a:cubicBezTo>
                <a:cubicBezTo>
                  <a:pt x="779741" y="3475553"/>
                  <a:pt x="547084" y="3363421"/>
                  <a:pt x="414000" y="3421299"/>
                </a:cubicBezTo>
                <a:cubicBezTo>
                  <a:pt x="280916" y="3479177"/>
                  <a:pt x="109622" y="3404887"/>
                  <a:pt x="0" y="3421299"/>
                </a:cubicBezTo>
                <a:cubicBezTo>
                  <a:pt x="-21066" y="3221016"/>
                  <a:pt x="16020" y="2973674"/>
                  <a:pt x="0" y="2851083"/>
                </a:cubicBezTo>
                <a:cubicBezTo>
                  <a:pt x="-16020" y="2728492"/>
                  <a:pt x="39624" y="2546708"/>
                  <a:pt x="0" y="2246653"/>
                </a:cubicBezTo>
                <a:cubicBezTo>
                  <a:pt x="-39624" y="1946598"/>
                  <a:pt x="3140" y="1931385"/>
                  <a:pt x="0" y="1676437"/>
                </a:cubicBezTo>
                <a:cubicBezTo>
                  <a:pt x="-3140" y="1421489"/>
                  <a:pt x="30441" y="1279749"/>
                  <a:pt x="0" y="1037794"/>
                </a:cubicBezTo>
                <a:cubicBezTo>
                  <a:pt x="-30441" y="795839"/>
                  <a:pt x="5502" y="272110"/>
                  <a:pt x="0" y="0"/>
                </a:cubicBezTo>
                <a:close/>
              </a:path>
              <a:path w="1800000" h="3421299" stroke="0" extrusionOk="0">
                <a:moveTo>
                  <a:pt x="0" y="0"/>
                </a:moveTo>
                <a:cubicBezTo>
                  <a:pt x="165878" y="-41283"/>
                  <a:pt x="234330" y="9257"/>
                  <a:pt x="432000" y="0"/>
                </a:cubicBezTo>
                <a:cubicBezTo>
                  <a:pt x="629670" y="-9257"/>
                  <a:pt x="737559" y="32963"/>
                  <a:pt x="882000" y="0"/>
                </a:cubicBezTo>
                <a:cubicBezTo>
                  <a:pt x="1026441" y="-32963"/>
                  <a:pt x="1131217" y="6550"/>
                  <a:pt x="1278000" y="0"/>
                </a:cubicBezTo>
                <a:cubicBezTo>
                  <a:pt x="1424783" y="-6550"/>
                  <a:pt x="1634186" y="27134"/>
                  <a:pt x="1800000" y="0"/>
                </a:cubicBezTo>
                <a:cubicBezTo>
                  <a:pt x="1819127" y="152396"/>
                  <a:pt x="1753794" y="324948"/>
                  <a:pt x="1800000" y="536004"/>
                </a:cubicBezTo>
                <a:cubicBezTo>
                  <a:pt x="1846206" y="747060"/>
                  <a:pt x="1799304" y="835931"/>
                  <a:pt x="1800000" y="1003581"/>
                </a:cubicBezTo>
                <a:cubicBezTo>
                  <a:pt x="1800696" y="1171231"/>
                  <a:pt x="1730943" y="1442156"/>
                  <a:pt x="1800000" y="1642224"/>
                </a:cubicBezTo>
                <a:cubicBezTo>
                  <a:pt x="1869057" y="1842292"/>
                  <a:pt x="1787497" y="2146374"/>
                  <a:pt x="1800000" y="2280866"/>
                </a:cubicBezTo>
                <a:cubicBezTo>
                  <a:pt x="1812503" y="2415358"/>
                  <a:pt x="1749985" y="2598201"/>
                  <a:pt x="1800000" y="2782657"/>
                </a:cubicBezTo>
                <a:cubicBezTo>
                  <a:pt x="1850015" y="2967113"/>
                  <a:pt x="1766562" y="3276288"/>
                  <a:pt x="1800000" y="3421299"/>
                </a:cubicBezTo>
                <a:cubicBezTo>
                  <a:pt x="1595390" y="3446810"/>
                  <a:pt x="1506467" y="3400721"/>
                  <a:pt x="1332000" y="3421299"/>
                </a:cubicBezTo>
                <a:cubicBezTo>
                  <a:pt x="1157533" y="3441877"/>
                  <a:pt x="1043452" y="3388232"/>
                  <a:pt x="936000" y="3421299"/>
                </a:cubicBezTo>
                <a:cubicBezTo>
                  <a:pt x="828548" y="3454366"/>
                  <a:pt x="677218" y="3387542"/>
                  <a:pt x="486000" y="3421299"/>
                </a:cubicBezTo>
                <a:cubicBezTo>
                  <a:pt x="294782" y="3455056"/>
                  <a:pt x="126214" y="3397610"/>
                  <a:pt x="0" y="3421299"/>
                </a:cubicBezTo>
                <a:cubicBezTo>
                  <a:pt x="-38634" y="3211890"/>
                  <a:pt x="53977" y="3146703"/>
                  <a:pt x="0" y="2885295"/>
                </a:cubicBezTo>
                <a:cubicBezTo>
                  <a:pt x="-53977" y="2623887"/>
                  <a:pt x="67412" y="2534350"/>
                  <a:pt x="0" y="2315079"/>
                </a:cubicBezTo>
                <a:cubicBezTo>
                  <a:pt x="-67412" y="2095808"/>
                  <a:pt x="26993" y="1971579"/>
                  <a:pt x="0" y="1710650"/>
                </a:cubicBezTo>
                <a:cubicBezTo>
                  <a:pt x="-26993" y="1449721"/>
                  <a:pt x="15971" y="1435053"/>
                  <a:pt x="0" y="1174646"/>
                </a:cubicBezTo>
                <a:cubicBezTo>
                  <a:pt x="-15971" y="914239"/>
                  <a:pt x="49615" y="865302"/>
                  <a:pt x="0" y="707068"/>
                </a:cubicBezTo>
                <a:cubicBezTo>
                  <a:pt x="-49615" y="548834"/>
                  <a:pt x="52768" y="300377"/>
                  <a:pt x="0" y="0"/>
                </a:cubicBezTo>
                <a:close/>
              </a:path>
            </a:pathLst>
          </a:custGeom>
          <a:ln cap="rnd">
            <a:noFill/>
            <a:extLst>
              <a:ext uri="{C807C97D-BFC1-408E-A445-0C87EB9F89A2}">
                <ask:lineSketchStyleProps xmlns:ask="http://schemas.microsoft.com/office/drawing/2018/sketchyshapes" sd="1279028317">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88900" indent="-82550">
              <a:spcAft>
                <a:spcPts val="300"/>
              </a:spcAft>
              <a:buFont typeface="Arial" panose="020B0604020202020204" pitchFamily="34" charset="0"/>
              <a:buChar char="•"/>
            </a:pPr>
            <a:r>
              <a:rPr lang="en-US" sz="1200" dirty="0"/>
              <a:t>Delivered </a:t>
            </a:r>
            <a:r>
              <a:rPr lang="en-US" sz="1200" b="1" dirty="0"/>
              <a:t>100+ internal classes</a:t>
            </a:r>
            <a:r>
              <a:rPr lang="en-US" sz="1200" dirty="0"/>
              <a:t> in 1Q26</a:t>
            </a:r>
          </a:p>
          <a:p>
            <a:pPr marL="88900" indent="-82550">
              <a:spcAft>
                <a:spcPts val="300"/>
              </a:spcAft>
              <a:buFont typeface="Arial" panose="020B0604020202020204" pitchFamily="34" charset="0"/>
              <a:buChar char="•"/>
            </a:pPr>
            <a:r>
              <a:rPr lang="en-US" sz="1200" dirty="0"/>
              <a:t>Reached </a:t>
            </a:r>
            <a:r>
              <a:rPr lang="en-US" sz="1200" b="1" dirty="0"/>
              <a:t>1,040+ enrollments</a:t>
            </a:r>
            <a:r>
              <a:rPr lang="en-US" sz="1200" dirty="0"/>
              <a:t> across  </a:t>
            </a:r>
            <a:r>
              <a:rPr lang="en-US" sz="1200" b="1" dirty="0"/>
              <a:t>13+ locations</a:t>
            </a:r>
            <a:r>
              <a:rPr lang="en-US" sz="1200" dirty="0"/>
              <a:t> plus distance learning</a:t>
            </a:r>
          </a:p>
          <a:p>
            <a:pPr marL="88900" indent="-82550">
              <a:spcAft>
                <a:spcPts val="300"/>
              </a:spcAft>
              <a:buFont typeface="Arial" panose="020B0604020202020204" pitchFamily="34" charset="0"/>
              <a:buChar char="•"/>
            </a:pPr>
            <a:r>
              <a:rPr lang="en-US" sz="1200" dirty="0"/>
              <a:t>Covered the full OFS portfolio: </a:t>
            </a:r>
          </a:p>
          <a:p>
            <a:pPr marL="88900" indent="-82550">
              <a:spcAft>
                <a:spcPts val="300"/>
              </a:spcAft>
              <a:buFont typeface="Arial" panose="020B0604020202020204" pitchFamily="34" charset="0"/>
              <a:buChar char="•"/>
            </a:pPr>
            <a:r>
              <a:rPr lang="en-US" sz="1200" dirty="0"/>
              <a:t>Ran multiple classes at or near capacity, with select offerings </a:t>
            </a:r>
            <a:r>
              <a:rPr lang="en-US" sz="1200" b="1" dirty="0"/>
              <a:t>over-enrolled</a:t>
            </a:r>
            <a:endParaRPr lang="en-US" sz="1200" dirty="0"/>
          </a:p>
          <a:p>
            <a:pPr marL="88900" indent="-82550">
              <a:spcAft>
                <a:spcPts val="300"/>
              </a:spcAft>
              <a:buFont typeface="Arial" panose="020B0604020202020204" pitchFamily="34" charset="0"/>
              <a:buChar char="•"/>
            </a:pPr>
            <a:r>
              <a:rPr lang="en-US" sz="1200" dirty="0"/>
              <a:t>Turned plans into field capability — and yes, the calendar survived</a:t>
            </a:r>
          </a:p>
          <a:p>
            <a:pPr marL="88900" lvl="1" indent="-82550" defTabSz="577850">
              <a:lnSpc>
                <a:spcPct val="90000"/>
              </a:lnSpc>
              <a:spcBef>
                <a:spcPts val="400"/>
              </a:spcBef>
              <a:spcAft>
                <a:spcPts val="300"/>
              </a:spcAft>
              <a:buFont typeface="Arial" panose="020B0604020202020204" pitchFamily="34" charset="0"/>
              <a:buChar char="•"/>
            </a:pPr>
            <a:endParaRPr lang="en-US" dirty="0">
              <a:ea typeface="+mn-lt"/>
              <a:cs typeface="+mn-lt"/>
            </a:endParaRPr>
          </a:p>
        </p:txBody>
      </p:sp>
      <p:sp>
        <p:nvSpPr>
          <p:cNvPr id="19" name="Freeform: Shape 18">
            <a:extLst>
              <a:ext uri="{FF2B5EF4-FFF2-40B4-BE49-F238E27FC236}">
                <a16:creationId xmlns:a16="http://schemas.microsoft.com/office/drawing/2014/main" id="{8979F943-19A3-95B2-E646-339B80F796D7}"/>
              </a:ext>
            </a:extLst>
          </p:cNvPr>
          <p:cNvSpPr/>
          <p:nvPr/>
        </p:nvSpPr>
        <p:spPr>
          <a:xfrm>
            <a:off x="2186679"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600" b="1" dirty="0">
                <a:solidFill>
                  <a:schemeClr val="bg1"/>
                </a:solidFill>
                <a:latin typeface="Inter" panose="020B0502030000000004" pitchFamily="34" charset="0"/>
                <a:ea typeface="Inter" panose="020B0502030000000004" pitchFamily="34" charset="0"/>
                <a:cs typeface="Inter" panose="020B0502030000000004" pitchFamily="34" charset="0"/>
              </a:rPr>
              <a:t>Capacity</a:t>
            </a:r>
          </a:p>
        </p:txBody>
      </p:sp>
      <p:sp>
        <p:nvSpPr>
          <p:cNvPr id="20" name="Freeform: Shape 19">
            <a:extLst>
              <a:ext uri="{FF2B5EF4-FFF2-40B4-BE49-F238E27FC236}">
                <a16:creationId xmlns:a16="http://schemas.microsoft.com/office/drawing/2014/main" id="{FF2F2D7B-1484-0427-F582-A7D9A7CF0050}"/>
              </a:ext>
            </a:extLst>
          </p:cNvPr>
          <p:cNvSpPr/>
          <p:nvPr/>
        </p:nvSpPr>
        <p:spPr>
          <a:xfrm>
            <a:off x="2132679" y="2038212"/>
            <a:ext cx="1800000" cy="3421299"/>
          </a:xfrm>
          <a:custGeom>
            <a:avLst/>
            <a:gdLst>
              <a:gd name="csX0" fmla="*/ 0 w 1800000"/>
              <a:gd name="csY0" fmla="*/ 0 h 3421299"/>
              <a:gd name="csX1" fmla="*/ 396000 w 1800000"/>
              <a:gd name="csY1" fmla="*/ 0 h 3421299"/>
              <a:gd name="csX2" fmla="*/ 846000 w 1800000"/>
              <a:gd name="csY2" fmla="*/ 0 h 3421299"/>
              <a:gd name="csX3" fmla="*/ 1242000 w 1800000"/>
              <a:gd name="csY3" fmla="*/ 0 h 3421299"/>
              <a:gd name="csX4" fmla="*/ 1800000 w 1800000"/>
              <a:gd name="csY4" fmla="*/ 0 h 3421299"/>
              <a:gd name="csX5" fmla="*/ 1800000 w 1800000"/>
              <a:gd name="csY5" fmla="*/ 570217 h 3421299"/>
              <a:gd name="csX6" fmla="*/ 1800000 w 1800000"/>
              <a:gd name="csY6" fmla="*/ 1072007 h 3421299"/>
              <a:gd name="csX7" fmla="*/ 1800000 w 1800000"/>
              <a:gd name="csY7" fmla="*/ 1710650 h 3421299"/>
              <a:gd name="csX8" fmla="*/ 1800000 w 1800000"/>
              <a:gd name="csY8" fmla="*/ 2280866 h 3421299"/>
              <a:gd name="csX9" fmla="*/ 1800000 w 1800000"/>
              <a:gd name="csY9" fmla="*/ 2919508 h 3421299"/>
              <a:gd name="csX10" fmla="*/ 1800000 w 1800000"/>
              <a:gd name="csY10" fmla="*/ 3421299 h 3421299"/>
              <a:gd name="csX11" fmla="*/ 1332000 w 1800000"/>
              <a:gd name="csY11" fmla="*/ 3421299 h 3421299"/>
              <a:gd name="csX12" fmla="*/ 918000 w 1800000"/>
              <a:gd name="csY12" fmla="*/ 3421299 h 3421299"/>
              <a:gd name="csX13" fmla="*/ 432000 w 1800000"/>
              <a:gd name="csY13" fmla="*/ 3421299 h 3421299"/>
              <a:gd name="csX14" fmla="*/ 0 w 1800000"/>
              <a:gd name="csY14" fmla="*/ 3421299 h 3421299"/>
              <a:gd name="csX15" fmla="*/ 0 w 1800000"/>
              <a:gd name="csY15" fmla="*/ 2782657 h 3421299"/>
              <a:gd name="csX16" fmla="*/ 0 w 1800000"/>
              <a:gd name="csY16" fmla="*/ 2280866 h 3421299"/>
              <a:gd name="csX17" fmla="*/ 0 w 1800000"/>
              <a:gd name="csY17" fmla="*/ 1744862 h 3421299"/>
              <a:gd name="csX18" fmla="*/ 0 w 1800000"/>
              <a:gd name="csY18" fmla="*/ 1174646 h 3421299"/>
              <a:gd name="csX19" fmla="*/ 0 w 1800000"/>
              <a:gd name="csY19" fmla="*/ 604429 h 3421299"/>
              <a:gd name="csX20" fmla="*/ 0 w 1800000"/>
              <a:gd name="csY20" fmla="*/ 0 h 3421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800000" h="3421299" fill="none" extrusionOk="0">
                <a:moveTo>
                  <a:pt x="0" y="0"/>
                </a:moveTo>
                <a:cubicBezTo>
                  <a:pt x="170372" y="-38246"/>
                  <a:pt x="266660" y="46353"/>
                  <a:pt x="396000" y="0"/>
                </a:cubicBezTo>
                <a:cubicBezTo>
                  <a:pt x="525340" y="-46353"/>
                  <a:pt x="632839" y="20019"/>
                  <a:pt x="846000" y="0"/>
                </a:cubicBezTo>
                <a:cubicBezTo>
                  <a:pt x="1059161" y="-20019"/>
                  <a:pt x="1123801" y="31787"/>
                  <a:pt x="1242000" y="0"/>
                </a:cubicBezTo>
                <a:cubicBezTo>
                  <a:pt x="1360199" y="-31787"/>
                  <a:pt x="1529581" y="48590"/>
                  <a:pt x="1800000" y="0"/>
                </a:cubicBezTo>
                <a:cubicBezTo>
                  <a:pt x="1817352" y="260389"/>
                  <a:pt x="1779464" y="317426"/>
                  <a:pt x="1800000" y="570217"/>
                </a:cubicBezTo>
                <a:cubicBezTo>
                  <a:pt x="1820536" y="823008"/>
                  <a:pt x="1746461" y="952979"/>
                  <a:pt x="1800000" y="1072007"/>
                </a:cubicBezTo>
                <a:cubicBezTo>
                  <a:pt x="1853539" y="1191035"/>
                  <a:pt x="1780559" y="1474171"/>
                  <a:pt x="1800000" y="1710650"/>
                </a:cubicBezTo>
                <a:cubicBezTo>
                  <a:pt x="1819441" y="1947129"/>
                  <a:pt x="1737012" y="2143199"/>
                  <a:pt x="1800000" y="2280866"/>
                </a:cubicBezTo>
                <a:cubicBezTo>
                  <a:pt x="1862988" y="2418533"/>
                  <a:pt x="1773482" y="2671138"/>
                  <a:pt x="1800000" y="2919508"/>
                </a:cubicBezTo>
                <a:cubicBezTo>
                  <a:pt x="1826518" y="3167878"/>
                  <a:pt x="1762848" y="3244188"/>
                  <a:pt x="1800000" y="3421299"/>
                </a:cubicBezTo>
                <a:cubicBezTo>
                  <a:pt x="1584935" y="3424679"/>
                  <a:pt x="1448611" y="3380980"/>
                  <a:pt x="1332000" y="3421299"/>
                </a:cubicBezTo>
                <a:cubicBezTo>
                  <a:pt x="1215389" y="3461618"/>
                  <a:pt x="1038404" y="3374529"/>
                  <a:pt x="918000" y="3421299"/>
                </a:cubicBezTo>
                <a:cubicBezTo>
                  <a:pt x="797596" y="3468069"/>
                  <a:pt x="548262" y="3416461"/>
                  <a:pt x="432000" y="3421299"/>
                </a:cubicBezTo>
                <a:cubicBezTo>
                  <a:pt x="315738" y="3426137"/>
                  <a:pt x="107440" y="3412208"/>
                  <a:pt x="0" y="3421299"/>
                </a:cubicBezTo>
                <a:cubicBezTo>
                  <a:pt x="-38311" y="3272536"/>
                  <a:pt x="22570" y="3083460"/>
                  <a:pt x="0" y="2782657"/>
                </a:cubicBezTo>
                <a:cubicBezTo>
                  <a:pt x="-22570" y="2481854"/>
                  <a:pt x="16043" y="2504693"/>
                  <a:pt x="0" y="2280866"/>
                </a:cubicBezTo>
                <a:cubicBezTo>
                  <a:pt x="-16043" y="2057039"/>
                  <a:pt x="18662" y="1969715"/>
                  <a:pt x="0" y="1744862"/>
                </a:cubicBezTo>
                <a:cubicBezTo>
                  <a:pt x="-18662" y="1520009"/>
                  <a:pt x="44594" y="1382296"/>
                  <a:pt x="0" y="1174646"/>
                </a:cubicBezTo>
                <a:cubicBezTo>
                  <a:pt x="-44594" y="966996"/>
                  <a:pt x="21937" y="730786"/>
                  <a:pt x="0" y="604429"/>
                </a:cubicBezTo>
                <a:cubicBezTo>
                  <a:pt x="-21937" y="478072"/>
                  <a:pt x="36488" y="162240"/>
                  <a:pt x="0" y="0"/>
                </a:cubicBezTo>
                <a:close/>
              </a:path>
              <a:path w="1800000" h="3421299" stroke="0" extrusionOk="0">
                <a:moveTo>
                  <a:pt x="0" y="0"/>
                </a:moveTo>
                <a:cubicBezTo>
                  <a:pt x="232184" y="-51049"/>
                  <a:pt x="355833" y="30565"/>
                  <a:pt x="486000" y="0"/>
                </a:cubicBezTo>
                <a:cubicBezTo>
                  <a:pt x="616167" y="-30565"/>
                  <a:pt x="736547" y="32181"/>
                  <a:pt x="918000" y="0"/>
                </a:cubicBezTo>
                <a:cubicBezTo>
                  <a:pt x="1099453" y="-32181"/>
                  <a:pt x="1225643" y="45477"/>
                  <a:pt x="1314000" y="0"/>
                </a:cubicBezTo>
                <a:cubicBezTo>
                  <a:pt x="1402357" y="-45477"/>
                  <a:pt x="1614157" y="24954"/>
                  <a:pt x="1800000" y="0"/>
                </a:cubicBezTo>
                <a:cubicBezTo>
                  <a:pt x="1850153" y="118801"/>
                  <a:pt x="1777444" y="394202"/>
                  <a:pt x="1800000" y="536004"/>
                </a:cubicBezTo>
                <a:cubicBezTo>
                  <a:pt x="1822556" y="677806"/>
                  <a:pt x="1737052" y="927134"/>
                  <a:pt x="1800000" y="1072007"/>
                </a:cubicBezTo>
                <a:cubicBezTo>
                  <a:pt x="1862948" y="1216880"/>
                  <a:pt x="1782071" y="1313345"/>
                  <a:pt x="1800000" y="1539585"/>
                </a:cubicBezTo>
                <a:cubicBezTo>
                  <a:pt x="1817929" y="1765825"/>
                  <a:pt x="1749064" y="1871378"/>
                  <a:pt x="1800000" y="2041375"/>
                </a:cubicBezTo>
                <a:cubicBezTo>
                  <a:pt x="1850936" y="2211372"/>
                  <a:pt x="1754523" y="2432569"/>
                  <a:pt x="1800000" y="2611592"/>
                </a:cubicBezTo>
                <a:cubicBezTo>
                  <a:pt x="1845477" y="2790615"/>
                  <a:pt x="1774205" y="3234424"/>
                  <a:pt x="1800000" y="3421299"/>
                </a:cubicBezTo>
                <a:cubicBezTo>
                  <a:pt x="1619655" y="3422075"/>
                  <a:pt x="1444825" y="3377077"/>
                  <a:pt x="1332000" y="3421299"/>
                </a:cubicBezTo>
                <a:cubicBezTo>
                  <a:pt x="1219175" y="3465521"/>
                  <a:pt x="1012781" y="3381484"/>
                  <a:pt x="864000" y="3421299"/>
                </a:cubicBezTo>
                <a:cubicBezTo>
                  <a:pt x="715219" y="3461114"/>
                  <a:pt x="565025" y="3393264"/>
                  <a:pt x="432000" y="3421299"/>
                </a:cubicBezTo>
                <a:cubicBezTo>
                  <a:pt x="298975" y="3449334"/>
                  <a:pt x="209783" y="3392833"/>
                  <a:pt x="0" y="3421299"/>
                </a:cubicBezTo>
                <a:cubicBezTo>
                  <a:pt x="-25951" y="3162832"/>
                  <a:pt x="50575" y="3063839"/>
                  <a:pt x="0" y="2851083"/>
                </a:cubicBezTo>
                <a:cubicBezTo>
                  <a:pt x="-50575" y="2638327"/>
                  <a:pt x="46488" y="2411457"/>
                  <a:pt x="0" y="2212440"/>
                </a:cubicBezTo>
                <a:cubicBezTo>
                  <a:pt x="-46488" y="2013423"/>
                  <a:pt x="39241" y="1887048"/>
                  <a:pt x="0" y="1710650"/>
                </a:cubicBezTo>
                <a:cubicBezTo>
                  <a:pt x="-39241" y="1534252"/>
                  <a:pt x="40576" y="1357161"/>
                  <a:pt x="0" y="1174646"/>
                </a:cubicBezTo>
                <a:cubicBezTo>
                  <a:pt x="-40576" y="992131"/>
                  <a:pt x="23269" y="761015"/>
                  <a:pt x="0" y="604429"/>
                </a:cubicBezTo>
                <a:cubicBezTo>
                  <a:pt x="-23269" y="447843"/>
                  <a:pt x="33994" y="174956"/>
                  <a:pt x="0" y="0"/>
                </a:cubicBezTo>
                <a:close/>
              </a:path>
            </a:pathLst>
          </a:custGeom>
          <a:ln cap="rnd">
            <a:noFill/>
            <a:extLst>
              <a:ext uri="{C807C97D-BFC1-408E-A445-0C87EB9F89A2}">
                <ask:lineSketchStyleProps xmlns:ask="http://schemas.microsoft.com/office/drawing/2018/sketchyshapes" sd="4179528927">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93663" lvl="1" indent="-93663" defTabSz="577850">
              <a:lnSpc>
                <a:spcPct val="90000"/>
              </a:lnSpc>
              <a:spcAft>
                <a:spcPts val="300"/>
              </a:spcAft>
              <a:buFont typeface="Arial" panose="020B0604020202020204" pitchFamily="34" charset="0"/>
              <a:buChar char="•"/>
            </a:pPr>
            <a:r>
              <a:rPr lang="en-US" sz="1200" dirty="0"/>
              <a:t>Put expanded HLC capacity to work immediately in 1Q26</a:t>
            </a:r>
          </a:p>
          <a:p>
            <a:pPr marL="93663" lvl="1" indent="-93663" defTabSz="577850">
              <a:lnSpc>
                <a:spcPct val="90000"/>
              </a:lnSpc>
              <a:spcAft>
                <a:spcPts val="300"/>
              </a:spcAft>
              <a:buFont typeface="Arial" panose="020B0604020202020204" pitchFamily="34" charset="0"/>
              <a:buChar char="•"/>
            </a:pPr>
            <a:r>
              <a:rPr lang="en-US" sz="1200" dirty="0"/>
              <a:t>Feb. 11 HLC event showcased the renovation and reinforced training as a business priority</a:t>
            </a:r>
          </a:p>
          <a:p>
            <a:pPr marL="93663" lvl="1" indent="-93663" defTabSz="577850">
              <a:lnSpc>
                <a:spcPct val="90000"/>
              </a:lnSpc>
              <a:spcAft>
                <a:spcPts val="300"/>
              </a:spcAft>
              <a:buFont typeface="Arial" panose="020B0604020202020204" pitchFamily="34" charset="0"/>
              <a:buChar char="•"/>
            </a:pPr>
            <a:r>
              <a:rPr lang="en-US" sz="1200" dirty="0"/>
              <a:t>Used upgraded spaces to support more learners, more programs, and stronger customer/leadership visibility</a:t>
            </a:r>
          </a:p>
          <a:p>
            <a:pPr marL="93663" lvl="1" indent="-93663" defTabSz="577850">
              <a:lnSpc>
                <a:spcPct val="90000"/>
              </a:lnSpc>
              <a:spcAft>
                <a:spcPts val="300"/>
              </a:spcAft>
              <a:buFont typeface="Arial" panose="020B0604020202020204" pitchFamily="34" charset="0"/>
              <a:buChar char="•"/>
            </a:pPr>
            <a:r>
              <a:rPr lang="en-US" sz="1200" dirty="0"/>
              <a:t>Improved instructor flow, student experience, and event hosting without slowing delivery</a:t>
            </a:r>
          </a:p>
          <a:p>
            <a:pPr marL="93663" lvl="1" indent="-93663" defTabSz="577850">
              <a:lnSpc>
                <a:spcPct val="90000"/>
              </a:lnSpc>
              <a:spcAft>
                <a:spcPts val="300"/>
              </a:spcAft>
              <a:buFont typeface="Arial" panose="020B0604020202020204" pitchFamily="34" charset="0"/>
              <a:buChar char="•"/>
            </a:pPr>
            <a:r>
              <a:rPr lang="en-US" sz="1200" dirty="0"/>
              <a:t>Proved this was more than a facelift — it increased usable delivery capacity</a:t>
            </a:r>
          </a:p>
        </p:txBody>
      </p:sp>
      <p:sp>
        <p:nvSpPr>
          <p:cNvPr id="21" name="Freeform: Shape 20">
            <a:extLst>
              <a:ext uri="{FF2B5EF4-FFF2-40B4-BE49-F238E27FC236}">
                <a16:creationId xmlns:a16="http://schemas.microsoft.com/office/drawing/2014/main" id="{2E6DF395-2980-82E2-1796-10BCC5878A2D}"/>
              </a:ext>
            </a:extLst>
          </p:cNvPr>
          <p:cNvSpPr/>
          <p:nvPr/>
        </p:nvSpPr>
        <p:spPr>
          <a:xfrm>
            <a:off x="6265253"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600" b="1" dirty="0">
                <a:solidFill>
                  <a:schemeClr val="bg1"/>
                </a:solidFill>
                <a:latin typeface="Inter" panose="020B0502030000000004" pitchFamily="34" charset="0"/>
                <a:ea typeface="Inter" panose="020B0502030000000004" pitchFamily="34" charset="0"/>
                <a:cs typeface="Inter" panose="020B0502030000000004" pitchFamily="34" charset="0"/>
              </a:rPr>
              <a:t>CAPEX</a:t>
            </a:r>
          </a:p>
        </p:txBody>
      </p:sp>
      <p:sp>
        <p:nvSpPr>
          <p:cNvPr id="22" name="Freeform: Shape 21">
            <a:extLst>
              <a:ext uri="{FF2B5EF4-FFF2-40B4-BE49-F238E27FC236}">
                <a16:creationId xmlns:a16="http://schemas.microsoft.com/office/drawing/2014/main" id="{65A002C2-52D4-8D22-0E4E-09742F090DDB}"/>
              </a:ext>
            </a:extLst>
          </p:cNvPr>
          <p:cNvSpPr/>
          <p:nvPr/>
        </p:nvSpPr>
        <p:spPr>
          <a:xfrm>
            <a:off x="6211253" y="2038212"/>
            <a:ext cx="1800000" cy="3421299"/>
          </a:xfrm>
          <a:custGeom>
            <a:avLst/>
            <a:gdLst>
              <a:gd name="csX0" fmla="*/ 0 w 1800000"/>
              <a:gd name="csY0" fmla="*/ 0 h 3421299"/>
              <a:gd name="csX1" fmla="*/ 414000 w 1800000"/>
              <a:gd name="csY1" fmla="*/ 0 h 3421299"/>
              <a:gd name="csX2" fmla="*/ 864000 w 1800000"/>
              <a:gd name="csY2" fmla="*/ 0 h 3421299"/>
              <a:gd name="csX3" fmla="*/ 1260000 w 1800000"/>
              <a:gd name="csY3" fmla="*/ 0 h 3421299"/>
              <a:gd name="csX4" fmla="*/ 1800000 w 1800000"/>
              <a:gd name="csY4" fmla="*/ 0 h 3421299"/>
              <a:gd name="csX5" fmla="*/ 1800000 w 1800000"/>
              <a:gd name="csY5" fmla="*/ 570217 h 3421299"/>
              <a:gd name="csX6" fmla="*/ 1800000 w 1800000"/>
              <a:gd name="csY6" fmla="*/ 1072007 h 3421299"/>
              <a:gd name="csX7" fmla="*/ 1800000 w 1800000"/>
              <a:gd name="csY7" fmla="*/ 1573798 h 3421299"/>
              <a:gd name="csX8" fmla="*/ 1800000 w 1800000"/>
              <a:gd name="csY8" fmla="*/ 2109801 h 3421299"/>
              <a:gd name="csX9" fmla="*/ 1800000 w 1800000"/>
              <a:gd name="csY9" fmla="*/ 2748444 h 3421299"/>
              <a:gd name="csX10" fmla="*/ 1800000 w 1800000"/>
              <a:gd name="csY10" fmla="*/ 3421299 h 3421299"/>
              <a:gd name="csX11" fmla="*/ 1404000 w 1800000"/>
              <a:gd name="csY11" fmla="*/ 3421299 h 3421299"/>
              <a:gd name="csX12" fmla="*/ 972000 w 1800000"/>
              <a:gd name="csY12" fmla="*/ 3421299 h 3421299"/>
              <a:gd name="csX13" fmla="*/ 486000 w 1800000"/>
              <a:gd name="csY13" fmla="*/ 3421299 h 3421299"/>
              <a:gd name="csX14" fmla="*/ 0 w 1800000"/>
              <a:gd name="csY14" fmla="*/ 3421299 h 3421299"/>
              <a:gd name="csX15" fmla="*/ 0 w 1800000"/>
              <a:gd name="csY15" fmla="*/ 2782657 h 3421299"/>
              <a:gd name="csX16" fmla="*/ 0 w 1800000"/>
              <a:gd name="csY16" fmla="*/ 2315079 h 3421299"/>
              <a:gd name="csX17" fmla="*/ 0 w 1800000"/>
              <a:gd name="csY17" fmla="*/ 1710650 h 3421299"/>
              <a:gd name="csX18" fmla="*/ 0 w 1800000"/>
              <a:gd name="csY18" fmla="*/ 1243072 h 3421299"/>
              <a:gd name="csX19" fmla="*/ 0 w 1800000"/>
              <a:gd name="csY19" fmla="*/ 672855 h 3421299"/>
              <a:gd name="csX20" fmla="*/ 0 w 1800000"/>
              <a:gd name="csY20" fmla="*/ 0 h 3421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800000" h="3421299" fill="none" extrusionOk="0">
                <a:moveTo>
                  <a:pt x="0" y="0"/>
                </a:moveTo>
                <a:cubicBezTo>
                  <a:pt x="177718" y="-34360"/>
                  <a:pt x="315419" y="28276"/>
                  <a:pt x="414000" y="0"/>
                </a:cubicBezTo>
                <a:cubicBezTo>
                  <a:pt x="512581" y="-28276"/>
                  <a:pt x="683879" y="27000"/>
                  <a:pt x="864000" y="0"/>
                </a:cubicBezTo>
                <a:cubicBezTo>
                  <a:pt x="1044121" y="-27000"/>
                  <a:pt x="1154483" y="37832"/>
                  <a:pt x="1260000" y="0"/>
                </a:cubicBezTo>
                <a:cubicBezTo>
                  <a:pt x="1365517" y="-37832"/>
                  <a:pt x="1570576" y="51769"/>
                  <a:pt x="1800000" y="0"/>
                </a:cubicBezTo>
                <a:cubicBezTo>
                  <a:pt x="1834408" y="114350"/>
                  <a:pt x="1761919" y="319177"/>
                  <a:pt x="1800000" y="570217"/>
                </a:cubicBezTo>
                <a:cubicBezTo>
                  <a:pt x="1838081" y="821257"/>
                  <a:pt x="1753886" y="854655"/>
                  <a:pt x="1800000" y="1072007"/>
                </a:cubicBezTo>
                <a:cubicBezTo>
                  <a:pt x="1846114" y="1289359"/>
                  <a:pt x="1760325" y="1385003"/>
                  <a:pt x="1800000" y="1573798"/>
                </a:cubicBezTo>
                <a:cubicBezTo>
                  <a:pt x="1839675" y="1762593"/>
                  <a:pt x="1760788" y="1914328"/>
                  <a:pt x="1800000" y="2109801"/>
                </a:cubicBezTo>
                <a:cubicBezTo>
                  <a:pt x="1839212" y="2305274"/>
                  <a:pt x="1792472" y="2538800"/>
                  <a:pt x="1800000" y="2748444"/>
                </a:cubicBezTo>
                <a:cubicBezTo>
                  <a:pt x="1807528" y="2958088"/>
                  <a:pt x="1787467" y="3122061"/>
                  <a:pt x="1800000" y="3421299"/>
                </a:cubicBezTo>
                <a:cubicBezTo>
                  <a:pt x="1615382" y="3468302"/>
                  <a:pt x="1563762" y="3419530"/>
                  <a:pt x="1404000" y="3421299"/>
                </a:cubicBezTo>
                <a:cubicBezTo>
                  <a:pt x="1244238" y="3423068"/>
                  <a:pt x="1165491" y="3386784"/>
                  <a:pt x="972000" y="3421299"/>
                </a:cubicBezTo>
                <a:cubicBezTo>
                  <a:pt x="778509" y="3455814"/>
                  <a:pt x="621252" y="3367340"/>
                  <a:pt x="486000" y="3421299"/>
                </a:cubicBezTo>
                <a:cubicBezTo>
                  <a:pt x="350748" y="3475258"/>
                  <a:pt x="203101" y="3402653"/>
                  <a:pt x="0" y="3421299"/>
                </a:cubicBezTo>
                <a:cubicBezTo>
                  <a:pt x="-2067" y="3200301"/>
                  <a:pt x="30004" y="3003615"/>
                  <a:pt x="0" y="2782657"/>
                </a:cubicBezTo>
                <a:cubicBezTo>
                  <a:pt x="-30004" y="2561699"/>
                  <a:pt x="38017" y="2418459"/>
                  <a:pt x="0" y="2315079"/>
                </a:cubicBezTo>
                <a:cubicBezTo>
                  <a:pt x="-38017" y="2211699"/>
                  <a:pt x="15938" y="1901008"/>
                  <a:pt x="0" y="1710650"/>
                </a:cubicBezTo>
                <a:cubicBezTo>
                  <a:pt x="-15938" y="1520292"/>
                  <a:pt x="32085" y="1374892"/>
                  <a:pt x="0" y="1243072"/>
                </a:cubicBezTo>
                <a:cubicBezTo>
                  <a:pt x="-32085" y="1111252"/>
                  <a:pt x="23903" y="855262"/>
                  <a:pt x="0" y="672855"/>
                </a:cubicBezTo>
                <a:cubicBezTo>
                  <a:pt x="-23903" y="490448"/>
                  <a:pt x="57319" y="246827"/>
                  <a:pt x="0" y="0"/>
                </a:cubicBezTo>
                <a:close/>
              </a:path>
              <a:path w="1800000" h="3421299" stroke="0" extrusionOk="0">
                <a:moveTo>
                  <a:pt x="0" y="0"/>
                </a:moveTo>
                <a:cubicBezTo>
                  <a:pt x="175111" y="-17150"/>
                  <a:pt x="215597" y="11218"/>
                  <a:pt x="414000" y="0"/>
                </a:cubicBezTo>
                <a:cubicBezTo>
                  <a:pt x="612403" y="-11218"/>
                  <a:pt x="657259" y="6193"/>
                  <a:pt x="846000" y="0"/>
                </a:cubicBezTo>
                <a:cubicBezTo>
                  <a:pt x="1034741" y="-6193"/>
                  <a:pt x="1128567" y="26627"/>
                  <a:pt x="1242000" y="0"/>
                </a:cubicBezTo>
                <a:cubicBezTo>
                  <a:pt x="1355433" y="-26627"/>
                  <a:pt x="1550958" y="66421"/>
                  <a:pt x="1800000" y="0"/>
                </a:cubicBezTo>
                <a:cubicBezTo>
                  <a:pt x="1844365" y="260509"/>
                  <a:pt x="1745122" y="304728"/>
                  <a:pt x="1800000" y="536004"/>
                </a:cubicBezTo>
                <a:cubicBezTo>
                  <a:pt x="1854878" y="767280"/>
                  <a:pt x="1757621" y="1006214"/>
                  <a:pt x="1800000" y="1140433"/>
                </a:cubicBezTo>
                <a:cubicBezTo>
                  <a:pt x="1842379" y="1274652"/>
                  <a:pt x="1743177" y="1403055"/>
                  <a:pt x="1800000" y="1642224"/>
                </a:cubicBezTo>
                <a:cubicBezTo>
                  <a:pt x="1856823" y="1881393"/>
                  <a:pt x="1749006" y="2018494"/>
                  <a:pt x="1800000" y="2212440"/>
                </a:cubicBezTo>
                <a:cubicBezTo>
                  <a:pt x="1850994" y="2406386"/>
                  <a:pt x="1724131" y="2598004"/>
                  <a:pt x="1800000" y="2851082"/>
                </a:cubicBezTo>
                <a:cubicBezTo>
                  <a:pt x="1875869" y="3104160"/>
                  <a:pt x="1770992" y="3233149"/>
                  <a:pt x="1800000" y="3421299"/>
                </a:cubicBezTo>
                <a:cubicBezTo>
                  <a:pt x="1598283" y="3469865"/>
                  <a:pt x="1527471" y="3393575"/>
                  <a:pt x="1386000" y="3421299"/>
                </a:cubicBezTo>
                <a:cubicBezTo>
                  <a:pt x="1244529" y="3449023"/>
                  <a:pt x="1126042" y="3384396"/>
                  <a:pt x="954000" y="3421299"/>
                </a:cubicBezTo>
                <a:cubicBezTo>
                  <a:pt x="781958" y="3458202"/>
                  <a:pt x="652682" y="3371844"/>
                  <a:pt x="522000" y="3421299"/>
                </a:cubicBezTo>
                <a:cubicBezTo>
                  <a:pt x="391318" y="3470754"/>
                  <a:pt x="137001" y="3362903"/>
                  <a:pt x="0" y="3421299"/>
                </a:cubicBezTo>
                <a:cubicBezTo>
                  <a:pt x="-41668" y="3237001"/>
                  <a:pt x="21537" y="2977738"/>
                  <a:pt x="0" y="2816870"/>
                </a:cubicBezTo>
                <a:cubicBezTo>
                  <a:pt x="-21537" y="2656002"/>
                  <a:pt x="24871" y="2500900"/>
                  <a:pt x="0" y="2246653"/>
                </a:cubicBezTo>
                <a:cubicBezTo>
                  <a:pt x="-24871" y="1992406"/>
                  <a:pt x="25939" y="1913434"/>
                  <a:pt x="0" y="1710650"/>
                </a:cubicBezTo>
                <a:cubicBezTo>
                  <a:pt x="-25939" y="1507866"/>
                  <a:pt x="20293" y="1403873"/>
                  <a:pt x="0" y="1243072"/>
                </a:cubicBezTo>
                <a:cubicBezTo>
                  <a:pt x="-20293" y="1082271"/>
                  <a:pt x="50818" y="770035"/>
                  <a:pt x="0" y="638642"/>
                </a:cubicBezTo>
                <a:cubicBezTo>
                  <a:pt x="-50818" y="507249"/>
                  <a:pt x="74195" y="310548"/>
                  <a:pt x="0" y="0"/>
                </a:cubicBezTo>
                <a:close/>
              </a:path>
            </a:pathLst>
          </a:custGeom>
          <a:ln cap="rnd">
            <a:noFill/>
            <a:extLst>
              <a:ext uri="{C807C97D-BFC1-408E-A445-0C87EB9F89A2}">
                <ask:lineSketchStyleProps xmlns:ask="http://schemas.microsoft.com/office/drawing/2018/sketchyshapes" sd="1363095668">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06363" indent="-106363">
              <a:spcAft>
                <a:spcPts val="300"/>
              </a:spcAft>
              <a:buFont typeface="Arial" panose="020B0604020202020204" pitchFamily="34" charset="0"/>
              <a:buChar char="•"/>
            </a:pPr>
            <a:r>
              <a:rPr lang="en-US" sz="1200" dirty="0"/>
              <a:t>Backed the year with a </a:t>
            </a:r>
            <a:r>
              <a:rPr lang="en-US" sz="1200" b="1" dirty="0"/>
              <a:t>$5.2M 2026 CAPEX budget</a:t>
            </a:r>
            <a:r>
              <a:rPr lang="en-US" sz="1200" dirty="0"/>
              <a:t> for training</a:t>
            </a:r>
          </a:p>
          <a:p>
            <a:pPr marL="106045" indent="-106045">
              <a:spcAft>
                <a:spcPts val="300"/>
              </a:spcAft>
              <a:buFont typeface="Arial" panose="020B0604020202020204" pitchFamily="34" charset="0"/>
              <a:buChar char="•"/>
            </a:pPr>
            <a:r>
              <a:rPr lang="en-US" sz="1200" dirty="0"/>
              <a:t>That is roughly </a:t>
            </a:r>
            <a:r>
              <a:rPr lang="en-US" sz="1200" b="1" dirty="0"/>
              <a:t>4x the 10-year average</a:t>
            </a:r>
            <a:r>
              <a:rPr lang="en-US" sz="1200" dirty="0"/>
              <a:t> </a:t>
            </a:r>
          </a:p>
          <a:p>
            <a:pPr marL="106045" indent="-106045">
              <a:spcAft>
                <a:spcPts val="300"/>
              </a:spcAft>
              <a:buFont typeface="Arial" panose="020B0604020202020204" pitchFamily="34" charset="0"/>
              <a:buChar char="•"/>
            </a:pPr>
            <a:r>
              <a:rPr lang="en-US" sz="1200" b="1" dirty="0"/>
              <a:t>Currently already $4.0M approved in POs</a:t>
            </a:r>
            <a:r>
              <a:rPr lang="en-US" sz="1200" dirty="0"/>
              <a:t>, moving investment from talk to action</a:t>
            </a:r>
          </a:p>
          <a:p>
            <a:pPr marL="106363" indent="-106363">
              <a:spcAft>
                <a:spcPts val="300"/>
              </a:spcAft>
              <a:buFont typeface="Arial" panose="020B0604020202020204" pitchFamily="34" charset="0"/>
              <a:buChar char="•"/>
            </a:pPr>
            <a:r>
              <a:rPr lang="en-US" sz="1200" dirty="0"/>
              <a:t>Funding supports lean tools, </a:t>
            </a:r>
            <a:r>
              <a:rPr lang="en-US" sz="1200" b="1" dirty="0"/>
              <a:t>7HA infrastructure</a:t>
            </a:r>
            <a:r>
              <a:rPr lang="en-US" sz="1200" dirty="0"/>
              <a:t>, controls equipment updates, and continued HLC improvements</a:t>
            </a:r>
          </a:p>
          <a:p>
            <a:pPr marL="106363" indent="-106363">
              <a:spcAft>
                <a:spcPts val="300"/>
              </a:spcAft>
              <a:buFont typeface="Arial" panose="020B0604020202020204" pitchFamily="34" charset="0"/>
              <a:buChar char="•"/>
            </a:pPr>
            <a:r>
              <a:rPr lang="en-US" sz="1200" dirty="0"/>
              <a:t>In real terms: we are buying now what would normally have been spread over the next </a:t>
            </a:r>
            <a:r>
              <a:rPr lang="en-US" sz="1200" b="1" dirty="0"/>
              <a:t>four years</a:t>
            </a:r>
            <a:endParaRPr lang="en-US" sz="1200" dirty="0"/>
          </a:p>
          <a:p>
            <a:pPr marL="106363" lvl="1" indent="-106363" algn="l" defTabSz="577850">
              <a:lnSpc>
                <a:spcPct val="90000"/>
              </a:lnSpc>
              <a:spcBef>
                <a:spcPts val="400"/>
              </a:spcBef>
              <a:spcAft>
                <a:spcPts val="300"/>
              </a:spcAft>
            </a:pPr>
            <a:endParaRPr lang="en-US" sz="1300" dirty="0">
              <a:latin typeface="Inter" panose="020B0502030000000004" pitchFamily="34" charset="0"/>
              <a:ea typeface="Inter" panose="020B0502030000000004" pitchFamily="34" charset="0"/>
              <a:cs typeface="Inter" panose="020B0502030000000004" pitchFamily="34" charset="0"/>
            </a:endParaRPr>
          </a:p>
        </p:txBody>
      </p:sp>
      <p:sp>
        <p:nvSpPr>
          <p:cNvPr id="23" name="Freeform: Shape 22">
            <a:extLst>
              <a:ext uri="{FF2B5EF4-FFF2-40B4-BE49-F238E27FC236}">
                <a16:creationId xmlns:a16="http://schemas.microsoft.com/office/drawing/2014/main" id="{6BC77FA9-5BC5-5A34-F74F-F8A231884083}"/>
              </a:ext>
            </a:extLst>
          </p:cNvPr>
          <p:cNvSpPr/>
          <p:nvPr/>
        </p:nvSpPr>
        <p:spPr>
          <a:xfrm>
            <a:off x="8304540"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600" b="1" dirty="0">
                <a:solidFill>
                  <a:schemeClr val="bg1"/>
                </a:solidFill>
                <a:latin typeface="Inter" panose="020B0502030000000004" pitchFamily="34" charset="0"/>
                <a:ea typeface="Inter" panose="020B0502030000000004" pitchFamily="34" charset="0"/>
                <a:cs typeface="Inter" panose="020B0502030000000004" pitchFamily="34" charset="0"/>
              </a:rPr>
              <a:t>Engagement</a:t>
            </a:r>
            <a:endParaRPr lang="en-GB" sz="1600" b="1" dirty="0">
              <a:solidFill>
                <a:schemeClr val="bg1"/>
              </a:solidFill>
              <a:latin typeface="Inter" panose="020B0502030000000004" pitchFamily="34" charset="0"/>
              <a:ea typeface="Inter" panose="020B0502030000000004" pitchFamily="34" charset="0"/>
              <a:cs typeface="Inter" panose="020B0502030000000004" pitchFamily="34" charset="0"/>
            </a:endParaRPr>
          </a:p>
        </p:txBody>
      </p:sp>
      <p:sp>
        <p:nvSpPr>
          <p:cNvPr id="24" name="Freeform: Shape 23">
            <a:extLst>
              <a:ext uri="{FF2B5EF4-FFF2-40B4-BE49-F238E27FC236}">
                <a16:creationId xmlns:a16="http://schemas.microsoft.com/office/drawing/2014/main" id="{5C19BFDE-656E-D5AD-810F-6D141570F699}"/>
              </a:ext>
            </a:extLst>
          </p:cNvPr>
          <p:cNvSpPr/>
          <p:nvPr/>
        </p:nvSpPr>
        <p:spPr>
          <a:xfrm>
            <a:off x="8250540" y="2038212"/>
            <a:ext cx="1800000" cy="3421299"/>
          </a:xfrm>
          <a:custGeom>
            <a:avLst/>
            <a:gdLst>
              <a:gd name="csX0" fmla="*/ 0 w 1800000"/>
              <a:gd name="csY0" fmla="*/ 0 h 3421299"/>
              <a:gd name="csX1" fmla="*/ 414000 w 1800000"/>
              <a:gd name="csY1" fmla="*/ 0 h 3421299"/>
              <a:gd name="csX2" fmla="*/ 882000 w 1800000"/>
              <a:gd name="csY2" fmla="*/ 0 h 3421299"/>
              <a:gd name="csX3" fmla="*/ 1332000 w 1800000"/>
              <a:gd name="csY3" fmla="*/ 0 h 3421299"/>
              <a:gd name="csX4" fmla="*/ 1800000 w 1800000"/>
              <a:gd name="csY4" fmla="*/ 0 h 3421299"/>
              <a:gd name="csX5" fmla="*/ 1800000 w 1800000"/>
              <a:gd name="csY5" fmla="*/ 638642 h 3421299"/>
              <a:gd name="csX6" fmla="*/ 1800000 w 1800000"/>
              <a:gd name="csY6" fmla="*/ 1174646 h 3421299"/>
              <a:gd name="csX7" fmla="*/ 1800000 w 1800000"/>
              <a:gd name="csY7" fmla="*/ 1813288 h 3421299"/>
              <a:gd name="csX8" fmla="*/ 1800000 w 1800000"/>
              <a:gd name="csY8" fmla="*/ 2383505 h 3421299"/>
              <a:gd name="csX9" fmla="*/ 1800000 w 1800000"/>
              <a:gd name="csY9" fmla="*/ 2919508 h 3421299"/>
              <a:gd name="csX10" fmla="*/ 1800000 w 1800000"/>
              <a:gd name="csY10" fmla="*/ 3421299 h 3421299"/>
              <a:gd name="csX11" fmla="*/ 1314000 w 1800000"/>
              <a:gd name="csY11" fmla="*/ 3421299 h 3421299"/>
              <a:gd name="csX12" fmla="*/ 918000 w 1800000"/>
              <a:gd name="csY12" fmla="*/ 3421299 h 3421299"/>
              <a:gd name="csX13" fmla="*/ 504000 w 1800000"/>
              <a:gd name="csY13" fmla="*/ 3421299 h 3421299"/>
              <a:gd name="csX14" fmla="*/ 0 w 1800000"/>
              <a:gd name="csY14" fmla="*/ 3421299 h 3421299"/>
              <a:gd name="csX15" fmla="*/ 0 w 1800000"/>
              <a:gd name="csY15" fmla="*/ 2919508 h 3421299"/>
              <a:gd name="csX16" fmla="*/ 0 w 1800000"/>
              <a:gd name="csY16" fmla="*/ 2451931 h 3421299"/>
              <a:gd name="csX17" fmla="*/ 0 w 1800000"/>
              <a:gd name="csY17" fmla="*/ 1881714 h 3421299"/>
              <a:gd name="csX18" fmla="*/ 0 w 1800000"/>
              <a:gd name="csY18" fmla="*/ 1414137 h 3421299"/>
              <a:gd name="csX19" fmla="*/ 0 w 1800000"/>
              <a:gd name="csY19" fmla="*/ 775494 h 3421299"/>
              <a:gd name="csX20" fmla="*/ 0 w 1800000"/>
              <a:gd name="csY20" fmla="*/ 0 h 3421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800000" h="3421299" fill="none" extrusionOk="0">
                <a:moveTo>
                  <a:pt x="0" y="0"/>
                </a:moveTo>
                <a:cubicBezTo>
                  <a:pt x="205184" y="-42281"/>
                  <a:pt x="226279" y="26264"/>
                  <a:pt x="414000" y="0"/>
                </a:cubicBezTo>
                <a:cubicBezTo>
                  <a:pt x="601721" y="-26264"/>
                  <a:pt x="746743" y="7579"/>
                  <a:pt x="882000" y="0"/>
                </a:cubicBezTo>
                <a:cubicBezTo>
                  <a:pt x="1017257" y="-7579"/>
                  <a:pt x="1125160" y="14501"/>
                  <a:pt x="1332000" y="0"/>
                </a:cubicBezTo>
                <a:cubicBezTo>
                  <a:pt x="1538840" y="-14501"/>
                  <a:pt x="1624926" y="2045"/>
                  <a:pt x="1800000" y="0"/>
                </a:cubicBezTo>
                <a:cubicBezTo>
                  <a:pt x="1860665" y="314219"/>
                  <a:pt x="1794882" y="501179"/>
                  <a:pt x="1800000" y="638642"/>
                </a:cubicBezTo>
                <a:cubicBezTo>
                  <a:pt x="1805118" y="776105"/>
                  <a:pt x="1740170" y="914651"/>
                  <a:pt x="1800000" y="1174646"/>
                </a:cubicBezTo>
                <a:cubicBezTo>
                  <a:pt x="1859830" y="1434641"/>
                  <a:pt x="1753811" y="1541849"/>
                  <a:pt x="1800000" y="1813288"/>
                </a:cubicBezTo>
                <a:cubicBezTo>
                  <a:pt x="1846189" y="2084727"/>
                  <a:pt x="1757913" y="2103538"/>
                  <a:pt x="1800000" y="2383505"/>
                </a:cubicBezTo>
                <a:cubicBezTo>
                  <a:pt x="1842087" y="2663472"/>
                  <a:pt x="1784125" y="2697150"/>
                  <a:pt x="1800000" y="2919508"/>
                </a:cubicBezTo>
                <a:cubicBezTo>
                  <a:pt x="1815875" y="3141866"/>
                  <a:pt x="1791045" y="3320129"/>
                  <a:pt x="1800000" y="3421299"/>
                </a:cubicBezTo>
                <a:cubicBezTo>
                  <a:pt x="1684886" y="3465291"/>
                  <a:pt x="1473842" y="3393568"/>
                  <a:pt x="1314000" y="3421299"/>
                </a:cubicBezTo>
                <a:cubicBezTo>
                  <a:pt x="1154158" y="3449030"/>
                  <a:pt x="1103213" y="3404439"/>
                  <a:pt x="918000" y="3421299"/>
                </a:cubicBezTo>
                <a:cubicBezTo>
                  <a:pt x="732787" y="3438159"/>
                  <a:pt x="649688" y="3419937"/>
                  <a:pt x="504000" y="3421299"/>
                </a:cubicBezTo>
                <a:cubicBezTo>
                  <a:pt x="358312" y="3422661"/>
                  <a:pt x="126841" y="3397673"/>
                  <a:pt x="0" y="3421299"/>
                </a:cubicBezTo>
                <a:cubicBezTo>
                  <a:pt x="-7899" y="3233417"/>
                  <a:pt x="12102" y="3081636"/>
                  <a:pt x="0" y="2919508"/>
                </a:cubicBezTo>
                <a:cubicBezTo>
                  <a:pt x="-12102" y="2757380"/>
                  <a:pt x="33704" y="2655524"/>
                  <a:pt x="0" y="2451931"/>
                </a:cubicBezTo>
                <a:cubicBezTo>
                  <a:pt x="-33704" y="2248338"/>
                  <a:pt x="51477" y="2119425"/>
                  <a:pt x="0" y="1881714"/>
                </a:cubicBezTo>
                <a:cubicBezTo>
                  <a:pt x="-51477" y="1644003"/>
                  <a:pt x="5949" y="1587967"/>
                  <a:pt x="0" y="1414137"/>
                </a:cubicBezTo>
                <a:cubicBezTo>
                  <a:pt x="-5949" y="1240307"/>
                  <a:pt x="54544" y="969164"/>
                  <a:pt x="0" y="775494"/>
                </a:cubicBezTo>
                <a:cubicBezTo>
                  <a:pt x="-54544" y="581824"/>
                  <a:pt x="50806" y="332370"/>
                  <a:pt x="0" y="0"/>
                </a:cubicBezTo>
                <a:close/>
              </a:path>
              <a:path w="1800000" h="3421299" stroke="0" extrusionOk="0">
                <a:moveTo>
                  <a:pt x="0" y="0"/>
                </a:moveTo>
                <a:cubicBezTo>
                  <a:pt x="179616" y="-4140"/>
                  <a:pt x="341757" y="48065"/>
                  <a:pt x="468000" y="0"/>
                </a:cubicBezTo>
                <a:cubicBezTo>
                  <a:pt x="594243" y="-48065"/>
                  <a:pt x="714949" y="9191"/>
                  <a:pt x="918000" y="0"/>
                </a:cubicBezTo>
                <a:cubicBezTo>
                  <a:pt x="1121051" y="-9191"/>
                  <a:pt x="1250592" y="32639"/>
                  <a:pt x="1386000" y="0"/>
                </a:cubicBezTo>
                <a:cubicBezTo>
                  <a:pt x="1521408" y="-32639"/>
                  <a:pt x="1639280" y="39237"/>
                  <a:pt x="1800000" y="0"/>
                </a:cubicBezTo>
                <a:cubicBezTo>
                  <a:pt x="1856207" y="217709"/>
                  <a:pt x="1774921" y="392545"/>
                  <a:pt x="1800000" y="501791"/>
                </a:cubicBezTo>
                <a:cubicBezTo>
                  <a:pt x="1825079" y="611037"/>
                  <a:pt x="1788423" y="771391"/>
                  <a:pt x="1800000" y="969368"/>
                </a:cubicBezTo>
                <a:cubicBezTo>
                  <a:pt x="1811577" y="1167345"/>
                  <a:pt x="1740767" y="1326676"/>
                  <a:pt x="1800000" y="1505372"/>
                </a:cubicBezTo>
                <a:cubicBezTo>
                  <a:pt x="1859233" y="1684068"/>
                  <a:pt x="1799189" y="1872485"/>
                  <a:pt x="1800000" y="1972949"/>
                </a:cubicBezTo>
                <a:cubicBezTo>
                  <a:pt x="1800811" y="2073413"/>
                  <a:pt x="1796796" y="2308565"/>
                  <a:pt x="1800000" y="2474740"/>
                </a:cubicBezTo>
                <a:cubicBezTo>
                  <a:pt x="1803204" y="2640915"/>
                  <a:pt x="1696031" y="2991168"/>
                  <a:pt x="1800000" y="3421299"/>
                </a:cubicBezTo>
                <a:cubicBezTo>
                  <a:pt x="1714323" y="3457098"/>
                  <a:pt x="1554199" y="3398198"/>
                  <a:pt x="1404000" y="3421299"/>
                </a:cubicBezTo>
                <a:cubicBezTo>
                  <a:pt x="1253801" y="3444400"/>
                  <a:pt x="1091255" y="3399556"/>
                  <a:pt x="990000" y="3421299"/>
                </a:cubicBezTo>
                <a:cubicBezTo>
                  <a:pt x="888745" y="3443042"/>
                  <a:pt x="660482" y="3397182"/>
                  <a:pt x="504000" y="3421299"/>
                </a:cubicBezTo>
                <a:cubicBezTo>
                  <a:pt x="347518" y="3445416"/>
                  <a:pt x="158658" y="3409751"/>
                  <a:pt x="0" y="3421299"/>
                </a:cubicBezTo>
                <a:cubicBezTo>
                  <a:pt x="-11037" y="3178584"/>
                  <a:pt x="16959" y="3017459"/>
                  <a:pt x="0" y="2816870"/>
                </a:cubicBezTo>
                <a:cubicBezTo>
                  <a:pt x="-16959" y="2616281"/>
                  <a:pt x="22903" y="2526232"/>
                  <a:pt x="0" y="2315079"/>
                </a:cubicBezTo>
                <a:cubicBezTo>
                  <a:pt x="-22903" y="2103926"/>
                  <a:pt x="59391" y="1905469"/>
                  <a:pt x="0" y="1710650"/>
                </a:cubicBezTo>
                <a:cubicBezTo>
                  <a:pt x="-59391" y="1515831"/>
                  <a:pt x="44291" y="1404030"/>
                  <a:pt x="0" y="1243072"/>
                </a:cubicBezTo>
                <a:cubicBezTo>
                  <a:pt x="-44291" y="1082114"/>
                  <a:pt x="43073" y="779866"/>
                  <a:pt x="0" y="638642"/>
                </a:cubicBezTo>
                <a:cubicBezTo>
                  <a:pt x="-43073" y="497418"/>
                  <a:pt x="11746" y="270065"/>
                  <a:pt x="0" y="0"/>
                </a:cubicBezTo>
                <a:close/>
              </a:path>
            </a:pathLst>
          </a:custGeom>
          <a:ln cap="rnd">
            <a:noFill/>
            <a:extLst>
              <a:ext uri="{C807C97D-BFC1-408E-A445-0C87EB9F89A2}">
                <ask:lineSketchStyleProps xmlns:ask="http://schemas.microsoft.com/office/drawing/2018/sketchyshapes" sd="916565464">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06363" indent="-106363">
              <a:spcAft>
                <a:spcPts val="300"/>
              </a:spcAft>
              <a:buFont typeface="Arial" panose="020B0604020202020204" pitchFamily="34" charset="0"/>
              <a:buChar char="•"/>
            </a:pPr>
            <a:r>
              <a:rPr lang="en-US" sz="1200" b="1" dirty="0"/>
              <a:t>Service Week</a:t>
            </a:r>
            <a:r>
              <a:rPr lang="en-US" sz="1200" dirty="0"/>
              <a:t> reflected the culture behind the work: one team, real contribution, real impact</a:t>
            </a:r>
          </a:p>
          <a:p>
            <a:pPr marL="106363" indent="-106363">
              <a:lnSpc>
                <a:spcPct val="90000"/>
              </a:lnSpc>
              <a:spcAft>
                <a:spcPts val="300"/>
              </a:spcAft>
              <a:buFont typeface="Arial" panose="020B0604020202020204" pitchFamily="34" charset="0"/>
              <a:buChar char="•"/>
            </a:pPr>
            <a:r>
              <a:rPr lang="en-US" sz="1200" dirty="0"/>
              <a:t>Balanced community engagement, delivery commitments, and internal priorities in parallel</a:t>
            </a:r>
          </a:p>
          <a:p>
            <a:pPr marL="106363" indent="-106363">
              <a:spcAft>
                <a:spcPts val="300"/>
              </a:spcAft>
              <a:buFont typeface="Arial" panose="020B0604020202020204" pitchFamily="34" charset="0"/>
              <a:buChar char="•"/>
            </a:pPr>
            <a:r>
              <a:rPr lang="en-US" sz="1200" dirty="0"/>
              <a:t>Sustained strong collaboration across portfolios, regions, and support teams</a:t>
            </a:r>
          </a:p>
          <a:p>
            <a:pPr marL="106363" indent="-106363">
              <a:spcAft>
                <a:spcPts val="300"/>
              </a:spcAft>
              <a:buFont typeface="Arial" panose="020B0604020202020204" pitchFamily="34" charset="0"/>
              <a:buChar char="•"/>
            </a:pPr>
            <a:r>
              <a:rPr lang="en-US" sz="1200" dirty="0"/>
              <a:t>Kept energy high through a demanding quarter with a lot moving at once</a:t>
            </a:r>
          </a:p>
          <a:p>
            <a:pPr marL="106363" indent="-106363">
              <a:spcAft>
                <a:spcPts val="300"/>
              </a:spcAft>
              <a:buFont typeface="Arial" panose="020B0604020202020204" pitchFamily="34" charset="0"/>
              <a:buChar char="•"/>
            </a:pPr>
            <a:r>
              <a:rPr lang="en-US" sz="1200" dirty="0"/>
              <a:t>Showed that engagement is not extra work — it is part of how we work</a:t>
            </a:r>
          </a:p>
        </p:txBody>
      </p:sp>
      <p:sp>
        <p:nvSpPr>
          <p:cNvPr id="25" name="Freeform: Shape 24">
            <a:extLst>
              <a:ext uri="{FF2B5EF4-FFF2-40B4-BE49-F238E27FC236}">
                <a16:creationId xmlns:a16="http://schemas.microsoft.com/office/drawing/2014/main" id="{EC8CA5C5-7227-73A7-9787-AF79FCEAF757}"/>
              </a:ext>
            </a:extLst>
          </p:cNvPr>
          <p:cNvSpPr/>
          <p:nvPr/>
        </p:nvSpPr>
        <p:spPr>
          <a:xfrm>
            <a:off x="10343828"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algn="ctr" defTabSz="577850">
              <a:lnSpc>
                <a:spcPct val="90000"/>
              </a:lnSpc>
              <a:spcBef>
                <a:spcPct val="0"/>
              </a:spcBef>
              <a:spcAft>
                <a:spcPct val="35000"/>
              </a:spcAft>
            </a:pPr>
            <a:r>
              <a:rPr lang="en-US" sz="1600" b="1" dirty="0">
                <a:solidFill>
                  <a:schemeClr val="bg1"/>
                </a:solidFill>
                <a:latin typeface="Inter" panose="020B0502030000000004" pitchFamily="34" charset="0"/>
                <a:ea typeface="Inter" panose="020B0502030000000004" pitchFamily="34" charset="0"/>
                <a:cs typeface="Inter" panose="020B0502030000000004" pitchFamily="34" charset="0"/>
              </a:rPr>
              <a:t>Focus</a:t>
            </a:r>
          </a:p>
        </p:txBody>
      </p:sp>
      <p:sp>
        <p:nvSpPr>
          <p:cNvPr id="26" name="Freeform: Shape 25">
            <a:extLst>
              <a:ext uri="{FF2B5EF4-FFF2-40B4-BE49-F238E27FC236}">
                <a16:creationId xmlns:a16="http://schemas.microsoft.com/office/drawing/2014/main" id="{8C2406B6-5C32-1D39-BAC3-FE8F6AFEC63D}"/>
              </a:ext>
            </a:extLst>
          </p:cNvPr>
          <p:cNvSpPr/>
          <p:nvPr/>
        </p:nvSpPr>
        <p:spPr>
          <a:xfrm>
            <a:off x="10289828" y="2038212"/>
            <a:ext cx="1800000" cy="3421299"/>
          </a:xfrm>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ln cap="rnd">
            <a:noFill/>
            <a:extLst>
              <a:ext uri="{C807C97D-BFC1-408E-A445-0C87EB9F89A2}">
                <ask:lineSketchStyleProps xmlns:ask="http://schemas.microsoft.com/office/drawing/2018/sketchyshapes" sd="1401945280">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106363" indent="-106363">
              <a:spcAft>
                <a:spcPts val="300"/>
              </a:spcAft>
              <a:buFont typeface="Arial" panose="020B0604020202020204" pitchFamily="34" charset="0"/>
              <a:buChar char="•"/>
            </a:pPr>
            <a:r>
              <a:rPr lang="en-US" sz="1200" dirty="0"/>
              <a:t>Built a strong 1Q foundation for the rest of 2026</a:t>
            </a:r>
          </a:p>
          <a:p>
            <a:pPr marL="106363" indent="-106363">
              <a:spcAft>
                <a:spcPts val="300"/>
              </a:spcAft>
              <a:buFont typeface="Arial" panose="020B0604020202020204" pitchFamily="34" charset="0"/>
              <a:buChar char="•"/>
            </a:pPr>
            <a:r>
              <a:rPr lang="en-US" sz="1200" dirty="0"/>
              <a:t>Stayed focused on role-relevant, field-connected training that supports business demand</a:t>
            </a:r>
          </a:p>
          <a:p>
            <a:pPr marL="106363" indent="-106363">
              <a:spcAft>
                <a:spcPts val="300"/>
              </a:spcAft>
              <a:buFont typeface="Arial" panose="020B0604020202020204" pitchFamily="34" charset="0"/>
              <a:buChar char="•"/>
            </a:pPr>
            <a:r>
              <a:rPr lang="en-US" sz="1200" dirty="0"/>
              <a:t>Continued improving how we deliver, not just what we deliver</a:t>
            </a:r>
          </a:p>
          <a:p>
            <a:pPr marL="106363" indent="-106363">
              <a:spcAft>
                <a:spcPts val="300"/>
              </a:spcAft>
              <a:buFont typeface="Arial" panose="020B0604020202020204" pitchFamily="34" charset="0"/>
              <a:buChar char="•"/>
            </a:pPr>
            <a:r>
              <a:rPr lang="en-US" sz="1200" dirty="0"/>
              <a:t>Created momentum across delivery, facilities, processes, and investment</a:t>
            </a:r>
          </a:p>
          <a:p>
            <a:pPr marL="106363" indent="-106363">
              <a:spcAft>
                <a:spcPts val="300"/>
              </a:spcAft>
              <a:buFont typeface="Arial" panose="020B0604020202020204" pitchFamily="34" charset="0"/>
              <a:buChar char="•"/>
            </a:pPr>
            <a:r>
              <a:rPr lang="en-US" sz="1200" dirty="0"/>
              <a:t>Started the year with proof: this team can scale, adapt, and deliver</a:t>
            </a:r>
          </a:p>
        </p:txBody>
      </p:sp>
      <p:sp>
        <p:nvSpPr>
          <p:cNvPr id="13" name="TextBox 12">
            <a:extLst>
              <a:ext uri="{FF2B5EF4-FFF2-40B4-BE49-F238E27FC236}">
                <a16:creationId xmlns:a16="http://schemas.microsoft.com/office/drawing/2014/main" id="{0AF7E22F-DEA1-D94F-ACBD-91382A455681}"/>
              </a:ext>
            </a:extLst>
          </p:cNvPr>
          <p:cNvSpPr txBox="1"/>
          <p:nvPr/>
        </p:nvSpPr>
        <p:spPr>
          <a:xfrm>
            <a:off x="147392" y="108414"/>
            <a:ext cx="4594965" cy="523220"/>
          </a:xfrm>
          <a:prstGeom prst="rect">
            <a:avLst/>
          </a:prstGeom>
          <a:noFill/>
        </p:spPr>
        <p:txBody>
          <a:bodyPr wrap="square" rtlCol="0">
            <a:spAutoFit/>
          </a:bodyPr>
          <a:lstStyle/>
          <a:p>
            <a:r>
              <a:rPr lang="en-US" sz="2800" dirty="0">
                <a:solidFill>
                  <a:srgbClr val="076365"/>
                </a:solidFill>
                <a:latin typeface="Inter" panose="020B0502030000000004" pitchFamily="34" charset="0"/>
                <a:ea typeface="Inter" panose="020B0502030000000004" pitchFamily="34" charset="0"/>
                <a:cs typeface="Inter" panose="020B0502030000000004" pitchFamily="34" charset="0"/>
              </a:rPr>
              <a:t>Technical Delivery</a:t>
            </a:r>
          </a:p>
        </p:txBody>
      </p:sp>
      <p:pic>
        <p:nvPicPr>
          <p:cNvPr id="7" name="Graphic 6">
            <a:extLst>
              <a:ext uri="{FF2B5EF4-FFF2-40B4-BE49-F238E27FC236}">
                <a16:creationId xmlns:a16="http://schemas.microsoft.com/office/drawing/2014/main" id="{F689C899-2C6D-620E-3EB1-FA222BB3C1B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52244" y="654264"/>
            <a:ext cx="494546" cy="666562"/>
          </a:xfrm>
          <a:prstGeom prst="rect">
            <a:avLst/>
          </a:prstGeom>
        </p:spPr>
      </p:pic>
      <p:pic>
        <p:nvPicPr>
          <p:cNvPr id="17" name="Graphic 16">
            <a:extLst>
              <a:ext uri="{FF2B5EF4-FFF2-40B4-BE49-F238E27FC236}">
                <a16:creationId xmlns:a16="http://schemas.microsoft.com/office/drawing/2014/main" id="{1E5BE204-3007-D395-EE5E-C8FA2B3303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5763" y="723570"/>
            <a:ext cx="754502" cy="628752"/>
          </a:xfrm>
          <a:prstGeom prst="rect">
            <a:avLst/>
          </a:prstGeom>
        </p:spPr>
      </p:pic>
      <p:sp>
        <p:nvSpPr>
          <p:cNvPr id="43" name="Freeform: Shape 42">
            <a:extLst>
              <a:ext uri="{FF2B5EF4-FFF2-40B4-BE49-F238E27FC236}">
                <a16:creationId xmlns:a16="http://schemas.microsoft.com/office/drawing/2014/main" id="{4D657DB6-EEA3-E0DF-600A-F2DDC2B977AF}"/>
              </a:ext>
            </a:extLst>
          </p:cNvPr>
          <p:cNvSpPr/>
          <p:nvPr/>
        </p:nvSpPr>
        <p:spPr>
          <a:xfrm>
            <a:off x="4225966" y="1390452"/>
            <a:ext cx="1692000" cy="571499"/>
          </a:xfrm>
          <a:custGeom>
            <a:avLst/>
            <a:gdLst>
              <a:gd name="connsiteX0" fmla="*/ 0 w 1431912"/>
              <a:gd name="connsiteY0" fmla="*/ 0 h 473582"/>
              <a:gd name="connsiteX1" fmla="*/ 1431912 w 1431912"/>
              <a:gd name="connsiteY1" fmla="*/ 0 h 473582"/>
              <a:gd name="connsiteX2" fmla="*/ 1431912 w 1431912"/>
              <a:gd name="connsiteY2" fmla="*/ 473582 h 473582"/>
              <a:gd name="connsiteX3" fmla="*/ 0 w 1431912"/>
              <a:gd name="connsiteY3" fmla="*/ 473582 h 473582"/>
              <a:gd name="connsiteX4" fmla="*/ 0 w 1431912"/>
              <a:gd name="connsiteY4" fmla="*/ 0 h 4735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473582">
                <a:moveTo>
                  <a:pt x="0" y="0"/>
                </a:moveTo>
                <a:lnTo>
                  <a:pt x="1431912" y="0"/>
                </a:lnTo>
                <a:lnTo>
                  <a:pt x="1431912" y="473582"/>
                </a:lnTo>
                <a:lnTo>
                  <a:pt x="0" y="473582"/>
                </a:lnTo>
                <a:lnTo>
                  <a:pt x="0" y="0"/>
                </a:lnTo>
                <a:close/>
              </a:path>
            </a:pathLst>
          </a:custGeom>
          <a:solidFill>
            <a:schemeClr val="bg2">
              <a:lumMod val="50000"/>
            </a:schemeClr>
          </a:solidFill>
          <a:ln w="28575">
            <a:solidFill>
              <a:srgbClr val="C8FF08"/>
            </a:solidFill>
            <a:prstDash val="dash"/>
          </a:ln>
        </p:spPr>
        <p:style>
          <a:lnRef idx="2">
            <a:schemeClr val="accent6">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92456" tIns="52832" rIns="92456" bIns="52832" numCol="1" spcCol="1270" anchor="ctr" anchorCtr="0">
            <a:noAutofit/>
          </a:bodyPr>
          <a:lstStyle/>
          <a:p>
            <a:pPr marL="0" lvl="0" indent="0" algn="ctr" defTabSz="577850">
              <a:lnSpc>
                <a:spcPct val="90000"/>
              </a:lnSpc>
              <a:spcBef>
                <a:spcPct val="0"/>
              </a:spcBef>
              <a:spcAft>
                <a:spcPct val="35000"/>
              </a:spcAft>
              <a:buNone/>
            </a:pPr>
            <a:r>
              <a:rPr lang="en-US" sz="1600" b="1" kern="1200" dirty="0">
                <a:solidFill>
                  <a:schemeClr val="bg1"/>
                </a:solidFill>
                <a:latin typeface="Inter" panose="020B0502030000000004" pitchFamily="34" charset="0"/>
                <a:ea typeface="Inter" panose="020B0502030000000004" pitchFamily="34" charset="0"/>
                <a:cs typeface="Inter" panose="020B0502030000000004" pitchFamily="34" charset="0"/>
              </a:rPr>
              <a:t>Action Plan</a:t>
            </a:r>
            <a:endParaRPr lang="en-GB" sz="1600" b="1" kern="1200" dirty="0">
              <a:solidFill>
                <a:schemeClr val="bg1"/>
              </a:solidFill>
              <a:latin typeface="Inter" panose="020B0502030000000004" pitchFamily="34" charset="0"/>
              <a:ea typeface="Inter" panose="020B0502030000000004" pitchFamily="34" charset="0"/>
              <a:cs typeface="Inter" panose="020B0502030000000004" pitchFamily="34" charset="0"/>
            </a:endParaRPr>
          </a:p>
        </p:txBody>
      </p:sp>
      <p:sp>
        <p:nvSpPr>
          <p:cNvPr id="44" name="Freeform: Shape 43">
            <a:extLst>
              <a:ext uri="{FF2B5EF4-FFF2-40B4-BE49-F238E27FC236}">
                <a16:creationId xmlns:a16="http://schemas.microsoft.com/office/drawing/2014/main" id="{801E1FB7-167A-A16B-9CD8-0C41AAC597F1}"/>
              </a:ext>
            </a:extLst>
          </p:cNvPr>
          <p:cNvSpPr/>
          <p:nvPr/>
        </p:nvSpPr>
        <p:spPr>
          <a:xfrm>
            <a:off x="4171966" y="2038212"/>
            <a:ext cx="1800000" cy="3421299"/>
          </a:xfrm>
          <a:custGeom>
            <a:avLst/>
            <a:gdLst>
              <a:gd name="csX0" fmla="*/ 0 w 1800000"/>
              <a:gd name="csY0" fmla="*/ 0 h 3421299"/>
              <a:gd name="csX1" fmla="*/ 432000 w 1800000"/>
              <a:gd name="csY1" fmla="*/ 0 h 3421299"/>
              <a:gd name="csX2" fmla="*/ 846000 w 1800000"/>
              <a:gd name="csY2" fmla="*/ 0 h 3421299"/>
              <a:gd name="csX3" fmla="*/ 1314000 w 1800000"/>
              <a:gd name="csY3" fmla="*/ 0 h 3421299"/>
              <a:gd name="csX4" fmla="*/ 1800000 w 1800000"/>
              <a:gd name="csY4" fmla="*/ 0 h 3421299"/>
              <a:gd name="csX5" fmla="*/ 1800000 w 1800000"/>
              <a:gd name="csY5" fmla="*/ 570217 h 3421299"/>
              <a:gd name="csX6" fmla="*/ 1800000 w 1800000"/>
              <a:gd name="csY6" fmla="*/ 1072007 h 3421299"/>
              <a:gd name="csX7" fmla="*/ 1800000 w 1800000"/>
              <a:gd name="csY7" fmla="*/ 1676437 h 3421299"/>
              <a:gd name="csX8" fmla="*/ 1800000 w 1800000"/>
              <a:gd name="csY8" fmla="*/ 2178227 h 3421299"/>
              <a:gd name="csX9" fmla="*/ 1800000 w 1800000"/>
              <a:gd name="csY9" fmla="*/ 2782657 h 3421299"/>
              <a:gd name="csX10" fmla="*/ 1800000 w 1800000"/>
              <a:gd name="csY10" fmla="*/ 3421299 h 3421299"/>
              <a:gd name="csX11" fmla="*/ 1332000 w 1800000"/>
              <a:gd name="csY11" fmla="*/ 3421299 h 3421299"/>
              <a:gd name="csX12" fmla="*/ 864000 w 1800000"/>
              <a:gd name="csY12" fmla="*/ 3421299 h 3421299"/>
              <a:gd name="csX13" fmla="*/ 0 w 1800000"/>
              <a:gd name="csY13" fmla="*/ 3421299 h 3421299"/>
              <a:gd name="csX14" fmla="*/ 0 w 1800000"/>
              <a:gd name="csY14" fmla="*/ 2885295 h 3421299"/>
              <a:gd name="csX15" fmla="*/ 0 w 1800000"/>
              <a:gd name="csY15" fmla="*/ 2280866 h 3421299"/>
              <a:gd name="csX16" fmla="*/ 0 w 1800000"/>
              <a:gd name="csY16" fmla="*/ 1779075 h 3421299"/>
              <a:gd name="csX17" fmla="*/ 0 w 1800000"/>
              <a:gd name="csY17" fmla="*/ 1208859 h 3421299"/>
              <a:gd name="csX18" fmla="*/ 0 w 1800000"/>
              <a:gd name="csY18" fmla="*/ 604429 h 3421299"/>
              <a:gd name="csX19" fmla="*/ 0 w 1800000"/>
              <a:gd name="csY19" fmla="*/ 0 h 3421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00000" h="3421299" fill="none" extrusionOk="0">
                <a:moveTo>
                  <a:pt x="0" y="0"/>
                </a:moveTo>
                <a:cubicBezTo>
                  <a:pt x="121068" y="-33928"/>
                  <a:pt x="330269" y="24037"/>
                  <a:pt x="432000" y="0"/>
                </a:cubicBezTo>
                <a:cubicBezTo>
                  <a:pt x="533731" y="-24037"/>
                  <a:pt x="644892" y="25305"/>
                  <a:pt x="846000" y="0"/>
                </a:cubicBezTo>
                <a:cubicBezTo>
                  <a:pt x="1047108" y="-25305"/>
                  <a:pt x="1174721" y="45516"/>
                  <a:pt x="1314000" y="0"/>
                </a:cubicBezTo>
                <a:cubicBezTo>
                  <a:pt x="1453279" y="-45516"/>
                  <a:pt x="1603530" y="50124"/>
                  <a:pt x="1800000" y="0"/>
                </a:cubicBezTo>
                <a:cubicBezTo>
                  <a:pt x="1815963" y="241594"/>
                  <a:pt x="1732882" y="294935"/>
                  <a:pt x="1800000" y="570217"/>
                </a:cubicBezTo>
                <a:cubicBezTo>
                  <a:pt x="1867118" y="845499"/>
                  <a:pt x="1782387" y="841704"/>
                  <a:pt x="1800000" y="1072007"/>
                </a:cubicBezTo>
                <a:cubicBezTo>
                  <a:pt x="1817613" y="1302310"/>
                  <a:pt x="1787153" y="1500756"/>
                  <a:pt x="1800000" y="1676437"/>
                </a:cubicBezTo>
                <a:cubicBezTo>
                  <a:pt x="1812847" y="1852118"/>
                  <a:pt x="1766835" y="2063922"/>
                  <a:pt x="1800000" y="2178227"/>
                </a:cubicBezTo>
                <a:cubicBezTo>
                  <a:pt x="1833165" y="2292532"/>
                  <a:pt x="1749354" y="2522895"/>
                  <a:pt x="1800000" y="2782657"/>
                </a:cubicBezTo>
                <a:cubicBezTo>
                  <a:pt x="1850646" y="3042419"/>
                  <a:pt x="1762102" y="3188892"/>
                  <a:pt x="1800000" y="3421299"/>
                </a:cubicBezTo>
                <a:cubicBezTo>
                  <a:pt x="1612822" y="3433190"/>
                  <a:pt x="1444967" y="3366475"/>
                  <a:pt x="1332000" y="3421299"/>
                </a:cubicBezTo>
                <a:cubicBezTo>
                  <a:pt x="1219033" y="3476123"/>
                  <a:pt x="1077741" y="3366630"/>
                  <a:pt x="864000" y="3421299"/>
                </a:cubicBezTo>
                <a:cubicBezTo>
                  <a:pt x="650259" y="3475968"/>
                  <a:pt x="207983" y="3349090"/>
                  <a:pt x="0" y="3421299"/>
                </a:cubicBezTo>
                <a:cubicBezTo>
                  <a:pt x="-51039" y="3261902"/>
                  <a:pt x="25776" y="3054748"/>
                  <a:pt x="0" y="2885295"/>
                </a:cubicBezTo>
                <a:cubicBezTo>
                  <a:pt x="-25776" y="2715842"/>
                  <a:pt x="54552" y="2553731"/>
                  <a:pt x="0" y="2280866"/>
                </a:cubicBezTo>
                <a:cubicBezTo>
                  <a:pt x="-54552" y="2008001"/>
                  <a:pt x="58390" y="1918638"/>
                  <a:pt x="0" y="1779075"/>
                </a:cubicBezTo>
                <a:cubicBezTo>
                  <a:pt x="-58390" y="1639512"/>
                  <a:pt x="20930" y="1424493"/>
                  <a:pt x="0" y="1208859"/>
                </a:cubicBezTo>
                <a:cubicBezTo>
                  <a:pt x="-20930" y="993225"/>
                  <a:pt x="34765" y="830316"/>
                  <a:pt x="0" y="604429"/>
                </a:cubicBezTo>
                <a:cubicBezTo>
                  <a:pt x="-34765" y="378542"/>
                  <a:pt x="36222" y="284061"/>
                  <a:pt x="0" y="0"/>
                </a:cubicBezTo>
                <a:close/>
              </a:path>
              <a:path w="1800000" h="3421299" stroke="0" extrusionOk="0">
                <a:moveTo>
                  <a:pt x="0" y="0"/>
                </a:moveTo>
                <a:cubicBezTo>
                  <a:pt x="166218" y="-22333"/>
                  <a:pt x="234325" y="16547"/>
                  <a:pt x="432000" y="0"/>
                </a:cubicBezTo>
                <a:cubicBezTo>
                  <a:pt x="629675" y="-16547"/>
                  <a:pt x="638200" y="26969"/>
                  <a:pt x="828000" y="0"/>
                </a:cubicBezTo>
                <a:cubicBezTo>
                  <a:pt x="1017800" y="-26969"/>
                  <a:pt x="1167502" y="36581"/>
                  <a:pt x="1314000" y="0"/>
                </a:cubicBezTo>
                <a:cubicBezTo>
                  <a:pt x="1460498" y="-36581"/>
                  <a:pt x="1683355" y="17253"/>
                  <a:pt x="1800000" y="0"/>
                </a:cubicBezTo>
                <a:cubicBezTo>
                  <a:pt x="1844065" y="229949"/>
                  <a:pt x="1792300" y="378267"/>
                  <a:pt x="1800000" y="536004"/>
                </a:cubicBezTo>
                <a:cubicBezTo>
                  <a:pt x="1807700" y="693741"/>
                  <a:pt x="1746641" y="873786"/>
                  <a:pt x="1800000" y="1037794"/>
                </a:cubicBezTo>
                <a:cubicBezTo>
                  <a:pt x="1853359" y="1201802"/>
                  <a:pt x="1767860" y="1347233"/>
                  <a:pt x="1800000" y="1608011"/>
                </a:cubicBezTo>
                <a:cubicBezTo>
                  <a:pt x="1832140" y="1868789"/>
                  <a:pt x="1742767" y="1983604"/>
                  <a:pt x="1800000" y="2178227"/>
                </a:cubicBezTo>
                <a:cubicBezTo>
                  <a:pt x="1857233" y="2372850"/>
                  <a:pt x="1758390" y="2504762"/>
                  <a:pt x="1800000" y="2680018"/>
                </a:cubicBezTo>
                <a:cubicBezTo>
                  <a:pt x="1841610" y="2855274"/>
                  <a:pt x="1792955" y="3207651"/>
                  <a:pt x="1800000" y="3421299"/>
                </a:cubicBezTo>
                <a:cubicBezTo>
                  <a:pt x="1679081" y="3453768"/>
                  <a:pt x="1523221" y="3383665"/>
                  <a:pt x="1350000" y="3421299"/>
                </a:cubicBezTo>
                <a:cubicBezTo>
                  <a:pt x="1176779" y="3458933"/>
                  <a:pt x="1029150" y="3391001"/>
                  <a:pt x="918000" y="3421299"/>
                </a:cubicBezTo>
                <a:cubicBezTo>
                  <a:pt x="806850" y="3451597"/>
                  <a:pt x="592473" y="3394975"/>
                  <a:pt x="432000" y="3421299"/>
                </a:cubicBezTo>
                <a:cubicBezTo>
                  <a:pt x="271527" y="3447623"/>
                  <a:pt x="103944" y="3415738"/>
                  <a:pt x="0" y="3421299"/>
                </a:cubicBezTo>
                <a:cubicBezTo>
                  <a:pt x="-3498" y="3232456"/>
                  <a:pt x="36347" y="3019952"/>
                  <a:pt x="0" y="2919508"/>
                </a:cubicBezTo>
                <a:cubicBezTo>
                  <a:pt x="-36347" y="2819064"/>
                  <a:pt x="20045" y="2495156"/>
                  <a:pt x="0" y="2349292"/>
                </a:cubicBezTo>
                <a:cubicBezTo>
                  <a:pt x="-20045" y="2203428"/>
                  <a:pt x="5306" y="1991562"/>
                  <a:pt x="0" y="1813288"/>
                </a:cubicBezTo>
                <a:cubicBezTo>
                  <a:pt x="-5306" y="1635014"/>
                  <a:pt x="29437" y="1525423"/>
                  <a:pt x="0" y="1345711"/>
                </a:cubicBezTo>
                <a:cubicBezTo>
                  <a:pt x="-29437" y="1165999"/>
                  <a:pt x="30777" y="946511"/>
                  <a:pt x="0" y="843920"/>
                </a:cubicBezTo>
                <a:cubicBezTo>
                  <a:pt x="-30777" y="741329"/>
                  <a:pt x="37217" y="180849"/>
                  <a:pt x="0" y="0"/>
                </a:cubicBezTo>
                <a:close/>
              </a:path>
            </a:pathLst>
          </a:custGeom>
          <a:ln cap="rnd">
            <a:noFill/>
            <a:extLst>
              <a:ext uri="{C807C97D-BFC1-408E-A445-0C87EB9F89A2}">
                <ask:lineSketchStyleProps xmlns:ask="http://schemas.microsoft.com/office/drawing/2018/sketchyshapes" sd="1219033472">
                  <a:custGeom>
                    <a:avLst/>
                    <a:gdLst>
                      <a:gd name="connsiteX0" fmla="*/ 0 w 1431912"/>
                      <a:gd name="connsiteY0" fmla="*/ 0 h 3421299"/>
                      <a:gd name="connsiteX1" fmla="*/ 1431912 w 1431912"/>
                      <a:gd name="connsiteY1" fmla="*/ 0 h 3421299"/>
                      <a:gd name="connsiteX2" fmla="*/ 1431912 w 1431912"/>
                      <a:gd name="connsiteY2" fmla="*/ 3421299 h 3421299"/>
                      <a:gd name="connsiteX3" fmla="*/ 0 w 1431912"/>
                      <a:gd name="connsiteY3" fmla="*/ 3421299 h 3421299"/>
                      <a:gd name="connsiteX4" fmla="*/ 0 w 1431912"/>
                      <a:gd name="connsiteY4" fmla="*/ 0 h 3421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1912" h="3421299">
                        <a:moveTo>
                          <a:pt x="0" y="0"/>
                        </a:moveTo>
                        <a:lnTo>
                          <a:pt x="1431912" y="0"/>
                        </a:lnTo>
                        <a:lnTo>
                          <a:pt x="1431912" y="3421299"/>
                        </a:lnTo>
                        <a:lnTo>
                          <a:pt x="0" y="3421299"/>
                        </a:lnTo>
                        <a:lnTo>
                          <a:pt x="0" y="0"/>
                        </a:lnTo>
                        <a:close/>
                      </a:path>
                    </a:pathLst>
                  </a:custGeom>
                  <ask:type>
                    <ask:lineSketchScribble/>
                  </ask:type>
                </ask:lineSketchStyleProps>
              </a:ext>
            </a:extLst>
          </a:ln>
        </p:spPr>
        <p:style>
          <a:lnRef idx="2">
            <a:schemeClr val="accent6">
              <a:alpha val="90000"/>
              <a:hueOff val="0"/>
              <a:satOff val="0"/>
              <a:lumOff val="0"/>
              <a:alphaOff val="0"/>
            </a:schemeClr>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69342" tIns="69342" rIns="92456" bIns="104013" numCol="1" spcCol="1270" anchor="t" anchorCtr="0">
            <a:noAutofit/>
          </a:bodyPr>
          <a:lstStyle/>
          <a:p>
            <a:pPr marL="88900" indent="-82550">
              <a:spcAft>
                <a:spcPts val="300"/>
              </a:spcAft>
              <a:buFont typeface="Arial" panose="020B0604020202020204" pitchFamily="34" charset="0"/>
              <a:buChar char="•"/>
            </a:pPr>
            <a:r>
              <a:rPr lang="en-US" sz="1200" dirty="0"/>
              <a:t>We currently have </a:t>
            </a:r>
            <a:r>
              <a:rPr lang="en-US" sz="1200" b="1" dirty="0"/>
              <a:t>58 AP items in progress</a:t>
            </a:r>
            <a:r>
              <a:rPr lang="en-US" sz="1200" dirty="0"/>
              <a:t>, with </a:t>
            </a:r>
            <a:r>
              <a:rPr lang="en-US" sz="1200" b="1" dirty="0"/>
              <a:t>22 Technical Delivery</a:t>
            </a:r>
            <a:endParaRPr lang="en-US" sz="1200" dirty="0"/>
          </a:p>
          <a:p>
            <a:pPr marL="88900" indent="-82550">
              <a:spcAft>
                <a:spcPts val="300"/>
              </a:spcAft>
              <a:buFont typeface="Arial" panose="020B0604020202020204" pitchFamily="34" charset="0"/>
              <a:buChar char="•"/>
            </a:pPr>
            <a:r>
              <a:rPr lang="en-US" sz="1200" dirty="0"/>
              <a:t>Another </a:t>
            </a:r>
            <a:r>
              <a:rPr lang="en-US" sz="1200" b="1" dirty="0"/>
              <a:t>60+ AP items are not started.</a:t>
            </a:r>
          </a:p>
          <a:p>
            <a:pPr marL="88900" indent="-82550">
              <a:spcAft>
                <a:spcPts val="300"/>
              </a:spcAft>
              <a:buFont typeface="Arial" panose="020B0604020202020204" pitchFamily="34" charset="0"/>
              <a:buChar char="•"/>
            </a:pPr>
            <a:r>
              <a:rPr lang="en-US" sz="1200" dirty="0"/>
              <a:t>1Q also advanced major work already visible to the team: </a:t>
            </a:r>
            <a:r>
              <a:rPr lang="en-US" sz="1200" b="1" dirty="0"/>
              <a:t>Gradebook rollout, updated Mk </a:t>
            </a:r>
            <a:r>
              <a:rPr lang="en-US" sz="1200" b="1" dirty="0" err="1"/>
              <a:t>VIe</a:t>
            </a:r>
            <a:r>
              <a:rPr lang="en-US" sz="1200" b="1" dirty="0"/>
              <a:t> labs, e-tools updates, controls room improvement planning, and HLC activation</a:t>
            </a:r>
            <a:endParaRPr lang="en-US" sz="1200" dirty="0"/>
          </a:p>
          <a:p>
            <a:pPr marL="88900" indent="-82550">
              <a:spcAft>
                <a:spcPts val="300"/>
              </a:spcAft>
              <a:buFont typeface="Arial" panose="020B0604020202020204" pitchFamily="34" charset="0"/>
              <a:buChar char="•"/>
            </a:pPr>
            <a:r>
              <a:rPr lang="en-US" sz="1200" dirty="0"/>
              <a:t>Translation: the tracker is not just getting longer — it is getting more useful, more practical, and more connected to the work people feel every day</a:t>
            </a:r>
          </a:p>
          <a:p>
            <a:pPr marL="88900" lvl="1" indent="-82550" algn="l" defTabSz="577850">
              <a:lnSpc>
                <a:spcPct val="90000"/>
              </a:lnSpc>
              <a:spcBef>
                <a:spcPts val="400"/>
              </a:spcBef>
              <a:spcAft>
                <a:spcPts val="300"/>
              </a:spcAft>
              <a:buFont typeface="Arial" panose="020B0604020202020204" pitchFamily="34" charset="0"/>
              <a:buChar char="•"/>
            </a:pPr>
            <a:endParaRPr lang="en-US" sz="1300" kern="1200" dirty="0">
              <a:latin typeface="Inter" panose="020B0502030000000004" pitchFamily="34" charset="0"/>
              <a:ea typeface="Inter" panose="020B0502030000000004" pitchFamily="34" charset="0"/>
              <a:cs typeface="Inter" panose="020B0502030000000004" pitchFamily="34" charset="0"/>
            </a:endParaRPr>
          </a:p>
        </p:txBody>
      </p:sp>
      <p:pic>
        <p:nvPicPr>
          <p:cNvPr id="47" name="Picture 46" descr="Dollar with solid fill">
            <a:extLst>
              <a:ext uri="{FF2B5EF4-FFF2-40B4-BE49-F238E27FC236}">
                <a16:creationId xmlns:a16="http://schemas.microsoft.com/office/drawing/2014/main" id="{FAE2F6B0-9891-CFA6-392D-B7FEA2954F1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6836153" y="699993"/>
            <a:ext cx="615749" cy="615749"/>
          </a:xfrm>
          <a:prstGeom prst="rect">
            <a:avLst/>
          </a:prstGeom>
        </p:spPr>
      </p:pic>
      <p:pic>
        <p:nvPicPr>
          <p:cNvPr id="6" name="Picture 5">
            <a:extLst>
              <a:ext uri="{FF2B5EF4-FFF2-40B4-BE49-F238E27FC236}">
                <a16:creationId xmlns:a16="http://schemas.microsoft.com/office/drawing/2014/main" id="{DCDB8A21-2A66-CD62-3EAD-799C6B3DE9E3}"/>
              </a:ext>
            </a:extLst>
          </p:cNvPr>
          <p:cNvPicPr>
            <a:picLocks noChangeAspect="1"/>
          </p:cNvPicPr>
          <p:nvPr/>
        </p:nvPicPr>
        <p:blipFill>
          <a:blip r:embed="rId6"/>
          <a:stretch>
            <a:fillRect/>
          </a:stretch>
        </p:blipFill>
        <p:spPr>
          <a:xfrm>
            <a:off x="10866712" y="641143"/>
            <a:ext cx="646232" cy="688908"/>
          </a:xfrm>
          <a:prstGeom prst="rect">
            <a:avLst/>
          </a:prstGeom>
        </p:spPr>
      </p:pic>
      <p:pic>
        <p:nvPicPr>
          <p:cNvPr id="10" name="Graphic 9">
            <a:extLst>
              <a:ext uri="{FF2B5EF4-FFF2-40B4-BE49-F238E27FC236}">
                <a16:creationId xmlns:a16="http://schemas.microsoft.com/office/drawing/2014/main" id="{2CE604CA-10C8-633E-013B-C090A07B181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827790" y="619140"/>
            <a:ext cx="663035" cy="688536"/>
          </a:xfrm>
          <a:prstGeom prst="rect">
            <a:avLst/>
          </a:prstGeom>
        </p:spPr>
      </p:pic>
      <p:pic>
        <p:nvPicPr>
          <p:cNvPr id="29" name="Picture 28">
            <a:extLst>
              <a:ext uri="{FF2B5EF4-FFF2-40B4-BE49-F238E27FC236}">
                <a16:creationId xmlns:a16="http://schemas.microsoft.com/office/drawing/2014/main" id="{685ABD9B-C6DC-B6A0-FFA6-F519CC408E85}"/>
              </a:ext>
            </a:extLst>
          </p:cNvPr>
          <p:cNvPicPr>
            <a:picLocks noChangeAspect="1"/>
          </p:cNvPicPr>
          <p:nvPr/>
        </p:nvPicPr>
        <p:blipFill>
          <a:blip r:embed="rId8"/>
          <a:stretch>
            <a:fillRect/>
          </a:stretch>
        </p:blipFill>
        <p:spPr>
          <a:xfrm>
            <a:off x="2622678" y="665530"/>
            <a:ext cx="707197" cy="640135"/>
          </a:xfrm>
          <a:prstGeom prst="rect">
            <a:avLst/>
          </a:prstGeom>
        </p:spPr>
      </p:pic>
      <p:sp>
        <p:nvSpPr>
          <p:cNvPr id="2" name="TextBox 1">
            <a:extLst>
              <a:ext uri="{FF2B5EF4-FFF2-40B4-BE49-F238E27FC236}">
                <a16:creationId xmlns:a16="http://schemas.microsoft.com/office/drawing/2014/main" id="{D52C582B-D901-EDCD-FD0B-6AE2A792AA4E}"/>
              </a:ext>
            </a:extLst>
          </p:cNvPr>
          <p:cNvSpPr txBox="1"/>
          <p:nvPr/>
        </p:nvSpPr>
        <p:spPr>
          <a:xfrm>
            <a:off x="10291483" y="101511"/>
            <a:ext cx="1720466"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Rosen</a:t>
            </a:r>
          </a:p>
        </p:txBody>
      </p:sp>
      <p:sp>
        <p:nvSpPr>
          <p:cNvPr id="3" name="TextBox 2">
            <a:extLst>
              <a:ext uri="{FF2B5EF4-FFF2-40B4-BE49-F238E27FC236}">
                <a16:creationId xmlns:a16="http://schemas.microsoft.com/office/drawing/2014/main" id="{C3BDD3F8-DD62-7107-FFC1-9D8CC5D86E0C}"/>
              </a:ext>
            </a:extLst>
          </p:cNvPr>
          <p:cNvSpPr txBox="1"/>
          <p:nvPr/>
        </p:nvSpPr>
        <p:spPr>
          <a:xfrm rot="20254641">
            <a:off x="3684062" y="2184307"/>
            <a:ext cx="2775808" cy="56321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tx2"/>
                </a:solidFill>
              </a:rPr>
              <a:t>Update this</a:t>
            </a:r>
          </a:p>
        </p:txBody>
      </p:sp>
    </p:spTree>
    <p:custDataLst>
      <p:tags r:id="rId1"/>
    </p:custDataLst>
    <p:extLst>
      <p:ext uri="{BB962C8B-B14F-4D97-AF65-F5344CB8AC3E}">
        <p14:creationId xmlns:p14="http://schemas.microsoft.com/office/powerpoint/2010/main" val="4123180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20BA6-ED8C-8693-F489-31C109B500FB}"/>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1FF29782-DD5B-3D94-25B7-452AC783C550}"/>
              </a:ext>
            </a:extLst>
          </p:cNvPr>
          <p:cNvGrpSpPr/>
          <p:nvPr/>
        </p:nvGrpSpPr>
        <p:grpSpPr>
          <a:xfrm>
            <a:off x="406400" y="859331"/>
            <a:ext cx="3557175" cy="2030542"/>
            <a:chOff x="609600" y="1288996"/>
            <a:chExt cx="5335762" cy="3045813"/>
          </a:xfrm>
        </p:grpSpPr>
        <p:grpSp>
          <p:nvGrpSpPr>
            <p:cNvPr id="7" name="Group 7">
              <a:extLst>
                <a:ext uri="{FF2B5EF4-FFF2-40B4-BE49-F238E27FC236}">
                  <a16:creationId xmlns:a16="http://schemas.microsoft.com/office/drawing/2014/main" id="{DFAF33E6-479A-ECB2-9D86-0E0556721B89}"/>
                </a:ext>
              </a:extLst>
            </p:cNvPr>
            <p:cNvGrpSpPr/>
            <p:nvPr/>
          </p:nvGrpSpPr>
          <p:grpSpPr>
            <a:xfrm>
              <a:off x="609600" y="1288996"/>
              <a:ext cx="5257800" cy="3045813"/>
              <a:chOff x="0" y="-38100"/>
              <a:chExt cx="7112000" cy="4607556"/>
            </a:xfrm>
            <a:solidFill>
              <a:schemeClr val="bg1">
                <a:lumMod val="95000"/>
              </a:schemeClr>
            </a:solidFill>
          </p:grpSpPr>
          <p:sp>
            <p:nvSpPr>
              <p:cNvPr id="8" name="Freeform 8">
                <a:extLst>
                  <a:ext uri="{FF2B5EF4-FFF2-40B4-BE49-F238E27FC236}">
                    <a16:creationId xmlns:a16="http://schemas.microsoft.com/office/drawing/2014/main" id="{2564D380-2DBF-A7FB-3798-1342102D83AB}"/>
                  </a:ext>
                </a:extLst>
              </p:cNvPr>
              <p:cNvSpPr/>
              <p:nvPr/>
            </p:nvSpPr>
            <p:spPr>
              <a:xfrm>
                <a:off x="0" y="0"/>
                <a:ext cx="7112000" cy="4569456"/>
              </a:xfrm>
              <a:custGeom>
                <a:avLst/>
                <a:gdLst/>
                <a:ahLst/>
                <a:cxnLst/>
                <a:rect l="l" t="t" r="r" b="b"/>
                <a:pathLst>
                  <a:path w="7112000" h="4569456">
                    <a:moveTo>
                      <a:pt x="431800" y="0"/>
                    </a:moveTo>
                    <a:lnTo>
                      <a:pt x="6680200" y="0"/>
                    </a:lnTo>
                    <a:cubicBezTo>
                      <a:pt x="6918677" y="0"/>
                      <a:pt x="7112000" y="204581"/>
                      <a:pt x="7112000" y="456946"/>
                    </a:cubicBezTo>
                    <a:lnTo>
                      <a:pt x="7112000" y="4112510"/>
                    </a:lnTo>
                    <a:cubicBezTo>
                      <a:pt x="7112000" y="4364874"/>
                      <a:pt x="6918677" y="4569456"/>
                      <a:pt x="6680200" y="4569456"/>
                    </a:cubicBezTo>
                    <a:lnTo>
                      <a:pt x="431800" y="4569456"/>
                    </a:lnTo>
                    <a:cubicBezTo>
                      <a:pt x="193323" y="4569456"/>
                      <a:pt x="0" y="4364874"/>
                      <a:pt x="0" y="4112510"/>
                    </a:cubicBezTo>
                    <a:lnTo>
                      <a:pt x="0" y="456946"/>
                    </a:lnTo>
                    <a:cubicBezTo>
                      <a:pt x="0" y="204581"/>
                      <a:pt x="193323" y="0"/>
                      <a:pt x="431800" y="0"/>
                    </a:cubicBezTo>
                    <a:close/>
                  </a:path>
                </a:pathLst>
              </a:custGeom>
              <a:grpFill/>
            </p:spPr>
            <p:txBody>
              <a:bodyPr/>
              <a:lstStyle/>
              <a:p>
                <a:endParaRPr lang="en-US" sz="1200"/>
              </a:p>
            </p:txBody>
          </p:sp>
          <p:sp>
            <p:nvSpPr>
              <p:cNvPr id="9" name="TextBox 9">
                <a:extLst>
                  <a:ext uri="{FF2B5EF4-FFF2-40B4-BE49-F238E27FC236}">
                    <a16:creationId xmlns:a16="http://schemas.microsoft.com/office/drawing/2014/main" id="{1F2EF43A-97CB-42E6-C792-66A9A82E5199}"/>
                  </a:ext>
                </a:extLst>
              </p:cNvPr>
              <p:cNvSpPr txBox="1"/>
              <p:nvPr/>
            </p:nvSpPr>
            <p:spPr>
              <a:xfrm>
                <a:off x="0" y="-38100"/>
                <a:ext cx="7112000" cy="4607555"/>
              </a:xfrm>
              <a:prstGeom prst="rect">
                <a:avLst/>
              </a:prstGeom>
              <a:grpFill/>
            </p:spPr>
            <p:txBody>
              <a:bodyPr lIns="33867" tIns="33867" rIns="33867" bIns="33867" rtlCol="0" anchor="ctr"/>
              <a:lstStyle/>
              <a:p>
                <a:pPr>
                  <a:lnSpc>
                    <a:spcPts val="1119"/>
                  </a:lnSpc>
                </a:pPr>
                <a:endParaRPr sz="1200"/>
              </a:p>
            </p:txBody>
          </p:sp>
        </p:grpSp>
        <p:sp>
          <p:nvSpPr>
            <p:cNvPr id="39" name="TextBox 39">
              <a:extLst>
                <a:ext uri="{FF2B5EF4-FFF2-40B4-BE49-F238E27FC236}">
                  <a16:creationId xmlns:a16="http://schemas.microsoft.com/office/drawing/2014/main" id="{3541D5AC-6835-E497-3B75-ECA4A912519A}"/>
                </a:ext>
              </a:extLst>
            </p:cNvPr>
            <p:cNvSpPr txBox="1"/>
            <p:nvPr/>
          </p:nvSpPr>
          <p:spPr>
            <a:xfrm>
              <a:off x="789870" y="1495396"/>
              <a:ext cx="4876800" cy="349904"/>
            </a:xfrm>
            <a:prstGeom prst="rect">
              <a:avLst/>
            </a:prstGeom>
          </p:spPr>
          <p:txBody>
            <a:bodyPr lIns="0" tIns="0" rIns="0" bIns="0" rtlCol="0" anchor="t">
              <a:spAutoFit/>
            </a:bodyPr>
            <a:lstStyle/>
            <a:p>
              <a:pPr>
                <a:lnSpc>
                  <a:spcPts val="1960"/>
                </a:lnSpc>
              </a:pPr>
              <a:r>
                <a:rPr lang="en-US" sz="1400" b="1" dirty="0">
                  <a:solidFill>
                    <a:srgbClr val="005E60"/>
                  </a:solidFill>
                  <a:latin typeface="Inter Bold"/>
                  <a:ea typeface="Inter Bold"/>
                  <a:cs typeface="Inter Bold"/>
                  <a:sym typeface="Inter Bold"/>
                </a:rPr>
                <a:t>Excitation ELT Complete</a:t>
              </a:r>
            </a:p>
          </p:txBody>
        </p:sp>
        <p:sp>
          <p:nvSpPr>
            <p:cNvPr id="40" name="TextBox 40">
              <a:extLst>
                <a:ext uri="{FF2B5EF4-FFF2-40B4-BE49-F238E27FC236}">
                  <a16:creationId xmlns:a16="http://schemas.microsoft.com/office/drawing/2014/main" id="{C8EB4A69-542B-24DB-0FE2-93909BEB3167}"/>
                </a:ext>
              </a:extLst>
            </p:cNvPr>
            <p:cNvSpPr txBox="1"/>
            <p:nvPr/>
          </p:nvSpPr>
          <p:spPr>
            <a:xfrm>
              <a:off x="800100" y="2032005"/>
              <a:ext cx="5145262" cy="1268906"/>
            </a:xfrm>
            <a:prstGeom prst="rect">
              <a:avLst/>
            </a:prstGeom>
          </p:spPr>
          <p:txBody>
            <a:bodyPr wrap="square" lIns="0" tIns="0" rIns="0" bIns="0" rtlCol="0" anchor="t">
              <a:spAutoFit/>
            </a:bodyPr>
            <a:lstStyle/>
            <a:p>
              <a:pPr>
                <a:lnSpc>
                  <a:spcPts val="1680"/>
                </a:lnSpc>
              </a:pPr>
              <a:r>
                <a:rPr lang="en-US" sz="933" b="1" dirty="0">
                  <a:solidFill>
                    <a:srgbClr val="1A2B2B"/>
                  </a:solidFill>
                  <a:latin typeface="Inter Bold"/>
                  <a:ea typeface="Inter Bold"/>
                  <a:cs typeface="Inter Bold"/>
                  <a:sym typeface="Inter Bold"/>
                </a:rPr>
                <a:t>100%</a:t>
              </a:r>
              <a:r>
                <a:rPr lang="en-US" sz="933" dirty="0">
                  <a:solidFill>
                    <a:srgbClr val="1A2B2B"/>
                  </a:solidFill>
                  <a:latin typeface="Inter"/>
                  <a:ea typeface="Inter"/>
                  <a:cs typeface="Inter"/>
                  <a:sym typeface="Inter"/>
                </a:rPr>
                <a:t> Migrated into Xyleme</a:t>
              </a:r>
            </a:p>
            <a:p>
              <a:pPr>
                <a:lnSpc>
                  <a:spcPts val="1680"/>
                </a:lnSpc>
              </a:pPr>
              <a:r>
                <a:rPr lang="en-US" sz="933" b="1" dirty="0">
                  <a:solidFill>
                    <a:srgbClr val="1A2B2B"/>
                  </a:solidFill>
                  <a:latin typeface="Inter Bold"/>
                  <a:ea typeface="Inter Bold"/>
                  <a:cs typeface="Inter Bold"/>
                  <a:sym typeface="Inter Bold"/>
                </a:rPr>
                <a:t>1 Global</a:t>
              </a:r>
              <a:r>
                <a:rPr lang="en-US" sz="933" dirty="0">
                  <a:solidFill>
                    <a:srgbClr val="1A2B2B"/>
                  </a:solidFill>
                  <a:latin typeface="Inter"/>
                  <a:ea typeface="Inter"/>
                  <a:cs typeface="Inter"/>
                  <a:sym typeface="Inter"/>
                </a:rPr>
                <a:t> Source of Truth</a:t>
              </a:r>
            </a:p>
            <a:p>
              <a:pPr>
                <a:lnSpc>
                  <a:spcPts val="1680"/>
                </a:lnSpc>
              </a:pPr>
              <a:r>
                <a:rPr lang="en-US" sz="933" b="1" dirty="0">
                  <a:solidFill>
                    <a:srgbClr val="1A2B2B"/>
                  </a:solidFill>
                  <a:latin typeface="Inter Bold"/>
                  <a:ea typeface="Inter Bold"/>
                  <a:cs typeface="Inter Bold"/>
                  <a:sym typeface="Inter Bold"/>
                </a:rPr>
                <a:t>100%</a:t>
              </a:r>
              <a:r>
                <a:rPr lang="en-US" sz="933" dirty="0">
                  <a:solidFill>
                    <a:srgbClr val="1A2B2B"/>
                  </a:solidFill>
                  <a:latin typeface="Inter"/>
                  <a:ea typeface="Inter"/>
                  <a:cs typeface="Inter"/>
                  <a:sym typeface="Inter"/>
                </a:rPr>
                <a:t> Online Exam Delivery Enabled</a:t>
              </a:r>
            </a:p>
            <a:p>
              <a:pPr>
                <a:lnSpc>
                  <a:spcPts val="1680"/>
                </a:lnSpc>
              </a:pPr>
              <a:r>
                <a:rPr lang="en-US" sz="933" b="1" dirty="0">
                  <a:solidFill>
                    <a:srgbClr val="1A2B2B"/>
                  </a:solidFill>
                  <a:latin typeface="Inter Bold"/>
                  <a:ea typeface="Inter Bold"/>
                  <a:cs typeface="Inter Bold"/>
                  <a:sym typeface="Inter Bold"/>
                </a:rPr>
                <a:t>3 Benefits</a:t>
              </a:r>
              <a:r>
                <a:rPr lang="en-US" sz="933" dirty="0">
                  <a:solidFill>
                    <a:srgbClr val="1A2B2B"/>
                  </a:solidFill>
                  <a:latin typeface="Inter"/>
                  <a:ea typeface="Inter"/>
                  <a:cs typeface="Inter"/>
                  <a:sym typeface="Inter"/>
                </a:rPr>
                <a:t> Searchable • Reusable • Standardized Content</a:t>
              </a:r>
            </a:p>
          </p:txBody>
        </p:sp>
        <p:sp>
          <p:nvSpPr>
            <p:cNvPr id="41" name="TextBox 41">
              <a:extLst>
                <a:ext uri="{FF2B5EF4-FFF2-40B4-BE49-F238E27FC236}">
                  <a16:creationId xmlns:a16="http://schemas.microsoft.com/office/drawing/2014/main" id="{E9C13D70-BC1B-D628-3653-D9EE2D32CE7F}"/>
                </a:ext>
              </a:extLst>
            </p:cNvPr>
            <p:cNvSpPr txBox="1"/>
            <p:nvPr/>
          </p:nvSpPr>
          <p:spPr>
            <a:xfrm>
              <a:off x="838200" y="3488968"/>
              <a:ext cx="4876800" cy="727508"/>
            </a:xfrm>
            <a:prstGeom prst="rect">
              <a:avLst/>
            </a:prstGeom>
            <a:noFill/>
          </p:spPr>
          <p:txBody>
            <a:bodyPr lIns="0" tIns="0" rIns="0" bIns="0" rtlCol="0" anchor="t">
              <a:spAutoFit/>
            </a:bodyPr>
            <a:lstStyle/>
            <a:p>
              <a:pPr>
                <a:lnSpc>
                  <a:spcPts val="1299"/>
                </a:lnSpc>
              </a:pPr>
              <a:r>
                <a:rPr lang="en-US" sz="866" dirty="0">
                  <a:solidFill>
                    <a:srgbClr val="005E60"/>
                  </a:solidFill>
                  <a:latin typeface="Inter Bold"/>
                  <a:ea typeface="Inter Bold"/>
                  <a:cs typeface="Inter Bold"/>
                  <a:sym typeface="Inter Bold"/>
                </a:rPr>
                <a:t>ONE TEAM</a:t>
              </a:r>
              <a:r>
                <a:rPr lang="en-US" sz="866" dirty="0">
                  <a:solidFill>
                    <a:srgbClr val="005E60"/>
                  </a:solidFill>
                  <a:latin typeface="Inter"/>
                  <a:ea typeface="Inter"/>
                  <a:cs typeface="Inter"/>
                  <a:sym typeface="Inter"/>
                </a:rPr>
                <a:t> - OFS Instructors + Instructional Designers + Training Leadership collaborated to deliver the first fully migrated curriculum in Xyleme.</a:t>
              </a:r>
            </a:p>
          </p:txBody>
        </p:sp>
      </p:grpSp>
      <p:grpSp>
        <p:nvGrpSpPr>
          <p:cNvPr id="14" name="Group 13">
            <a:extLst>
              <a:ext uri="{FF2B5EF4-FFF2-40B4-BE49-F238E27FC236}">
                <a16:creationId xmlns:a16="http://schemas.microsoft.com/office/drawing/2014/main" id="{E8AF8779-8293-C0D0-7359-BE266B9932B4}"/>
              </a:ext>
            </a:extLst>
          </p:cNvPr>
          <p:cNvGrpSpPr/>
          <p:nvPr/>
        </p:nvGrpSpPr>
        <p:grpSpPr>
          <a:xfrm>
            <a:off x="7975600" y="864873"/>
            <a:ext cx="3810000" cy="1096217"/>
            <a:chOff x="11963400" y="1297309"/>
            <a:chExt cx="5715000" cy="1644326"/>
          </a:xfrm>
        </p:grpSpPr>
        <p:sp>
          <p:nvSpPr>
            <p:cNvPr id="20" name="Freeform 20">
              <a:extLst>
                <a:ext uri="{FF2B5EF4-FFF2-40B4-BE49-F238E27FC236}">
                  <a16:creationId xmlns:a16="http://schemas.microsoft.com/office/drawing/2014/main" id="{9202F557-B337-FFF4-6F95-D4B4B423332E}"/>
                </a:ext>
              </a:extLst>
            </p:cNvPr>
            <p:cNvSpPr/>
            <p:nvPr/>
          </p:nvSpPr>
          <p:spPr>
            <a:xfrm>
              <a:off x="11963400" y="1324280"/>
              <a:ext cx="5715000" cy="1617355"/>
            </a:xfrm>
            <a:custGeom>
              <a:avLst/>
              <a:gdLst/>
              <a:ahLst/>
              <a:cxnLst/>
              <a:rect l="l" t="t" r="r" b="b"/>
              <a:pathLst>
                <a:path w="7620000" h="2284728">
                  <a:moveTo>
                    <a:pt x="190500" y="0"/>
                  </a:moveTo>
                  <a:lnTo>
                    <a:pt x="7429500" y="0"/>
                  </a:lnTo>
                  <a:cubicBezTo>
                    <a:pt x="7534711" y="0"/>
                    <a:pt x="7620000" y="102291"/>
                    <a:pt x="7620000" y="228473"/>
                  </a:cubicBezTo>
                  <a:lnTo>
                    <a:pt x="7620000" y="2056255"/>
                  </a:lnTo>
                  <a:cubicBezTo>
                    <a:pt x="7620000" y="2182437"/>
                    <a:pt x="7534711" y="2284728"/>
                    <a:pt x="7429500" y="2284728"/>
                  </a:cubicBezTo>
                  <a:lnTo>
                    <a:pt x="190500" y="2284728"/>
                  </a:lnTo>
                  <a:cubicBezTo>
                    <a:pt x="85290" y="2284728"/>
                    <a:pt x="0" y="2182437"/>
                    <a:pt x="0" y="2056255"/>
                  </a:cubicBezTo>
                  <a:lnTo>
                    <a:pt x="0" y="228473"/>
                  </a:lnTo>
                  <a:cubicBezTo>
                    <a:pt x="0" y="102291"/>
                    <a:pt x="85290" y="0"/>
                    <a:pt x="190500" y="0"/>
                  </a:cubicBezTo>
                  <a:close/>
                </a:path>
              </a:pathLst>
            </a:custGeom>
            <a:solidFill>
              <a:schemeClr val="bg1">
                <a:lumMod val="95000"/>
              </a:schemeClr>
            </a:solidFill>
            <a:ln w="19050" cap="sq">
              <a:solidFill>
                <a:srgbClr val="C7F863"/>
              </a:solidFill>
              <a:prstDash val="solid"/>
              <a:miter/>
            </a:ln>
          </p:spPr>
          <p:txBody>
            <a:bodyPr/>
            <a:lstStyle/>
            <a:p>
              <a:endParaRPr lang="en-US" sz="1200"/>
            </a:p>
          </p:txBody>
        </p:sp>
        <p:sp>
          <p:nvSpPr>
            <p:cNvPr id="21" name="TextBox 21">
              <a:extLst>
                <a:ext uri="{FF2B5EF4-FFF2-40B4-BE49-F238E27FC236}">
                  <a16:creationId xmlns:a16="http://schemas.microsoft.com/office/drawing/2014/main" id="{F0B01F9C-8293-5CE9-7135-B795DF088F98}"/>
                </a:ext>
              </a:extLst>
            </p:cNvPr>
            <p:cNvSpPr txBox="1"/>
            <p:nvPr/>
          </p:nvSpPr>
          <p:spPr>
            <a:xfrm>
              <a:off x="11963400" y="1297309"/>
              <a:ext cx="5715000" cy="1644326"/>
            </a:xfrm>
            <a:prstGeom prst="rect">
              <a:avLst/>
            </a:prstGeom>
            <a:solidFill>
              <a:schemeClr val="bg1">
                <a:lumMod val="95000"/>
              </a:schemeClr>
            </a:solidFill>
          </p:spPr>
          <p:txBody>
            <a:bodyPr lIns="33867" tIns="33867" rIns="33867" bIns="33867" rtlCol="0" anchor="ctr"/>
            <a:lstStyle/>
            <a:p>
              <a:pPr>
                <a:lnSpc>
                  <a:spcPts val="1119"/>
                </a:lnSpc>
              </a:pPr>
              <a:endParaRPr sz="1200"/>
            </a:p>
          </p:txBody>
        </p:sp>
        <p:sp>
          <p:nvSpPr>
            <p:cNvPr id="23" name="Freeform 23">
              <a:extLst>
                <a:ext uri="{FF2B5EF4-FFF2-40B4-BE49-F238E27FC236}">
                  <a16:creationId xmlns:a16="http://schemas.microsoft.com/office/drawing/2014/main" id="{8C7FEAB5-C13D-409C-5114-8E3E3F572D25}"/>
                </a:ext>
              </a:extLst>
            </p:cNvPr>
            <p:cNvSpPr/>
            <p:nvPr/>
          </p:nvSpPr>
          <p:spPr>
            <a:xfrm>
              <a:off x="11963400" y="1352550"/>
              <a:ext cx="5715000" cy="57150"/>
            </a:xfrm>
            <a:custGeom>
              <a:avLst/>
              <a:gdLst/>
              <a:ahLst/>
              <a:cxnLst/>
              <a:rect l="l" t="t" r="r" b="b"/>
              <a:pathLst>
                <a:path w="7620000" h="76200">
                  <a:moveTo>
                    <a:pt x="0" y="0"/>
                  </a:moveTo>
                  <a:lnTo>
                    <a:pt x="7620000" y="0"/>
                  </a:lnTo>
                  <a:lnTo>
                    <a:pt x="7620000" y="76200"/>
                  </a:lnTo>
                  <a:lnTo>
                    <a:pt x="0" y="76200"/>
                  </a:lnTo>
                  <a:close/>
                </a:path>
              </a:pathLst>
            </a:custGeom>
            <a:solidFill>
              <a:srgbClr val="EC642B"/>
            </a:solidFill>
          </p:spPr>
          <p:txBody>
            <a:bodyPr/>
            <a:lstStyle/>
            <a:p>
              <a:endParaRPr lang="en-US" sz="1200"/>
            </a:p>
          </p:txBody>
        </p:sp>
        <p:sp>
          <p:nvSpPr>
            <p:cNvPr id="24" name="TextBox 24">
              <a:extLst>
                <a:ext uri="{FF2B5EF4-FFF2-40B4-BE49-F238E27FC236}">
                  <a16:creationId xmlns:a16="http://schemas.microsoft.com/office/drawing/2014/main" id="{6EF119AB-7C1F-D3C2-6EA5-DDBAB3FBA5D2}"/>
                </a:ext>
              </a:extLst>
            </p:cNvPr>
            <p:cNvSpPr txBox="1"/>
            <p:nvPr/>
          </p:nvSpPr>
          <p:spPr>
            <a:xfrm>
              <a:off x="11963400" y="1323975"/>
              <a:ext cx="5715000" cy="85725"/>
            </a:xfrm>
            <a:prstGeom prst="rect">
              <a:avLst/>
            </a:prstGeom>
            <a:solidFill>
              <a:srgbClr val="EC642B"/>
            </a:solidFill>
          </p:spPr>
          <p:txBody>
            <a:bodyPr lIns="33867" tIns="33867" rIns="33867" bIns="33867" rtlCol="0" anchor="ctr"/>
            <a:lstStyle/>
            <a:p>
              <a:pPr>
                <a:lnSpc>
                  <a:spcPts val="1119"/>
                </a:lnSpc>
              </a:pPr>
              <a:endParaRPr sz="1200"/>
            </a:p>
          </p:txBody>
        </p:sp>
        <p:sp>
          <p:nvSpPr>
            <p:cNvPr id="45" name="TextBox 45">
              <a:extLst>
                <a:ext uri="{FF2B5EF4-FFF2-40B4-BE49-F238E27FC236}">
                  <a16:creationId xmlns:a16="http://schemas.microsoft.com/office/drawing/2014/main" id="{9EDFF7BA-23BA-2D55-664E-BD9CD9CA5D21}"/>
                </a:ext>
              </a:extLst>
            </p:cNvPr>
            <p:cNvSpPr txBox="1"/>
            <p:nvPr/>
          </p:nvSpPr>
          <p:spPr>
            <a:xfrm>
              <a:off x="12192000" y="1456054"/>
              <a:ext cx="5257800" cy="332496"/>
            </a:xfrm>
            <a:prstGeom prst="rect">
              <a:avLst/>
            </a:prstGeom>
          </p:spPr>
          <p:txBody>
            <a:bodyPr lIns="0" tIns="0" rIns="0" bIns="0" rtlCol="0" anchor="t">
              <a:spAutoFit/>
            </a:bodyPr>
            <a:lstStyle/>
            <a:p>
              <a:pPr>
                <a:lnSpc>
                  <a:spcPts val="1866"/>
                </a:lnSpc>
              </a:pPr>
              <a:r>
                <a:rPr lang="en-US" sz="1333" b="1" dirty="0">
                  <a:solidFill>
                    <a:srgbClr val="005E60"/>
                  </a:solidFill>
                  <a:latin typeface="Inter Bold"/>
                  <a:ea typeface="Inter Bold"/>
                  <a:cs typeface="Inter Bold"/>
                  <a:sym typeface="Inter Bold"/>
                </a:rPr>
                <a:t>The Risks</a:t>
              </a:r>
            </a:p>
          </p:txBody>
        </p:sp>
        <p:sp>
          <p:nvSpPr>
            <p:cNvPr id="46" name="TextBox 46">
              <a:extLst>
                <a:ext uri="{FF2B5EF4-FFF2-40B4-BE49-F238E27FC236}">
                  <a16:creationId xmlns:a16="http://schemas.microsoft.com/office/drawing/2014/main" id="{4AEE9A0E-B247-5E95-106D-39CCF905E36F}"/>
                </a:ext>
              </a:extLst>
            </p:cNvPr>
            <p:cNvSpPr txBox="1"/>
            <p:nvPr/>
          </p:nvSpPr>
          <p:spPr>
            <a:xfrm>
              <a:off x="12192000" y="2129212"/>
              <a:ext cx="5257800" cy="514277"/>
            </a:xfrm>
            <a:prstGeom prst="rect">
              <a:avLst/>
            </a:prstGeom>
          </p:spPr>
          <p:txBody>
            <a:bodyPr lIns="0" tIns="0" rIns="0" bIns="0" rtlCol="0" anchor="t">
              <a:spAutoFit/>
            </a:bodyPr>
            <a:lstStyle/>
            <a:p>
              <a:pPr>
                <a:lnSpc>
                  <a:spcPts val="1399"/>
                </a:lnSpc>
              </a:pPr>
              <a:r>
                <a:rPr lang="en-US" sz="933" dirty="0">
                  <a:solidFill>
                    <a:srgbClr val="1A2B2B"/>
                  </a:solidFill>
                  <a:latin typeface="Inter"/>
                  <a:ea typeface="Inter"/>
                  <a:cs typeface="Inter"/>
                  <a:sym typeface="Inter"/>
                </a:rPr>
                <a:t>Current materials require </a:t>
              </a:r>
              <a:r>
                <a:rPr lang="en-US" sz="933" b="1" dirty="0">
                  <a:latin typeface="Inter Bold" panose="020B0604020202020204" charset="0"/>
                  <a:ea typeface="Inter Bold" panose="020B0604020202020204" charset="0"/>
                  <a:cs typeface="Inter"/>
                  <a:sym typeface="Inter"/>
                </a:rPr>
                <a:t>cleanup</a:t>
              </a:r>
              <a:r>
                <a:rPr lang="en-US" sz="933" dirty="0">
                  <a:solidFill>
                    <a:srgbClr val="1A2B2B"/>
                  </a:solidFill>
                  <a:latin typeface="Inter"/>
                  <a:ea typeface="Inter"/>
                  <a:cs typeface="Inter"/>
                  <a:sym typeface="Inter"/>
                </a:rPr>
                <a:t> before sharing with CT Team to start the process of migrating content into Xyleme.</a:t>
              </a:r>
            </a:p>
          </p:txBody>
        </p:sp>
      </p:grpSp>
      <p:grpSp>
        <p:nvGrpSpPr>
          <p:cNvPr id="11" name="Group 10">
            <a:extLst>
              <a:ext uri="{FF2B5EF4-FFF2-40B4-BE49-F238E27FC236}">
                <a16:creationId xmlns:a16="http://schemas.microsoft.com/office/drawing/2014/main" id="{7A56DB97-745D-1767-58A3-48CB9CB0BF8C}"/>
              </a:ext>
            </a:extLst>
          </p:cNvPr>
          <p:cNvGrpSpPr/>
          <p:nvPr/>
        </p:nvGrpSpPr>
        <p:grpSpPr>
          <a:xfrm>
            <a:off x="7975600" y="2250838"/>
            <a:ext cx="3810000" cy="1172601"/>
            <a:chOff x="11963400" y="3376257"/>
            <a:chExt cx="5715000" cy="1758902"/>
          </a:xfrm>
        </p:grpSpPr>
        <p:grpSp>
          <p:nvGrpSpPr>
            <p:cNvPr id="25" name="Group 25">
              <a:extLst>
                <a:ext uri="{FF2B5EF4-FFF2-40B4-BE49-F238E27FC236}">
                  <a16:creationId xmlns:a16="http://schemas.microsoft.com/office/drawing/2014/main" id="{ED3BE214-57E0-9684-863E-D98FAC0D7156}"/>
                </a:ext>
              </a:extLst>
            </p:cNvPr>
            <p:cNvGrpSpPr/>
            <p:nvPr/>
          </p:nvGrpSpPr>
          <p:grpSpPr>
            <a:xfrm>
              <a:off x="11963400" y="3376257"/>
              <a:ext cx="5715000" cy="1758902"/>
              <a:chOff x="0" y="0"/>
              <a:chExt cx="7620000" cy="2724510"/>
            </a:xfrm>
            <a:solidFill>
              <a:schemeClr val="bg1">
                <a:lumMod val="95000"/>
              </a:schemeClr>
            </a:solidFill>
          </p:grpSpPr>
          <p:sp>
            <p:nvSpPr>
              <p:cNvPr id="26" name="Freeform 26">
                <a:extLst>
                  <a:ext uri="{FF2B5EF4-FFF2-40B4-BE49-F238E27FC236}">
                    <a16:creationId xmlns:a16="http://schemas.microsoft.com/office/drawing/2014/main" id="{D5B1112D-3D95-C948-8590-4A53EAC90D6C}"/>
                  </a:ext>
                </a:extLst>
              </p:cNvPr>
              <p:cNvSpPr/>
              <p:nvPr/>
            </p:nvSpPr>
            <p:spPr>
              <a:xfrm>
                <a:off x="0" y="0"/>
                <a:ext cx="7620000" cy="2724510"/>
              </a:xfrm>
              <a:custGeom>
                <a:avLst/>
                <a:gdLst/>
                <a:ahLst/>
                <a:cxnLst/>
                <a:rect l="l" t="t" r="r" b="b"/>
                <a:pathLst>
                  <a:path w="7620000" h="2724510">
                    <a:moveTo>
                      <a:pt x="215900" y="0"/>
                    </a:moveTo>
                    <a:lnTo>
                      <a:pt x="7404100" y="0"/>
                    </a:lnTo>
                    <a:cubicBezTo>
                      <a:pt x="7523338" y="0"/>
                      <a:pt x="7620000" y="121980"/>
                      <a:pt x="7620000" y="272451"/>
                    </a:cubicBezTo>
                    <a:lnTo>
                      <a:pt x="7620000" y="2452059"/>
                    </a:lnTo>
                    <a:cubicBezTo>
                      <a:pt x="7620000" y="2602529"/>
                      <a:pt x="7523338" y="2724510"/>
                      <a:pt x="7404100" y="2724510"/>
                    </a:cubicBezTo>
                    <a:lnTo>
                      <a:pt x="215900" y="2724510"/>
                    </a:lnTo>
                    <a:cubicBezTo>
                      <a:pt x="96662" y="2724510"/>
                      <a:pt x="0" y="2602529"/>
                      <a:pt x="0" y="2452059"/>
                    </a:cubicBezTo>
                    <a:lnTo>
                      <a:pt x="0" y="272451"/>
                    </a:lnTo>
                    <a:cubicBezTo>
                      <a:pt x="0" y="121980"/>
                      <a:pt x="96662" y="0"/>
                      <a:pt x="215900" y="0"/>
                    </a:cubicBezTo>
                    <a:close/>
                  </a:path>
                </a:pathLst>
              </a:custGeom>
              <a:grpFill/>
              <a:ln w="9525" cap="sq">
                <a:solidFill>
                  <a:srgbClr val="E0E0E0"/>
                </a:solidFill>
                <a:prstDash val="solid"/>
                <a:miter/>
              </a:ln>
            </p:spPr>
            <p:txBody>
              <a:bodyPr/>
              <a:lstStyle/>
              <a:p>
                <a:endParaRPr lang="en-US" sz="1200"/>
              </a:p>
            </p:txBody>
          </p:sp>
          <p:sp>
            <p:nvSpPr>
              <p:cNvPr id="27" name="TextBox 27">
                <a:extLst>
                  <a:ext uri="{FF2B5EF4-FFF2-40B4-BE49-F238E27FC236}">
                    <a16:creationId xmlns:a16="http://schemas.microsoft.com/office/drawing/2014/main" id="{DA902B00-3CF6-1328-6DEA-AE326BF403DA}"/>
                  </a:ext>
                </a:extLst>
              </p:cNvPr>
              <p:cNvSpPr txBox="1"/>
              <p:nvPr/>
            </p:nvSpPr>
            <p:spPr>
              <a:xfrm>
                <a:off x="0" y="-38100"/>
                <a:ext cx="7620000" cy="2762610"/>
              </a:xfrm>
              <a:prstGeom prst="rect">
                <a:avLst/>
              </a:prstGeom>
              <a:grpFill/>
            </p:spPr>
            <p:txBody>
              <a:bodyPr lIns="33867" tIns="33867" rIns="33867" bIns="33867" rtlCol="0" anchor="ctr"/>
              <a:lstStyle/>
              <a:p>
                <a:pPr>
                  <a:lnSpc>
                    <a:spcPts val="1119"/>
                  </a:lnSpc>
                </a:pPr>
                <a:endParaRPr sz="1200"/>
              </a:p>
            </p:txBody>
          </p:sp>
        </p:grpSp>
        <p:sp>
          <p:nvSpPr>
            <p:cNvPr id="47" name="TextBox 47">
              <a:extLst>
                <a:ext uri="{FF2B5EF4-FFF2-40B4-BE49-F238E27FC236}">
                  <a16:creationId xmlns:a16="http://schemas.microsoft.com/office/drawing/2014/main" id="{CDA7510F-53F0-5544-2920-6B71A0903908}"/>
                </a:ext>
              </a:extLst>
            </p:cNvPr>
            <p:cNvSpPr txBox="1"/>
            <p:nvPr/>
          </p:nvSpPr>
          <p:spPr>
            <a:xfrm>
              <a:off x="12124191" y="3474200"/>
              <a:ext cx="5257800" cy="332496"/>
            </a:xfrm>
            <a:prstGeom prst="rect">
              <a:avLst/>
            </a:prstGeom>
          </p:spPr>
          <p:txBody>
            <a:bodyPr lIns="0" tIns="0" rIns="0" bIns="0" rtlCol="0" anchor="t">
              <a:spAutoFit/>
            </a:bodyPr>
            <a:lstStyle/>
            <a:p>
              <a:pPr>
                <a:lnSpc>
                  <a:spcPts val="1867"/>
                </a:lnSpc>
              </a:pPr>
              <a:r>
                <a:rPr lang="en-US" sz="1333" b="1" dirty="0">
                  <a:solidFill>
                    <a:srgbClr val="005E60"/>
                  </a:solidFill>
                  <a:latin typeface="Inter Bold"/>
                  <a:ea typeface="Inter Bold"/>
                  <a:cs typeface="Inter Bold"/>
                  <a:sym typeface="Inter Bold"/>
                </a:rPr>
                <a:t>Keep in Mind</a:t>
              </a:r>
            </a:p>
          </p:txBody>
        </p:sp>
        <p:sp>
          <p:nvSpPr>
            <p:cNvPr id="48" name="TextBox 48">
              <a:extLst>
                <a:ext uri="{FF2B5EF4-FFF2-40B4-BE49-F238E27FC236}">
                  <a16:creationId xmlns:a16="http://schemas.microsoft.com/office/drawing/2014/main" id="{0F5CFBB6-0223-A770-C3D8-170A4CDB05E7}"/>
                </a:ext>
              </a:extLst>
            </p:cNvPr>
            <p:cNvSpPr txBox="1"/>
            <p:nvPr/>
          </p:nvSpPr>
          <p:spPr>
            <a:xfrm>
              <a:off x="12143948" y="4128459"/>
              <a:ext cx="5257800" cy="783197"/>
            </a:xfrm>
            <a:prstGeom prst="rect">
              <a:avLst/>
            </a:prstGeom>
          </p:spPr>
          <p:txBody>
            <a:bodyPr lIns="0" tIns="0" rIns="0" bIns="0" rtlCol="0" anchor="t">
              <a:spAutoFit/>
            </a:bodyPr>
            <a:lstStyle/>
            <a:p>
              <a:pPr>
                <a:lnSpc>
                  <a:spcPts val="1399"/>
                </a:lnSpc>
              </a:pPr>
              <a:r>
                <a:rPr lang="en-US" sz="933" dirty="0">
                  <a:solidFill>
                    <a:srgbClr val="1A2B2B"/>
                  </a:solidFill>
                  <a:latin typeface="Inter"/>
                  <a:ea typeface="Inter"/>
                  <a:cs typeface="Inter"/>
                  <a:sym typeface="Inter"/>
                </a:rPr>
                <a:t>Content housed in Xyleme remains flexible and can be updated as needed. </a:t>
              </a:r>
            </a:p>
            <a:p>
              <a:pPr>
                <a:lnSpc>
                  <a:spcPts val="1399"/>
                </a:lnSpc>
              </a:pPr>
              <a:r>
                <a:rPr lang="en-US" sz="933" dirty="0">
                  <a:solidFill>
                    <a:srgbClr val="1A2B2B"/>
                  </a:solidFill>
                  <a:latin typeface="Inter"/>
                  <a:ea typeface="Inter"/>
                  <a:cs typeface="Inter"/>
                  <a:sym typeface="Inter"/>
                </a:rPr>
                <a:t>It is a </a:t>
              </a:r>
              <a:r>
                <a:rPr lang="en-US" sz="933" b="1" dirty="0">
                  <a:latin typeface="Inter Bold" panose="020B0604020202020204" charset="0"/>
                  <a:ea typeface="Inter Bold" panose="020B0604020202020204" charset="0"/>
                  <a:cs typeface="Inter"/>
                  <a:sym typeface="Inter"/>
                </a:rPr>
                <a:t>living resource </a:t>
              </a:r>
              <a:r>
                <a:rPr lang="en-US" sz="933" dirty="0">
                  <a:solidFill>
                    <a:srgbClr val="1A2B2B"/>
                  </a:solidFill>
                  <a:latin typeface="Inter"/>
                  <a:ea typeface="Inter"/>
                  <a:cs typeface="Inter"/>
                  <a:sym typeface="Inter"/>
                </a:rPr>
                <a:t>that evolves with our training needs.</a:t>
              </a:r>
            </a:p>
          </p:txBody>
        </p:sp>
      </p:grpSp>
      <p:sp>
        <p:nvSpPr>
          <p:cNvPr id="50" name="TextBox 50">
            <a:extLst>
              <a:ext uri="{FF2B5EF4-FFF2-40B4-BE49-F238E27FC236}">
                <a16:creationId xmlns:a16="http://schemas.microsoft.com/office/drawing/2014/main" id="{E43C8993-DB96-2794-7512-CA39EF244E9A}"/>
              </a:ext>
            </a:extLst>
          </p:cNvPr>
          <p:cNvSpPr txBox="1"/>
          <p:nvPr/>
        </p:nvSpPr>
        <p:spPr>
          <a:xfrm>
            <a:off x="406400" y="6705177"/>
            <a:ext cx="5080000" cy="118687"/>
          </a:xfrm>
          <a:prstGeom prst="rect">
            <a:avLst/>
          </a:prstGeom>
        </p:spPr>
        <p:txBody>
          <a:bodyPr lIns="0" tIns="0" rIns="0" bIns="0" rtlCol="0" anchor="t">
            <a:spAutoFit/>
          </a:bodyPr>
          <a:lstStyle/>
          <a:p>
            <a:pPr>
              <a:lnSpc>
                <a:spcPts val="1027"/>
              </a:lnSpc>
            </a:pPr>
            <a:r>
              <a:rPr lang="en-US" sz="733">
                <a:solidFill>
                  <a:srgbClr val="5A6B6B"/>
                </a:solidFill>
                <a:latin typeface="Inter"/>
                <a:ea typeface="Inter"/>
                <a:cs typeface="Inter"/>
                <a:sym typeface="Inter"/>
              </a:rPr>
              <a:t>© 2026 GE Vernova and/or its affiliates. All rights reserved.</a:t>
            </a:r>
          </a:p>
        </p:txBody>
      </p:sp>
      <p:sp>
        <p:nvSpPr>
          <p:cNvPr id="51" name="TextBox 51">
            <a:extLst>
              <a:ext uri="{FF2B5EF4-FFF2-40B4-BE49-F238E27FC236}">
                <a16:creationId xmlns:a16="http://schemas.microsoft.com/office/drawing/2014/main" id="{7FC207DB-9DC9-F52F-2104-FB8EDC2A2E54}"/>
              </a:ext>
            </a:extLst>
          </p:cNvPr>
          <p:cNvSpPr txBox="1"/>
          <p:nvPr/>
        </p:nvSpPr>
        <p:spPr>
          <a:xfrm>
            <a:off x="11468100" y="6705177"/>
            <a:ext cx="317500" cy="118687"/>
          </a:xfrm>
          <a:prstGeom prst="rect">
            <a:avLst/>
          </a:prstGeom>
        </p:spPr>
        <p:txBody>
          <a:bodyPr lIns="0" tIns="0" rIns="0" bIns="0" rtlCol="0" anchor="t">
            <a:spAutoFit/>
          </a:bodyPr>
          <a:lstStyle/>
          <a:p>
            <a:pPr algn="r">
              <a:lnSpc>
                <a:spcPts val="1027"/>
              </a:lnSpc>
            </a:pPr>
            <a:r>
              <a:rPr lang="en-US" sz="733">
                <a:solidFill>
                  <a:srgbClr val="5A6B6B"/>
                </a:solidFill>
                <a:latin typeface="Inter"/>
                <a:ea typeface="Inter"/>
                <a:cs typeface="Inter"/>
                <a:sym typeface="Inter"/>
              </a:rPr>
              <a:t>1</a:t>
            </a:r>
          </a:p>
        </p:txBody>
      </p:sp>
      <p:grpSp>
        <p:nvGrpSpPr>
          <p:cNvPr id="4" name="Group 3">
            <a:extLst>
              <a:ext uri="{FF2B5EF4-FFF2-40B4-BE49-F238E27FC236}">
                <a16:creationId xmlns:a16="http://schemas.microsoft.com/office/drawing/2014/main" id="{94AA7C50-39DE-A129-E958-E5386EF12054}"/>
              </a:ext>
            </a:extLst>
          </p:cNvPr>
          <p:cNvGrpSpPr/>
          <p:nvPr/>
        </p:nvGrpSpPr>
        <p:grpSpPr>
          <a:xfrm>
            <a:off x="4127500" y="5602644"/>
            <a:ext cx="7645400" cy="1058083"/>
            <a:chOff x="6191250" y="8403965"/>
            <a:chExt cx="11468100" cy="1587125"/>
          </a:xfrm>
        </p:grpSpPr>
        <p:grpSp>
          <p:nvGrpSpPr>
            <p:cNvPr id="34" name="Group 34">
              <a:extLst>
                <a:ext uri="{FF2B5EF4-FFF2-40B4-BE49-F238E27FC236}">
                  <a16:creationId xmlns:a16="http://schemas.microsoft.com/office/drawing/2014/main" id="{04B87207-1C0E-6CAE-36BA-AFE376417428}"/>
                </a:ext>
              </a:extLst>
            </p:cNvPr>
            <p:cNvGrpSpPr/>
            <p:nvPr/>
          </p:nvGrpSpPr>
          <p:grpSpPr>
            <a:xfrm>
              <a:off x="6191250" y="8403965"/>
              <a:ext cx="11468100" cy="1587125"/>
              <a:chOff x="0" y="-38100"/>
              <a:chExt cx="15316200" cy="2197100"/>
            </a:xfrm>
            <a:solidFill>
              <a:schemeClr val="bg1">
                <a:lumMod val="95000"/>
              </a:schemeClr>
            </a:solidFill>
          </p:grpSpPr>
          <p:sp>
            <p:nvSpPr>
              <p:cNvPr id="35" name="Freeform 35">
                <a:extLst>
                  <a:ext uri="{FF2B5EF4-FFF2-40B4-BE49-F238E27FC236}">
                    <a16:creationId xmlns:a16="http://schemas.microsoft.com/office/drawing/2014/main" id="{C0890299-702D-00F3-59ED-FF12BC7DEBDE}"/>
                  </a:ext>
                </a:extLst>
              </p:cNvPr>
              <p:cNvSpPr/>
              <p:nvPr/>
            </p:nvSpPr>
            <p:spPr>
              <a:xfrm>
                <a:off x="0" y="160744"/>
                <a:ext cx="15316200" cy="1998256"/>
              </a:xfrm>
              <a:custGeom>
                <a:avLst/>
                <a:gdLst/>
                <a:ahLst/>
                <a:cxnLst/>
                <a:rect l="l" t="t" r="r" b="b"/>
                <a:pathLst>
                  <a:path w="15316200" h="2159000">
                    <a:moveTo>
                      <a:pt x="433959" y="0"/>
                    </a:moveTo>
                    <a:lnTo>
                      <a:pt x="14882240" y="0"/>
                    </a:lnTo>
                    <a:cubicBezTo>
                      <a:pt x="15121911" y="0"/>
                      <a:pt x="15316200" y="96662"/>
                      <a:pt x="15316200" y="215900"/>
                    </a:cubicBezTo>
                    <a:lnTo>
                      <a:pt x="15316200" y="1943100"/>
                    </a:lnTo>
                    <a:cubicBezTo>
                      <a:pt x="15316200" y="2062338"/>
                      <a:pt x="15121911" y="2159000"/>
                      <a:pt x="14882240" y="2159000"/>
                    </a:cubicBezTo>
                    <a:lnTo>
                      <a:pt x="433959" y="2159000"/>
                    </a:lnTo>
                    <a:cubicBezTo>
                      <a:pt x="194290" y="2159000"/>
                      <a:pt x="0" y="2062338"/>
                      <a:pt x="0" y="1943100"/>
                    </a:cubicBezTo>
                    <a:lnTo>
                      <a:pt x="0" y="215900"/>
                    </a:lnTo>
                    <a:cubicBezTo>
                      <a:pt x="0" y="96662"/>
                      <a:pt x="194290" y="0"/>
                      <a:pt x="433959" y="0"/>
                    </a:cubicBezTo>
                    <a:close/>
                  </a:path>
                </a:pathLst>
              </a:custGeom>
              <a:grpFill/>
              <a:ln w="9525" cap="sq">
                <a:solidFill>
                  <a:srgbClr val="E0E0E0"/>
                </a:solidFill>
                <a:prstDash val="solid"/>
                <a:miter/>
              </a:ln>
            </p:spPr>
            <p:txBody>
              <a:bodyPr/>
              <a:lstStyle/>
              <a:p>
                <a:endParaRPr lang="en-US" sz="1200"/>
              </a:p>
            </p:txBody>
          </p:sp>
          <p:sp>
            <p:nvSpPr>
              <p:cNvPr id="36" name="TextBox 36">
                <a:extLst>
                  <a:ext uri="{FF2B5EF4-FFF2-40B4-BE49-F238E27FC236}">
                    <a16:creationId xmlns:a16="http://schemas.microsoft.com/office/drawing/2014/main" id="{C6D45259-6A10-1633-29D0-F618F08EFC42}"/>
                  </a:ext>
                </a:extLst>
              </p:cNvPr>
              <p:cNvSpPr txBox="1"/>
              <p:nvPr/>
            </p:nvSpPr>
            <p:spPr>
              <a:xfrm>
                <a:off x="0" y="-38100"/>
                <a:ext cx="15316200" cy="2197100"/>
              </a:xfrm>
              <a:prstGeom prst="rect">
                <a:avLst/>
              </a:prstGeom>
              <a:grpFill/>
            </p:spPr>
            <p:txBody>
              <a:bodyPr lIns="33867" tIns="33867" rIns="33867" bIns="33867" rtlCol="0" anchor="ctr"/>
              <a:lstStyle/>
              <a:p>
                <a:pPr>
                  <a:lnSpc>
                    <a:spcPts val="1119"/>
                  </a:lnSpc>
                </a:pPr>
                <a:endParaRPr sz="1200"/>
              </a:p>
            </p:txBody>
          </p:sp>
        </p:grpSp>
        <p:sp>
          <p:nvSpPr>
            <p:cNvPr id="52" name="TextBox 52">
              <a:extLst>
                <a:ext uri="{FF2B5EF4-FFF2-40B4-BE49-F238E27FC236}">
                  <a16:creationId xmlns:a16="http://schemas.microsoft.com/office/drawing/2014/main" id="{4898B951-24E8-4ABA-5B79-8BD9A7C85669}"/>
                </a:ext>
              </a:extLst>
            </p:cNvPr>
            <p:cNvSpPr txBox="1"/>
            <p:nvPr/>
          </p:nvSpPr>
          <p:spPr>
            <a:xfrm>
              <a:off x="6537255" y="9545363"/>
              <a:ext cx="5715000" cy="212558"/>
            </a:xfrm>
            <a:prstGeom prst="rect">
              <a:avLst/>
            </a:prstGeom>
          </p:spPr>
          <p:txBody>
            <a:bodyPr lIns="0" tIns="0" rIns="0" bIns="0" rtlCol="0" anchor="t">
              <a:spAutoFit/>
            </a:bodyPr>
            <a:lstStyle/>
            <a:p>
              <a:pPr>
                <a:lnSpc>
                  <a:spcPts val="1213"/>
                </a:lnSpc>
              </a:pPr>
              <a:r>
                <a:rPr lang="en-US" sz="866">
                  <a:solidFill>
                    <a:srgbClr val="5A6B6B"/>
                  </a:solidFill>
                  <a:latin typeface="Inter"/>
                  <a:ea typeface="Inter"/>
                  <a:cs typeface="Inter"/>
                  <a:sym typeface="Inter"/>
                </a:rPr>
                <a:t>— </a:t>
              </a:r>
              <a:r>
                <a:rPr lang="en-US" sz="866" b="1">
                  <a:solidFill>
                    <a:srgbClr val="5A6B6B"/>
                  </a:solidFill>
                  <a:latin typeface="Inter Bold"/>
                  <a:ea typeface="Inter Bold"/>
                  <a:cs typeface="Inter Bold"/>
                  <a:sym typeface="Inter Bold"/>
                </a:rPr>
                <a:t>Cal McGinley</a:t>
              </a:r>
              <a:r>
                <a:rPr lang="en-US" sz="866">
                  <a:solidFill>
                    <a:srgbClr val="5A6B6B"/>
                  </a:solidFill>
                  <a:latin typeface="Inter"/>
                  <a:ea typeface="Inter"/>
                  <a:cs typeface="Inter"/>
                  <a:sym typeface="Inter"/>
                </a:rPr>
                <a:t>, Global Training Leader, OFS</a:t>
              </a:r>
            </a:p>
          </p:txBody>
        </p:sp>
        <p:sp>
          <p:nvSpPr>
            <p:cNvPr id="53" name="TextBox 53">
              <a:extLst>
                <a:ext uri="{FF2B5EF4-FFF2-40B4-BE49-F238E27FC236}">
                  <a16:creationId xmlns:a16="http://schemas.microsoft.com/office/drawing/2014/main" id="{38DBE937-18D1-F7AD-8521-F4DC841261E1}"/>
                </a:ext>
              </a:extLst>
            </p:cNvPr>
            <p:cNvSpPr txBox="1"/>
            <p:nvPr/>
          </p:nvSpPr>
          <p:spPr>
            <a:xfrm>
              <a:off x="6528711" y="8709209"/>
              <a:ext cx="10795142" cy="618344"/>
            </a:xfrm>
            <a:prstGeom prst="rect">
              <a:avLst/>
            </a:prstGeom>
          </p:spPr>
          <p:txBody>
            <a:bodyPr lIns="0" tIns="0" rIns="0" bIns="0" rtlCol="0" anchor="t">
              <a:spAutoFit/>
            </a:bodyPr>
            <a:lstStyle/>
            <a:p>
              <a:pPr>
                <a:lnSpc>
                  <a:spcPts val="1706"/>
                </a:lnSpc>
              </a:pPr>
              <a:r>
                <a:rPr lang="en-US" sz="1000" i="1" dirty="0">
                  <a:solidFill>
                    <a:srgbClr val="1A2B2B"/>
                  </a:solidFill>
                  <a:latin typeface="Inter"/>
                  <a:ea typeface="Inter"/>
                  <a:cs typeface="Inter"/>
                  <a:sym typeface="Inter"/>
                </a:rPr>
                <a:t>“Major step forward in standardization with the Entry Level Electrical and Excitation curriculum fully migrated and now being delivered from the Xyleme LCMS platform.”</a:t>
              </a:r>
            </a:p>
          </p:txBody>
        </p:sp>
      </p:grpSp>
      <p:grpSp>
        <p:nvGrpSpPr>
          <p:cNvPr id="2" name="Group 1">
            <a:extLst>
              <a:ext uri="{FF2B5EF4-FFF2-40B4-BE49-F238E27FC236}">
                <a16:creationId xmlns:a16="http://schemas.microsoft.com/office/drawing/2014/main" id="{5561DDAB-34C9-7BEF-8695-2C7E12A8E6DE}"/>
              </a:ext>
            </a:extLst>
          </p:cNvPr>
          <p:cNvGrpSpPr/>
          <p:nvPr/>
        </p:nvGrpSpPr>
        <p:grpSpPr>
          <a:xfrm>
            <a:off x="412750" y="2960715"/>
            <a:ext cx="3518018" cy="3700012"/>
            <a:chOff x="609600" y="4441073"/>
            <a:chExt cx="5277027" cy="5550018"/>
          </a:xfrm>
          <a:solidFill>
            <a:schemeClr val="bg1">
              <a:lumMod val="95000"/>
            </a:schemeClr>
          </a:solidFill>
        </p:grpSpPr>
        <p:grpSp>
          <p:nvGrpSpPr>
            <p:cNvPr id="28" name="Group 28">
              <a:extLst>
                <a:ext uri="{FF2B5EF4-FFF2-40B4-BE49-F238E27FC236}">
                  <a16:creationId xmlns:a16="http://schemas.microsoft.com/office/drawing/2014/main" id="{BE48D32A-45BC-7163-CEB0-ED6FC2E749B9}"/>
                </a:ext>
              </a:extLst>
            </p:cNvPr>
            <p:cNvGrpSpPr/>
            <p:nvPr/>
          </p:nvGrpSpPr>
          <p:grpSpPr>
            <a:xfrm>
              <a:off x="609600" y="4441073"/>
              <a:ext cx="5277027" cy="5550018"/>
              <a:chOff x="-14350" y="-437403"/>
              <a:chExt cx="7950003" cy="6904416"/>
            </a:xfrm>
            <a:grpFill/>
          </p:grpSpPr>
          <p:sp>
            <p:nvSpPr>
              <p:cNvPr id="29" name="Freeform 29">
                <a:extLst>
                  <a:ext uri="{FF2B5EF4-FFF2-40B4-BE49-F238E27FC236}">
                    <a16:creationId xmlns:a16="http://schemas.microsoft.com/office/drawing/2014/main" id="{AD716448-1436-354C-39A1-35941C5FDEBF}"/>
                  </a:ext>
                </a:extLst>
              </p:cNvPr>
              <p:cNvSpPr/>
              <p:nvPr/>
            </p:nvSpPr>
            <p:spPr>
              <a:xfrm>
                <a:off x="-14350" y="-437403"/>
                <a:ext cx="7950003" cy="6904416"/>
              </a:xfrm>
              <a:custGeom>
                <a:avLst/>
                <a:gdLst/>
                <a:ahLst/>
                <a:cxnLst/>
                <a:rect l="l" t="t" r="r" b="b"/>
                <a:pathLst>
                  <a:path w="7213600" h="6467013">
                    <a:moveTo>
                      <a:pt x="112712" y="0"/>
                    </a:moveTo>
                    <a:lnTo>
                      <a:pt x="7100888" y="0"/>
                    </a:lnTo>
                    <a:cubicBezTo>
                      <a:pt x="7163137" y="0"/>
                      <a:pt x="7213600" y="289538"/>
                      <a:pt x="7213600" y="646701"/>
                    </a:cubicBezTo>
                    <a:lnTo>
                      <a:pt x="7213600" y="5820312"/>
                    </a:lnTo>
                    <a:cubicBezTo>
                      <a:pt x="7213600" y="6177475"/>
                      <a:pt x="7163137" y="6467013"/>
                      <a:pt x="7100888" y="6467013"/>
                    </a:cubicBezTo>
                    <a:lnTo>
                      <a:pt x="112712" y="6467013"/>
                    </a:lnTo>
                    <a:cubicBezTo>
                      <a:pt x="50463" y="6467013"/>
                      <a:pt x="0" y="6177475"/>
                      <a:pt x="0" y="5820312"/>
                    </a:cubicBezTo>
                    <a:lnTo>
                      <a:pt x="0" y="646701"/>
                    </a:lnTo>
                    <a:cubicBezTo>
                      <a:pt x="0" y="289538"/>
                      <a:pt x="50463" y="0"/>
                      <a:pt x="112712" y="0"/>
                    </a:cubicBezTo>
                    <a:close/>
                  </a:path>
                </a:pathLst>
              </a:custGeom>
              <a:grpFill/>
              <a:ln w="9525" cap="sq">
                <a:solidFill>
                  <a:srgbClr val="E0E0E0"/>
                </a:solidFill>
                <a:prstDash val="solid"/>
                <a:miter/>
              </a:ln>
            </p:spPr>
            <p:txBody>
              <a:bodyPr/>
              <a:lstStyle/>
              <a:p>
                <a:endParaRPr lang="en-US" sz="1200" dirty="0"/>
              </a:p>
            </p:txBody>
          </p:sp>
          <p:sp>
            <p:nvSpPr>
              <p:cNvPr id="30" name="TextBox 30">
                <a:extLst>
                  <a:ext uri="{FF2B5EF4-FFF2-40B4-BE49-F238E27FC236}">
                    <a16:creationId xmlns:a16="http://schemas.microsoft.com/office/drawing/2014/main" id="{72EAD947-590C-5D12-67ED-B02EB99BB39F}"/>
                  </a:ext>
                </a:extLst>
              </p:cNvPr>
              <p:cNvSpPr txBox="1"/>
              <p:nvPr/>
            </p:nvSpPr>
            <p:spPr>
              <a:xfrm>
                <a:off x="0" y="-38100"/>
                <a:ext cx="7213600" cy="6505113"/>
              </a:xfrm>
              <a:prstGeom prst="rect">
                <a:avLst/>
              </a:prstGeom>
              <a:grpFill/>
            </p:spPr>
            <p:txBody>
              <a:bodyPr lIns="33867" tIns="33867" rIns="33867" bIns="33867" rtlCol="0" anchor="ctr"/>
              <a:lstStyle/>
              <a:p>
                <a:pPr>
                  <a:lnSpc>
                    <a:spcPts val="1119"/>
                  </a:lnSpc>
                </a:pPr>
                <a:endParaRPr sz="1200"/>
              </a:p>
            </p:txBody>
          </p:sp>
        </p:grpSp>
        <p:grpSp>
          <p:nvGrpSpPr>
            <p:cNvPr id="31" name="Group 31">
              <a:extLst>
                <a:ext uri="{FF2B5EF4-FFF2-40B4-BE49-F238E27FC236}">
                  <a16:creationId xmlns:a16="http://schemas.microsoft.com/office/drawing/2014/main" id="{F90A153F-F026-4759-B9A2-CAEE32AAD9F9}"/>
                </a:ext>
              </a:extLst>
            </p:cNvPr>
            <p:cNvGrpSpPr/>
            <p:nvPr/>
          </p:nvGrpSpPr>
          <p:grpSpPr>
            <a:xfrm>
              <a:off x="1389945" y="4613580"/>
              <a:ext cx="3715456" cy="4996509"/>
              <a:chOff x="428923" y="-384466"/>
              <a:chExt cx="5603943" cy="5457836"/>
            </a:xfrm>
            <a:grpFill/>
          </p:grpSpPr>
          <p:sp>
            <p:nvSpPr>
              <p:cNvPr id="32" name="Freeform 32">
                <a:extLst>
                  <a:ext uri="{FF2B5EF4-FFF2-40B4-BE49-F238E27FC236}">
                    <a16:creationId xmlns:a16="http://schemas.microsoft.com/office/drawing/2014/main" id="{FDCCF11B-642C-B5FB-D4DC-53BAEC6AB91D}"/>
                  </a:ext>
                </a:extLst>
              </p:cNvPr>
              <p:cNvSpPr/>
              <p:nvPr/>
            </p:nvSpPr>
            <p:spPr>
              <a:xfrm>
                <a:off x="516186" y="-384466"/>
                <a:ext cx="5516680" cy="5457836"/>
              </a:xfrm>
              <a:custGeom>
                <a:avLst/>
                <a:gdLst/>
                <a:ahLst/>
                <a:cxnLst/>
                <a:rect l="l" t="t" r="r" b="b"/>
                <a:pathLst>
                  <a:path w="6502400" h="4974230">
                    <a:moveTo>
                      <a:pt x="406400" y="0"/>
                    </a:moveTo>
                    <a:lnTo>
                      <a:pt x="6096000" y="0"/>
                    </a:lnTo>
                    <a:cubicBezTo>
                      <a:pt x="6320448" y="0"/>
                      <a:pt x="6502400" y="222704"/>
                      <a:pt x="6502400" y="497423"/>
                    </a:cubicBezTo>
                    <a:lnTo>
                      <a:pt x="6502400" y="4476807"/>
                    </a:lnTo>
                    <a:cubicBezTo>
                      <a:pt x="6502400" y="4751526"/>
                      <a:pt x="6320448" y="4974230"/>
                      <a:pt x="6096000" y="4974230"/>
                    </a:cubicBezTo>
                    <a:lnTo>
                      <a:pt x="406400" y="4974230"/>
                    </a:lnTo>
                    <a:cubicBezTo>
                      <a:pt x="181951" y="4974230"/>
                      <a:pt x="0" y="4751526"/>
                      <a:pt x="0" y="4476807"/>
                    </a:cubicBezTo>
                    <a:lnTo>
                      <a:pt x="0" y="497423"/>
                    </a:lnTo>
                    <a:cubicBezTo>
                      <a:pt x="0" y="222704"/>
                      <a:pt x="181951" y="0"/>
                      <a:pt x="406400" y="0"/>
                    </a:cubicBezTo>
                    <a:close/>
                  </a:path>
                </a:pathLst>
              </a:custGeom>
              <a:grpFill/>
            </p:spPr>
            <p:txBody>
              <a:bodyPr/>
              <a:lstStyle/>
              <a:p>
                <a:endParaRPr lang="en-US" sz="1200" dirty="0"/>
              </a:p>
            </p:txBody>
          </p:sp>
          <p:sp>
            <p:nvSpPr>
              <p:cNvPr id="33" name="TextBox 33">
                <a:extLst>
                  <a:ext uri="{FF2B5EF4-FFF2-40B4-BE49-F238E27FC236}">
                    <a16:creationId xmlns:a16="http://schemas.microsoft.com/office/drawing/2014/main" id="{709FD2FE-9B3B-ED99-F068-701EA868174C}"/>
                  </a:ext>
                </a:extLst>
              </p:cNvPr>
              <p:cNvSpPr txBox="1"/>
              <p:nvPr/>
            </p:nvSpPr>
            <p:spPr>
              <a:xfrm>
                <a:off x="428923" y="-384466"/>
                <a:ext cx="5516679" cy="5457835"/>
              </a:xfrm>
              <a:prstGeom prst="rect">
                <a:avLst/>
              </a:prstGeom>
              <a:solidFill>
                <a:schemeClr val="bg1"/>
              </a:solidFill>
            </p:spPr>
            <p:txBody>
              <a:bodyPr lIns="33867" tIns="33867" rIns="33867" bIns="33867" rtlCol="0" anchor="ctr"/>
              <a:lstStyle/>
              <a:p>
                <a:pPr algn="ctr">
                  <a:lnSpc>
                    <a:spcPts val="1213"/>
                  </a:lnSpc>
                </a:pPr>
                <a:endParaRPr lang="en-US" sz="866" dirty="0">
                  <a:solidFill>
                    <a:srgbClr val="5A6B6B"/>
                  </a:solidFill>
                  <a:latin typeface="Inter"/>
                  <a:ea typeface="Inter"/>
                  <a:cs typeface="Inter"/>
                  <a:sym typeface="Inter"/>
                </a:endParaRPr>
              </a:p>
            </p:txBody>
          </p:sp>
        </p:grpSp>
        <p:sp>
          <p:nvSpPr>
            <p:cNvPr id="49" name="TextBox 49">
              <a:extLst>
                <a:ext uri="{FF2B5EF4-FFF2-40B4-BE49-F238E27FC236}">
                  <a16:creationId xmlns:a16="http://schemas.microsoft.com/office/drawing/2014/main" id="{4651FEF1-5F0F-B92A-71A5-848501FF461C}"/>
                </a:ext>
              </a:extLst>
            </p:cNvPr>
            <p:cNvSpPr txBox="1"/>
            <p:nvPr/>
          </p:nvSpPr>
          <p:spPr>
            <a:xfrm>
              <a:off x="1682534" y="9716353"/>
              <a:ext cx="4198313" cy="195150"/>
            </a:xfrm>
            <a:prstGeom prst="rect">
              <a:avLst/>
            </a:prstGeom>
            <a:grpFill/>
          </p:spPr>
          <p:txBody>
            <a:bodyPr wrap="square" lIns="0" tIns="0" rIns="0" bIns="0" rtlCol="0" anchor="t">
              <a:spAutoFit/>
            </a:bodyPr>
            <a:lstStyle/>
            <a:p>
              <a:pPr>
                <a:lnSpc>
                  <a:spcPts val="1119"/>
                </a:lnSpc>
              </a:pPr>
              <a:r>
                <a:rPr lang="en-US" sz="800" b="1" dirty="0">
                  <a:solidFill>
                    <a:srgbClr val="1A2B2B"/>
                  </a:solidFill>
                  <a:latin typeface="Inter Bold"/>
                  <a:ea typeface="Inter Bold"/>
                  <a:cs typeface="Inter Bold"/>
                  <a:sym typeface="Inter Bold"/>
                </a:rPr>
                <a:t>Instructor Testimonial: Julio Ramirez Rojas</a:t>
              </a:r>
              <a:endParaRPr lang="en-US" sz="800" dirty="0">
                <a:solidFill>
                  <a:srgbClr val="1A2B2B"/>
                </a:solidFill>
                <a:latin typeface="Inter"/>
                <a:ea typeface="Inter"/>
                <a:cs typeface="Inter"/>
                <a:sym typeface="Inter"/>
              </a:endParaRPr>
            </a:p>
          </p:txBody>
        </p:sp>
        <p:pic>
          <p:nvPicPr>
            <p:cNvPr id="61" name="Picture 60">
              <a:hlinkClick r:id="rId4"/>
              <a:extLst>
                <a:ext uri="{FF2B5EF4-FFF2-40B4-BE49-F238E27FC236}">
                  <a16:creationId xmlns:a16="http://schemas.microsoft.com/office/drawing/2014/main" id="{F8733818-C877-8B39-AC07-9CA8E022064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51436" y="4722826"/>
              <a:ext cx="2819399" cy="4687258"/>
            </a:xfrm>
            <a:prstGeom prst="rect">
              <a:avLst/>
            </a:prstGeom>
            <a:grpFill/>
          </p:spPr>
        </p:pic>
      </p:grpSp>
      <p:grpSp>
        <p:nvGrpSpPr>
          <p:cNvPr id="71" name="Group 10">
            <a:extLst>
              <a:ext uri="{FF2B5EF4-FFF2-40B4-BE49-F238E27FC236}">
                <a16:creationId xmlns:a16="http://schemas.microsoft.com/office/drawing/2014/main" id="{F5D66598-8E9B-C4BA-25EF-3C117C6CF037}"/>
              </a:ext>
            </a:extLst>
          </p:cNvPr>
          <p:cNvGrpSpPr/>
          <p:nvPr/>
        </p:nvGrpSpPr>
        <p:grpSpPr>
          <a:xfrm>
            <a:off x="4078194" y="882854"/>
            <a:ext cx="3683000" cy="2540585"/>
            <a:chOff x="0" y="0"/>
            <a:chExt cx="7366000" cy="9138911"/>
          </a:xfrm>
          <a:solidFill>
            <a:schemeClr val="bg1">
              <a:lumMod val="95000"/>
            </a:schemeClr>
          </a:solidFill>
        </p:grpSpPr>
        <p:sp>
          <p:nvSpPr>
            <p:cNvPr id="79" name="Freeform 11">
              <a:extLst>
                <a:ext uri="{FF2B5EF4-FFF2-40B4-BE49-F238E27FC236}">
                  <a16:creationId xmlns:a16="http://schemas.microsoft.com/office/drawing/2014/main" id="{969B7841-56E3-C8CE-DB49-0237B5390724}"/>
                </a:ext>
              </a:extLst>
            </p:cNvPr>
            <p:cNvSpPr/>
            <p:nvPr/>
          </p:nvSpPr>
          <p:spPr>
            <a:xfrm>
              <a:off x="0" y="0"/>
              <a:ext cx="7366000" cy="9138911"/>
            </a:xfrm>
            <a:custGeom>
              <a:avLst/>
              <a:gdLst/>
              <a:ahLst/>
              <a:cxnLst/>
              <a:rect l="l" t="t" r="r" b="b"/>
              <a:pathLst>
                <a:path w="7366000" h="9138911">
                  <a:moveTo>
                    <a:pt x="431800" y="0"/>
                  </a:moveTo>
                  <a:lnTo>
                    <a:pt x="6934200" y="0"/>
                  </a:lnTo>
                  <a:cubicBezTo>
                    <a:pt x="7172677" y="0"/>
                    <a:pt x="7366000" y="409163"/>
                    <a:pt x="7366000" y="913891"/>
                  </a:cubicBezTo>
                  <a:lnTo>
                    <a:pt x="7366000" y="8225020"/>
                  </a:lnTo>
                  <a:cubicBezTo>
                    <a:pt x="7366000" y="8729748"/>
                    <a:pt x="7172677" y="9138911"/>
                    <a:pt x="6934200" y="9138911"/>
                  </a:cubicBezTo>
                  <a:lnTo>
                    <a:pt x="431800" y="9138911"/>
                  </a:lnTo>
                  <a:cubicBezTo>
                    <a:pt x="193323" y="9138911"/>
                    <a:pt x="0" y="8729748"/>
                    <a:pt x="0" y="8225020"/>
                  </a:cubicBezTo>
                  <a:lnTo>
                    <a:pt x="0" y="913891"/>
                  </a:lnTo>
                  <a:cubicBezTo>
                    <a:pt x="0" y="409163"/>
                    <a:pt x="193323" y="0"/>
                    <a:pt x="431800" y="0"/>
                  </a:cubicBezTo>
                  <a:close/>
                </a:path>
              </a:pathLst>
            </a:custGeom>
            <a:grpFill/>
          </p:spPr>
          <p:txBody>
            <a:bodyPr/>
            <a:lstStyle/>
            <a:p>
              <a:endParaRPr lang="en-US" sz="1200" dirty="0"/>
            </a:p>
          </p:txBody>
        </p:sp>
        <p:sp>
          <p:nvSpPr>
            <p:cNvPr id="80" name="TextBox 12">
              <a:extLst>
                <a:ext uri="{FF2B5EF4-FFF2-40B4-BE49-F238E27FC236}">
                  <a16:creationId xmlns:a16="http://schemas.microsoft.com/office/drawing/2014/main" id="{E922919C-CAE1-0A36-C715-6F3C92608435}"/>
                </a:ext>
              </a:extLst>
            </p:cNvPr>
            <p:cNvSpPr txBox="1"/>
            <p:nvPr/>
          </p:nvSpPr>
          <p:spPr>
            <a:xfrm>
              <a:off x="0" y="-38100"/>
              <a:ext cx="7366000" cy="9177011"/>
            </a:xfrm>
            <a:prstGeom prst="rect">
              <a:avLst/>
            </a:prstGeom>
            <a:grpFill/>
          </p:spPr>
          <p:txBody>
            <a:bodyPr lIns="33867" tIns="33867" rIns="33867" bIns="33867" rtlCol="0" anchor="ctr"/>
            <a:lstStyle/>
            <a:p>
              <a:pPr>
                <a:lnSpc>
                  <a:spcPts val="1119"/>
                </a:lnSpc>
              </a:pPr>
              <a:endParaRPr sz="1200" dirty="0"/>
            </a:p>
          </p:txBody>
        </p:sp>
      </p:grpSp>
      <p:grpSp>
        <p:nvGrpSpPr>
          <p:cNvPr id="72" name="Group 13">
            <a:extLst>
              <a:ext uri="{FF2B5EF4-FFF2-40B4-BE49-F238E27FC236}">
                <a16:creationId xmlns:a16="http://schemas.microsoft.com/office/drawing/2014/main" id="{1D869779-0419-91C6-90F1-7FC9CFFA1AA6}"/>
              </a:ext>
            </a:extLst>
          </p:cNvPr>
          <p:cNvGrpSpPr/>
          <p:nvPr/>
        </p:nvGrpSpPr>
        <p:grpSpPr>
          <a:xfrm>
            <a:off x="5068794" y="1593663"/>
            <a:ext cx="1687607" cy="504841"/>
            <a:chOff x="-1" y="-210320"/>
            <a:chExt cx="3375214" cy="888894"/>
          </a:xfrm>
        </p:grpSpPr>
        <p:sp>
          <p:nvSpPr>
            <p:cNvPr id="77" name="Freeform 14">
              <a:extLst>
                <a:ext uri="{FF2B5EF4-FFF2-40B4-BE49-F238E27FC236}">
                  <a16:creationId xmlns:a16="http://schemas.microsoft.com/office/drawing/2014/main" id="{FD021D68-3B3A-F1D4-F216-DBD8F66E563A}"/>
                </a:ext>
              </a:extLst>
            </p:cNvPr>
            <p:cNvSpPr/>
            <p:nvPr/>
          </p:nvSpPr>
          <p:spPr>
            <a:xfrm>
              <a:off x="-1" y="-210320"/>
              <a:ext cx="3375211" cy="888894"/>
            </a:xfrm>
            <a:custGeom>
              <a:avLst/>
              <a:gdLst/>
              <a:ahLst/>
              <a:cxnLst/>
              <a:rect l="l" t="t" r="r" b="b"/>
              <a:pathLst>
                <a:path w="3048000" h="547536">
                  <a:moveTo>
                    <a:pt x="55880" y="0"/>
                  </a:moveTo>
                  <a:lnTo>
                    <a:pt x="2992120" y="0"/>
                  </a:lnTo>
                  <a:cubicBezTo>
                    <a:pt x="3022982" y="0"/>
                    <a:pt x="3048000" y="24514"/>
                    <a:pt x="3048000" y="54754"/>
                  </a:cubicBezTo>
                  <a:lnTo>
                    <a:pt x="3048000" y="492782"/>
                  </a:lnTo>
                  <a:cubicBezTo>
                    <a:pt x="3048000" y="523022"/>
                    <a:pt x="3022982" y="547536"/>
                    <a:pt x="2992120" y="547536"/>
                  </a:cubicBezTo>
                  <a:lnTo>
                    <a:pt x="55880" y="547536"/>
                  </a:lnTo>
                  <a:cubicBezTo>
                    <a:pt x="41060" y="547536"/>
                    <a:pt x="26846" y="541767"/>
                    <a:pt x="16367" y="531499"/>
                  </a:cubicBezTo>
                  <a:cubicBezTo>
                    <a:pt x="5887" y="521231"/>
                    <a:pt x="0" y="507304"/>
                    <a:pt x="0" y="492782"/>
                  </a:cubicBezTo>
                  <a:lnTo>
                    <a:pt x="0" y="54754"/>
                  </a:lnTo>
                  <a:cubicBezTo>
                    <a:pt x="0" y="24514"/>
                    <a:pt x="25018" y="0"/>
                    <a:pt x="55880" y="0"/>
                  </a:cubicBezTo>
                  <a:close/>
                </a:path>
              </a:pathLst>
            </a:custGeom>
            <a:solidFill>
              <a:srgbClr val="C7F863"/>
            </a:solidFill>
          </p:spPr>
          <p:txBody>
            <a:bodyPr/>
            <a:lstStyle/>
            <a:p>
              <a:endParaRPr lang="en-US" sz="1200" dirty="0"/>
            </a:p>
          </p:txBody>
        </p:sp>
        <p:sp>
          <p:nvSpPr>
            <p:cNvPr id="78" name="TextBox 15">
              <a:extLst>
                <a:ext uri="{FF2B5EF4-FFF2-40B4-BE49-F238E27FC236}">
                  <a16:creationId xmlns:a16="http://schemas.microsoft.com/office/drawing/2014/main" id="{461B6FE1-DF66-4F1C-7902-6DEE0619537F}"/>
                </a:ext>
              </a:extLst>
            </p:cNvPr>
            <p:cNvSpPr txBox="1"/>
            <p:nvPr/>
          </p:nvSpPr>
          <p:spPr>
            <a:xfrm>
              <a:off x="0" y="-76200"/>
              <a:ext cx="3375213" cy="623736"/>
            </a:xfrm>
            <a:prstGeom prst="rect">
              <a:avLst/>
            </a:prstGeom>
          </p:spPr>
          <p:txBody>
            <a:bodyPr lIns="33867" tIns="33867" rIns="33867" bIns="33867" rtlCol="0" anchor="ctr"/>
            <a:lstStyle/>
            <a:p>
              <a:pPr algn="ctr">
                <a:lnSpc>
                  <a:spcPts val="1680"/>
                </a:lnSpc>
              </a:pPr>
              <a:r>
                <a:rPr lang="en-US" sz="1333" dirty="0">
                  <a:solidFill>
                    <a:srgbClr val="005E60"/>
                  </a:solidFill>
                  <a:latin typeface="Inter" panose="020B0502030000000004" pitchFamily="34" charset="0"/>
                  <a:ea typeface="Inter" panose="020B0502030000000004" pitchFamily="34" charset="0"/>
                  <a:cs typeface="Inter" panose="020B0502030000000004" pitchFamily="34" charset="0"/>
                  <a:sym typeface="DIN Next"/>
                </a:rPr>
                <a:t>40 Courses</a:t>
              </a:r>
            </a:p>
          </p:txBody>
        </p:sp>
      </p:grpSp>
      <p:sp>
        <p:nvSpPr>
          <p:cNvPr id="74" name="TextBox 42">
            <a:extLst>
              <a:ext uri="{FF2B5EF4-FFF2-40B4-BE49-F238E27FC236}">
                <a16:creationId xmlns:a16="http://schemas.microsoft.com/office/drawing/2014/main" id="{22CB0817-1BB9-CF02-2DDE-2DC5EFCF08FE}"/>
              </a:ext>
            </a:extLst>
          </p:cNvPr>
          <p:cNvSpPr txBox="1"/>
          <p:nvPr/>
        </p:nvSpPr>
        <p:spPr>
          <a:xfrm>
            <a:off x="4260380" y="954155"/>
            <a:ext cx="3500814" cy="465320"/>
          </a:xfrm>
          <a:prstGeom prst="rect">
            <a:avLst/>
          </a:prstGeom>
        </p:spPr>
        <p:txBody>
          <a:bodyPr wrap="square" lIns="0" tIns="0" rIns="0" bIns="0" rtlCol="0" anchor="t">
            <a:spAutoFit/>
          </a:bodyPr>
          <a:lstStyle/>
          <a:p>
            <a:pPr>
              <a:lnSpc>
                <a:spcPts val="1867"/>
              </a:lnSpc>
            </a:pPr>
            <a:r>
              <a:rPr lang="en-US" sz="1333" b="1" dirty="0">
                <a:solidFill>
                  <a:srgbClr val="005E60"/>
                </a:solidFill>
                <a:latin typeface="Inter Bold"/>
                <a:ea typeface="Inter Bold"/>
                <a:cs typeface="Inter Bold"/>
                <a:sym typeface="Inter Bold"/>
              </a:rPr>
              <a:t>Course &amp; Exams Transfer – Released Material</a:t>
            </a:r>
          </a:p>
        </p:txBody>
      </p:sp>
      <p:sp>
        <p:nvSpPr>
          <p:cNvPr id="82" name="Freeform 37">
            <a:extLst>
              <a:ext uri="{FF2B5EF4-FFF2-40B4-BE49-F238E27FC236}">
                <a16:creationId xmlns:a16="http://schemas.microsoft.com/office/drawing/2014/main" id="{EB4A8D06-2313-43AC-EF50-341A26715A91}"/>
              </a:ext>
            </a:extLst>
          </p:cNvPr>
          <p:cNvSpPr/>
          <p:nvPr/>
        </p:nvSpPr>
        <p:spPr>
          <a:xfrm>
            <a:off x="5527170" y="2112281"/>
            <a:ext cx="670430" cy="386187"/>
          </a:xfrm>
          <a:custGeom>
            <a:avLst/>
            <a:gdLst/>
            <a:ahLst/>
            <a:cxnLst/>
            <a:rect l="l" t="t" r="r" b="b"/>
            <a:pathLst>
              <a:path w="910872" h="541969">
                <a:moveTo>
                  <a:pt x="0" y="0"/>
                </a:moveTo>
                <a:lnTo>
                  <a:pt x="910872" y="0"/>
                </a:lnTo>
                <a:lnTo>
                  <a:pt x="910872" y="541969"/>
                </a:lnTo>
                <a:lnTo>
                  <a:pt x="0" y="54196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sz="1200" dirty="0"/>
          </a:p>
        </p:txBody>
      </p:sp>
      <p:grpSp>
        <p:nvGrpSpPr>
          <p:cNvPr id="3" name="Group 2">
            <a:extLst>
              <a:ext uri="{FF2B5EF4-FFF2-40B4-BE49-F238E27FC236}">
                <a16:creationId xmlns:a16="http://schemas.microsoft.com/office/drawing/2014/main" id="{BF8ED55A-4C36-A06E-E8A6-E18A0EEFC722}"/>
              </a:ext>
            </a:extLst>
          </p:cNvPr>
          <p:cNvGrpSpPr/>
          <p:nvPr/>
        </p:nvGrpSpPr>
        <p:grpSpPr>
          <a:xfrm>
            <a:off x="4127500" y="3522070"/>
            <a:ext cx="7732319" cy="1969126"/>
            <a:chOff x="6191250" y="5283105"/>
            <a:chExt cx="11598478" cy="2953689"/>
          </a:xfrm>
        </p:grpSpPr>
        <p:grpSp>
          <p:nvGrpSpPr>
            <p:cNvPr id="55" name="Group 25">
              <a:extLst>
                <a:ext uri="{FF2B5EF4-FFF2-40B4-BE49-F238E27FC236}">
                  <a16:creationId xmlns:a16="http://schemas.microsoft.com/office/drawing/2014/main" id="{397F579D-A63F-D213-8678-44234E9B0E9F}"/>
                </a:ext>
              </a:extLst>
            </p:cNvPr>
            <p:cNvGrpSpPr/>
            <p:nvPr/>
          </p:nvGrpSpPr>
          <p:grpSpPr>
            <a:xfrm>
              <a:off x="6191250" y="5283105"/>
              <a:ext cx="11477625" cy="2953689"/>
              <a:chOff x="0" y="-38100"/>
              <a:chExt cx="7620000" cy="2762610"/>
            </a:xfrm>
            <a:solidFill>
              <a:schemeClr val="bg1">
                <a:lumMod val="95000"/>
              </a:schemeClr>
            </a:solidFill>
          </p:grpSpPr>
          <p:sp>
            <p:nvSpPr>
              <p:cNvPr id="56" name="Freeform 26">
                <a:extLst>
                  <a:ext uri="{FF2B5EF4-FFF2-40B4-BE49-F238E27FC236}">
                    <a16:creationId xmlns:a16="http://schemas.microsoft.com/office/drawing/2014/main" id="{72911E0A-E95C-598E-637F-14E69570A35A}"/>
                  </a:ext>
                </a:extLst>
              </p:cNvPr>
              <p:cNvSpPr/>
              <p:nvPr/>
            </p:nvSpPr>
            <p:spPr>
              <a:xfrm>
                <a:off x="0" y="0"/>
                <a:ext cx="7620000" cy="2724510"/>
              </a:xfrm>
              <a:custGeom>
                <a:avLst/>
                <a:gdLst/>
                <a:ahLst/>
                <a:cxnLst/>
                <a:rect l="l" t="t" r="r" b="b"/>
                <a:pathLst>
                  <a:path w="7620000" h="2724510">
                    <a:moveTo>
                      <a:pt x="215900" y="0"/>
                    </a:moveTo>
                    <a:lnTo>
                      <a:pt x="7404100" y="0"/>
                    </a:lnTo>
                    <a:cubicBezTo>
                      <a:pt x="7523338" y="0"/>
                      <a:pt x="7620000" y="121980"/>
                      <a:pt x="7620000" y="272451"/>
                    </a:cubicBezTo>
                    <a:lnTo>
                      <a:pt x="7620000" y="2452059"/>
                    </a:lnTo>
                    <a:cubicBezTo>
                      <a:pt x="7620000" y="2602529"/>
                      <a:pt x="7523338" y="2724510"/>
                      <a:pt x="7404100" y="2724510"/>
                    </a:cubicBezTo>
                    <a:lnTo>
                      <a:pt x="215900" y="2724510"/>
                    </a:lnTo>
                    <a:cubicBezTo>
                      <a:pt x="96662" y="2724510"/>
                      <a:pt x="0" y="2602529"/>
                      <a:pt x="0" y="2452059"/>
                    </a:cubicBezTo>
                    <a:lnTo>
                      <a:pt x="0" y="272451"/>
                    </a:lnTo>
                    <a:cubicBezTo>
                      <a:pt x="0" y="121980"/>
                      <a:pt x="96662" y="0"/>
                      <a:pt x="215900" y="0"/>
                    </a:cubicBezTo>
                    <a:close/>
                  </a:path>
                </a:pathLst>
              </a:custGeom>
              <a:grpFill/>
              <a:ln w="9525" cap="sq">
                <a:solidFill>
                  <a:srgbClr val="E0E0E0"/>
                </a:solidFill>
                <a:prstDash val="solid"/>
                <a:miter/>
              </a:ln>
            </p:spPr>
            <p:txBody>
              <a:bodyPr/>
              <a:lstStyle/>
              <a:p>
                <a:endParaRPr lang="en-US" sz="1200"/>
              </a:p>
            </p:txBody>
          </p:sp>
          <p:sp>
            <p:nvSpPr>
              <p:cNvPr id="57" name="TextBox 27">
                <a:extLst>
                  <a:ext uri="{FF2B5EF4-FFF2-40B4-BE49-F238E27FC236}">
                    <a16:creationId xmlns:a16="http://schemas.microsoft.com/office/drawing/2014/main" id="{DE274250-9047-6C92-41E0-29C33F1C5C38}"/>
                  </a:ext>
                </a:extLst>
              </p:cNvPr>
              <p:cNvSpPr txBox="1"/>
              <p:nvPr/>
            </p:nvSpPr>
            <p:spPr>
              <a:xfrm>
                <a:off x="0" y="-38100"/>
                <a:ext cx="7620000" cy="2762610"/>
              </a:xfrm>
              <a:prstGeom prst="rect">
                <a:avLst/>
              </a:prstGeom>
              <a:grpFill/>
            </p:spPr>
            <p:txBody>
              <a:bodyPr lIns="33867" tIns="33867" rIns="33867" bIns="33867" rtlCol="0" anchor="ctr"/>
              <a:lstStyle/>
              <a:p>
                <a:pPr>
                  <a:lnSpc>
                    <a:spcPts val="1119"/>
                  </a:lnSpc>
                </a:pPr>
                <a:endParaRPr sz="1200"/>
              </a:p>
            </p:txBody>
          </p:sp>
        </p:grpSp>
        <p:sp>
          <p:nvSpPr>
            <p:cNvPr id="43" name="TextBox 43">
              <a:extLst>
                <a:ext uri="{FF2B5EF4-FFF2-40B4-BE49-F238E27FC236}">
                  <a16:creationId xmlns:a16="http://schemas.microsoft.com/office/drawing/2014/main" id="{8A9BA45C-B8E0-DBC7-FA2A-25E60E78EC4D}"/>
                </a:ext>
              </a:extLst>
            </p:cNvPr>
            <p:cNvSpPr txBox="1"/>
            <p:nvPr/>
          </p:nvSpPr>
          <p:spPr>
            <a:xfrm>
              <a:off x="6390570" y="5484453"/>
              <a:ext cx="5067300" cy="332496"/>
            </a:xfrm>
            <a:prstGeom prst="rect">
              <a:avLst/>
            </a:prstGeom>
          </p:spPr>
          <p:txBody>
            <a:bodyPr lIns="0" tIns="0" rIns="0" bIns="0" rtlCol="0" anchor="t">
              <a:spAutoFit/>
            </a:bodyPr>
            <a:lstStyle/>
            <a:p>
              <a:pPr>
                <a:lnSpc>
                  <a:spcPts val="1866"/>
                </a:lnSpc>
              </a:pPr>
              <a:r>
                <a:rPr lang="en-US" sz="1333" b="1" dirty="0">
                  <a:solidFill>
                    <a:srgbClr val="005E60"/>
                  </a:solidFill>
                  <a:latin typeface="Inter Bold"/>
                  <a:ea typeface="Inter Bold"/>
                  <a:cs typeface="Inter Bold"/>
                  <a:sym typeface="Inter Bold"/>
                </a:rPr>
                <a:t>Content Transfer – Your actions</a:t>
              </a:r>
            </a:p>
          </p:txBody>
        </p:sp>
        <p:sp>
          <p:nvSpPr>
            <p:cNvPr id="44" name="TextBox 44">
              <a:extLst>
                <a:ext uri="{FF2B5EF4-FFF2-40B4-BE49-F238E27FC236}">
                  <a16:creationId xmlns:a16="http://schemas.microsoft.com/office/drawing/2014/main" id="{90B1B5F9-65B3-DD73-5270-04528684FCB1}"/>
                </a:ext>
              </a:extLst>
            </p:cNvPr>
            <p:cNvSpPr txBox="1"/>
            <p:nvPr/>
          </p:nvSpPr>
          <p:spPr>
            <a:xfrm>
              <a:off x="6444792" y="6802923"/>
              <a:ext cx="5643540" cy="1196771"/>
            </a:xfrm>
            <a:prstGeom prst="rect">
              <a:avLst/>
            </a:prstGeom>
          </p:spPr>
          <p:txBody>
            <a:bodyPr wrap="square" lIns="0" tIns="0" rIns="0" bIns="0" rtlCol="0" anchor="t">
              <a:spAutoFit/>
            </a:bodyPr>
            <a:lstStyle/>
            <a:p>
              <a:pPr>
                <a:lnSpc>
                  <a:spcPts val="1586"/>
                </a:lnSpc>
              </a:pPr>
              <a:r>
                <a:rPr lang="en-US" sz="933" dirty="0">
                  <a:solidFill>
                    <a:srgbClr val="1A2B2B"/>
                  </a:solidFill>
                  <a:latin typeface="Inter"/>
                  <a:ea typeface="Inter"/>
                  <a:cs typeface="Inter"/>
                  <a:sym typeface="Inter"/>
                </a:rPr>
                <a:t>1. Upload course content to the shared Box folder: </a:t>
              </a:r>
              <a:r>
                <a:rPr lang="en-US" sz="933" b="1" dirty="0">
                  <a:solidFill>
                    <a:srgbClr val="1A2B2B"/>
                  </a:solidFill>
                  <a:latin typeface="Inter Bold"/>
                  <a:ea typeface="Inter Bold"/>
                  <a:cs typeface="Inter Bold"/>
                  <a:sym typeface="Inter Bold"/>
                  <a:hlinkClick r:id="rId7"/>
                </a:rPr>
                <a:t>_</a:t>
              </a:r>
              <a:r>
                <a:rPr lang="en-US" sz="933" b="1" dirty="0" err="1">
                  <a:solidFill>
                    <a:srgbClr val="1A2B2B"/>
                  </a:solidFill>
                  <a:latin typeface="Inter Bold"/>
                  <a:ea typeface="Inter Bold"/>
                  <a:cs typeface="Inter Bold"/>
                  <a:sym typeface="Inter Bold"/>
                  <a:hlinkClick r:id="rId7"/>
                </a:rPr>
                <a:t>INBOX_Incoming</a:t>
              </a:r>
              <a:r>
                <a:rPr lang="en-US" sz="933" b="1" dirty="0">
                  <a:solidFill>
                    <a:srgbClr val="1A2B2B"/>
                  </a:solidFill>
                  <a:latin typeface="Inter Bold"/>
                  <a:ea typeface="Inter Bold"/>
                  <a:cs typeface="Inter Bold"/>
                  <a:sym typeface="Inter Bold"/>
                  <a:hlinkClick r:id="rId7"/>
                </a:rPr>
                <a:t> Requests</a:t>
              </a:r>
              <a:endParaRPr lang="en-US" sz="933" b="1" dirty="0">
                <a:solidFill>
                  <a:srgbClr val="1A2B2B"/>
                </a:solidFill>
                <a:latin typeface="Inter Bold"/>
                <a:ea typeface="Inter Bold"/>
                <a:cs typeface="Inter Bold"/>
                <a:sym typeface="Inter Bold"/>
              </a:endParaRPr>
            </a:p>
            <a:p>
              <a:pPr>
                <a:lnSpc>
                  <a:spcPts val="1586"/>
                </a:lnSpc>
              </a:pPr>
              <a:endParaRPr lang="en-US" sz="933" b="1" dirty="0">
                <a:solidFill>
                  <a:srgbClr val="1A2B2B"/>
                </a:solidFill>
                <a:latin typeface="Inter Bold"/>
                <a:ea typeface="Inter Bold"/>
                <a:cs typeface="Inter Bold"/>
                <a:sym typeface="Inter Bold"/>
              </a:endParaRPr>
            </a:p>
            <a:p>
              <a:pPr>
                <a:lnSpc>
                  <a:spcPts val="1586"/>
                </a:lnSpc>
              </a:pPr>
              <a:r>
                <a:rPr lang="en-US" sz="933" dirty="0">
                  <a:solidFill>
                    <a:srgbClr val="1A2B2B"/>
                  </a:solidFill>
                  <a:latin typeface="Inter"/>
                  <a:ea typeface="Inter"/>
                  <a:cs typeface="Inter"/>
                  <a:sym typeface="Inter"/>
                </a:rPr>
                <a:t>2. Complete </a:t>
              </a:r>
              <a:r>
                <a:rPr lang="en-US" sz="933">
                  <a:solidFill>
                    <a:srgbClr val="1A2B2B"/>
                  </a:solidFill>
                  <a:latin typeface="Inter"/>
                  <a:ea typeface="Inter"/>
                  <a:cs typeface="Inter"/>
                  <a:sym typeface="Inter"/>
                </a:rPr>
                <a:t>the </a:t>
              </a:r>
              <a:r>
                <a:rPr lang="en-US" sz="933" b="1">
                  <a:solidFill>
                    <a:srgbClr val="1A2B2B"/>
                  </a:solidFill>
                  <a:latin typeface="Inter Bold"/>
                  <a:ea typeface="Inter Bold"/>
                  <a:cs typeface="Inter Bold"/>
                  <a:sym typeface="Inter Bold"/>
                  <a:hlinkClick r:id="rId8"/>
                </a:rPr>
                <a:t>Intake Request Form - Content Transfer</a:t>
              </a:r>
              <a:endParaRPr lang="en-US" sz="933" b="1" dirty="0">
                <a:solidFill>
                  <a:srgbClr val="1A2B2B"/>
                </a:solidFill>
                <a:latin typeface="Inter Bold"/>
                <a:ea typeface="Inter Bold"/>
                <a:cs typeface="Inter Bold"/>
                <a:sym typeface="Inter Bold"/>
              </a:endParaRPr>
            </a:p>
          </p:txBody>
        </p:sp>
        <p:sp>
          <p:nvSpPr>
            <p:cNvPr id="38" name="Freeform 38">
              <a:extLst>
                <a:ext uri="{FF2B5EF4-FFF2-40B4-BE49-F238E27FC236}">
                  <a16:creationId xmlns:a16="http://schemas.microsoft.com/office/drawing/2014/main" id="{D48A4C73-210B-17E6-15C0-7CC794251F16}"/>
                </a:ext>
              </a:extLst>
            </p:cNvPr>
            <p:cNvSpPr/>
            <p:nvPr/>
          </p:nvSpPr>
          <p:spPr>
            <a:xfrm flipH="1">
              <a:off x="10681680" y="5539484"/>
              <a:ext cx="678616" cy="641292"/>
            </a:xfrm>
            <a:custGeom>
              <a:avLst/>
              <a:gdLst/>
              <a:ahLst/>
              <a:cxnLst/>
              <a:rect l="l" t="t" r="r" b="b"/>
              <a:pathLst>
                <a:path w="678616" h="641292">
                  <a:moveTo>
                    <a:pt x="678616" y="0"/>
                  </a:moveTo>
                  <a:lnTo>
                    <a:pt x="0" y="0"/>
                  </a:lnTo>
                  <a:lnTo>
                    <a:pt x="0" y="641292"/>
                  </a:lnTo>
                  <a:lnTo>
                    <a:pt x="678616" y="641292"/>
                  </a:lnTo>
                  <a:lnTo>
                    <a:pt x="678616"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sz="1200" dirty="0"/>
            </a:p>
          </p:txBody>
        </p:sp>
        <p:sp>
          <p:nvSpPr>
            <p:cNvPr id="84" name="TextBox 44">
              <a:extLst>
                <a:ext uri="{FF2B5EF4-FFF2-40B4-BE49-F238E27FC236}">
                  <a16:creationId xmlns:a16="http://schemas.microsoft.com/office/drawing/2014/main" id="{EA0DDEDF-8652-ECD6-63C9-5B4AA55141D1}"/>
                </a:ext>
              </a:extLst>
            </p:cNvPr>
            <p:cNvSpPr txBox="1"/>
            <p:nvPr/>
          </p:nvSpPr>
          <p:spPr>
            <a:xfrm>
              <a:off x="12146188" y="6802923"/>
              <a:ext cx="5643540" cy="1196771"/>
            </a:xfrm>
            <a:prstGeom prst="rect">
              <a:avLst/>
            </a:prstGeom>
          </p:spPr>
          <p:txBody>
            <a:bodyPr wrap="square" lIns="0" tIns="0" rIns="0" bIns="0" rtlCol="0" anchor="t">
              <a:spAutoFit/>
            </a:bodyPr>
            <a:lstStyle/>
            <a:p>
              <a:pPr marL="228611" indent="-228611">
                <a:lnSpc>
                  <a:spcPts val="1586"/>
                </a:lnSpc>
                <a:buAutoNum type="arabicPeriod"/>
              </a:pPr>
              <a:r>
                <a:rPr lang="en-US" sz="933" dirty="0">
                  <a:solidFill>
                    <a:srgbClr val="1A2B2B"/>
                  </a:solidFill>
                  <a:latin typeface="Inter"/>
                  <a:ea typeface="Inter"/>
                  <a:cs typeface="Inter"/>
                  <a:sym typeface="Inter"/>
                </a:rPr>
                <a:t>Upload course content to the shared Box folder: </a:t>
              </a:r>
            </a:p>
            <a:p>
              <a:pPr>
                <a:lnSpc>
                  <a:spcPts val="1586"/>
                </a:lnSpc>
              </a:pPr>
              <a:r>
                <a:rPr lang="en-US" sz="933" b="1" dirty="0">
                  <a:solidFill>
                    <a:srgbClr val="1A2B2B"/>
                  </a:solidFill>
                  <a:latin typeface="Inter Bold"/>
                  <a:ea typeface="Inter Bold"/>
                  <a:cs typeface="Inter Bold"/>
                  <a:sym typeface="Inter Bold"/>
                  <a:hlinkClick r:id="rId10"/>
                </a:rPr>
                <a:t>Content Transfer - Exams</a:t>
              </a:r>
              <a:endParaRPr lang="en-US" sz="933" b="1" dirty="0">
                <a:solidFill>
                  <a:srgbClr val="1A2B2B"/>
                </a:solidFill>
                <a:latin typeface="Inter Bold"/>
                <a:ea typeface="Inter Bold"/>
                <a:cs typeface="Inter Bold"/>
                <a:sym typeface="Inter Bold"/>
              </a:endParaRPr>
            </a:p>
            <a:p>
              <a:pPr>
                <a:lnSpc>
                  <a:spcPts val="1586"/>
                </a:lnSpc>
              </a:pPr>
              <a:endParaRPr lang="en-US" sz="933" b="1" dirty="0">
                <a:solidFill>
                  <a:srgbClr val="1A2B2B"/>
                </a:solidFill>
                <a:latin typeface="Inter Bold"/>
                <a:ea typeface="Inter Bold"/>
                <a:cs typeface="Inter Bold"/>
                <a:sym typeface="Inter Bold"/>
              </a:endParaRPr>
            </a:p>
            <a:p>
              <a:pPr>
                <a:lnSpc>
                  <a:spcPts val="1586"/>
                </a:lnSpc>
              </a:pPr>
              <a:r>
                <a:rPr lang="en-US" sz="933" dirty="0">
                  <a:solidFill>
                    <a:srgbClr val="1A2B2B"/>
                  </a:solidFill>
                  <a:latin typeface="Inter"/>
                  <a:ea typeface="Inter"/>
                  <a:cs typeface="Inter"/>
                  <a:sym typeface="Inter"/>
                </a:rPr>
                <a:t>2. Complete the </a:t>
              </a:r>
              <a:r>
                <a:rPr lang="en-US" sz="933" b="1" dirty="0">
                  <a:latin typeface="Inter Bold" panose="020B0604020202020204" charset="0"/>
                  <a:ea typeface="Inter Bold" panose="020B0604020202020204" charset="0"/>
                  <a:cs typeface="Inter"/>
                  <a:sym typeface="Inter"/>
                  <a:hlinkClick r:id="rId11"/>
                </a:rPr>
                <a:t>Exam</a:t>
              </a:r>
              <a:r>
                <a:rPr lang="en-US" sz="933" dirty="0">
                  <a:solidFill>
                    <a:srgbClr val="1A2B2B"/>
                  </a:solidFill>
                  <a:latin typeface="Inter"/>
                  <a:ea typeface="Inter"/>
                  <a:cs typeface="Inter"/>
                  <a:sym typeface="Inter"/>
                  <a:hlinkClick r:id="rId11"/>
                </a:rPr>
                <a:t> </a:t>
              </a:r>
              <a:r>
                <a:rPr lang="en-US" sz="933" b="1" dirty="0">
                  <a:solidFill>
                    <a:srgbClr val="1A2B2B"/>
                  </a:solidFill>
                  <a:latin typeface="Inter Bold"/>
                  <a:ea typeface="Inter Bold"/>
                  <a:cs typeface="Inter Bold"/>
                  <a:sym typeface="Inter Bold"/>
                  <a:hlinkClick r:id="rId11"/>
                </a:rPr>
                <a:t>Intake Request form</a:t>
              </a:r>
              <a:endParaRPr lang="en-US" sz="933" b="1" dirty="0">
                <a:solidFill>
                  <a:srgbClr val="1A2B2B"/>
                </a:solidFill>
                <a:latin typeface="Inter Bold"/>
                <a:ea typeface="Inter Bold"/>
                <a:cs typeface="Inter Bold"/>
                <a:sym typeface="Inter Bold"/>
              </a:endParaRPr>
            </a:p>
          </p:txBody>
        </p:sp>
        <p:sp>
          <p:nvSpPr>
            <p:cNvPr id="89" name="TextBox 43">
              <a:extLst>
                <a:ext uri="{FF2B5EF4-FFF2-40B4-BE49-F238E27FC236}">
                  <a16:creationId xmlns:a16="http://schemas.microsoft.com/office/drawing/2014/main" id="{3EBA53E7-721D-70FD-014E-DDF3473C09C4}"/>
                </a:ext>
              </a:extLst>
            </p:cNvPr>
            <p:cNvSpPr txBox="1"/>
            <p:nvPr/>
          </p:nvSpPr>
          <p:spPr>
            <a:xfrm>
              <a:off x="6444792" y="6396419"/>
              <a:ext cx="5067300" cy="332496"/>
            </a:xfrm>
            <a:prstGeom prst="rect">
              <a:avLst/>
            </a:prstGeom>
          </p:spPr>
          <p:txBody>
            <a:bodyPr lIns="0" tIns="0" rIns="0" bIns="0" rtlCol="0" anchor="t">
              <a:spAutoFit/>
            </a:bodyPr>
            <a:lstStyle/>
            <a:p>
              <a:pPr>
                <a:lnSpc>
                  <a:spcPts val="1866"/>
                </a:lnSpc>
              </a:pPr>
              <a:r>
                <a:rPr lang="en-US" sz="1333" b="1" dirty="0">
                  <a:solidFill>
                    <a:srgbClr val="005E60"/>
                  </a:solidFill>
                  <a:latin typeface="Inter Bold"/>
                  <a:ea typeface="Inter Bold"/>
                  <a:cs typeface="Inter Bold"/>
                  <a:sym typeface="Inter Bold"/>
                </a:rPr>
                <a:t>For a full Course</a:t>
              </a:r>
            </a:p>
          </p:txBody>
        </p:sp>
        <p:sp>
          <p:nvSpPr>
            <p:cNvPr id="91" name="TextBox 43">
              <a:extLst>
                <a:ext uri="{FF2B5EF4-FFF2-40B4-BE49-F238E27FC236}">
                  <a16:creationId xmlns:a16="http://schemas.microsoft.com/office/drawing/2014/main" id="{EA36A48F-D5B1-6A17-4CDD-698B59EDBA07}"/>
                </a:ext>
              </a:extLst>
            </p:cNvPr>
            <p:cNvSpPr txBox="1"/>
            <p:nvPr/>
          </p:nvSpPr>
          <p:spPr>
            <a:xfrm>
              <a:off x="12204888" y="6254903"/>
              <a:ext cx="5067300" cy="332496"/>
            </a:xfrm>
            <a:prstGeom prst="rect">
              <a:avLst/>
            </a:prstGeom>
          </p:spPr>
          <p:txBody>
            <a:bodyPr lIns="0" tIns="0" rIns="0" bIns="0" rtlCol="0" anchor="t">
              <a:spAutoFit/>
            </a:bodyPr>
            <a:lstStyle/>
            <a:p>
              <a:pPr>
                <a:lnSpc>
                  <a:spcPts val="1866"/>
                </a:lnSpc>
              </a:pPr>
              <a:r>
                <a:rPr lang="en-US" sz="1333" b="1" dirty="0">
                  <a:solidFill>
                    <a:srgbClr val="005E60"/>
                  </a:solidFill>
                  <a:latin typeface="Inter Bold"/>
                  <a:ea typeface="Inter Bold"/>
                  <a:cs typeface="Inter Bold"/>
                  <a:sym typeface="Inter Bold"/>
                </a:rPr>
                <a:t>For Exams ONLY</a:t>
              </a:r>
            </a:p>
          </p:txBody>
        </p:sp>
      </p:grpSp>
      <p:sp>
        <p:nvSpPr>
          <p:cNvPr id="94" name="Freeform 14">
            <a:extLst>
              <a:ext uri="{FF2B5EF4-FFF2-40B4-BE49-F238E27FC236}">
                <a16:creationId xmlns:a16="http://schemas.microsoft.com/office/drawing/2014/main" id="{7A9DE0A2-5001-52F7-42C4-7E410DCCA2F7}"/>
              </a:ext>
            </a:extLst>
          </p:cNvPr>
          <p:cNvSpPr/>
          <p:nvPr/>
        </p:nvSpPr>
        <p:spPr>
          <a:xfrm>
            <a:off x="5075891" y="2538310"/>
            <a:ext cx="1687606" cy="504841"/>
          </a:xfrm>
          <a:custGeom>
            <a:avLst/>
            <a:gdLst/>
            <a:ahLst/>
            <a:cxnLst/>
            <a:rect l="l" t="t" r="r" b="b"/>
            <a:pathLst>
              <a:path w="3048000" h="547536">
                <a:moveTo>
                  <a:pt x="55880" y="0"/>
                </a:moveTo>
                <a:lnTo>
                  <a:pt x="2992120" y="0"/>
                </a:lnTo>
                <a:cubicBezTo>
                  <a:pt x="3022982" y="0"/>
                  <a:pt x="3048000" y="24514"/>
                  <a:pt x="3048000" y="54754"/>
                </a:cubicBezTo>
                <a:lnTo>
                  <a:pt x="3048000" y="492782"/>
                </a:lnTo>
                <a:cubicBezTo>
                  <a:pt x="3048000" y="523022"/>
                  <a:pt x="3022982" y="547536"/>
                  <a:pt x="2992120" y="547536"/>
                </a:cubicBezTo>
                <a:lnTo>
                  <a:pt x="55880" y="547536"/>
                </a:lnTo>
                <a:cubicBezTo>
                  <a:pt x="41060" y="547536"/>
                  <a:pt x="26846" y="541767"/>
                  <a:pt x="16367" y="531499"/>
                </a:cubicBezTo>
                <a:cubicBezTo>
                  <a:pt x="5887" y="521231"/>
                  <a:pt x="0" y="507304"/>
                  <a:pt x="0" y="492782"/>
                </a:cubicBezTo>
                <a:lnTo>
                  <a:pt x="0" y="54754"/>
                </a:lnTo>
                <a:cubicBezTo>
                  <a:pt x="0" y="24514"/>
                  <a:pt x="25018" y="0"/>
                  <a:pt x="55880" y="0"/>
                </a:cubicBezTo>
                <a:close/>
              </a:path>
            </a:pathLst>
          </a:custGeom>
          <a:solidFill>
            <a:srgbClr val="C7F863"/>
          </a:solidFill>
        </p:spPr>
        <p:txBody>
          <a:bodyPr/>
          <a:lstStyle/>
          <a:p>
            <a:endParaRPr lang="en-US" sz="1200" dirty="0"/>
          </a:p>
        </p:txBody>
      </p:sp>
      <p:sp>
        <p:nvSpPr>
          <p:cNvPr id="76" name="TextBox 18">
            <a:extLst>
              <a:ext uri="{FF2B5EF4-FFF2-40B4-BE49-F238E27FC236}">
                <a16:creationId xmlns:a16="http://schemas.microsoft.com/office/drawing/2014/main" id="{7CE0EB08-4D9B-C321-0F73-7B6FC6990E3F}"/>
              </a:ext>
            </a:extLst>
          </p:cNvPr>
          <p:cNvSpPr txBox="1"/>
          <p:nvPr/>
        </p:nvSpPr>
        <p:spPr>
          <a:xfrm>
            <a:off x="5130053" y="2599822"/>
            <a:ext cx="1524000" cy="360643"/>
          </a:xfrm>
          <a:prstGeom prst="rect">
            <a:avLst/>
          </a:prstGeom>
        </p:spPr>
        <p:txBody>
          <a:bodyPr lIns="33867" tIns="33867" rIns="33867" bIns="33867" rtlCol="0" anchor="ctr"/>
          <a:lstStyle/>
          <a:p>
            <a:pPr algn="ctr">
              <a:lnSpc>
                <a:spcPts val="1680"/>
              </a:lnSpc>
            </a:pPr>
            <a:r>
              <a:rPr lang="en-US" sz="1333" dirty="0">
                <a:solidFill>
                  <a:srgbClr val="005E60"/>
                </a:solidFill>
                <a:latin typeface="Inter" panose="020B0502030000000004" pitchFamily="34" charset="0"/>
                <a:ea typeface="Inter" panose="020B0502030000000004" pitchFamily="34" charset="0"/>
                <a:cs typeface="Inter" panose="020B0502030000000004" pitchFamily="34" charset="0"/>
                <a:sym typeface="DIN Next"/>
              </a:rPr>
              <a:t>96 Exams</a:t>
            </a:r>
          </a:p>
        </p:txBody>
      </p:sp>
      <p:sp>
        <p:nvSpPr>
          <p:cNvPr id="13" name="Title 12">
            <a:extLst>
              <a:ext uri="{FF2B5EF4-FFF2-40B4-BE49-F238E27FC236}">
                <a16:creationId xmlns:a16="http://schemas.microsoft.com/office/drawing/2014/main" id="{26EE9DBE-E445-012F-C1A7-13F4B4193134}"/>
              </a:ext>
            </a:extLst>
          </p:cNvPr>
          <p:cNvSpPr>
            <a:spLocks noGrp="1"/>
          </p:cNvSpPr>
          <p:nvPr>
            <p:ph type="title"/>
          </p:nvPr>
        </p:nvSpPr>
        <p:spPr>
          <a:xfrm>
            <a:off x="406401" y="197273"/>
            <a:ext cx="10350499" cy="457020"/>
          </a:xfrm>
        </p:spPr>
        <p:txBody>
          <a:bodyPr/>
          <a:lstStyle/>
          <a:p>
            <a:r>
              <a:rPr lang="en-US" sz="2933" dirty="0">
                <a:solidFill>
                  <a:srgbClr val="005E60"/>
                </a:solidFill>
                <a:latin typeface="Inter" panose="020B0502030000000004" pitchFamily="34" charset="0"/>
                <a:ea typeface="Inter" panose="020B0502030000000004" pitchFamily="34" charset="0"/>
                <a:cs typeface="Inter" panose="020B0502030000000004" pitchFamily="34" charset="0"/>
                <a:sym typeface="DIN Next"/>
              </a:rPr>
              <a:t>Training Ops: Xyleme Update – Excitation ELT Complete</a:t>
            </a:r>
            <a:br>
              <a:rPr lang="en-US" sz="2933" dirty="0">
                <a:solidFill>
                  <a:srgbClr val="005E60"/>
                </a:solidFill>
                <a:latin typeface="Inter" panose="020B0502030000000004" pitchFamily="34" charset="0"/>
                <a:ea typeface="Inter" panose="020B0502030000000004" pitchFamily="34" charset="0"/>
                <a:cs typeface="Inter" panose="020B0502030000000004" pitchFamily="34" charset="0"/>
                <a:sym typeface="DIN Next"/>
              </a:rPr>
            </a:br>
            <a:endParaRPr lang="en-US" dirty="0"/>
          </a:p>
        </p:txBody>
      </p:sp>
      <p:sp>
        <p:nvSpPr>
          <p:cNvPr id="12" name="TextBox 11">
            <a:extLst>
              <a:ext uri="{FF2B5EF4-FFF2-40B4-BE49-F238E27FC236}">
                <a16:creationId xmlns:a16="http://schemas.microsoft.com/office/drawing/2014/main" id="{B03E4E52-C44F-FF8F-C212-11114CB24C58}"/>
              </a:ext>
            </a:extLst>
          </p:cNvPr>
          <p:cNvSpPr txBox="1"/>
          <p:nvPr/>
        </p:nvSpPr>
        <p:spPr>
          <a:xfrm>
            <a:off x="10668597" y="101511"/>
            <a:ext cx="1301018" cy="3259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dirty="0">
                <a:solidFill>
                  <a:srgbClr val="212121"/>
                </a:solidFill>
                <a:latin typeface="Inter" panose="02000503000000020004" pitchFamily="2" charset="0"/>
              </a:rPr>
              <a:t>Georga</a:t>
            </a:r>
            <a:endParaRPr lang="en-US" sz="1600" b="1" i="1" kern="1200" dirty="0">
              <a:solidFill>
                <a:srgbClr val="212121"/>
              </a:solidFill>
              <a:latin typeface="Inter" panose="02000503000000020004" pitchFamily="2" charset="0"/>
              <a:ea typeface="+mn-ea"/>
              <a:cs typeface="+mn-cs"/>
            </a:endParaRPr>
          </a:p>
        </p:txBody>
      </p:sp>
    </p:spTree>
    <p:custDataLst>
      <p:tags r:id="rId1"/>
    </p:custDataLst>
    <p:extLst>
      <p:ext uri="{BB962C8B-B14F-4D97-AF65-F5344CB8AC3E}">
        <p14:creationId xmlns:p14="http://schemas.microsoft.com/office/powerpoint/2010/main" val="2211259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down)">
                                      <p:cBhvr>
                                        <p:cTn id="12" dur="500"/>
                                        <p:tgtEl>
                                          <p:spTgt spid="14"/>
                                        </p:tgtEl>
                                      </p:cBhvr>
                                    </p:animEffect>
                                  </p:childTnLst>
                                </p:cTn>
                              </p:par>
                              <p:par>
                                <p:cTn id="13" presetID="22" presetClass="entr" presetSubtype="4"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down)">
                                      <p:cBhvr>
                                        <p:cTn id="15"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fade">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DA869-B348-F315-87AF-5F3FB28E66E3}"/>
            </a:ext>
          </a:extLst>
        </p:cNvPr>
        <p:cNvGrpSpPr/>
        <p:nvPr/>
      </p:nvGrpSpPr>
      <p:grpSpPr>
        <a:xfrm>
          <a:off x="0" y="0"/>
          <a:ext cx="0" cy="0"/>
          <a:chOff x="0" y="0"/>
          <a:chExt cx="0" cy="0"/>
        </a:xfrm>
      </p:grpSpPr>
      <p:sp>
        <p:nvSpPr>
          <p:cNvPr id="13" name="Footer Placeholder 1">
            <a:extLst>
              <a:ext uri="{FF2B5EF4-FFF2-40B4-BE49-F238E27FC236}">
                <a16:creationId xmlns:a16="http://schemas.microsoft.com/office/drawing/2014/main" id="{8B043EAC-F5C5-BD89-B782-B58459B81AF8}"/>
              </a:ext>
            </a:extLst>
          </p:cNvPr>
          <p:cNvSpPr>
            <a:spLocks noGrp="1"/>
          </p:cNvSpPr>
          <p:nvPr>
            <p:ph type="ftr" sz="quarter" idx="11"/>
          </p:nvPr>
        </p:nvSpPr>
        <p:spPr>
          <a:xfrm>
            <a:off x="419100" y="6492875"/>
            <a:ext cx="10248900" cy="244653"/>
          </a:xfrm>
        </p:spPr>
        <p:txBody>
          <a:bodyPr anchor="t">
            <a:normAutofit/>
          </a:bodyPr>
          <a:lstStyle/>
          <a:p>
            <a:pPr>
              <a:spcAft>
                <a:spcPts val="600"/>
              </a:spcAft>
            </a:pPr>
            <a:r>
              <a:rPr lang="en-US" dirty="0"/>
              <a:t>© 202</a:t>
            </a:r>
            <a:r>
              <a:rPr lang="en-CH" dirty="0"/>
              <a:t>6</a:t>
            </a:r>
            <a:r>
              <a:rPr lang="en-US" dirty="0"/>
              <a:t> GE Vernova and/or its affiliates. All rights reserved.</a:t>
            </a:r>
          </a:p>
        </p:txBody>
      </p:sp>
      <p:sp>
        <p:nvSpPr>
          <p:cNvPr id="3" name="Slide Number Placeholder 2">
            <a:extLst>
              <a:ext uri="{FF2B5EF4-FFF2-40B4-BE49-F238E27FC236}">
                <a16:creationId xmlns:a16="http://schemas.microsoft.com/office/drawing/2014/main" id="{F28472A9-8C6D-A9B0-9CF9-ED0482105E34}"/>
              </a:ext>
            </a:extLst>
          </p:cNvPr>
          <p:cNvSpPr>
            <a:spLocks noGrp="1"/>
          </p:cNvSpPr>
          <p:nvPr>
            <p:ph type="sldNum" sz="quarter" idx="12"/>
          </p:nvPr>
        </p:nvSpPr>
        <p:spPr>
          <a:xfrm>
            <a:off x="11222182" y="6492875"/>
            <a:ext cx="550718" cy="365125"/>
          </a:xfrm>
        </p:spPr>
        <p:txBody>
          <a:bodyPr anchor="t">
            <a:normAutofit/>
          </a:bodyPr>
          <a:lstStyle/>
          <a:p>
            <a:pPr>
              <a:spcAft>
                <a:spcPts val="600"/>
              </a:spcAft>
            </a:pPr>
            <a:fld id="{7A7A97EF-C944-4447-B862-B593E9B4A0FF}" type="slidenum">
              <a:rPr lang="en-US" smtClean="0"/>
              <a:pPr>
                <a:spcAft>
                  <a:spcPts val="600"/>
                </a:spcAft>
              </a:pPr>
              <a:t>17</a:t>
            </a:fld>
            <a:endParaRPr lang="en-US"/>
          </a:p>
        </p:txBody>
      </p:sp>
      <p:sp>
        <p:nvSpPr>
          <p:cNvPr id="4" name="Title 3">
            <a:extLst>
              <a:ext uri="{FF2B5EF4-FFF2-40B4-BE49-F238E27FC236}">
                <a16:creationId xmlns:a16="http://schemas.microsoft.com/office/drawing/2014/main" id="{7D2DE4B0-27EF-6D24-A420-D7E9650584A7}"/>
              </a:ext>
            </a:extLst>
          </p:cNvPr>
          <p:cNvSpPr>
            <a:spLocks noGrp="1"/>
          </p:cNvSpPr>
          <p:nvPr>
            <p:ph type="title"/>
          </p:nvPr>
        </p:nvSpPr>
        <p:spPr>
          <a:xfrm>
            <a:off x="419100" y="419101"/>
            <a:ext cx="9604794" cy="457020"/>
          </a:xfrm>
        </p:spPr>
        <p:txBody>
          <a:bodyPr anchor="t">
            <a:normAutofit/>
          </a:bodyPr>
          <a:lstStyle/>
          <a:p>
            <a:r>
              <a:rPr lang="en-US" dirty="0"/>
              <a:t>Training Ops: Content Updates</a:t>
            </a:r>
          </a:p>
        </p:txBody>
      </p:sp>
      <p:sp>
        <p:nvSpPr>
          <p:cNvPr id="26" name="TextBox 25">
            <a:extLst>
              <a:ext uri="{FF2B5EF4-FFF2-40B4-BE49-F238E27FC236}">
                <a16:creationId xmlns:a16="http://schemas.microsoft.com/office/drawing/2014/main" id="{7B80144C-AFCD-F47D-906E-F8DC5CFB6893}"/>
              </a:ext>
            </a:extLst>
          </p:cNvPr>
          <p:cNvSpPr txBox="1"/>
          <p:nvPr/>
        </p:nvSpPr>
        <p:spPr>
          <a:xfrm>
            <a:off x="10668597" y="101511"/>
            <a:ext cx="1301018" cy="3259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solidFill>
                  <a:srgbClr val="212121"/>
                </a:solidFill>
                <a:latin typeface="Inter" panose="02000503000000020004" pitchFamily="2" charset="0"/>
                <a:ea typeface="+mn-ea"/>
                <a:cs typeface="+mn-cs"/>
              </a:rPr>
              <a:t>Fielding</a:t>
            </a:r>
          </a:p>
        </p:txBody>
      </p:sp>
      <p:sp>
        <p:nvSpPr>
          <p:cNvPr id="16" name="TextBox 15">
            <a:extLst>
              <a:ext uri="{FF2B5EF4-FFF2-40B4-BE49-F238E27FC236}">
                <a16:creationId xmlns:a16="http://schemas.microsoft.com/office/drawing/2014/main" id="{CAA22758-53C7-97BD-2B2A-71BE89D3549E}"/>
              </a:ext>
            </a:extLst>
          </p:cNvPr>
          <p:cNvSpPr txBox="1"/>
          <p:nvPr/>
        </p:nvSpPr>
        <p:spPr>
          <a:xfrm>
            <a:off x="520700" y="899381"/>
            <a:ext cx="5880100" cy="1802526"/>
          </a:xfrm>
          <a:prstGeom prst="rect">
            <a:avLst/>
          </a:prstGeom>
          <a:noFill/>
        </p:spPr>
        <p:txBody>
          <a:bodyPr wrap="square" lIns="0" tIns="0" rIns="0" bIns="0" rtlCol="0">
            <a:noAutofit/>
          </a:bodyPr>
          <a:lstStyle/>
          <a:p>
            <a:pPr algn="l">
              <a:spcAft>
                <a:spcPts val="600"/>
              </a:spcAft>
            </a:pPr>
            <a:r>
              <a:rPr lang="en-CH" sz="1600" dirty="0"/>
              <a:t>Heavily working on</a:t>
            </a:r>
            <a:r>
              <a:rPr lang="en-US" sz="1600" dirty="0"/>
              <a:t> </a:t>
            </a:r>
            <a:r>
              <a:rPr lang="en-CH" sz="1600" dirty="0"/>
              <a:t>evolving our </a:t>
            </a:r>
            <a:r>
              <a:rPr lang="en-US" sz="1600" dirty="0"/>
              <a:t>development strategy,</a:t>
            </a:r>
            <a:r>
              <a:rPr lang="en-CH" sz="1600" dirty="0"/>
              <a:t> placing </a:t>
            </a:r>
            <a:r>
              <a:rPr lang="en-US" sz="1600" dirty="0"/>
              <a:t>significant emphasis to </a:t>
            </a:r>
            <a:r>
              <a:rPr lang="en-US" sz="1600" b="1" dirty="0"/>
              <a:t>improve</a:t>
            </a:r>
            <a:r>
              <a:rPr lang="en-US" sz="1600" dirty="0"/>
              <a:t> </a:t>
            </a:r>
            <a:r>
              <a:rPr lang="en-US" sz="1600" b="1" dirty="0"/>
              <a:t>consistency</a:t>
            </a:r>
            <a:r>
              <a:rPr lang="en-US" sz="1600" dirty="0"/>
              <a:t>, </a:t>
            </a:r>
            <a:r>
              <a:rPr lang="en-US" sz="1600" b="1" dirty="0"/>
              <a:t>efficiency</a:t>
            </a:r>
            <a:r>
              <a:rPr lang="en-US" sz="1600" dirty="0"/>
              <a:t>, and </a:t>
            </a:r>
            <a:r>
              <a:rPr lang="en-US" sz="1600" b="1" dirty="0"/>
              <a:t>scalability</a:t>
            </a:r>
            <a:r>
              <a:rPr lang="en-US" sz="1600" dirty="0"/>
              <a:t>, on how </a:t>
            </a:r>
            <a:r>
              <a:rPr lang="en-CH" sz="1600" dirty="0"/>
              <a:t>our </a:t>
            </a:r>
            <a:r>
              <a:rPr lang="en-US" sz="1600" dirty="0"/>
              <a:t>assets are structured and developed to support </a:t>
            </a:r>
            <a:r>
              <a:rPr lang="en-US" sz="1600" b="1" dirty="0"/>
              <a:t>downstream applications</a:t>
            </a:r>
            <a:r>
              <a:rPr lang="en-US" sz="1600" dirty="0"/>
              <a:t> and </a:t>
            </a:r>
            <a:r>
              <a:rPr lang="en-US" sz="1600" b="1" dirty="0"/>
              <a:t>long-term maintainability</a:t>
            </a:r>
            <a:r>
              <a:rPr lang="en-CH" sz="1600" dirty="0"/>
              <a:t>.</a:t>
            </a:r>
          </a:p>
          <a:p>
            <a:pPr algn="l">
              <a:spcAft>
                <a:spcPts val="600"/>
              </a:spcAft>
            </a:pPr>
            <a:r>
              <a:rPr lang="en-CH" sz="1600" dirty="0"/>
              <a:t>Expanding GLB features for </a:t>
            </a:r>
            <a:r>
              <a:rPr lang="en-CH" sz="1600" b="1" dirty="0"/>
              <a:t>Field Procedures </a:t>
            </a:r>
            <a:r>
              <a:rPr lang="en-CH" sz="1600" dirty="0"/>
              <a:t>(assembly/disassembly) and </a:t>
            </a:r>
            <a:r>
              <a:rPr lang="en-CH" sz="1600" b="1" dirty="0"/>
              <a:t>AR implementation</a:t>
            </a:r>
            <a:r>
              <a:rPr lang="en-CH" sz="1600" dirty="0"/>
              <a:t>.</a:t>
            </a:r>
            <a:endParaRPr lang="en-GB" sz="1600" dirty="0"/>
          </a:p>
        </p:txBody>
      </p:sp>
      <p:pic>
        <p:nvPicPr>
          <p:cNvPr id="7" name="Picture 6">
            <a:extLst>
              <a:ext uri="{FF2B5EF4-FFF2-40B4-BE49-F238E27FC236}">
                <a16:creationId xmlns:a16="http://schemas.microsoft.com/office/drawing/2014/main" id="{84FF2501-F080-5ED6-FEAB-29B08DC8F7C7}"/>
              </a:ext>
            </a:extLst>
          </p:cNvPr>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6767694" y="4110547"/>
            <a:ext cx="2591434" cy="1870508"/>
          </a:xfrm>
          <a:prstGeom prst="rect">
            <a:avLst/>
          </a:prstGeom>
          <a:ln w="3175">
            <a:solidFill>
              <a:schemeClr val="accent4"/>
            </a:solidFill>
          </a:ln>
          <a:effectLst>
            <a:outerShdw blurRad="50800" dist="38100" dir="5400000" algn="t" rotWithShape="0">
              <a:prstClr val="black">
                <a:alpha val="40000"/>
              </a:prstClr>
            </a:outerShdw>
          </a:effectLst>
        </p:spPr>
      </p:pic>
      <p:pic>
        <p:nvPicPr>
          <p:cNvPr id="6" name="Picture 5">
            <a:extLst>
              <a:ext uri="{FF2B5EF4-FFF2-40B4-BE49-F238E27FC236}">
                <a16:creationId xmlns:a16="http://schemas.microsoft.com/office/drawing/2014/main" id="{1B0645ED-D037-8146-96E8-E875AECE1520}"/>
              </a:ext>
            </a:extLst>
          </p:cNvPr>
          <p:cNvPicPr>
            <a:picLocks noChangeAspect="1"/>
          </p:cNvPicPr>
          <p:nvPr/>
        </p:nvPicPr>
        <p:blipFill>
          <a:blip r:embed="rId6" cstate="screen">
            <a:extLst>
              <a:ext uri="{28A0092B-C50C-407E-A947-70E740481C1C}">
                <a14:useLocalDpi xmlns:a14="http://schemas.microsoft.com/office/drawing/2010/main"/>
              </a:ext>
            </a:extLst>
          </a:blip>
          <a:srcRect b="2574"/>
          <a:stretch>
            <a:fillRect/>
          </a:stretch>
        </p:blipFill>
        <p:spPr>
          <a:xfrm>
            <a:off x="6767694" y="1275339"/>
            <a:ext cx="4729847" cy="2351819"/>
          </a:xfrm>
          <a:prstGeom prst="rect">
            <a:avLst/>
          </a:prstGeom>
          <a:ln w="3175">
            <a:solidFill>
              <a:schemeClr val="accent4"/>
            </a:solidFill>
          </a:ln>
          <a:effectLst>
            <a:outerShdw blurRad="50800" dist="38100" dir="5400000" algn="t" rotWithShape="0">
              <a:prstClr val="black">
                <a:alpha val="40000"/>
              </a:prstClr>
            </a:outerShdw>
          </a:effectLst>
        </p:spPr>
      </p:pic>
      <p:pic>
        <p:nvPicPr>
          <p:cNvPr id="10" name="Picture 9">
            <a:extLst>
              <a:ext uri="{FF2B5EF4-FFF2-40B4-BE49-F238E27FC236}">
                <a16:creationId xmlns:a16="http://schemas.microsoft.com/office/drawing/2014/main" id="{B17D10F8-D859-8DE5-EC38-B75DD772131C}"/>
              </a:ext>
            </a:extLst>
          </p:cNvPr>
          <p:cNvPicPr>
            <a:picLocks noChangeAspect="1"/>
          </p:cNvPicPr>
          <p:nvPr/>
        </p:nvPicPr>
        <p:blipFill>
          <a:blip r:embed="rId7" cstate="screen">
            <a:extLst>
              <a:ext uri="{28A0092B-C50C-407E-A947-70E740481C1C}">
                <a14:useLocalDpi xmlns:a14="http://schemas.microsoft.com/office/drawing/2010/main"/>
              </a:ext>
            </a:extLst>
          </a:blip>
          <a:srcRect/>
          <a:stretch>
            <a:fillRect/>
          </a:stretch>
        </p:blipFill>
        <p:spPr>
          <a:xfrm>
            <a:off x="609600" y="2755883"/>
            <a:ext cx="5467172" cy="3539033"/>
          </a:xfrm>
          <a:prstGeom prst="rect">
            <a:avLst/>
          </a:prstGeom>
          <a:ln>
            <a:solidFill>
              <a:schemeClr val="accent4"/>
            </a:solidFill>
          </a:ln>
          <a:effectLst>
            <a:outerShdw blurRad="50800" dist="38100" dir="2700000" algn="tl" rotWithShape="0">
              <a:prstClr val="black">
                <a:alpha val="40000"/>
              </a:prstClr>
            </a:outerShdw>
          </a:effectLst>
        </p:spPr>
      </p:pic>
      <p:pic>
        <p:nvPicPr>
          <p:cNvPr id="11" name="gtf-wbt-teaser_3">
            <a:hlinkClick r:id="" action="ppaction://media"/>
            <a:extLst>
              <a:ext uri="{FF2B5EF4-FFF2-40B4-BE49-F238E27FC236}">
                <a16:creationId xmlns:a16="http://schemas.microsoft.com/office/drawing/2014/main" id="{77B2B177-25C0-7B2F-BDE2-04FE455BDDEF}"/>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8800240" y="4467791"/>
            <a:ext cx="2974154" cy="1827125"/>
          </a:xfrm>
          <a:prstGeom prst="rect">
            <a:avLst/>
          </a:prstGeom>
          <a:ln w="3175">
            <a:solidFill>
              <a:schemeClr val="accent4"/>
            </a:solidFill>
          </a:ln>
          <a:effectLst>
            <a:outerShdw blurRad="50800" dist="38100" dir="5400000" algn="t" rotWithShape="0">
              <a:prstClr val="black">
                <a:alpha val="40000"/>
              </a:prstClr>
            </a:outerShdw>
          </a:effectLst>
        </p:spPr>
      </p:pic>
      <p:sp>
        <p:nvSpPr>
          <p:cNvPr id="17" name="TextBox 16">
            <a:extLst>
              <a:ext uri="{FF2B5EF4-FFF2-40B4-BE49-F238E27FC236}">
                <a16:creationId xmlns:a16="http://schemas.microsoft.com/office/drawing/2014/main" id="{7F5411D7-C514-FFCA-3D5C-0DFB28CEBB89}"/>
              </a:ext>
            </a:extLst>
          </p:cNvPr>
          <p:cNvSpPr txBox="1"/>
          <p:nvPr/>
        </p:nvSpPr>
        <p:spPr>
          <a:xfrm>
            <a:off x="8560273" y="972098"/>
            <a:ext cx="1597710" cy="242905"/>
          </a:xfrm>
          <a:prstGeom prst="parallelogram">
            <a:avLst/>
          </a:prstGeom>
          <a:solidFill>
            <a:schemeClr val="bg1"/>
          </a:solidFill>
          <a:ln>
            <a:solidFill>
              <a:schemeClr val="accent4"/>
            </a:solidFill>
          </a:ln>
        </p:spPr>
        <p:txBody>
          <a:bodyPr wrap="none" lIns="0" tIns="0" rIns="0" bIns="0" rtlCol="0">
            <a:noAutofit/>
          </a:bodyPr>
          <a:lstStyle>
            <a:defPPr>
              <a:defRPr lang="en-US"/>
            </a:defPPr>
            <a:lvl1pPr algn="ctr">
              <a:spcAft>
                <a:spcPts val="600"/>
              </a:spcAft>
              <a:defRPr sz="1200"/>
            </a:lvl1pPr>
          </a:lstStyle>
          <a:p>
            <a:r>
              <a:rPr lang="en-CH" dirty="0"/>
              <a:t>UI / UX Standards</a:t>
            </a:r>
            <a:endParaRPr lang="en-GB" dirty="0"/>
          </a:p>
        </p:txBody>
      </p:sp>
      <p:sp>
        <p:nvSpPr>
          <p:cNvPr id="18" name="TextBox 17">
            <a:extLst>
              <a:ext uri="{FF2B5EF4-FFF2-40B4-BE49-F238E27FC236}">
                <a16:creationId xmlns:a16="http://schemas.microsoft.com/office/drawing/2014/main" id="{E8AA16E9-5C54-555C-6FF5-0D93038CFAE9}"/>
              </a:ext>
            </a:extLst>
          </p:cNvPr>
          <p:cNvSpPr txBox="1"/>
          <p:nvPr/>
        </p:nvSpPr>
        <p:spPr>
          <a:xfrm>
            <a:off x="6813845" y="3797782"/>
            <a:ext cx="2499131" cy="242905"/>
          </a:xfrm>
          <a:prstGeom prst="parallelogram">
            <a:avLst/>
          </a:prstGeom>
          <a:solidFill>
            <a:schemeClr val="bg1"/>
          </a:solidFill>
          <a:ln>
            <a:solidFill>
              <a:schemeClr val="accent4"/>
            </a:solidFill>
          </a:ln>
        </p:spPr>
        <p:txBody>
          <a:bodyPr wrap="none" lIns="0" tIns="0" rIns="0" bIns="0" rtlCol="0">
            <a:noAutofit/>
          </a:bodyPr>
          <a:lstStyle/>
          <a:p>
            <a:pPr algn="ctr">
              <a:spcAft>
                <a:spcPts val="600"/>
              </a:spcAft>
            </a:pPr>
            <a:r>
              <a:rPr lang="en-CH" sz="1200" dirty="0"/>
              <a:t>Flow Configuration Standards</a:t>
            </a:r>
            <a:endParaRPr lang="en-GB" sz="1200" dirty="0"/>
          </a:p>
        </p:txBody>
      </p:sp>
      <p:sp>
        <p:nvSpPr>
          <p:cNvPr id="19" name="TextBox 18">
            <a:extLst>
              <a:ext uri="{FF2B5EF4-FFF2-40B4-BE49-F238E27FC236}">
                <a16:creationId xmlns:a16="http://schemas.microsoft.com/office/drawing/2014/main" id="{F39BC370-C43B-C974-E5CC-2BFD5C483E01}"/>
              </a:ext>
            </a:extLst>
          </p:cNvPr>
          <p:cNvSpPr txBox="1"/>
          <p:nvPr/>
        </p:nvSpPr>
        <p:spPr>
          <a:xfrm>
            <a:off x="9675357" y="4151521"/>
            <a:ext cx="2099037" cy="264991"/>
          </a:xfrm>
          <a:prstGeom prst="parallelogram">
            <a:avLst/>
          </a:prstGeom>
          <a:solidFill>
            <a:schemeClr val="bg1"/>
          </a:solidFill>
          <a:ln>
            <a:solidFill>
              <a:schemeClr val="accent4"/>
            </a:solidFill>
          </a:ln>
        </p:spPr>
        <p:txBody>
          <a:bodyPr wrap="none" lIns="0" tIns="0" rIns="0" bIns="0" rtlCol="0">
            <a:noAutofit/>
          </a:bodyPr>
          <a:lstStyle>
            <a:defPPr>
              <a:defRPr lang="en-US"/>
            </a:defPPr>
            <a:lvl1pPr algn="ctr">
              <a:spcAft>
                <a:spcPts val="600"/>
              </a:spcAft>
              <a:defRPr sz="1200"/>
            </a:lvl1pPr>
          </a:lstStyle>
          <a:p>
            <a:r>
              <a:rPr lang="en-CH" dirty="0"/>
              <a:t>Updating WBT Standards</a:t>
            </a:r>
            <a:endParaRPr lang="en-GB" dirty="0"/>
          </a:p>
        </p:txBody>
      </p:sp>
      <p:grpSp>
        <p:nvGrpSpPr>
          <p:cNvPr id="9" name="TXT D&amp;D News">
            <a:extLst>
              <a:ext uri="{FF2B5EF4-FFF2-40B4-BE49-F238E27FC236}">
                <a16:creationId xmlns:a16="http://schemas.microsoft.com/office/drawing/2014/main" id="{C580C201-D6DA-9DDF-3E44-66B23F4606B9}"/>
              </a:ext>
            </a:extLst>
          </p:cNvPr>
          <p:cNvGrpSpPr/>
          <p:nvPr/>
        </p:nvGrpSpPr>
        <p:grpSpPr>
          <a:xfrm>
            <a:off x="6914627" y="1744705"/>
            <a:ext cx="5035835" cy="1275677"/>
            <a:chOff x="3090736" y="2479134"/>
            <a:chExt cx="4939167" cy="1343103"/>
          </a:xfrm>
        </p:grpSpPr>
        <p:sp>
          <p:nvSpPr>
            <p:cNvPr id="8" name="Rectangle: Rounded Corners 7">
              <a:extLst>
                <a:ext uri="{FF2B5EF4-FFF2-40B4-BE49-F238E27FC236}">
                  <a16:creationId xmlns:a16="http://schemas.microsoft.com/office/drawing/2014/main" id="{660D7741-F21F-9AFD-D84F-171BB6A9A759}"/>
                </a:ext>
              </a:extLst>
            </p:cNvPr>
            <p:cNvSpPr/>
            <p:nvPr/>
          </p:nvSpPr>
          <p:spPr>
            <a:xfrm>
              <a:off x="3090736" y="2479134"/>
              <a:ext cx="4939167" cy="1189301"/>
            </a:xfrm>
            <a:prstGeom prst="roundRect">
              <a:avLst/>
            </a:prstGeom>
            <a:solidFill>
              <a:schemeClr val="tx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Aft>
                  <a:spcPts val="600"/>
                </a:spcAft>
              </a:pPr>
              <a:endParaRPr lang="en-GB">
                <a:solidFill>
                  <a:schemeClr val="tx1"/>
                </a:solidFill>
              </a:endParaRPr>
            </a:p>
          </p:txBody>
        </p:sp>
        <p:sp>
          <p:nvSpPr>
            <p:cNvPr id="21" name="TextBox 20">
              <a:extLst>
                <a:ext uri="{FF2B5EF4-FFF2-40B4-BE49-F238E27FC236}">
                  <a16:creationId xmlns:a16="http://schemas.microsoft.com/office/drawing/2014/main" id="{4A096C97-782C-2E0C-1E40-F3585A3ACDE5}"/>
                </a:ext>
              </a:extLst>
            </p:cNvPr>
            <p:cNvSpPr txBox="1"/>
            <p:nvPr/>
          </p:nvSpPr>
          <p:spPr>
            <a:xfrm>
              <a:off x="5678887" y="2632937"/>
              <a:ext cx="2333230" cy="1189300"/>
            </a:xfrm>
            <a:prstGeom prst="rect">
              <a:avLst/>
            </a:prstGeom>
            <a:noFill/>
          </p:spPr>
          <p:txBody>
            <a:bodyPr wrap="square" lIns="0" tIns="0" rIns="0" bIns="0" rtlCol="0">
              <a:noAutofit/>
            </a:bodyPr>
            <a:lstStyle/>
            <a:p>
              <a:pPr algn="l">
                <a:spcAft>
                  <a:spcPts val="300"/>
                </a:spcAft>
              </a:pPr>
              <a:r>
                <a:rPr lang="en-CH" sz="2000" b="1" dirty="0">
                  <a:solidFill>
                    <a:schemeClr val="bg2"/>
                  </a:solidFill>
                </a:rPr>
                <a:t>D&amp;D Newsletter</a:t>
              </a:r>
            </a:p>
            <a:p>
              <a:pPr algn="l"/>
              <a:r>
                <a:rPr lang="en-CH" sz="1600" b="1" i="1" dirty="0">
                  <a:solidFill>
                    <a:schemeClr val="bg1"/>
                  </a:solidFill>
                </a:rPr>
                <a:t>Coming very soon...</a:t>
              </a:r>
            </a:p>
            <a:p>
              <a:pPr algn="l"/>
              <a:r>
                <a:rPr lang="en-CH" sz="1400" i="1" dirty="0">
                  <a:solidFill>
                    <a:schemeClr val="bg1"/>
                  </a:solidFill>
                </a:rPr>
                <a:t>We haven’t forgotten you!</a:t>
              </a:r>
            </a:p>
          </p:txBody>
        </p:sp>
      </p:grpSp>
      <p:pic>
        <p:nvPicPr>
          <p:cNvPr id="5" name="IMG News Letter">
            <a:extLst>
              <a:ext uri="{FF2B5EF4-FFF2-40B4-BE49-F238E27FC236}">
                <a16:creationId xmlns:a16="http://schemas.microsoft.com/office/drawing/2014/main" id="{9B07A6F7-7139-8B8D-867F-67E363A3ADD8}"/>
              </a:ext>
            </a:extLst>
          </p:cNvPr>
          <p:cNvPicPr>
            <a:picLocks noChangeAspect="1"/>
          </p:cNvPicPr>
          <p:nvPr/>
        </p:nvPicPr>
        <p:blipFill>
          <a:blip r:embed="rId9"/>
          <a:stretch>
            <a:fillRect/>
          </a:stretch>
        </p:blipFill>
        <p:spPr>
          <a:xfrm>
            <a:off x="6914627" y="1377896"/>
            <a:ext cx="2811395" cy="4817184"/>
          </a:xfrm>
          <a:prstGeom prst="roundRect">
            <a:avLst>
              <a:gd name="adj" fmla="val 4702"/>
            </a:avLst>
          </a:prstGeom>
          <a:ln>
            <a:noFill/>
          </a:ln>
          <a:effectLst>
            <a:outerShdw blurRad="50800" dist="38100" dir="5400000" algn="t" rotWithShape="0">
              <a:prstClr val="black">
                <a:alpha val="40000"/>
              </a:prstClr>
            </a:outerShdw>
          </a:effectLst>
          <a:scene3d>
            <a:camera prst="perspectiveContrastingRightFacing" fov="4800000">
              <a:rot lat="21089169" lon="21112087" rev="451454"/>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829263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640" fill="hold"/>
                                        <p:tgtEl>
                                          <p:spTgt spid="11"/>
                                        </p:tgtEl>
                                      </p:cBhvr>
                                    </p:cmd>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nodeType="clickEffect">
                                  <p:stCondLst>
                                    <p:cond delay="0"/>
                                  </p:stCondLst>
                                  <p:childTnLst>
                                    <p:animEffect transition="out" filter="fade">
                                      <p:cBhvr>
                                        <p:cTn id="10" dur="500"/>
                                        <p:tgtEl>
                                          <p:spTgt spid="11"/>
                                        </p:tgtEl>
                                      </p:cBhvr>
                                    </p:animEffect>
                                    <p:set>
                                      <p:cBhvr>
                                        <p:cTn id="11" dur="1" fill="hold">
                                          <p:stCondLst>
                                            <p:cond delay="499"/>
                                          </p:stCondLst>
                                        </p:cTn>
                                        <p:tgtEl>
                                          <p:spTgt spid="11"/>
                                        </p:tgtEl>
                                        <p:attrNameLst>
                                          <p:attrName>style.visibility</p:attrName>
                                        </p:attrNameLst>
                                      </p:cBhvr>
                                      <p:to>
                                        <p:strVal val="hidden"/>
                                      </p:to>
                                    </p:set>
                                    <p:cmd type="call" cmd="stop">
                                      <p:cBhvr>
                                        <p:cTn id="12" dur="1">
                                          <p:stCondLst>
                                            <p:cond delay="499"/>
                                          </p:stCondLst>
                                        </p:cTn>
                                        <p:tgtEl>
                                          <p:spTgt spid="11"/>
                                        </p:tgtEl>
                                      </p:cBhvr>
                                    </p:cmd>
                                  </p:childTnLst>
                                </p:cTn>
                              </p:par>
                              <p:par>
                                <p:cTn id="13" presetID="10" presetClass="exit" presetSubtype="0" fill="hold" grpId="0" nodeType="withEffect">
                                  <p:stCondLst>
                                    <p:cond delay="0"/>
                                  </p:stCondLst>
                                  <p:childTnLst>
                                    <p:animEffect transition="out" filter="fade">
                                      <p:cBhvr>
                                        <p:cTn id="14" dur="500"/>
                                        <p:tgtEl>
                                          <p:spTgt spid="17"/>
                                        </p:tgtEl>
                                      </p:cBhvr>
                                    </p:animEffect>
                                    <p:set>
                                      <p:cBhvr>
                                        <p:cTn id="15" dur="1" fill="hold">
                                          <p:stCondLst>
                                            <p:cond delay="499"/>
                                          </p:stCondLst>
                                        </p:cTn>
                                        <p:tgtEl>
                                          <p:spTgt spid="17"/>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500"/>
                                        <p:tgtEl>
                                          <p:spTgt spid="6"/>
                                        </p:tgtEl>
                                      </p:cBhvr>
                                    </p:animEffect>
                                    <p:set>
                                      <p:cBhvr>
                                        <p:cTn id="18" dur="1" fill="hold">
                                          <p:stCondLst>
                                            <p:cond delay="499"/>
                                          </p:stCondLst>
                                        </p:cTn>
                                        <p:tgtEl>
                                          <p:spTgt spid="6"/>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20" dur="500"/>
                                        <p:tgtEl>
                                          <p:spTgt spid="18"/>
                                        </p:tgtEl>
                                      </p:cBhvr>
                                    </p:animEffect>
                                    <p:set>
                                      <p:cBhvr>
                                        <p:cTn id="21" dur="1" fill="hold">
                                          <p:stCondLst>
                                            <p:cond delay="499"/>
                                          </p:stCondLst>
                                        </p:cTn>
                                        <p:tgtEl>
                                          <p:spTgt spid="18"/>
                                        </p:tgtEl>
                                        <p:attrNameLst>
                                          <p:attrName>style.visibility</p:attrName>
                                        </p:attrNameLst>
                                      </p:cBhvr>
                                      <p:to>
                                        <p:strVal val="hidden"/>
                                      </p:to>
                                    </p:set>
                                  </p:childTnLst>
                                </p:cTn>
                              </p:par>
                              <p:par>
                                <p:cTn id="22" presetID="10" presetClass="exit" presetSubtype="0" fill="hold" nodeType="withEffect">
                                  <p:stCondLst>
                                    <p:cond delay="0"/>
                                  </p:stCondLst>
                                  <p:childTnLst>
                                    <p:animEffect transition="out" filter="fade">
                                      <p:cBhvr>
                                        <p:cTn id="23" dur="500"/>
                                        <p:tgtEl>
                                          <p:spTgt spid="7"/>
                                        </p:tgtEl>
                                      </p:cBhvr>
                                    </p:animEffect>
                                    <p:set>
                                      <p:cBhvr>
                                        <p:cTn id="24" dur="1" fill="hold">
                                          <p:stCondLst>
                                            <p:cond delay="499"/>
                                          </p:stCondLst>
                                        </p:cTn>
                                        <p:tgtEl>
                                          <p:spTgt spid="7"/>
                                        </p:tgtEl>
                                        <p:attrNameLst>
                                          <p:attrName>style.visibility</p:attrName>
                                        </p:attrNameLst>
                                      </p:cBhvr>
                                      <p:to>
                                        <p:strVal val="hidden"/>
                                      </p:to>
                                    </p:set>
                                  </p:childTnLst>
                                </p:cTn>
                              </p:par>
                              <p:par>
                                <p:cTn id="25" presetID="10" presetClass="exit" presetSubtype="0" fill="hold" grpId="0" nodeType="withEffect">
                                  <p:stCondLst>
                                    <p:cond delay="0"/>
                                  </p:stCondLst>
                                  <p:childTnLst>
                                    <p:animEffect transition="out" filter="fade">
                                      <p:cBhvr>
                                        <p:cTn id="26" dur="500"/>
                                        <p:tgtEl>
                                          <p:spTgt spid="19"/>
                                        </p:tgtEl>
                                      </p:cBhvr>
                                    </p:animEffect>
                                    <p:set>
                                      <p:cBhvr>
                                        <p:cTn id="27" dur="1" fill="hold">
                                          <p:stCondLst>
                                            <p:cond delay="499"/>
                                          </p:stCondLst>
                                        </p:cTn>
                                        <p:tgtEl>
                                          <p:spTgt spid="19"/>
                                        </p:tgtEl>
                                        <p:attrNameLst>
                                          <p:attrName>style.visibility</p:attrName>
                                        </p:attrNameLst>
                                      </p:cBhvr>
                                      <p:to>
                                        <p:strVal val="hidden"/>
                                      </p:to>
                                    </p:set>
                                  </p:childTnLst>
                                </p:cTn>
                              </p:par>
                            </p:childTnLst>
                          </p:cTn>
                        </p:par>
                        <p:par>
                          <p:cTn id="28" fill="hold">
                            <p:stCondLst>
                              <p:cond delay="500"/>
                            </p:stCondLst>
                            <p:childTnLst>
                              <p:par>
                                <p:cTn id="29" presetID="31" presetClass="entr" presetSubtype="0" fill="hold" nodeType="after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ppt_w</p:attrName>
                                        </p:attrNameLst>
                                      </p:cBhvr>
                                      <p:tavLst>
                                        <p:tav tm="0">
                                          <p:val>
                                            <p:fltVal val="0"/>
                                          </p:val>
                                        </p:tav>
                                        <p:tav tm="100000">
                                          <p:val>
                                            <p:strVal val="#ppt_w"/>
                                          </p:val>
                                        </p:tav>
                                      </p:tavLst>
                                    </p:anim>
                                    <p:anim calcmode="lin" valueType="num">
                                      <p:cBhvr>
                                        <p:cTn id="32" dur="500" fill="hold"/>
                                        <p:tgtEl>
                                          <p:spTgt spid="5"/>
                                        </p:tgtEl>
                                        <p:attrNameLst>
                                          <p:attrName>ppt_h</p:attrName>
                                        </p:attrNameLst>
                                      </p:cBhvr>
                                      <p:tavLst>
                                        <p:tav tm="0">
                                          <p:val>
                                            <p:fltVal val="0"/>
                                          </p:val>
                                        </p:tav>
                                        <p:tav tm="100000">
                                          <p:val>
                                            <p:strVal val="#ppt_h"/>
                                          </p:val>
                                        </p:tav>
                                      </p:tavLst>
                                    </p:anim>
                                    <p:anim calcmode="lin" valueType="num">
                                      <p:cBhvr>
                                        <p:cTn id="33" dur="500" fill="hold"/>
                                        <p:tgtEl>
                                          <p:spTgt spid="5"/>
                                        </p:tgtEl>
                                        <p:attrNameLst>
                                          <p:attrName>style.rotation</p:attrName>
                                        </p:attrNameLst>
                                      </p:cBhvr>
                                      <p:tavLst>
                                        <p:tav tm="0">
                                          <p:val>
                                            <p:fltVal val="90"/>
                                          </p:val>
                                        </p:tav>
                                        <p:tav tm="100000">
                                          <p:val>
                                            <p:fltVal val="0"/>
                                          </p:val>
                                        </p:tav>
                                      </p:tavLst>
                                    </p:anim>
                                    <p:animEffect transition="in" filter="fade">
                                      <p:cBhvr>
                                        <p:cTn id="34" dur="500"/>
                                        <p:tgtEl>
                                          <p:spTgt spid="5"/>
                                        </p:tgtEl>
                                      </p:cBhvr>
                                    </p:animEffect>
                                  </p:childTnLst>
                                </p:cTn>
                              </p:par>
                            </p:childTnLst>
                          </p:cTn>
                        </p:par>
                        <p:par>
                          <p:cTn id="35" fill="hold">
                            <p:stCondLst>
                              <p:cond delay="1000"/>
                            </p:stCondLst>
                            <p:childTnLst>
                              <p:par>
                                <p:cTn id="36" presetID="22" presetClass="entr" presetSubtype="8" fill="hold" nodeType="after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wipe(left)">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39" repeatCount="indefinite" fill="hold" display="0">
                  <p:stCondLst>
                    <p:cond delay="indefinite"/>
                  </p:stCondLst>
                </p:cTn>
                <p:tgtEl>
                  <p:spTgt spid="11"/>
                </p:tgtEl>
              </p:cMediaNode>
            </p:video>
          </p:childTnLst>
        </p:cTn>
      </p:par>
    </p:tnLst>
    <p:bldLst>
      <p:bldP spid="17" grpId="0" animBg="1"/>
      <p:bldP spid="18" grpId="0" animBg="1"/>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57E5040-5792-CBDB-F88C-A4DBF8D23727}"/>
              </a:ext>
            </a:extLst>
          </p:cNvPr>
          <p:cNvSpPr>
            <a:spLocks noGrp="1"/>
          </p:cNvSpPr>
          <p:nvPr>
            <p:ph type="ftr" sz="quarter" idx="11"/>
          </p:nvPr>
        </p:nvSpPr>
        <p:spPr/>
        <p:txBody>
          <a:bodyPr/>
          <a:lstStyle/>
          <a:p>
            <a:r>
              <a:rPr lang="en-US" dirty="0"/>
              <a:t>© 2026 GE Vernova and/or its affiliates. All rights reserved.</a:t>
            </a:r>
          </a:p>
        </p:txBody>
      </p:sp>
      <p:sp>
        <p:nvSpPr>
          <p:cNvPr id="3" name="Slide Number Placeholder 2">
            <a:extLst>
              <a:ext uri="{FF2B5EF4-FFF2-40B4-BE49-F238E27FC236}">
                <a16:creationId xmlns:a16="http://schemas.microsoft.com/office/drawing/2014/main" id="{2452255D-D3D5-0E56-A05A-C7E920D1E207}"/>
              </a:ext>
            </a:extLst>
          </p:cNvPr>
          <p:cNvSpPr>
            <a:spLocks noGrp="1"/>
          </p:cNvSpPr>
          <p:nvPr>
            <p:ph type="sldNum" sz="quarter" idx="12"/>
          </p:nvPr>
        </p:nvSpPr>
        <p:spPr/>
        <p:txBody>
          <a:bodyPr/>
          <a:lstStyle/>
          <a:p>
            <a:fld id="{7A7A97EF-C944-4447-B862-B593E9B4A0FF}" type="slidenum">
              <a:rPr lang="en-US" smtClean="0"/>
              <a:pPr/>
              <a:t>18</a:t>
            </a:fld>
            <a:endParaRPr lang="en-US" dirty="0"/>
          </a:p>
        </p:txBody>
      </p:sp>
      <p:sp>
        <p:nvSpPr>
          <p:cNvPr id="9" name="Title 8">
            <a:extLst>
              <a:ext uri="{FF2B5EF4-FFF2-40B4-BE49-F238E27FC236}">
                <a16:creationId xmlns:a16="http://schemas.microsoft.com/office/drawing/2014/main" id="{46470F0E-EC3C-2975-ED6D-B9CDDDA279EE}"/>
              </a:ext>
            </a:extLst>
          </p:cNvPr>
          <p:cNvSpPr>
            <a:spLocks noGrp="1"/>
          </p:cNvSpPr>
          <p:nvPr>
            <p:ph type="title"/>
          </p:nvPr>
        </p:nvSpPr>
        <p:spPr>
          <a:xfrm>
            <a:off x="218661" y="320675"/>
            <a:ext cx="9601200" cy="1965325"/>
          </a:xfrm>
        </p:spPr>
        <p:txBody>
          <a:bodyPr/>
          <a:lstStyle/>
          <a:p>
            <a:r>
              <a:rPr lang="en-US" dirty="0"/>
              <a:t>Work Anniversaries</a:t>
            </a:r>
          </a:p>
        </p:txBody>
      </p:sp>
      <p:sp>
        <p:nvSpPr>
          <p:cNvPr id="12" name="Content Placeholder 25">
            <a:extLst>
              <a:ext uri="{FF2B5EF4-FFF2-40B4-BE49-F238E27FC236}">
                <a16:creationId xmlns:a16="http://schemas.microsoft.com/office/drawing/2014/main" id="{2928207B-D316-079A-E59D-94C95716BCB9}"/>
              </a:ext>
            </a:extLst>
          </p:cNvPr>
          <p:cNvSpPr txBox="1">
            <a:spLocks/>
          </p:cNvSpPr>
          <p:nvPr/>
        </p:nvSpPr>
        <p:spPr>
          <a:xfrm>
            <a:off x="6095999" y="1403351"/>
            <a:ext cx="2569464" cy="2387600"/>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15 Years</a:t>
            </a:r>
          </a:p>
          <a:p>
            <a:pPr algn="ctr"/>
            <a:endParaRPr lang="en-US" dirty="0">
              <a:solidFill>
                <a:schemeClr val="tx1"/>
              </a:solidFill>
            </a:endParaRPr>
          </a:p>
          <a:p>
            <a:pPr algn="ctr"/>
            <a:r>
              <a:rPr lang="en-US" sz="2000" dirty="0">
                <a:solidFill>
                  <a:schemeClr val="tx1"/>
                </a:solidFill>
              </a:rPr>
              <a:t>Julio Ramirez</a:t>
            </a:r>
          </a:p>
          <a:p>
            <a:pPr algn="ctr"/>
            <a:r>
              <a:rPr lang="en-US" sz="2000" dirty="0">
                <a:solidFill>
                  <a:schemeClr val="tx1"/>
                </a:solidFill>
              </a:rPr>
              <a:t>Lou Baez</a:t>
            </a:r>
          </a:p>
          <a:p>
            <a:pPr algn="ctr"/>
            <a:endParaRPr lang="en-US" dirty="0">
              <a:solidFill>
                <a:schemeClr val="tx1"/>
              </a:solidFill>
            </a:endParaRPr>
          </a:p>
          <a:p>
            <a:pPr algn="ctr"/>
            <a:endParaRPr lang="en-US" dirty="0">
              <a:solidFill>
                <a:schemeClr val="tx1"/>
              </a:solidFill>
            </a:endParaRPr>
          </a:p>
        </p:txBody>
      </p:sp>
      <p:sp>
        <p:nvSpPr>
          <p:cNvPr id="13" name="Content Placeholder 26">
            <a:extLst>
              <a:ext uri="{FF2B5EF4-FFF2-40B4-BE49-F238E27FC236}">
                <a16:creationId xmlns:a16="http://schemas.microsoft.com/office/drawing/2014/main" id="{26F25783-F131-7C44-CDF5-66010CE21442}"/>
              </a:ext>
            </a:extLst>
          </p:cNvPr>
          <p:cNvSpPr txBox="1">
            <a:spLocks/>
          </p:cNvSpPr>
          <p:nvPr/>
        </p:nvSpPr>
        <p:spPr>
          <a:xfrm>
            <a:off x="8934450" y="1403350"/>
            <a:ext cx="2569464" cy="2387601"/>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20 Years</a:t>
            </a:r>
          </a:p>
          <a:p>
            <a:pPr algn="ctr"/>
            <a:endParaRPr lang="en-US" dirty="0">
              <a:solidFill>
                <a:schemeClr val="tx1"/>
              </a:solidFill>
            </a:endParaRPr>
          </a:p>
          <a:p>
            <a:pPr algn="ctr"/>
            <a:r>
              <a:rPr lang="en-US" sz="2000" dirty="0">
                <a:solidFill>
                  <a:schemeClr val="tx1"/>
                </a:solidFill>
              </a:rPr>
              <a:t>William Brown</a:t>
            </a:r>
          </a:p>
        </p:txBody>
      </p:sp>
      <p:sp>
        <p:nvSpPr>
          <p:cNvPr id="14" name="Content Placeholder 23">
            <a:extLst>
              <a:ext uri="{FF2B5EF4-FFF2-40B4-BE49-F238E27FC236}">
                <a16:creationId xmlns:a16="http://schemas.microsoft.com/office/drawing/2014/main" id="{97233DC5-ADF0-A9E1-01C5-2874C025D8C4}"/>
              </a:ext>
            </a:extLst>
          </p:cNvPr>
          <p:cNvSpPr txBox="1">
            <a:spLocks/>
          </p:cNvSpPr>
          <p:nvPr/>
        </p:nvSpPr>
        <p:spPr>
          <a:xfrm>
            <a:off x="419099" y="1403349"/>
            <a:ext cx="2569464" cy="2387601"/>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5 Years</a:t>
            </a:r>
          </a:p>
          <a:p>
            <a:pPr algn="ctr"/>
            <a:endParaRPr lang="en-US" dirty="0">
              <a:solidFill>
                <a:schemeClr val="tx1"/>
              </a:solidFill>
            </a:endParaRPr>
          </a:p>
          <a:p>
            <a:pPr algn="ctr"/>
            <a:r>
              <a:rPr lang="en-US" sz="2000" dirty="0">
                <a:solidFill>
                  <a:schemeClr val="tx1"/>
                </a:solidFill>
              </a:rPr>
              <a:t>Randall Stephenson</a:t>
            </a:r>
          </a:p>
          <a:p>
            <a:pPr algn="ctr"/>
            <a:endParaRPr lang="en-US" dirty="0">
              <a:solidFill>
                <a:schemeClr val="tx1"/>
              </a:solidFill>
            </a:endParaRPr>
          </a:p>
        </p:txBody>
      </p:sp>
      <p:cxnSp>
        <p:nvCxnSpPr>
          <p:cNvPr id="15" name="Straight Connector 14">
            <a:extLst>
              <a:ext uri="{FF2B5EF4-FFF2-40B4-BE49-F238E27FC236}">
                <a16:creationId xmlns:a16="http://schemas.microsoft.com/office/drawing/2014/main" id="{A06E4313-8B9F-C049-2390-8EC216DEFCED}"/>
              </a:ext>
            </a:extLst>
          </p:cNvPr>
          <p:cNvCxnSpPr>
            <a:cxnSpLocks/>
          </p:cNvCxnSpPr>
          <p:nvPr/>
        </p:nvCxnSpPr>
        <p:spPr>
          <a:xfrm>
            <a:off x="5961506" y="4104652"/>
            <a:ext cx="0" cy="2432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02849D9-3A51-CE5A-32B9-299422ED580E}"/>
              </a:ext>
            </a:extLst>
          </p:cNvPr>
          <p:cNvCxnSpPr>
            <a:cxnSpLocks/>
          </p:cNvCxnSpPr>
          <p:nvPr/>
        </p:nvCxnSpPr>
        <p:spPr>
          <a:xfrm>
            <a:off x="657225" y="3965140"/>
            <a:ext cx="10668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F2CE47-F90C-EC8B-8655-ABB2B29C941E}"/>
              </a:ext>
            </a:extLst>
          </p:cNvPr>
          <p:cNvCxnSpPr>
            <a:cxnSpLocks/>
          </p:cNvCxnSpPr>
          <p:nvPr/>
        </p:nvCxnSpPr>
        <p:spPr>
          <a:xfrm>
            <a:off x="3123056" y="1403350"/>
            <a:ext cx="0" cy="2432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D8B020A-E37D-91D7-18F8-3D8E910CDBBA}"/>
              </a:ext>
            </a:extLst>
          </p:cNvPr>
          <p:cNvCxnSpPr>
            <a:cxnSpLocks/>
          </p:cNvCxnSpPr>
          <p:nvPr/>
        </p:nvCxnSpPr>
        <p:spPr>
          <a:xfrm>
            <a:off x="5961506" y="1403350"/>
            <a:ext cx="0" cy="2432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A2FB746-5D94-9B81-12CD-3546E8890A08}"/>
              </a:ext>
            </a:extLst>
          </p:cNvPr>
          <p:cNvCxnSpPr>
            <a:cxnSpLocks/>
          </p:cNvCxnSpPr>
          <p:nvPr/>
        </p:nvCxnSpPr>
        <p:spPr>
          <a:xfrm>
            <a:off x="8799980" y="1403350"/>
            <a:ext cx="0" cy="24322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Content Placeholder 23">
            <a:extLst>
              <a:ext uri="{FF2B5EF4-FFF2-40B4-BE49-F238E27FC236}">
                <a16:creationId xmlns:a16="http://schemas.microsoft.com/office/drawing/2014/main" id="{22219DAE-E672-0804-B6B8-6FCC6AB90FD0}"/>
              </a:ext>
            </a:extLst>
          </p:cNvPr>
          <p:cNvSpPr txBox="1">
            <a:spLocks/>
          </p:cNvSpPr>
          <p:nvPr/>
        </p:nvSpPr>
        <p:spPr>
          <a:xfrm>
            <a:off x="3257549" y="1420377"/>
            <a:ext cx="2569464" cy="2387601"/>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10 Years</a:t>
            </a:r>
          </a:p>
          <a:p>
            <a:pPr algn="ctr"/>
            <a:endParaRPr lang="en-US" dirty="0">
              <a:solidFill>
                <a:schemeClr val="tx1"/>
              </a:solidFill>
            </a:endParaRPr>
          </a:p>
          <a:p>
            <a:pPr algn="ctr"/>
            <a:r>
              <a:rPr lang="en-US" sz="2000" dirty="0">
                <a:solidFill>
                  <a:schemeClr val="tx1"/>
                </a:solidFill>
              </a:rPr>
              <a:t>Julieta Ponce</a:t>
            </a:r>
          </a:p>
          <a:p>
            <a:pPr algn="ctr"/>
            <a:endParaRPr lang="en-US" dirty="0">
              <a:solidFill>
                <a:schemeClr val="tx1"/>
              </a:solidFill>
            </a:endParaRPr>
          </a:p>
        </p:txBody>
      </p:sp>
      <p:sp>
        <p:nvSpPr>
          <p:cNvPr id="23" name="Content Placeholder 23">
            <a:extLst>
              <a:ext uri="{FF2B5EF4-FFF2-40B4-BE49-F238E27FC236}">
                <a16:creationId xmlns:a16="http://schemas.microsoft.com/office/drawing/2014/main" id="{D5AE7A5F-0F77-F710-7E38-D4801B8DC9F2}"/>
              </a:ext>
            </a:extLst>
          </p:cNvPr>
          <p:cNvSpPr txBox="1">
            <a:spLocks/>
          </p:cNvSpPr>
          <p:nvPr/>
        </p:nvSpPr>
        <p:spPr>
          <a:xfrm>
            <a:off x="3249444" y="4124293"/>
            <a:ext cx="2569464" cy="2387601"/>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25 Years</a:t>
            </a:r>
          </a:p>
          <a:p>
            <a:pPr algn="ctr"/>
            <a:endParaRPr lang="en-US" dirty="0">
              <a:solidFill>
                <a:schemeClr val="tx1"/>
              </a:solidFill>
            </a:endParaRPr>
          </a:p>
          <a:p>
            <a:pPr algn="ctr"/>
            <a:r>
              <a:rPr lang="en-US" sz="2000" dirty="0">
                <a:solidFill>
                  <a:schemeClr val="tx1"/>
                </a:solidFill>
              </a:rPr>
              <a:t>Harry Hanson</a:t>
            </a:r>
          </a:p>
          <a:p>
            <a:pPr algn="ctr"/>
            <a:endParaRPr lang="en-US" dirty="0">
              <a:solidFill>
                <a:schemeClr val="tx1"/>
              </a:solidFill>
            </a:endParaRPr>
          </a:p>
        </p:txBody>
      </p:sp>
      <p:sp>
        <p:nvSpPr>
          <p:cNvPr id="24" name="Content Placeholder 23">
            <a:extLst>
              <a:ext uri="{FF2B5EF4-FFF2-40B4-BE49-F238E27FC236}">
                <a16:creationId xmlns:a16="http://schemas.microsoft.com/office/drawing/2014/main" id="{B2CF8303-9F73-1CCB-70A0-6D2FAF8D1C6F}"/>
              </a:ext>
            </a:extLst>
          </p:cNvPr>
          <p:cNvSpPr txBox="1">
            <a:spLocks/>
          </p:cNvSpPr>
          <p:nvPr/>
        </p:nvSpPr>
        <p:spPr>
          <a:xfrm>
            <a:off x="6104105" y="4120560"/>
            <a:ext cx="2569464" cy="2387601"/>
          </a:xfrm>
          <a:prstGeom prst="rect">
            <a:avLst/>
          </a:prstGeom>
          <a:solidFill>
            <a:schemeClr val="bg1">
              <a:lumMod val="75000"/>
              <a:lumOff val="25000"/>
            </a:schemeClr>
          </a:solidFill>
        </p:spPr>
        <p:txBody>
          <a:bodyPr/>
          <a:lstStyle>
            <a:lvl1pPr marL="0" indent="0" algn="l" defTabSz="914400" rtl="0" eaLnBrk="1" latinLnBrk="0" hangingPunct="1">
              <a:lnSpc>
                <a:spcPct val="100000"/>
              </a:lnSpc>
              <a:spcBef>
                <a:spcPts val="0"/>
              </a:spcBef>
              <a:spcAft>
                <a:spcPts val="800"/>
              </a:spcAft>
              <a:buClr>
                <a:schemeClr val="tx1"/>
              </a:buClr>
              <a:buFont typeface="Arial" panose="020B0604020202020204" pitchFamily="34" charset="0"/>
              <a:buNone/>
              <a:defRPr sz="1600" kern="1200">
                <a:solidFill>
                  <a:srgbClr val="212121"/>
                </a:solidFill>
                <a:latin typeface="Inter" panose="02000503000000020004" pitchFamily="2" charset="0"/>
                <a:ea typeface="+mn-ea"/>
                <a:cs typeface="+mn-cs"/>
              </a:defRPr>
            </a:lvl1pPr>
            <a:lvl2pPr marL="171450" indent="-17145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600" kern="1200">
                <a:solidFill>
                  <a:srgbClr val="212121"/>
                </a:solidFill>
                <a:latin typeface="Inter" panose="02000503000000020004" pitchFamily="2" charset="0"/>
                <a:ea typeface="+mn-ea"/>
                <a:cs typeface="+mn-cs"/>
              </a:defRPr>
            </a:lvl2pPr>
            <a:lvl3pPr marL="36576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3pPr>
            <a:lvl4pPr marL="54864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4pPr>
            <a:lvl5pPr marL="731520" indent="-182880" algn="l" defTabSz="914400" rtl="0" eaLnBrk="1" latinLnBrk="0" hangingPunct="1">
              <a:lnSpc>
                <a:spcPct val="100000"/>
              </a:lnSpc>
              <a:spcBef>
                <a:spcPts val="0"/>
              </a:spcBef>
              <a:spcAft>
                <a:spcPts val="600"/>
              </a:spcAft>
              <a:buClr>
                <a:schemeClr val="tx2"/>
              </a:buClr>
              <a:buFont typeface="Arial"/>
              <a:buChar char="–"/>
              <a:defRPr sz="1600" kern="1200">
                <a:solidFill>
                  <a:srgbClr val="212121"/>
                </a:solidFill>
                <a:latin typeface="Inter" panose="02000503000000020004" pitchFamily="2" charset="0"/>
                <a:ea typeface="+mn-ea"/>
                <a:cs typeface="+mn-cs"/>
              </a:defRPr>
            </a:lvl5pPr>
            <a:lvl6pPr marL="0" indent="0" algn="l" defTabSz="914400" rtl="0" eaLnBrk="1" latinLnBrk="0" hangingPunct="1">
              <a:lnSpc>
                <a:spcPct val="100000"/>
              </a:lnSpc>
              <a:spcBef>
                <a:spcPts val="0"/>
              </a:spcBef>
              <a:spcAft>
                <a:spcPts val="400"/>
              </a:spcAft>
              <a:buClr>
                <a:schemeClr val="tx1"/>
              </a:buClr>
              <a:buFont typeface="Arial" panose="020B0604020202020204" pitchFamily="34" charset="0"/>
              <a:buNone/>
              <a:tabLst/>
              <a:defRPr sz="1400" kern="1200">
                <a:solidFill>
                  <a:schemeClr val="tx1"/>
                </a:solidFill>
                <a:latin typeface="+mn-lt"/>
                <a:ea typeface="+mn-ea"/>
                <a:cs typeface="+mn-cs"/>
              </a:defRPr>
            </a:lvl6pPr>
            <a:lvl7pPr marL="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7pPr>
            <a:lvl8pPr marL="365760" indent="-182880" algn="l" defTabSz="914400" rtl="0" eaLnBrk="1" latinLnBrk="0" hangingPunct="1">
              <a:lnSpc>
                <a:spcPct val="100000"/>
              </a:lnSpc>
              <a:spcBef>
                <a:spcPts val="0"/>
              </a:spcBef>
              <a:spcAft>
                <a:spcPts val="400"/>
              </a:spcAft>
              <a:buClr>
                <a:schemeClr val="tx1"/>
              </a:buClr>
              <a:buFont typeface="Arial"/>
              <a:buChar char="–"/>
              <a:defRPr sz="1400" kern="1200">
                <a:solidFill>
                  <a:schemeClr val="tx1"/>
                </a:solidFill>
                <a:latin typeface="+mn-lt"/>
                <a:ea typeface="+mn-ea"/>
                <a:cs typeface="+mn-cs"/>
              </a:defRPr>
            </a:lvl8pPr>
            <a:lvl9pPr marL="0" indent="0" algn="l" defTabSz="914400" rtl="0" eaLnBrk="1" latinLnBrk="0" hangingPunct="1">
              <a:lnSpc>
                <a:spcPct val="100000"/>
              </a:lnSpc>
              <a:spcBef>
                <a:spcPts val="0"/>
              </a:spcBef>
              <a:spcAft>
                <a:spcPts val="200"/>
              </a:spcAft>
              <a:buFont typeface="Arial" panose="020B0604020202020204" pitchFamily="34" charset="0"/>
              <a:buNone/>
              <a:tabLst/>
              <a:defRPr sz="1100" i="1" kern="1200">
                <a:solidFill>
                  <a:schemeClr val="tx1"/>
                </a:solidFill>
                <a:latin typeface="+mn-lt"/>
                <a:ea typeface="+mn-ea"/>
                <a:cs typeface="+mn-cs"/>
              </a:defRPr>
            </a:lvl9pPr>
          </a:lstStyle>
          <a:p>
            <a:pPr algn="ctr"/>
            <a:r>
              <a:rPr lang="en-US" sz="2400" b="1" dirty="0">
                <a:solidFill>
                  <a:schemeClr val="tx1"/>
                </a:solidFill>
              </a:rPr>
              <a:t>35 Years</a:t>
            </a:r>
          </a:p>
          <a:p>
            <a:pPr algn="ctr"/>
            <a:endParaRPr lang="en-US" dirty="0">
              <a:solidFill>
                <a:schemeClr val="tx1"/>
              </a:solidFill>
            </a:endParaRPr>
          </a:p>
          <a:p>
            <a:pPr algn="ctr"/>
            <a:r>
              <a:rPr lang="en-US" sz="2000" dirty="0">
                <a:solidFill>
                  <a:schemeClr val="tx1"/>
                </a:solidFill>
              </a:rPr>
              <a:t>Tom Walsh</a:t>
            </a:r>
          </a:p>
          <a:p>
            <a:pPr algn="ctr"/>
            <a:endParaRPr lang="en-US" dirty="0">
              <a:solidFill>
                <a:schemeClr val="tx1"/>
              </a:solidFill>
            </a:endParaRPr>
          </a:p>
        </p:txBody>
      </p:sp>
      <p:sp>
        <p:nvSpPr>
          <p:cNvPr id="25" name="TextBox 24">
            <a:extLst>
              <a:ext uri="{FF2B5EF4-FFF2-40B4-BE49-F238E27FC236}">
                <a16:creationId xmlns:a16="http://schemas.microsoft.com/office/drawing/2014/main" id="{91412FF3-0C3D-CBD8-C3B0-53A51DBE6B28}"/>
              </a:ext>
            </a:extLst>
          </p:cNvPr>
          <p:cNvSpPr txBox="1"/>
          <p:nvPr/>
        </p:nvSpPr>
        <p:spPr>
          <a:xfrm>
            <a:off x="10848513" y="101511"/>
            <a:ext cx="1163435" cy="262473"/>
          </a:xfrm>
          <a:prstGeom prst="rect">
            <a:avLst/>
          </a:prstGeom>
        </p:spPr>
        <p:txBody>
          <a:bodyPr rot="0" spcFirstLastPara="0" vertOverflow="overflow" horzOverflow="overflow" vert="horz" lIns="0" tIns="0" rIns="0" bIns="0" numCol="1" spcCol="0" rtlCol="0" fromWordArt="0" anchorCtr="0" forceAA="0" compatLnSpc="1">
            <a:prstTxWarp prst="textNoShape">
              <a:avLst/>
            </a:prstTxWarp>
            <a:normAutofit/>
          </a:bodyPr>
          <a:lstStyle/>
          <a:p>
            <a:pPr algn="r">
              <a:spcAft>
                <a:spcPts val="600"/>
              </a:spcAft>
              <a:buClr>
                <a:schemeClr val="tx1"/>
              </a:buClr>
            </a:pPr>
            <a:r>
              <a:rPr lang="en-US" sz="1600" b="1" i="1" kern="1200" dirty="0">
                <a:latin typeface="Inter" panose="02000503000000020004" pitchFamily="2" charset="0"/>
                <a:ea typeface="+mn-ea"/>
                <a:cs typeface="+mn-cs"/>
              </a:rPr>
              <a:t>McGinley</a:t>
            </a:r>
          </a:p>
        </p:txBody>
      </p:sp>
      <p:sp>
        <p:nvSpPr>
          <p:cNvPr id="4" name="TextBox 3">
            <a:extLst>
              <a:ext uri="{FF2B5EF4-FFF2-40B4-BE49-F238E27FC236}">
                <a16:creationId xmlns:a16="http://schemas.microsoft.com/office/drawing/2014/main" id="{759C8EB0-C6E9-33EE-5B00-2594CB2655AB}"/>
              </a:ext>
            </a:extLst>
          </p:cNvPr>
          <p:cNvSpPr txBox="1"/>
          <p:nvPr/>
        </p:nvSpPr>
        <p:spPr>
          <a:xfrm rot="20254641">
            <a:off x="1043627" y="2706705"/>
            <a:ext cx="2775808" cy="2875274"/>
          </a:xfrm>
          <a:prstGeom prst="rect">
            <a:avLst/>
          </a:prstGeom>
          <a:solidFill>
            <a:srgbClr val="FFFF00"/>
          </a:solidFill>
        </p:spPr>
        <p:txBody>
          <a:bodyPr wrap="square" lIns="0" tIns="0" rIns="0" bIns="0" rtlCol="0">
            <a:noAutofit/>
          </a:bodyPr>
          <a:lstStyle/>
          <a:p>
            <a:pPr algn="l">
              <a:spcAft>
                <a:spcPts val="600"/>
              </a:spcAft>
            </a:pPr>
            <a:r>
              <a:rPr lang="en-US" sz="3200" dirty="0">
                <a:solidFill>
                  <a:schemeClr val="bg2"/>
                </a:solidFill>
              </a:rPr>
              <a:t>Update this</a:t>
            </a:r>
          </a:p>
          <a:p>
            <a:pPr algn="l">
              <a:spcAft>
                <a:spcPts val="600"/>
              </a:spcAft>
            </a:pPr>
            <a:r>
              <a:rPr lang="en-US" sz="3200" dirty="0">
                <a:solidFill>
                  <a:schemeClr val="bg2"/>
                </a:solidFill>
              </a:rPr>
              <a:t>Jen to send to ppl to make sure they’re ok with it</a:t>
            </a:r>
          </a:p>
        </p:txBody>
      </p:sp>
    </p:spTree>
    <p:extLst>
      <p:ext uri="{BB962C8B-B14F-4D97-AF65-F5344CB8AC3E}">
        <p14:creationId xmlns:p14="http://schemas.microsoft.com/office/powerpoint/2010/main" val="31389179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GE Vernova">
  <a:themeElements>
    <a:clrScheme name="GE Vernova Palette">
      <a:dk1>
        <a:srgbClr val="005E60"/>
      </a:dk1>
      <a:lt1>
        <a:srgbClr val="FFFFFF"/>
      </a:lt1>
      <a:dk2>
        <a:srgbClr val="212121"/>
      </a:dk2>
      <a:lt2>
        <a:srgbClr val="C8FF08"/>
      </a:lt2>
      <a:accent1>
        <a:srgbClr val="FAFAFA"/>
      </a:accent1>
      <a:accent2>
        <a:srgbClr val="E3E3E3"/>
      </a:accent2>
      <a:accent3>
        <a:srgbClr val="CCCCCC"/>
      </a:accent3>
      <a:accent4>
        <a:srgbClr val="696969"/>
      </a:accent4>
      <a:accent5>
        <a:srgbClr val="484848"/>
      </a:accent5>
      <a:accent6>
        <a:srgbClr val="59C3C9"/>
      </a:accent6>
      <a:hlink>
        <a:srgbClr val="75CA64"/>
      </a:hlink>
      <a:folHlink>
        <a:srgbClr val="BFA682"/>
      </a:folHlink>
    </a:clrScheme>
    <a:fontScheme name="GE Vernova">
      <a:majorFont>
        <a:latin typeface="Inter"/>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t" anchorCtr="0"/>
      <a:lstStyle>
        <a:defPPr algn="l">
          <a:spcAft>
            <a:spcPts val="600"/>
          </a:spcAft>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spcAft>
            <a:spcPts val="600"/>
          </a:spcAft>
          <a:defRPr/>
        </a:defPPr>
      </a:lstStyle>
    </a:txDef>
  </a:objectDefaults>
  <a:extraClrSchemeLst/>
  <a:custClrLst>
    <a:custClr name="Stainless Steel">
      <a:srgbClr val="D2D2D2"/>
    </a:custClr>
    <a:custClr name="Aluminum">
      <a:srgbClr val="AEAEAE"/>
    </a:custClr>
    <a:custClr name="Titanium">
      <a:srgbClr val="969696"/>
    </a:custClr>
    <a:custClr name="Yellow">
      <a:srgbClr val="FFD400"/>
    </a:custClr>
    <a:custClr name="Orange">
      <a:srgbClr val="FF8400"/>
    </a:custClr>
    <a:custClr name="Red">
      <a:srgbClr val="FF1900"/>
    </a:custClr>
    <a:custClr name="Purple">
      <a:srgbClr val="8F00FF"/>
    </a:custClr>
    <a:custClr name="Fuschia">
      <a:srgbClr val="DE00F7"/>
    </a:custClr>
    <a:custClr name="Blue">
      <a:srgbClr val="3900F8"/>
    </a:custClr>
    <a:custClr name="Teal">
      <a:srgbClr val="00D0E1"/>
    </a:custClr>
  </a:custClrLst>
  <a:extLst>
    <a:ext uri="{05A4C25C-085E-4340-85A3-A5531E510DB2}">
      <thm15:themeFamily xmlns:thm15="http://schemas.microsoft.com/office/thememl/2012/main" name="GE Vernova_PPT_Template_7.25.23.pptx" id="{516FEC3C-F444-46DB-9625-154F7F727864}" vid="{D2D9C980-E8ED-4E5D-97D7-10B54BD9CC9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0987E64CCC7C941AA423E1ADF2491CC" ma:contentTypeVersion="18" ma:contentTypeDescription="Create a new document." ma:contentTypeScope="" ma:versionID="1e40539c746aebc5ca905ee2706e7d1b">
  <xsd:schema xmlns:xsd="http://www.w3.org/2001/XMLSchema" xmlns:xs="http://www.w3.org/2001/XMLSchema" xmlns:p="http://schemas.microsoft.com/office/2006/metadata/properties" xmlns:ns2="660f4d75-da08-481c-93a0-a5d59f6ee71c" xmlns:ns3="b402df0d-8178-4802-b8b9-ef402e68d744" xmlns:ns4="02d12187-754c-41a9-9e93-c3e1cfacc155" targetNamespace="http://schemas.microsoft.com/office/2006/metadata/properties" ma:root="true" ma:fieldsID="2dd0d1ad3efc741518aad11f398c5865" ns2:_="" ns3:_="" ns4:_="">
    <xsd:import namespace="660f4d75-da08-481c-93a0-a5d59f6ee71c"/>
    <xsd:import namespace="b402df0d-8178-4802-b8b9-ef402e68d744"/>
    <xsd:import namespace="02d12187-754c-41a9-9e93-c3e1cfacc15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4:TaxCatchAll" minOccurs="0"/>
                <xsd:element ref="ns2:lcf76f155ced4ddcb4097134ff3c332f"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0f4d75-da08-481c-93a0-a5d59f6ee7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36a257fb-28f5-49c4-92c3-d49665e8e1d3"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402df0d-8178-4802-b8b9-ef402e68d74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2d12187-754c-41a9-9e93-c3e1cfacc155"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acdb1637-3b50-4ef3-b363-a9ca0300321e}" ma:internalName="TaxCatchAll" ma:showField="CatchAllData" ma:web="b402df0d-8178-4802-b8b9-ef402e68d7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60f4d75-da08-481c-93a0-a5d59f6ee71c">
      <Terms xmlns="http://schemas.microsoft.com/office/infopath/2007/PartnerControls"/>
    </lcf76f155ced4ddcb4097134ff3c332f>
    <TaxCatchAll xmlns="02d12187-754c-41a9-9e93-c3e1cfacc155" xsi:nil="true"/>
  </documentManagement>
</p:properties>
</file>

<file path=customXml/itemProps1.xml><?xml version="1.0" encoding="utf-8"?>
<ds:datastoreItem xmlns:ds="http://schemas.openxmlformats.org/officeDocument/2006/customXml" ds:itemID="{BDE64E55-0318-435E-9885-1C7A491FCFD5}">
  <ds:schemaRefs>
    <ds:schemaRef ds:uri="http://schemas.microsoft.com/sharepoint/v3/contenttype/forms"/>
  </ds:schemaRefs>
</ds:datastoreItem>
</file>

<file path=customXml/itemProps2.xml><?xml version="1.0" encoding="utf-8"?>
<ds:datastoreItem xmlns:ds="http://schemas.openxmlformats.org/officeDocument/2006/customXml" ds:itemID="{5D1214C9-2614-4841-8F75-517C46888FC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0f4d75-da08-481c-93a0-a5d59f6ee71c"/>
    <ds:schemaRef ds:uri="b402df0d-8178-4802-b8b9-ef402e68d744"/>
    <ds:schemaRef ds:uri="02d12187-754c-41a9-9e93-c3e1cfacc1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A31001-A973-48D3-BF92-E4BBE4C78C38}">
  <ds:schemaRefs>
    <ds:schemaRef ds:uri="http://purl.org/dc/elements/1.1/"/>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purl.org/dc/terms/"/>
    <ds:schemaRef ds:uri="02d12187-754c-41a9-9e93-c3e1cfacc155"/>
    <ds:schemaRef ds:uri="http://www.w3.org/XML/1998/namespace"/>
    <ds:schemaRef ds:uri="b402df0d-8178-4802-b8b9-ef402e68d744"/>
    <ds:schemaRef ds:uri="660f4d75-da08-481c-93a0-a5d59f6ee71c"/>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GE Vernova_PPT_Template_7.25.23</Template>
  <TotalTime>50949</TotalTime>
  <Words>2557</Words>
  <Application>Microsoft Office PowerPoint</Application>
  <PresentationFormat>Widescreen</PresentationFormat>
  <Paragraphs>325</Paragraphs>
  <Slides>18</Slides>
  <Notes>10</Notes>
  <HiddenSlides>0</HiddenSlides>
  <MMClips>1</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18</vt:i4>
      </vt:variant>
    </vt:vector>
  </HeadingPairs>
  <TitlesOfParts>
    <vt:vector size="31" baseType="lpstr">
      <vt:lpstr>72</vt:lpstr>
      <vt:lpstr>Arial</vt:lpstr>
      <vt:lpstr>GE Inspira Sans</vt:lpstr>
      <vt:lpstr>Grotesque</vt:lpstr>
      <vt:lpstr>Impact</vt:lpstr>
      <vt:lpstr>Inter</vt:lpstr>
      <vt:lpstr>Inter Bold</vt:lpstr>
      <vt:lpstr>Lato Light</vt:lpstr>
      <vt:lpstr>Poppins</vt:lpstr>
      <vt:lpstr>Sons Condensed Extrabold</vt:lpstr>
      <vt:lpstr>Sons Condensed Semibold</vt:lpstr>
      <vt:lpstr>System Font Regular</vt:lpstr>
      <vt:lpstr>GE Vernova</vt:lpstr>
      <vt:lpstr>DEVELOPING  THE FUTURE OF ENERGY</vt:lpstr>
      <vt:lpstr>AGENDA</vt:lpstr>
      <vt:lpstr>Q1 2026: EHS By The NUMBERS </vt:lpstr>
      <vt:lpstr>PowerPoint Presentation</vt:lpstr>
      <vt:lpstr>5S | Enterprise Momentum </vt:lpstr>
      <vt:lpstr>Stop Work Recognition</vt:lpstr>
      <vt:lpstr>5S (micro) KPI Dashboard</vt:lpstr>
      <vt:lpstr>The price of progress</vt:lpstr>
      <vt:lpstr>PowerPoint Presentation</vt:lpstr>
      <vt:lpstr>Business Update: Investor Call </vt:lpstr>
      <vt:lpstr>Other Business Stuff</vt:lpstr>
      <vt:lpstr>PowerPoint Presentation</vt:lpstr>
      <vt:lpstr>PowerPoint Presentation</vt:lpstr>
      <vt:lpstr>Programs &amp; Competencies: 2026 O&amp;M Roadmap and New Training Dashboard</vt:lpstr>
      <vt:lpstr>PowerPoint Presentation</vt:lpstr>
      <vt:lpstr>Training Ops: Xyleme Update – Excitation ELT Complete </vt:lpstr>
      <vt:lpstr>Training Ops: Content Updates</vt:lpstr>
      <vt:lpstr>Work Anniversaries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BOILERPLATES</dc:title>
  <dc:subject/>
  <dc:creator>Borda, Karol (GE Vernova, consultant)</dc:creator>
  <cp:keywords/>
  <dc:description/>
  <cp:lastModifiedBy>Rosen, Jim (GE Gas Power)</cp:lastModifiedBy>
  <cp:revision>817</cp:revision>
  <dcterms:created xsi:type="dcterms:W3CDTF">2023-08-15T16:52:36Z</dcterms:created>
  <dcterms:modified xsi:type="dcterms:W3CDTF">2026-08-04T11:10:47Z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0x01010010987E64CCC7C941AA423E1ADF2491CC</vt:lpwstr>
  </property>
  <property fmtid="{D5CDD505-2E9C-101B-9397-08002B2CF9AE}" pid="3" name="ArticulateGUID">
    <vt:lpwstr>F63F7FEC-CB85-4264-9332-5ACF91910A7A</vt:lpwstr>
  </property>
  <property fmtid="{D5CDD505-2E9C-101B-9397-08002B2CF9AE}" pid="4" name="ArticulatePath">
    <vt:lpwstr>Extended Staff Meeting-Q2-06Aug2026</vt:lpwstr>
  </property>
</Properties>
</file>